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f6a342f-8d12-cbaf-d1b9-8db4fd026407}">
          <p14:sldIdLst>
            <p14:sldId id="256"/>
            <p14:sldId id="257"/>
            <p14:sldId id="258"/>
            <p14:sldId id="259"/>
            <p14:sldId id="260"/>
            <p14:sldId id="261"/>
            <p14:sldId id="262"/>
          </p14:sldIdLst>
        </p14:section>
        <p14:section name="Need and evidence" id="{f223312e-9780-0467-f7c7-7e9bfed98b28}">
          <p14:sldIdLst>
            <p14:sldId id="263"/>
            <p14:sldId id="264"/>
            <p14:sldId id="265"/>
            <p14:sldId id="266"/>
            <p14:sldId id="267"/>
            <p14:sldId id="268"/>
            <p14:sldId id="269"/>
            <p14:sldId id="270"/>
            <p14:sldId id="271"/>
            <p14:sldId id="272"/>
            <p14:sldId id="273"/>
            <p14:sldId id="274"/>
          </p14:sldIdLst>
        </p14:section>
        <p14:section name="People" id="{b55ab839-4e88-2f5f-e56a-c8933793cc96}">
          <p14:sldIdLst>
            <p14:sldId id="275"/>
            <p14:sldId id="276"/>
            <p14:sldId id="277"/>
            <p14:sldId id="278"/>
          </p14:sldIdLst>
        </p14:section>
        <p14:section name="Permission: regulation in India" id="{bc6b074c-321d-6b7d-29cc-4fab08b37524}">
          <p14:sldIdLst>
            <p14:sldId id="279"/>
            <p14:sldId id="280"/>
            <p14:sldId id="281"/>
            <p14:sldId id="282"/>
            <p14:sldId id="283"/>
            <p14:sldId id="284"/>
            <p14:sldId id="285"/>
            <p14:sldId id="286"/>
            <p14:sldId id="287"/>
            <p14:sldId id="288"/>
            <p14:sldId id="289"/>
            <p14:sldId id="290"/>
            <p14:sldId id="291"/>
            <p14:sldId id="292"/>
          </p14:sldIdLst>
        </p14:section>
        <p14:section name="Permission: regulation abroad" id="{ba765e3b-4d2a-1667-03dc-4c1c0d18ae93}">
          <p14:sldIdLst>
            <p14:sldId id="293"/>
            <p14:sldId id="294"/>
            <p14:sldId id="295"/>
            <p14:sldId id="296"/>
            <p14:sldId id="297"/>
            <p14:sldId id="298"/>
            <p14:sldId id="299"/>
            <p14:sldId id="300"/>
          </p14:sldIdLst>
        </p14:section>
        <p14:section name="Access and safety" id="{3c850fa2-e623-afca-dd02-b633060969f5}">
          <p14:sldIdLst>
            <p14:sldId id="301"/>
            <p14:sldId id="302"/>
            <p14:sldId id="303"/>
            <p14:sldId id="304"/>
            <p14:sldId id="305"/>
            <p14:sldId id="306"/>
          </p14:sldIdLst>
        </p14:section>
        <p14:section name="Close" id="{846716bb-8e18-8d83-3651-b8b1a7caf8fc}">
          <p14:sldIdLst>
            <p14:sldId id="307"/>
            <p14:sldId id="308"/>
            <p14:sldId id="309"/>
          </p14:sldIdLst>
        </p14:section>
        <p14:section name="Appendix" id="{806d02a9-f944-6011-4498-f57caf66da61}">
          <p14:sldIdLst>
            <p14:sldId id="310"/>
            <p14:sldId id="311"/>
            <p14:sldId id="312"/>
            <p14:sldId id="313"/>
          </p14:sldIdLst>
        </p14:section>
        <p14:section name="Sources" id="{bc99f173-6c6d-4ce4-8856-a8f22d8930b7}">
          <p14:sldIdLst>
            <p14:sldId id="314"/>
            <p14:sldId id="315"/>
            <p14:sldId id="316"/>
            <p14:sldId id="317"/>
            <p14:sldId id="318"/>
            <p14:sldId id="319"/>
            <p14:sldId id="320"/>
            <p14:sldId id="321"/>
            <p14:sldId id="322"/>
            <p14:sldId id="323"/>
            <p14:sldId id="324"/>
            <p14:sldId id="325"/>
            <p14:sldId id="32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6E7F7D"/>
                </a:solidFill>
                <a:latin typeface="+mn-lt"/>
              </a:defRPr>
            </a:pPr>
            <a:r>
              <a:rPr sz="1100" b="0" i="0" u="none" strike="noStrike">
                <a:solidFill>
                  <a:srgbClr val="6E7F7D"/>
                </a:solidFill>
                <a:latin typeface="+mn-lt"/>
              </a:rPr>
              <a:t>F1 score by public dataset (project-reported; indigo = unseen dataset)</a:t>
            </a:r>
          </a:p>
        </c:rich>
      </c:tx>
      <c:layout/>
      <c:overlay val="0"/>
    </c:title>
    <c:autoTitleDeleted val="0"/>
    <c:plotArea>
      <c:layout/>
      <c:barChart>
        <c:barDir val="col"/>
        <c:grouping val="clustered"/>
        <c:varyColors val="0"/>
        <c:ser>
          <c:idx val="0"/>
          <c:order val="0"/>
          <c:tx>
            <c:strRef>
              <c:f>Sheet1!$B$1</c:f>
              <c:strCache>
                <c:ptCount val="1"/>
                <c:pt idx="0">
                  <c:v>F1 (subject-wise)</c:v>
                </c:pt>
              </c:strCache>
            </c:strRef>
          </c:tx>
          <c:spPr>
            <a:solidFill>
              <a:srgbClr val="0F7C74"/>
            </a:solidFill>
            <a:effectLst/>
          </c:spPr>
          <c:invertIfNegative val="0"/>
          <c:dLbls>
            <c:numFmt formatCode="0.00" sourceLinked="0"/>
            <c:txPr>
              <a:bodyPr/>
              <a:lstStyle/>
              <a:p>
                <a:pPr>
                  <a:defRPr b="0" i="0" strike="noStrike" sz="900" u="none">
                    <a:solidFill>
                      <a:srgbClr val="17262B"/>
                    </a:solidFill>
                    <a:latin typeface="+mn-lt"/>
                  </a:defRPr>
                </a:pPr>
              </a:p>
            </c:txPr>
            <c:showLegendKey val="0"/>
            <c:showVal val="1"/>
            <c:showCatName val="0"/>
            <c:showSerName val="0"/>
            <c:showPercent val="0"/>
            <c:showBubbleSize val="0"/>
            <c:showLeaderLines val="0"/>
          </c:dLbls>
          <c:dPt>
            <c:idx val="0"/>
            <c:invertIfNegative val="0"/>
            <c:bubble3D val="0"/>
            <c:spPr>
              <a:solidFill>
                <a:srgbClr val="0F7C74"/>
              </a:solidFill>
              <a:effectLst/>
            </c:spPr>
          </c:dPt>
          <c:dPt>
            <c:idx val="1"/>
            <c:invertIfNegative val="0"/>
            <c:bubble3D val="0"/>
            <c:spPr>
              <a:solidFill>
                <a:srgbClr val="0F7C74"/>
              </a:solidFill>
              <a:effectLst/>
            </c:spPr>
          </c:dPt>
          <c:dPt>
            <c:idx val="2"/>
            <c:invertIfNegative val="0"/>
            <c:bubble3D val="0"/>
            <c:spPr>
              <a:solidFill>
                <a:srgbClr val="0F7C74"/>
              </a:solidFill>
              <a:effectLst/>
            </c:spPr>
          </c:dPt>
          <c:dPt>
            <c:idx val="3"/>
            <c:invertIfNegative val="0"/>
            <c:bubble3D val="0"/>
            <c:spPr>
              <a:solidFill>
                <a:srgbClr val="3D5A80"/>
              </a:solidFill>
              <a:effectLst/>
            </c:spPr>
          </c:dPt>
          <c:dPt>
            <c:idx val="4"/>
            <c:invertIfNegative val="0"/>
            <c:bubble3D val="0"/>
            <c:spPr>
              <a:solidFill>
                <a:srgbClr val="3D5A80"/>
              </a:solidFill>
              <a:effectLst/>
            </c:spPr>
          </c:dPt>
          <c:cat>
            <c:multiLvlStrRef>
              <c:f>Sheet1!$A$2:$A$6</c:f>
              <c:multiLvlStrCache>
                <c:ptCount val="5"/>
                <c:lvl>
                  <c:pt idx="0">
                    <c:v>Daphnet</c:v>
                  </c:pt>
                  <c:pt idx="1">
                    <c:v>CuPiD</c:v>
                  </c:pt>
                  <c:pt idx="2">
                    <c:v>Turning-in-place</c:v>
                  </c:pt>
                  <c:pt idx="3">
                    <c:v>Cross-dataset, low</c:v>
                  </c:pt>
                  <c:pt idx="4">
                    <c:v>Cross-dataset, high</c:v>
                  </c:pt>
                </c:lvl>
              </c:multiLvlStrCache>
            </c:multiLvlStrRef>
          </c:cat>
          <c:val>
            <c:numRef>
              <c:f>Sheet1!$B$2:$B$6</c:f>
              <c:numCache>
                <c:formatCode>General</c:formatCode>
                <c:ptCount val="5"/>
                <c:pt idx="0">
                  <c:v>0.85</c:v>
                </c:pt>
                <c:pt idx="1">
                  <c:v>0.83</c:v>
                </c:pt>
                <c:pt idx="2">
                  <c:v>0.84</c:v>
                </c:pt>
                <c:pt idx="3">
                  <c:v>0.74</c:v>
                </c:pt>
                <c:pt idx="4">
                  <c:v>0.8</c:v>
                </c:pt>
              </c:numCache>
            </c:numRef>
          </c:val>
        </c:ser>
        <c:dLbls>
          <c:numFmt formatCode="0.00" sourceLinked="0"/>
          <c:txPr>
            <a:bodyPr/>
            <a:lstStyle/>
            <a:p>
              <a:pPr>
                <a:defRPr b="0" i="0" strike="noStrike" sz="900" u="none">
                  <a:solidFill>
                    <a:srgbClr val="1726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7262B"/>
                </a:solidFill>
                <a:latin typeface="+mn-lt"/>
              </a:defRPr>
            </a:pPr>
            <a:endParaRPr lang="en-US"/>
          </a:p>
        </c:txPr>
        <c:crossAx val="2094734552"/>
        <c:crosses val="autoZero"/>
        <c:auto val="1"/>
        <c:lblAlgn val="ctr"/>
        <c:noMultiLvlLbl val="1"/>
      </c:catAx>
      <c:valAx>
        <c:axId val="2094734552"/>
        <c:scaling>
          <c:orientation val="minMax"/>
          <c:max val="1"/>
        </c:scaling>
        <c:delete val="0"/>
        <c:axPos val="l"/>
        <c:majorGridlines>
          <c:spPr>
            <a:ln w="6350" cap="flat">
              <a:solidFill>
                <a:srgbClr val="E3EAE8"/>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E7F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6E7F7D"/>
                </a:solidFill>
                <a:latin typeface="+mn-lt"/>
              </a:defRPr>
            </a:pPr>
            <a:r>
              <a:rPr sz="1100" b="0" i="0" u="none" strike="noStrike">
                <a:solidFill>
                  <a:srgbClr val="6E7F7D"/>
                </a:solidFill>
                <a:latin typeface="+mn-lt"/>
              </a:rPr>
              <a:t>Average VAS pain reduction at 45 days (company-reported, one study)</a:t>
            </a:r>
          </a:p>
        </c:rich>
      </c:tx>
      <c:layout/>
      <c:overlay val="0"/>
    </c:title>
    <c:autoTitleDeleted val="0"/>
    <c:plotArea>
      <c:layout/>
      <c:barChart>
        <c:barDir val="col"/>
        <c:grouping val="clustered"/>
        <c:varyColors val="0"/>
        <c:ser>
          <c:idx val="0"/>
          <c:order val="0"/>
          <c:tx>
            <c:strRef>
              <c:f>Sheet1!$B$1</c:f>
              <c:strCache>
                <c:ptCount val="1"/>
                <c:pt idx="0">
                  <c:v>Average VAS pain reduction</c:v>
                </c:pt>
              </c:strCache>
            </c:strRef>
          </c:tx>
          <c:spPr>
            <a:solidFill>
              <a:srgbClr val="E0962A"/>
            </a:solidFill>
            <a:effectLst/>
          </c:spPr>
          <c:invertIfNegative val="0"/>
          <c:dLbls>
            <c:numFmt formatCode="&quot;≈&quot;0&quot;%&quot;" sourceLinked="0"/>
            <c:txPr>
              <a:bodyPr/>
              <a:lstStyle/>
              <a:p>
                <a:pPr>
                  <a:defRPr b="0" i="0" strike="noStrike" sz="1100" u="none">
                    <a:solidFill>
                      <a:srgbClr val="17262B"/>
                    </a:solidFill>
                    <a:latin typeface="+mn-lt"/>
                  </a:defRPr>
                </a:pPr>
              </a:p>
            </c:txPr>
            <c:showLegendKey val="0"/>
            <c:showVal val="1"/>
            <c:showCatName val="0"/>
            <c:showSerName val="0"/>
            <c:showPercent val="0"/>
            <c:showBubbleSize val="0"/>
            <c:showLeaderLines val="0"/>
          </c:dLbls>
          <c:dPt>
            <c:idx val="0"/>
            <c:invertIfNegative val="0"/>
            <c:bubble3D val="0"/>
            <c:spPr>
              <a:solidFill>
                <a:srgbClr val="E0962A"/>
              </a:solidFill>
              <a:effectLst/>
            </c:spPr>
          </c:dPt>
          <c:dPt>
            <c:idx val="1"/>
            <c:invertIfNegative val="0"/>
            <c:bubble3D val="0"/>
            <c:spPr>
              <a:solidFill>
                <a:srgbClr val="6E7F7D"/>
              </a:solidFill>
              <a:effectLst/>
            </c:spPr>
          </c:dPt>
          <c:cat>
            <c:multiLvlStrRef>
              <c:f>Sheet1!$A$2:$A$3</c:f>
              <c:multiLvlStrCache>
                <c:ptCount val="2"/>
                <c:lvl>
                  <c:pt idx="0">
                    <c:v>SwaKnee, n = 40</c:v>
                  </c:pt>
                  <c:pt idx="1">
                    <c:v>Comparison care, n = 42</c:v>
                  </c:pt>
                </c:lvl>
              </c:multiLvlStrCache>
            </c:multiLvlStrRef>
          </c:cat>
          <c:val>
            <c:numRef>
              <c:f>Sheet1!$B$2:$B$3</c:f>
              <c:numCache>
                <c:formatCode>General</c:formatCode>
                <c:ptCount val="2"/>
                <c:pt idx="0">
                  <c:v>32</c:v>
                </c:pt>
                <c:pt idx="1">
                  <c:v>14</c:v>
                </c:pt>
              </c:numCache>
            </c:numRef>
          </c:val>
        </c:ser>
        <c:dLbls>
          <c:numFmt formatCode="&quot;≈&quot;0&quot;%&quot;" sourceLinked="0"/>
          <c:txPr>
            <a:bodyPr/>
            <a:lstStyle/>
            <a:p>
              <a:pPr>
                <a:defRPr b="0" i="0" strike="noStrike" sz="1100" u="none">
                  <a:solidFill>
                    <a:srgbClr val="1726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7262B"/>
                </a:solidFill>
                <a:latin typeface="+mn-lt"/>
              </a:defRPr>
            </a:pPr>
            <a:endParaRPr lang="en-US"/>
          </a:p>
        </c:txPr>
        <c:crossAx val="2094734552"/>
        <c:crosses val="autoZero"/>
        <c:auto val="1"/>
        <c:lblAlgn val="ctr"/>
        <c:noMultiLvlLbl val="1"/>
      </c:catAx>
      <c:valAx>
        <c:axId val="2094734552"/>
        <c:scaling>
          <c:orientation val="minMax"/>
          <c:max val="40"/>
        </c:scaling>
        <c:delete val="0"/>
        <c:axPos val="l"/>
        <c:majorGridlines>
          <c:spPr>
            <a:ln w="6350" cap="flat">
              <a:solidFill>
                <a:srgbClr val="E3EAE8"/>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E7F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6E7F7D"/>
                </a:solidFill>
                <a:latin typeface="+mn-lt"/>
              </a:defRPr>
            </a:pPr>
            <a:r>
              <a:rPr sz="1100" b="0" i="0" u="none" strike="noStrike">
                <a:solidFill>
                  <a:srgbClr val="6E7F7D"/>
                </a:solidFill>
                <a:latin typeface="+mn-lt"/>
              </a:rPr>
              <a:t>Arterial saturation below 88% while the oximeter read 92–96% (% of paired readings)</a:t>
            </a:r>
          </a:p>
        </c:rich>
      </c:tx>
      <c:layout/>
      <c:overlay val="0"/>
    </c:title>
    <c:autoTitleDeleted val="0"/>
    <c:plotArea>
      <c:layout/>
      <c:barChart>
        <c:barDir val="col"/>
        <c:grouping val="clustered"/>
        <c:varyColors val="0"/>
        <c:ser>
          <c:idx val="0"/>
          <c:order val="0"/>
          <c:tx>
            <c:strRef>
              <c:f>Sheet1!$B$1</c:f>
              <c:strCache>
                <c:ptCount val="1"/>
                <c:pt idx="0">
                  <c:v>Occult hypoxaemia</c:v>
                </c:pt>
              </c:strCache>
            </c:strRef>
          </c:tx>
          <c:spPr>
            <a:solidFill>
              <a:srgbClr val="C2453A"/>
            </a:solidFill>
            <a:effectLst/>
          </c:spPr>
          <c:invertIfNegative val="0"/>
          <c:dLbls>
            <c:numFmt formatCode="0.0&quot;%&quot;" sourceLinked="0"/>
            <c:txPr>
              <a:bodyPr/>
              <a:lstStyle/>
              <a:p>
                <a:pPr>
                  <a:defRPr b="0" i="0" strike="noStrike" sz="1100" u="none">
                    <a:solidFill>
                      <a:srgbClr val="17262B"/>
                    </a:solidFill>
                    <a:latin typeface="+mn-lt"/>
                  </a:defRPr>
                </a:pPr>
              </a:p>
            </c:txPr>
            <c:showLegendKey val="0"/>
            <c:showVal val="1"/>
            <c:showCatName val="0"/>
            <c:showSerName val="0"/>
            <c:showPercent val="0"/>
            <c:showBubbleSize val="0"/>
            <c:showLeaderLines val="0"/>
          </c:dLbls>
          <c:dPt>
            <c:idx val="0"/>
            <c:invertIfNegative val="0"/>
            <c:bubble3D val="0"/>
            <c:spPr>
              <a:solidFill>
                <a:srgbClr val="C2453A"/>
              </a:solidFill>
              <a:effectLst/>
            </c:spPr>
          </c:dPt>
          <c:dPt>
            <c:idx val="1"/>
            <c:invertIfNegative val="0"/>
            <c:bubble3D val="0"/>
            <c:spPr>
              <a:solidFill>
                <a:srgbClr val="3D5A80"/>
              </a:solidFill>
              <a:effectLst/>
            </c:spPr>
          </c:dPt>
          <c:cat>
            <c:multiLvlStrRef>
              <c:f>Sheet1!$A$2:$A$3</c:f>
              <c:multiLvlStrCache>
                <c:ptCount val="2"/>
                <c:lvl>
                  <c:pt idx="0">
                    <c:v>Black patients</c:v>
                  </c:pt>
                  <c:pt idx="1">
                    <c:v>White patients</c:v>
                  </c:pt>
                </c:lvl>
              </c:multiLvlStrCache>
            </c:multiLvlStrRef>
          </c:cat>
          <c:val>
            <c:numRef>
              <c:f>Sheet1!$B$2:$B$3</c:f>
              <c:numCache>
                <c:formatCode>General</c:formatCode>
                <c:ptCount val="2"/>
                <c:pt idx="0">
                  <c:v>11.7</c:v>
                </c:pt>
                <c:pt idx="1">
                  <c:v>3.6</c:v>
                </c:pt>
              </c:numCache>
            </c:numRef>
          </c:val>
        </c:ser>
        <c:dLbls>
          <c:numFmt formatCode="0.0&quot;%&quot;" sourceLinked="0"/>
          <c:txPr>
            <a:bodyPr/>
            <a:lstStyle/>
            <a:p>
              <a:pPr>
                <a:defRPr b="0" i="0" strike="noStrike" sz="1100" u="none">
                  <a:solidFill>
                    <a:srgbClr val="1726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7262B"/>
                </a:solidFill>
                <a:latin typeface="+mn-lt"/>
              </a:defRPr>
            </a:pPr>
            <a:endParaRPr lang="en-US"/>
          </a:p>
        </c:txPr>
        <c:crossAx val="2094734552"/>
        <c:crosses val="autoZero"/>
        <c:auto val="1"/>
        <c:lblAlgn val="ctr"/>
        <c:noMultiLvlLbl val="1"/>
      </c:catAx>
      <c:valAx>
        <c:axId val="2094734552"/>
        <c:scaling>
          <c:orientation val="minMax"/>
          <c:max val="14"/>
        </c:scaling>
        <c:delete val="0"/>
        <c:axPos val="l"/>
        <c:majorGridlines>
          <c:spPr>
            <a:ln w="6350" cap="flat">
              <a:solidFill>
                <a:srgbClr val="E3EAE8"/>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E7F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Bridging the Gap: From Innovation to Patient Impact
TIME 0:30 min · full run clock 0:00–0:30 · 40-min core clock 0:00–0:30
ACTIVITY Opening question to the room (30 seconds)
PRE-FLIGHT CHECKS (before the session)
1. Slide op-disclosure: replace “[state role …]” with your SwaKnee (Swayogya Rehab Solutions) role and any equity, royalty or salary interest; add your FoGO equity position if you wish to state it.
2. Re-check the SwaKnee figures used later (≈32% vs ≈14% average VAS reduction; n = 40 vs n = 42) against swayogya.in/evidence.html, and be ready to state SwaKnee's CDSCO licence status and whether the study was registered on CTRI.
3. NPPA knee-implant cap: continued to 15 November 2026; check for any further extension.
4. Check the status of the 2026 MDR-2017 amendments (G.S.R. 515(E) draft of 23 June 2026; G.S.R. 743(E) of 14 August 2026), NMC conduct regulations, UCMPMD amendments and DPDP Rules phase dates before presenting.
5. Media: confirm written permission from the FoGO volunteer (face not shown) for public teaching.
6. Bring a flipchart, printed checklists, index cards and a timer; test the videos on the venue computer.
CORE SCRIPT (say this; about 81 words)
Imagine the prototype on your desk is about to be used by someone at home: in Bhubaneswar, in Cuttack, or two hours from a neurologist. What would you need to know before recommending it? Today we practise that judgement on two devices I am involved with: FoGO, a wearable being developed to detect freezing of gait and cue walking, and SwaKnee, a pulsed electromagnetic knee system. By the end you will judge claims, evidence, consent, permission, cost and safety for yourselves.
DETAIL BELOW: use if time allows or if asked
PURPOSE
Start with the person who will use the device, not with the technology. The photographs are authentic (FoGO alpha prototype modules; SwaKnee controller and applicator); no patients are shown.
SAY
“Imagine the prototype on your desk is about to be used by someone at home — in Bhubaneswar, in Cuttack, or in a village two hours from a neurologist. What would you need to know before you recommended it?”
“Today we practise that judgement on two devices from my own development work: FoGO, a wearable being developed to detect freezing of gait in Parkinson's disease and trigger a vibration cue (so far tested only on public datasets and in a staged demonstration), and SwaKnee, a pulsed electromagnetic field (PEMF) system for knee osteoarthritis.”
“The strip on the right is the spine of the session: six stages, each a question a patient would ask — Need, Evidence, People, Permission, Access, Safety. We follow two composite patients along it, vote twice, and face five ‘would you proceed?’ decisions.”
“By the end you should be able to: state an intended use and claim precisely; judge what evidence supports it; recognise consent, conflict-of-interest and affordability burdens; know which Indian permission answers which question; and assign responsibility for safety after launch.”
CAUTION
The decision checklist at the end is a workshop synthesis, not an official regulatory checklist or certification. Do not describe either device as approved, licensed for sale or clinically proven on this slide.
TRANSITION
“Before we start, you should know my interests.”
SOURCES
[1]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[2] Swayogya website assets (ivikasjha/swayogya_website): product photographs and three 'How to use' step videos, edited into a 20 s silent clip with step captions; no faces shown. https://www.swayogya.in/product.html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India's medical device moment
TIME 1:30 min · full run clock 0:30–2:00 · 40-min core clock 0:30–2:00
CORE SCRIPT (say this; about 85 words)
India's device market was about US$11 billion in 2023, roughly 1.5% of the world market, and about 70% of what we use is imported. The 2023 National Medical Devices Policy targets US$50 billion by 2030. Yet every device has been regulated only since 1 April 2020. The chevrons show one device's journey: need, classification into Class A to D, a test licence for prototypes, a permitted clinical investigation, a manufacturing licence from the State or Centre, and post-market duties. The same six stages structure today.
DETAIL BELOW: use if time allows or if asked
PURPOSE
Set the Indian scene in numbers, then show that regulation is a sequence of permissions that map onto the six stages of the session. Students should leave the slide knowing the four risk classes exist, that forms MD-13, MD-23, MD-5 and MD-9 answer different questions, and the four phase-in dates.
SAY
Tiles, left to right. (1) US$11 billion in 2023 is the Cabinet's own baseline in the National Medical Devices Policy release of 26 April 2023; that is about 1.5% of the world market (market-research estimates for 2025–26 run higher, US$15–21 billion, and vary with scope, so cite the source and year). (2) About 70% of India's requirement is imported — the Parliamentary Standing Committee's figure of March 2024, repeated in Parliament in 2025; imports were US$8.18 billion in FY2023-24, with electro-medical equipment about 60% of the bill, and the top sources are China, the USA, Germany, Singapore and the Netherlands. (3) The policy target is US$50 billion by 2030, resting on six strategies: regulatory streamlining, enabling infrastructure, R&amp;D and innovation, attracting investment, human resources, and brand positioning with an Export Promotion Council. (4) Until 2020 only notified devices were regulated; S.O. 648(E) of 11 February 2020 brought every device under the Drugs and Cosmetics Act 1940 from 1 April 2020.
The journey. Classification is Rule 4 of the Medical Devices Rules 2017 with the First Schedule: Class A low risk (dressings, non-digital thermometers), B low-moderate (hypodermic needles, BP monitors), C moderate-high (ventilators, orthopaedic implants), D high (heart valves, coronary stents). A test licence — Form MD-12 application, MD-13 licence from the Central Licensing Authority — allows small quantities to be made for clinical investigation, test, evaluation, demonstration or training; the fee is Rs 500 per device and the units cannot be sold. A clinical investigation needs Form MD-22 with the Seventh Schedule documents and permission in MD-23, plus a registered ethics committee and CTRI registration. The manufacturing licence depends on class: MD-3 application and MD-5 licence from the State Licensing Authority for Class A and B after a notified-body audit (Rs 5,000 per site plus Rs 500 per device); MD-7 and MD-9 from CDSCO for Class C and D after inspection by Medical Device Officers (Rs 50,000 per site plus Rs 1,000 per device). Licences are perpetual if the retention fee is paid every five years. After launch: adverse events go to the Materiovigilance Programme of India, and CDSCO can issue alerts and cancel licences.
Phase-in pills: MDR-2017 in force 1 January 2018; all devices covered 1 April 2020; registration mandatory 1 October 2021; Class A/B licences mandatory 1 October 2022; Class C/D from 1 October 2023 (G.S.R. 102(E)).
INDIA ADAPTATION
This whole slide is Indian; the comparison with the FDA and EU MDR comes in the Permission section. For an Indian student team the practical message is: decide the class first, because it decides the authority, the form, the fee and the timeline.
CAUTION
Market figures differ by source and year: say ‘about US$11 billion in 2023 per the Cabinet release’, not a single precise number. ‘About 70% imported’ is by requirement; industry quotes 70–80% for high-end equipment. The 1 January 2018 commencement and G.S.R. 78(E) number are from memory in the facts file — verify in the gazette before printing. Draft 2026 amendments (G.S.R. 515(E)) propose shorter licensing timelines but were not final as of 7 October 2026.
TRANSITION
“Before you judge my evidence, you should know my interests.”
SOURCES
[1] Cabinet approves the Policy for the Medical Devices Sector (National Medical Devices Policy 2023): about US$11 billion sector, US$50 billion target by 2030, six strategies; 26 April 2023 (reproduced at narendramodi.in). https://narendramodi.in/cabinet-approves-the-policy-for-the-medical-devices-sector-569642
[2] News on AIR. Union Minister Dr Jitendra Singh says the government hopes to increase India's share of the global medical devices market from about 1.5% to 10–12% over the next 25 years; 2024. https://newsonair.gov.in/union-minister-dr-jitendra-singh-says-govt-hopes-to-increase-indias-market-share-to-10-12-over-next-25-years
[3] ETV Bharat. Parliamentary panel raps Ministry of Chemicals and Fertilizers for import of high-end medical devices (about 70% of requirement imported); 11 March 2024. https://www.etvbharat.com/en/!bharat/parliamentary-panel-raps-ministry-of-chemical-and-fertilizer-for-import-of-high-end-medical-devices-enn24031105786
[4] Medical Buyer. Amid domestic push, India imported medical devices worth $8.18B in FY24; 2024. https://medicalbuyer.co.in/amid-domestic-push-india-imported-medical-devices-worth-8-18b-in-fy24/
[5] CDSCO. Notice on S.O. 648(E) of 11 February 2020 (all medical devices notified as drugs with effect from 1 April 2020) and G.S.R. 102(E). https://cdsco.gov.in/opencms/export/sites/CDSCO_WEB/Pdf-documents/mdgsr.pdf
[6] LegitQuest. Medical Devices (Amendment) Rules, 2020, G.S.R. 102(E), 11 February 2020: Chapter IIIA registration of newly notified devices (voluntary 18 months from 1 April 2020, then mandatory); licences mandatory for Class A/B from 1 October 2022 and Class C/D from 1 October 2023. https://www.legitquest.com/act/medical-devices-amendment-rules-2020/9813
[7] Mondaq. DCGI notifies the medical devices and in-vitro diagnostic medical devices classification under the Medical Devices Rules 2017: Rule 4 and First Schedule, Classes A (low), B (low-moderate), C (moderate-high) and D (high risk); 31 January 2017. https://mondaq.com/india/food-and-drugs-law/668254/dcgi-notifies-the-medical-devices-and-in-vitro-diagnostic-ivd-medical-devices-classification-under-medical-device-rule-2017
[8] Ministry of Health and Family Welfare. Medical Devices Rules, 2017 (as amended), consolidated text, CDSCO. https://cdsco.gov.in/opencms/resources/UploadCDSCOWeb/2022/m_device/mdr,%202017%20(1).pdf
[9] CDSCO. Form MD-12: application for licence to manufacture medical devices for clinical investigation, test, evaluation, examination, demonstration or training (licence in Form MD-13). https://cdsco.gov.in/opencms/export/sites/CDSCO_WEB/Pdf-documents/medical-device/12MD.pdf
[10] CDSCO. Form MD-22: application for permission to conduct clinical investigation (permission in Form MD-23). https://cdsco.gov.in/opencms/export/sites/CDSCO_WEB/Pdf-documents/medical-device/22MD.pdf
[11] CDSCO Medical Device online portal. Fee help file (Second Schedule, MDR-2017): manufacturing licence Class A/B Rs 5,000 per site + Rs 500 per device; Class C/D Rs 50,000 + Rs 1,000; test licence Rs 500 per device. https://cdscomdonline.gov.in/NewMedDev/resources/app_srv/NMD/global/helpfiles/nmd_fee.pdf/
[12] CDSCO. FAQ on Medical Devices, 2018: Rule 13 notified bodies registered with the CLA audit Class A and B manufacturing sites (Fifth Schedule QMS); NABCB accreditation. https://cdsco.gov.in/opencms/resources/UploadCDSCOWeb/2018/UploadImmunization/FAQmd2018.pdf
[13] Lawrbit. Class A and B medical device manufacturing licence in India: MD-3 → MD-5; licence valid indefinitely subject to the retention fee every 5 years. https://www.lawrbit.com/industry-specific/class-a-b-medical-device-manufacturing-license-india/
[14] Indian Pharmacopoeia Commission (National Coordination Centre). Materiovigilance Programme of India (MvPI), launched 6 July 2015. https://nhsrcindia.org/hi/node/10346
[15] Materiovigilance Programme of India: current status and way forward. Indian Journal of Pharmacology; 2022 (174 Medical Device Adverse Event Monitoring Centres in hospitals and medical colleges; voluntary reporting; 40 reports in 2015 rising to 897 in 2019). https://www.ovid.com/jnls/iphr/fulltext/10.4103/ijp.ijp_837_21~materiovigilance-programme-of-india-current-status-and-way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My interests, stated first
TIME 1:00 min · full run clock 2:00–3:00 · 40-min core clock 2:00–3:00
ACTIVITY Disclosure and ground rules (1 minute)
CORE SCRIPT (say this; about 70 words)
Before you judge my evidence, you should know my interests. FoGO: I am founder and principal investigator of Ahilaya Biomedicals; a provisional patent and a design application are filed; we have received ₹25.5 lakh in grants, and a BIRAC BIG proposal is under review. SwaKnee: [state your role and any equity, royalty or salary interest]. So: vote before you hear my view, challenge every claim, mine included, and protect identities.
DETAIL BELOW: use if time allows or if asked
PURPOSE
Model good conflict-of-interest practice before asking the audience to judge evidence. The slide is the disclosure; the notes are the reasoning.
SAY
“I have professional interests in both case studies.” Say them specifically. FoGO: founder and principal investigator, Ahilaya Biomedicals Pvt Ltd (incubated at KIIT TBI); a provisional patent (202531119165) and a design application have been filed; ₹25.5 lakh in grants has been received from three programmes (Startup Odisha, DST NIDHI PRAYAS, Startup India Seed Fund); a BIRAC Biotechnology Ignition Grant proposal is under review — BIG offers up to ₹50 lakh over 18 months, so the sum at stake is material. SwaKnee: state your role at Swayogya Rehab Solutions and any equity, royalty or salary interest (the marigold line reads “[state role …]” until you edit it). Name any other financial interests.
“Apply a ‘reasonably perceived’ test to everything I say about these devices — the test used in the University of Cambridge conflict-of-interest policy. The Institute of Medicine defines a conflict of interest as a set of circumstances that creates a risk that judgement about a primary interest will be unduly influenced by a secondary interest — a risk, not an accusation.”
“Three ground rules: vote before you hear my view; challenge every claim, including mine; and protect identities — no names or photographs of patients from your own practice.”
DEBRIEF POINTS
Stanford sources flag physician-innovator roles as prone to conflicts of interest that should be managed without ending collaboration (Stanford GSB case OIT105), and ask whether physician-innovators should evaluate their own devices (Chao, Riskin &amp; Krummel 2010). Johnson and Rogers list conflicts of interest among four ethical challenges of surgical innovation; they apply to devices by analogy. Management (disclosure, independent evaluation, separation of roles) returns in the People section.
CAUTION
Do not leave the “[state role …]” placeholder on screen. Do not describe grants as endorsements; funders have not evaluated the device clinically. The patent is provisional: no granted rights.
TRANSITION
“Let's make a decision before we look at any details.”
SOURCES
[1] University of Cambridge. Conflict of Interest Policy. https://www.governanceandcompliance.admin.cam.ac.uk/files/conflict_of_interest_policy.pdf
[2] Institute of Medicine; Lo B, Field MJ, eds. Conflict of Interest in Medical Research, Education, and Practice. National Academies Press; 2009. https://www.nationalacademies.org/read/12598/chapter/11
[3] Chao KZ, Riskin DJ, Krummel TM. A patient-centered, ethical approach to medical device innovation. Virtual Mentor (now AMA J Ethics). 2010;12(2):91–95. https://journalofethics.ama-assn.org/article/patient-centered-ethical-approach-medical-device-innovation/2010-02
[4] Burns L, Denend L, Zenios S. The Role of Physicians in Device Innovation: Critical Success Factor or Conflict of Interest? Stanford GSB case OIT105; 2011. https://www.gsb.stanford.edu/faculty-research/case-studies/role-physicians-device-innovation-critical-success-factor-or-conflict
[5] Johnson J, Rogers W. Innovative surgery: the ethical challenges. J Med Ethics. 2012;38(1):9–12. https://jme.bmj.com/content/38/1/9
[6] India Science, Technology and Innovation portal. Biotechnology Ignition Grant (BIG): up to Rs 50 lakh for 18 months for individual innovators and start-ups. https://www.indiascienceandtechnology.gov.in/programme-schemes/biotechnology-ignition-grant-scheme-big-0
[7]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Would you let a patient use it? (opening vote)
TIME 2:00 min · full run clock 3:00–5:00 · 40-min core clock 3:00–5:00
ACTIVITY OPENING VOTE by show of fingers; flipchart tally
CORE SCRIPT (say this; about 51 words)
Three facts: a working prototype, promising results on public datasets, a test licence granted. Hold up one finger for routine care, two for a research study, three for not yet. [Count and record the split.] Why did you choose that? I will not answer yet; we vote again at the end.
DETAIL BELOW: use if time allows or if asked
PURPOSE
Surface the room's intuitions before any teaching, so the shift at the closing vote is visible. The device is deliberately unnamed.
SAY
Read the three facts slowly: a working prototype; promising results on public datasets; a test licence granted.
“Hold up one, two or three fingers. One: suitable for routine care. Two: suitable for a research study. Three: not yet — I need more information.”
ASK / RUN
Count roughly and write the split in the three boxes on the flipchart (1 = __, 2 = __, 3 = __). Ask one person from each group: “What made you choose that?” Do not give the answer yet, and do not say which device this is. Keep the whole activity to two minutes.
DEBRIEF POINTS
Keep it brief; the full answer unfolds during the session.
• A test licence (Form MD-12 application, Form MD-13 licence from the Central Licensing Authority under the Medical Devices Rules 2017) allows small quantities to be made for clinical investigation, test, evaluation, examination, demonstration or training; the fee is Rs 500 per device. Devices made under it cannot be sold. It is not permission to treat patients and not, by itself, permission to run a study.
• A study needs approval from an ethics committee registered under the New Drugs and Clinical Trials Rules 2019 and, for an investigational device, Central Licensing Authority permission (Form MD-22 → MD-23 with Seventh Schedule documents), prospective CTRI registration and arrangements for injury compensation.
• Routine care needs a manufacturing licence for the intended use (MD-5 or MD-9 by class) and evidence appropriate to the claim.
“We will vote again at the end with exactly the same options.”
CAUTION
These three facts match FoGO's real status in August 2026 (alpha prototype, public-dataset results, MD-13 test licence for 25 units). Do not say so now. By the evidence and permission sections many people will have spotted it; confirm it at the closing vote.
TRANSITION
“To judge this well, we borrow three teaching traditions.”
SOURCES
[1] Ministry of Health and Family Welfare. Medical Devices Rules, 2017 (as amended), consolidated text, CDSCO. https://cdsco.gov.in/opencms/resources/UploadCDSCOWeb/2022/m_device/mdr,%202017%20(1).pdf
[2] CDSCO. Form MD-12: application for licence to manufacture medical devices for clinical investigation, test, evaluation, examination, demonstration or training (licence in Form MD-13). https://cdsco.gov.in/opencms/export/sites/CDSCO_WEB/Pdf-documents/medical-device/12MD.pdf
[3] CDSCO. Form MD-22: application for permission to conduct clinical investigation (permission in Form MD-23). https://cdsco.gov.in/opencms/export/sites/CDSCO_WEB/Pdf-documents/medical-device/22MD.pdf
[4] Ministry of Health and Family Welfare. New Drugs and Clinical Trials Rules, 2019 (ethics committee registration: Rules 7–8 with CDSCO; Rules 16–17 with DHR). https://cdsco.gov.in/opencms/resources/UploadCDSCOWeb/2022/new_DC_rules/NEW%20DRUGS%20ANDctrS%20RULE,%202019.pdf
[5] CDSCO Medical Device online portal. Fee help file (Second Schedule, MDR-2017): manufacturing licence Class A/B Rs 5,000 per site + Rs 500 per device; Class C/D Rs 50,000 + Rs 1,000; test licence Rs 500 per device. https://cdscomdonline.gov.in/NewMedDev/resources/app_srv/NMD/global/helpfiles/nmd_fee.pdf/
[6]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Three teaching traditions, one Indian patient
TIME 0:45 min · full run clock 5:00–5:45 · 40-min core clock 5:00–5:45
CORE SCRIPT (say this; about 56 words)
We borrow from three traditions. Stanford Biodesign: start from a validated need. Harvard bioethics and the MRCT Center: respect and protect every participant. Cambridge's design centres: design for the whole system and for the people it excludes. We apply all three to Indian rules and Indian patients: CDSCO, ICMR, MvPI, NPPA, BIS and the DPDP rules.
DETAIL BELOW: use if time allows or if asked
PURPOSE
Credit the frameworks we use, name the actual materials so students can find them, and show that each is adapted to Indian regulation and Indian households.
SAY
Stanford Biodesign: innovation starts from a validated need, not a technology. Its Identify–Invent–Implement process asks teams to observe care, write solution-neutral need statements (the Need Statements guide, 2022) and screen needs before inventing. Its Principled Decision-Making brief (2022) advises teams to write a team-culture document setting out their ethical principles early. In India, Stanford-India Biodesign began in 2007 with DBT, AIIMS and IIT Delhi: over nine years it trained 32 fellows who developed 14 technologies and started 13 companies, and it continues as the School of International Biodesign at AIIMS New Delhi; Chaturvedi and colleagues (BMJ Innovations 2015) applied the method in an Indian emergency department, filtering 100 needs to 10.
Harvard: the HMS Center for Bioethics teaches through cases; the MRCT Center of Brigham and Women's Hospital and Harvard provides practical tools on diversity and inclusion (2020), Accessibility by Design (2023), a plain-language glossary and post-trial access for devices (2025); the Petrie-Flom Center studies home digital health (Diagnosing in the Home) and the ethics of remote device monitoring (Cohen, Gerke &amp; Kramer 2020); HMS's 2010 conflict-of-interest policy is the model for ‘disclose, then manage’.
Cambridge: the Engineering Design Centre's Inclusive Design Toolkit and Exclusion Calculator ask who is excluded by a product's demands; Engineering Better Care (2017; working group chaired by Cambridge's Prof John Clarkson) adds people, systems, design and risk perspectives and a ‘Sustain’ phase; the Institute for Biomedical Innovation (announced January 2026) addresses the gap between a lab prototype and a trial-ready device; Cambridge Judge's Centre for Health Leadership and Enterprise focuses on making proven solutions affordable.
INDIA ADAPTATION
Band, left to right. CDSCO under the Medical Devices Rules 2017 answers Permission: Rule 4 classes A–D, MD-5 (State) or MD-9 (Central) licences, MD-13 test licence. ICMR's 2017 National Ethical Guidelines and ethics committees registered under the NDCT Rules 2019 answer People. The Materiovigilance Programme of India at the Indian Pharmacopoeia Commission (launched 6 July 2015, 174 monitoring centres by 2022) answers Safety. NPPA under DPCO 2013 answers Access: ceiling prices on coronary stents (February 2017) and knee implants (August 2017), trade-margin caps on five home-use devices (July 2021). BIS standards and the Essential Principles checklist (self-certified for Class A non-sterile, non-measuring devices under the 2022 amendment) set the technical floor. The DPDP Rules 2025, with phased commencement, govern the personal health data that apps and cloud services collect. Families still pay out of pocket for most outpatient devices.
CAUTION
None of these institutions has evaluated or endorsed FoGO or SwaKnee. The Biodesign textbook is Stanford content published by Cambridge University Press, so cite it as Stanford. IDEAL (evidence section) is Oxford-led, not Cambridge. BIS is named as the standards body; specific Indian Standards for the two devices are not cited here.
TRANSITION
“Now meet the two people we will keep in mind.”
SOURCES
[1] Stanford Mussallem Center for Biodesign. Our Process: Identify, Invent, Implement. https://biodesign.stanford.edu/about-us/process.html
[2] Stanford Biodesign. Need Statements. Student Guide to Biodesign; 2022. https://biodesignguide.stanford.edu/wp-content/uploads/2022/07/Need-Statements-v2.pdf
[3] Stanford Biodesign. Principled Decision-Making. Student Guide to Biodesign; 2022. https://biodesignguide.stanford.edu/wp-content/uploads/2022/08/Principled-Decision-Making-v1.pdf
[4] Stanford Biodesign. Stanford Biodesign in India (Stanford-India Biodesign, 2007–2014; now School of International Biodesign, AIIMS and IIT Delhi). https://biodesign.stanford.edu/content/dam/sm/biodesign/documents/programs/global-initiatives/founders-forum/Stanford-Bioesign-in-India.pdf
[5] Chaturvedi J, Logan A, Narayan G, Kuttappa S. A structured process for unmet clinical need analysis for medical device innovation in India: early experiences. BMJ Innovations. 2015;1(3):81. https://innovations.bmj.com/content/1/3/81
[6] Harvard Medical School Center for Bioethics. Fellowship in Bioethics: curriculum. https://bioethics.hms.harvard.edu/education/fellowship-bioethics/curriculum
[7] MRCT Center of Brigham and Women's Hospital and Harvard. Achieving Diversity, Inclusion, and Equity in Clinical Research: Guidance Document and Toolkit; 2020. https://mrctcenter.org/diversity-in-clinical-research/
[8] MRCT Center. Accessibility by Design in Clinical Research Toolkit; 2023. https://mrctcenter.org/resource/accessibility-by-design-abd-toolkit-release/
[9] MRCT Center. Clinical Research Glossary (plain-language definitions; v3.0, 2025). https://mrctcenter.org/glossary/
[10] MRCT Center Post-trial Continued Access Task Force. Post-trial, Continued Access Responsibilities to Investigational Significant-Risk Devices: Framework; 2025. https://mrctcenter.org/wp-content/uploads/2025/04/2025-04-23c-Responsibilities-Framework_Devices.pdf
[11] Petrie-Flom Center, Harvard Law School. Diagnosing in the Home: the ethical, legal and regulatory challenges of digital home health (2021–2024). https://petrieflom.law.harvard.edu/diagnosing-in-the-home/
[12] Cohen IG, Gerke S, Kramer DB. Ethical and legal implications of remote monitoring of medical devices. Milbank Q. 2020;98(4):1257–1289. https://www.milbank.org/quarterly/articles/ethical-and-legal-implications-of-remote-monitoring-of-medical-devices/
[13] Harvard Medical School. Policy on Conflicts of Interest and Commitment (2010 revision). https://hms.harvard.edu/news/changes-conflicts-policy-heighten-transparency
[14] University of Cambridge Engineering Design Centre. Inclusive Design Toolkit and Exclusion Calculator (Clarkson, Waller, Coleman). https://www-edc.eng.cam.ac.uk/research/inclusive-design
[15] Royal Academy of Engineering, Academy of Medical Sciences, Royal College of Physicians. Engineering Better Care: a systems approach to health and care design and continuous improvement; 2017 (working group chaired by Prof P. John Clarkson, University of Cambridge). https://raeng.org.uk/publications/reports/engineering-better-care
[16] University of Cambridge. New Cambridge institute will support high-value medical device translation; January 2026. https://www.cam.ac.uk/research/news/new-cambridge-institute-will-support-high-value-medical-device-translation
[17] Cambridge Judge Business School. Centre for Health Leadership and Enterprise. https://www.jbs.cam.ac.uk/centres/health/
[18] Ministry of Health and Family Welfare. Medical Devices Rules, 2017 (as amended), consolidated text, CDSCO. https://cdsco.gov.in/opencms/resources/UploadCDSCOWeb/2022/m_device/mdr,%202017%20(1).pdf
[19] Indian Council of Medical Research. National Ethical Guidelines for Biomedical and Health Research Involving Human Participants. New Delhi: ICMR; 2017 (Section 5 informed consent; Section 6 vulnerability; Section 7.7 device trials). https://ethics.ncdirindia.org/asset/pdf/ICMR_National_Ethical_Guidelines.pdf
[20] Ministry of Health and Family Welfare. New Drugs and Clinical Trials Rules, 2019 (ethics committee registration: Rules 7–8 with CDSCO; Rules 16–17 with DHR). https://cdsco.gov.in/opencms/resources/UploadCDSCOWeb/2022/new_DC_rules/NEW%20DRUGS%20ANDctrS%20RULE,%202019.pdf
[21] Indian Pharmacopoeia Commission. Materiovigilance Programme of India (MvPI): About us. Launched 6 July 2015; helpline 1800-180-3024; mvpi-ipc@gov.in. https://ipc.gov.in/mandates/materiovigilance-programme-of-india-mvpi/about-us.html
[22] Materiovigilance Programme of India: current status and way forward. Indian Journal of Pharmacology; 2022 (174 Medical Device Adverse Event Monitoring Centres in hospitals and medical colleges; voluntary reporting; 40 reports in 2015 rising to 897 in 2019). https://www.ovid.com/jnls/iphr/fulltext/10.4103/ijp.ijp_837_21~materiovigilance-programme-of-india-current-status-and-way
[23] Press Information Bureau. NPPA ceiling prices for coronary stents: Rs 7,260 (bare-metal) and Rs 29,600 (drug-eluting); 13 February 2017. https://www.pib.gov.in/newsite/PrintRelease.aspx?relid=158452
[24] Press Information Bureau. Government fixes ceiling prices of knee implants (cobalt-chromium primary knee: average MRP Rs 1,58,324 to Rs 54,720, 65%; special metals 69%); 16 August 2017. https://www.pib.gov.in/newsite/PrintRelease.aspx?relid=170040
[25] Press Information Bureau. Government caps trade margin up to 70% on price-to-distributor for pulse oximeters, BP monitors, nebulisers, digital thermometers and glucometers; 13 July 2021 (91% of 684 brands cut MRP, by up to 88%). https://www.pib.gov.in/PressReleasePage.aspx?PRID=1735430
[26] Ministry of Electronics and Information Technology. Digital Personal Data Protection Rules, 2025 (notified November 2025; phased commencement). https://static.pib.gov.in/WriteReadData/specificdocs/documents/2025/nov/doc20251117695301.pdf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Two people we will follow
TIME 1:00 min · full run clock 5:45–6:45 · 40-min core clock 5:45–6:45
CORE SCRIPT (say this; about 52 words)
Meet Ramesh, 71, with Parkinson's: he freezes in doorways, has fallen twice this year and borrows his daughter's phone. And Kamala, 64, with knee osteoarthritis: she lives 30 km from the clinic and her family pays out of pocket. They are composites, not real patients. When you vote today, vote for them.
DETAIL BELOW: use if time allows or if asked
PURPOSE
Give every later decision a human face, with the burden of each condition in Indian numbers.
SAY
“Ramesh and Kamala are composites, not real patients, built from situations common in Odisha clinics.”
Ramesh, 71: Parkinson's disease for eight years; freezes in doorways and when turning; has fallen twice this year; lives with his daughter, who works days and lends him her smartphone — so any app-based cue depends on a borrowed phone and on someone else's working hours.
Kamala, 64: knee osteoarthritis in both knees; lives 30 km from the clinic at the district hospital; travels by shared auto with a companion; her household pays out of pocket and loses wages when someone accompanies her — so a 45-minute daily session over 45 days (the SwaKnee leaflet's illustration of time burden) is a real cost in time and money.
“Every decision today is made for one of them. When you vote, vote for them.”
INDIA ADAPTATION
Burden context: about 7.7 lakh people in India were living with Parkinson's disease in 2019 (India State-Level Disease Burden Initiative, GBD 2019, as cited in the FoGO project material). Knee osteoarthritis was found in 28.7% of 5,000 people in a five-site community survey (Pal et al., Indian J Orthop 2016) — one study, not a national estimate.
CAUTION
Do not attach these personas to the volunteer shown in the FoGO photograph (legs only, no face) or to anyone in the SwaKnee material. The ‘Product’ chip on the SwaKnee card means a product in use, not a CDSCO-licensed or clinically proven device; state its licence status only if you have checked it.
TRANSITION
“Their journey has six stages.”
SOURCES
[1] India State-Level Disease Burden Initiative Neurological Disorders Collaborators. The burden of neurological disorders across the states of India: GBD 1990–2019. Lancet Glob Health. 2021. https://www.ncbi.nlm.nih.gov/pmc/articles/PMC8295043/
[2] Pal CP, Singh P, Chaturvedi S, Pruthi KK, Vij A. Epidemiology of knee osteoarthritis in India and related factors. Indian J Orthop. 2016;50(5):518–522 (28.7% in a five-site community survey). https://pmc.ncbi.nlm.nih.gov/articles/PMC5017174
[3]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[4] Swa knee_Leaflet.pdf. Supplied product material: 45-minute daily sessions over 45 days (illustration of time burden, not a prescription).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Every stage answers a patient question
TIME 0:45 min · full run clock 6:45–7:30 · 40-min core clock 6:45–7:30
CORE SCRIPT (say this; about 70 words)
Every stage answers a question a patient would ask. Will it help? Is it proven? Can I refuse? Is it allowed? Can I afford it? Who answers if it fails? Under each is the Indian institution that answers it: the clinic, CDSCO and CTRI, the ethics committee, the licensing authority, NPPA and the family, and MvPI. The dots at the top of later slides show which stage we are in.
DETAIL BELOW: use if time allows or if asked
PURPOSE
Introduce the six-stage spine of the session and map each stage to the Indian institution or permission that answers it; the progress dots on later slides show where we are.
SAY
Need — “Will it help me?” Answered in the clinic by observing care and writing a solution-neutral need with a precise intended use and claim; the School of International Biodesign at AIIMS and IIT Delhi teaches the method in India.
Evidence — “Is there proof, for people like me?” Answered by a permitted clinical investigation (Form MD-22 with Seventh Schedule documents, permission in MD-23), registered prospectively on CTRI and run to ISO 14155 good clinical practice.
People — “Can I freely say no, and are the people asking me free of hidden interests?” Answered by an ethics committee registered under the NDCT Rules 2019, applying ICMR's 2017 guidelines on consent (section 5), vulnerability (section 6) and device trials (section 7.7), with investigators' interests disclosed.
Permission — “Is it allowed for this use?” Answered by the licensing authority: MD-5 from the State for Class A/B, MD-9 from CDSCO for Class C/D, MD-13 test licences for prototypes, MD-15 import licences for any class.
Access — “Can I afford it, use it and keep using it?” Answered by NPPA under DPCO 2013 (stent ceiling prices from February 2017; knee implant caps from August 2017, continued to 15 November 2026) and, for most outpatient devices, by the family's own pocket.
Safety — “Who answers if it fails, after the sale?” Answered by the Materiovigilance Programme of India at the Indian Pharmacopoeia Commission (since 6 July 2015, 174 monitoring centres by 2022) and by CDSCO's alerts, recalls and licence cancellations — the DePuy ASR hip alert of December 2013, after about 4,700 surgeries in India, is the reference case.
“These questions adapt familiar research-ethics principles — benefit, risk minimisation, voluntary participation, accountability; compare the general principles in ICMR's 2017 guidelines — to the device life cycle. The stages are not strictly sequential: Engineering Better Care's ‘Sustain’ phase reminds us that access and safety must be designed from the start. We follow Ramesh and Kamala along this path.”
CAUTION
The six stages are a teaching device, not a regulatory sequence; in practice classification, test licence and ethics approval overlap. The 174 monitoring centres is a 2022 figure and the network has grown since. The DePuy ASR case belongs to the pre-MDR-2017 regime (Drugs and Cosmetics Act 1940).
TRANSITION
“Stage one: what exactly are we promising?”
SOURCES
[1] Indian Council of Medical Research. National Ethical Guidelines for Biomedical and Health Research Involving Human Participants. New Delhi: ICMR; 2017 (Section 5 informed consent; Section 6 vulnerability; Section 7.7 device trials). https://ethics.ncdirindia.org/asset/pdf/ICMR_National_Ethical_Guidelines.pdf
[2] Stanford Mussallem Center for Biodesign. Our Process: Identify, Invent, Implement. https://biodesign.stanford.edu/about-us/process.html
[3] Stanford Biodesign. Stanford Biodesign in India (Stanford-India Biodesign, 2007–2014; now School of International Biodesign, AIIMS and IIT Delhi). https://biodesign.stanford.edu/content/dam/sm/biodesign/documents/programs/global-initiatives/founders-forum/Stanford-Bioesign-in-India.pdf
[4] Royal Academy of Engineering, Academy of Medical Sciences, Royal College of Physicians. Engineering Better Care: a systems approach to health and care design and continuous improvement; 2017 (working group chaired by Prof P. John Clarkson, University of Cambridge). https://raeng.org.uk/publications/reports/engineering-better-care
[5] Ministry of Health and Family Welfare. Medical Devices Rules, 2017 (as amended), consolidated text, CDSCO. https://cdsco.gov.in/opencms/resources/UploadCDSCOWeb/2022/m_device/mdr,%202017%20(1).pdf
[6] CDSCO. Form MD-22: application for permission to conduct clinical investigation (permission in Form MD-23). https://cdsco.gov.in/opencms/export/sites/CDSCO_WEB/Pdf-documents/medical-device/22MD.pdf
[7] Ministry of Health and Family Welfare. New Drugs and Clinical Trials Rules, 2019 (ethics committee registration: Rules 7–8 with CDSCO; Rules 16–17 with DHR). https://cdsco.gov.in/opencms/resources/UploadCDSCOWeb/2022/new_DC_rules/NEW%20DRUGS%20ANDctrS%20RULE,%202019.pdf
[8] ISO 14155:2026. Clinical investigation of medical devices for human subjects — Good clinical practice (supersedes ISO 14155:2020). https://www.iso.org/standard/83968.html
[9] Press Information Bureau. NPPA ceiling prices for coronary stents: Rs 7,260 (bare-metal) and Rs 29,600 (drug-eluting); 13 February 2017. https://www.pib.gov.in/newsite/PrintRelease.aspx?relid=158452
[10] Press Information Bureau. Government fixes ceiling prices of knee implants (cobalt-chromium primary knee: average MRP Rs 1,58,324 to Rs 54,720, 65%; special metals 69%); 16 August 2017. https://www.pib.gov.in/newsite/PrintRelease.aspx?relid=170040
[11] Medical Dialogues. NPPA continues price cap on orthopaedic knee replacement implants for another year, till 15 November 2026. https://medicaldialogues.in/news/industry/medical-devices/nppa-continues-price-cap-on-orthopedic-knee-replacement-implants-for-another-year-till-november-15-2026-158881
[12] Medical Dialogues. NPPA asks for price movement details of orthopaedic implants; 2017 (devices are 'drugs' under the Drugs and Cosmetics Act 1940, so DPCO 2013 applies: Para 19 ceiling prices in extraordinary circumstances or public interest; Para 20 monitoring of non-scheduled MRPs so that no price rises more than 10% in any 12 months). https://medicaldialogues.in/nppa-asks-for-price-movement-details-of-orthopedic-implants
[13] Indian Pharmacopoeia Commission. Materiovigilance Programme of India (MvPI): About us. Launched 6 July 2015; helpline 1800-180-3024; mvpi-ipc@gov.in. https://ipc.gov.in/mandates/materiovigilance-programme-of-india-mvpi/about-us.html
[14] Materiovigilance Programme of India: current status and way forward. Indian Journal of Pharmacology; 2022 (174 Medical Device Adverse Event Monitoring Centres in hospitals and medical colleges; voluntary reporting; 40 reports in 2015 rising to 897 in 2019). https://www.ovid.com/jnls/iphr/fulltext/10.4103/ijp.ijp_837_21~materiovigilance-programme-of-india-current-status-and-way
[15] Mondaq. Reassessing India's Medical Device Recall Framework: Regulatory Gaps and the Case for Reform; 2025 (CDSCO medical device alert on the DePuy ASR hip implant, December 2013, after about 4,700 surgeries in India; import licence cancelled under the Drugs and Cosmetics Act 1940; MDR-2017 has no stand-alone recall procedure). https://www.mondaq.com/reassessing-india's-medical-device-recall-framework-regulatory-gaps-and-the-case-for-reform/1751304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Part 1 · Need and evidence
TIME 0:15 min · full run clock 7:30–7:45 · deep-dive slide: skip in the 40-minute version
CORE SCRIPT (say this; about 52 words)
Part one asks two questions of every device: what are we promising, and what has been shown? We start with the words, because the wording of the need and the claim decides the evidence bar and, in India, the permission. Then we test FoGO and SwaKnee against the evidence they actually have.
DETAIL BELOW: use if time allows or if asked
PURPOSE
Frame the section: wording first, evidence second; both devices judged with the same four-word vocabulary (Demonstrated, Reported preliminary, Planned, Not established).
SAY
The photograph is the FoGO alpha prototype, third iteration, 2025: the phone app, the chest module on its adhesive patch, and the ankle module in its strap. Everything we say about FoGO in this part refers to this version.
Three stops in this part: a solution-neutral need statement and a claim ladder; a decision tree for 'is it a medical device in India?'; and the evidence ladder for both devices, with the first vote.
TRANSITION
“First, the words.”
SOURCES
[1]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Wording sets the evidence bar
TIME 1:30 min · full run clock 7:45–9:15 · 40-min core clock 7:30–9:00
ACTIVITY Quick call-out (60 s): rewrite Kamala's need without naming any device
CORE SCRIPT (say this; about 74 words)
Stanford's need statement is solution-neutral: a way to address a problem, in a population, to achieve an outcome. No sensor, no app. Now the claims. ‘Shows walking patterns’ promises information. ‘Detects Parkinson's freezing’ promises detection of a disease event: a medical claim, with a higher evidence bar and a licence. ‘Reduces falls’ promises treatment: a controlled trial and claims control. Your wording chooses your obligations. Quick task: rewrite Kamala's need without naming any device.
DETAIL BELOW: use if time allows or if asked
PURPOSE
Show that the intended use and the claim decide the regulatory route and the evidence needed; practise writing a solution-neutral need.
SAY
Stanford Biodesign's need-statement format is: a way to [address the problem] in [a specific population] in order to [achieve a desired outcome]. It is deliberately solution-neutral. For Ramesh: “A way to reduce freezing-related immobility and falls in people with Parkinson's disease living at home, in order to preserve safe, independent walking.” Notice: no sensor, no vibration, no app.
Now the ladder on the right. Each rung is a stronger claim, and each needs more evidence and more permission.
Information: “Shows your walking patterns.” Bench accuracy and usability. If no medical purpose is claimed the product may sit outside MDR-2017; but the real purpose decides, not the label.
Monitoring: “Tracks your gait for your neurologist.” Now there is a medical purpose, so it is a device. Software that does the medical work is classified under CDSCO's Guidance on Medical Device Software (CDSCO/MD/GD/MDSW/01/2026, 21 July 2026) by the medical purpose, the significance of the output for clinical decisions and the severity of the condition. The manufacturing licence is MD-5 from the State Licensing Authority for Class A/B, or MD-9 from the Central Licensing Authority for Class C/D.
Detection: “Detects freezing of gait in Parkinson's.” This promises detection of a disease-related event and, in FoGO, triggers an action. The evidence is clinical performance: sensitivity and specificity against video-labelled freezes, false alarms per hour, latency, and performance in homes, turns and doorways. The permissions: test units under MD-12 → MD-13; clinical investigation permission MD-22 → MD-23 with Seventh Schedule documents; a registered ethics committee; CTRI registration; then the licence.
Treatment: “Reduces freezing and falls.” A prospective controlled trial with fall and walking outcomes, durability and safety. And once on the market, the claim itself is policed: the Uniform Code for Marketing Practices in Medical Devices (2024, amended 2026), the Drugs and Magic Remedies (Objectionable Advertisements) Act 1954, and ASCI's code on substantiated health claims. Labels must follow Rule 44.
Under MDR-2017 the intended use and claims determine whether a product is a medical device and its class (A–D). Calling a product ‘wellness’ does not remove obligations when the real purpose is medical; Simon, Shachar and Cohen (JAMA 2022) describe the liability grey zone of ‘prediagnostic’ wearables.
ASK / RUN
“Rewrite Kamala's need without naming any device.” Take two answers. Model answer: “A way to reduce pain and functional limitation in adults with knee osteoarthritis who cannot access or tolerate current options, in order to maintain daily function at an affordable cost.”
DEBRIEF POINTS
Good answers name the population, the problem and the outcome, and avoid ‘electromagnetic’, ‘device’ or ‘app’. Then ask: which rung of the ladder is SwaKnee's leaflet claiming? Which rung is FoGO's BIRAC proposal claiming? Keep both answers for the SwaKnee claims slide.
CAUTION
FoGO's project material proposes Class B; that is the developer's proposal, not a CDSCO classification. Do not state SwaKnee's class as fact; confirm with CDSCO or a regulatory adviser. The rung-by-rung permissions are a teaching simplification: the exact route depends on the class list, on whether a predicate exists (Rule 63 for devices without one) and on the clinical-investigation rules (Chapter VII).
TRANSITION
“But is it a medical device at all? In India, one question decides.”
SOURCES
[1] Stanford Biodesign. Need Statements. Student Guide to Biodesign; 2022. https://biodesignguide.stanford.edu/wp-content/uploads/2022/07/Need-Statements-v2.pdf
[2] Ministry of Health and Family Welfare. Medical Devices Rules, 2017 (as amended), consolidated text, CDSCO. https://cdsco.gov.in/opencms/resources/UploadCDSCOWeb/2022/m_device/mdr,%202017%20(1).pdf
[3] CDSCO. Guidance Document on Medical Device Software under the Medical Devices Rules, 2017 (CDSCO/MD/GD/MDSW/01/2026); 21 July 2026. https://cdsco.gov.in/opencms/export/sites/CDSCO_WEB/Pdf-documents/Guidance-document-on-Medical-Device-Software-under-MDR-2017.pdf
[4] Pure Global. India CDSCO Medical Device Software Guidance 2026: classification by medical purpose, significance of the information and severity of the condition; lifecycle, cybersecurity and AI change-planning expectations (secondary summary of CDSCO/MD/GD/MDSW/01/2026). https://www.pureglobal.com/news/india-cdsco-medical-device-software-guidance-2026
[5] CDSCO. Form MD-12: application for licence to manufacture medical devices for clinical investigation, test, evaluation, examination, demonstration or training (licence in Form MD-13). https://cdsco.gov.in/opencms/export/sites/CDSCO_WEB/Pdf-documents/medical-device/12MD.pdf
[6] CDSCO. Form MD-22: application for permission to conduct clinical investigation (permission in Form MD-23). https://cdsco.gov.in/opencms/export/sites/CDSCO_WEB/Pdf-documents/medical-device/22MD.pdf
[7] Simon DA, Shachar C, Cohen IG. Unsettled liability issues for 'prediagnostic' wearables and health-related products. JAMA. 2022;328:1391. https://hls.harvard.edu/bibliography/unsettled-liability-issues-for-prediagnostic-wearables-and-health-related-products
[8] Department of Pharmaceuticals. Uniform Code for Marketing Practices in Medical Devices, 2024 (circular of 6 September 2024; as amended on 30 April 2026). Voluntary code administered through industry associations. https://pharma-dept.gov.in/sites/default/files/UCMDMD%20circular%201-2026+UCMDMP%20code%20as%20amended%20on%2030.4.2026%20(1).pdf
[9] Drugs and Magic Remedies (Objectionable Advertisements) Act, 1954 (Schedule includes ‘rheumatism’). https://www.indiacode.nic.in/indiacode/bitstream/123456789/1412/1/A1954-21.pdf
[10] Advertising Standards Council of India. Consumer Complaints Council recommendations press release (June 2022): health advertisements assessed under ASCI Code Chapter I.1 (truthful, substantiated claims) and III.4. https://www.ascionline.in/wp-content/uploads/2022/09/asci_june-17_ccc_recomm_press_release.pdf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Is it a medical device in India?
TIME 1:15 min · full run clock 9:15–10:30 · deep-dive slide: skip in the 40-minute version
CORE SCRIPT (say this; about 90 words)
The intended purpose decides, not the technology. Section 3(b)(iv) of the Drugs and Cosmetics Act brings in devices intended for diagnosis, treatment, mitigation or prevention of disease; since 1 April 2020 that means all such devices. If software does the medical work, CDSCO's 2026 software guidance classifies it by purpose, significance of its output and severity of the condition. Then the First Schedule gives the class, and the class gives the licence. FoGO and SwaKnee are devices; a step-counting band and a scheduling app are not, until their claims change.
DETAIL BELOW: use if time allows or if asked
PURPOSE
Give students a repeatable three-question test for ‘is it a device?’ and show it on four familiar products.
SAY
Question 1: what is it for? The Drugs and Cosmetics Act 1940, section 3(b)(iv), covers devices intended for use in human beings for the diagnosis, treatment, mitigation or prevention of disease or disorder. Before 2020 only notified categories were regulated (37 categories); on 11 February 2020 MoHFW notified all medical devices under s.3(b)(iv) by S.O. 648(E), effective 1 April 2020. Registration became mandatory from 1 October 2021; Class A/B licences from 1 October 2022; Class C/D from 1 October 2023.
If there is no medical purpose, the product sits outside MDR-2017. But the test is the real purpose and the claims, not the label. A ‘wellness’ sticker does not undo a medical purpose.
Question 2: is software doing the medical work? CDSCO's Guidance Document on Medical Device Software under MDR-2017, CDSCO/MD/GD/MDSW/01/2026, issued 21 July 2026 (62 pages, replacing an October 2025 draft) covers software as a medical device, software in a device and IVD software, including AI, IoT and digital therapeutics, whenever the intended purpose is medical. It classifies by the medical purpose, the significance of the information for clinical decisions, and the severity of the condition. CDSCO says the guidance ‘should not be misconstrued as a new regulatory control’: it interprets the Rules.
Question 3: which risk class? Rule 4 and Part I of the First Schedule: non-invasive devices; invasive devices (through a body orifice or surgically; transient, short- or long-term); active devices (therapeutic, diagnostic, administering or removing substances); and special rules. Class A is low risk, B low-moderate, C moderate-high, D high. CDSCO also publishes device-wise classification lists (for example a revised cardiovascular list in April 2025).
The class gives the route: Class A/B manufacturing licence MD-5 from the State Licensing Authority (Class A non-sterile, non-measuring devices need only registration since G.S.R. 777(E) of 14 October 2022); Class C/D licence MD-9 from the Central Licensing Authority; import licence MD-15 from the CLA for every class.
Four examples. FoGO: ‘detects freezing of gait and cues the user’ is a medical purpose; the app's algorithm drives the cue, so the software guidance applies; the developer proposes Class B, so say ‘likely B or C, to be confirmed’. SwaKnee: pulsed electromagnetic field for knee osteoarthritis pain is a medical purpose; an active therapeutic device that delivers energy; likely Class B under the First Schedule, to be verified on CDSCO's lists. A fitness band that counts steps and says ‘stay active’ names no disease and diagnoses nothing; add ‘detects arrhythmia’ and it becomes a device. A hospital scheduling app handles appointments, queues and billing; its output has no medical purpose; add triage advice or dosing and re-check.
INDIA ADAPTATION
This slide is already the Indian framework; the comparison with FDA (‘general wellness’ policy) and EU MDR Rule 11 for software comes in Part 4.
CAUTION
The s.3(b)(iv) purpose wording (diagnosis, treatment, mitigation, prevention) is quoted from memory of the Act; the facts file confirms only ‘intended for use in human beings or animals’. The First Schedule paraphrase is from a consultancy source; open the CDSCO MDR-2017 PDF before quoting a rule number. The fitness-band and scheduling-app verdicts apply the intended-purpose principle; the MDSW guidance's exact treatment of wellness and administrative software was not read in the PDF. Do not state FoGO's or SwaKnee's class as fact.
TRANSITION
“FoGO is a device. So what has it shown? Twelve seconds of video.”
SOURCES
[1] CDSCO. Notice on S.O. 648(E) of 11 February 2020 (all medical devices notified as drugs with effect from 1 April 2020) and G.S.R. 102(E). https://cdsco.gov.in/opencms/export/sites/CDSCO_WEB/Pdf-documents/mdgsr.pdf
[2] Ministry of Health and Family Welfare. Medical Devices Rules, 2017 (as amended), consolidated text, CDSCO. https://cdsco.gov.in/opencms/resources/UploadCDSCOWeb/2022/m_device/mdr,%202017%20(1).pdf
[3] CDSCO. Guidance Document on Medical Device Software under the Medical Devices Rules, 2017 (CDSCO/MD/GD/MDSW/01/2026); 21 July 2026. https://cdsco.gov.in/opencms/export/sites/CDSCO_WEB/Pdf-documents/Guidance-document-on-Medical-Device-Software-under-MDR-2017.pdf
[4] Pure Global. India CDSCO Medical Device Software Guidance 2026: classification by medical purpose, significance of the information and severity of the condition; lifecycle, cybersecurity and AI change-planning expectations (secondary summary of CDSCO/MD/GD/MDSW/01/2026). https://www.pureglobal.com/news/india-cdsco-medical-device-software-guidance-2026
[5] Bhatt &amp; Joshi Associates. Medical Device Regulations India 2026: CDSCO, MDR 2017, Compliance Guide (paraphrase of First Schedule Part I classification rules; consultancy source). https://bhattandjoshiassociates.com/medical-device-regulation-in-india-a-comprehensive-overview/
[6] TeamLease RegTech. Medical Devices (Sixth Amendment) Rules, 2022, G.S.R. 777(E), 14 October 2022: Class A non-sterile, non-measuring devices registered online with an undertaking and a self-certified Essential Principles checklist; no manufacturing licence. https://www.teamleaseregtech.com/updates/article/19622/medical-devices-sixth-amendment-rules-2022
[7] CDSCO. Regulatory pathway under the Medical Devices Rules, 2017 (overview). https://cdsco.gov.in/opencms/export/sites/CDSCO_WEB/Pdf-documents/medical-device/RegulatoryMDR-2017.pdf
[8] Simon DA, Shachar C, Cohen IG. Unsettled liability issues for 'prediagnostic' wearables and health-related products. JAMA. 2022;328:1391. https://hls.harvard.edu/bibliography/unsettled-liability-issues-for-prediagnostic-wearables-and-health-related-products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FoGO: what did the prototype actually show?
TIME 1:30 min · full run clock 10:30–12:00 · 40-min core clock 9:00–10:30
ACTIVITY Play the embedded 12-second clip, then ‘seen vs inferred’ on the flipchart
CORE SCRIPT (say this; about 68 words)
Watch twelve seconds. [Play.] A volunteer stops on purpose to mimic a freeze; the ankle sensor registers the stop, the app flags it as a freeze, and the chest module vibrates. What did you see, and what did you infer? We saw the parts working together on a deliberate stop. We did not see real freezes, many users, a freeze told apart from a pause, or fewer falls.
DETAIL BELOW: use if time allows or if asked
PURPOSE
Separate what a demonstration shows from what it seems to promise.
SAY
Introduce FoGO with the diagram: an ankle module with a six-axis motion sensor streaming at 100 Hz over Bluetooth to a phone app, which runs the detection model and confirms a freeze with a two-of-three debounce; when a freeze is confirmed it triggers a vibrotactile cue from a chest module worn on an adhesive patch. The project reports a detection-to-cue latency of about 255 ms on the bench; treat that as a project figure, not a clinical measurement.
Play the clip (click the video). It shows a volunteer, face obscured, stopping mid-walk on purpose to mimic a freeze. The ankle module registers the stop, the app's detection paths cross their thresholds and flag it as a freeze, and the chest module vibrates.
Ask: “What did you see? What did you infer?” Write two columns on the flipchart, then compare with the two columns on the slide.
ASK / RUN
Two columns on the flipchart: Seen / Inferred. Take three items for each before showing the slide's columns.
DEBRIEF POINTS
Seen: the components work together in a staged demonstration, on a deliberate stop.
Not shown: detection of real freezes in people with Parkinson's; whether it tells a real freeze from a voluntary stop or a pause at a doorway (at home, that would be a false cue); performance across many users, homes, turns, doorways and walking aids; tolerability of repeated cues; and any clinical benefit such as fewer falls or more walking.
A demonstration is valuable for understanding a system; it is not evidence of efficacy.
EVIDENCE STATUS
Demonstrated: staged prototype function (volunteer, simulated freeze). Not established: clinical detection performance and benefit.
CAUTION
The project has built three prototype iterations (January 2024 to June 2025); results apply to the version tested. Do not describe the clip as clinical footage. The 100 Hz and ≈255 ms figures are project-reported.
TRANSITION
“Three prototypes got us here. Each answered a different question.”
SOURCES
[1]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Three iterations, three kinds of proof
TIME 1:00 min · full run clock 12:00–13:00 · deep-dive slide: skip in the 40-minute version
CORE SCRIPT (say this; about 77 words)
Three prototypes in eighteen months. V1, January 2024, proved the electronics worked from a box. V2 put them into two wearable modules. V3, June 2025, is the alpha system with the app that you saw in the clip. In July 2026 it went through EMC pre-compliance, and on 10 August 2026 CDSCO granted a Form MD-13 test licence for 25 units. Every one of these is engineering proof. None is clinical evidence; the clinical proof-of-concept is planned.
DETAIL BELOW: use if time allows or if asked
PURPOSE
Show what iterative prototyping proves and what it cannot; connect the MD-13 test licence to its limited purpose.
SAY
V1 (January 2024): sensing electronics and a wired coin vibration motor in boxed enclosures; it proved the chain from sensor to motor could run. V2: an ankle sensor case and a small chest vibrotactile unit; it proved the wearable form factor. V3 (June 2025): the alpha system, ankle strap, adhesive chest patch and phone app, which is what the clip shows.
In July 2026 the ankle module went through IEC 60601-1-2 electromagnetic-compatibility pre-compliance testing (the photograph shows the RF test antenna and the module). Pre-compliance is a rehearsal: it finds problems before the formal test report that the dossier will need.
On 10 August 2026 CDSCO granted a test licence in Form MD-13 (applied for in Form MD-12) for 25 units. A test licence allows small quantities to be made for clinical investigation, test, evaluation, demonstration or training; the units cannot be sold, and the licence is neither marketing authorisation nor clinical-investigation permission. That next permission is MD-22 → MD-23, with a registered ethics committee and CTRI registration.
DEBRIEF POINTS
Ask the room: which of these four pictures would an ethics committee accept as evidence that the device helps Ramesh? None. They show readiness to be tested, which is a different and honest claim.
EVIDENCE STATUS
Demonstrated: prototype function V1–V3; EMC pre-compliance run. Granted: MD-13 test licence (25 units). Planned: clinical proof-of-concept.
CAUTION
What V1 and V2 each ‘proved’ is inferred from the photographs and the project timeline (January 2024 to June 2025); the project material does not date V2. EMC pre-compliance is not certification. Do not describe the MD-13 licence as approval of the device.
TRANSITION
“So where does FoGO sit on the evidence ladder?”
SOURCES
[1]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[2] CDSCO. Form MD-12: application for licence to manufacture medical devices for clinical investigation, test, evaluation, examination, demonstration or training (licence in Form MD-13). https://cdsco.gov.in/opencms/export/sites/CDSCO_WEB/Pdf-documents/medical-device/12MD.pdf
[3] CDSCO. Form MD-22: application for permission to conduct clinical investigation (permission in Form MD-23). https://cdsco.gov.in/opencms/export/sites/CDSCO_WEB/Pdf-documents/medical-device/22MD.pdf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FoGO has climbed two rungs, not five
TIME 1:30 min · full run clock 13:00–14:30 · 40-min core clock 10:30–12:00
CORE SCRIPT (say this; about 61 words)
Five rungs. FoGO has a staged demonstration: demonstrated. It has project-reported F1 scores of 0.83 to 0.85 on public datasets: reported, preliminary. A prospective patient study is planned, not done. Benefit in daily life, and long-term, fair performance, are not established. The rungs are questions to answer, not a compulsory sequence. Which one matters most before Ramesh uses it at home?
DETAIL BELOW: use if time allows or if asked
PURPOSE
Make the difference between demonstrated, preliminary, planned and unestablished evidence visible, with the numbers behind each rung.
SAY
Rung 1, Demonstrated: a staged demonstration on a volunteer (simulated freeze): sensing, flagging and the chest cue operate together. A project bench study (sample not stated) found the chest had the lowest vibration-perception threshold (0.72) and the widest usable range (0.72–4.77, internal scale) of five body sites.
Rung 2, Reported and preliminary: on three public datasets (Daphnet, CuPiD, Turning-in-place) the project reports subject-wise F1 scores of 0.83–0.85 (sensitivity 0.86–0.89, specificity 0.85–0.88), with 0.15–0.18 false alarms per minute, and F1 0.74–0.80 when tested on an unseen dataset (cross-dataset false-alarm rates appear higher, about 0.21–0.27 per minute on the project chart; confirm from the project analysis). The chart shows these five numbers; the two indigo bars are the low and high ends of the cross-dataset range.
Both rungs are preclinical: ‘Pre-IDEAL’ in the 2019 update of the IDEAL framework.
Rung 3, Planned: a prospective clinical proof-of-concept with AIIMS Bhubaneswar neurology and rehabilitation advisers, proposed as an 18-month BIRAC BIG project (IDEAL stages 1–2a). The proposal is under review; the study is not yet funded, ethics-approved or permitted by CDSCO. A planned study and its targets are not results.
Rungs 4 and 5, Not established: benefit in daily life (fewer falls, more walking), and long-term safety and fair performance across groups.
ASK / RUN
“Which rung matters most before Ramesh uses it at home?” Take two answers; most will say rung 3, some rung 5 (fairness).
DEBRIEF POINTS
Context: the best-known public benchmark, Daphnet, recorded 10 patients in a laboratory, of whom 8 froze (237 video-labelled events). One systematic review (Silva de Lima et al. 2017) reported sensitivity of 73–100% and specificity of 67–100%, mostly from laboratory studies; Pardoel et al. (2019) found that 68 of 74 studies addressed detection, and prediction is still early. So public-dataset F1 scores, however careful, cannot tell us how FoGO performs in Odisha homes.
IDEAL (McCulloch et al., Lancet 2009; Oxford-led) and IDEAL-D (Sedrakyan et al., BMJ 2016) ask for prospective design, registration and full reporting from the earliest human stages, and suggest that device approval can be staged and tied to registries. The rungs are questions, not a compulsory sequence.
For the next rung, ask for: video-annotated reference events; participant-level validation; false alarms per hour and detection latency in real use; and testing in homes, during turns and in doorways.
Cambridge's Institute for Biomedical Innovation (announced January 2026) names the gap between ‘a clever prototype that works in a lab’ and devices suitable for clinical trials, and offers batch prototyping of tens to hundreds of devices in ISO-certified environments.
EVIDENCE STATUS
1 Demonstrated · 2 Reported, preliminary (project-reported, public datasets) · 3 Planned · 4–5 Not established.
CAUTION
All F1 and false-alarm figures are project-reported and not peer-reviewed. The cross-dataset false-alarm range (0.21–0.27/min) is read from a project chart; confirm before quoting.
TRANSITION
“Here is a realistic decision.”
SOURCES
[1]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[2] Bächlin M, Plotnik M, Roggen D, et al. Wearable assistant for Parkinson's disease patients with the freezing of gait symptom. IEEE Trans Inf Technol Biomed. 2010 (10 patients in the laboratory; 8 froze; 237 video-labelled events). https://folia.unifr.ch/global/documents/222920
[3] Silva de Lima AL, Evers LJW, Hahn T, et al. Freezing of gait and fall detection in Parkinson's disease using wearable sensors: a systematic review. J Neurol. 2017 (sensitivity 73–100%, specificity 67–100%). https://www.ncbi.nlm.nih.gov/pmc/articles/PMC5533840/
[4] Pardoel S, Kofman J, Nantel J, Lemaire ED. Wearable-sensor-based detection and prediction of freezing of gait in Parkinson's disease: a review. Sensors. 2019;19(23):5141. https://www.ncbi.nlm.nih.gov/pmc/articles/PMC6928783/
[5] McCulloch P, Altman DG, Campbell WB, et al. No surgical innovation without evaluation: the IDEAL recommendations. Lancet. 2009;374:1105–1112 (IDEAL Collaboration; 2019 update adds Pre-IDEAL). https://www.ideal-collaboration.net/the-ideal-framework/
[6] Sedrakyan A, Campbell B, Merino JG, Kuntz R, Hirst A, McCulloch P. IDEAL-D: a rational framework for evaluating and regulating the use of medical devices. BMJ. 2016;353:i2372. https://pubmed.ncbi.nlm.nih.gov/27283585/
[7] University of Cambridge. New Cambridge institute will support high-value medical device translation; January 2026. https://www.cam.ac.uk/research/news/new-cambridge-institute-will-support-high-value-medical-device-translation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Would you proceed? A home pilot for Ramesh next month
TIME 3:00 min · full run clock 14:30–17:30 · 40-min core clock 12:00–15:00
ACTIVITY DECISION 1 of 5: vote A/B/C, then pairs name conditions
CORE SCRIPT (say this; about 60 words)
Facts: good scores on public data; ten users, alone at home; Ramesh has fallen twice and asks to join. A, proceed. B, proceed with conditions. C, not yet. Vote. Pairs: if B, name two conditions in 60 seconds. Did anyone ask whether ethics approval and CDSCO permission exist? They do not yet. Permissions first, then supervised study, then home use.
DETAIL BELOW: use if time allows or if asked
PURPOSE
Turn the evidence ladder into a concrete decision with conditions and owners.
SAY
Read the facts: F1 0.83–0.85 on public datasets; ten participants using the device alone at home; Ramesh has fallen twice this year and asks to join. Ethics approval and CDSCO permission are not yet in place: do not say so; see whether anyone asks.
“A: proceed. B: proceed only with conditions — name them. C: not yet.”
ASK / RUN
Vote by fingers (A = 1, B = 2, C = 3); tally on the flipchart. Give pairs 60 seconds: “If B, which two conditions?” Take three answers.
DEBRIEF POINTS
Conditions an ethics committee and regulator would expect:
1. Permissions first: approval from an ethics committee registered with CDSCO; for an unlicensed investigational device, CDSCO permission (MD-22 → MD-23) — the academic-study exemption covers only licensed devices; units built under the MD-13 test licence; prospective CTRI registration before the first participant; insurance and compensation arrangements.
2. Start supervised: in-clinic sessions with video-annotated freezes before any home use; then home use with a caregiver, stopping rules and a contact number.
3. Plan for failure: fall-risk assessment, cue limits, an easy off switch, a visible loss-of-monitoring alert.
4. Consent for fluctuating cognition: ICMR 2017 sections on consent and vulnerability; involve caregivers; plain language (MRCT Clinical Research Glossary).
5. Data: the app logs gait events; design notice, minimisation and retention now — under the DPDP Rules (notified 13 November 2025) the core obligations apply from about May 2027.
6. After the study: Declaration of Helsinki 2024 (para 34) requires post-trial provisions to be arranged in advance and disclosed in consent; the MRCT Center's 2025 device framework shows how (apply by analogy).
“Not yet” is legitimate while permissions are pending, but it has a cost: Ramesh keeps falling meanwhile, so the answer is a fast, properly permitted and supervised study, not indefinite delay. Wexler and Largent (2023) note that even ‘harmless’ sensor tests on lab members merit independent oversight.
CAUTION
Hypothetical scenario built on real FoGO facts; it does not describe the planned FoGO proof-of-concept, which is proposed with AIIMS Bhubaneswar advisers; its protocol is not yet finalised or approved. Whether MDR-2017 contains an academic-study exemption equivalent to the NDCT 2019 clause is unconfirmed; FoGO, an unlicensed device, would not qualify in any case.
TRANSITION
“If we do proceed, which failures matter most?”
SOURCES
[1] CDSCO. Form MD-12: application for licence to manufacture medical devices for clinical investigation, test, evaluation, examination, demonstration or training (licence in Form MD-13). https://cdsco.gov.in/opencms/export/sites/CDSCO_WEB/Pdf-documents/medical-device/12MD.pdf
[2] CDSCO. Form MD-22: application for permission to conduct clinical investigation (permission in Form MD-23). https://cdsco.gov.in/opencms/export/sites/CDSCO_WEB/Pdf-documents/medical-device/22MD.pdf
[3] Ministry of Health and Family Welfare. Medical Devices Rules, 2017 (as amended), consolidated text, CDSCO. https://cdsco.gov.in/opencms/resources/UploadCDSCOWeb/2022/m_device/mdr,%202017%20(1).pdf
[4] Ministry of Health and Family Welfare. New Drugs and Clinical Trials Rules, 2019 (ethics committee registration: Rules 7–8 with CDSCO; Rules 16–17 with DHR). https://cdsco.gov.in/opencms/resources/UploadCDSCOWeb/2022/new_DC_rules/NEW%20DRUGS%20ANDctrS%20RULE,%202019.pdf
[5] Indian Council of Medical Research. National Ethical Guidelines for Biomedical and Health Research Involving Human Participants. New Delhi: ICMR; 2017 (Section 5 informed consent; Section 6 vulnerability; Section 7.7 device trials). https://ethics.ncdirindia.org/asset/pdf/ICMR_National_Ethical_Guidelines.pdf
[6] World Medical Association. Declaration of Helsinki: Ethical Principles for Medical Research Involving Human Participants. 75th General Assembly, Helsinki, October 2024 (para 27: dependent relationship; para 34: post-trial provisions). https://www.wma.net/policies-post/wma-declaration-of-helsinki/
[7] MRCT Center. Clinical Research Glossary (plain-language definitions; v3.0, 2025). https://mrctcenter.org/glossary/
[8] MRCT Center Post-trial Continued Access Task Force. Post-trial, Continued Access Responsibilities to Investigational Significant-Risk Devices: Framework; 2025. https://mrctcenter.org/wp-content/uploads/2025/04/2025-04-23c-Responsibilities-Framework_Devices.pdf
[9] Ministry of Electronics and Information Technology. Digital Personal Data Protection Rules, 2025 (notified November 2025; phased commencement). https://static.pib.gov.in/WriteReadData/specificdocs/documents/2025/nov/doc20251117695301.pdf
[10] Wexler A, Largent E. Ethical considerations for researchers developing and testing minimal-risk devices. Nat Commun. 2023;14. https://www.ncbi.nlm.nih.gov/pmc/articles/PMC10122640/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Rank each failure by harm and likelihood
TIME 1:15 min · full run clock 17:30–18:45 · 40-min core clock 15:00–16:15
ACTIVITY Risk-map discussion: which control first?
CORE SCRIPT (say this; about 62 words)
Risk is harm and likelihood together. A missed freeze or a silent signal loss could mean a fall; a false cue is minor but frequent. At the project's reported dataset rates, Ramesh would feel about 9 to 16 unnecessary vibrations in every hour of walking, if those rates held at home. Would he keep wearing it? Which control would you test first?
DETAIL BELOW: use if time allows or if asked
PURPOSE
Practise risk prioritisation and connect it to testable controls.
SAY
“Risk combines severity and likelihood. The six failure modes are placed for discussion, not from measured data.”
Missed freeze: no cue when Ramesh needs one — serious, and possibly critical if he falls. Silent signal loss: the system stops monitoring without telling him — false reassurance. Flat battery mid-walk. False cue: frequent but usually minor. Skin irritation under the strap or patch. Data exposure from the app.
The stat translates reported numbers into lived experience: 0.15–0.18 false alarms per minute (subject-wise tests on public datasets) would mean about 9–11 unnecessary vibrations in every hour of walking, and the higher cross-dataset rates (about 0.21–0.27 per minute) about 13–16, if those rates held at home. Would Ramesh keep wearing it?
ASK / RUN
“Which control would you test first, and how would you show it works?” Take three answers; push each for a test method (bench, simulated use, supervised use).
DEBRIEF POINTS
ISO 14971:2019 approach: identify hazards; estimate and evaluate risk; control it; verify that controls work; and keep monitoring after release. Usability engineering (IEC 62366-1) tests whether real users can operate the controls.
The FoGO project material already names missed or false detections (2-of-3 debounce, patient-specific fine-tuning) and discomfort or habituation (cue intensity within the bench-tested range). Ask how each control will be shown to work.
Controls to test first: a visible and tactile loss-of-monitoring alert; cue-intensity limits and an easy stop; performance during turns, in doorways and with walking aids; low-battery warnings; encryption and short data retention.
Engineering Better Care's risk perspective and Gerke and colleagues' ‘system view’: evaluate the whole system — patient, caregiver, phone battery, network, physiotherapist follow-up — not only the algorithm. Kellmeyer and colleagues warn that closed-loop devices can blur accountability when automation fails.
In India the risk-management file is part of the MD-22 dossier (risk management report in the CDSCO checklist) and of the Essential Principles checklist for the licence.
CAUTION
Placement on the grid is illustrative. The 9–16 per hour range is an extrapolation from project-reported dataset rates, not a measured home rate.
TRANSITION
“Now to Kamala, and a different kind of burden.”
SOURCES
[1]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[2] ISO 14971:2019. Medical devices — Application of risk management to medical devices. https://www.iso.org/standard/72704.html
[3] IEC 62366-1:2015+AMD1:2020. Medical devices — Part 1: Application of usability engineering to medical devices. https://webstore.iec.ch/en/publication/67220
[4] Royal Academy of Engineering, Academy of Medical Sciences, Royal College of Physicians. Engineering Better Care: a systems approach to health and care design and continuous improvement; 2017 (working group chaired by Prof P. John Clarkson, University of Cambridge). https://raeng.org.uk/publications/reports/engineering-better-care
[5] Gerke S, Babic B, Evgeniou T, Cohen IG. The need for a system view to regulate artificial intelligence/machine learning-based software as medical device. npj Digit Med. 2020. https://hls.harvard.edu/bibliography/the-need-for-a-system-view-to-regulate-artificial-intelligence-machine-learning-based-software-as-medical-device
[6] Kellmeyer P, Cochrane T, Müller O, et al. The effects of closed-loop medical devices on the autonomy and accountability of persons and systems. Camb Q Healthc Ethics. 2016;25(4):623–633. https://www.research-collection.ethz.ch/handle/20.500.11850/126117
[7] CDSCO. Checklist for Form MD-22 (clinical investigation): Seventh Schedule documents including the clinical investigation plan, investigator's brochure, design verification and validation report, Essential Principles checklist, informed consent form, investigator undertaking and ethics committee approval. https://www.cdsco.gov.in/opencms/export/sites/CDSCO_WEB/Pdf-documents/medical-device/ChecklisFormMD-22MD.pdf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A device is also a daily routine
TIME 1:15 min · full run clock 18:45–20:00 · 40-min core clock 16:15–17:30
ACTIVITY Play the embedded 20-second clip
CORE SCRIPT (say this; about 48 words)
SwaKnee delivers pulsed electromagnetic fields to the knee. [Play the 20-second clip.] The leaflet describes 45 minutes a day for 45 days: about 34 hours of Kamala's time, before travel, charging and help from family. Who helps her when the cuff slips or the controller shows an error?
DETAIL BELOW: use if time allows or if asked
PURPOSE
Show that use burden is part of benefit–risk.
SAY
Introduce SwaKnee: a knee applicator and controller that deliver pulsed electromagnetic fields, described in the supplied original deck as having an intended adjunctive role in knee osteoarthritis care. State its current labelled intended use and CDSCO licence status yourself; this deck does not assert either.
Play the clip: fit the applicator, switch on the controller, rest for the session. It is a company demonstration of use; it shows no clinical response.
“The supplied leaflet describes 45-minute sessions daily for 45 days. That is 2,025 minutes — about 34 hours of Kamala's time — before travel, fitting, charging and help from family.”
The four steps on the right are the routine as the clip shows it; each step makes demands on vision, dexterity, reach and memory, which we audit in Part 5.
ASK / RUN
“Who helps Kamala when the cuff slips, the controller shows an error, or her knee feels warm?” Take two answers; note who is a family member and who is a professional.
DEBRIEF POINTS
Use burden affects adherence, which affects real-world benefit. Each task also makes demands on vision, dexterity, reach and memory — we audit these on the inclusive-design slide.
Optional: the company's longer online explainer video (YouTube link in Sources) can be shared after the session.
EVIDENCE STATUS
Reported: company demonstration material. Not shown: any clinical response.
CAUTION
The 45 × 45 schedule illustrates time burden. It is not a prescription; current instructions and clinician advice define actual use. Step details (cuff, cable, power button, status light) describe what the photographs and clip show, not the instructions for use.
TRANSITION
“What can the SwaKnee evidence support?”
SOURCES
[1] Swa knee_Leaflet.pdf. Supplied product material: 45-minute daily sessions over 45 days (illustration of time burden, not a prescription).
[2] Swayogya website assets (ivikasjha/swayogya_website): product photographs and three 'How to use' step videos, edited into a 20 s silent clip with step captions; no faces shown. https://www.swayogya.in/product.html
[3] Swayogya Rehab Solutions. SwaKnee explainer video on YouTube (company material; optional, longer than the embedded clip). https://www.youtube.com/watch?v=IfQyVm8Kftc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Which claim can this evidence carry?
TIME 2:30 min · full run clock 20:00–22:30 · 40-min core clock 17:30–20:00
ACTIVITY Claim challenge: one participant defends claim 1, one challenges claim 3
CORE SCRIPT (say this; about 77 words)
The company reports that average pain fell about 32% with SwaKnee and 14% with comparison care, in one 45-day study of 82 people. That is an average. A change patients notice as important is about 41% for each person, so how many reached it? Which claim can this carry? ‘Less pain on average in one company study’: yes, if labelled. ‘Clinically proven’: not established. ‘Regrows cartilage’: never measured. One volunteer defends claim 1; another challenges claim 3.
DETAIL BELOW: use if time allows or if asked
PURPOSE
Match the strength of a claim to the strength of the evidence.
SAY
The chart reproduces the company-reported 45-day comparative study: device group n = 40, comparison group n = 42; average VAS pain fell by about 32% versus 14% from baseline. These are average relative changes, not the proportion of people who improved.
The callout adds a patient's yardstick: in knee osteoarthritis, the minimal clinically important improvement in pain is about −19.9 mm, or −40.8%, on a 100 mm scale (Tubach et al. 2005; 603 knee-OA patients in a four-week cohort). An average fall of 32% does not tell us how many people reached a change they would notice as important.
The public summary does not report: how groups were allocated; blinding or a sham control; prospective CTRI registration; how missing data were handled; the between-group difference with its confidence interval; adverse events; durability beyond 45 days; or which device and firmware version was studied. [Presenter: state what the full study report shows, or that it is not public.]
SwaKnee today: CDSCO licence status [state, with document]; CTRI registration [number, or not registered]; planned independent trial [describe, or none disclosed].
ASK / RUN
Invite one person to defend claim 1 and another to challenge claim 3. Two minutes each way; the room votes which argument was better evidenced.
DEBRIEF POINTS
Claim 1, “less pain on average in one 45-day company study”, is acceptable if clearly labelled as company-reported.
Claim 2, “clinically proven”, needs independent, prospectively registered, sham-controlled trials and consistent results. Independent evidence on PEMF is mixed: a Cochrane review (2013; 9 trials, all osteoarthritis sites and electromagnetic field types) found pain probably improves by about 15 points out of 100 more than sham, with function uncertain; meta-analyses disagree (Chen 2019, knee OA, 8 RCTs: no pain advantage over placebo; Yang 2020, all OA sites, 16 RCTs: an advantage); OARSI's 2019 guideline strongly recommends against electromagnetic therapy.
Claim 3, “regrows cartilage”, was not measured. No human evidence of cartilage regeneration was found; a pain change cannot establish structural change.
Industry sponsorship matters: a Cochrane methodology review found manufacturer-sponsored drug and device studies reach favourable conclusions more often (RR 1.34, 95% CI 1.19–1.51). The same standard applies to every leaflet and web page, including those of any company the presenter is linked to (see the disclosure slide).
In India, the claim on a leaflet is also a regulated act: UCMPMD 2024 (amended 2026), the Drugs and Magic Remedies Act 1954 (whose Schedule includes ‘rheumatism’), and ASCI's code; see Part 5.
EVIDENCE STATUS
Reported (company study; not peer-reviewed or independently verified). ‘Clinically proven’: not established. Cartilage regrowth: not measured.
CAUTION
The MCII is a within-patient threshold from a four-week cohort, not a between-group minimal important difference; use it to ask whether individuals improved meaningfully, not as a pass/fail test. The 32% and 14% are rounded figures as transcribed in the supplied original deck; re-check the live evidence page before presenting.
TRANSITION
“What does the independent literature say about both devices' domains?”
SOURCES
[1] Swayogya Rehab Solutions. SwaKnee evidence page: company-reported comparative 45-day study, device n=40 vs comparison n=42, ≈32% vs ≈14% average VAS pain reduction from baseline. Rounded figures as transcribed in the supplied original deck; re-check the live page before presenting. https://www.swayogya.in/evidence.html
[2] Tubach F, Ravaud P, Baron G, et al. Evaluation of clinically relevant changes in patient reported outcomes in knee and hip osteoarthritis: the minimal clinically important improvement. Ann Rheum Dis. 2005;64(1):29–33 (knee OA pain MCII −19.9 mm, −40.8%). https://ard.bmj.com/content/64/1/29.full.pdf
[3] Li S, Yu B, Zhou D, et al. Electromagnetic fields for treating osteoarthritis. Cochrane Database Syst Rev. 2013;(12):CD003523 (9 trials, 636 adults: pain probably improves about 15/100 more than sham; function uncertain). https://www.cochrane.org/evidence/CD003523_electromagnetic-fields-treatment-osteoarthritis
[4] Chen L, Duan X, Xing F, et al. Effects of pulsed electromagnetic field therapy on pain, stiffness and physical function in patients with knee osteoarthritis: a systematic review and meta-analysis. J Rehabil Med. 2019;51(11):821–827 (no pain advantage; function improved). https://medicaljournals.se/jrm/content/abstract/10.2340/16501977-2613
[5] Yang X, He H, Ye W, Perry TA, He C. Effects of pulsed electromagnetic field therapy on pain, stiffness, physical function, and quality of life in patients with osteoarthritis: a systematic review and meta-analysis. Phys Ther. 2020;100(7):1118–1131. https://pubmed.ncbi.nlm.nih.gov/32251502/
[6] Bannuru RR, Osani MC, Vaysbrot EE, et al. OARSI guidelines for the non-surgical management of knee, hip, and polyarticular osteoarthritis. Osteoarthritis Cartilage. 2019 (electromagnetic therapy strongly recommended against). https://www.esceo.org/sites/esceo/files/pdf/Bannuru_O%26C_OARSIguidelines_2019.pdf
[7] Lundh A, Lexchin J, Mintzes B, Schroll JB, Bero L. Industry sponsorship and research outcome. Cochrane Database Syst Rev. 2017;(2):MR000033 (drug and device studies: favourable conclusions RR 1.34, 95% CI 1.19–1.51). https://pubmed.ncbi.nlm.nih.gov/28207928/
[8] Department of Pharmaceuticals. Uniform Code for Marketing Practices in Medical Devices, 2024 (circular of 6 September 2024; as amended on 30 April 2026). Voluntary code administered through industry associations. https://pharma-dept.gov.in/sites/default/files/UCMDMD%20circular%201-2026+UCMDMP%20code%20as%20amended%20on%2030.4.2026%20(1).pdf
[9] Drugs and Magic Remedies (Objectionable Advertisements) Act, 1954 (Schedule includes ‘rheumatism’). https://www.indiacode.nic.in/indiacode/bitstream/123456789/1412/1/A1954-21.pdf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What independent evidence says about cueing and PEMF
TIME 1:00 min · full run clock 22:30–23:30 · deep-dive slide: skip in the 40-minute version
CORE SCRIPT (say this; about 75 words)
Independent of both companies: for freezing-of-gait detection, the best-known benchmark has ten laboratory patients, review accuracies of 73 to 100% come mostly from labs, and no cueing trial has shown fewer falls. For PEMF in osteoarthritis, Cochrane 2013 found a probable pain benefit of about 15 points in 100 over sham, later reviews disagree, OARSI 2019 recommends strongly against electromagnetic therapy, and no human study shows cartilage regrowth. Mixed and modest is the honest summary.
DETAIL BELOW: use if time allows or if asked
PURPOSE
Give the independent literature around each case, with a certainty label per finding, so that neither company's story is the only one in the room.
SAY
FoGO domain. The Daphnet benchmark (Bächlin et al. 2010) has 10 laboratory patients, of whom 8 froze, with 237 video-labelled freezes. Silva de Lima et al. 2017, a systematic review of wearable freezing and fall detection, reported sensitivity of 73–100% and specificity of 67–100%, mostly in laboratories; the shin was the most common sensor site. The RESCUE home-cueing trial (Nieuwboer 2007, n = 153) found small gait gains and lower freezing severity in freezers, but fall counts were not measured (only fall confidence), and no trial found here showed fewer falls (narrative review: Ginis 2018, 24 articles, n = 354). FoGO's own results are project-reported on public datasets, with a prospective study planned.
SwaKnee domain. The Cochrane review (Li et al. 2013; 9 trials, 636 adults, all osteoarthritis sites and electromagnetic field types) found pain probably improves by about 15 points out of 100 more than sham, with function uncertain and no difference in quality of life or side effects. Meta-analyses disagree: Chen 2019 (knee OA, 8 RCTs, 421 patients) found no pain advantage over placebo but better function; Yang 2020 (all OA sites, 16 RCTs) found an advantage for pain (SMD 1.06). Markovic 2022, a review of ten systematic reviews, concluded that very heterogeneous treatment schemes and small samples mean no sufficient proof of efficacy can be derived. OARSI 2019 strongly recommends against electromagnetic therapy, citing low-quality evidence and an implausible biological mechanism. NICE NG226 (2022) advises against several electrotherapies for insufficient evidence; its list does not name PEMF. No human evidence of cartilage regeneration was found in any review; pooled outcomes are pain, stiffness, function and quality of life.
DEBRIEF POINTS
The certainty pills are a GRADE-style reading of the plain-language wording (‘probably’ = moderate; ‘may’ = low); the reviews did not all state GRADE grades. Say ‘no evidence shown of fewer falls’, not ‘shown not to reduce falls’.
CAUTION
‘Not found’ in our searches is not proof of absence. NICE NG226's list does not name PEMF explicitly. Cochrane 2013 pooled all OA sites and field types, so it is not specific to PEMF or the knee. The OARSI wording was seen through insurer policies quoting the guideline; check the ESCEO-hosted PDF. ACR/AF 2019 did not address PEMF; do not cite it.
TRANSITION
“Even a good average can mislead. Here is a published case.”
SOURCES
[1] Bächlin M, Plotnik M, Roggen D, et al. Wearable assistant for Parkinson's disease patients with the freezing of gait symptom. IEEE Trans Inf Technol Biomed. 2010 (10 patients in the laboratory; 8 froze; 237 video-labelled events). https://folia.unifr.ch/global/documents/222920
[2] Silva de Lima AL, Evers LJW, Hahn T, et al. Freezing of gait and fall detection in Parkinson's disease using wearable sensors: a systematic review. J Neurol. 2017 (sensitivity 73–100%, specificity 67–100%). https://www.ncbi.nlm.nih.gov/pmc/articles/PMC5533840/
[3] Pardoel S, Kofman J, Nantel J, Lemaire ED. Wearable-sensor-based detection and prediction of freezing of gait in Parkinson's disease: a review. Sensors. 2019;19(23):5141. https://www.ncbi.nlm.nih.gov/pmc/articles/PMC6928783/
[4] Ginis P, Nackaerts E, Nieuwboer A, Heremans E. Cueing for people with Parkinson's disease with freezing of gait: a narrative review. Ann Phys Rehabil Med. 2018;61(6):407–413. https://pubmed.ncbi.nlm.nih.gov/28890341/
[5] Nieuwboer A, et al. Cueing training in the home improves gait-related mobility in Parkinson's disease: the RESCUE trial. J Neurol Neurosurg Psychiatry. 2007;78(2):134 (n=153; small gait gains and lower freezing severity in freezers; fall counts not measured). https://jnnp.bmj.com/content/78/2/134
[6]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[7] Li S, Yu B, Zhou D, et al. Electromagnetic fields for treating osteoarthritis. Cochrane Database Syst Rev. 2013;(12):CD003523 (9 trials, 636 adults: pain probably improves about 15/100 more than sham; function uncertain). https://www.cochrane.org/evidence/CD003523_electromagnetic-fields-treatment-osteoarthritis
[8] Chen L, Duan X, Xing F, et al. Effects of pulsed electromagnetic field therapy on pain, stiffness and physical function in patients with knee osteoarthritis: a systematic review and meta-analysis. J Rehabil Med. 2019;51(11):821–827 (no pain advantage; function improved). https://medicaljournals.se/jrm/content/abstract/10.2340/16501977-2613
[9] Yang X, He H, Ye W, Perry TA, He C. Effects of pulsed electromagnetic field therapy on pain, stiffness, physical function, and quality of life in patients with osteoarthritis: a systematic review and meta-analysis. Phys Ther. 2020;100(7):1118–1131. https://pubmed.ncbi.nlm.nih.gov/32251502/
[10] Markovic L, Wagner B, Crevenna R. Effects of pulsed electromagnetic field therapy on outcomes associated with osteoarthritis: a systematic review of systematic reviews. Wien Klin Wochenschr. 2022 (heterogeneous schemes; no sufficient proof of efficacy). https://www.ncbi.nlm.nih.gov/pmc/articles/PMC9213303/
[11] Bannuru RR, Osani MC, Vaysbrot EE, et al. OARSI guidelines for the non-surgical management of knee, hip, and polyarticular osteoarthritis. Osteoarthritis Cartilage. 2019 (electromagnetic therapy strongly recommended against). https://www.esceo.org/sites/esceo/files/pdf/Bannuru_O%26C_OARSIguidelines_2019.pdf
[12] NICE. Osteoarthritis in over 16s: diagnosis and management (NG226); October 2022 (do not offer listed electrotherapies: insufficient evidence of benefit). https://www.nice.org.uk/guidance/ng226/chapter/Recommendations
[13] Tubach F, Ravaud P, Baron G, et al. Evaluation of clinically relevant changes in patient reported outcomes in knee and hip osteoarthritis: the minimal clinically important improvement. Ann Rheum Dis. 2005;64(1):29–33 (knee OA pain MCII −19.9 mm, −40.8%). https://ard.bmj.com/content/64/1/29.full.pdf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An average can hide a patient
TIME 1:00 min · full run clock 23:30–24:30 · deep-dive slide: skip in the 40-minute version
ACTIVITY “Who is missing from our data?” Two answers for each case
CORE SCRIPT (say this; about 55 words)
An average can hide a patient. In one US hospital cohort, oximeters reading 92 to 96% missed dangerously low oxygen in 11.7% of paired readings for Black patients, against 3.6% for White patients. Who is missing from our data? For Ramesh: walking aids, saris, crowded homes. For Kamala: women, rural users, people with other illnesses.
DETAIL BELOW: use if time allows or if asked
PURPOSE
Show, with an independent published case, why subgroup performance matters.
SAY
Sjoding and colleagues (NEJM 2020), University of Michigan cohort: when the pulse oximeter read 92–96%, arterial oxygen saturation was below 88% in 11.7% of paired measurements for Black patients versus 3.6% for White patients (88 of 749 vs 99 of 2,778; 95% CI 8.5–16.0 vs 2.7–4.7), more than three times as often. The unit is paired measurements; race was recorded, not skin pigmentation measured; it was observational. It does not justify a race-based correction — it shows that a device that looked accurate on average missed dangerous low oxygen more often in one group.
Regulators responded: the US FDA's draft guidance of 7 January 2025 asks for clinical testing of pulse oximeters across a diverse range of skin tones, assessed on the Monk Skin Tone scale (a diversely pigmented group of 150 or more participants in the draft).
ASK / RUN
“Who is missing from our data?” Take two answers for each case before revealing the cards.
DEBRIEF POINTS
Ramesh: people using walking aids; cognitive fluctuation; crowded homes and floor-level living; clothing such as saris or dhotis over the sensor; public datasets with few or no Indian participants.
Kamala: women, people with obesity, manual and agricultural workers, people with other illnesses, rural users.
The MRCT Center's diversity guidance defines diversity broadly — including comorbidities, concurrent medicines and environment — and asks for subgroup reporting. Stanford Biodesign's health-equity programme trains innovators to see how decisions at the identify, invent and implement stages affect equity.
India link: pulse oximeters were among the five home-use devices whose trade margins NPPA capped in July 2021 (Part 5); CDSCO's 2026 software guidance asks for risk management of AI bias and usability validation in Indian workflows.
INDIA ADAPTATION
The Sjoding cohort is American; for an Indian team the lesson is that public datasets (Daphnet, CuPiD) and company studies must be checked for who was included, and that CDSCO's 2026 software guidance expects AI-bias risk management.
CAUTION
Do not generalise the 11.7% vs 3.6% beyond the Michigan cohort; it is one observational study. The FDA document is a draft guidance.
TRANSITION
“Now the people: consent and conflicts.”
SOURCES
[1] Sjoding MW, Dickson RP, Iwashyna TJ, Gay SE, Valley TS. Racial bias in pulse oximetry measurement. N Engl J Med. 2020;383(25):2477–2478. doi:10.1056/NEJMc2029240. https://www.nejm.org/doi/full/10.1056/NEJMc2029240
[2] US FDA. Pulse Oximeters for Medical Purposes: Non-Clinical and Clinical Performance Testing, Labeling, and Premarket Submission Recommendations. Draft guidance, 7 January 2025 (diverse skin-tone testing, Monk Skin Tone scale). https://www.fda.gov/regulatory-information/search-fda-guidance-documents/pulse-oximeters-medical-purposes-non-clinical-and-clinical-performance-testing-labeling-and
[3] MRCT Center of Brigham and Women's Hospital and Harvard. Achieving Diversity, Inclusion, and Equity in Clinical Research: Guidance Document and Toolkit; 2020. https://mrctcenter.org/diversity-in-clinical-research/
[4] Stanford Biodesign. Health Equity programme and resources. https://biodesign.stanford.edu/programs/health-equity.html
[5] CDSCO. Guidance Document on Medical Device Software under the Medical Devices Rules, 2017 (CDSCO/MD/GD/MDSW/01/2026); 21 July 2026. https://cdsco.gov.in/opencms/export/sites/CDSCO_WEB/Pdf-documents/Guidance-document-on-Medical-Device-Software-under-MDR-2017.pdf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Part 2 · People: can they say no, and who gains if they say yes?
TIME 0:15 min · full run clock 24:30–24:45 · deep-dive slide: skip in the 40-minute version
CORE SCRIPT (say this; about 70 words)
Part two is about people. Two questions sit under every device study: can the participant freely say no, and who gains if they say yes? We make one decision about Ramesh, whose neurologist is also the inventor; then we build the Indian consent checklist from ICMR 2017, the NDCT Rules 2019 and the 2024 Declaration of Helsinki; and we finish with conflicts of interest, where disclosure only starts the work.
DETAIL BELOW: use if time allows or if asked
PURPOSE
Mark the move from evidence to people. The panel on the right turns the section into three questions a participant would ask, each answered by a named rule, so students can see the structure before the detail.
SAY
“So far we have asked what the device promises and what has been shown. Now we ask about the people: the participant and the people recruiting them.”
Point to the three questions. “Can I freely say no?” The 2024 Declaration of Helsinki, paragraph 27, answers it: when the participant is in a dependent relationship with the researcher, consent must be sought by an appropriately qualified individual independent of that relationship. “Do I understand what I am agreeing to?” ICMR's 2017 National Ethical Guidelines, section 5, answer it: a language the participant understands, and an impartial literate witness if the participant cannot read. “Who gains if I say yes?” ICMR 2017 requires interests to be disclosed to the ethics committee; for doctors the IMC 2002 regulations, clause 6.8, and for device companies the voluntary Uniform Code for Marketing Practices in Medical Devices (2024) set the rules.
“Three slides: a decision, a checklist, and a way of managing interests.”
CAUTION
Do not say the Indian rules are weaker or stronger than those abroad: they are differently arranged (statutory consent rules in the NDCT Rules 2019 for drug trials; ICMR guidance and MDR-2017 for devices). The Helsinki paragraph number is from the 2024 text; older copies number it differently.
TRANSITION
“Here is a realistic decision about Ramesh.”
SOURCES
[1] World Medical Association. Declaration of Helsinki: Ethical Principles for Medical Research Involving Human Participants. 75th General Assembly, Helsinki, October 2024 (para 27: dependent relationship; para 34: post-trial provisions). https://www.wma.net/policies-post/wma-declaration-of-helsinki/
[2] Indian Council of Medical Research. National Ethical Guidelines for Biomedical and Health Research Involving Human Participants. New Delhi: ICMR; 2017 (Section 5 informed consent; Section 6 vulnerability; Section 7.7 device trials). https://ethics.ncdirindia.org/asset/pdf/ICMR_National_Ethical_Guidelines.pdf
[3] Medical Council of India. Indian Medical Council (Professional Conduct, Etiquette and Ethics) Regulations, 2002, clause 6.8 (inserted 2009); operative after the NMC 2023 regulations were held in abeyance on 23 August 2023. https://www.delhimedicalcouncil.org/pdf/EthicsRegulations-2002.pdf
[4] Department of Pharmaceuticals. Uniform Code for Marketing Practices in Medical Devices, 2024 (circular of 6 September 2024; as amended on 30 April 2026). Voluntary code administered through industry associations. https://pharma-dept.gov.in/sites/default/files/UCMDMD%20circular%201-2026+UCMDMP%20code%20as%20amended%20on%2030.4.2026%20(1).pdf
[5] Ministry of Health and Family Welfare. New Drugs and Clinical Trials Rules, 2019 (ethics committee registration: Rules 7–8 with CDSCO; Rules 16–17 with DHR). https://cdsco.gov.in/opencms/resources/UploadCDSCOWeb/2022/new_DC_rules/NEW%20DRUGS%20ANDctrS%20RULE,%202019.pdf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Would you proceed? Ramesh's neurologist is also the inventor
TIME 3:00 min · full run clock 24:45–27:45 · 40-min core clock 20:00–23:00
ACTIVITY DECISION 2 of 5: vote A/B/C, then 60-second role-play (patient, recruiter, observer)
CORE SCRIPT (say this; about 59 words)
Ramesh's neurologist is FoGO's inventor and wants to recruit him. Ramesh asks, ‘Will saying no change my care?’ The consent form is in English only, and this is the only neurologist within 100 km. A, recruit now. B, proceed with safeguards. C, not yet. Vote, then 60 seconds of role-play: patient, recruiter, observer. Observer: what would make refusal easier?
DETAIL BELOW: use if time allows or if asked
PURPOSE
Practise consent when there is a dependent relationship, a language barrier and a request to film. The third fact (the only neurologist within 100 km) argues against the ‘safe’ answer of excluding Ramesh: exclusion denies him access.
SAY
Read the facts: Ramesh asks, “Will saying no change my care?”; the consent form is in English only; this neurologist is the only one within 100 km, and the study needs participants by March.
Twist if time allows: the clinic also wants to film him for a talk.
“A: recruit as planned. B: proceed with safeguards — which ones? C: not yet.”
ASK / RUN
Vote. Then one participant plays Ramesh, one the recruiting neurologist, and one observes for 60 seconds. The observer reports one thing that would make refusal easier. The three dashed pills under the options are the answers most ethics committees would expect; reveal them after the role-play, not before.
DEBRIEF POINTS
• Dependent relationship: the Declaration of Helsinki (2024, para 27) says that when a potential participant is in a dependent relationship with the physician or other researcher, consent must be sought by an appropriately qualified individual who is independent of that relationship (‘should’ became ‘must’ in 2024). State plainly, and in writing, that refusal will not change care.
• Disclose the inventor's interest to the ethics committee and in the consent conversation (ICMR 2017; CIOMS 2016 Guideline 25); use an independent outcome assessor.
• Language and understanding: ICMR 2017 (section 5) requires consent in a language the participant understands, with an impartial literate witness, unconnected to the research, if the participant cannot read. Put key information first (the US Common Rule, 45 CFR 46.116(a)(5)(i), is a useful model) and use teach-back; the MRCT Clinical Research Glossary helps explain ‘investigational’ and ‘sham’ in plain words.
• Therapeutic misconception (Appelbaum 1982, 1987): participants may assume research procedures are care chosen for them; say clearly what is uncertain and that FoGO has not been shown to prevent falls.
• Filming: separate, specific and revocable consent for recordings used in teaching or publicity, in writing for public media (the UK GMC's guidance, updated December 2024, is a good comparator); gait videos usually identify people, so anonymisation rarely suffices; never make filming a condition of care or of study entry.
• Vulnerability: Parkinson's disease can bring fluctuating cognition; ICMR 2017 section 6 asks for extra scrutiny, a legally authorised representative where capacity is impaired, and assent from the participant.
Good answers: B with these safeguards, or C until the consent process is fixed. “Not yet” has a cost here too: excluding Ramesh because the only neurologist is conflicted denies him access; the fix is an independent consenter and assessor, not exclusion.
CAUTION
Fictional vignette; it does not describe either project's actual consent procedure. Do not imply that the neurologist is acting in bad faith: the conflict is structural, and the safeguards are routine.
TRANSITION
“So what exactly does valid consent require in India? Here is the checklist.”
SOURCES
[1] World Medical Association. Declaration of Helsinki: Ethical Principles for Medical Research Involving Human Participants. 75th General Assembly, Helsinki, October 2024 (para 27: dependent relationship; para 34: post-trial provisions). https://www.wma.net/policies-post/wma-declaration-of-helsinki/
[2] World Medical Association. World Medical Association Declaration of Helsinki: Ethical Principles for Medical Research Involving Human Participants. JAMA; published online 19 October 2024 (paragraph 27: dependent relationship; paragraph 34: post-trial provisions). https://jamanetwork.com/journals/jama/fullarticle/2825290
[3] Indian Council of Medical Research. National Ethical Guidelines for Biomedical and Health Research Involving Human Participants. New Delhi: ICMR; 2017 (Section 5 informed consent; Section 6 vulnerability; Section 7.7 device trials). https://ethics.ncdirindia.org/asset/pdf/ICMR_National_Ethical_Guidelines.pdf
[4] Goa University (institutional summary). ICMR 2017 National Ethical Guidelines, Section 5: informed consent process; impartial literate witness when the participant or legally authorised representative cannot read; audio or video documentation of consent with participant, investigator and witness in frame. https://www.unigoa.ac.in/uploads/confg_docs/20201229.073758~ICMR_2017_INFORMED_CONSENT_PROCESS.pdf
[5] CIOMS with WHO. International Ethical Guidelines for Health-related Research Involving Humans. 4th ed. Geneva; 2016 (Guideline 9 consent; Guideline 25 conflicts of interest). https://cioms.ch/wp-content/uploads/2017/01/WEB-CIOMS-EthicalGuidelines.pdf
[6] US HHS. Protection of Human Subjects, 45 CFR 46.116(a)(5)(i): consent must begin with a concise presentation of key information. International comparator. https://www.ecfr.gov/current/title-45/subtitle-A/subchapter-A/part-46/subpart-A/section-46.116
[7] MRCT Center. Clinical Research Glossary (plain-language definitions; v3.0, 2025). https://mrctcenter.org/glossary/
[8] Appelbaum PS, Roth LH, Lidz C. The therapeutic misconception: informed consent in psychiatric research. Int J Law Psychiatry. 1982;5(3–4):319–329. https://psychnews.psychiatryonline.org/doi/10.1176/appi.pn.2021.7.30
[9] Appelbaum PS, Roth LH, Lidz CW, Benson P, Winslade W. False hopes and best data: consent to research and the therapeutic misconception. Hastings Cent Rep. 1987;17(2):20–24. https://philpapers.org/rec/APPFHA
[10] General Medical Council (UK). Making and using visual and audio recordings of patients (effective 2011; updated December 2024). International comparator. https://www.gmc-uk.org/professional-standards/the-professional-standards/making-and-using-visual-and-audio-recordings-of-patients
[11] General Medical Council (UK). Making and using visual and audio recordings of patients: recordings for use in widely accessible public media (television, radio, internet, print); consent usually in writing, whether or not the patient is identifiable. https://www.gmc-uk.org/professional-standards/the-professional-standards/making-and-using-visual-and-audio-recordings-of-patients/recordings-for-use-in-widely-accessible-public-media---television-radio-internet-print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What valid consent requires in India
TIME 1:15 min · full run clock 27:45–29:00 · deep-dive slide: skip in the 40-minute version
CORE SCRIPT (say this; about 82 words)
Valid consent in India has eight parts: full information with the key facts first; a language the participant understands; an impartial witness if they cannot read; a legally authorised representative where capacity is impaired; audio-visual recording where the rules require it; re-consent when anything material changes; withdrawal without penalty; and compensation for injury. Before the first participant: an ethics committee registered with CDSCO, MD-23 permission for an investigational device, and CTRI registration. Three special cases: a dependent relationship, vulnerable participants, and filming.
DETAIL BELOW: use if time allows or if asked
PURPOSE
Give students the Indian consent floor as a checklist they can apply to their own protocols, with the gate that must be passed before anyone is approached and the three cases most likely to arise in device studies at a teaching hospital.
SAY
Left column, top to bottom.
1. Information, key facts first: purpose, procedures, risks, benefits and alternatives, in that order of importance; the revised US Common Rule (45 CFR 46.116(a)(5)(i)) requires consent to begin with a concise presentation of key information, a model worth copying even though it is not binding here.
2. A language the participant understands: for Ramesh that is Odia or Hindi, not an English form; use plain words and teach-back.
3. An impartial witness: ICMR 2017 (section 5) requires a literate witness, unconnected to the research, when the participant or the legally authorised representative cannot read; the witness signs too.
4. A legally authorised representative: where capacity is impaired or fluctuates (ICMR 2017, section 6 on vulnerability), the LAR consents and the participant gives assent wherever possible.
5. Audio-visual recording: the 2013 amendment to the Drugs and Cosmetics Rules, carried into the NDCT Rules 2019, requires AV recording of consent for vulnerable participants in trials of new drugs (audio only for anti-HIV and anti-leprosy trials); ICMR 2017 allows consent to be documented by audio or video with the participant, investigator and impartial witness in frame. Say clearly that this is a drug-trial rule; there is no device-specific AV mandate in MDR-2017 that we could verify.
6. Re-consent: a new risk, a new software version or a protocol change goes back to the ethics committee as an amendment, and to the participant if it could affect their decision.
7. Withdrawal: CIOMS 2016 Guideline 9 treats consent as a process from which participants may withdraw without penalty; ICMR 2017 says the same; refusal must not change care.
8. Compensation: ICMR 2017 (section 2) covers compensation for research-related harm; the NDCT Rules 2019 set compensation for trial injury or death; CDSCO's checklist for Form MD-22 asks for insurance; the sponsor provides free medical management for injury.
Right column, the gate. First, an ethics committee registered with CDSCO (NDCT Rules 2019, Rules 7–8; MDR-2017 refers to the ethics committee in Rule 50). Second, for an investigational device, Central Licensing Authority permission: Form MD-22 with Seventh Schedule documents, including the informed consent form, the clinical investigation plan and insurance; permission in Form MD-23; the study must begin within one year. Third, prospective CTRI registration before the first participant is enrolled.
The three cases. Dependent relationship: Helsinki 2024, paragraph 27, as on the previous slide. Vulnerable participants: ICMR 2017 section 6 lists people whose capacity, age, poverty or dependence on the clinic makes free consent harder; add safeguards rather than exclude them. Filming: separate, specific, revocable consent, in writing for public media; a gait video identifies a person.
INDIA ADAPTATION
ICMR 2017 section 7.7 says device trials follow the ICMR guidelines, Indian GCP and MDR-2017, and that devices should be provided free or at feasible reduced rates. An academic clinical study on an already licensed device may not need CLA permission if the ethics committee approves it and the data are not used for a marketing application; FoGO is an unlicensed prototype, so that exemption does not apply to it.
CAUTION
Rule numbers to verify before printing: MDR-2017 Rule 50 (ethics committee), the rule carrying the CTRI condition, and the compensation rule; the NDCT Rules 7–8 are confirmed. The AV-recording mandate is for new-drug trials with vulnerable participants, not a device rule. Insurance and compensation arrangements come from the MD-22 checklist and secondary summaries of MDR-2017, not from the gazette text read directly.
TRANSITION
“Consent protects the participant. Conflicts of interest are about the people asking.”
SOURCES
[1] Indian Council of Medical Research. National Ethical Guidelines for Biomedical and Health Research Involving Human Participants. New Delhi: ICMR; 2017 (Section 5 informed consent; Section 6 vulnerability; Section 7.7 device trials). https://ethics.ncdirindia.org/asset/pdf/ICMR_National_Ethical_Guidelines.pdf
[2] Goa University (institutional summary). ICMR 2017 National Ethical Guidelines, Section 5: informed consent process; impartial literate witness when the participant or legally authorised representative cannot read; audio or video documentation of consent with participant, investigator and witness in frame. https://www.unigoa.ac.in/uploads/confg_docs/20201229.073758~ICMR_2017_INFORMED_CONSENT_PROCESS.pdf
[3] KEM Hospital and Seth GS Medical College, Institutional Ethics Committee. SOP 27: Audio-Visual Consent Recording (requirement introduced by the 2013 amendment to the Drugs and Cosmetics Rules for vulnerable participants in new-drug trials; carried into the NDCT Rules 2019). https://www.kem.edu/wp-content/uploads/2022/08/27.Audio-Visual-Consent-Recording.pdf
[4] Ministry of Health and Family Welfare. New Drugs and Clinical Trials Rules, 2019 (ethics committee registration: Rules 7–8 with CDSCO; Rules 16–17 with DHR). https://cdsco.gov.in/opencms/resources/UploadCDSCOWeb/2022/new_DC_rules/NEW%20DRUGS%20ANDctrS%20RULE,%202019.pdf
[5] Ministry of Health and Family Welfare. Medical Devices Rules, 2017 (as amended), consolidated text, CDSCO. https://cdsco.gov.in/opencms/resources/UploadCDSCOWeb/2022/m_device/mdr,%202017%20(1).pdf
[6] CDSCO. Form MD-22: application for permission to conduct clinical investigation (permission in Form MD-23). https://cdsco.gov.in/opencms/export/sites/CDSCO_WEB/Pdf-documents/medical-device/22MD.pdf
[7] CDSCO. Checklist for Form MD-22 (clinical investigation): Seventh Schedule documents including the clinical investigation plan, investigator's brochure, design verification and validation report, Essential Principles checklist, informed consent form, investigator undertaking and ethics committee approval. https://www.cdsco.gov.in/opencms/export/sites/CDSCO_WEB/Pdf-documents/medical-device/ChecklisFormMD-22MD.pdf
[8] Corpbiz. Process of application for clinical investigation under MDR 2017 (pilot and pivotal definitions; Form MD-22 to the CLA). https://corpbiz.io/learning/process-of-application-for-clinical-investigation-under-mdr-2017/
[9] World Medical Association. Declaration of Helsinki: Ethical Principles for Medical Research Involving Human Participants. 75th General Assembly, Helsinki, October 2024 (para 27: dependent relationship; para 34: post-trial provisions). https://www.wma.net/policies-post/wma-declaration-of-helsinki/
[10] CIOMS with WHO. International Ethical Guidelines for Health-related Research Involving Humans. 4th ed. Geneva; 2016 (Guideline 9 consent; Guideline 25 conflicts of interest). https://cioms.ch/wp-content/uploads/2017/01/WEB-CIOMS-EthicalGuidelines.pdf
[11] US HHS. Protection of Human Subjects, 45 CFR 46.116(a)(5)(i): consent must begin with a concise presentation of key information. International comparator. https://www.ecfr.gov/current/title-45/subtitle-A/subchapter-A/part-46/subpart-A/section-46.116
[12] MRCT Center. Clinical Research Glossary (plain-language definitions; v3.0, 2025). https://mrctcenter.org/glossary/
[13] Appelbaum PS, Roth LH, Lidz CW, Benson P, Winslade W. False hopes and best data: consent to research and the therapeutic misconception. Hastings Cent Rep. 1987;17(2):20–24. https://philpapers.org/rec/APPFHA
[14] General Medical Council (UK). Making and using visual and audio recordings of patients (effective 2011; updated December 2024). International comparator. https://www.gmc-uk.org/professional-standards/the-professional-standards/making-and-using-visual-and-audio-recordings-of-patients
[15] General Medical Council (UK). Making and using visual and audio recordings of patients: recordings for use in widely accessible public media (television, radio, internet, print); consent usually in writing, whether or not the patient is identifiable. https://www.gmc-uk.org/professional-standards/the-professional-standards/making-and-using-visual-and-audio-recordings-of-patients/recordings-for-use-in-widely-accessible-public-media---television-radio-internet-print
[16] Indian Council of Medical Research. Ethical Guidance for Non-Regulatory Clinical Trials (draft, v2): non-regulatory clinical trials start only after ethics committee approval. https://www.icmr.gov.in/icmrobject/uploads/Static/1784177629_draftguidance-non-regulatoryclinicaltrials_latest_v2.pdf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Disclose, then manage
TIME 1:00 min · full run clock 29:00–30:00 · 40-min core clock 23:00–24:00
CORE SCRIPT (say this; about 82 words)
Disclosure starts the work; management finishes it. Interests create risks: pressure to enrol, optimistic reading, selective reporting. Manage them with independent consent and assessment, CTRI registration before the first participant, and publication of every result. In India the rules are split: a voluntary marketing code for companies, the IMC 2002 regulations for doctors, ICMR 2017 for researchers. Abroad, the US publishes industry payments and the UK's Cumberlege Review asked for a register of doctors' interests. Which safeguard is cheapest to add today?
DETAIL BELOW: use if time allows or if asked
PURPOSE
Move from declaring conflicts to managing them, and show where the Indian rules sit next to the US and UK ones.
SAY
Top row, left to right. Interests: equity, royalties or salary from the company; grants and institutional reputation (₹25.5 lakh received for FoGO; a BIRAC BIG proposal under review); personal reputation as the inventor-clinician.
Risks: pressure to enrol dependent patients (Ramesh and his only neurologist); optimistic reading of outcomes, and participants who assume research is care chosen for them; selective reporting of positive results. A Cochrane methodology review (Lundh et al. 2017; 75 papers) found that manufacturer-sponsored drug and device studies report favourable conclusions more often than other studies: risk ratio 1.34, 95% CI 1.19–1.51, and favourable efficacy results RR 1.27.
Safeguards: an independent consent-taker and an independent outcome assessor; prospective CTRI registration with pre-specified outcomes; publication of all results, including null and negative ones, with a plain-language summary to participants (MRCT Center, Return of Aggregate Results, 2017).
The rules strip. India: the Uniform Code for Marketing Practices in Medical Devices, notified by the Department of Pharmaceuticals on 6 September 2024 and amended to 30 April 2026, bars gifts, travel and hospitality for healthcare professionals and requires product claims to be accurate, balanced and capable of substantiation; it is voluntary and run through industry associations, with complaints decided by each association's ethics committee within 90 days. For doctors, the NMC's 2023 conduct regulations were put in abeyance on 23 August 2023, so the IMC 2002 regulations apply; clause 6.8, inserted on 10 December 2009, bars gifts, travel facilities and hospitality from the ‘pharmaceutical and allied health sector industry’, commonly read to include device companies. ICMR 2017 defines a conflict of interest as conditions where professional judgement about a primary interest tends to be unduly influenced by a secondary interest, and requires disclosure to the ethics committee.
Abroad: the US Open Payments programme (Physician Payments Sunshine Act) makes manufacturers of drugs and devices report consulting fees, honoraria, food, travel, research payments, royalties and ownership interests paid to physicians and teaching hospitals every year, and CMS publishes the data. Harvard Medical School's 2010 policy moved from disclosure to limits, for example barring faculty from industry speakers' bureaus. The UK's Cumberlege Review (First Do No Harm, 8 July 2020) recommended an expanded GMC register listing all doctors' financial and non-pecuniary interests, an independent Patient Safety Commissioner and a database recording the patient, the implanted device and the surgeon.
ASK / RUN
“Which safeguard is cheapest to add today?” Usually CTRI registration and naming an independent outcome assessor; both cost nothing but a decision.
DEBRIEF POINTS
Cambridge's spinout guidance advises founders to be clear about when they are working for the company and when for research. The University of Cambridge policy asks whether a conflict would be ‘reasonably perceived’, the test applied to this presenter on the disclosure slide. Stanford's GSB case on physician-innovators argues that conflicts should be managed without ending collaboration; Chao, Riskin and Krummel ask whether physician-innovators should evaluate their own devices at all. The UK government later declined to fund the Cumberlege redress agency, so present its recommendations as recommended, not established.
CAUTION
UCMPMD is voluntary and its enforceability is debated; do not call it law. Clause 6.8 does not name device companies; say ‘commonly read to include’. No replacement for the NMC 2023 regulations was found in October 2026 searches; check nmc.org.in before the talk. The Harvard speakers'-bureau example comes from the v1 notes; verify against the 2010 policy text before quoting it.
TRANSITION
“Next: which Indian permission answers which question?”
SOURCES
[1] Lundh A, Lexchin J, Mintzes B, Schroll JB, Bero L. Industry sponsorship and research outcome. Cochrane Database Syst Rev. 2017;(2):MR000033 (drug and device studies: favourable conclusions RR 1.34, 95% CI 1.19–1.51). https://pubmed.ncbi.nlm.nih.gov/28207928/
[2] Institute of Medicine; Lo B, Field MJ, eds. Conflict of Interest in Medical Research, Education, and Practice. National Academies Press; 2009. https://www.nationalacademies.org/read/12598/chapter/11
[3] Indian Council of Medical Research. National Ethical Guidelines for Biomedical and Health Research Involving Human Participants. New Delhi: ICMR; 2017 (Section 5 informed consent; Section 6 vulnerability; Section 7.7 device trials). https://ethics.ncdirindia.org/asset/pdf/ICMR_National_Ethical_Guidelines.pdf
[4] Department of Pharmaceuticals. Uniform Code for Marketing Practices in Medical Devices, 2024 (circular of 6 September 2024; as amended on 30 April 2026). Voluntary code administered through industry associations. https://pharma-dept.gov.in/sites/default/files/UCMDMD%20circular%201-2026+UCMDMP%20code%20as%20amended%20on%2030.4.2026%20(1).pdf
[5] Department of Pharmaceuticals. Uniform Code for Marketing Practices in Medical Devices (UCMPMD), 2024: circular F. No. 31026/23/2022-Policy dated 6 September 2024 with the code as amended (no gifts, travel or hospitality for healthcare professionals; claims capable of substantiation; complaints to the Ethics Committee for Marketing Practices in Medical Devices within 90 days; voluntary code run through industry associations). https://pharma-dept.gov.in/sites/default/files/ucmpmd%20circular%20with%20amended%20code_1_0.pdf
[6] Medical Council of India. Indian Medical Council (Professional Conduct, Etiquette and Ethics) Regulations, 2002, clause 6.8 (inserted 2009); operative after the NMC 2023 regulations were held in abeyance on 23 August 2023. https://www.delhimedicalcouncil.org/pdf/EthicsRegulations-2002.pdf
[7] The Wire. NMC puts new guidelines on doctors’ ethics in abeyance; August 2023. https://thewire.in/health/nmc-puts-new-guidelines-on-doctors-ethics-in-abeyance-after-imas-meeting-with-health-minister
[8] National Medical Commission. Rules and Regulations (check for any replacement of the 2023 Registered Medical Practitioner conduct regulations, in abeyance since 23 August 2023). https://www.nmc.org.in/rules-regulations-nmc/
[9] Centers for Medicare &amp; Medicaid Services. Open Payments: public reporting of industry payments to physicians and teaching hospitals. https://www.cms.gov/files/document/physician-fact-sheetpdf
[10] Centers for Medicare &amp; Medicaid Services. Open Payments: Applicable Manufacturer Fact Sheet (annual reporting of consulting fees, honoraria, food, travel, research payments, royalties and ownership or investment interests paid to physicians and teaching hospitals). https://www.cms.gov/files/document/applicable-manufacturer-fact-sheetpdf
[11] Harvard Medical School. Policy on Conflicts of Interest and Commitment (2010 revision). https://hms.harvard.edu/news/changes-conflicts-policy-heighten-transparency
[12] Independent Medicines and Medical Devices Safety Review (chair Baroness Cumberlege). First Do No Harm; 8 July 2020. https://www.immdsreview.org.uk/downloads/IMMDSReview_Web.pdf
[13] CIOMS with WHO. International Ethical Guidelines for Health-related Research Involving Humans. 4th ed. Geneva; 2016 (Guideline 9 consent; Guideline 25 conflicts of interest). https://cioms.ch/wp-content/uploads/2017/01/WEB-CIOMS-EthicalGuidelines.pdf
[14] MRCT Center. Return of Aggregate Results to Participants: Guidance Document and Toolkit, v3.1; 2017. https://mrctcenter.org/wp-content/uploads/2023/03/2017-12-07-MRCT-Return-of-Aggregate-Results-Toolkit-3.1.pdf
[15] University of Cambridge Innovation and Entrepreneurship. How to Guide 3: Spinouts; 2024. https://ie.cam.ac.uk/wp-content/uploads/2024/04/H2G-3-Spinouts_V2_ISSUU.pdf
[16] University of Cambridge. Conflict of Interest Policy. https://www.governanceandcompliance.admin.cam.ac.uk/files/conflict_of_interest_policy.pdf
[17] Chao KZ, Riskin DJ, Krummel TM. A patient-centered, ethical approach to medical device innovation. Virtual Mentor (now AMA J Ethics). 2010;12(2):91–95. https://journalofethics.ama-assn.org/article/patient-centered-ethical-approach-medical-device-innovation/2010-02
[18] Burns L, Denend L, Zenios S. The Role of Physicians in Device Innovation: Critical Success Factor or Conflict of Interest? Stanford GSB case OIT105; 2011. https://www.gsb.stanford.edu/faculty-research/case-studies/role-physicians-device-innovation-critical-success-factor-or-conflict
[19]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Who allows what, for which device?
TIME 0:15 min · full run clock 30:00–30:15 · deep-dive slide: skip in the 40-minute version
CORE SCRIPT (say this; about 85 words)
Part 3 is the deep module. India regulates devices under one Act from 1940 and one set of Rules from 2017. Four risk classes decide who licenses you, which form you file and how much evidence you need. We follow FoGO, a wearable that today holds only a test licence, along the whole path: test licence, clinical investigation, manufacturing licence, and the duties that never stop. The photograph is the FoGO ankle module under EMC pre-compliance testing in July 2026, one step on that path.
DETAIL BELOW: use if time allows or if asked
PURPOSE
Orient the room: regulation is a sequence of permissions, each answering a different question about a device.
SAY
Three things to take from this part. First, classification: four classes, decided by intended use, invasiveness, duration and energy. Second, the licence map: which authority, which form, which fee. Third, the duties that follow a licence: quality system, labelling, vigilance, change control. We keep returning to FoGO because its status in October 2026 is exactly the kind of in-between state most student projects reach: a working prototype, a test licence, and no permission yet to test in patients.
CAUTION
The photo shows equipment and a device module only; no patient or volunteer is pictured. EMC pre-compliance is an engineering test, not a certification.
TRANSITION
Start with the institutions: who is actually in the room when a device is licensed?
SOURCES
[1] Ministry of Health and Family Welfare. Medical Devices Rules, 2017 (as amended), consolidated text, CDSCO. https://cdsco.gov.in/opencms/resources/UploadCDSCOWeb/2022/m_device/mdr,%202017%20(1).pdf
[2]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India's regulatory architecture
TIME 1:30 min · full run clock 30:15–31:45 · 40-min core clock 24:00–25:30
CORE SCRIPT (say this; about 104 words)
One Act, one set of Rules, many actors. The Drugs and Cosmetics Act 1940 treats a medical device as a 'drug'; since 1 April 2020 every device is notified. The Medical Devices Rules 2017 add four risk classes. Two licensing authorities share the work: the Central Licensing Authority at CDSCO, under the Drugs Controller General, licenses Class C and D manufacture, all imports, test licences and clinical investigations; the State Licensing Authorities license Class A and B manufacture and register sellers. Around them sit notified bodies that audit, testing labs, ethics committees and CTRI, the Materiovigilance Programme, BIS for standards and NPPA for prices.
DETAIL BELOW: use if time allows or if asked
PURPOSE
Give the room a map of institutions before the forms, so that every later slide has an address.
SAY
Top tier: the Drugs and Cosmetics Act, 1940. Section 3(b) brings devices in as 'drugs' in three limbs: IVDs, dressings and blood bags; contraceptives and disinfectants; and devices notified by the Central Government. Until 11 February 2020 only 37 categories were notified; S.O. 648(E) then notified all devices from 1 April 2020.
Second tier: the Medical Devices Rules, 2017, G.S.R. 78(E) of 31 January 2017, in force 1 January 2018. Rule 4 classifies non-IVD devices by Part I of the First Schedule into Class A (low risk), B (low-moderate), C (moderate-high) and D (high); IVDs by Part II into the same four classes.
Third tier: who licenses. The Central Licensing Authority is CDSCO, headed by the DCGI in New Delhi, with a Medical Device and Diagnostics Division; its Medical Device Officers inspect Class C and D sites. CDSCO lists zonal, sub-zonal and port offices and seven laboratories. The State Licensing Authority is each State or UT Drugs Controller: Class A and B manufacturing licences, loan licences, and since Rule 87A (30 September 2022) registration of sellers and distributors in Form MD-42.
Fourth tier, the supporting cast. Notified bodies, registered under Rule 13 and accredited by NABCB, audit Class A and B sites for the Fifth Schedule QMS; the first two, Intertek India and TUV Rheinland India, were registered on 4 May 2018, later six. Testing: Rule 19 Central Medical Device Testing Laboratories (NIB Noida for IVDs, CDTL Chennai, CDL Kolkata, RDTL Guwahati, CDTL Mumbai) plus NABL labs; AMTZ in Visakhapatnam offers EMC, electrical-safety and biomaterial testing. Ethics committees registered with CDSCO approve studies, and CTRI registration precedes the first participant. MvPI at the Indian Pharmacopoeia Commission, Ghaziabad, has collected device adverse-event reports since 6 July 2015. BIS has about 1,200 device standards and IS 23485 bundles ISO 13485 with the Essential Principles. NPPA, under DPCO 2013, has capped stent and knee-implant prices and, in July 2021, trade margins on five home-use devices.
ASK / RUN
Quick call-out: which of these bodies has FoGO already dealt with? (CDSCO for the MD-13 test licence; an EMC lab; next an ethics committee and CTRI.)
CAUTION
'236 Medical Device Officers' and 'nine zonal offices' appear in search text but with uncertain dates; do not quote them as current. The number of notified bodies has grown since 2019; check the live CDSCO list. The Drugs, Medical Devices and Cosmetics Bill (2023 draft, criticised again by industry in August 2026) has not been enacted; the 1940 Act still governs.
TRANSITION
How did we get from a handful of notified devices to all of them? Ten dates.
SOURCES
[1] Ministry of Health and Family Welfare. Medical Devices Rules, 2017 (as amended), consolidated text, CDSCO. https://cdsco.gov.in/opencms/resources/UploadCDSCOWeb/2022/m_device/mdr,%202017%20(1).pdf
[2] AZB Partners. Medical Devices Rules, 2017: State Licensing Authority for Class A and B manufacture; Central Licensing Authority for Class C and D and all imports; 1 April 2017. https://azbpartners.com/bank/medical-devices-rules-2017
[3] CDSCO. Notice on S.O. 648(E) of 11 February 2020 (all medical devices notified as drugs with effect from 1 April 2020) and G.S.R. 102(E). https://cdsco.gov.in/opencms/export/sites/CDSCO_WEB/Pdf-documents/mdgsr.pdf
[4] Conventus Law. India: CDSCO to regulate all medical devices; 27 March 2020 (MoHFW notifications of 11 February 2020 bringing all medical devices under s.3(b)(iv) of the Drugs and Cosmetics Act 1940 from 1 April 2020, and G.S.R. 102(E) inserting Chapter IIIA registration). https://conventuslaw.com/report/india-cdsco-to-regulate-all-medical-devices-in/
[5] Central Drugs Standard Control Organization. Introduction: headquarters under the DCGI, zonal, sub-zonal and port offices, laboratories. https://cdsco.gov.in/opencms/opencms/en/About-us/Introduction/
[6] CDSCO. FAQ on Medical Devices, 2018: Rule 13 notified bodies registered with the CLA audit Class A and B manufacturing sites (Fifth Schedule QMS); NABCB accreditation. https://cdsco.gov.in/opencms/resources/UploadCDSCOWeb/2018/UploadImmunization/FAQmd2018.pdf
[7] CDSCO. Public notice on notified bodies registered under Rule 13 of MDR-2017 (first registrations: Intertek India and TUV Rheinland India; later six bodies); 4 May 2018. https://www.cdsco.gov.in/opencms/resources/UploadCDSCOWeb/2018/UploadPublic_NoticesFiles/notified_body_notice_70.pdf
[8] Ministry of Health and Family Welfare. Gazette notification designating Central Medical Device Testing Laboratories under Rule 19 of MDR-2017: NIB Noida (IVDs), CDTL Chennai (condoms), CDL Kolkata (dressings, cotton, bandages, disinfectants), RDTL Guwahati (syringes, needles, perfusion sets, IV cannulae), CDTL Mumbai (IUDs, Falope rings); 2018. https://cdsco.gov.in/opencms/resources/UploadCDSCOWeb/2018/UploadGazette_NotificationsFiles/2237.pdf
[9] Andhra Pradesh MedTech Zone (AMTZ), Visakhapatnam: common labs for EMC and electrical-safety testing, biomaterials, 3D printing, lasers, gamma irradiation; hosts KIHT and the Medi Valley incubator (Wikipedia; TUV Rheinland NABL labs reported by BioSpectrum). https://en.wikipedia.org/wiki/Andhra_Pradesh_Medtech_Zone
[10] Ministry of Health and Family Welfare. New Drugs and Clinical Trials Rules, 2019 (ethics committee registration: Rules 7–8 with CDSCO; Rules 16–17 with DHR). https://cdsco.gov.in/opencms/resources/UploadCDSCOWeb/2022/new_DC_rules/NEW%20DRUGS%20ANDctrS%20RULE,%202019.pdf
[11] Indian Pharmacopoeia Commission. Materiovigilance Programme of India (MvPI): About us. Launched 6 July 2015; helpline 1800-180-3024; mvpi-ipc@gov.in. https://ipc.gov.in/mandates/materiovigilance-programme-of-india-mvpi/about-us.html
[12] Bureau of Indian Standards. BIS publishes IS 23485: Medical devices, quality management system requirements and essential principles of safety and performance (ISO 13485:2016 with ISO 16142-1:2016 and ISO 16142-2:2017). https://www.bis.gov.in/bis-publishes-is-23485-medical-devices-quality-management-system-requirements-and-essential-principles-of-safety-performance-for-medical-devices
[13] BioVoice News. Bureau of Indian Standards to develop standards for 214 critical medical devices by December 2025 (1,700+ medical standards, about 1,200 device-specific); 25 November 2024. https://biovoicenews.com/bureau-of-indian-standards-to-develop-standards-for-214-critical-medical-devices-by-december-2025/
[14] Medical Dialogues. NPPA asks for price movement details of orthopaedic implants; 2017 (devices are 'drugs' under the Drugs and Cosmetics Act 1940, so DPCO 2013 applies: Para 19 ceiling prices in extraordinary circumstances or public interest; Para 20 monitoring of non-scheduled MRPs so that no price rises more than 10% in any 12 months). https://medicaldialogues.in/nppa-asks-for-price-movement-details-of-orthopedic-implants
[15] Press Information Bureau. Government caps trade margin up to 70% on price-to-distributor for pulse oximeters, BP monitors, nebulisers, digital thermometers and glucometers; 13 July 2021 (91% of 684 brands cut MRP, by up to 88%). https://www.pib.gov.in/PressReleasePage.aspx?PRID=1735430
[16] SCC Online blog. Medical Devices (Fifth Amendment) Rules 2022, G.S.R. 754(E) of 30 September 2022: Rule 87A requires anyone selling, stocking, exhibiting or distributing medical devices to apply to the State Licensing Authority in Form MD-41 for a Registration Certificate in Form MD-42 (fee Rs 3,000; retention Rs 3,000). https://www.scconline.com/blog/?p=274997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From a handful of notified devices to all of them
TIME 1:00 min · full run clock 31:45–32:45 · deep-dive slide: skip in the 40-minute version
CORE SCRIPT (say this; about 92 words)
Regulation arrived in phases. The 1940 Act treated devices as drugs; only 37 categories had been notified by 2020. The 2017 Rules brought four risk classes, in force from January 2018. On 1 April 2020 every device became regulated, with a registration window, then licences: Class A and B from October 2022, Class C and D from October 2023. In 2026 three documents matter: the software guidance of 21 July, the two amendments of 14 August on sterilisation labels, testing fees and EU approvals, and a draft that would shorten licence timelines.
DETAIL BELOW: use if time allows or if asked
PURPOSE
Show that the system is young and still moving, so that teams check the current text rather than remembered rules.
SAY
1940: the Drugs and Cosmetics Act; devices enter as 'drugs' under section 3(b). Notifications of specific devices began in the 2000s; by February 2020 there were 37 regulated categories such as syringes, stents, catheters, orthopaedic implants and heart valves (these were later excluded from the 2020 registration window because they already needed licences).
31 January 2017: G.S.R. 78(E), the Medical Devices Rules, in force 1 January 2018. S.O. 775(E) of 8 February 2019 notified all implants, CT, MRI, defibrillators, dialysis machines, PET, X-ray and bone-marrow separators from 1 April 2020; nebulisers, BP monitors, digital thermometers and glucometers followed from 1 January 2021.
11 February 2020: two notifications. S.O. 648(E) notified all devices from 1 April 2020; G.S.R. 102(E) inserted Chapter IIIA registration on the online system, voluntary for 18 months, mandatory from 1 October 2021, with the registration number on the label.
1 October 2022: licences mandatory for newly notified Class A and B devices (30 months after April 2020). The day before, G.S.R. 754(E) created Rule 87A: sellers and distributors register in MD-41/42 for Rs 3,000. Two weeks later G.S.R. 777(E) exempted Class A non-sterile, non-measuring devices from licensing in favour of registration.
26 April 2023: Cabinet approved the National Medical Devices Policy with a US$50 billion ambition for 2030.
1 October 2023: Class C and D licences mandatory (42 months); CDSCO's order of 12 October 2023 let applicants who had already filed continue for up to six months.
2026: the MDSW guidance (21 July); G.S.R. 743(E) and 744(E) (14 August); draft G.S.R. 515(E) (23 June) on timelines, and draft G.S.R. 883(E) (4 December 2025) on perpetual validity and a 'Reg. No.' label, neither reported final by 7 October 2026.
CAUTION
The '2005' milestone comes from the storyboard; the facts files confirm only that 37 categories were notified before 2020. Say 'notifications began in the 2000s' rather than naming a count for 2005. S.O. 648(E) as the number of the 'all devices' notification is widely cited but not seen verbatim in the gazette by the research team. Check whether G.S.R. 515(E) or 883(E) has been finalised before the talk.
TRANSITION
Everything on this map depends on one question first: which class is your device?
SOURCES
[1] Ministry of Health and Family Welfare. Medical Devices Rules, 2017 (as amended), consolidated text, CDSCO. https://cdsco.gov.in/opencms/resources/UploadCDSCOWeb/2022/m_device/mdr,%202017%20(1).pdf
[2] Conventus Law. India: CDSCO to regulate all medical devices; 27 March 2020 (MoHFW notifications of 11 February 2020 bringing all medical devices under s.3(b)(iv) of the Drugs and Cosmetics Act 1940 from 1 April 2020, and G.S.R. 102(E) inserting Chapter IIIA registration). https://conventuslaw.com/report/india-cdsco-to-regulate-all-medical-devices-in/
[3] CDSCO. Notice on S.O. 648(E) of 11 February 2020 (all medical devices notified as drugs with effect from 1 April 2020) and G.S.R. 102(E). https://cdsco.gov.in/opencms/export/sites/CDSCO_WEB/Pdf-documents/mdgsr.pdf
[4] LegitQuest. Medical Devices (Amendment) Rules, 2020, G.S.R. 102(E), 11 February 2020: Chapter IIIA registration of newly notified devices (voluntary 18 months from 1 April 2020, then mandatory); licences mandatory for Class A/B from 1 October 2022 and Class C/D from 1 October 2023. https://www.legitquest.com/act/medical-devices-amendment-rules-2020/9813
[5] SCC Online blog. Medical Devices (Fifth Amendment) Rules 2022, G.S.R. 754(E) of 30 September 2022: Rule 87A requires anyone selling, stocking, exhibiting or distributing medical devices to apply to the State Licensing Authority in Form MD-41 for a Registration Certificate in Form MD-42 (fee Rs 3,000; retention Rs 3,000). https://www.scconline.com/blog/?p=274997
[6] TeamLease RegTech. Medical Devices (Sixth Amendment) Rules, 2022, G.S.R. 777(E), 14 October 2022: Class A non-sterile, non-measuring devices registered online with an undertaking and a self-certified Essential Principles checklist; no manufacturing licence. https://www.teamleaseregtech.com/updates/article/19622/medical-devices-sixth-amendment-rules-2022
[7] CliniExperts. Licence applications for Class C and D medical devices deemed valid for up to 6 months (CDSCO order of 12 October 2023; no general extension of the 1 October 2023 date). https://cliniexperts.com/regulatory-update/license-applications-for-class-c-and-d-medical-devices-deemed-valid-for-upto-6-months/
[8] Cabinet approves the Policy for the Medical Devices Sector (National Medical Devices Policy 2023): about US$11 billion sector, US$50 billion target by 2030, six strategies; 26 April 2023 (reproduced at narendramodi.in). https://narendramodi.in/cabinet-approves-the-policy-for-the-medical-devices-sector-569642
[9] CDSCO. Guidance Document on Medical Device Software under the Medical Devices Rules, 2017 (CDSCO/MD/GD/MDSW/01/2026); 21 July 2026. https://cdsco.gov.in/opencms/export/sites/CDSCO_WEB/Pdf-documents/Guidance-document-on-Medical-Device-Software-under-MDR-2017.pdf
[10] Pure Global. India G.S.R. 743(E), Medical Devices (Second Amendment) Rules, 2026, 14 August 2026: Rule 44(p) sterilisation-site licence number on the label (mandatory 14 February 2027); 'Certificate of Registration' defined for Forms MD-2, MD-40 and MD-42; Ninth Schedule of testing fees under Rules 19 and 69. https://www.pureglobal.com/news/india-gsr-743e-sterilisation-label-ninth-schedule-2026
[11] Pure Global. India G.S.R. 744(E), Medical Devices (Third Amendment) Rules, 2026, 14 August 2026: 'or European Union countries' added to Rule 63(1) proviso (iv); Class A non-sterile non-measuring self-certification revised. https://www.pureglobal.com/news/india-gsr-744e-eu-rule-63-class-a-qms-2026
[12] S.S. Rana &amp; Co. Medical Devices Rules: faster manufacturing licence approvals (draft G.S.R. 515(E), 23 June 2026; current Class C/D timeline up to 150 days; Class B up to 140 days per press reports); June 2026. https://ssrana.in/articles/medical-devices-rules-faster-manufacturing-licence-approvals/
[13] CliniExperts. MoHFW issues draft amendment to MDR-2017, G.S.R. 883(E), 4 December 2025: perpetual validity of Forms MD-2, MD-5, MD-6, MD-9, MD-10 and MD-15 subject to retention fees; new Form MD-44 for test or evaluation reports; registration number on Class A labels. https://cliniexperts.com/regulatory-update/2025-12-04_-g-s-r-883e_draft-notification-for-amendment-in-medical-device-rules-2017/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Four risk classes decide the route
TIME 2:00 min · full run clock 32:45–34:45 · 40-min core clock 25:30–27:30
CORE SCRIPT (say this; about 104 words)
Rule 4 and the First Schedule sort devices into four classes by intended use, invasiveness, duration of contact and whether the device is active. Class A: dressings, non-sterile gloves, a clinical thermometer. Class B: syringes, BP monitors, hearing aids, TENS systems. Class C: infusion pumps, X-ray and MRI, ventilators, dialysis machines. Class D: heart valves, pacemakers, coronary stents, IUDs. Class A and B are licensed by the State; C and D by CDSCO. FoGO proposes Class B. SwaKnee's class is to be confirmed: CDSCO's rehabilitation list puts deep-tissue electromagnetic stimulators in Class A, while the general rule for active therapeutic devices points to B.
DETAIL BELOW: use if time allows or if asked
PURPOSE
Make classification a skill, not a lookup: the four rule families, then verified examples, then our two devices.
SAY
Walk the ladder left to right. The four rule families in Part I of the First Schedule: non-invasive devices (intact skin only is Class A; channelling or storing blood or body fluids moves to B); invasive devices, split by body orifice versus surgical entry and by transient, short-term or long-term contact, with long-term implants in C and D; active devices, where therapeutic energy delivery is usually B, hazardous energy or monitoring of vital physiological processes C; and special rules, for example devices incorporating a medicinal substance or non-viable animal tissue in Class D. IVDs use Part II.
CDSCO publishes device-wise lists so you rarely have to reason from scratch: on 3 September 2020 it classified about 1,866 non-notified devices in 24 categories (779 of them Class B) and 80 IVDs; a Class A list of 803 devices appeared in 2025; the cardiovascular and neurological list has 553 devices (25 A, 153 B, 151 C, 221 D); the merged specialty-wise list is dated 15 October 2025. Always check the list before you argue from the rules.
Our two devices. FoGO: an active wearable with software that drives a cue; the developer proposes Class B, which would mean a State licence with a notified-body audit. SwaKnee: the CDSCO rehabilitation list entry 'deep-tissue electromagnetic stimulation system' (electromagnetic field applied to tissues for musculoskeletal pain, no deep heat) is Class A, which would mean online registration only if it is non-sterile and non-measuring; the First Schedule rule for active therapeutic devices delivering energy would normally give Class B. The presenter should state SwaKnee's actual classification and licence status.
ASK / RUN
Where would your own project sit, and which single fact about its intended use moves it up or down a class?
CAUTION
Examples are from consultancy summaries that agree with each other, not from the gazette lists themselves. Known conflicts: artificial joints (Class C as 'orthopaedic implants' versus Class D in one list); digital thermometer (Class A per CDSCO's 2018 classification as reported by one source, Class B per another); nebulisers (B or C); condoms (B or C). The exact rule numbering of the First Schedule and the software rule were not verified against the official PDF. Do not present FoGO's or SwaKnee's class as a CDSCO decision.
TRANSITION
Class decides the route. Now the forms and fees on each route.
SOURCES
[1] Ministry of Health and Family Welfare. Medical Devices Rules, 2017 (as amended), consolidated text, CDSCO. https://cdsco.gov.in/opencms/resources/UploadCDSCOWeb/2022/m_device/mdr,%202017%20(1).pdf
[2] Bhatt &amp; Joshi Associates. Medical Device Regulations India 2026: CDSCO, MDR 2017, Compliance Guide (paraphrase of First Schedule Part I classification rules; consultancy source). https://bhattandjoshiassociates.com/medical-device-regulation-in-india-a-comprehensive-overview/
[3] Freyr Solutions. Classification of non-notified medical devices and IVDs in India: decoding CDSCO's notices of 3 September 2020 (about 1,866 devices in 24 categories, 80 IVDs in 3 categories; Class B 779 devices and 38 IVDs). https://www.freyrsolutions.com/blog/classification-of-non-notified-medical-devices-and-ivds-in-india-decode-cdscos-new-notices
[4] Medical Dialogues. Low-risk medical device makers get clarity: CDSCO publishes a Class A risk classification list (803 devices) under MDR 2017; 2025. https://medicaldialogues.in/amp/news/industry/medical-devices/low-risk-medical-device-makers-get-clarity-cdsco-publishes-class-a-risk-classification-list-under-mdr-2017-158033
[5] CDSCO. Merged specialty-wise risk classification list of medical devices, 15 October 2025: the canonical lookup for any example. https://www.cdsco.gov.in/opencms/resources/UploadCDSCOWeb/2018/UploadPublic_NoticesFiles/MDmergeclassification15oct25.pdf
[6] RegisterKaro. CDSCO guidelines for medical devices: examples by class (lists digital thermometer under Class B). https://www.registerkaro.in/post/cdsco-guidelines-for-medical-devices
[7] Corpseed. An overview of classification of medical devices by CDSCO (examples by class; licensing authority by class). https://corpseed.com/knowledge-centre/classification-of-medical-devices-by-cdsco-in-india
[8] Agile Regulatory. CDSCO classification of medical devices: 2026 update (Class B examples; coronary stent as Class D). https://www.agileregulatory.com/blogs/cdsco-classification-of-medical-devices-2026-update
[9] Morulaa. Rehabilitation equipment categorisation parameters, quoting CDSCO's rehabilitation classification list: 'deep-tissue electromagnetic stimulation system' (applies an electromagnetic field to treat musculoskeletal disorders or pain, no deep heat) listed as Class A; 'arthritis TENS system' Class B. Consultancy transcription; verify in the official CDSCO PDF. https://morulaa.com/knowledge-hub/regulations/india/cdsco-medical-device-classification-rehabilitation
[10] Freyr Solutions. SaMD regulation in India: CDSCO classification (Class A–D) and registration requirements (consultancy reading; examples by class). https://www.freyrsolutions.com/blog/samd-regulation-in-india-cdsco-classification-class-a-d-registration-requirements-emerging-market-strategy
[11]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Which licence, from which authority, with which form
TIME 2:00 min · full run clock 34:45–36:45 · 40-min core clock 27:30–29:30
CORE SCRIPT (say this; about 118 words)
Each Indian permission answers a different question. A test licence, MD-12 to MD-13, lets you make units for testing; they cannot be sold. Clinical-investigation permission, MD-22 to MD-23, with ethics approval and CTRI registration, lets you test in people. A manufacturing licence lets you sell for the intended use: MD-3 to MD-5 from the State for Class A and B, MD-7 to MD-9 from CDSCO for C and D. Imports are always central, MD-14 to MD-15. Sellers register with the State in MD-41 to MD-42. Fees: Rs 5,000 per site plus Rs 500 per device for A and B; Rs 50,000 plus Rs 1,000 for C and D. FoGO today holds an MD-13 test licence for 25 units.
DETAIL BELOW: use if time allows or if asked
PURPOSE
Give a practical map of the Indian route, anchored in a real project (ported from v1 slide 17).
SAY
Read the table by row. Manufacture: Class A non-sterile, non-measuring devices register online with an Essential Principles self-certification (G.S.R. 777(E), 14 October 2022); sterile or measuring Class A and all Class B apply in MD-3 for an MD-5 licence from the State; Class C and D apply in MD-7 for an MD-9 licence from the Central Licensing Authority. Loan licences, for making at someone else's licensed site, mirror this: MD-4/MD-6 (State) and MD-8/MD-10 (Central; the 2019 amendment G.S.R. 188(E) made the CLA the issuer). Import: one route for every class, MD-14 to MD-15, filed by the Indian authorised agent. Test licences: MD-12 to MD-13 to make, MD-16 to MD-17 to import, for clinical investigation, test, evaluation, examination, demonstration or training; MD-13 is valid for three years. Clinical investigation: MD-22 with Seventh Schedule documents, permission in MD-23 from the CLA, plus a registered ethics committee. A device with no predicate in India goes through Rule 63, MD-26 to MD-27, where approval abroad can shorten the evidence path. Sale, stocking and distribution: MD-41 to MD-42 from the State under Rule 87A, Rs 3,000, with a ten-day deemed grant.
Fees are in the Second Schedule: Rs 5,000 per site plus Rs 500 per distinct device for Class A/B manufacturing or loan licences; Rs 50,000 plus Rs 1,000 for Class C/D; import licences in US dollars, $1,000, $2,000 or $3,000 per site plus $50, $1,000 or $1,500 per device for A, B and C/D; MD-13 Rs 500 per device; MD-17 $100 per device; notified-body registration Rs 25,000. Licences are perpetual: pay the retention fee, the same amount, every five years.
FoGO today: MD-13 test licence for 25 units (10 August 2026) after IEC 60601-1-2 EMC pre-compliance testing in July 2026. Next: MD-22, ethics approval, CTRI registration.
ASK / RUN
'Where is Ramesh's device on this path today?' Then: which single form would your own project file next?
DEBRIEF POINTS
International comparison, for Indian teams: in the US the sponsor proposes and the IRB decides whether a device study is significant or non-significant risk (FDA is the final arbiter); significant-risk studies need an investigational device exemption (21 CFR 812), then 510(k), De Novo or PMA. In the EU, notified-body CE marking is followed by post-market clinical follow-up under MDR 2017/745, with transition deadlines to 2027–2028 and a targeted revision proposed in December 2025. Clinical investigations everywhere follow ISO 14155 (2026 edition). Rules differ; the ethical duties do not. A licence is not proof of benefit: among US cardiovascular devices with Class I recalls in 2013–2022, only 19.1% had any premarket clinical testing (Kadakia et al. 2024). Rule 51(2) waives the clinical-investigation fee for government-run or government-funded institutions.
CAUTION
Simplified overview; device class, study purpose and specific exemptions determine the route. The clinical-investigation fee is not shown because sources conflict (one consultancy quotes Rs 1,00,000; memory suggests Rs 25,000–50,000 by class): verify in the CDSCO fee file. IVD import fees differ and were not verified. The late-fee and deemed-cancellation figures come from secondary coverage of CDSCO notices. FoGO's 'Class B (proposed)' is the developer's proposal.
TRANSITION
Permission does not mean people can use it. But first, what does getting the manufacturing licence actually involve?
SOURCES
[1] Ministry of Health and Family Welfare. Medical Devices Rules, 2017 (as amended), consolidated text, CDSCO. https://cdsco.gov.in/opencms/resources/UploadCDSCOWeb/2022/m_device/mdr,%202017%20(1).pdf
[2] CDSCO. Regulatory pathway under the Medical Devices Rules, 2017 (overview). https://cdsco.gov.in/opencms/export/sites/CDSCO_WEB/Pdf-documents/medical-device/RegulatoryMDR-2017.pdf
[3] CDSCO. Form MD-12: application for licence to manufacture medical devices for clinical investigation, test, evaluation, examination, demonstration or training (licence in Form MD-13). https://cdsco.gov.in/opencms/export/sites/CDSCO_WEB/Pdf-documents/medical-device/12MD.pdf
[4] CDSCO. Form MD-22: application for permission to conduct clinical investigation (permission in Form MD-23). https://cdsco.gov.in/opencms/export/sites/CDSCO_WEB/Pdf-documents/medical-device/22MD.pdf
[5] CDSCO. Form MD-14: application for licence to import medical devices (licence in Form MD-15; Central Licensing Authority; Rules 34–36). https://cdsco.gov.in/opencms/export/sites/CDSCO_WEB/Pdf-documents/medical-device/14MD.pdf
[6] TeamLease RegTech. Medical Devices (Sixth Amendment) Rules, 2022, G.S.R. 777(E), 14 October 2022: Class A non-sterile, non-measuring devices registered online with an undertaking and a self-certified Essential Principles checklist; no manufacturing licence. https://www.teamleaseregtech.com/updates/article/19622/medical-devices-sixth-amendment-rules-2022
[7] SCC Online blog. Medical Devices (Fifth Amendment) Rules 2022, G.S.R. 754(E) of 30 September 2022: Rule 87A requires anyone selling, stocking, exhibiting or distributing medical devices to apply to the State Licensing Authority in Form MD-41 for a Registration Certificate in Form MD-42 (fee Rs 3,000; retention Rs 3,000). https://www.scconline.com/blog/?p=274997
[8] CDSCO Medical Device online portal. Fee help file (Second Schedule, MDR-2017): manufacturing licence Class A/B Rs 5,000 per site + Rs 500 per device; Class C/D Rs 50,000 + Rs 1,000; test licence Rs 500 per device. https://cdscomdonline.gov.in/NewMedDev/resources/app_srv/NMD/global/helpfiles/nmd_fee.pdf/
[9] Lawrbit. Medical device import licence India procedure: Form MD-14 to MD-15; fees US$1,000 (A), $2,000 (B), $3,000 (C/D) per site plus $50 / $1,000 / $1,500 per device. https://www.lawrbit.com/industry-specific/medical-device-import-license-india-procedure/
[10] Corpbiz. Grant of test licence for manufacture under MDR-2017: Form MD-12 application, Form MD-13 licence, for clinical investigation, test, evaluation, examination, demonstration or training. https://corpbiz.io/learning/grant-of-test-license-for-manufacture-under-mdr-2017/
[11] LegalRaasta. From lab to clinic: the role of MD-22 and MD-23 (test licence MD-13 valid for 3 years from issue). https://www.legalraasta.com/blog/role-md-22-md-23-medical-devices-market/
[12] Operon Strategist. India waives local trials: exemption for investigational devices with EU clearance (Rule 63, Form MD-26 → MD-27; approval by US, UK, Australia, Canada, Japan or EU regulators and 2 years' marketing; post-marketing investigation in India); 2026. https://operonstrategist.com/exemption-for-investigational-medical-devices-eu-approval/
[13] Lawrbit. Class A and B medical device manufacturing licence in India: MD-3 → MD-5; licence valid indefinitely subject to the retention fee every 5 years. https://www.lawrbit.com/industry-specific/class-a-b-medical-device-manufacturing-license-india/
[14] Lexplosion. Stakeholders in the medical devices sector urged by CDSCO to ensure timely payment of retention fees to maintain validity of licences and certificates (late fee 2% a month; deemed cancellation after 180 days for manufacturing and 90 days for import licences); 2024. https://lexplosion.in/stakeholders-in-medical-devices-sector-urged-by-cdsco-to-ensure-timely-payment-of-retention-fees-to-maintain-validity-of-licenses-and-certificates/
[15]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[16] US FDA. Information Sheet: Significant Risk and Nonsignificant Risk Medical Device Studies (21 CFR 812). https://www.fda.gov/files/about%20fda/published/Significant-Risk-and-Nonsignificant-Risk-Medical-Device-Studies---Information-Sheet.pdf
[17] Regulation (EU) 2017/745 on medical devices, Art. 61 and Annex XIV Part B (post-market clinical follow-up); transition extended to 2027/2028 by Regulation (EU) 2023/607. https://eur-lex.europa.eu/eli/reg/2017/745/2023-03-20
[18] European Commission. Proposal for a targeted revision of the medical device regulations, COM(2025) 1023 final, 16 December 2025 (under negotiation). https://eur-lex.europa.eu/legal-content/EN/TXT/HTML/?uri=CELEX:52025PC1023
[19] ISO 14155:2026. Clinical investigation of medical devices for human subjects — Good clinical practice (supersedes ISO 14155:2020). https://www.iso.org/standard/83968.html
[20] Kadakia KT, et al. Class I recalls of cardiovascular devices between 2013 and 2022: a cross-sectional analysis. Ann Intern Med. 2024;177(11) (19.1% had premarket clinical testing). https://www.acpjournals.org/doi/10.7326/ANNALS-24-00724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The route to a manufacturing licence
TIME 1:30 min · full run clock 36:45–38:15 · 40-min core clock 29:30–31:00
CORE SCRIPT (say this; about 111 words)
Five steps. Build a quality management system to the Fifth Schedule, which follows ISO 13485. Apply on the CDSCO portal: MD-3 to the State for Class A and B, MD-7 to CDSCO for C and D. Then the check: Class A is licensed on documents and audited afterwards; Class B is audited by a notified body before grant; Class C and D are inspected by CDSCO officers. The licence, MD-5 or MD-9, is perpetual. Keep it by paying the retention fee every five years and by staying compliant; Rule 43A allows suspension or cancellation. Fees: Rs 5,000 plus Rs 500 per device for A/B; Rs 50,000 plus Rs 1,000 for C/D.
DETAIL BELOW: use if time allows or if asked
PURPOSE
Turn 'get a licence' into a sequence with owners, durations and costs.
SAY
Step 1, the QMS. The Fifth Schedule is modelled on ISO 13485; BIS has published IS 23485, which merges ISO 13485:2016 with the Essential Principles standards ISO 16142-1 and -2, so one Indian standard covers both. An ISO 13485 certificate is not a statutory precondition, but notified bodies and CDSCO expect the system to be aligned, and firms already certified get shorter, cheaper audits under CDSCO's notified-body fee schedule. Start-ups are quoted three to six months and Rs 3–8 lakh for certification; that is a consultancy estimate.
Step 2, the application on cdscomdonline.gov.in: MD-3 or MD-7 with site and device details and the Essential Principles checklist.
Step 3, the check. Class A: the State grants within 45 days on document scrutiny, and the notified body audits within 120 days of grant. Class B: the notified body must audit within 90 days of the application, before the State decides. Class C and D: CDSCO causes an inspection by Medical Device Officers within 60 days (Rule 23(1)) and decides within 45 days of the inspection report (Rule 21(4)).
Step 4, the licence: MD-5 or MD-9; no renewal application, ever.
Step 5, keep it: the retention fee equals the original fee and falls due every five years; late payment attracts 2% a month and a manufacturing licence is deemed cancelled after 180 days unpaid (90 days for an import licence). Rule 43A, inserted in 2022, lets the authority suspend or cancel after a show-cause notice.
Timelines in practice: the draft amendment G.S.R. 515(E) of 23 June 2026 proposes cutting the Class B route from 140 to 115 days (State scrutiny and notified-body assignment within 30 days, audit within 30, non-conformity closure check within 20, report within 15, decision within 20) and Class C/D from 105 to 90 days; it was not reported final by 7 October 2026. The Parliamentary Standing Committee on Health (170th report, 16 March 2025) criticised CDSCO delays and opaque licensing, said firms had relocated to Vietnam and Malaysia, and recommended a trackable, time-bound system with conditional approval in 45 days.
CAUTION
Sources conflict on the current Class C/D end-to-end timeline: S.S. Rana says 'up to 150 days' falling to 105; The Tribune and Business Standard say 105 falling to 90. The slide uses the latter (the confirmed press figures); say 'about 105 days today' with that caveat. Rule sub-numbers for the Class A and B day limits were not verified. The 4–5 month figure is a consultancy estimate, not a statutory limit.
TRANSITION
Most devices Indians use are not made here. What does an importer do, and when can a foreign approval help?
SOURCES
[1] Ministry of Health and Family Welfare. Medical Devices Rules, 2017 (as amended), consolidated text, CDSCO. https://cdsco.gov.in/opencms/resources/UploadCDSCOWeb/2022/m_device/mdr,%202017%20(1).pdf
[2] Bureau of Indian Standards. BIS publishes IS 23485: Medical devices, quality management system requirements and essential principles of safety and performance (ISO 13485:2016 with ISO 16142-1:2016 and ISO 16142-2:2017). https://www.bis.gov.in/bis-publishes-is-23485-medical-devices-quality-management-system-requirements-and-essential-principles-of-safety-performance-for-medical-devices
[3] CliniExperts. ISO 13485 for Indian medical device manufacturers: Fifth Schedule QMS; a certificate is not a statutory precondition but audits expect alignment. https://cliniexperts.com/iso-13485-for-indian-medical-device-manufacturers-what-it-means-for-cdsco-compliance/
[4] IncorpX. ISO 13485 certification: about Rs 3–8 lakh and 3–6 months for an Indian device start-up (consultancy estimate). https://www.incorpx.io/iso-13485-certification
[5] CDSCO. Public notice on the Medical Device online system (cdscomdonline.gov.in) for MDR-2017 applications: licences, registrations, test licences and clinical investigations. https://www.cdsco.gov.in/opencms/resources/UploadCDSCOWeb/2018/UploadPublic_NoticesFiles/fmd.pdf
[6] Applied Clinical Trials. New regulations for medical devices in India: Class A licence within 45 days with audit within 120 days after grant; Class B notified-body audit within 90 days before grant; 2017. https://www.appliedclinicaltrialsonline.com/view/new-regulations-medical-devices-india
[7] S.S. Rana &amp; Co. Medical Devices Rules: faster manufacturing licence approvals (draft G.S.R. 515(E), 23 June 2026; current Class C/D timeline up to 150 days; Class B up to 140 days per press reports); June 2026. https://ssrana.in/articles/medical-devices-rules-faster-manufacturing-licence-approvals/
[8] Asia Actual. India proposes targeted amendments to the Medical Devices Rules: draft G.S.R. 515(E), 23 June 2026, cuts manufacturing-licence timelines from 140 to 115 days (Class B) and 105 to 90 days (Class C and D); objections within 30 days. https://asiaactual.com/blog/india-proposes-targeted-amendments-to-medical-devices-rules/
[9] Lawrbit. Class A and B medical device manufacturing licence in India: MD-3 → MD-5; licence valid indefinitely subject to the retention fee every 5 years. https://www.lawrbit.com/industry-specific/class-a-b-medical-device-manufacturing-license-india/
[10] CDSCO Medical Device online portal. Fee help file (Second Schedule, MDR-2017): manufacturing licence Class A/B Rs 5,000 per site + Rs 500 per device; Class C/D Rs 50,000 + Rs 1,000; test licence Rs 500 per device. https://cdscomdonline.gov.in/NewMedDev/resources/app_srv/NMD/global/helpfiles/nmd_fee.pdf/
[11] Lexplosion. Stakeholders in the medical devices sector urged by CDSCO to ensure timely payment of retention fees to maintain validity of licences and certificates (late fee 2% a month; deemed cancellation after 180 days for manufacturing and 90 days for import licences); 2024. https://lexplosion.in/stakeholders-in-medical-devices-sector-urged-by-cdsco-to-ensure-timely-payment-of-retention-fees-to-maintain-validity-of-licenses-and-certificates/
[12] Lexplosion. Ministry of Health amends MDR 2017: Rule 43A prescribes suspension and cancellation of a licence for non-compliance (Third Amendment Rules, 2022). https://lexplosion.in/ministry-of-health-amends-the-medical-devices-rules-2017-prescribes-suspension-and-cancellation-of-licence-for-manufacturer-or-licensee-for-failure-to-comply-with-conditions-of-an-import-license-ef/
[13] Business Standard. House panel flags licensing delays forcing medical device firms abroad (Standing Committee on Health, 170th report, 16 March 2025; time-bound conditional approval in 45 days recommended). https://www.business-standard.com/health/house-panel-flags-licensing-delays-forcing-medical-device-firms-abroad-125031300999_1.html
[14] Corpseed. CDSCO MD-5 licence for Class A and B medical device manufacturing (fees; 4–5 month consultancy estimate including the notified-body audit). https://www.corpseed.com/knowledge-centre/cdsco-md-5-license-for-class-a-and-b-medical-devices-manufacturing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Importing, registering and relying on foreign approvals
TIME 1:00 min · full run clock 38:15–39:15 · deep-dive slide: skip in the 40-minute version
CORE SCRIPT (say this; about 104 words)
Imports are central. An Indian authorised agent applies in MD-14 for an MD-15 licence, for every class; fees are in US dollars; CDSCO must decide within nine months. The lightest route is for Class A non-sterile, non-measuring devices: no licence, just registration on the online system with a self-certified Essential Principles checklist. And a shortcut: for a device with no predicate in India, CDSCO may waive the local clinical investigation if the device is approved in the US, UK, Australia, Canada, Japan or, from August 2026, the EU, and has been marketed there for two years, provided a post-marketing study is done in India.
DETAIL BELOW: use if time allows or if asked
PURPOSE
Cover the two routes most student projects forget: importing components or finished devices, and the registration-only route; then show how foreign approvals are used.
SAY
Import, Rules 34–36. The Indian authorised agent or importer files MD-14 on the Medical Device online system; one route for Class A to D; the overseas manufacturing site may be inspected. Fees per site plus per distinct device: Class A $1,000 + $50; Class B $2,000 + $1,000; Class C or D $3,000 + $1,500. The CLA must grant, or record reasons for refusing, within nine months; practitioners quote six to nine. MD-15 is perpetual, with the retention fee every five years and only a 90-day grace period. Test imports for study, demonstration or training use MD-16 to MD-17 at $100 per device. Rule 38: any withdrawal, restriction or cancellation abroad must be reported to CDSCO within 15 calendar days.
Class A non-sterile, non-measuring (G.S.R. 777(E), 14 October 2022): upload the site name and address, the device details, an undertaking that the device is Class A NSNM, and a self-certified Essential Principles checklist; the portal issues a registration number that goes on the label. The December 2025 draft would allow 'Reg. No.' wording on labels, and G.S.R. 744(E) of August 2026 revised the QMS self-certification. A sterile or measuring Class A device, such as a thermometer, still needs an MD-5 licence.
Reliance, Rule 63: a device with no predicate in India applies in MD-26 for permission in MD-27. The fourth proviso lets the CLA waive the local clinical investigation when the device is approved by the US, UK, Australian, Canadian or Japanese regulator, and since G.S.R. 744(E) (14 August 2026) by EU countries, has been marketed there for at least two years, and CDSCO is satisfied with safety, performance and post-market data; a post-marketing clinical investigation in India remains a condition.
INDIA ADAPTATION
Why it matters for an Indian team: about 70% of what India uses is imported (Parliamentary Standing Committee, March 2024), US$8.18 billion in FY2023-24. An importer is a licence holder with the same vigilance and labelling duties as a manufacturer. Conversely, an Indian start-up that first wins CE marking or FDA clearance, as Dozee and SMT did, can use Rule 63 to shorten its home evidence path, but not to skip it.
CAUTION
A free-sale certificate from the country of origin is commonly required with MD-14 but was not verified in the facts files; check the CDSCO checklist. IVD import fees differ from the device fees shown. The 9-month limit is Rule 36 as reported by consultancies; the sub-rule was not verified.
TRANSITION
Whichever route you take, the licence comes with eight duties that never stop.
SOURCES
[1] CDSCO. Form MD-14: application for licence to import medical devices (licence in Form MD-15; Central Licensing Authority; Rules 34–36). https://cdsco.gov.in/opencms/export/sites/CDSCO_WEB/Pdf-documents/medical-device/14MD.pdf
[2] Corpseed. Permission to import medical devices, Form MD-14 and Form MD-15: Central Licensing Authority decides within 9 months; 6 to 9 months in practice. https://www.corpseed.com/knowledge-centre/permission-to-import-medical-devices-form-md-14-and-form-md-15
[3] Lawrbit. Medical device import licence India procedure: Form MD-14 to MD-15; fees US$1,000 (A), $2,000 (B), $3,000 (C/D) per site plus $50 / $1,000 / $1,500 per device. https://www.lawrbit.com/industry-specific/medical-device-import-license-india-procedure/
[4] CDSCO Medical Device online portal. Fee help file (Second Schedule, MDR-2017): manufacturing licence Class A/B Rs 5,000 per site + Rs 500 per device; Class C/D Rs 50,000 + Rs 1,000; test licence Rs 500 per device. https://cdscomdonline.gov.in/NewMedDev/resources/app_srv/NMD/global/helpfiles/nmd_fee.pdf/
[5] Lexplosion. Stakeholders in the medical devices sector urged by CDSCO to ensure timely payment of retention fees to maintain validity of licences and certificates (late fee 2% a month; deemed cancellation after 180 days for manufacturing and 90 days for import licences); 2024. https://lexplosion.in/stakeholders-in-medical-devices-sector-urged-by-cdsco-to-ensure-timely-payment-of-retention-fees-to-maintain-validity-of-licenses-and-certificates/
[6] Navigator Global. India educational series: medical device registration and post-market compliance (PSUR every 6 months for 2 years, then annually for 2 years). Single consultancy source. https://navigator.global/gb/library/india-educational-series-medical-device-registration-and-post-market-compliance
[7] TeamLease RegTech. Medical Devices (Sixth Amendment) Rules, 2022, G.S.R. 777(E), 14 October 2022: Class A non-sterile, non-measuring devices registered online with an undertaking and a self-certified Essential Principles checklist; no manufacturing licence. https://www.teamleaseregtech.com/updates/article/19622/medical-devices-sixth-amendment-rules-2022
[8] CliniExperts. MoHFW issues draft amendment to MDR-2017, G.S.R. 883(E), 4 December 2025: perpetual validity of Forms MD-2, MD-5, MD-6, MD-9, MD-10 and MD-15 subject to retention fees; new Form MD-44 for test or evaluation reports; registration number on Class A labels. https://cliniexperts.com/regulatory-update/2025-12-04_-g-s-r-883e_draft-notification-for-amendment-in-medical-device-rules-2017/
[9] Pure Global. India G.S.R. 744(E), Medical Devices (Third Amendment) Rules, 2026, 14 August 2026: 'or European Union countries' added to Rule 63(1) proviso (iv); Class A non-sterile non-measuring self-certification revised. https://www.pureglobal.com/news/india-gsr-744e-eu-rule-63-class-a-qms-2026
[10] Operon Strategist. India waives local trials: exemption for investigational devices with EU clearance (Rule 63, Form MD-26 → MD-27; approval by US, UK, Australia, Canada, Japan or EU regulators and 2 years' marketing; post-marketing investigation in India); 2026. https://operonstrategist.com/exemption-for-investigational-medical-devices-eu-approval/
[11] ETV Bharat. Parliamentary panel raps Ministry of Chemicals and Fertilizers for import of high-end medical devices (about 70% of requirement imported); 11 March 2024. https://www.etvbharat.com/en/!bharat/parliamentary-panel-raps-ministry-of-chemical-and-fertilizer-for-import-of-high-end-medical-devices-enn24031105786
[12] Medical Buyer. Amid domestic push, India imported medical devices worth $8.18B in FY24; 2024. https://medicalbuyer.co.in/amid-domestic-push-india-imported-medical-devices-worth-8-18b-in-fy24/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Eight duties that never stop
TIME 1:15 min · full run clock 39:15–40:30 · 40-min core clock 31:00–32:15
CORE SCRIPT (say this; about 114 words)
A licence is a promise to keep doing eight things. Conform to the Essential Principles and keep the checklist current. Run the Fifth Schedule quality system and pass audits. Label to Rule 44, and from February 2027 add the sterilisation site's licence number. Prepare for Unique Device Identification, whose start date is still to be notified. Conform to BIS standards, then ISO or IEC. Keep records that trace every unit by batch, serial and software version. Control changes, with prior approval for major ones. And report: serious adverse events within 15 days, regulatory action abroad within 15 days, everything to MvPI. In the middle sits the licence itself: perpetual, but suspendable under Rule 43A.
DETAIL BELOW: use if time allows or if asked
PURPOSE
Show that regulation continues after approval; each card names the rule and the evidence an inspector will ask to see.
SAY
Go round the ring. Essential Principles: every device must conform to the Essential Principles of safety and performance (cited as Rule 6) and a checklist is filed with every application; Class A NSNM manufacturers self-certify it. QMS: the Fifth Schedule, aligned with ISO 13485, now mirrored by IS 23485; notified bodies audit A and B sites, CDSCO inspects C and D. Labelling: Rule 44 requires, in indelible ink on the shelf pack and every outer cover, the device name, the manufacturer's name and site address, net quantity, month and year of manufacture and expiry, the licence number and the Fourth Schedule declarations; G.S.R. 743(E) adds clause (p): where sterilisation is outsourced, the sterilisation site's licence number preceded by 'Ster. Mfg. Lic. No.' or 'S.M.L.', mandatory from 14 February 2027. UDI: Rule 46 originally fixed 1 January 2022; G.S.R. 918(E) of 31 December 2021 replaced it with a date to be notified, and none has been fixed. Standards: Rule 7 points to BIS standards, then standards notified by the Ministry, then ISO/IEC, then the manufacturer's validated standards; BIS has about 1,200 device standards and committed to standards for 214 critical devices; testing and evaluation fees now sit in a Ninth Schedule. Records and traceability: batch or serial number and software version for every unit; newly notified devices carry their registration number on the label; sellers hold MD-42. Change control: the MDSW guidance expects version control, validation and documented change management, with an Algorithm Change Protocol where applicable; post-approval changes are filed on the portal, major ones for prior approval and minor ones by notification (single-source; verify). Vigilance: serious adverse events reported within 15 days; Rule 38 requires regulatory action abroad to be reported within 15 calendar days; CDSCO's circular of 15 May 2024 told all licence holders to report every suspected unexpected serious adverse event to MvPI.
In the centre, the licence: perpetual, retention fee every five years, and Rule 43A (2022) for suspension or cancellation after show-cause.
ASK / RUN
Pick one card: what document would you show an inspector tomorrow? (Most teams can show a label and a test report; few can show a change log.)
CAUTION
Rule numbers 6, 7 and 47 and the full Rule 44 list come partly from memory of the Rules text, which could not be fetched; verify against the consolidated MDR-2017 PDF before quoting a rule number. The major/minor change distinction is from one vendor blog. Shelf-life limits (Rule 47) are omitted for the same reason.
TRANSITION
One of those duties, evidence in people, deserves its own slide: the clinical investigation.
SOURCES
[1] Ministry of Health and Family Welfare. Medical Devices Rules, 2017 (as amended), consolidated text, CDSCO. https://cdsco.gov.in/opencms/resources/UploadCDSCOWeb/2022/m_device/mdr,%202017%20(1).pdf
[2] Medical Devices Rules, 2017: full text (IIT Madras mirror PDF), for checking rule numbers. https://www.iitm.ac.in/sites/default/files/Others/medicaldevicesrules2017.pdf
[3] TeamLease RegTech. Medical Devices (Sixth Amendment) Rules, 2022, G.S.R. 777(E), 14 October 2022: Class A non-sterile, non-measuring devices registered online with an undertaking and a self-certified Essential Principles checklist; no manufacturing licence. https://www.teamleaseregtech.com/updates/article/19622/medical-devices-sixth-amendment-rules-2022
[4] Bureau of Indian Standards. BIS publishes IS 23485: Medical devices, quality management system requirements and essential principles of safety and performance (ISO 13485:2016 with ISO 16142-1:2016 and ISO 16142-2:2017). https://www.bis.gov.in/bis-publishes-is-23485-medical-devices-quality-management-system-requirements-and-essential-principles-of-safety-performance-for-medical-devices
[5] Cyril Amarchand Mangaldas. Decoding India's dual framework for medical device labelling (Rule 44 particulars; Rule 46); February 2025. https://corporate.cyrilamarchandblogs.com/2025/02/double-check-decoding-indias-dual-framework-for-medical-device-labelling/
[6] Pure Global. India G.S.R. 743(E), Medical Devices (Second Amendment) Rules, 2026, 14 August 2026: Rule 44(p) sterilisation-site licence number on the label (mandatory 14 February 2027); 'Certificate of Registration' defined for Forms MD-2, MD-40 and MD-42; Ninth Schedule of testing fees under Rules 19 and 69. https://www.pureglobal.com/news/india-gsr-743e-sterilisation-label-ninth-schedule-2026
[7] SCC Online. Draft Medical Devices (Amendment) Rules 2021 introduces unique device identification (Rule 46; final G.S.R. 918(E), 31 December 2021 deferred the 1 January 2022 start date until further orders). https://www.scconline.com/blog/post/2021/12/24/draft-medical-devices-amendment-rules-2021-introduces-unique-device-identification-of-the-medical-device/
[8] BioVoice News. Bureau of Indian Standards to develop standards for 214 critical medical devices by December 2025 (1,700+ medical standards, about 1,200 device-specific); 25 November 2024. https://biovoicenews.com/bureau-of-indian-standards-to-develop-standards-for-214-critical-medical-devices-by-december-2025/
[9] CDSCO. Guidance Document on Medical Device Software under the Medical Devices Rules, 2017 (CDSCO/MD/GD/MDSW/01/2026); 21 July 2026. https://cdsco.gov.in/opencms/export/sites/CDSCO_WEB/Pdf-documents/Guidance-document-on-Medical-Device-Software-under-MDR-2017.pdf
[10] Qualio. CDSCO registration India 2026 update: major (prior approval) versus minor (notification) post-approval changes. Single vendor source; verify. https://www.qualio.com/blog/cdsco-registration-india-2026-update
[11] Navigator Global. India educational series: medical device registration and post-market compliance (PSUR every 6 months for 2 years, then annually for 2 years). Single consultancy source. https://navigator.global/gb/library/india-educational-series-medical-device-registration-and-post-market-compliance
[12] Business Standard. Medical device bodies welcome CDSCO order on self-reporting adverse effects; 21 May 2024 (CDSCO circular of 15 May 2024: all medical-device licence holders must report every suspected unexpected serious adverse event to the Materiovigilance Programme of India). https://www.business-standard.com/health/medical-device-bodies-welcome-cdsco-order-on-self-reporting-adverse-effects-124052101276_1.html
[13] Lexplosion. Ministry of Health amends MDR 2017: Rule 43A prescribes suspension and cancellation of a licence for non-compliance (Third Amendment Rules, 2022). https://lexplosion.in/ministry-of-health-amends-the-medical-devices-rules-2017-prescribes-suspension-and-cancellation-of-licence-for-manufacturer-or-licensee-for-failure-to-comply-with-conditions-of-an-import-license-ef/
[14] Lexplosion. Stakeholders in the medical devices sector urged by CDSCO to ensure timely payment of retention fees to maintain validity of licences and certificates (late fee 2% a month; deemed cancellation after 180 days for manufacturing and 90 days for import licences); 2024. https://lexplosion.in/stakeholders-in-medical-devices-sector-urged-by-cdsco-to-ensure-timely-payment-of-retention-fees-to-maintain-validity-of-licenses-and-certificates/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Clinical investigation under MDR-2017
TIME 1:30 min · full run clock 40:30–42:00 · 40-min core clock 32:15–33:45
CORE SCRIPT (say this; about 108 words)
Chapter VII governs testing in people. The sponsor makes study units under an MD-13 test licence and assembles the Seventh Schedule dossier: investigation plan, investigator's brochure, design controls, verification and validation, Essential Principles checklist, consent form, investigator undertaking. A registered ethics committee approves the protocol and consent. CDSCO reviews Form MD-22 and grants permission in MD-23. The study is registered on CTRI before the first participant. Then the pilot, exploratory and first-in-human, and the pivotal, confirmatory, with serious-event reporting and compensation for injury. Two shortcuts: Rule 63 can waive the local study for devices approved abroad; an academic study of an already licensed device has a lighter route.
DETAIL BELOW: use if time allows or if asked
PURPOSE
Make the four actors and their order visible, so that teams stop treating 'ethics approval' and 'CDSCO permission' as the same thing.
SAY
Follow the lanes. Sponsor: units built under the MD-12 to MD-13 test licence (FoGO's 25 units); the Seventh Schedule dossier with Form MD-22. Ethics committee: the CDSCO checklist for MD-22 includes the EC approval, so the committee, registered with CDSCO, comes first; ethics-committee registration follows the New Drugs and Clinical Trials Rules 2019. CDSCO: the Central Licensing Authority reviews MD-22 and permits in MD-23. CTRI: register before enrolment. Back to the sponsor: run the pilot, the exploratory first-in-human study in a small group, then the pivotal, the confirmatory study; report serious adverse events, provide free medical management and compensation for study-related injury, and submit the final report. ISO 14155:2026 is the international good-clinical-practice standard for device studies; ICMR's 2017 guidelines (section 7.7) cover device trials in India.
Exemptions: Rule 63's fourth proviso lets CDSCO waive the local investigation for a device approved in the US, UK, Australia, Canada, Japan or, since G.S.R. 744(E), the EU, marketed there at least two years, with a post-marketing investigation in India. An 'academic clinical study' of an already licensed device, with ethics approval and data not used for marketing, is the lighter route described in the v1 notes; the NDCT Rules 2019 define the concept for drugs (EC approval plus intimation; CLA may object within 30 days) and whether MDR-2017 has an equivalent clause must be checked in the text. Rule 51(2) waives the fee for government institutions.
ASK / RUN
'Where is FoGO on this swimlane today?' Answer: lane 1, box 1; nothing in the other three lanes yet. Then: what would you need to move it to box 2?
CAUTION
Timelines for serious adverse event reporting during a study (24 hours to sponsor, EC and CLA; 14 days for the sponsor's analysis) and the compensation formula mirror the NDCT Rules and were not verified against MDR-2017 Rules 50–62; say 'report within hours, analyse within days' until checked. One consultancy's 'pilot 3–5 patients, pivotal 10–50' is not in the Rules. The clinical-investigation fee is unverified. IVD performance-evaluation forms (MD-24/25) are from memory.
TRANSITION
FoGO's cue is triggered by software. When the software is the device, CDSCO has a 2026 guidance.
SOURCES
[1] Ministry of Health and Family Welfare. Medical Devices Rules, 2017 (as amended), consolidated text, CDSCO. https://cdsco.gov.in/opencms/resources/UploadCDSCOWeb/2022/m_device/mdr,%202017%20(1).pdf
[2] CDSCO. Form MD-22: application for permission to conduct clinical investigation (permission in Form MD-23). https://cdsco.gov.in/opencms/export/sites/CDSCO_WEB/Pdf-documents/medical-device/22MD.pdf
[3] CDSCO. Checklist for Form MD-22 (clinical investigation): Seventh Schedule documents including the clinical investigation plan, investigator's brochure, design verification and validation report, Essential Principles checklist, informed consent form, investigator undertaking and ethics committee approval. https://www.cdsco.gov.in/opencms/export/sites/CDSCO_WEB/Pdf-documents/medical-device/ChecklisFormMD-22MD.pdf
[4] Corpbiz. Process of application for clinical investigation under MDR 2017 (pilot and pivotal definitions; Form MD-22 to the CLA). https://corpbiz.io/learning/process-of-application-for-clinical-investigation-under-mdr-2017/
[5] CDSCO. Form MD-12: application for licence to manufacture medical devices for clinical investigation, test, evaluation, examination, demonstration or training (licence in Form MD-13). https://cdsco.gov.in/opencms/export/sites/CDSCO_WEB/Pdf-documents/medical-device/12MD.pdf
[6] Ministry of Health and Family Welfare. New Drugs and Clinical Trials Rules, 2019 (ethics committee registration: Rules 7–8 with CDSCO; Rules 16–17 with DHR). https://cdsco.gov.in/opencms/resources/UploadCDSCOWeb/2022/new_DC_rules/NEW%20DRUGS%20ANDctrS%20RULE,%202019.pdf
[7] Indian Council of Medical Research. National Ethical Guidelines for Biomedical and Health Research Involving Human Participants. New Delhi: ICMR; 2017 (Section 5 informed consent; Section 6 vulnerability; Section 7.7 device trials). https://ethics.ncdirindia.org/asset/pdf/ICMR_National_Ethical_Guidelines.pdf
[8] ISO 14155:2026. Clinical investigation of medical devices for human subjects — Good clinical practice (supersedes ISO 14155:2020). https://www.iso.org/standard/83968.html
[9] Operon Strategist. India waives local trials: exemption for investigational devices with EU clearance (Rule 63, Form MD-26 → MD-27; approval by US, UK, Australia, Canada, Japan or EU regulators and 2 years' marketing; post-marketing investigation in India); 2026. https://operonstrategist.com/exemption-for-investigational-medical-devices-eu-approval/
[10] Pure Global. India G.S.R. 744(E), Medical Devices (Third Amendment) Rules, 2026, 14 August 2026: 'or European Union countries' added to Rule 63(1) proviso (iv); Class A non-sterile non-measuring self-certification revised. https://www.pureglobal.com/news/india-gsr-744e-eu-rule-63-class-a-qms-2026
[11] Vidhi Centre for Legal Policy. Comments on the draft clinical trials rules (the 'academic clinical trial' concept, now in NDCT Rules 2019); 23 March 2018. https://vidhilegalpolicy.in/wp-content/uploads/2020/07/180323_CommentsonClinicalTrialsRules.pdf
[12]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When the software is the device
TIME 1:15 min · full run clock 42:00–43:15 · deep-dive slide: skip in the 40-minute version
CORE SCRIPT (say this; about 112 words)
CDSCO's Guidance Document on Medical Device Software, issued 21 July 2026, covers software as a device, software in a device, connected and cloud systems, AI and IVD software. Class follows three criteria: the medical purpose, how far the output drives a clinical decision, and how serious the condition is. It then asks for lifecycle documentation, verification and validation per version, cybersecurity, documented change control, with an Algorithm Change Protocol where applicable, and post-market reporting by version. For FoGO the app runs the detection model and fires the cue, so it is classified with the device; every result must carry a firmware and model version, and a threshold change is a design change.
DETAIL BELOW: use if time allows or if asked
PURPOSE
Show that software obligations are lifecycle obligations, and that the class depends on what the output drives.
SAY
The guidance, CDSCO/MD/GD/MDSW/01/2026, 62 pages, says it interprets the Rules rather than adding a new control. Classification by three criteria, which the grid shows: significance of the information (inform, drive, or treat and diagnose) against severity of the situation (non-serious, serious, critical), plus whether a medical purpose is stated at all. A consultancy reading of CDSCO's SaMD approach gives examples: software that only analyses data retrospectively, Class A; software giving real-time patient parameters without diagnosis, such as a home ECG display, Class B; software that informs diagnosis or treatment, Class C; and software that drives a device takes the device's class. Calling a product 'wellness' does not remove obligations when the real purpose is medical.
Lifecycle: intended purpose and classification; documentation of requirements, architecture and versions with an ISO 14971 risk file; verification and validation per version, with clinical evidence sized to the claim; cybersecurity and data protection (the DPDP Rules 2025 apply to the app's gait logs); change control, with an Algorithm Change Protocol where applicable; post-market logs by version. The US FDA's predetermined change control plan guidance (December 2024) is the comparable idea abroad: pre-specified modifications with a validation protocol, not a blank cheque.
FoGO: the app reads the 100 Hz ankle stream, runs the model, confirms a freeze in two of three windows (debounce) and fires the chest cue; the developer proposes Class B for the system. A threshold change trades sensitivity for specificity, so version 2 needs its own evidence.
INDIA ADAPTATION
Portals and licensing authorities for software follow the device rules: a Class B SaMD would be licensed by the State with a notified-body audit, a Class A by registration.
CAUTION
The cell-by-cell mapping of the grid to Classes A–D is not in the facts files; the grid shows the criteria and an illustrative placement of the FoGO app, not CDSCO's table. The standards the guidance cites (IEC 62304, IEC 81001-5-1 and others) were not confirmed. The draft guidance of 21 October 2025 is listed in refs.js but its content was not verified.
TRANSITION
After the licence, the work continues: adverse events, PSURs, recalls.
SOURCES
[1] CDSCO. Guidance Document on Medical Device Software under the Medical Devices Rules, 2017 (CDSCO/MD/GD/MDSW/01/2026); 21 July 2026. https://cdsco.gov.in/opencms/export/sites/CDSCO_WEB/Pdf-documents/Guidance-document-on-Medical-Device-Software-under-MDR-2017.pdf
[2] CDSCO. Draft Guidance Document on Medical Device Software; 21 October 2025. https://cdsco.gov.in/opencms/resources/UploadCDSCOWeb/2018/UploadPublic_NoticesFiles/Draft%20guidance%20document%20on%20Medical%20Device%20Software%2021%2010%202025.pdf
[3] Pure Global. India CDSCO Medical Device Software Guidance 2026: classification by medical purpose, significance of the information and severity of the condition; lifecycle, cybersecurity and AI change-planning expectations (secondary summary of CDSCO/MD/GD/MDSW/01/2026). https://www.pureglobal.com/news/india-cdsco-medical-device-software-guidance-2026
[4] Freyr Solutions. SaMD regulation in India: CDSCO classification (Class A–D) and registration requirements (consultancy reading; examples by class). https://www.freyrsolutions.com/blog/samd-regulation-in-india-cdsco-classification-class-a-d-registration-requirements-emerging-market-strategy
[5] US FDA. Marketing Submission Recommendations for a Predetermined Change Control Plan for Artificial Intelligence-Enabled Device Software Functions. Final guidance, December 2024 (revised version reported August 2025). https://www.fda.gov/regulatory-information/search-fda-guidance-documents/marketing-submission-recommendations-predetermined-change-control-plan-artificial-intelligence
[6] ISO 14971:2019. Medical devices — Application of risk management to medical devices. https://www.iso.org/standard/72704.html
[7] Ministry of Electronics and Information Technology. Digital Personal Data Protection Rules, 2025 (notified November 2025; phased commencement). https://static.pib.gov.in/WriteReadData/specificdocs/documents/2025/nov/doc20251117695301.pdf
[8]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[9] Simon DA, Shachar C, Cohen IG. Unsettled liability issues for 'prediagnostic' wearables and health-related products. JAMA. 2022;328:1391. https://hls.harvard.edu/bibliography/unsettled-liability-issues-for-prediagnostic-wearables-and-health-related-products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Post-market duties and materiovigilance
TIME 1:15 min · full run clock 43:15–44:30 · 40-min core clock 33:45–35:00
CORE SCRIPT (say this; about 120 words)
Suppose Ramesh falls after a missed cue. Follow the loop: care for him; record the device, serial number and software version; report, to MvPI on the adverse-event form and, as a licence holder, to CDSCO within 15 days; investigate the root cause; correct, with a fix or a recall notified on the FSCA form; follow up the person and the fix, and summarise in periodic safety update reports, six-monthly for two years and then yearly for two. MvPI was launched on 6 July 2015 at the Indian Pharmacopoeia Commission; 174 monitoring centres file almost all reports, 35,391 of them between 2018 and 2024. In the DePuy hip case, about 4,700 Indians had the implant and only 882 could be traced.
DETAIL BELOW: use if time allows or if asked
PURPOSE
Make post-market responsibility concrete, with Indian windows and Indian numbers.
SAY
The loop. Care first. Record: device identity, serial, software version, context, outcome. Report: the Medical Device Adverse Event form, version 1.2, is open to manufacturers, importers, distributors, clinicians and patients; helpline 1800-180-3024; mvpi-ipc@gov.in. Licence holders must report serious adverse events within 15 days, and Rule 38 requires any regulatory action abroad to reach CDSCO within 15 calendar days; CDSCO's circular of 15 May 2024 made clear that every licence holder reports suspected unexpected serious adverse events to MvPI. In a study, the sponsor and ethics committee are told too. Investigate: root cause, trend across units, update the ISO 14971 risk file. Correct: corrective and preventive action, a label or software fix, or a recall notified to MvPI on the Field Safety Corrective Action form; MDR-2017 has no detailed stand-alone recall procedure, which commentators call a gap. Follow up: the person, the fix, and the PSUR cadence, every six months for the first two years after approval and annually for the next two.
MvPI numbers: launched 6 July 2015 at IPC Ghaziabad, the National Coordination Centre, with NHSRC technical support; 174 Medical Device Adverse Event Monitoring Centres in hospitals and colleges (about 2022, still growing); reports rose from 40 in 2015 to 897 in 2019; 1,931 reports between July 2015 and October 2019, 1,277 serious; a 2026 analysis counts 35,391 device-related reports between 2018 and 2024. Monitoring centres file 96.91% of reports; manufacturers and patients barely report. Reforms: DCGI revisions of 4 November 2024; an expert committee under MvPI in March 2025; the NMC's July 2025 direction that every medical college form a committee to track device adverse events.
The Indian case: CDSCO's December 2013 alert on the DePuy ASR hip after about 4,700 surgeries in India; only about 882 patients were traceable; the import licence was cancelled; the compensation formula of Rs 30 lakh to Rs 1.23 crore came in November 2018.
ASK / RUN
Who in your team owns each of the six steps? Name a person, not a role.
CAUTION
The PSUR cadence comes from one consultancy source and the rule carrying it was not identified (believed to be a condition of Rule 63 permissions); the 15-day SAE window likewise rests on licence conditions. Report counts come from studies with different periods; say 'tens of thousands'. The 174-centre figure is from about 2022. Avoid a blanket instruction to stop a needed device; safety decisions need clinical assessment.
TRANSITION
Put it all together for one real device: FoGO on the Indian path.
SOURCES
[1] Indian Pharmacopoeia Commission. Materiovigilance Programme of India (MvPI): About us. Launched 6 July 2015; helpline 1800-180-3024; mvpi-ipc@gov.in. https://ipc.gov.in/mandates/materiovigilance-programme-of-india-mvpi/about-us.html
[2] Indian Pharmacopoeia Commission. Medical Device Adverse Event Reporting Form, version 1.2 (open to manufacturers, importers, distributors, healthcare professionals and patients). https://nhsrcindia.org/sites/default/files/Medical-Devices-Adverse-Event-Reporting-Form-(Version-1.2).pdf
[3] Indian Pharmacopoeia Commission. Launch of the Materiovigilance Programme of India (MvPI) at IPC Ghaziabad, 6 July 2015. https://ipc.gov.in/mandates/materiovigilance-programme-of-india-mvpi/8-category-en/432-launch-of-materiovigilance-programme-of-india-mvpi.html
[4] Navigator Global. India educational series: medical device registration and post-market compliance (PSUR every 6 months for 2 years, then annually for 2 years). Single consultancy source. https://navigator.global/gb/library/india-educational-series-medical-device-registration-and-post-market-compliance
[5] Business Standard. Medical device bodies welcome CDSCO order on self-reporting adverse effects; 21 May 2024 (CDSCO circular of 15 May 2024: all medical-device licence holders must report every suspected unexpected serious adverse event to the Materiovigilance Programme of India). https://www.business-standard.com/health/medical-device-bodies-welcome-cdsco-order-on-self-reporting-adverse-effects-124052101276_1.html
[6] Implementation of adverse event reporting for medical devices, India. Bulletin of the World Health Organization (PMC7047028): 1,931 reports July 2015–October 2019, 1,277 serious. https://www.ncbi.nlm.nih.gov/pmc/articles/PMC7047028/
[7] Materiovigilance Programme of India: current status and way forward. Indian Journal of Pharmacology; 2022 (174 Medical Device Adverse Event Monitoring Centres in hospitals and medical colleges; voluntary reporting; 40 reports in 2015 rising to 897 in 2019). https://www.ovid.com/jnls/iphr/fulltext/10.4103/ijp.ijp_837_21~materiovigilance-programme-of-india-current-status-and-way
[8] The Silent Signals of Device Defects: a retrospective study of adverse events in common medical devices in India. Springer; 2026 (35,391 device-related reports, 2018–2024). https://link.springer.com/article/10.1007/s44174-026-00666-5
[9] Study of adverse events associated with the use of medical devices reported under MvPI in a tertiary care teaching hospital (PMC12883217): monitoring centres generate 96.91% of reports. https://pmc.ncbi.nlm.nih.gov/articles/PMC12883217/
[10] Pacific Bridge Medical. India's medical device regulations: a 2025 update (MvPI revisions of 4 November 2024; expert committee, March 2025; NMC directive to medical colleges, 15 July 2025). https://www.pacificbridgemedical.com/publication/india-medical-device-regulations-2025-update/
[11] Mondaq. Reassessing India's Medical Device Recall Framework: Regulatory Gaps and the Case for Reform; 2025 (CDSCO medical device alert on the DePuy ASR hip implant, December 2013, after about 4,700 surgeries in India; import licence cancelled under the Drugs and Cosmetics Act 1940; MDR-2017 has no stand-alone recall procedure). https://www.mondaq.com/reassessing-india's-medical-device-recall-framework-regulatory-gaps-and-the-case-for-reform/1751304
[12] Press Information Bureau. Health Ministry approves compensation formula for hip implant cases (Central Expert Committee; base amount Rs 20 lakh adjusted for disability and age); 29 November 2018. https://www.pib.gov.in/Pressreleaseshare.aspx?PRID=1554266
[13] CDSCO. Draft Guidance on Post Market Surveillance of Medical Devices; 2018. https://cdsco.gov.in/opencms/resources/UploadCDSCOWeb/2018/UploadPublic_NoticesFiles/2Draft%20Guidance%20on%20PMS.pdf
[14] ISO 14971:2019. Medical devices — Application of risk management to medical devices. https://www.iso.org/standard/72704.html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FoGO on the Indian path
TIME 1:30 min · full run clock 44:30–46:00 · 40-min core clock 35:00–36:30
CORE SCRIPT (say this; about 106 words)
Here is where a real Class B (proposed) wearable stands on 7 October 2026. Done: three prototype iterations between January 2024 and June 2025; EMC pre-compliance testing to IEC 60601-1-2 in July 2026; a CDSCO test licence, Form MD-13, for 25 units on 10 August 2026. Next: ethics approval, the MD-22 application and MD-23 permission, CTRI registration, then the proof-of-concept study with AIIMS Bhubaneswar, proposed as an 18-month BIRAC BIG project that is still under review. After the study: the quality system and an MD-3 application to the State for an MD-5 licence. Everything to the right of 'today' is planned, and the durations are estimates.
DETAIL BELOW: use if time allows or if asked
PURPOSE
Anchor the whole part in one real project so the forms become a sequence with dates.
SAY
Left of the marker, demonstrated. The alpha prototype went through three iterations; its detection model reports subject-wise F1 of 0.83–0.85 on public datasets. In July 2026 the ankle module was tested for electromagnetic compatibility to IEC 60601-1-2; pre-compliance means an engineering check, not a certificate. On 10 August 2026 CDSCO granted a test licence in Form MD-13 for 25 units, for evaluation with AIIMS Bhubaneswar and AMTZ. MD-13 lets you make units for clinical investigation, test, evaluation, demonstration or training; it costs Rs 500 per device, is valid for three years, and the units cannot be sold.
Right of the marker, planned. Ethics approval from a committee registered with CDSCO, with consent in Odia and Hindi. The MD-22 application with the Seventh Schedule dossier; permission in MD-23; the fee is to be verified and is waived for government institutions under Rule 51(2). CTRI registration before the first participant. The proof-of-concept study, IDEAL stages 1–2a, with AIIMS Bhubaneswar neurology and rehabilitation advisers, proposed as an 18-month BIRAC BIG project; the proposal is under review, so the study is not yet funded, approved or permitted. After the study, if the evidence supports the claim: the Fifth Schedule QMS, an MD-3 application to the State, a notified-body audit, and an MD-5 licence at Rs 5,000 per site plus Rs 500 per device; consultancies quote four to five months.
Costs and durations on the slide are estimates: ISO 13485 certification three to six months and Rs 3–8 lakh; the planned price of Rs 27,000 plus a Rs 3–4,000 annual service plan is a plan, not a market result.
ASK / RUN
Which of the 'next' boxes is the real bottleneck for your own project, and who owns it?
EVIDENCE STATUS
Demonstrated: prototype function, EMC pre-compliance, MD-13 test licence (25 units). Planned: ethics approval, MD-23, CTRI, proof-of-concept, MD-5. Not established: clinical benefit, long-term safety, fair performance across groups.
CAUTION
'2027 (est.)' and 'after study' are the author's estimates, not commitments. Class B is the developer's proposal. The presenter is FoGO's founder (disclosed in Part 0); invite the room to challenge every claim here. Do not describe the EMC test as certification or the MD-13 as permission to treat anyone.
TRANSITION
Now you classify. Four devices, ninety seconds.
SOURCES
[1]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[2] CDSCO. Form MD-12: application for licence to manufacture medical devices for clinical investigation, test, evaluation, examination, demonstration or training (licence in Form MD-13). https://cdsco.gov.in/opencms/export/sites/CDSCO_WEB/Pdf-documents/medical-device/12MD.pdf
[3] CDSCO. Form MD-22: application for permission to conduct clinical investigation (permission in Form MD-23). https://cdsco.gov.in/opencms/export/sites/CDSCO_WEB/Pdf-documents/medical-device/22MD.pdf
[4] Corpbiz. Grant of test licence for manufacture under MDR-2017: Form MD-12 application, Form MD-13 licence, for clinical investigation, test, evaluation, examination, demonstration or training. https://corpbiz.io/learning/grant-of-test-license-for-manufacture-under-mdr-2017/
[5] LegalRaasta. From lab to clinic: the role of MD-22 and MD-23 (test licence MD-13 valid for 3 years from issue). https://www.legalraasta.com/blog/role-md-22-md-23-medical-devices-market/
[6] CDSCO Medical Device online portal. Fee help file (Second Schedule, MDR-2017): manufacturing licence Class A/B Rs 5,000 per site + Rs 500 per device; Class C/D Rs 50,000 + Rs 1,000; test licence Rs 500 per device. https://cdscomdonline.gov.in/NewMedDev/resources/app_srv/NMD/global/helpfiles/nmd_fee.pdf/
[7] Lawrbit. Class A and B medical device manufacturing licence in India: MD-3 → MD-5; licence valid indefinitely subject to the retention fee every 5 years. https://www.lawrbit.com/industry-specific/class-a-b-medical-device-manufacturing-license-india/
[8] Corpseed. CDSCO MD-5 licence for Class A and B medical device manufacturing (fees; 4–5 month consultancy estimate including the notified-body audit). https://www.corpseed.com/knowledge-centre/cdsco-md-5-license-for-class-a-and-b-medical-devices-manufacturing
[9] IncorpX. ISO 13485 certification: about Rs 3–8 lakh and 3–6 months for an Indian device start-up (consultancy estimate). https://www.incorpx.io/iso-13485-certification
[10] McCulloch P, Altman DG, Campbell WB, et al. No surgical innovation without evaluation: the IDEAL recommendations. Lancet. 2009;374:1105–1112 (IDEAL Collaboration; 2019 update adds Pre-IDEAL). https://www.ideal-collaboration.net/the-ideal-framework/
[11] Ministry of Health and Family Welfare. New Drugs and Clinical Trials Rules, 2019 (ethics committee registration: Rules 7–8 with CDSCO; Rules 16–17 with DHR). https://cdsco.gov.in/opencms/resources/UploadCDSCOWeb/2022/new_DC_rules/NEW%20DRUGS%20ANDctrS%20RULE,%202019.pdf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Classify these four devices
TIME 2:00 min · full run clock 46:00–48:00 · 40-min core clock 36:30–38:30
ACTIVITY Tables assign class and licence; reveal
CORE SCRIPT (say this; about 60 words)
Four devices, ninety seconds per table: the class, the authority, the form. A digital thermometer. A pulsed electromagnetic field device for the knee. A wearable with an app that cues. A coronary stent. Use the three questions: does it enter the body and for how long; is it active; what does the label claim. One of these is a trap.
DETAIL BELOW: use if time allows or if asked
PURPOSE
Apply the rules; surface the common errors (Class A still needs a licence if it measures; software drives class; implants in the central circulation are Class D).
SAY
Read the four cards; do not hint. Give tables 90 seconds, then ask each table for one device.
ASK / RUN
Reveal in this order. 1. Digital thermometer: likely Class A (CDSCO's classification of the devices notified in December 2018 reportedly put the digital thermometer in Class A; one consultancy lists it as Class B, so verify in the merged list of 15 October 2025). The trap: it measures, so it is not a non-sterile, non-measuring Class A device and cannot use registration only; it needs a State licence, MD-3 to MD-5, with a notified-body audit, either way. It has been regulated as a 'drug' since 1 January 2021 and NPPA capped its trade margin in July 2021. 2. PEMF knee device: likely Class A per the CDSCO rehabilitation list entry 'deep-tissue electromagnetic stimulation system'; the First Schedule rule for active therapeutic devices delivering energy would suggest Class B. If Class A and non-sterile, non-measuring: online registration only; if Class B: State MD-5 with audit. Class to be confirmed; the presenter should state SwaKnee's actual position. 3. Wearable plus app that cues: an active device with software that drives an action; FoGO proposes Class B, consistent with the consultancy reading that software giving real-time parameters without diagnosis is Class B; the software takes the device's class (verify). State licence MD-3 to MD-5; the MDSW guidance applies to the app; today it holds only an MD-13 test licence. 4. Coronary stent: Class D, a long-term implant in contact with the central circulatory system; Central Licensing Authority, MD-7 to MD-9, Rs 50,000 per site plus Rs 1,000 per device; licensed since 2018 as a pre-2020 notified device; and NPPA's ceiling price for a drug-eluting stent is Rs 39,186.03 from 1 April 2026.
DEBRIEF POINTS
Two lessons. The class decides the authority, but the exemptions have their own tests: 'non-sterile, non-measuring' is a separate question from 'Class A'. And software moves class: the same sensor sold as a step counter and as a freezing-of-gait detector are different devices.
CAUTION
Say 'likely' for the thermometer and the PEMF device: sources conflict and the facts files flag both for verification in the CDSCO merged list. The stent's Class D rests on consistent consultancy sources and the First Schedule rule, not on the gazette list text.
TRANSITION
Finally, the ecosystem that pays for and tests all this.
SOURCES
[1] Ministry of Health and Family Welfare. Medical Devices Rules, 2017 (as amended), consolidated text, CDSCO. https://cdsco.gov.in/opencms/resources/UploadCDSCOWeb/2022/m_device/mdr,%202017%20(1).pdf
[2] Operon Strategist. Examples of medical device classifications (digital and clinical thermometers cited as Class A). https://operonstrategist.com/examples-of-medical-device-classifications/
[3] RegisterKaro. CDSCO guidelines for medical devices: examples by class (lists digital thermometer under Class B). https://www.registerkaro.in/post/cdsco-guidelines-for-medical-devices
[4] Goa FDA notifications page: S.O. 5980(E) notifying nebulisers, blood-pressure monitors, digital thermometers and glucometers as drugs, effective 1 January 2021 (number and date to verify). https://dfda.goa.gov.in/category/notifications/page/3/
[5] Press Information Bureau. Government caps trade margin up to 70% on price-to-distributor for pulse oximeters, BP monitors, nebulisers, digital thermometers and glucometers; 13 July 2021 (91% of 684 brands cut MRP, by up to 88%). https://www.pib.gov.in/PressReleasePage.aspx?PRID=1735430
[6] TeamLease RegTech. Medical Devices (Sixth Amendment) Rules, 2022, G.S.R. 777(E), 14 October 2022: Class A non-sterile, non-measuring devices registered online with an undertaking and a self-certified Essential Principles checklist; no manufacturing licence. https://www.teamleaseregtech.com/updates/article/19622/medical-devices-sixth-amendment-rules-2022
[7] Morulaa. Rehabilitation equipment categorisation parameters, quoting CDSCO's rehabilitation classification list: 'deep-tissue electromagnetic stimulation system' (applies an electromagnetic field to treat musculoskeletal disorders or pain, no deep heat) listed as Class A; 'arthritis TENS system' Class B. Consultancy transcription; verify in the official CDSCO PDF. https://morulaa.com/knowledge-hub/regulations/india/cdsco-medical-device-classification-rehabilitation
[8] Freyr Solutions. SaMD regulation in India: CDSCO classification (Class A–D) and registration requirements (consultancy reading; examples by class). https://www.freyrsolutions.com/blog/samd-regulation-in-india-cdsco-classification-class-a-d-registration-requirements-emerging-market-strategy
[9]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[10] CDSCO. Guidance Document on Medical Device Software under the Medical Devices Rules, 2017 (CDSCO/MD/GD/MDSW/01/2026); 21 July 2026. https://cdsco.gov.in/opencms/export/sites/CDSCO_WEB/Pdf-documents/Guidance-document-on-Medical-Device-Software-under-MDR-2017.pdf
[11] Agile Regulatory. CDSCO classification of medical devices: 2026 update (Class B examples; coronary stent as Class D). https://www.agileregulatory.com/blogs/cdsco-classification-of-medical-devices-2026-update
[12] Corpseed. An overview of classification of medical devices by CDSCO (examples by class; licensing authority by class). https://corpseed.com/knowledge-centre/classification-of-medical-devices-by-cdsco-in-india
[13] Medical Dialogues. NPPA revises coronary stent prices: drug-eluting stents Rs 39,186.03 and bare-metal stents Rs 10,762.15 per unit (exclusive of GST) from 1 April 2026; March 2026. https://medicaldialogues.in/news/industry/medical-devices/nppa-revises-coronary-stent-prices-des-at-rs-39186-and-bms-at-rs-10762-from-april-2026-168192
[14] CDSCO. Merged specialty-wise risk classification list of medical devices, 15 October 2025: the canonical lookup for any example. https://www.cdsco.gov.in/opencms/resources/UploadCDSCOWeb/2018/UploadPublic_NoticesFiles/MDmergeclassification15oct25.pdf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Where India builds devices
TIME 1:15 min · full run clock 48:00–49:15 · deep-dive slide: skip in the 40-minute version
CORE SCRIPT (say this; about 116 words)
India imports about 70% of its devices, US$8.18 billion in FY2023-24, and exports about US$4.1 billion. Policy is trying to change that. The National Medical Devices Policy of April 2023 set a US$50 billion target for 2030. The PLI scheme, Rs 3,420 crore, had 27 projects and 54 products in production by March 2025. Four medical device parks share Rs 400 crore. PRIP puts Rs 5,000 crore into research; a Rs 500 crore scheme from November 2024 funds clusters, skills and clinical studies. AMTZ in Visakhapatnam tests EMC and electrical safety under one roof; BIRAC's Ignition Grant gives up to Rs 50 lakh; MedTech Mitra hand-holds innovators; and FoGO is incubated at KIIT TBI in Bhubaneswar.
DETAIL BELOW: use if time allows or if asked
PURPOSE
Close the part with where to find money, testing and help, on a map the audience lives in.
SAY
The map. Four medical device parks under the 2021 scheme (Rs 400 crore, up to Rs 100 crore per park, 70% of common-infrastructure cost, 90% in hill and north-eastern states): Himachal Pradesh, Tamil Nadu, Madhya Pradesh and Uttar Pradesh. Andhra Pradesh MedTech Zone in Visakhapatnam: NABL-accredited EMC and biomaterial labs run by TUV Rheinland, electrical-safety testing, 3D printing, lasers, gamma irradiation, the Kalam Institute of Health Technology and the Medi Valley incubator. Odisha: KIIT's technology business incubator, where FoGO sits.
The schemes. NMDP 2023 (Cabinet, 26 April 2023): the sector at about US$11 billion, target US$50 billion by 2030, six strategies, from regulatory streamlining to an export promotion council. PLI for medical devices: Rs 3,420 crore, FY2020-21 to FY2027-28, 5% on incremental sales for five years in four segments (cancer care and radiotherapy; radiology, imaging and nuclear imaging; anaesthetics and cardio-respiratory; implants); by March 2025, 27 projects, 14 of them MSMEs, Rs 1,153 crore invested, 21 greenfield plants, 54 products from linear accelerators to C-arms, eligible sales Rs 10,413 crore including Rs 5,002 crore exports. PRIP: Rs 5,000 crore for industry-academia R&amp;D. The Scheme for Strengthening the Medical Device Industry (November 2024, Rs 500 crore): common facilities for clusters Rs 110 crore, marginal investment to cut import dependence Rs 180 crore, skills Rs 100 crore, clinical-studies support Rs 100 crore, promotion Rs 10 crore. The Export Promotion Council for Medical Devices, 22 September 2022, at YEIDA, Greater Noida. BIRAC BIG: up to Rs 50 lakh for 18 months, calls twice a year. MedTech Mitra: ICMR with CDSCO, under NITI Aayog guidance, for clinical evaluation and regulatory facilitation.
The numbers: about 70% imported (Standing Committee, March 2024), over US$25 billion in five years to FY2024-25; exports US$4.1 billion in FY2024-25 to 187 countries, up from US$2.5 billion; India holds about 1.5% of the world market and the government talks of 10–12% in 25 years.
ASK / RUN
Which of these has your project applied to, and which test at AMTZ would you book first?
CAUTION
Park town names (Nalagarh, Oragadam, Ujjain, YEIDA) are from memory and consultancy text, so the map labels use states only. PLI and park figures come from press reports of PIB backgrounders that could not be opened; confirm before printing. Market-size estimates vary widely by source and scope; cite the source and year. The 4,108 licensed manufacturers figure is from a single blog and is not on the slide. KIIT TBI's role comes from the presenter's own disclosure.
TRANSITION
That is India. In the next part we compare: what do the FDA, the EU and other regulators ask, and what does it mean for an Indian team?
SOURCES
[1] Cabinet approves the Policy for the Medical Devices Sector (National Medical Devices Policy 2023): about US$11 billion sector, US$50 billion target by 2030, six strategies; 26 April 2023 (reproduced at narendramodi.in). https://narendramodi.in/cabinet-approves-the-policy-for-the-medical-devices-sector-569642
[2] Invest India. PLI Scheme for Medical Devices: unleashing the potential (Rs 3,420 crore; FY2020-21 to FY2027-28; 5% incentive; four target segments). https://investindia.gov.in/blogs/pli-scheme-medical-devices-unleashing-potential-make-india-make-world
[3] Indian Pharma Post. India's medical devices PLI scheme attracts Rs 1,153 crore investment, 27 projects approved, 54 products in production; 2025. https://www.indianpharmapost.com/policy/indias-medical-devices-pli-scheme-attracts-rs-1153-crore-investment-27-projects-approved-21113
[4] Business Standard. Centre notifies scheme for promotion of medical device parks (Rs 400 crore; up to Rs 100 crore per park; Himachal Pradesh, Tamil Nadu, Madhya Pradesh, Uttar Pradesh); 24 September 2021. https://www.business-standard.com/article/economy-policy/centre-notifies-scheme-for-promotion-of-medical-device-parks-121092401048_1.html
[5] Vikaspedia. Scheme for Strengthening the Medical Device Industry; Promotion of Research and Innovation in Pharma MedTech (PRIP), Rs 5,000 crore; 2024. https://en.vikaspedia.in/viewcontent/health/nrhm/scheme-for-strengthening-the-medical-device-industry?lgn=en
[6] BioSpectrum India. Government launches the Scheme for Strengthening the Medical Device Industry (Rs 500 crore; five sub-schemes including clinical-studies support of Rs 100 crore); November 2024. https://biospectrumindia.com/news/22/25334/govt-launches-scheme-for-strengthening-medical-device-industry.html
[7] Seair Exim. Central Government launched the Export Promotion Council for Medical Devices, 22 September 2022, headquartered at YEIDA, Greater Noida. https://seair.co.in/exim-news/central-government-launched-export-promotion-council-for-medical-devices.aspx
[8] Andhra Pradesh MedTech Zone (AMTZ), Visakhapatnam: common labs for EMC and electrical-safety testing, biomaterials, 3D printing, lasers, gamma irradiation; hosts KIHT and the Medi Valley incubator (Wikipedia; TUV Rheinland NABL labs reported by BioSpectrum). https://en.wikipedia.org/wiki/Andhra_Pradesh_Medtech_Zone
[9] India Science, Technology and Innovation portal. Biotechnology Ignition Grant (BIG): up to Rs 50 lakh for 18 months for individual innovators and start-ups. https://www.indiascienceandtechnology.gov.in/programme-schemes/biotechnology-ignition-grant-scheme-big-0
[10] ICMR. About MedTech Mitra: hand-holding for innovators on clinical evaluation, regulatory facilitation and uptake, run with CDSCO under NITI Aayog guidance. https://medtechmitra.icmr.org.in/about
[11] ETV Bharat. Parliamentary panel raps Ministry of Chemicals and Fertilizers for import of high-end medical devices (about 70% of requirement imported); 11 March 2024. https://www.etvbharat.com/en/!bharat/parliamentary-panel-raps-ministry-of-chemical-and-fertilizer-for-import-of-high-end-medical-devices-enn24031105786
[12] Medical Buyer. Amid domestic push, India imported medical devices worth $8.18B in FY24; 2024. https://medicalbuyer.co.in/amid-domestic-push-india-imported-medical-devices-worth-8-18b-in-fy24/
[13] BioVoice News. India's medical devices industry likely to triple to US$50 billion by 2030: Rubix Industry Insights (exports about US$4.1 billion in FY2024-25, 187 countries); February 2026. https://biovoicenews.com/indias-medical-devices-industry-likely-to-triple-to-50-billion-by-2030-rubix-industry-insights/
[14] News on AIR. Union Minister Dr Jitendra Singh says the government hopes to increase India's share of the global medical devices market from about 1.5% to 10–12% over the next 25 years; 2024. https://newsonair.gov.in/union-minister-dr-jitendra-singh-says-govt-hopes-to-increase-indias-market-share-to-10-12-over-next-25-years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Same questions, different answers
TIME 0:15 min · full run clock 49:15–49:30 · deep-dive slide: skip in the 40-minute version
CORE SCRIPT (say this; about 91 words)
Every regulator asks the same four questions: what is the device for, how risky is it, what evidence supports it, and who keeps watching once it is sold? India answered them in the Medical Devices Rules 2017. In the next seven slides we see how the United States, the European Union, the UK, Japan, Australia, China and Canada answer the same questions, and what travels between systems. The practical point for an Indian team: one well-built dossier, written to international standards, is the raw material for every one of these markets.
DETAIL BELOW: use if time allows or if asked
PURPOSE
Frame the deep-dive on foreign regulation as a comparison with India, not a tour. Keep the audience's attention on reuse: what an Indian team can build once and present many times.
SAY
We stay with Ramesh and Kamala. FoGO is a Class B wearable in India; SwaKnee is a home-use therapy device. If either is to be sold abroad, the team meets a new regulator, a new form and a new fee, but the questions do not change. The three items on this slide are the route through the section: who regulates where and how the regulators talk to each other; how the risk classes line up; and which standards and reliance routes let a dossier travel.
CAUTION
This section is a comparator. Indian law and CDSCO guidance govern practice in India; nothing here is legal advice for a foreign filing.
TRANSITION
Start with the map: nine regulators and the forum that connects them.
SOURCES
[1] Ministry of Health and Family Welfare. Medical Devices Rules, 2017 (as amended), consolidated text, CDSCO. https://cdsco.gov.in/opencms/resources/UploadCDSCOWeb/2022/m_device/mdr,%202017%20(1).pdf
[2] Swissmedic. Swissmedic joins the Management Committee of the International Medical Device Regulators Forum (27th MC meeting, Tokyo, 10 to 14 March 2025); IMDRF founded 2011 as successor to the GHTF; WHO observer. https://www.swissmedic.ch/swissmedic/en/home/news/mitteilungen/smc-mitglied-management-committee-imdrf.html
[3] Ministry of Health and Family Welfare. Press release: CDSCO becomes Affiliate Member of the International Medical Device Regulators Forum (approved after the 26th session, Seattle, September 2024); 3 October 2024. https://mohfw.gov.in/press-info/7775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Where the rules come from
TIME 1:00 min · full run clock 49:30–50:30 · 40-min core clock 38:30–39:30
CORE SCRIPT (say this; about 101 words)
Ten authorities, three colours. Marigold is India: CDSCO, an Affiliate Member of the International Medical Device Regulators Forum since September 2024. Teal is the European Union, where 27 member states share one regulation and about 48 notified bodies issue CE certificates. Indigo marks the regulators on the IMDRF Management Committee: FDA, MHRA, PMDA, NMPA, TGA, Health Canada, ANVISA, HSA. Three mechanisms link them: IMDRF writes the common guidance; MDSAP lets one audit satisfy five regulators; and WHO publishes the model framework and the list of authorities others may rely on. India plugs into this system through IMDRF, not yet through MDSAP.
DETAIL BELOW: use if time allows or if asked
PURPOSE
Give the audience a mental map before the detail: who regulates, and the three bodies that make reliance possible.
SAY
IMDRF was founded in 2011 as the successor to the Global Harmonization Task Force; its Management Committee has 12 members after Swissmedic joined at the Tokyo meeting in March 2025, and WHO is an official observer. India's CDSCO became an Affiliate Member after the 26th session in Seattle in September 2024; the Ministry announced it on 3 October 2024. Affiliate status gives access to working groups and guidance, not a vote.
MDSAP, the Medical Device Single Audit Program, lets one audit by an authorised auditing organisation satisfy the quality-system requirements of Australia, Brazil, Canada, Japan and the United States; the EU, Singapore, the UK and WHO Prequalification observe. The audit is built on ISO 13485. Canada requires an MDSAP certificate for every Class II to IV licence.
WHO's Global Model Regulatory Framework (2017) tells a country with little device regulation where to start: law, authority, A to D classification, establishment registration, vigilance and reliance first; inspection, conformity assessment and clinical-investigation oversight later. WHO-Listed Authorities are the regulators whose decisions others may rely on: 39 agencies after the 7 August 2025 designations of Health Canada, Japan and the UK MHRA, and a first device-specific transitional list on 23 July 2026.
INDIA ADAPTATION
India adopted the A to D classes and the vigilance programme that the WHO framework calls basic-level controls, and now sits inside IMDRF. The open question for an Indian exporter is whether CDSCO will join MDSAP or appear on WHO's device list; neither had happened as of October 2026.
CAUTION
Marker positions are country centroids, not agency headquarters. The notified-body count (about 48) is a 2026 estimate; the authoritative list is the Commission's NANDO database. Which regulators appear on WHO's July 2026 device list was not retrieved; do not say India is on it.
TRANSITION
Every one of these regulators sorts devices by risk. The names differ; the logic does not.
SOURCES
[1] Swissmedic. Swissmedic joins the Management Committee of the International Medical Device Regulators Forum (27th MC meeting, Tokyo, 10 to 14 March 2025); IMDRF founded 2011 as successor to the GHTF; WHO observer. https://www.swissmedic.ch/swissmedic/en/home/news/mitteilungen/smc-mitglied-management-committee-imdrf.html
[2] Ministry of Health and Family Welfare. Press release: CDSCO becomes Affiliate Member of the International Medical Device Regulators Forum (approved after the 26th session, Seattle, September 2024); 3 October 2024. https://mohfw.gov.in/press-info/7775
[3] TÜV SÜD. Medical Device Single Audit Program (MDSAP): one audit for TGA, ANVISA, Health Canada, MHLW/PMDA and US FDA; observers EU, Singapore HSA, UK MHRA, WHO Prequalification; built on ISO 13485. https://www.tuvsud.com/en-us/industries/healthcare-and-medical-devices/medical-devices-and-ivd/medical-device-market-approval-and-certification/medical-device-single-audit-program-mdsap
[4] World Health Organization. WHO Global Model Regulatory Framework for Medical Devices including in vitro diagnostic medical devices; 2017 (basic-level and expanded-level controls). https://www.who.int/publications/i/item/9789241512350
[5] World Health Organization. WHO designates new WHO-Listed Authorities (Health Canada, Japan MHLW/PMDA, UK MHRA; 39 agencies listed); 7 August 2025. Transitional WLA list for medical devices published 23 July 2026. https://www.who.int/news/item/07-08-2025-who-designates-new-who-listed-authorities--strengthening-global-access-to-quality-assured-medical-products
[6] Meddeviceguide. EU MDR notified-body certificate expiry cliff: NANDO analysis 2026 (about 48 MDR-designated notified bodies; 45 to 50 range). https://meddeviceguide.com/blog/eu-mdr-notified-body-certificate-expiry-cliff-eudamed-nando-analysis-2026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Risk classes across six systems
TIME 1:15 min · full run clock 50:30–51:45 · 40-min core clock 39:30–40:45
CORE SCRIPT (say this; about 124 words)
Read the table across. A pacemaker is Class D in India, III in the EU, IV in Japan and Canada, III in the United States. A syringe is B, IIa, II, II, II. The four-tier systems map almost one-to-one because they all descend from the GHTF classification principles of 2012, which India adopted in the First Schedule of the 2017 Rules. The United States is the exception: three classes assigned by product code, so Class II swallows most of B and C. That is why an infusion pump is India C, EU IIb, and US Class II with a 510(k). The rule for an Indian team: classify separately in every market, because the wording of the rules differs even when the tiers look alike.
DETAIL BELOW: use if time allows or if asked
PURPOSE
Show that the Indian A to D scheme is the international scheme, and that the US system is the one that needs separate thinking.
SAY
GHTF/SG1/N77:2012 set out risk-based rules that place devices in four classes, A to D; IMDRF now maintains it. India's Rule 4 and First Schedule use the same four classes with the same risk wording: low, low-moderate, moderate-high, high. The EU's Annex VIII has 22 rules producing I, IIa, IIb and III, with Class I sub-types for sterile, measuring and reusable surgical devices; the UK and Australia follow the EU structure. Japan's PMD Act classes I to IV and Canada's I to IV are GHTF-based too.
The examples in the table come from the GHTF document and the national lists: exam gloves A/I; syringe B/IIa/II; infusion pump C/IIb/III; pacemaker D/III/IV. In the United States the FDA assigns a product code and a class: I, II or III. Class II devices usually go through a 510(k) showing substantial equivalence to a predicate; Class III needs a PMA. Because Class II spans two GHTF tiers, the same orthopaedic implant can be EU III and US Class II.
The bottom row names who decides: in India the State Licensing Authority for A and B, the Central Licensing Authority for C and D; in the EU the manufacturer for Class I, a notified body above that; in Japan notification, Registered Certification Body or MHLW approval; in Canada an establishment licence for Class I and a device licence for II to IV; in the US the three doors we look at next.
ASK / RUN
Quick poll, no slides needed: FoGO is Class B in India. Which class would you expect in the EU, in Japan and in the United States? (EU IIa, Japan II, US Class II are the likely answers; the only way to be sure is to apply each rule set.)
DEBRIEF POINTS
The point of the exercise is the caveat, not the answer: classification is a legal act in each jurisdiction, and a wrong class means the wrong route, the wrong fee and the wrong evidence.
INDIA ADAPTATION
CDSCO publishes device-wise classification lists (the 2018 'Final Classification' and the September 2020 category lists), so an Indian team usually looks the class up rather than deriving it. Abroad, the team must apply the rules.
CAUTION
No single official table maps all jurisdictions; this one is assembled from GHTF N77 examples, CDSCO lists and the Japan and Canada guidance. Country-specific rule wording can move a device by one tier. The 'Who decides' row is a simplification: Japan Class II and III devices without a certification standard go to MHLW approval.
TRANSITION
Three classes, three doors: the United States first, because its fees and counts are public.
SOURCES
[1] Global Harmonization Task Force (now IMDRF). GHTF/SG1/N77:2012 Principles of Medical Devices Classification (Classes A to D); endorsed 2 November 2012. https://www.imdrf.org/sites/default/files/docs/ghtf/final/sg1/technical-docs/ghtf-sg1-n77-2012-principles-medical-devices-classification-121102.pdf
[2] Central Drugs Standard Control Organisation. Classification of medical devices under the Medical Devices Rules, 2017: Class A low risk, B low-moderate, C moderate-high, D high (First Schedule). https://www.cdsco.gov.in/opencms/export/sites/CDSCO_WEB/Pdf-documents/medical-device/Classificationg1.pdf
[3] Emergo by UL. US FDA and EU risk classification of medical devices: three US classes by product code vs four EU classes by rule; Class II absorbs most of IIa and IIb; 2025. https://www.emergobyul.com/news/us-fda-and-eu-risk-classification-medical-devices
[4] SimplerQMS. EU MDR medical device classification: Classes I (Is, Im, Ir), IIa, IIb, III under the 22 rules of Annex VIII; 2025. https://simplerqms.com/eu-mdr-medical-device-classification/
[5] Pharmaceuticals and Medical Devices Agency (Japan). Regulations and approval/certification of medical devices under the PMD Act: Classes I to IV; notification, Registered Certification Body certification, MHLW approval; Marketing Authorization Holder. https://www.pmda.go.jp/english/review-services/reviews/0004.html
[6] CASRAI. Health Canada medical device licence (MDL) and MDALL guide: Classes I to IV; MDEL for Class I; MDL for Classes II to IV; Regulatory Enrolment Process and CESG from January 2026. https://www.casrai.org/guides/health-canada-medical-device-license-mdl-mdall
[7] Ministry of Health and Family Welfare. Medical Devices Rules, 2017 (as amended), consolidated text, CDSCO. https://cdsco.gov.in/opencms/resources/UploadCDSCOWeb/2022/m_device/mdr,%202017%20(1).pdf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US FDA: three classes, three doors
TIME 1:15 min · full run clock 51:45–53:00 · deep-dive slide: skip in the 40-minute version
CORE SCRIPT (say this; about 138 words)
Three doors. The 510(k) is for Class II devices that are substantially equivalent to a predicate: 3,238 clearances in 2025, a fee of 26,067 dollars, 6,517 for a small business, and a goal of a decision within 90 FDA days. De Novo is for a novel low-to-moderate-risk device with no predicate. PMA is for Class III: clinical data, a fee of 579,272 dollars, and a total-time goal of 285 days. Before any significant-risk study the sponsor needs an IDE under 21 CFR 812; the IRB decides whether the study is significant risk. Since 2 February 2026 the quality system rule is the QMSR, which incorporates ISO 13485:2016, the same standard behind India's Fifth Schedule. For an Indian company the two levers are small-business status, which cuts every fee to a quarter, and one QMS built to ISO 13485.
DETAIL BELOW: use if time allows or if asked
PURPOSE
Give concrete numbers for the most-cited foreign system and show the Indian team which choices matter first.
SAY
Follow the chevrons. Classification is by product code, not by rules; most Class I devices are exempt from premarket review. A clinical study of a significant-risk device needs an Investigational Device Exemption under 21 CFR 812; the sponsor proposes and the IRB decides the risk category, with FDA the final arbiter. Then the door: 510(k), De Novo or PMA. Then the quality system, now the QMSR: the February 2024 final rule amended 21 CFR Part 820 to incorporate ISO 13485:2016 by reference, replacing the 1996 Quality System Regulation, and FDA has inspected under Compliance Program 7382.850 since 2 February 2026. Finally post-market: adverse events into MAUDE, the recall database, and UDI records in GUDID.
The fees are FY2026 MDUFA fees, valid 1 October 2025 to 30 September 2026: 510(k) 26,067 dollars or 6,517 for a small business; De Novo 173,782 or 43,446; PMA 579,272 or 144,818; the 513(g) classification request 7,820 or 3,910; annual establishment registration 11,423 with no discount. Small business means gross receipts of 100 million dollars or less including affiliates.
The counts are CDRH's 2025 calendar-year output as summarised by Emergo: 3,238 510(k) clearances, 27 De Novo grants, 41 original PMAs and 2,210 PMA supplements, about 21,700 submissions of all types. Breakthrough designation, created by the 21st Century Cures Act, has been granted 1,246 times to the end of 2025; 185 of those devices have reached the market.
INDIA ADAPTATION
An Indian Class B wearable like FoGO would most likely be a US Class II device with a 510(k), so the predicate search is the first regulatory task, before the design freeze. The QMS and risk file prepared for CDSCO under the Fifth Schedule and ISO 14971 are the same documents the QMSR expects; the gap is usually design controls documentation and US labelling.
CAUTION
The 27 De Novo figure looks low against prior years (typically 30 to 60); verify in FDA's CDRH 2025 annual report before quoting. The 510(k) 90-day goal counts FDA days; historical total time including sponsor days was 127 to 159 calendar days. The 285-day PMA goal applies to originals received FY2025 to 2027. Do not quote De Novo or non-panel PMA day goals (150 and 180 days) as confirmed; they were not verified.
TRANSITION
Europe asks the same questions but hands the answer to a private notified body.
SOURCES
[1] US FDA. Medical Device User Fee Amendments (MDUFA): user fees for FY2026 (1 October 2025 to 30 September 2026); small-business threshold US$100 million gross receipts. https://www.fda.gov/medical-device-user-fee-amendments-mdufa
[2] US FDA. Quality Management System Regulation: 21 CFR Part 820 incorporating ISO 13485:2016 by reference; final rule February 2024, effective 2 February 2026 (Compliance Program 7382.850). https://www.fda.gov/quality-systems-regulation
[3] Emergo by UL. US FDA issues 2025 annual report on medical device regulatory activities (3,238 510(k) clearances, 27 De Novo grants, 41 original PMAs, 2,210 PMA supplements); 2026. Consultancy summary; verify against the FDA report. https://www.emergobyul.com/news/us-fda-issues-2025-annual-report-medical-device-regulatory-activities
[4] US FDA. Breakthrough Devices Program: 1,246 designations granted to 31 December 2025; 185 devices with marketing authorisation; 136 designations in 2025. https://www.fda.gov/medical-devices/how-study-and-market-your-device/breakthrough-devices-program
[5] US FDA. MDUFA performance report to Congress, 30 September 2025: 510(k) goal 95% within 90 FDA days; original PMA total time to decision goal 285 calendar days (FY2025 to 2027); historical 510(k) total time 127 to 159 calendar days. https://www.fda.gov/media/191127/download
[6] US FDA. Device approvals and clearances: Class I, II and III; 510(k), De Novo, PMA, HDE and IDE pathways. https://www.fda.gov/device-approvals-and-clearances
[7] US FDA. Information Sheet: Significant Risk and Nonsignificant Risk Medical Device Studies (21 CFR 812). https://www.fda.gov/files/about%20fda/published/Significant-Risk-and-Nonsignificant-Risk-Medical-Device-Studies---Information-Sheet.pdf
[8] Registrar Corp. An overview of FDA's updated UDI requirements for Class I medical devices (GUDID; July 2022 guidance); 12 May 2025. https://legacy.registrarcorp.com/an-overview-of-fdas-updated-udi-requirements-for-class-1-medical-devices/
[9] MedTech Dive. Medical device safety and recalls (MAUDE, recalls; about a quarter of Class I recall notices 2018 to 2022 carried UDI); 2025. https://www.medtechdive.com/trendline/medical-device-safety-recalls-fda/502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EU MDR: notified bodies and CE marking
TIME 1:15 min · full run clock 53:00–54:15 · deep-dive slide: skip in the 40-minute version
CORE SCRIPT (say this; about 148 words)
In Europe the regulator rarely sees your file. Regulation 2017/745 sorts devices into Class I, IIa, IIb and III with the 22 rules of Annex VIII. A plain Class I device is self-declared: the manufacturer signs the Declaration of Conformity and affixes the CE mark. Everything above that, and the sterile, measuring and reusable-surgical sub-types of Class I, goes through a notified body, a private certifier designated by a member state; about 48 are designated under the MDR. The queue is the critical path: typical time to certificate is 13 to 18 months, and 58 percent of that time sits with the manufacturer. The transition from the old directives runs to the end of 2027 for Class III and IIb implants and the end of 2028 for the rest, EUDAMED became mandatory on 28 May 2026, and a targeted revision proposed in December 2025 is still being negotiated.
DETAIL BELOW: use if time allows or if asked
PURPOSE
Explain the notified-body model, its clock, and the moving deadlines an Indian exporter must track.
SAY
The ladder on the left reads like India's: four tiers, scrutiny rising with risk. The difference is who does the scrutiny. For Class I the manufacturer self-declares; for Is, Im and Ir a notified body checks only the sterile, measuring or reuse aspect; for IIa, IIb and III the notified body certifies the quality management system and reviews the technical documentation, and the certificate carries the body's four-digit number next to the CE mark. Every device needs a clinical evaluation under Article 61, kept current by post-market clinical follow-up under Annex XIV Part B.
The numbers from Team-NB's 2025 survey: 17,260 MDR and IVDR certificates issued by member bodies by the end of 2025; 25,978 MDR applications against 13,953 MDR certificates; time to certificate 13 to 18 months for most QMS-plus-product assessments, 6 to 12 months for about a third of QMS-only files.
The timeline: the MDR was adopted in 2017 and became fully applicable on 26 May 2021. Regulation 2023/607 extended the transition for legacy devices, provided an MDR application was lodged by 26 May 2024 and a written agreement signed by 26 September 2024, and removed the sell-off date: Class III custom-made implantables to 26 May 2026, other Class III and IIb implantables to 31 December 2027, other IIb, IIa, Is and Im to 31 December 2028. EUDAMED's first four modules, actor registration, UDI and device registration, notified bodies and certificates, and market surveillance, became mandatory on 28 May 2026 under Regulation 2024/1860 and Commission Decision 2025/2371. On 16 December 2025 the Commission proposed a targeted revision: broader clinical evidence including real-world and in-silico data, no mandatory clinical investigation for Class IIa implantables unless safety requires it, predetermined change control plans without notified-body approval of each change, an EMA coordinating role, and 50 percent fee reductions for micro and small enterprises; it is before Parliament and Council.
INDIA ADAPTATION
An Indian manufacturer registers as an actor in EUDAMED to get a Single Registration Number, then books a notified body. The CDSCO dossier's QMS and ISO 14971 risk file are reusable; the technical documentation structure and the clinical evaluation report usually need rework to Annex II and Article 61.
CAUTION
Conformity-assessment annex numbers (IX, X, XI) and the Class III clinical-investigation expectation come from memory of the regulation and were not verified in this research; the slide says 'generally expected'. The 48 notified-body count is an early-2026 estimate (45 to 50). Whether the December 2025 proposal has been adopted or amended as of October 2026 is unknown; check before the talk. No reliable notified-body fee figures exist; do not quote a euro price.
TRANSITION
Five more systems in one view: the ones that increasingly accept each other's decisions.
SOURCES
[1] Regulation (EU) 2017/745 on medical devices, Art. 61 and Annex XIV Part B (post-market clinical follow-up); transition extended to 2027/2028 by Regulation (EU) 2023/607. https://eur-lex.europa.eu/eli/reg/2017/745/2023-03-20
[2] SimplerQMS. EU MDR medical device classification: Classes I (Is, Im, Ir), IIa, IIb, III under the 22 rules of Annex VIII; 2025. https://simplerqms.com/eu-mdr-medical-device-classification/
[3] Meddeviceguide. EU MDR notified-body certificate expiry cliff: NANDO analysis 2026 (about 48 MDR-designated notified bodies; 45 to 50 range). https://meddeviceguide.com/blog/eu-mdr-notified-body-certificate-expiry-cliff-eudamed-nando-analysis-2026
[4] RAPS. Team-NB survey shows slowdown in growth of MDR and IVDR certificates issued in 2025 (17,260 certificates; 25,978 MDR applications vs 13,953 MDR certificates; typical time to certificate 13 to 18 months; 58% of elapsed time with the manufacturer); 2026. https://www.raps.org/resource/team-nb-survey-shows-slowdown-in-growth-of-mdr-and-ivdr-certificates-issued-in-2025.html
[5] BSI. MDR transition timelines extended: Regulation (EU) 2023/607 (Class III custom-made implantables to 26 May 2026; other Class III and IIb implantables to 31 December 2027; other IIb, IIa, Is, Im to 31 December 2028; sell-off date removed); 20 March 2023. https://www.bsigroup.com/it-IT/Dispositivi-Medici/news-centre/enews/2023-news/mdr-transition-timelines-extended/
[6] TÜV NORD. EUDAMED: mandatory use of the first four modules (actor registration/SRN, UDI/device registration, notified bodies and certificates, market surveillance) from 28 May 2026, under Regulation (EU) 2024/1860 and Commission Decision (EU) 2025/2371. https://www.tuev-nord.de/en/knowledge/standards-in-focus/eudamed-mandatory-use-of-first-four-modules-from-may-28-2026/
[7] European Commission. Proposal for a targeted revision of the medical device regulations, COM(2025) 1023 final, 16 December 2025 (under negotiation). https://eur-lex.europa.eu/legal-content/EN/TXT/HTML/?uri=CELEX:52025PC1023
[8] Fieldfisher. Breaking the bottleneck: the Commission's proposal for targeted MDR/IVDR amendments (broader clinical evidence, predetermined change control plans, EMA coordinating role, 50% fee reductions for small enterprises); 16 December 2025. https://www.fieldfisher.com/en/locations/belgium/insights/breaking-the-bottleneck-the-commission-s-proposal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Five more systems in one view
TIME 1:00 min · full run clock 54:15–55:15 · deep-dive slide: skip in the 40-minute version
CORE SCRIPT (say this; about 125 words)
Five cards, one pattern: reliance is spreading. The UK still accepts CE-marked devices, to mid-2028 for old-directive devices and mid-2030 for MDR devices, and is consulting on making that permanent plus a reliance route for FDA, Canadian and Australian approvals. Japan classifies I to IV and requires a Japanese Marketing Authorization Holder. Australia lists devices on the ARTG through a local sponsor and accepts CE, FDA, Canadian, Japanese, MDSAP and Singapore evidence. China is the outlier: local type testing and, often, local clinical evaluation, with all imports registered centrally. Canada requires an MDSAP certificate for every Class II to IV licence. What travels is the QMS, the audit and the first major approval; what stays local is the sponsor, the classification and the vigilance reporting.
DETAIL BELOW: use if time allows or if asked
PURPOSE
Compress five regulators into the one idea that matters for market entry: which decisions and documents are accepted elsewhere.
SAY
United Kingdom: Great Britain runs the UK MDR 2002 with UKCA marking through UK Approved Bodies, but continues to accept CE-marked devices, MDD devices to 30 June 2028 and MDR devices to 30 June 2030, and about 90 percent of devices on the GB market are still CE-marked. The post-market surveillance regulations came into force on 16 June 2025. MHRA has said it will proceed with an international reliance framework for devices approved by the US FDA, Health Canada, Australia's TGA and the EU, and in February 2026 consulted on indefinite CE recognition.
Japan: the PMD Act uses GHTF-based classes I to IV with JMDN codes. Class I is a notification; Class II and III go to a Registered Certification Body where a certification standard exists, otherwise to MHLW approval after PMDA review; Class IV is always MHLW approval. A foreign maker acts through a Marketing Authorization Holder or designated MAH. Japan is an MDSAP member and became a WHO-Listed Authority in August 2025.
Australia: the Therapeutic Goods Act 1989 and the 2002 regulations use the EU-style classes; every device is included in the ARTG by an Australian sponsor; plain Class I self-certifies against the Essential Principles. TGA accepts comparable-overseas-regulator evidence, EU certificates, FDA decisions, Health Canada licences, Japanese approvals, MDSAP certificates since 2018 and Singapore HSA registrations since 2022, but Australian classification, sponsorship and reporting still apply.
China: State Council Order 739 took effect on 1 June 2021 and introduced a Marketing Authorization Holder regime. Class I is a filing, Class II a provincial registration, Class III a central NMPA registration; all imports register centrally. Class II and III need type testing at an NMPA-authorised centre, with a 60-working-day technical review target for Class II, and clinical evaluation unless the device is on the exemption catalogue or shown equivalent.
Canada: the Medical Devices Regulations SOR/98-282 use classes I to IV; Class I needs only an establishment licence, II to IV a Medical Device Licence with rising evidence. A valid MDSAP certificate has been the only accepted QMS route since 2019. Since January 2026 submissions go through the Regulatory Enrolment Process and the Common Electronic Submissions Gateway. Health Canada was designated a WHO-Listed Authority in August 2025.
INDIA ADAPTATION
For an Indian start-up the cheapest second market is often the one that relies on the first: an FDA decision or a CE certificate opens Australia and, under the proposed route, the UK. China requires local testing whatever you hold. Every market needs a local sponsor or holder, which is a contract and a cost to budget early.
CAUTION
The MHRA list of comparable regulators and the outcome of the February to April 2026 consultation were not confirmed; say 'proposed'. The Canadian MDSAP start date of 1 January 2019 and Chinese certificate validity are from memory. Japanese terms and the D-MAH detail are from secondary sources.
TRANSITION
Put India beside the two biggest systems, row by row.
SOURCES
[1] TÜV SÜD. UKCA for medical devices: CE-marked devices accepted in Great Britain to 30 June 2028 (MDD/AIMDD) and 30 June 2030 (MDR/IVDR); about 90% of GB devices still CE-marked; 2025. https://www.tuvsud.com/en-us/industries/healthcare-and-medical-devices/medical-devices-and-ivd/medical-device-market-approval-and-certification/ukca-for-medical-devices
[2] GOV.UK. First major overhaul of medical device regulation comes into force across Great Britain: Medical Devices (Post-market Surveillance Requirements) (Amendment) (Great Britain) Regulations 2024, in force 16 June 2025. https://www.gov.uk/government/news/first-major-overhaul-of-medical-device-regulation-comes-into-force-across-great-britain
[3] Latham &amp; Watkins. UK MHRA launches consultation on indefinite recognition of CE-marked medical devices and an international reliance route; February 2026 (consultation closed 10 April 2026). https://www.lw.com/en/insights/uk-mhra-launches-consultation-on-indefinite-recognition-of-ce-marked-medical-devices
[4] RAPS. MHRA to move forward with medical device reliance on comparable regulators (US FDA, Health Canada, Australia TGA, EU CE); 2025. https://www.raps.org/resource/mhra-to-move-forward-with-medical-device-reliance.html
[5] Pharmaceuticals and Medical Devices Agency (Japan). Regulations and approval/certification of medical devices under the PMD Act: Classes I to IV; notification, Registered Certification Body certification, MHLW approval; Marketing Authorization Holder. https://www.pmda.go.jp/english/review-services/reviews/0004.html
[6] Therapeutic Goods Administration (Australia). What classification is my medical device? Decision tree: Classes I, Is, Im, Ir, IIa, IIb, III (Therapeutic Goods Act 1989; Medical Devices Regulations 2002). https://www.tga.gov.au/resources/decision-trees/what-classification-my-medical-device
[7] Therapeutic Goods Administration (Australia). Use of market authorisation evidence from comparable overseas regulators / assessment bodies for medical devices including IVDs (EU, US FDA, Health Canada, Japan, MDSAP from 2018, Singapore HSA from 2022); October 2024. https://www.tga.gov.au/sites/default/files/use-market-authorisation-evidence-comparable-overseas-regulators-assessment-bodies-medical-devices-including-ivds.pdf
[8] Ropes &amp; Gray. China unveils new medical device regulations: Regulations on the Supervision and Administration of Medical Devices, State Council Order No. 739, effective 1 June 2021; MAH regime; 2021. https://www.ropesgray.com/en/newsroom/alerts/2021/March/China-Unveils-New-Medical-Device-Regulations
[9] Morgan Lewis. Overview of medical device regulation in China: Class I filing, Class II provincial registration, Class III central NMPA registration; type testing; clinical evaluation and exemption catalogue; December 2024. https://www.morganlewis.com/pubs/overview-of-medical-device-regulation-in-china
[10] CASRAI. Health Canada medical device licence (MDL) and MDALL guide: Classes I to IV; MDEL for Class I; MDL for Classes II to IV; Regulatory Enrolment Process and CESG from January 2026. https://www.casrai.org/guides/health-canada-medical-device-license-mdl-mdall
[11] Freyr Solutions. Health Canada medical device registration: MDSAP certificate required for Class II to IV licences (sole QMS route since 2019); 2025. https://www.freyrsolutions.com/medical-devices/health-canada-medical-device-registration
[12] World Health Organization. WHO designates new WHO-Listed Authorities (Health Canada, Japan MHLW/PMDA, UK MHRA; 39 agencies listed); 7 August 2025. Transitional WLA list for medical devices published 23 July 2026. https://www.who.int/news/item/07-08-2025-who-designates-new-who-listed-authorities--strengthening-global-access-to-quality-assured-medical-products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India, USA and EU compared
TIME 1:30 min · full run clock 55:15–56:45 · 40-min core clock 40:45–42:15
CORE SCRIPT (say this; about 146 words)
Row by row, India is similar where it matters and lighter where it counts. Similar: one law, risk classes A to D that match the EU's four tiers, a QMS built on ISO 13485, an audit by a notified body or inspector, and post-market duties. Lighter: the premarket route for Class A and B is a state licence on a quality-system audit, there is no product review of the kind a 510(k) or a notified-body technical review involves, fees are in thousands of rupees rather than tens of thousands of dollars, UDI is deferred, and licence timelines are counted in days rather than months. Heavier in one place: before any clinical study an Indian team needs a test licence to make the units and a CDSCO permission to investigate, on top of ethics approval. The verdict column is my reading of the rows; argue with it.
DETAIL BELOW: use if time allows or if asked
PURPOSE
Turn the section into one decision aid: what an Indian team already has, what it must add, and where India is the demanding regulator.
SAY
Law: the Drugs and Cosmetics Act 1940 with the Medical Devices Rules 2017, in force 1 January 2018; in the US, Title 21 of the Code of Federal Regulations with Part 812 for investigational studies and Part 820, now the QMSR; in the EU, Regulation 2017/745 as amended by 2023/607 and 2024/1860.
Regulator: CDSCO's Central Licensing Authority for Class C and D and all imports, State Licensing Authorities for A and B; FDA's CDRH; and in Europe national competent authorities with about 48 notified bodies doing the assessments, with an EMA coordinating role proposed in December 2025.
Classes: A to D under Rule 4 and the First Schedule; I to III by product code in the US, where Class II spans GHTF B and C; I to III with sub-types in the EU under the 22 rules of Annex VIII.
Premarket route: in India, Form MD-3 to licence MD-5 from the state for Class A and B after a notified-body audit, MD-7 to MD-9 from CDSCO for C and D, MD-14 to MD-15 for imports of any class; in the US, exemption for most Class I, then 510(k), De Novo or PMA; in the EU, self-declaration for Class I and a notified body for everything above.
Clinical evidence: India requires a test licence, MD-12 to MD-13, to manufacture investigational units, and permission MD-22 to MD-23 for the investigation itself, alongside a registered ethics committee; the US requires an IDE only for significant-risk studies, with the IRB deciding the category; the EU requires a clinical evaluation for every device under Article 61, kept current by PMCF.
QMS and audit: the Fifth Schedule, aligned with ISO 13485, audited by NABCB-accredited notified bodies for A and B and by CDSCO Medical Device Officers for C and D; the QMSR incorporating ISO 13485:2016 with FDA inspection under Compliance Program 7382.850 or an MDSAP audit; ISO 13485 certified by the notified body in the EU.
UDI: Rule 46 was deferred by G.S.R. 918(E) of 31 December 2021 until further orders; the US requires UDI on labels and in GUDID; the EU requires UDI registration in EUDAMED from 28 May 2026.
Post-market: PSURs six-monthly for two years then yearly for two, and MvPI adverse-event reporting through the Indian Pharmacopoeia Commission; MAUDE and the recall database in the US; vigilance, PMCF and the EUDAMED surveillance module in the EU.
Time, reported ranges: a Class A licence within 45 days with the audit in the 120 days after grant, Class B up to 140 days with the audit before grant, Class C and D 105 to 150 days depending on the source, imports within nine months; in the US a 90-FDA-day goal for 510(k)s with 127 to 159 calendar days historically, and 285 days for a PMA; in the EU 13 to 18 months to a certificate.
Cost, reported ranges: 5,000 rupees per site plus 500 per device for Class A and B, 50,000 plus 1,000 for C and D, and 1,000 to 3,000 dollars per site plus 50 to 1,500 per device for imports; US fees from 26,067 dollars for a 510(k) to 579,272 for a PMA plus 11,423 a year for registration; in the EU there is no public tariff, and notified-body quotes are commonly reported in the tens of thousands of euros.
ASK / RUN
Ask the room where they would move a verdict. A common challenge: India's import licence, central for every class with dollar fees and up to nine months, is heavier for a foreign company than CE marking is for an Indian one.
DEBRIEF POINTS
The verdicts are a teaching device. The useful conclusion is that an Indian dossier built to the Fifth Schedule and ISO 14971 already contains most of what the FDA and a notified body will ask for; the additions are the product-level review file (predicate comparison or technical documentation) and the clinical evaluation report.
CAUTION
The 'India is' column is the presenter's synthesis, not a regulatory statement. Indian timelines conflict between sources (Tribune 105 days vs S.S. Rana 150 days for C/D) and the June 2026 draft amendment had not been finalised as of 7 October 2026. The EU cost line has no documentary source; keep it as 'order of magnitude' or drop it. The PSUR schedule rests on one consultancy source.
TRANSITION
If so much is similar, what exactly travels? The standards.
SOURCES
[1] Ministry of Health and Family Welfare. Medical Devices Rules, 2017 (as amended), consolidated text, CDSCO. https://cdsco.gov.in/opencms/resources/UploadCDSCOWeb/2022/m_device/mdr,%202017%20(1).pdf
[2] AZB Partners. Medical Devices Rules, 2017: State Licensing Authority for Class A and B manufacture; Central Licensing Authority for Class C and D and all imports; 1 April 2017. https://azbpartners.com/bank/medical-devices-rules-2017
[3] CDSCO Medical Device online portal. Fee help file (Second Schedule, MDR-2017): manufacturing licence Class A/B Rs 5,000 per site + Rs 500 per device; Class C/D Rs 50,000 + Rs 1,000; test licence Rs 500 per device. https://cdscomdonline.gov.in/NewMedDev/resources/app_srv/NMD/global/helpfiles/nmd_fee.pdf/
[4] Lawrbit. Medical device import licence India procedure: Form MD-14 to MD-15; fees US$1,000 (A), $2,000 (B), $3,000 (C/D) per site plus $50 / $1,000 / $1,500 per device. https://www.lawrbit.com/industry-specific/medical-device-import-license-india-procedure/
[5] Applied Clinical Trials. New regulations for medical devices in India: Class A licence within 45 days with audit within 120 days after grant; Class B notified-body audit within 90 days before grant; 2017. https://www.appliedclinicaltrialsonline.com/view/new-regulations-medical-devices-india
[6] S.S. Rana &amp; Co. Medical Devices Rules: faster manufacturing licence approvals (draft G.S.R. 515(E), 23 June 2026; current Class C/D timeline up to 150 days; Class B up to 140 days per press reports); June 2026. https://ssrana.in/articles/medical-devices-rules-faster-manufacturing-licence-approvals/
[7] Corpseed. Permission to import medical devices, Form MD-14 and Form MD-15: Central Licensing Authority decides within 9 months; 6 to 9 months in practice. https://www.corpseed.com/knowledge-centre/permission-to-import-medical-devices-form-md-14-and-form-md-15
[8] SCC Online. Draft Medical Devices (Amendment) Rules 2021 introduces unique device identification (Rule 46; final G.S.R. 918(E), 31 December 2021 deferred the 1 January 2022 start date until further orders). https://www.scconline.com/blog/post/2021/12/24/draft-medical-devices-amendment-rules-2021-introduces-unique-device-identification-of-the-medical-device/
[9] Navigator Global. India educational series: medical device registration and post-market compliance (PSUR every 6 months for 2 years, then annually for 2 years). Single consultancy source. https://navigator.global/gb/library/india-educational-series-medical-device-registration-and-post-market-compliance
[10] Indian Pharmacopoeia Commission (National Coordination Centre). Materiovigilance Programme of India (MvPI), launched 6 July 2015. https://nhsrcindia.org/hi/node/10346
[11] CDSCO. FAQ on Medical Devices, 2018: Rule 13 notified bodies registered with the CLA audit Class A and B manufacturing sites (Fifth Schedule QMS); NABCB accreditation. https://cdsco.gov.in/opencms/resources/UploadCDSCOWeb/2018/UploadImmunization/FAQmd2018.pdf
[12] US FDA. Medical Device User Fee Amendments (MDUFA): user fees for FY2026 (1 October 2025 to 30 September 2026); small-business threshold US$100 million gross receipts. https://www.fda.gov/medical-device-user-fee-amendments-mdufa
[13] US FDA. Quality Management System Regulation: 21 CFR Part 820 incorporating ISO 13485:2016 by reference; final rule February 2024, effective 2 February 2026 (Compliance Program 7382.850). https://www.fda.gov/quality-systems-regulation
[14] US FDA. MDUFA performance report to Congress, 30 September 2025: 510(k) goal 95% within 90 FDA days; original PMA total time to decision goal 285 calendar days (FY2025 to 2027); historical 510(k) total time 127 to 159 calendar days. https://www.fda.gov/media/191127/download
[15] US FDA. Information Sheet: Significant Risk and Nonsignificant Risk Medical Device Studies (21 CFR 812). https://www.fda.gov/files/about%20fda/published/Significant-Risk-and-Nonsignificant-Risk-Medical-Device-Studies---Information-Sheet.pdf
[16] Registrar Corp. An overview of FDA's updated UDI requirements for Class I medical devices (GUDID; July 2022 guidance); 12 May 2025. https://legacy.registrarcorp.com/an-overview-of-fdas-updated-udi-requirements-for-class-1-medical-devices/
[17] Regulation (EU) 2017/745 on medical devices, Art. 61 and Annex XIV Part B (post-market clinical follow-up); transition extended to 2027/2028 by Regulation (EU) 2023/607. https://eur-lex.europa.eu/eli/reg/2017/745/2023-03-20
[18] SimplerQMS. EU MDR medical device classification: Classes I (Is, Im, Ir), IIa, IIb, III under the 22 rules of Annex VIII; 2025. https://simplerqms.com/eu-mdr-medical-device-classification/
[19] RAPS. Team-NB survey shows slowdown in growth of MDR and IVDR certificates issued in 2025 (17,260 certificates; 25,978 MDR applications vs 13,953 MDR certificates; typical time to certificate 13 to 18 months; 58% of elapsed time with the manufacturer); 2026. https://www.raps.org/resource/team-nb-survey-shows-slowdown-in-growth-of-mdr-and-ivdr-certificates-issued-in-2025.html
[20] TÜV NORD. EUDAMED: mandatory use of the first four modules (actor registration/SRN, UDI/device registration, notified bodies and certificates, market surveillance) from 28 May 2026, under Regulation (EU) 2024/1860 and Commission Decision (EU) 2025/2371. https://www.tuev-nord.de/en/knowledge/standards-in-focus/eudamed-mandatory-use-of-first-four-modules-from-may-28-2026/
[21] Meddeviceguide. EU MDR notified-body certificate expiry cliff: NANDO analysis 2026 (about 48 MDR-designated notified bodies; 45 to 50 range). https://meddeviceguide.com/blog/eu-mdr-notified-body-certificate-expiry-cliff-eudamed-nando-analysis-2026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One dossier, many markets
TIME 1:15 min · full run clock 56:45–58:00 · 40-min core clock 42:15–43:30
CORE SCRIPT (say this; about 131 words)
Eight standards do most of the travelling. ISO 13485 for the quality system, confirmed unchanged in October 2025 and now written into the FDA's QMSR, MDSAP and India's Fifth Schedule. ISO 14971 for risk management. ISO 14155, new 2026 edition, for clinical investigations. ISO 10993-1 for biocompatibility. IEC 60601-1 for electrical safety, with 60601-1-2 for EMC, the test FoGO went through in July 2026. IEC 62304 for software, with a second edition due in August 2026, IEC 62366-1 for usability and IEC 81001-5-1 for cybersecurity. Build the technical file to these once and it is the raw material for CDSCO, FDA and a notified body. Then choose the first foreign market by reliance: Australia and the UK accept FDA and CE decisions, so one of those two approvals unlocks three markets.
DETAIL BELOW: use if time allows or if asked
PURPOSE
Close the section with the reuse argument: the standards are the common currency, and reliance routes decide the order of markets.
SAY
ISO 13485:2016 remains the current quality-management standard: its systematic review closed on 5 June 2025 and ISO recorded a confirm decision on 31 October 2025, so no new edition is due soon. ISO 14971:2019 is the risk-management standard, paired with the guidance ISO/TR 24971:2020; IEC 60601-1's second amendment made its reference to ISO 14971 undated, so the latest edition always applies. ISO 14155:2026 was published on 23 March 2026 with no transition period: it integrates ISO 14971 risk management, formalises Clinical Events Committees and Data Monitoring Committees, and introduces an estimand framework aligned with drug trials. ISO 10993-1 governs biological evaluation within the risk process, with endpoints chosen by contact type and duration. IEC 60601-1 edition 3.2 is the 2005 text with amendments 1 (2012) and 2 (2020); the collateral standard 60601-1-2 covers electromagnetic compatibility. IEC 62304, 2006 with amendment 1 of 2015, is the software life-cycle standard; edition 2, scheduled for 12 August 2026, cuts safety classes from three to two, widens scope to all health software and adds an AI/ML life cycle. IEC 62366-1:2015 with amendment 1 of 2020 is usability engineering. IEC 81001-5-1:2021 is the secure-development life-cycle standard for health software, FDA-recognised and scheduled for EU harmonisation on 27 May 2028.
The reliance row: an FDA decision counts as comparable-regulator evidence for TGA and in MHRA's proposed reliance route; a CE certificate is accepted by TGA and remains valid in Great Britain to 2028 or 2030; Japan, the US and Canada share MDSAP, and Japan and Canada are WHO-Listed Authorities since August 2025. India's own dossier is the starting point; CDSCO's IMDRF affiliation means its guidance is converging on the same documents.
INDIA ADAPTATION
For FoGO the standards map directly: IEC 60601-1 and 60601-1-2 (EMC pre-compliance done July 2026), IEC 62304 for the detection software, IEC 62366-1 for the cueing interface, ISO 10993-1 for the skin-contact strap, ISO 14971 for the risk file and ISO 14155:2026 for the AIIMS Bhubaneswar study. SwaKnee's PEMF applicator follows the same electrical, usability and biocompatibility set.
CAUTION
ISO 10993-1's 2018 edition and IEC 62366-1's harmonisation status were not verified in this research. IEC 62304 edition 2's 12 August 2026 publication was a forecast; cite 2006+A1:2015 until confirmed on iec.ch. Sources conflict on ISO 13485's future (a 2028 revision vs unchanged to 2030). The 'three markets' claim assumes MHRA's reliance route is enacted; as of October 2026 it was proposed, not confirmed.
TRANSITION
Next: who pays, and what the device costs the family: Access.
SOURCES
[1] Presencis. ISO 13485 timeline: 2016 edition confirmed by systematic review (decision recorded 31 October 2025); no revised edition published as of 2026. https://cdn.presencis.com/regulations/iso-13485/timeline/
[2] ISO 14971:2019. Medical devices — Application of risk management to medical devices. https://www.iso.org/standard/72704.html
[3] ISO 14155:2026. Clinical investigation of medical devices for human subjects — Good clinical practice (supersedes ISO 14155:2020). https://www.iso.org/standard/83968.html
[4] In Compliance Magazine. The IEC 60601 amendment updates have published: IEC 60601-1:2005 + A1:2012 + A2:2020 (edition 3.2); 2020. https://incompliancemag.com/the-iec-60601-amendment-updates-have-published-changes-and-impacts/
[5] Critical Software. IEC 62304 Edition 2 changes, August 2026: two software safety classes, wider health-software scope, AI/ML life cycle; publication forecast 12 August 2026 (verify on iec.ch). https://asd.criticalsoftware.com/en/newsroom/iec-62304-edition-2-changes-august-2026
[6] IEC 62366-1:2015+AMD1:2020. Medical devices — Part 1: Application of usability engineering to medical devices. https://webstore.iec.ch/en/publication/67220
[7] DQS. MDR and IEC 81001-5-1:2021 (health software security activities in the product life cycle): FDA-recognised consensus standard; EU harmonisation scheduled 27 May 2028; 2025. https://www.dqsglobal.com/en/explore/blog/mdr-iec-81001-5-1
[8] Therapeutic Goods Administration (Australia). Use of market authorisation evidence from comparable overseas regulators / assessment bodies for medical devices including IVDs (EU, US FDA, Health Canada, Japan, MDSAP from 2018, Singapore HSA from 2022); October 2024. https://www.tga.gov.au/sites/default/files/use-market-authorisation-evidence-comparable-overseas-regulators-assessment-bodies-medical-devices-including-ivds.pdf
[9] RAPS. MHRA to move forward with medical device reliance on comparable regulators (US FDA, Health Canada, Australia TGA, EU CE); 2025. https://www.raps.org/resource/mhra-to-move-forward-with-medical-device-reliance.html
[10] TÜV SÜD. UKCA for medical devices: CE-marked devices accepted in Great Britain to 30 June 2028 (MDD/AIMDD) and 30 June 2030 (MDR/IVDR); about 90% of GB devices still CE-marked; 2025. https://www.tuvsud.com/en-us/industries/healthcare-and-medical-devices/medical-devices-and-ivd/medical-device-market-approval-and-certification/ukca-for-medical-devices
[11] TÜV SÜD. Medical Device Single Audit Program (MDSAP): one audit for TGA, ANVISA, Health Canada, MHLW/PMDA and US FDA; observers EU, Singapore HSA, UK MHRA, WHO Prequalification; built on ISO 13485. https://www.tuvsud.com/en-us/industries/healthcare-and-medical-devices/medical-devices-and-ivd/medical-device-market-approval-and-certification/medical-device-single-audit-program-mdsap
[12] World Health Organization. WHO designates new WHO-Listed Authorities (Health Canada, Japan MHLW/PMDA, UK MHRA; 39 agencies listed); 7 August 2025. Transitional WLA list for medical devices published 23 July 2026. https://www.who.int/news/item/07-08-2025-who-designates-new-who-listed-authorities--strengthening-global-access-to-quality-assured-medical-products
[13]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Part 5 · Access and safety
TIME 0:15 min · full run clock 58:00–58:15 · deep-dive slide: skip in the 40-minute version
CORE SCRIPT (say this; about 70 words)
Part five asks the two questions that come after the science and the licence: can the person afford it and use it, and who answers if it fails? We audit the demands each device makes, walk Kamala's total cost of use and see how far NPPA's price powers reach, then take two commercial decisions, a brochure and a software update, before following a harm report around the loop to MvPI.
DETAIL BELOW: use if time allows or if asked
PURPOSE
Frame access and safety as design inputs, not afterthoughts: inclusion, affordability, honest claims, change governance and post-market responsibility, all under Indian rules.
SAY
The photograph is the SwaKnee tablet controller with its knee applicator, a supplied product photograph with no patient shown. Everything in this part applies to both devices.
Three stops: a capability audit of what FoGO and SwaKnee demand of Ramesh and Kamala, plus the demands India adds; the total cost of a 45-day course and the National Pharmaceutical Pricing Authority's reach under DPCO 2013; and the last two ‘would you proceed?’ decisions, a brochure and a software update. We end with the harm loop: care, record, report, investigate, correct, follow up, with MvPI and the DePuy ASR case as the Indian reference.
TRANSITION
“First: who cannot use it?”
SOURCES
[1] Swayogya website assets (ivikasjha/swayogya_website): product photographs and three 'How to use' step videos, edited into a 20 s silent clip with step captions; no faces shown. https://www.swayogya.in/product.html
[2] University of Cambridge Engineering Design Centre. Inclusive Design Toolkit and Exclusion Calculator (Clarkson, Waller, Coleman). https://www-edc.eng.cam.ac.uk/research/inclusive-design
[3] Indian Pharmacopoeia Commission. Materiovigilance Programme of India (MvPI): About us. Launched 6 July 2015; helpline 1800-180-3024; mvpi-ipc@gov.in. https://ipc.gov.in/mandates/materiovigilance-programme-of-india-mvpi/about-us.html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Who can't use it? Audit the demands a device makes
TIME 1:00 min · full run clock 58:15–59:15 · deep-dive slide: skip in the 40-minute version
ACTIVITY Inclusive-design audit: each table picks one demand to redesign (2 minutes)
CORE SCRIPT (say this; about 83 words)
Cambridge's Inclusive Design Toolkit asks what a product demands of seven capabilities: vision, hearing, thinking, communication, locomotion, reach and stretch, dexterity. FoGO asks someone with Parkinson's to bend to the ankle, fasten a strap, place a chest patch and pair a phone. SwaKnee asks an older person to wrap an applicator, connect a cable and keep a 45-minute daily schedule for 45 days. India adds language, literacy, power cuts, no smartphone and dependence on a caregiver. Which one demand would you redesign first?
DETAIL BELOW: use if time allows or if asked
PURPOSE
Make usability and exclusion an ethical question, not only a design question: every ‘High’ cell is a group of patients the device quietly excludes.
SAY
The Cambridge Engineering Design Centre's Inclusive Design Toolkit rates the demands a product makes on seven capabilities; its Exclusion Calculator then estimates how many people cannot complete the tasks. The ratings in the table are illustrative, made for this workshop, not measured.
Read the table row by row. Vision: FoGO's app screen and pairing prompts; SwaKnee's controller display and timer. Hearing: both are low, because FoGO's cue is a vibration and SwaKnee only beeps. Thinking: FoGO is high, because the user must pair a phone, keep a charging routine and trust a cue in the middle of a freeze; SwaKnee is medium, a 45-day schedule and error codes. Communication: reporting a fault, and consent and instructions in Odia or Hindi. Locomotion: FoGO is worn by a person who freezes while walking and turning; SwaKnee's demand is the journey to the clinic. Reach and stretch: both high, bending to the ankle and the chest for FoGO, wrapping the knee for SwaKnee. Dexterity: FoGO's buckle, adhesive patch and small charging port are high; SwaKnee's cuff and cable are medium.
FoGO's team reports consulting more than 30 potential users (project-reported, not a published study); the common request was more comfort and easier use.
ASK / RUN
“Which one demand would you redesign first?” A quick classroom version of the Cambridge simulation tools: try fastening a strap wearing thick gloves, or reading the controller display through smeared spectacles.
DEBRIEF POINTS
Expect answers such as a magnetic ankle strap, a chest module without adhesive, pairing done once by the clinic, a controller with one large button and an Odia voice prompt, and a caregiver mode in the app. Each redesign is also a safety control: a device that is hard to fit is a device that is worn wrongly.
INDIA ADAPTATION
Add the Indian demands the toolkit does not list: language (Odia, Hindi, English), literacy, unreliable power, a shared or absent smartphone, and dependence on a caregiver for fitting, charging and reporting. The Exclusion Calculator uses UK population data from 1996–97, so its percentages must never be presented as Indian figures. The MRCT Center's Accessibility by Design toolkit (2023) supports including people with disabilities in research; home visits, travel support and accessible consent formats follow from it. IEC 62366-1 usability engineering turns each demand into a testable requirement, and the CDSCO software guidance of 21 July 2026 expects usability validation in Indian workflows.
CAUTION
The ratings are illustrative; do not present them as usability-test results. The FoGO user consultation is project-reported. The Exclusion Calculator's percentages are British, not Indian.
TRANSITION
“And then there is cost.”
SOURCES
[1] University of Cambridge Engineering Design Centre. Inclusive Design Toolkit and Exclusion Calculator (Clarkson, Waller, Coleman). https://www-edc.eng.cam.ac.uk/research/inclusive-design
[2] MRCT Center. Accessibility by Design in Clinical Research Toolkit; 2023. https://mrctcenter.org/resource/accessibility-by-design-abd-toolkit-release/
[3] IEC 62366-1:2015+AMD1:2020. Medical devices — Part 1: Application of usability engineering to medical devices. https://webstore.iec.ch/en/publication/67220
[4] University of Cambridge Department of Engineering. Part IIB module 4G9: Biomedical Engineering / Biomedical Innovation (syllabus). https://teaching.eng.cam.ac.uk/content/engineering-tripos-part-iib-4g9-biomedical-engineering-2024-25
[5] CDSCO. Guidance Document on Medical Device Software under the Medical Devices Rules, 2017 (CDSCO/MD/GD/MDSW/01/2026); 21 July 2026. https://cdsco.gov.in/opencms/export/sites/CDSCO_WEB/Pdf-documents/Guidance-document-on-Medical-Device-Software-under-MDR-2017.pdf
[6]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Price is only part of the cost
TIME 1:30 min · full run clock 59:15–60:45 · 40-min core clock 43:30–45:00
ACTIVITY “Who pays each step?” Fill the six dashed boxes from the room (90 seconds)
CORE SCRIPT (say this; about 102 words)
Walk Kamala's 45 days: buy or rent, travel 30 km, fitting and training, about 34 hours of sessions, a relative's time and lost wages, repairs and support. Who pays each step? Usually the household, out of pocket. Price policy can reach devices: devices are ‘drugs’ under the 1940 Act, so NPPA used DPCO 2013 to cap stents in February 2017, knee implants in August 2017, and trade margins on five home-use devices in July 2021, when 91% of 684 brands cut their prices. FoGO's planned price is ₹27,000 plus ₹3–4,000 a year: planned, not a market result. Affordability is a design input.
DETAIL BELOW: use if time allows or if asked
PURPOSE
Widen affordability from purchase price to the total cost of use, and show that Indian price regulation does reach devices, including home-use ones.
SAY
The chevrons are Kamala's 45 days with SwaKnee. Buy or rent the device from a seller who, since G.S.R. 754(E) of 30 September 2022, needs a State registration in Form MD-42 (Rule 87A; fee ₹3,000). Travel 30 km to the clinic for fitting and training, and back for follow-up. Clinician time and instructions in Odia or Hindi. Then the sessions: the leaflet describes 45 minutes a day for 45 days, 2,025 minutes, about 34 hours of her time, an illustration of burden rather than a prescription. A relative fits, charges and troubleshoots, and loses wages. Repairs, spares, a service plan and a phone line that answers. “Who pays for each step?” Fill each dashed box from the room. For home-use devices the answer is nearly always the household, out of pocket.
The panel. Medical devices are ‘drugs’ under the Drugs and Cosmetics Act 1940, so the National Pharmaceutical Pricing Authority regulates them under the Drugs (Prices Control) Order 2013. Para 19 lets it fix ceiling prices in extraordinary circumstances or the public interest; Para 20 asks it to monitor the MRPs of non-scheduled products so that no price rises more than 10% in 12 months.
The timeline. 13 February 2017: coronary stents capped at ₹7,260 for bare-metal and ₹29,600 for drug-eluting stents, cuts of up to 85% and 74%; stents are now in Schedule I and their ceilings are revised each year by the wholesale price index (₹10,762.15 and ₹39,186.03 from 1 April 2026, as reported). 16 August 2017: knee implants capped under Para 19; the widely used cobalt-chromium primary knee fell from an average MRP of ₹1,58,324 to ₹54,720, 65%, and special-metal knees by 69%; NPPA's data showed an average trade margin of 313%. 13 July 2021: trade margins capped at 70% of the price to distributor for pulse oximeters, blood-pressure monitors, nebulisers, digital thermometers and glucometers; by 23 July, 620 of 684 reported brands, 91%, had cut their MRP, by up to 88%; oxygen concentrators had been capped the same way on 3 June 2021. The knee-implant cap has been extended year by year, most recently to 15 November 2026. SwaKnee is not an implant, so no cap applies to it; FoGO would fall under Para 20 monitoring only if NPPA chose to look.
Right column. FoGO's planned price is ₹27,000 plus a ₹3–4,000 annual service plan: a plan, not a market price. Cambridge Judge's Centre for Health Leadership and Enterprise describes progress in three phases, develop, integrate at scale, make affordable and widely available; the Harvard Business School Aravind case shows affordability built in through local manufacture of Aurolab lenses under a quality system. Responsible options for an adjunct with modest evidence: rent rather than sell, clinic-shared devices, a trial period with a refund if not tolerated, and a transparent statement of the total cost of a course.
DEBRIEF POINTS
Close with: “Affordability is an ethical design input, not an afterthought.” Price caps are a trade-off: after the stent cap, Abbott and Medtronic applied to withdraw premium stents and were refused, with manufacturers required to keep products on the market for six months; observers feared hospitals would shift costs to other charges, a reported concern rather than a measured effect, and NPPA later required hospitals billing patients directly to keep to the ceilings (notification of 12 February 2018).
CAUTION
The 10% rule in Para 20 is NPPA's reading; the Delhi High Court narrowed that interpretation in a 2023 drug case (Bharat Serums v Union of India), so present it as ‘monitoring’ rather than a hard cap. The 1 April 2026 stent ceilings and the 15 November 2026 knee-cap end date come from trade-press reports: check NPPA before presenting, because the knee cap expires five weeks after this workshop. The FoGO price is a developer plan, not a market result.
TRANSITION
“Now a commercial decision under pressure.”
SOURCES
[1] Medical Dialogues. NPPA asks for price movement details of orthopaedic implants; 2017 (devices are 'drugs' under the Drugs and Cosmetics Act 1940, so DPCO 2013 applies: Para 19 ceiling prices in extraordinary circumstances or public interest; Para 20 monitoring of non-scheduled MRPs so that no price rises more than 10% in any 12 months). https://medicaldialogues.in/nppa-asks-for-price-movement-details-of-orthopedic-implants
[2] Press Information Bureau. NPPA ceiling prices for coronary stents: Rs 7,260 (bare-metal) and Rs 29,600 (drug-eluting); 13 February 2017. https://www.pib.gov.in/newsite/PrintRelease.aspx?relid=158452
[3] Medical Dialogues. NPPA revises coronary stent prices: drug-eluting stents Rs 39,186.03 and bare-metal stents Rs 10,762.15 per unit (exclusive of GST) from 1 April 2026; March 2026. https://medicaldialogues.in/news/industry/medical-devices/nppa-revises-coronary-stent-prices-des-at-rs-39186-and-bms-at-rs-10762-from-april-2026-168192
[4] Press Information Bureau. Government fixes ceiling prices of knee implants (cobalt-chromium primary knee: average MRP Rs 1,58,324 to Rs 54,720, 65%; special metals 69%); 16 August 2017. https://www.pib.gov.in/newsite/PrintRelease.aspx?relid=170040
[5] Scroll.in. After cardiac stents, the government now caps prices of knee implants: cobalt-chromium complete kit Rs 54,720 plus tax against Rs 1,58,324 paid before; NPPA data showed an average trade margin of 313%; 16 August 2017. https://scroll.in/latest/847453/after-cardiac-stents-the-government-now-caps-prices-of-knee-implants
[6] Medical Dialogues. NPPA continues price cap on orthopaedic knee replacement implants for another year, till 15 November 2026. https://medicaldialogues.in/news/industry/medical-devices/nppa-continues-price-cap-on-orthopedic-knee-replacement-implants-for-another-year-till-november-15-2026-158881
[7] Press Information Bureau. Government caps trade margin up to 70% on price-to-distributor for pulse oximeters, BP monitors, nebulisers, digital thermometers and glucometers; 13 July 2021 (91% of 684 brands cut MRP, by up to 88%). https://www.pib.gov.in/PressReleasePage.aspx?PRID=1735430
[8] Press Information Bureau. On capping of trade margin, 91% of brands of five medical devices report downward revision of prices up to 88% (684 brands reported as of 23 July 2021); PRID 1738484. https://www.pib.gov.in/PressReleaseIframePage.aspx?PRID=1738484&amp;reg=3&amp;lang=2
[9] TCTMD. Stents as essential medicine: India’s cap on stent prices could have ripples around the globe; 2017 (withdrawal applications refused). https://www.tctmd.com/news/stents-essential-medicine-indias-cap-stent-prices-could-have-ripples-around-globe
[10] SCC Online blog. Medical Devices (Fifth Amendment) Rules 2022, G.S.R. 754(E) of 30 September 2022: Rule 87A requires anyone selling, stocking, exhibiting or distributing medical devices to apply to the State Licensing Authority in Form MD-41 for a Registration Certificate in Form MD-42 (fee Rs 3,000; retention Rs 3,000). https://www.scconline.com/blog/?p=274997
[11] Cambridge Judge Business School. Centre for Health Leadership and Enterprise. https://www.jbs.cam.ac.uk/centres/health/
[12] Rangan VK. The Aravind Eye Hospital, Madurai, India: In Service for Sight. Harvard Business School case 593-098; 1993.
[13] Swa knee_Leaflet.pdf. Supplied product material: 45-minute daily sessions over 45 days (illustration of time burden, not a prescription).
[14]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Would you proceed? Launch with this brochure
TIME 2:00 min · full run clock 60:45–62:45 · 40-min core clock 45:00–47:00
ACTIVITY DECISION 4 of 5: vote, then each table rewrites one claim in 30 seconds
CORE SCRIPT (say this; about 75 words)
Kamala's son finds this brochure online: ‘Clinically proven! Regrows cartilage. Doctor recommended. Avoid surgery forever.’ The distributor insists, the company has three months of cash, and if it folds today's users lose support. A, launch as written. B, fix the claims first. C, not yet. Vote, then rewrite one claim. A better line: ‘In one company study of 82 adults over 45 days, average pain fell more than with comparison care; independent trials are needed.’
DETAIL BELOW: use if time allows or if asked
PURPOSE
Practise responsible commercialisation under real pressure, with the Indian codes that govern device claims.
SAY
The brochure is invented for teaching; it reproduces no actual SwaKnee material. Read the four claims. Then the pressures: the distributor insists on these claims, cash lasts three months, and, the fact that argues against the safe answer, if the company folds, the people already using the device lose service and support.
“A: launch as written. B: fix the claims first, then launch. C: not yet.”
ASK / RUN
Vote by show of hands. Then each table rewrites one claim in 30 seconds and reads it out.
DEBRIEF POINTS
Claim by claim, with the table at the bottom of the slide.
• ‘Clinically proven’ needs independent, prospectively registered, sham-controlled replication; one company study of 82 people is not enough, and guideline bodies are sceptical of PEMF (OARSI 2019 strongly recommends against electromagnetic therapy; NICE NG226 does not offer electrotherapies).
• ‘Regrows cartilage’ was never measured, and no human evidence of regeneration was found.
• ‘Doctor recommended’ implies an endorsement. The Uniform Code for Marketing Practices in Medical Devices 2024 (Department of Pharmaceuticals circular of 6 September 2024, as amended on 30 April 2026) requires product information to be accurate, balanced, not misleading and capable of substantiation, and bars gifts, travel and hospitality for health professionals; complaints go to an ethics committee in each industry association, which must decide within 90 days; it is a voluntary code. For the doctor, clause 6.8 of the IMC 2002 regulations (inserted 2009) bars gifts and hospitality from the pharmaceutical and allied health industry; the NMC's 2023 regulations have been in abeyance since 23 August 2023.
• ‘Avoid surgery forever’ is an absolute promise. The Drugs and Magic Remedies (Objectionable Advertisements) Act 1954 bars advertising remedies that claim to cure Scheduled conditions, and the Schedule lists ‘rheumatism’; whether a PEMF device and knee osteoarthritis fall within it is a legal question, so take advice. The ASCI Code, Chapter I.1, requires truthful and substantiated claims.
A better line: “In one company study of 82 adults over 45 days, average pain fell more with SwaKnee than with comparison care. Independent trials are needed to confirm this.” The other wordings in the table are suggestions for the exercise, not approved copy.
Stanford's Principled Decision-Making brief advises teams to write a team-culture document setting out their ethical principles early, before moments like this.
‘Not yet’ also has a cost: if the company folds, current users lose support and service. That is why B, honest claims and a launch, is usually the responsible answer.
CAUTION
The brochure is hypothetical. Check your own live web and print claims against this standard before the talk. The ‘voluntary, no statutory backing’ description of UCMPMD comes from legal commentary; quote the 2026 consolidated circular. Do not name a dated ‘ASCI healthcare guideline’; cite the Code chapter.
TRANSITION
“The last decision comes after launch.”
SOURCES
[1] Department of Pharmaceuticals. Uniform Code for Marketing Practices in Medical Devices, 2024 (circular of 6 September 2024; as amended on 30 April 2026). Voluntary code administered through industry associations. https://pharma-dept.gov.in/sites/default/files/UCMDMD%20circular%201-2026+UCMDMP%20code%20as%20amended%20on%2030.4.2026%20(1).pdf
[2] Medical Council of India. Indian Medical Council (Professional Conduct, Etiquette and Ethics) Regulations, 2002, clause 6.8 (inserted 2009); operative after the NMC 2023 regulations were held in abeyance on 23 August 2023. https://www.delhimedicalcouncil.org/pdf/EthicsRegulations-2002.pdf
[3] The Wire. NMC puts new guidelines on doctors’ ethics in abeyance; August 2023. https://thewire.in/health/nmc-puts-new-guidelines-on-doctors-ethics-in-abeyance-after-imas-meeting-with-health-minister
[4] Drugs and Magic Remedies (Objectionable Advertisements) Act, 1954 (Schedule includes ‘rheumatism’). https://www.indiacode.nic.in/indiacode/bitstream/123456789/1412/1/A1954-21.pdf
[5] Advertising Standards Council of India. Consumer Complaints Council recommendations press release (June 2022): health advertisements assessed under ASCI Code Chapter I.1 (truthful, substantiated claims) and III.4. https://www.ascionline.in/wp-content/uploads/2022/09/asci_june-17_ccc_recomm_press_release.pdf
[6] Bannuru RR, Osani MC, Vaysbrot EE, et al. OARSI guidelines for the non-surgical management of knee, hip, and polyarticular osteoarthritis. Osteoarthritis Cartilage. 2019 (electromagnetic therapy strongly recommended against). https://www.esceo.org/sites/esceo/files/pdf/Bannuru_O%26C_OARSIguidelines_2019.pdf
[7] NICE. Osteoarthritis in over 16s: diagnosis and management (NG226); October 2022 (do not offer listed electrotherapies: insufficient evidence of benefit). https://www.nice.org.uk/guidance/ng226/chapter/Recommendations
[8] Stanford Biodesign. Principled Decision-Making. Student Guide to Biodesign; 2022. https://biodesignguide.stanford.edu/wp-content/uploads/2022/08/Principled-Decision-Making-v1.pdf
[9] Swayogya Rehab Solutions. SwaKnee evidence page: company-reported comparative 45-day study, device n=40 vs comparison n=42, ≈32% vs ≈14% average VAS pain reduction from baseline. Rounded figures as transcribed in the supplied original deck; re-check the live page before presenting. https://www.swayogya.in/evidence.html
[10] Lundh A, Lexchin J, Mintzes B, Schroll JB, Bero L. Industry sponsorship and research outcome. Cochrane Database Syst Rev. 2017;(2):MR000033 (drug and device studies: favourable conclusions RR 1.34, 95% CI 1.19–1.51). https://pubmed.ncbi.nlm.nih.gov/28207928/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Would you proceed? Push tonight's FoGO update
TIME 1:30 min · full run clock 62:45–64:15 · 40-min core clock 47:00–48:30
ACTIVITY DECISION 5 of 5: vote, then name who can pause or reverse a release
CORE SCRIPT (say this; about 76 words)
Tonight's update gives fewer false cues, but it may miss more freezes, and it has been tested only on stored data. A, push to everyone. B, staged release with monitoring and rollback. C, not yet. Vote. Evidence belongs to a version: results for version 1 may not cover version 2. CDSCO's software guidance of July 2026 and the FDA's change-control plans both expect documented change management. Who in your team can pause or reverse a release?
DETAIL BELOW: use if time allows or if asked
PURPOSE
Show that evidence belongs to a version and that changes need governance, in India and abroad.
SAY
The screenshot is the real prototype app: a vibration cue is active, and the research panel shows that the cue was ‘debounced’, confirmed in two of three windows, before it fired. Changing that rule changes the device's behaviour.
Read the facts. Fewer false cues: today's build fires about 9 to 11 false cues an hour of walking, 0.15 to 0.18 per minute on the public datasets, so users will welcome the change. It may miss more freezes: a threshold trades sensitivity against specificity. And it has been tested on stored data only; no user has walked with it.
“A: push to all users tonight. B: staged release after review, with monitoring and rollback. C: not yet.”
ASK / RUN
Vote. Then ask each table: who in your team can pause or reverse a release, and what number would trigger it?
DEBRIEF POINTS
Evidence for version 1 may not cover version 2.
India: CDSCO's Guidance Document on Medical Device Software under MDR 2017 (CDSCO/MD/GD/MDSW/01/2026, 21 July 2026, 62 pages) covers software as a device, software in devices, connected systems and AI functions; it expects lifecycle documentation, version control, verification and validation, cybersecurity and documented change management, and says an Algorithm Change Protocol may be devised where applicable. CDSCO states that the guidance interprets the Rules and should not be read as a new regulatory control. Post-approval changes go through the portal: major changes need prior approval, minor changes a notification (CDSCO FAQ addenda; consultancy summaries give 2–4 weeks for minor changes).
USA: the FDA's final guidance on Predetermined Change Control Plans for AI-enabled device software functions (December 2024; a revised version was posted in August 2025) lets a manufacturer pre-specify planned modifications with a validation protocol and an impact assessment, so that changes inside the plan need no new submission. It is not a blank cheque: the plan itself is reviewed. The EU's December 2025 proposal would allow similar plans without prior notified-body approval of each change; it is still under negotiation.
If the device is in a study: notify the ethics committee, seek a protocol amendment, and re-consent if the change could affect a participant's decision.
A good release: shadow mode first; a small staged group; pre-set monitoring metrics and a rollback trigger; tell users and clinicians what changed. Closed-loop devices shift accountability between person and system (Kellmeyer 2016); a system view of AI software regulation is needed (Gerke, Babic, Evgeniou and Cohen 2020).
CAUTION
Hypothetical update; not a report of an actual FoGO release. The false-cue rate is project-reported from public datasets, not from use by patients. Check the date on the current FDA PCCP document before presenting.
TRANSITION
“And if, despite all this, someone is harmed?”
SOURCES
[1] CDSCO. Guidance Document on Medical Device Software under the Medical Devices Rules, 2017 (CDSCO/MD/GD/MDSW/01/2026); 21 July 2026. https://cdsco.gov.in/opencms/export/sites/CDSCO_WEB/Pdf-documents/Guidance-document-on-Medical-Device-Software-under-MDR-2017.pdf
[2] Pure Global. India CDSCO Medical Device Software Guidance 2026: classification by medical purpose, significance of the information and severity of the condition; lifecycle, cybersecurity and AI change-planning expectations (secondary summary of CDSCO/MD/GD/MDSW/01/2026). https://www.pureglobal.com/news/india-cdsco-medical-device-software-guidance-2026
[3] US FDA. Marketing Submission Recommendations for a Predetermined Change Control Plan for Artificial Intelligence-Enabled Device Software Functions. Final guidance, December 2024 (revised version reported August 2025). https://www.fda.gov/regulatory-information/search-fda-guidance-documents/marketing-submission-recommendations-predetermined-change-control-plan-artificial-intelligence
[4] European Commission. Proposal for a targeted revision of the medical device regulations, COM(2025) 1023 final, 16 December 2025 (under negotiation). https://eur-lex.europa.eu/legal-content/EN/TXT/HTML/?uri=CELEX:52025PC1023
[5] Gerke S, Babic B, Evgeniou T, Cohen IG. The need for a system view to regulate artificial intelligence/machine learning-based software as medical device. npj Digit Med. 2020. https://hls.harvard.edu/bibliography/the-need-for-a-system-view-to-regulate-artificial-intelligence-machine-learning-based-software-as-medical-device
[6] Kellmeyer P, Cochrane T, Müller O, et al. The effects of closed-loop medical devices on the autonomy and accountability of persons and systems. Camb Q Healthc Ethics. 2016;25(4):623–633. https://www.research-collection.ethz.ch/handle/20.500.11850/126117
[7]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When harm happens, who answers?
TIME 1:15 min · full run clock 64:15–65:30 · 40-min core clock 48:30–49:45
ACTIVITY Assign an owner to each of the six steps (2 minutes)
CORE SCRIPT (say this; about 83 words)
Suppose Ramesh falls after a missed cue. Who answers? Follow the loop: care for him; record the device, serial number and software version; report to MvPI on 1800 180 3024 and, as a licence holder, to CDSCO within 15 days; investigate; correct; follow up. In India's ASR hip recall, about 4,700 people had the implant but only 1,080 had been traced by 2018, and compensation was settled only in November 2018. Traceability starts on day one. Who owns each step in your team?
DETAIL BELOW: use if time allows or if asked
PURPOSE
Make post-market responsibility concrete: six steps, six owners, one Indian reference case.
SAY
“Suppose Ramesh falls after a missed cue.” Follow a report around the loop. Care: meet his immediate needs, keep the device and its data, and avoid a blanket instruction to stop a needed device. Record: device identity, serial number, software version, context, outcome. Report: to the Materiovigilance Programme of India on the Medical Device Adverse Event Reporting Form (helpline 1800 180 3024; mvpi-ipc@gov.in), and, as a licence holder, to CDSCO within 15 days; in a study, to the sponsor and the ethics committee. Investigate: root cause, context, trend across units, update the ISO 14971 risk file. Correct: corrective and preventive action, labelling or software fix, recall through the Field Safety Corrective Action form to MvPI; MDR-2017 has no stand-alone recall procedure, a gap commentators have called for reform of. Follow up: the person, whether the correction worked, and the periodic safety update report, every six months for two years and then yearly for two.
The Indian case. DePuy recalled its ASR metal-on-metal hip systems worldwide in August 2010. About 4,700 ASR surgeries had been done in India between 2004 and 2010. CDSCO issued a device alert in December 2013 and the import licence was cancelled under the 1940 Act. A Health Ministry committee chaired by Dr Arun K Agarwal reported on 19 February 2018 that the company had suppressed facts on harm; by August 2018 only 1,080 patients had been traced through a helpline, and 275 of them had needed revision surgery. The compensation formula, a base of ₹20 lakh multiplied by disability and age factors plus ₹10 lakh for non-pecuniary damage, was approved on 29 November 2018; awards ran from ₹30 lakh to ₹1.23 crore, and the first, ₹74.5 lakh, was ordered in March 2019. Traceability and registries matter from day one.
ASK / RUN
“Who in your team owns each of the six steps?” Write a name under each chevron.
DEBRIEF POINTS
MvPI was launched on 6 July 2015 at the Indian Pharmacopoeia Commission, Ghaziabad; manufacturers, importers, distributors, health professionals and patients can report; 174 monitoring centres were listed by 2022 and they file about 97% of reports, so reporting by companies and patients remains thin. A CDSCO circular of 15 May 2024 requires every licence holder to report suspected unexpected serious adverse events to MvPI; in March 2025 the Health Ministry set up an expert committee under MvPI, and in July 2025 the NMC told medical colleges to form device adverse-event committees. Kramer and colleagues (PLoS Medicine 2013) found that post-market systems in the US, EU, Japan and China also rely mainly on passive reporting, which is prone to under-reporting (our inference), so build reporting into the product: serial numbers, an in-app ‘report a problem’ button, a phone line. The UK Cumberlege Review (2020) recommended a Patient Safety Commissioner, redress and a central database of patient, implant and surgeon; the redress agency was later not funded.
CAUTION
The ASR case belongs to the pre-MDR-2017 regime. The 882 traceable patients cited by Mondaq and the 1,080 cited by newspapers reflect different dates; the slide uses 1,080 (August 2018). The 15-day reporting window and the PSUR cadence come from consultancy summaries, not from a verified rule number. Avoid a blanket instruction to stop a needed device; safety decisions need clinical assessment and continuity of care.
TRANSITION
End with: “Who will still answer the phone after the sale?”
SOURCES
[1] Indian Pharmacopoeia Commission. Materiovigilance Programme of India (MvPI): About us. Launched 6 July 2015; helpline 1800-180-3024; mvpi-ipc@gov.in. https://ipc.gov.in/mandates/materiovigilance-programme-of-india-mvpi/about-us.html
[2] Indian Pharmacopoeia Commission. Medical Device Adverse Event Reporting Form, version 1.2 (open to manufacturers, importers, distributors, healthcare professionals and patients). https://nhsrcindia.org/sites/default/files/Medical-Devices-Adverse-Event-Reporting-Form-(Version-1.2).pdf
[3] Materiovigilance Programme of India: current status and way forward. Indian Journal of Pharmacology; 2022 (174 Medical Device Adverse Event Monitoring Centres in hospitals and medical colleges; voluntary reporting; 40 reports in 2015 rising to 897 in 2019). https://www.ovid.com/jnls/iphr/fulltext/10.4103/ijp.ijp_837_21~materiovigilance-programme-of-india-current-status-and-way
[4] Business Standard. Medical device bodies welcome CDSCO order on self-reporting adverse effects; 21 May 2024 (CDSCO circular of 15 May 2024: all medical-device licence holders must report every suspected unexpected serious adverse event to the Materiovigilance Programme of India). https://www.business-standard.com/health/medical-device-bodies-welcome-cdsco-order-on-self-reporting-adverse-effects-124052101276_1.html
[5] Navigator Global. India educational series: medical device registration and post-market compliance (PSUR every 6 months for 2 years, then annually for 2 years). Single consultancy source. https://navigator.global/gb/library/india-educational-series-medical-device-registration-and-post-market-compliance
[6] Business Today. Govt to ask Johnson &amp; Johnson to compensate for faulty hip implants (Agarwal committee report, 19 Feb 2018: about 4,700 ASR surgeries in India 2004–2010; 1,080 patients traced); 25 August 2018. https://www.businesstoday.in/amp/latest/economy-politics/story/johnson-johnson-faulty-hip-implants-surgeries-compensation-109085-2018-08-25
[7] Press Information Bureau. Health Ministry approves compensation formula for hip implant cases (Central Expert Committee; base amount Rs 20 lakh adjusted for disability and age); 29 November 2018. https://www.pib.gov.in/Pressreleaseshare.aspx?PRID=1554266
[8] The Wire. CDSCO directs Johnson &amp; Johnson to pay Rs 74.5 lakh to first patient with faulty hip implant; 2019 (approved compensation between Rs 30 lakh and Rs 1.23 crore under the November 2018 formula). https://thewire.in/health/cdsco-directs-johnson-johnson-to-pay-rs-74-5-lakh-to-first-patient-with-faulty-hip-implant
[9] Mondaq. Reassessing India's Medical Device Recall Framework: Regulatory Gaps and the Case for Reform; 2025 (CDSCO medical device alert on the DePuy ASR hip implant, December 2013, after about 4,700 surgeries in India; import licence cancelled under the Drugs and Cosmetics Act 1940; MDR-2017 has no stand-alone recall procedure). https://www.mondaq.com/reassessing-india's-medical-device-recall-framework-regulatory-gaps-and-the-case-for-reform/1751304
[10] Kramer DB, Tan YT, Sato C, Kesselheim AS. Postmarket surveillance of medical devices: a comparison of strategies in the US, EU, Japan, and China. PLoS Med. 2013. https://pmc.ncbi.nlm.nih.gov/articles/PMC3815401/
[11] Independent Medicines and Medical Devices Safety Review (chair Baroness Cumberlege). First Do No Harm; 8 July 2020. https://www.immdsreview.org.uk/downloads/IMMDSReview_Web.pdf
[12] ISO 14971:2019. Medical devices — Application of risk management to medical devices. https://www.iso.org/standard/72704.html
[13] Ministry of Health and Family Welfare. Medical Devices Rules, 2017 (as amended), consolidated text, CDSCO. https://cdsco.gov.in/opencms/resources/UploadCDSCOWeb/2022/m_device/mdr,%202017%20(1).pdf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Would you let a patient use it now? (closing vote)
TIME 1:30 min · full run clock 65:30–67:00 · 40-min core clock 49:45–51:15
ACTIVITY CLOSING VOTE with the same three facts and options as the opening vote; compare the two splits
CORE SCRIPT (say this; about 66 words)
Same three facts: a working prototype, promising dataset results, a test licence. Same options. First answer silently: which patient, which use, which evidence, who is responsible? Vote. [Compare with the opening split.] What changed your mind? As many of you spotted, this is FoGO today. My own answer as its inventor: option 2, a supervised study, and only after ethics approval, MD-23 permission and CTRI registration.
DETAIL BELOW: use if time allows or if asked
PURPOSE
Let the room see its own change in reasoning: the facts have not moved, the questions have.
SAY
Read the three facts again: a working prototype, promising results on public datasets, a test licence granted. “Same three facts, same three options. Before you vote, answer four questions silently: which patient, which use, which evidence, and who is responsible?”
ASK / RUN
Vote by fingers and write the split in the ‘Now’ boxes beside the opening split copied from the flipchart. Ask two people whose vote changed: “What changed your mind?”
DEBRIEF POINTS
Confirm what many will have spotted: “The three facts describe FoGO in August 2026: an alpha prototype after three iterations, subject-wise F1 of 0.83–0.85 on public datasets, and an MD-13 test licence for 25 units granted on 10 August 2026. My own answer, as the inventor, is option 2, and only after ethics approval from a committee registered with CDSCO, permission in Form MD-23 on an MD-22 application with the Seventh Schedule documents, and CTRI registration before the first participant: a supervised research study, not routine care.” Disclosing this models the behaviour asked for in the disclosure slide.
A test licence in Form MD-13 allows units to be made for clinical investigation, test, evaluation, demonstration or training (fee ₹500 per device; valid three years); they cannot be sold, and it is neither permission to treat nor, by itself, permission to study. Routine care would need a manufacturing licence for the intended use, MD-5 from the State for a Class B device, after a notified-body audit, and evidence that supports the claim.
The goal is better reasons, not agreement with the speaker. Delaying use to resolve important uncertainty is different from blocking useful research: safeguards should be proportionate to the exact use and risk, and access and continuity remain part of the decision. “A patient-ready decision names the patient, the purpose, the evidence, the limits and the person responsible.”
CAUTION
Do not describe FoGO as approved, licensed for sale or clinically proven. The F1 figures and the MD-13 licence are project-reported; the study at AIIMS Bhubaneswar is planned, not started.
TRANSITION
“Now make it personal.”
SOURCES
[1]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[2] CDSCO. Form MD-12: application for licence to manufacture medical devices for clinical investigation, test, evaluation, examination, demonstration or training (licence in Form MD-13). https://cdsco.gov.in/opencms/export/sites/CDSCO_WEB/Pdf-documents/medical-device/12MD.pdf
[3] CDSCO. Form MD-22: application for permission to conduct clinical investigation (permission in Form MD-23). https://cdsco.gov.in/opencms/export/sites/CDSCO_WEB/Pdf-documents/medical-device/22MD.pdf
[4] Ministry of Health and Family Welfare. New Drugs and Clinical Trials Rules, 2019 (ethics committee registration: Rules 7–8 with CDSCO; Rules 16–17 with DHR). https://cdsco.gov.in/opencms/resources/UploadCDSCOWeb/2022/new_DC_rules/NEW%20DRUGS%20ANDctrS%20RULE,%202019.pdf
[5] CDSCO Medical Device online portal. Fee help file (Second Schedule, MDR-2017): manufacturing licence Class A/B Rs 5,000 per site + Rs 500 per device; Class C/D Rs 50,000 + Rs 1,000; test licence Rs 500 per device. https://cdscomdonline.gov.in/NewMedDev/resources/app_srv/NMD/global/helpfiles/nmd_fee.pdf/
[6] Ministry of Health and Family Welfare. Medical Devices Rules, 2017 (as amended), consolidated text, CDSCO. https://cdsco.gov.in/opencms/resources/UploadCDSCOWeb/2022/m_device/mdr,%202017%20(1).pdf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Commit to one change in your own project
TIME 2:30 min · full run clock 67:00–69:30 · 40-min core clock 51:15–53:45
ACTIVITY TAKEAWAY EXERCISE: 90 seconds writing, 60 seconds sharing, two examples from the room
CORE SCRIPT (say this; about 37 words)
Think of your own device, study or project. Complete the card: Before [next step], I will [action]. Owner: [name]. I proceed only if [condition]. You have ninety seconds. Then read it to a neighbour. [Take two examples.]
DETAIL BELOW: use if time allows or if asked
PURPOSE
Convert discussion into one specific, owned action with a condition for proceeding.
SAY
“Think of a device, study or project you are working on. Complete the card: Before [next step], I will [action]. Owner: [name]. I proceed only if [condition].”
Worked example: “Before our first home test, I will register the study on CTRI. Owner: me. I proceed only if the ethics committee approves and an independent outcome assessor is named.”
If the room needs prompts, the right-hand column gives one example per stage: rewrite the need statement solution-neutral and screen it with ten users; make no ‘detects’ claim until the model is tested on data from Indian patients with results by subgroup; name an independent consent-taker before anyone is approached, with consent in Odia or Hindi; confirm the risk class and hold an MD-13 test licence before a unit leaves the lab; cost the whole course for the household and decide whether to rent or sell; put a serial number on every unit, a ‘report a problem’ button in the app, and name who can pause a release.
ASK / RUN
Ninety seconds to write. Then read it to a neighbour. Take two examples from the room; ask each for the condition, not only the action.
DEBRIEF POINTS
Stanford's Principled Decision-Making brief advises teams to write down their ethical principles early; this exercise adapts that advice into a personal commitment. Encourage participants to photograph or keep their card; the printed checklist handout has space for it.
CAUTION
The example commitments are workshop suggestions, not regulatory requirements; the MD-13 example applies to a device that will be used in a clinical investigation, test or evaluation.
TRANSITION
“Here is a checklist to keep using.”
SOURCES
[1] Stanford Biodesign. Principled Decision-Making. Student Guide to Biodesign; 2022. https://biodesignguide.stanford.edu/wp-content/uploads/2022/08/Principled-Decision-Making-v1.pdf
[2] CDSCO. Form MD-12: application for licence to manufacture medical devices for clinical investigation, test, evaluation, examination, demonstration or training (licence in Form MD-13). https://cdsco.gov.in/opencms/export/sites/CDSCO_WEB/Pdf-documents/medical-device/12MD.pdf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Patient-impact decision checklist
TIME 0:30 min · full run clock 69:30–70:00 · 40-min core clock 53:45–54:15
ACTIVITY Reusable tool and printed handout
CORE SCRIPT (say this; about 62 words)
Here is a checklist to keep: one row per stage, with the question the patient asks, the evidence to see, the Indian permission with its class, form and authority, an owner, and a go or not-yet column. Every ‘not yet’ needs an owner and a condition for proceeding. A licence, patent, grant or famous partner is not evidence of readiness. Thank you.
DETAIL BELOW: use if time allows or if asked
PURPOSE
Leave participants with a tool they can apply to any device decision, with the Indian permission named for each stage.
SAY
Use one row per stage. The evidence column should link to real documents; the owner column names a person or team; every ‘Not yet’ needs an owner and a condition for proceeding.
Row by row. Need: a solution-neutral need statement (Stanford Biodesign) and, in India, the first permission question: is it a device at all? Every medical device has been regulated under s.3(b)(iv) of the Drugs and Cosmetics Act 1940 since 1 April 2020, and its risk class, A to D, follows Rule 4 and the First Schedule of the Medical Devices Rules 2017, with CDSCO's device-wise classification lists as the practical reference. Evidence: IDEAL-D stage, subgroup reporting (MRCT 2020), an ISO 14971 risk file and a version log; the permissions are the test licence (MD-12 application, MD-13 licence from the Central Licensing Authority, ₹500 per device, valid three years) and the clinical investigation (MD-22 with the Seventh Schedule documents, permission in MD-23), with CTRI registration before the first participant. People: consent in the participant's language, an independent consent-taker where the patient depends on the researcher (Declaration of Helsinki 2024, paragraph 27), interests disclosed and managed (ICMR 2017); the ethics committee must be registered with CDSCO (NDCT Rules 2019, Rules 7–8; MDR-2017 refers to it in Rule 50); companies follow UCMPMD 2024 and doctors clause 6.8 of the IMC 2002 regulations. Permission: a quality management system to the Fifth Schedule, aligned with ISO 13485 (BIS has merged it with the Essential Principles as IS 23485), the Essential Principles checklist, Rule 44 labelling, and the software lifecycle and change control expected by CDSCO's guidance of 21 July 2026; the licence depends on class: MD-3 to MD-5 from the State Licensing Authority for Class A and B after a notified-body audit (₹5,000 per site plus ₹500 per device), MD-7 to MD-9 from CDSCO for Class C and D (₹50,000 plus ₹1,000), registration only for Class A non-sterile non-measuring devices (G.S.R. 777(E), 14 October 2022), and MD-14 to MD-15 for imports of any class. Access: a capability audit with the Indian demands, the total cost of a course and who pays each step, claims matched to evidence; NPPA can fix ceilings under Para 19 of DPCO 2013 (stents and knee implants, 2017) and monitor MRPs under Para 20, and capped trade margins on five home-use devices in 2021; claims answer to UCMPMD 2024, the DMRA 1954 and the ASCI Code; sellers need MD-42 registration (Rule 87A, 2022). Safety: a named owner for each step of the harm loop, serial numbers and a registry, monitoring and a rollback trigger for software changes; report to MvPI on the MDAE form (IPC; 1800 180 3024), and as a licence holder report serious events to CDSCO within 15 days (circular of 15 May 2024), file PSURs six-monthly for two years and yearly for two, and remember Rule 43A, under which the licensing authority can suspend or cancel a licence.
CAUTION
A workshop synthesis, not a substitute for ethics, scientific, regulatory or quality review. One device can meet the conditions for a narrowly defined use and remain unsuitable for another. Do not infer completion from a licence, patent, grant or institutional association. The 15-day reporting window, the PSUR cadence and the Rule 50 reference come from secondary summaries; the fee amounts are from the CDSCO portal fee file as reported. Draft amendments of 2025–26 (perpetual validity, shorter timelines) were not final on 7 October 2026.
TRANSITION
Close: thank the audience; point to the appendix and the printed handout.
SOURCES
[1] Stanford Biodesign. Need Statements. Student Guide to Biodesign; 2022. https://biodesignguide.stanford.edu/wp-content/uploads/2022/07/Need-Statements-v2.pdf
[2] Sedrakyan A, Campbell B, Merino JG, Kuntz R, Hirst A, McCulloch P. IDEAL-D: a rational framework for evaluating and regulating the use of medical devices. BMJ. 2016;353:i2372. https://pubmed.ncbi.nlm.nih.gov/27283585/
[3] MRCT Center of Brigham and Women's Hospital and Harvard. Achieving Diversity, Inclusion, and Equity in Clinical Research: Guidance Document and Toolkit; 2020. https://mrctcenter.org/diversity-in-clinical-research/
[4] ISO 14971:2019. Medical devices — Application of risk management to medical devices. https://www.iso.org/standard/72704.html
[5] World Medical Association. Declaration of Helsinki: Ethical Principles for Medical Research Involving Human Participants. 75th General Assembly, Helsinki, October 2024 (para 27: dependent relationship; para 34: post-trial provisions). https://www.wma.net/policies-post/wma-declaration-of-helsinki/
[6] Indian Council of Medical Research. National Ethical Guidelines for Biomedical and Health Research Involving Human Participants. New Delhi: ICMR; 2017 (Section 5 informed consent; Section 6 vulnerability; Section 7.7 device trials). https://ethics.ncdirindia.org/asset/pdf/ICMR_National_Ethical_Guidelines.pdf
[7] Ministry of Health and Family Welfare. New Drugs and Clinical Trials Rules, 2019 (ethics committee registration: Rules 7–8 with CDSCO; Rules 16–17 with DHR). https://cdsco.gov.in/opencms/resources/UploadCDSCOWeb/2022/new_DC_rules/NEW%20DRUGS%20ANDctrS%20RULE,%202019.pdf
[8] Ministry of Health and Family Welfare. Medical Devices Rules, 2017 (as amended), consolidated text, CDSCO. https://cdsco.gov.in/opencms/resources/UploadCDSCOWeb/2022/m_device/mdr,%202017%20(1).pdf
[9] CDSCO. Form MD-12: application for licence to manufacture medical devices for clinical investigation, test, evaluation, examination, demonstration or training (licence in Form MD-13). https://cdsco.gov.in/opencms/export/sites/CDSCO_WEB/Pdf-documents/medical-device/12MD.pdf
[10] CDSCO. Form MD-22: application for permission to conduct clinical investigation (permission in Form MD-23). https://cdsco.gov.in/opencms/export/sites/CDSCO_WEB/Pdf-documents/medical-device/22MD.pdf
[11] CDSCO Medical Device online portal. Fee help file (Second Schedule, MDR-2017): manufacturing licence Class A/B Rs 5,000 per site + Rs 500 per device; Class C/D Rs 50,000 + Rs 1,000; test licence Rs 500 per device. https://cdscomdonline.gov.in/NewMedDev/resources/app_srv/NMD/global/helpfiles/nmd_fee.pdf/
[12] TeamLease RegTech. Medical Devices (Sixth Amendment) Rules, 2022, G.S.R. 777(E), 14 October 2022: Class A non-sterile, non-measuring devices registered online with an undertaking and a self-certified Essential Principles checklist; no manufacturing licence. https://www.teamleaseregtech.com/updates/article/19622/medical-devices-sixth-amendment-rules-2022
[13] Conventus Law. India: CDSCO to regulate all medical devices; 27 March 2020 (MoHFW notifications of 11 February 2020 bringing all medical devices under s.3(b)(iv) of the Drugs and Cosmetics Act 1940 from 1 April 2020, and G.S.R. 102(E) inserting Chapter IIIA registration). https://conventuslaw.com/report/india-cdsco-to-regulate-all-medical-devices-in/
[14] CDSCO. Guidance Document on Medical Device Software under the Medical Devices Rules, 2017 (CDSCO/MD/GD/MDSW/01/2026); 21 July 2026. https://cdsco.gov.in/opencms/export/sites/CDSCO_WEB/Pdf-documents/Guidance-document-on-Medical-Device-Software-under-MDR-2017.pdf
[15] Department of Pharmaceuticals. Uniform Code for Marketing Practices in Medical Devices, 2024 (circular of 6 September 2024; as amended on 30 April 2026). Voluntary code administered through industry associations. https://pharma-dept.gov.in/sites/default/files/UCMDMD%20circular%201-2026+UCMDMP%20code%20as%20amended%20on%2030.4.2026%20(1).pdf
[16] Medical Council of India. Indian Medical Council (Professional Conduct, Etiquette and Ethics) Regulations, 2002, clause 6.8 (inserted 2009); operative after the NMC 2023 regulations were held in abeyance on 23 August 2023. https://www.delhimedicalcouncil.org/pdf/EthicsRegulations-2002.pdf
[17] University of Cambridge Engineering Design Centre. Inclusive Design Toolkit and Exclusion Calculator (Clarkson, Waller, Coleman). https://www-edc.eng.cam.ac.uk/research/inclusive-design
[18] Medical Dialogues. NPPA asks for price movement details of orthopaedic implants; 2017 (devices are 'drugs' under the Drugs and Cosmetics Act 1940, so DPCO 2013 applies: Para 19 ceiling prices in extraordinary circumstances or public interest; Para 20 monitoring of non-scheduled MRPs so that no price rises more than 10% in any 12 months). https://medicaldialogues.in/nppa-asks-for-price-movement-details-of-orthopedic-implants
[19] Press Information Bureau. Government fixes ceiling prices of knee implants (cobalt-chromium primary knee: average MRP Rs 1,58,324 to Rs 54,720, 65%; special metals 69%); 16 August 2017. https://www.pib.gov.in/newsite/PrintRelease.aspx?relid=170040
[20] Press Information Bureau. Government caps trade margin up to 70% on price-to-distributor for pulse oximeters, BP monitors, nebulisers, digital thermometers and glucometers; 13 July 2021 (91% of 684 brands cut MRP, by up to 88%). https://www.pib.gov.in/PressReleasePage.aspx?PRID=1735430
[21] Drugs and Magic Remedies (Objectionable Advertisements) Act, 1954 (Schedule includes ‘rheumatism’). https://www.indiacode.nic.in/indiacode/bitstream/123456789/1412/1/A1954-21.pdf
[22] Advertising Standards Council of India. Consumer Complaints Council recommendations press release (June 2022): health advertisements assessed under ASCI Code Chapter I.1 (truthful, substantiated claims) and III.4. https://www.ascionline.in/wp-content/uploads/2022/09/asci_june-17_ccc_recomm_press_release.pdf
[23] SCC Online blog. Medical Devices (Fifth Amendment) Rules 2022, G.S.R. 754(E) of 30 September 2022: Rule 87A requires anyone selling, stocking, exhibiting or distributing medical devices to apply to the State Licensing Authority in Form MD-41 for a Registration Certificate in Form MD-42 (fee Rs 3,000; retention Rs 3,000). https://www.scconline.com/blog/?p=274997
[24] Indian Pharmacopoeia Commission. Materiovigilance Programme of India (MvPI): About us. Launched 6 July 2015; helpline 1800-180-3024; mvpi-ipc@gov.in. https://ipc.gov.in/mandates/materiovigilance-programme-of-india-mvpi/about-us.html
[25] Business Standard. Medical device bodies welcome CDSCO order on self-reporting adverse effects; 21 May 2024 (CDSCO circular of 15 May 2024: all medical-device licence holders must report every suspected unexpected serious adverse event to the Materiovigilance Programme of India). https://www.business-standard.com/health/medical-device-bodies-welcome-cdsco-order-on-self-reporting-adverse-effects-124052101276_1.html
[26] Navigator Global. India educational series: medical device registration and post-market compliance (PSUR every 6 months for 2 years, then annually for 2 years). Single consultancy source. https://navigator.global/gb/library/india-educational-series-medical-device-registration-and-post-market-compliance
[27] Lexplosion. Ministry of Health amends MDR 2017: Rule 43A prescribes suspension and cancellation of a licence for non-compliance (Third Amendment Rules, 2022). https://lexplosion.in/ministry-of-health-amends-the-medical-devices-rules-2017-prescribes-suspension-and-cancellation-of-licence-for-manufacturer-or-licensee-for-failure-to-comply-with-conditions-of-an-import-license-ef/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MDR-2017 forms at a glance: apply, receive, from whom
TIME Reference slide (Q&amp;A or handout)
CORE SCRIPT (say this; about 104 words)
Every permission under the Medical Devices Rules, 2017 is a pair of forms: the number you apply in and the number you receive. Manufacture is MD-3 to MD-5 for Class A and B from the State Licensing Authority, MD-7 to MD-9 for Class C and D from CDSCO. Test units are MD-12 to MD-13; a study in people is MD-22 to MD-23; imports are MD-14 to MD-15; a shop or distributor registers with MD-41 to MD-42. Teal cells are decided by the State, indigo by the Centre. Only the Class A non-sterile, non-measuring route has no form at all: it is an online registration.
DETAIL BELOW: use if time allows or if asked
PURPOSE
Back-pocket reference for questions such as 'which form do we file first?' and 'who signs it?'. It is a handout page more than a teaching slide: the full session already covers the licence matrix (in-licence-matrix); this appendix lists every verified pair in one place.
SAY
Read the table left to right: activity, class or scope, the application form, the licence or permission you receive, who decides, and the rule or note that matters.
Manufacture. Class A non-sterile, non-measuring devices (G.S.R. 777(E), 14 October 2022) are registered online: the manufacturer uploads site and device details, an undertaking that the device is Class A non-sterile non-measuring and a self-certified Essential Principles checklist; no licence is issued. Class A sterile or measuring devices and all Class B devices apply in MD-3 for an MD-5 licence from the State Licensing Authority, with a notified body registered under Rule 13 auditing the site against the Fifth Schedule QMS. Class C and D apply in MD-7 for MD-9 from the Central Licensing Authority; CDSCO Medical Device Officers inspect the site.
Loan licences follow the same split: MD-4 to MD-6 (State) and MD-8 to MD-10 (Central); G.S.R. 188(E) of 6 March 2019 amended Form MD-10 so that the Centre, not the State, issues it. The fee is the same as for a manufacturing licence.
Test licences come from the Centre for every class: MD-12 to MD-13 to make units for clinical investigation, test, evaluation, examination, demonstration or training, and MD-16 to MD-17 to import units for the same purposes. FoGO's own MD-13 for 25 units, dated 10 August 2026, is a worked example of this row.
Clinical investigation is MD-22 to MD-23 under Chapter VII, with the Seventh Schedule dossier: investigation plan, investigator's brochure, design verification and validation report, Essential Principles checklist, consent form, investigator undertaking and the ethics committee approval. A device with no predicate in India goes through Rule 63 (MD-26 to MD-27); the fourth proviso lets CDSCO waive a local investigation for a device approved by the US, UK, Australian, Canadian or Japanese regulator, and since G.S.R. 744(E) of 14 August 2026 the European Union, provided it has been marketed there for at least two years and CDSCO is satisfied with the safety and post-market data; a post-marketing investigation in India is then required.
Import is MD-14 to MD-15 from the Centre for any class, filed by the Indian authorised agent or importer, with a decision due within 9 months. Sale, stocking, exhibition and distribution need MD-41 to MD-42 from the State under Rule 87A (G.S.R. 754(E), 30 September 2022): fee Rs 3,000, and the registration is granted unless the State rejects within 10 days.
DEBRIEF POINTS
Three patterns to point out if asked. First, the Centre decides everything that involves testing in people or crossing the border; the State decides routine manufacture of lower-risk devices and retail. Second, the form numbers climb with the activity, so a team can read its own regulatory journey off the numbers it has filed. Third, the 2026 amendments mostly add names rather than forms: MD-2 and MD-40 are now defined as 'Certificates of Registration' (G.S.R. 743(E)) and MD-44 is a proposed test-report form (draft G.S.R. 883(E), 4 December 2025).
CAUTION
Only form pairs verified in the facts files are shown. MD-24 and MD-25 (IVD clinical performance evaluation) and MD-1 or MD-39 as application forms were not verified and are deliberately left out; say 'see the Rules' if asked. Rule 20 for Class A/B and Rules 21 to 23 for Class C/D are consistent across secondary sources but were not checked against the gazette text. The loan-licence row says nothing about what a loan licence is for, because the facts files do not; do not improvise a definition. Whether an ethics-committee approval is required by Rule 50 was not verified; the dossier checklist does list it.
TRANSITION
Fees and clocks for the same forms are on the next page.
SOURCES
[1] Ministry of Health and Family Welfare. Medical Devices Rules, 2017 (as amended), consolidated text, CDSCO. https://cdsco.gov.in/opencms/resources/UploadCDSCOWeb/2022/m_device/mdr,%202017%20(1).pdf
[2] CDSCO. Regulatory pathway under the Medical Devices Rules, 2017 (overview). https://cdsco.gov.in/opencms/export/sites/CDSCO_WEB/Pdf-documents/medical-device/RegulatoryMDR-2017.pdf
[3] Operon Strategist. Understanding the significance of Form MD-3 and MD-7 in CDSCO: Class A/B manufacture MD-3 → MD-5 (State Licensing Authority); Class C/D manufacture MD-7 → MD-9 (Central Licensing Authority). https://operonstrategist.com/understanding-the-significance-of-form-md-3-and-md-7-in-cdsco/
[4] Lawrbit. Loan licence for Class C and D medical devices: procedure under MDR-2017 (application Form MD-8, licence Form MD-10, Central Licensing Authority). https://www.lawrbit.com/industry-specific/loan-licence-class-c-d-medical-devices-procedure/
[5] Ministry of Health and Family Welfare. G.S.R. 188(E), 6 March 2019: amendment of Form MD-10 to replace the State Licensing Authority with the Central Licensing Authority as issuing authority under MDR-2017. https://cdsco.gov.in/opencms/resources/UploadCDSCOWeb/2022/Draft_Noti/MDR_G.S.R.188(E)%20dt_06.03.2019_Amendment%20in%20Form%20MD-10%20to%20replace%20the%20SLA%20as%20issuing%20authority%20with%20CLA%20in%20MDR,%202017.pdf
[6] CDSCO. Form MD-12: application for licence to manufacture medical devices for clinical investigation, test, evaluation, examination, demonstration or training (licence in Form MD-13). https://cdsco.gov.in/opencms/export/sites/CDSCO_WEB/Pdf-documents/medical-device/12MD.pdf
[7] Corpbiz. Grant of test licence for manufacture under MDR-2017: Form MD-12 application, Form MD-13 licence, for clinical investigation, test, evaluation, examination, demonstration or training. https://corpbiz.io/learning/grant-of-test-license-for-manufacture-under-mdr-2017/
[8] Lawrbit. Test licence to import medical devices in India: Form MD-16 application, Form MD-17 licence; fee US$100 per distinct device. https://www.lawrbit.com/industry-specific/test-license-import-medical-devices-india-procedure/
[9] CDSCO. Form MD-22: application for permission to conduct clinical investigation (permission in Form MD-23). https://cdsco.gov.in/opencms/export/sites/CDSCO_WEB/Pdf-documents/medical-device/22MD.pdf
[10] CDSCO. Checklist for Form MD-22 (clinical investigation): Seventh Schedule documents including the clinical investigation plan, investigator's brochure, design verification and validation report, Essential Principles checklist, informed consent form, investigator undertaking and ethics committee approval. https://www.cdsco.gov.in/opencms/export/sites/CDSCO_WEB/Pdf-documents/medical-device/ChecklisFormMD-22MD.pdf
[11] Operon Strategist. India waives local trials: exemption for investigational devices with EU clearance (Rule 63, Form MD-26 → MD-27; approval by US, UK, Australia, Canada, Japan or EU regulators and 2 years' marketing; post-marketing investigation in India); 2026. https://operonstrategist.com/exemption-for-investigational-medical-devices-eu-approval/
[12] Pure Global. India G.S.R. 744(E), Medical Devices (Third Amendment) Rules, 2026, 14 August 2026: 'or European Union countries' added to Rule 63(1) proviso (iv); Class A non-sterile non-measuring self-certification revised. https://www.pureglobal.com/news/india-gsr-744e-eu-rule-63-class-a-qms-2026
[13] CDSCO. Form MD-14: application for licence to import medical devices (licence in Form MD-15; Central Licensing Authority; Rules 34–36). https://cdsco.gov.in/opencms/export/sites/CDSCO_WEB/Pdf-documents/medical-device/14MD.pdf
[14] Corpseed. Permission to import medical devices, Form MD-14 and Form MD-15: Central Licensing Authority decides within 9 months; 6 to 9 months in practice. https://www.corpseed.com/knowledge-centre/permission-to-import-medical-devices-form-md-14-and-form-md-15
[15] SCC Online blog. Medical Devices (Fifth Amendment) Rules 2022, G.S.R. 754(E) of 30 September 2022: Rule 87A requires anyone selling, stocking, exhibiting or distributing medical devices to apply to the State Licensing Authority in Form MD-41 for a Registration Certificate in Form MD-42 (fee Rs 3,000; retention Rs 3,000). https://www.scconline.com/blog/?p=274997
[16] Corpseed. Medical device wholesalers, traders and retailers registration (CDSCO Form MD-42): fee Rs 3,000, retention Rs 3,000; the State Licensing Authority may reject within 10 days. https://corpseed.com/knowledge-centre/medical-device-wholesalers-traders-and-retailers-registration-cdsco-form-md-42
[17] TeamLease RegTech. Medical Devices (Sixth Amendment) Rules, 2022, G.S.R. 777(E), 14 October 2022: Class A non-sterile, non-measuring devices registered online with an undertaking and a self-certified Essential Principles checklist; no manufacturing licence. https://www.teamleaseregtech.com/updates/article/19622/medical-devices-sixth-amendment-rules-2022
[18] Pure Global. India G.S.R. 743(E), Medical Devices (Second Amendment) Rules, 2026, 14 August 2026: Rule 44(p) sterilisation-site licence number on the label (mandatory 14 February 2027); 'Certificate of Registration' defined for Forms MD-2, MD-40 and MD-42; Ninth Schedule of testing fees under Rules 19 and 69. https://www.pureglobal.com/news/india-gsr-743e-sterilisation-label-ninth-schedule-2026
[19] CliniExperts. MoHFW issues draft amendment to MDR-2017, G.S.R. 883(E), 4 December 2025: perpetual validity of Forms MD-2, MD-5, MD-6, MD-9, MD-10 and MD-15 subject to retention fees; new Form MD-44 for test or evaluation reports; registration number on Class A labels. https://cliniexperts.com/regulatory-update/2025-12-04_-g-s-r-883e_draft-notification-for-amendment-in-medical-device-rules-2017/
[20] CDSCO. Public notice on the Medical Device online system (cdscomdonline.gov.in) for MDR-2017 applications: licences, registrations, test licences and clinical investigations. https://www.cdsco.gov.in/opencms/resources/UploadCDSCOWeb/2018/UploadPublic_NoticesFiles/fmd.pdf
[21]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Fees and statutory clocks by class (Second Schedule)
TIME Reference slide (Q&amp;A or handout)
CORE SCRIPT (say this; about 139 words)
The fees are small and the clocks are long. A Class A or B manufacturing licence costs Rs 5,000 per site plus Rs 500 per device; Class C or D costs Rs 50,000 plus Rs 1,000. Imports are priced in dollars: 1,000, 2,000 or 3,000 per site plus 50, 1,000 or 1,500 per device. A test licence is Rs 500 per device. Licences never expire, but the same amount falls due every five years as a retention fee. The clocks: Class A is licensed on documents within 45 days and audited within 120 days afterwards; Class B is audited within 90 days before grant; Class C and D are inspected within 60 days with a decision 45 days after the report. A June 2026 draft would cut Class B to 115 days and Class C and D to 90.
DETAIL BELOW: use if time allows or if asked
PURPOSE
Answer the two questions every start-up asks: how much, and how long. Keep expectations realistic: statutory day-limits are not the lived timeline.
SAY
Top table, the Second Schedule fees. The first row is the authority: the State Licensing Authority licenses Class A and B manufacture, CDSCO licenses Class C and D and every import. Manufacturing and loan licences cost Rs 5,000 per site plus Rs 500 per distinct device for Class A and B, and Rs 50,000 plus Rs 1,000 for Class C and D; Class A non-sterile non-measuring devices pay no licence fee because they only register. The retention fee, due every five years, is the same amount again. Import licences are priced in US dollars: Class A 1,000 per site plus 50 per device, Class B 2,000 plus 1,000, Class C and D 3,000 plus 1,500. A test licence to manufacture is Rs 500 per device and to import is 100 dollars per device. Sale registration under Rule 87A is Rs 3,000 with a Rs 3,000 retention.
Bottom table, the clocks. Under the current rules the State grants a Class A licence after document scrutiny within 45 days without a prior audit, and the notified body audits within 120 days of the grant. For Class B the notified body must audit within 90 days of the application, before the grant; press reports put the end-to-end Class B timeline at up to 140 days. For Class C and D the Centre causes an inspection within 60 days (Rule 23(1)) and decides within 45 days of the inspection report (Rule 21(4)); reported end-to-end figures range from 105 to 150 days depending on the source. The amber row is the draft Medical Devices (Amendment) Rules 2026, G.S.R. 515(E) of 23 June 2026: Class B would run on a 30 + 30 + 20 + 15 + 20-day sequence (scrutiny and assignment, audit, closure verification, report, decision), 115 days in all; Class C and D would move from 45 to 30 days for the decision and 60 to 55 for the inspection, 90 days in all; Class A is unchanged. As of 7 October 2026 no search result showed the draft finalised. Import decisions are due within 9 months; practitioners quote 6 to 9. Miss a retention fee and a 2% monthly late fee runs; after 180 days (manufacture) or 90 days (import) the licence is deemed cancelled.
DEBRIEF POINTS
For an Indian team the budget line is not the government fee but the notified-body audit, the QMS build and the testing, which the Rules price separately: G.S.R. 743(E) of 14 August 2026 added a Ninth Schedule of testing fees under Rules 19 and 69 (amounts not captured in our research). Point students to the fee help file on cdscomdonline.gov.in for the live figures.
CAUTION
Clinical-investigation (MD-22) fees are set in the Second Schedule but the amounts were not verified; do not quote a figure. The Class C/D 'current' total is reported inconsistently (105 days by the Tribune and Business Standard, up to 150 days by S.S. Rana): give both or neither. The 45-day and 120-day Class A limits and the 90-day Class B audit limit come from 2017 commentary, not the gazette text; the sub-rule numbers were not verified. IVD import fees differ from the device fees shown and were not verified.
TRANSITION
The documents behind these tables are listed on the next page.
SOURCES
[1] Ministry of Health and Family Welfare. Medical Devices Rules, 2017 (as amended), consolidated text, CDSCO. https://cdsco.gov.in/opencms/resources/UploadCDSCOWeb/2022/m_device/mdr,%202017%20(1).pdf
[2] CDSCO Medical Device online portal. Fee help file (Second Schedule, MDR-2017): manufacturing licence Class A/B Rs 5,000 per site + Rs 500 per device; Class C/D Rs 50,000 + Rs 1,000; test licence Rs 500 per device. https://cdscomdonline.gov.in/NewMedDev/resources/app_srv/NMD/global/helpfiles/nmd_fee.pdf/
[3] Lawrbit. Medical device import licence India procedure: Form MD-14 to MD-15; fees US$1,000 (A), $2,000 (B), $3,000 (C/D) per site plus $50 / $1,000 / $1,500 per device. https://www.lawrbit.com/industry-specific/medical-device-import-license-india-procedure/
[4] Lawrbit. Class A and B medical device manufacturing licence in India: MD-3 → MD-5; licence valid indefinitely subject to the retention fee every 5 years. https://www.lawrbit.com/industry-specific/class-a-b-medical-device-manufacturing-license-india/
[5] Lawrbit. Test licence to import medical devices in India: Form MD-16 application, Form MD-17 licence; fee US$100 per distinct device. https://www.lawrbit.com/industry-specific/test-license-import-medical-devices-india-procedure/
[6] Corpseed. Medical device wholesalers, traders and retailers registration (CDSCO Form MD-42): fee Rs 3,000, retention Rs 3,000; the State Licensing Authority may reject within 10 days. https://corpseed.com/knowledge-centre/medical-device-wholesalers-traders-and-retailers-registration-cdsco-form-md-42
[7] Lexplosion. Stakeholders in the medical devices sector urged by CDSCO to ensure timely payment of retention fees to maintain validity of licences and certificates (late fee 2% a month; deemed cancellation after 180 days for manufacturing and 90 days for import licences); 2024. https://lexplosion.in/stakeholders-in-medical-devices-sector-urged-by-cdsco-to-ensure-timely-payment-of-retention-fees-to-maintain-validity-of-licenses-and-certificates/
[8] Applied Clinical Trials. New regulations for medical devices in India: Class A licence within 45 days with audit within 120 days after grant; Class B notified-body audit within 90 days before grant; 2017. https://www.appliedclinicaltrialsonline.com/view/new-regulations-medical-devices-india
[9] S.S. Rana &amp; Co. Medical Devices Rules: faster manufacturing licence approvals (draft G.S.R. 515(E), 23 June 2026; current Class C/D timeline up to 150 days; Class B up to 140 days per press reports); June 2026. https://ssrana.in/articles/medical-devices-rules-faster-manufacturing-licence-approvals/
[10] Asia Actual. India proposes targeted amendments to the Medical Devices Rules: draft G.S.R. 515(E), 23 June 2026, cuts manufacturing-licence timelines from 140 to 115 days (Class B) and 105 to 90 days (Class C and D); objections within 30 days. https://asiaactual.com/blog/india-proposes-targeted-amendments-to-medical-devices-rules/
[11] Corpseed. Permission to import medical devices, Form MD-14 and Form MD-15: Central Licensing Authority decides within 9 months; 6 to 9 months in practice. https://www.corpseed.com/knowledge-centre/permission-to-import-medical-devices-form-md-14-and-form-md-15
[12] Pure Global. India G.S.R. 743(E), Medical Devices (Second Amendment) Rules, 2026, 14 August 2026: Rule 44(p) sterilisation-site licence number on the label (mandatory 14 February 2027); 'Certificate of Registration' defined for Forms MD-2, MD-40 and MD-42; Ninth Schedule of testing fees under Rules 19 and 69. https://www.pureglobal.com/news/india-gsr-743e-sterilisation-label-ninth-schedule-2026
[13] CliniExperts. MoHFW issues draft amendment to MDR-2017, G.S.R. 883(E), 4 December 2025: perpetual validity of Forms MD-2, MD-5, MD-6, MD-9, MD-10 and MD-15 subject to retention fees; new Form MD-44 for test or evaluation reports; registration number on Class A labels. https://cliniexperts.com/regulatory-update/2025-12-04_-g-s-r-883e_draft-notification-for-amendment-in-medical-device-rules-2017/
[14] TeamLease RegTech. Medical Devices (Sixth Amendment) Rules, 2022, G.S.R. 777(E), 14 October 2022: Class A non-sterile, non-measuring devices registered online with an undertaking and a self-certified Essential Principles checklist; no manufacturing licence. https://www.teamleaseregtech.com/updates/article/19622/medical-devices-sixth-amendment-rules-2022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CDSCO documents to keep at hand
TIME Reference slide (Q&amp;A or handout)
CORE SCRIPT (say this; about 111 words)
Nine documents cover most questions a device team will meet. The Rules themselves, G.S.R. 78(E) of 31 January 2017, in force from 1 January 2018. The 2018 FAQ and its IVD companion. The one-sheet regulatory pathway. The classification lists that began on 3 September 2020 with about 1,866 devices. The MD-22 checklist for a clinical investigation. The software guidance of 21 July 2026, the only final guidance on software, AI and connected devices. The still-draft post-market surveillance guidance. The materiovigilance circular of 15 May 2024 and its forms. And the fee file plus the list of testing laboratories. The strip at the bottom is the amendment history in seven gazette numbers.
DETAIL BELOW: use if time allows or if asked
PURPOSE
Give the audience a reading list that is specific enough to search for by number. Mark which documents are binding, which are final guidance and which are still drafts.
SAY
Status colours: teal is in force or final, marigold is draft, grey is a reference or checklist.
The Rules: Medical Devices Rules, 2017, notified as G.S.R. 78(E) on 31 January 2017 under the Drugs and Cosmetics Act, 1940, in force from 1 January 2018. Rule 4 and the First Schedule set the four classes; the Fifth Schedule sets the QMS; Chapter VI (Rule 44) sets labelling; Chapter VII governs clinical investigation; Rule 63 governs devices without a predicate.
The FAQ, document CDSCO/FAQ/MD/01/2018, answers licensing questions in plain language and explains that notified bodies registered under Rule 13, accredited by NABCB, audit Class A and B sites; the IVD FAQ of March 2022 gives classification examples such as specimen collection tubes (Class A) and an alcohol body-fluid analyser (Class B). An addendum to the FAQ has also been issued.
The regulatory pathway sheet maps forms to authorities on one page.
Classification lists: on 3 September 2020 CDSCO classified about 1,866 non-notified devices in 24 categories and 80 IVDs in 3; Class B alone held 779 devices. Later lists include paediatric and neonatology (23 August 2021), a revised cardiovascular list (April 2025) and 187 interventional-radiology devices.
The MD-22 checklist lists the Seventh Schedule dossier and asks whether the study is pilot, pivotal or post-marketing.
Software: Guidance Document on Medical Device Software under MDR-2017, CDSCO/MD/GD/MDSW/01/2026, final on 21 July 2026 after a draft of 21 October 2025; 62 pages covering software as a medical device, software in a device, cloud and networked systems, AI and machine learning and IVD software, with classification by intended use, software-lifecycle and cybersecurity controls, AI change planning and post-market obligations. CDSCO says it is not a new regulatory control.
Post-market surveillance: CDSCO posted a draft guidance in 2018 and an IVD-specific draft (CDSCO/IVD/GD/PMS/01/2022, 7 July 2022) aimed at Class C and D and point-of-care or home-use IVDs; neither has been reported as finalised.
Materiovigilance: the circular of 15 May 2024 reiterated that every licence holder must report suspected unexpected serious adverse events to the Materiovigilance Programme of India, coordinated by the Indian Pharmacopoeia Commission, using the Medical Device Adverse Event form (version 1.2) and the field safety corrective action form; IPC published a draft IVD adverse-event form on 17 February 2025.
Reference: the fee help file on cdscomdonline.gov.in, and the gazette designating Central Medical Device Testing Laboratories under Rule 19: NIB Noida for IVDs, CDTL Chennai for condoms, CDL Kolkata for dressings, RDTL Guwahati for syringes and needles, CDTL Mumbai for IUDs.
The amendment strip: G.S.R. 102(E) of 11 February 2020 brought every device under the Rules from 1 April 2020 with Chapter IIIA registration; G.S.R. 918(E) of 31 December 2021 deferred the UDI start date; G.S.R. 754(E) of 30 September 2022 created the MD-41 to MD-42 sale registration; G.S.R. 777(E) of 14 October 2022 created the registration-only route for Class A non-sterile non-measuring devices; G.S.R. 743(E) and 744(E) of 14 August 2026 added the sterilisation-site label (mandatory from 14 February 2027), the Ninth Schedule of testing fees, EU approvals in the Rule 63 waiver and revised Class A self-certification; two drafts, G.S.R. 883(E) of 4 December 2025 (perpetual validity, Form MD-44) and G.S.R. 515(E) of 23 June 2026 (licence clocks), were not confirmed as final on 7 October 2026.
DEBRIEF POINTS
If asked what is missing: there is no final CDSCO guidance on UDI, on change notification, on recalls or on clinical investigation beyond the checklist; the 2018 PMS draft was never reported finalised; BIS IS 23485 bundles ISO 13485:2016 with the Essential Principles standards and is the Indian QMS reference.
CAUTION
No primary CDSCO PDF could be opened during preparation; numbers and dates come from file titles and secondary summaries. The FAQ addendum's date and content (reported to distinguish major and minor changes) were not verified. Whether G.S.R. 883(E) was finalised in early 2026 is unknown; if it was, the 2026 sequence has a 'First Amendment' before 743(E) and 744(E). The S.O. number 648(E) for the 11 February 2020 'all devices' notification did not appear verbatim in results.
TRANSITION
The last page returns to our two devices and asks what evidence we would want before any stronger claim.
SOURCES
[1] Ministry of Health and Family Welfare. Medical Devices Rules, 2017 (as amended), consolidated text, CDSCO. https://cdsco.gov.in/opencms/resources/UploadCDSCOWeb/2022/m_device/mdr,%202017%20(1).pdf
[2] CDSCO. FAQ on Medical Devices, 2018: Rule 13 notified bodies registered with the CLA audit Class A and B manufacturing sites (Fifth Schedule QMS); NABCB accreditation. https://cdsco.gov.in/opencms/resources/UploadCDSCOWeb/2018/UploadImmunization/FAQmd2018.pdf
[3] FDAnews. India's CDSCO responds to questions on the Medical Device Rules 2017 (document CDSCO/FAQ/MD/01/2018); 2018. https://www.fdanews.com/articles/12833-indias-cdsco-responds-to-questions-on-medical-device-rule-2017
[4] CDSCO. Frequently Asked Questions on in vitro diagnostic medical devices (CDSCO-IVD-FAQ-03-2022): classification examples under First Schedule Part II (specimen collection tubes Class A; alcohol body-fluid analyser Class B). https://cdsco.gov.in/opencms/export/sites/CDSCO_WEB/Pdf-documents/IVD/FAQs/CDSCO-IVD-FAQ-03-2022-.pdf
[5] CDSCO. Regulatory pathway under the Medical Devices Rules, 2017 (overview). https://cdsco.gov.in/opencms/export/sites/CDSCO_WEB/Pdf-documents/medical-device/RegulatoryMDR-2017.pdf
[6] Freyr Solutions. Classification of non-notified medical devices and IVDs in India: decoding CDSCO's notices of 3 September 2020 (about 1,866 devices in 24 categories, 80 IVDs in 3 categories; Class B 779 devices and 38 IVDs). https://www.freyrsolutions.com/blog/classification-of-non-notified-medical-devices-and-ivds-in-india-decode-cdscos-new-notices
[7] Corpbiz. CDSCO medical device registration for paediatrics and neonatology: category classification list issued by the DCGI on 23 August 2021. https://corpbiz.io/learning/cdsco-medical-device-registration-for-paediatrics-and-neonatology/
[8] Business Standard. CDSCO issues revised risk classification list for cardiovascular devices; 2 April 2025. https://www.business-standard.com/health/cdsco-issues-revised-risk-classification-list-for-cardiovascular-devices-125040201067_1.html
[9] CDSCO. Checklist for Form MD-22 (clinical investigation): Seventh Schedule documents including the clinical investigation plan, investigator's brochure, design verification and validation report, Essential Principles checklist, informed consent form, investigator undertaking and ethics committee approval. https://www.cdsco.gov.in/opencms/export/sites/CDSCO_WEB/Pdf-documents/medical-device/ChecklisFormMD-22MD.pdf
[10] CDSCO. Guidance Document on Medical Device Software under the Medical Devices Rules, 2017 (CDSCO/MD/GD/MDSW/01/2026); 21 July 2026. https://cdsco.gov.in/opencms/export/sites/CDSCO_WEB/Pdf-documents/Guidance-document-on-Medical-Device-Software-under-MDR-2017.pdf
[11] CDSCO. Draft Guidance Document on Medical Device Software; 21 October 2025. https://cdsco.gov.in/opencms/resources/UploadCDSCOWeb/2018/UploadPublic_NoticesFiles/Draft%20guidance%20document%20on%20Medical%20Device%20Software%2021%2010%202025.pdf
[12] Pure Global. India CDSCO Medical Device Software Guidance 2026: classification by medical purpose, significance of the information and severity of the condition; lifecycle, cybersecurity and AI change-planning expectations (secondary summary of CDSCO/MD/GD/MDSW/01/2026). https://www.pureglobal.com/news/india-cdsco-medical-device-software-guidance-2026
[13] CDSCO. Draft Guidance on Post Market Surveillance of Medical Devices; 2018. https://cdsco.gov.in/opencms/resources/UploadCDSCOWeb/2018/UploadPublic_NoticesFiles/2Draft%20Guidance%20on%20PMS.pdf
[14] RAPS. Asia-Pacific roundup: India releases a trio of IVD guidances, including Guidance on Post-Market Surveillance of IVD Medical Devices (CDSCO/IVD/GD/PMS/01/2022, 7 July 2022; Class C and D and point-of-care or home-use IVDs). https://www.raps.org/resource/asia-pacific-roundup-india-releases-a-trio-of-ivd.html
[15] Business Standard. Medical device bodies welcome CDSCO order on self-reporting adverse effects; 21 May 2024 (CDSCO circular of 15 May 2024: all medical-device licence holders must report every suspected unexpected serious adverse event to the Materiovigilance Programme of India). https://www.business-standard.com/health/medical-device-bodies-welcome-cdsco-order-on-self-reporting-adverse-effects-124052101276_1.html
[16] Indian Pharmacopoeia Commission. Materiovigilance Programme of India (MvPI): About us. Launched 6 July 2015; helpline 1800-180-3024; mvpi-ipc@gov.in. https://ipc.gov.in/mandates/materiovigilance-programme-of-india-mvpi/about-us.html
[17] Indian Pharmacopoeia Commission. Medical Device Adverse Event Reporting Form, version 1.2 (open to manufacturers, importers, distributors, healthcare professionals and patients). https://nhsrcindia.org/sites/default/files/Medical-Devices-Adverse-Event-Reporting-Form-(Version-1.2).pdf
[18] Indian Pharmacopoeia Commission. Inviting stakeholder comments on the in vitro diagnostic medical device adverse event reporting form; 17 February 2025 (comments by 5 March 2025). https://www.ipc.gov.in/images/Inviting_stakeholders_comments_for_Invitro_Diagnostic_Medical_Device_adverse_event_reporting_form.pdf
[19] CDSCO Medical Device online portal. Fee help file (Second Schedule, MDR-2017): manufacturing licence Class A/B Rs 5,000 per site + Rs 500 per device; Class C/D Rs 50,000 + Rs 1,000; test licence Rs 500 per device. https://cdscomdonline.gov.in/NewMedDev/resources/app_srv/NMD/global/helpfiles/nmd_fee.pdf/
[20] Ministry of Health and Family Welfare. Gazette notification designating Central Medical Device Testing Laboratories under Rule 19 of MDR-2017: NIB Noida (IVDs), CDTL Chennai (condoms), CDL Kolkata (dressings, cotton, bandages, disinfectants), RDTL Guwahati (syringes, needles, perfusion sets, IV cannulae), CDTL Mumbai (IUDs, Falope rings); 2018. https://cdsco.gov.in/opencms/resources/UploadCDSCOWeb/2018/UploadGazette_NotificationsFiles/2237.pdf
[21] LegitQuest. Medical Devices (Amendment) Rules, 2020, G.S.R. 102(E), 11 February 2020: Chapter IIIA registration of newly notified devices (voluntary 18 months from 1 April 2020, then mandatory); licences mandatory for Class A/B from 1 October 2022 and Class C/D from 1 October 2023. https://www.legitquest.com/act/medical-devices-amendment-rules-2020/9813
[22] CDSCO. Notice on S.O. 648(E) of 11 February 2020 (all medical devices notified as drugs with effect from 1 April 2020) and G.S.R. 102(E). https://cdsco.gov.in/opencms/export/sites/CDSCO_WEB/Pdf-documents/mdgsr.pdf
[23] SCC Online. Draft Medical Devices (Amendment) Rules 2021 introduces unique device identification (Rule 46; final G.S.R. 918(E), 31 December 2021 deferred the 1 January 2022 start date until further orders). https://www.scconline.com/blog/post/2021/12/24/draft-medical-devices-amendment-rules-2021-introduces-unique-device-identification-of-the-medical-device/
[24] SCC Online blog. Medical Devices (Fifth Amendment) Rules 2022, G.S.R. 754(E) of 30 September 2022: Rule 87A requires anyone selling, stocking, exhibiting or distributing medical devices to apply to the State Licensing Authority in Form MD-41 for a Registration Certificate in Form MD-42 (fee Rs 3,000; retention Rs 3,000). https://www.scconline.com/blog/?p=274997
[25] TeamLease RegTech. Medical Devices (Sixth Amendment) Rules, 2022, G.S.R. 777(E), 14 October 2022: Class A non-sterile, non-measuring devices registered online with an undertaking and a self-certified Essential Principles checklist; no manufacturing licence. https://www.teamleaseregtech.com/updates/article/19622/medical-devices-sixth-amendment-rules-2022
[26] Pure Global. India G.S.R. 743(E), Medical Devices (Second Amendment) Rules, 2026, 14 August 2026: Rule 44(p) sterilisation-site licence number on the label (mandatory 14 February 2027); 'Certificate of Registration' defined for Forms MD-2, MD-40 and MD-42; Ninth Schedule of testing fees under Rules 19 and 69. https://www.pureglobal.com/news/india-gsr-743e-sterilisation-label-ninth-schedule-2026
[27] Pure Global. India G.S.R. 744(E), Medical Devices (Third Amendment) Rules, 2026, 14 August 2026: 'or European Union countries' added to Rule 63(1) proviso (iv); Class A non-sterile non-measuring self-certification revised. https://www.pureglobal.com/news/india-gsr-744e-eu-rule-63-class-a-qms-2026
[28] CliniExperts. MoHFW issues draft amendment to MDR-2017, G.S.R. 883(E), 4 December 2025: perpetual validity of Forms MD-2, MD-5, MD-6, MD-9, MD-10 and MD-15 subject to retention fees; new Form MD-44 for test or evaluation reports; registration number on Class A labels. https://cliniexperts.com/regulatory-update/2025-12-04_-g-s-r-883e_draft-notification-for-amendment-in-medical-device-rules-2017/
[29] Asia Actual. India proposes targeted amendments to the Medical Devices Rules: draft G.S.R. 515(E), 23 June 2026, cuts manufacturing-licence timelines from 140 to 115 days (Class B) and 105 to 90 days (Class C and D); objections within 30 days. https://asiaactual.com/blog/india-proposes-targeted-amendments-to-medical-devices-rules/
[30] Bureau of Indian Standards. BIS publishes IS 23485: Medical devices, quality management system requirements and essential principles of safety and performance (ISO 13485:2016 with ISO 16142-1:2016 and ISO 16142-2:2017). https://www.bis.gov.in/bis-publishes-is-23485-medical-devices-quality-management-system-requirements-and-essential-principles-of-safety-performance-for-medical-devices
[31] CDSCO. Public notice on notified bodies registered under Rule 13 of MDR-2017 (first registrations: Intertek India and TUV Rheinland India; later six bodies); 4 May 2018. https://www.cdsco.gov.in/opencms/resources/UploadCDSCOWeb/2018/UploadPublic_NoticesFiles/notified_body_notice_70.pdf
[32] CliniExperts. Licence applications for Class C and D medical devices deemed valid for up to 6 months (CDSCO order of 12 October 2023; no general extension of the 1 October 2023 date). https://cliniexperts.com/regulatory-update/license-applications-for-class-c-and-d-medical-devices-deemed-valid-for-upto-6-months/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 Evidence to request before stronger claims
TIME Reference slide (Q&amp;A or handout)
CORE SCRIPT (say this; about 93 words)
Same five questions for both devices: outcome, comparison, who and where, burden and harm, version. For FoGO: detection against video-annotated freezes, then falls and confidence; validation on people the model has never seen; cue versus no cue; homes, turns and doorways; false cues per hour and latency; firmware and model version on every result. For SwaKnee: pain and function against patient-important thresholds, in a randomised, blinded, sham-controlled and prospectively registered study; adverse events, adherence to the 45-minute sessions and durability; controller and applicator version on every result. Today both sit at 'reported, preliminary'.
DETAIL BELOW: use if time allows or if asked
PURPOSE
Back-pocket slide for Q&amp;A on what each project should show next; also the template students can reuse for their own devices. Ported from the v1 deck and extended with benchmarks and the current status.
SAY
Outcome. FoGO reports F1 scores on public datasets; the claim that matters to Ramesh is fewer falls and more confident walking, so detection should be measured against video-annotated freezing events and then against falls, confidence and walking outcomes. SwaKnee should be measured on pain and function against patient-important thresholds: for knee osteoarthritis the minimal clinically important improvement in pain is about 19.9 mm on a 100 mm scale, or 40.8% from baseline (Tubach 2005). Structural outcomes belong in the plan only if structural claims are made.
Comparison. FoGO needs participant-level validation, that is, performance on people the model never trained on, and a cue versus no-cue or sham-cue comparison. SwaKnee needs a randomised, blinded, sham-controlled design, registered on CTRI before enrolment, with co-interventions recorded. The benchmarks: the RESCUE trial of home cueing (n = 153) found modest gait gains and did not count falls; the Cochrane review of electromagnetic fields for osteoarthritis (9 trials, 636 adults) found pain probably about 15 points in 100 better than sham.
Who and where. FoGO: disease stage and walking aids, and testing in homes, turns and doorways rather than only the laboratory; wearable-sensor reviews report sensitivity of 73 to 100% and specificity of 67 to 100%, mostly in laboratories. SwaKnee: age, BMI, severity, comorbidities and rural access; knee osteoarthritis was found in 28.7% of adults in a five-site Indian community survey.
Burden and harm. FoGO: false cues per hour and latency in real use, missed events, signal loss, skin and data. SwaKnee: adverse events, adherence to 45-minute daily sessions over 45 days, support needs and durability after the course. The standards: ISO 14971:2019 for risk management, IEC 62366-1 for usability, ISO 14155:2026 for good clinical practice in device studies.
Version. Firmware and model version for every FoGO result; controller and applicator version for every SwaKnee result. CDSCO's software guidance of 21 July 2026 expects software-lifecycle control and AI change planning, so version discipline is also a regulatory expectation.
Status today. FoGO: subject-wise F1 0.83 to 0.85 and cross-dataset F1 0.74 to 0.80 on public datasets, 0.15 to 0.18 false alarms per minute, an MD-13 test licence for 25 units dated 10 August 2026 and a clinical proof-of-concept planned at AIIMS Bhubaneswar; all project-reported. SwaKnee: a company-reported 45-day comparison, 40 device users against 42 comparators, about 32% against 14% average VAS pain reduction, not peer-reviewed; OARSI 2019 strongly recommends against electromagnetic therapy and NICE NG226 says do not offer the listed electrotherapies.
DEBRIEF POINTS
The rule for the Q&amp;A: before accepting a stronger adjective (validated, proven, safe) ask which row of this table it rests on and which device version produced the number. IDEAL-D makes the same point as a framework: evaluate devices in stages and match the claim to the stage.
EVIDENCE STATUS
FoGO: Demonstrated on public datasets and a bench cue study; Reported, preliminary for everything about real users; Planned for the AIIMS Bhubaneswar proof-of-concept; Not established for falls or walking outcomes. SwaKnee: Reported, preliminary (company-reported comparison; design, blinding and registration details not published); Not established against guideline-grade evidence.
CAUTION
The SwaKnee figures are rounded as transcribed from the supplied deck; re-check swayogya.in/evidence.html before presenting and state whether the study was registered. Do not call the FoGO F1 scores 'validation': they are retrospective, on other people's datasets. The MCII figure is for knee osteoarthritis pain on a 100 mm VAS in a 2005 French cohort; use it as a yardstick, not a pass mark. The CTRI registration expectation is taken from ICMR guidance and the MDR dossier; the specific MDR rule number was not verified.
TRANSITION
End of the appendix.
SOURCES
[1]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[2] Swayogya Rehab Solutions. SwaKnee evidence page: company-reported comparative 45-day study, device n=40 vs comparison n=42, ≈32% vs ≈14% average VAS pain reduction from baseline. Rounded figures as transcribed in the supplied original deck; re-check the live page before presenting. https://www.swayogya.in/evidence.html
[3] Swa knee_Leaflet.pdf. Supplied product material: 45-minute daily sessions over 45 days (illustration of time burden, not a prescription).
[4] Sedrakyan A, Campbell B, Merino JG, Kuntz R, Hirst A, McCulloch P. IDEAL-D: a rational framework for evaluating and regulating the use of medical devices. BMJ. 2016;353:i2372. https://pubmed.ncbi.nlm.nih.gov/27283585/
[5] Tubach F, Ravaud P, Baron G, et al. Evaluation of clinically relevant changes in patient reported outcomes in knee and hip osteoarthritis: the minimal clinically important improvement. Ann Rheum Dis. 2005;64(1):29–33 (knee OA pain MCII −19.9 mm, −40.8%). https://ard.bmj.com/content/64/1/29.full.pdf
[6] Bächlin M, Plotnik M, Roggen D, et al. Wearable assistant for Parkinson's disease patients with the freezing of gait symptom. IEEE Trans Inf Technol Biomed. 2010 (10 patients in the laboratory; 8 froze; 237 video-labelled events). https://folia.unifr.ch/global/documents/222920
[7] Nieuwboer A, et al. Cueing training in the home improves gait-related mobility in Parkinson's disease: the RESCUE trial. J Neurol Neurosurg Psychiatry. 2007;78(2):134 (n=153; small gait gains and lower freezing severity in freezers; fall counts not measured). https://jnnp.bmj.com/content/78/2/134
[8] Silva de Lima AL, Evers LJW, Hahn T, et al. Freezing of gait and fall detection in Parkinson's disease using wearable sensors: a systematic review. J Neurol. 2017 (sensitivity 73–100%, specificity 67–100%). https://www.ncbi.nlm.nih.gov/pmc/articles/PMC5533840/
[9] Li S, Yu B, Zhou D, et al. Electromagnetic fields for treating osteoarthritis. Cochrane Database Syst Rev. 2013;(12):CD003523 (9 trials, 636 adults: pain probably improves about 15/100 more than sham; function uncertain). https://www.cochrane.org/evidence/CD003523_electromagnetic-fields-treatment-osteoarthritis
[10] Bannuru RR, Osani MC, Vaysbrot EE, et al. OARSI guidelines for the non-surgical management of knee, hip, and polyarticular osteoarthritis. Osteoarthritis Cartilage. 2019 (electromagnetic therapy strongly recommended against). https://www.esceo.org/sites/esceo/files/pdf/Bannuru_O%26C_OARSIguidelines_2019.pdf
[11] NICE. Osteoarthritis in over 16s: diagnosis and management (NG226); October 2022 (do not offer listed electrotherapies: insufficient evidence of benefit). https://www.nice.org.uk/guidance/ng226/chapter/Recommendations
[12] Pal CP, Singh P, Chaturvedi S, Pruthi KK, Vij A. Epidemiology of knee osteoarthritis in India and related factors. Indian J Orthop. 2016;50(5):518–522 (28.7% in a five-site community survey). https://pmc.ncbi.nlm.nih.gov/articles/PMC5017174
[13] ISO 14971:2019. Medical devices — Application of risk management to medical devices. https://www.iso.org/standard/72704.html
[14] IEC 62366-1:2015+AMD1:2020. Medical devices — Part 1: Application of usability engineering to medical devices. https://webstore.iec.ch/en/publication/67220
[15] ISO 14155:2026. Clinical investigation of medical devices for human subjects — Good clinical practice (supersedes ISO 14155:2020). https://www.iso.org/standard/83968.html
[16] CDSCO. Guidance Document on Medical Device Software under the Medical Devices Rules, 2017 (CDSCO/MD/GD/MDSW/01/2026); 21 July 2026. https://cdsco.gov.in/opencms/export/sites/CDSCO_WEB/Pdf-documents/Guidance-document-on-Medical-Device-Software-under-MDR-2017.pdf
[17] Indian Council of Medical Research. National Ethical Guidelines for Biomedical and Health Research Involving Human Participants. New Delhi: ICMR; 2017 (Section 5 informed consent; Section 6 vulnerability; Section 7.7 device trials). https://ethics.ncdirindia.org/asset/pdf/ICMR_National_Ethical_Guidelines.pdf
[18] CDSCO. Form MD-12: application for licence to manufacture medical devices for clinical investigation, test, evaluation, examination, demonstration or training (licence in Form MD-13). https://cdsco.gov.in/opencms/export/sites/CDSCO_WEB/Pdf-documents/medical-device/12MD.pdf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Teaching materials: Stanford Biodesign and Harvard
Clickable source list for participants and for Q&amp;A. Each linked title opens the source; the full citation is in docs/References.pdf.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Teaching materials: Cambridge, and evaluation frameworks
Clickable source list for participants and for Q&amp;A. Each linked title opens the source; the full citation is in docs/References.pdf.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India: regulation, guidance, pricing and safety (1/7)
Clickable source list for participants and for Q&amp;A. Each linked title opens the source; the full citation is in docs/References.pdf.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India: regulation, guidance, pricing and safety (2/7)
Clickable source list for participants and for Q&amp;A. Each linked title opens the source; the full citation is in docs/References.pdf.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India: regulation, guidance, pricing and safety (3/7)
Clickable source list for participants and for Q&amp;A. Each linked title opens the source; the full citation is in docs/References.pdf.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India: regulation, guidance, pricing and safety (4/7)
Clickable source list for participants and for Q&amp;A. Each linked title opens the source; the full citation is in docs/References.pdf.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India: regulation, guidance, pricing and safety (5/7)
Clickable source list for participants and for Q&amp;A. Each linked title opens the source; the full citation is in docs/References.pdf.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India: regulation, guidance, pricing and safety (6/7)
Clickable source list for participants and for Q&amp;A. Each linked title opens the source; the full citation is in docs/References.pdf.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India: regulation, guidance, pricing and safety (7/7)
Clickable source list for participants and for Q&amp;A. Each linked title opens the source; the full citation is in docs/References.pdf.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Regulation abroad, ethics and standards (1/2)
Clickable source list for participants and for Q&amp;A. Each linked title opens the source; the full citation is in docs/References.pdf.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Regulation abroad, ethics and standards (2/2)
Clickable source list for participants and for Q&amp;A. Each linked title opens the source; the full citation is in docs/References.pdf.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Case evidence, media and status labels (1/2)
Clickable source list for participants and for Q&amp;A. Each linked title opens the source; the full citation is in docs/References.pdf.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Case evidence, media and status labels (2/2)
Clickable source list for participants and for Q&amp;A. Each linked title opens the source; the full citation is in docs/References.pdf.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ECTION-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DARK-image-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868680"/>
            <a:ext cx="6583680" cy="292608"/>
          </a:xfrm>
          <a:prstGeom prst="rect">
            <a:avLst/>
          </a:prstGeom>
          <a:noFill/>
          <a:ln/>
        </p:spPr>
        <p:txBody>
          <a:bodyPr wrap="square" rtlCol="0"/>
          <a:lstStyle>
            <a:lvl1pPr algn="l" indent="0" marL="0">
              <a:buNone/>
              <a:defRPr lang="en-US" sz="1300" b="1" spc="300" kern="0" dirty="0">
                <a:solidFill>
                  <a:schemeClr val="accent2"/>
                </a:solidFill>
              </a:defRPr>
            </a:lvl1pPr>
          </a:lstStyle>
          <a:p>
            <a:pPr algn="l" indent="0" marL="0">
              <a:buNone/>
            </a:pPr>
            <a:endParaRPr lang="en-US" sz="1300" dirty="0"/>
          </a:p>
        </p:txBody>
      </p:sp>
      <p:sp>
        <p:nvSpPr>
          <p:cNvPr id="3" name="Text 0"/>
          <p:cNvSpPr/>
          <p:nvPr>
            <p:ph idx="101" type="title" hasCustomPrompt="1"/>
          </p:nvPr>
        </p:nvSpPr>
        <p:spPr>
          <a:xfrm>
            <a:off x="548640" y="1280160"/>
            <a:ext cx="6766560" cy="22860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548640" y="3703320"/>
            <a:ext cx="6400800" cy="77724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
        <p:nvSpPr>
          <p:cNvPr id="5" name="Text 0"/>
          <p:cNvSpPr/>
          <p:nvPr>
            <p:ph idx="103" type="body" hasCustomPrompt="1"/>
          </p:nvPr>
        </p:nvSpPr>
        <p:spPr>
          <a:xfrm>
            <a:off x="548640" y="4892040"/>
            <a:ext cx="6400800" cy="731520"/>
          </a:xfrm>
          <a:prstGeom prst="rect">
            <a:avLst/>
          </a:prstGeom>
          <a:noFill/>
          <a:ln/>
        </p:spPr>
        <p:txBody>
          <a:bodyPr wrap="square" rtlCol="0"/>
          <a:lstStyle>
            <a:lvl1pPr algn="l" indent="0" marL="0">
              <a:buNone/>
              <a:defRPr lang="en-US" sz="1500" dirty="0">
                <a:solidFill>
                  <a:schemeClr val="bg1"/>
                </a:solidFill>
              </a:defRPr>
            </a:lvl1pPr>
          </a:lstStyle>
          <a:p>
            <a:pPr algn="l"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103120"/>
            <a:ext cx="7315200" cy="292608"/>
          </a:xfrm>
          <a:prstGeom prst="rect">
            <a:avLst/>
          </a:prstGeom>
          <a:noFill/>
          <a:ln/>
        </p:spPr>
        <p:txBody>
          <a:bodyPr wrap="square" rtlCol="0"/>
          <a:lstStyle>
            <a:lvl1pPr algn="l" indent="0" marL="0">
              <a:buNone/>
              <a:defRPr lang="en-US" sz="1300" b="1" spc="300" kern="0" dirty="0">
                <a:solidFill>
                  <a:schemeClr val="accent2"/>
                </a:solidFill>
              </a:defRPr>
            </a:lvl1pPr>
          </a:lstStyle>
          <a:p>
            <a:pPr algn="l" indent="0" marL="0">
              <a:buNone/>
            </a:pPr>
            <a:endParaRPr lang="en-US" sz="1300" dirty="0"/>
          </a:p>
        </p:txBody>
      </p:sp>
      <p:sp>
        <p:nvSpPr>
          <p:cNvPr id="3" name="Text 0"/>
          <p:cNvSpPr/>
          <p:nvPr>
            <p:ph idx="101" type="title" hasCustomPrompt="1"/>
          </p:nvPr>
        </p:nvSpPr>
        <p:spPr>
          <a:xfrm>
            <a:off x="548640" y="2468880"/>
            <a:ext cx="7498080" cy="146304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0"/>
          <p:cNvSpPr/>
          <p:nvPr>
            <p:ph idx="102" type="body" hasCustomPrompt="1"/>
          </p:nvPr>
        </p:nvSpPr>
        <p:spPr>
          <a:xfrm>
            <a:off x="548640" y="3977640"/>
            <a:ext cx="6949440" cy="914400"/>
          </a:xfrm>
          <a:prstGeom prst="rect">
            <a:avLst/>
          </a:prstGeom>
          <a:noFill/>
          <a:ln/>
        </p:spPr>
        <p:txBody>
          <a:bodyPr wrap="square" rtlCol="0"/>
          <a:lstStyle>
            <a:lvl1pPr algn="l" indent="0" marL="0">
              <a:buNone/>
              <a:defRPr lang="en-US" sz="1700" dirty="0">
                <a:solidFill>
                  <a:schemeClr val="accent6"/>
                </a:solidFill>
              </a:defRPr>
            </a:lvl1pPr>
          </a:lstStyle>
          <a:p>
            <a:pPr algn="l" indent="0" marL="0">
              <a:buNone/>
            </a:pPr>
            <a:endParaRPr lang="en-US" sz="17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rtlCol="0"/>
          <a:lstStyle>
            <a:lvl1pPr algn="l" indent="0" marL="0">
              <a:buNone/>
              <a:defRPr lang="en-US" sz="1200" b="1" spc="15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rtlCol="0"/>
          <a:lstStyle>
            <a:lvl1pPr algn="l" indent="0" marL="0">
              <a:buNone/>
              <a:defRPr lang="en-US" sz="950" dirty="0">
                <a:solidFill>
                  <a:schemeClr val="accent5"/>
                </a:solidFill>
              </a:defRPr>
            </a:lvl1pPr>
          </a:lstStyle>
          <a:p>
            <a:pPr algn="l" indent="0" marL="0">
              <a:buNone/>
            </a:pP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rtlCol="0"/>
          <a:lstStyle>
            <a:lvl1pPr algn="l" indent="0" marL="0">
              <a:buNone/>
              <a:defRPr lang="en-US" sz="1200" b="1" spc="150" kern="0" dirty="0">
                <a:solidFill>
                  <a:schemeClr val="accent2"/>
                </a:solidFill>
              </a:defRPr>
            </a:lvl1pPr>
          </a:lstStyle>
          <a:p>
            <a:pPr algn="l" indent="0" marL="0">
              <a:buNone/>
            </a:pP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rtlCol="0"/>
          <a:lstStyle>
            <a:lvl1pPr algn="l" indent="0" marL="0">
              <a:buNone/>
              <a:defRPr lang="en-US" sz="950" dirty="0">
                <a:solidFill>
                  <a:schemeClr val="accent6"/>
                </a:solidFill>
              </a:defRPr>
            </a:lvl1pPr>
          </a:lstStyle>
          <a:p>
            <a:pPr algn="l" indent="0" marL="0">
              <a:buNone/>
            </a:pP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REFERENCE">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rtlCol="0"/>
          <a:lstStyle>
            <a:lvl1pPr algn="l" indent="0" marL="0">
              <a:buNone/>
              <a:defRPr lang="en-US" sz="1200" b="1" spc="150" kern="0" dirty="0">
                <a:solidFill>
                  <a:schemeClr val="accent5"/>
                </a:solidFill>
              </a:defRPr>
            </a:lvl1pPr>
          </a:lstStyle>
          <a:p>
            <a:pPr algn="l" indent="0" marL="0">
              <a:buNone/>
            </a:pP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rtlCol="0"/>
          <a:lstStyle>
            <a:lvl1pPr algn="l" indent="0" marL="0">
              <a:buNone/>
              <a:defRPr lang="en-US" sz="950" dirty="0">
                <a:solidFill>
                  <a:schemeClr val="accent5"/>
                </a:solidFill>
              </a:defRPr>
            </a:lvl1pPr>
          </a:lstStyle>
          <a:p>
            <a:pPr algn="l" indent="0" marL="0">
              <a:buNone/>
            </a:pP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2.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4.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5.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4.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4.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4.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4.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slideLayout" Target="../slideLayouts/slideLayout5.xml"/><Relationship Id="rId1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5.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4.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6-1.mp4"/><Relationship Id="rId2" Type="http://schemas.microsoft.com/office/2007/relationships/media" Target="../media/media-16-1.mp4"/><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5.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7-1.png"/><Relationship Id="rId3" Type="http://schemas.openxmlformats.org/officeDocument/2006/relationships/image" Target="../media/image-17-2.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slideLayout" Target="../slideLayouts/slideLayout5.xml"/><Relationship Id="rId1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9-1.png"/><Relationship Id="rId3" Type="http://schemas.openxmlformats.org/officeDocument/2006/relationships/image" Target="../media/image-19-2.png"/><Relationship Id="rId4" Type="http://schemas.openxmlformats.org/officeDocument/2006/relationships/image" Target="../media/image-19-3.png"/><Relationship Id="rId5" Type="http://schemas.openxmlformats.org/officeDocument/2006/relationships/image" Target="../media/image-19-4.png"/><Relationship Id="rId6" Type="http://schemas.openxmlformats.org/officeDocument/2006/relationships/slideLayout" Target="../slideLayouts/slideLayout4.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5.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4.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slideLayout" Target="../slideLayouts/slideLayout4.xml"/><Relationship Id="rId1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4.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5.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slideLayout" Target="../slideLayouts/slideLayout4.xml"/><Relationship Id="rId11"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image" Target="../media/image-31-9.png"/><Relationship Id="rId10" Type="http://schemas.openxmlformats.org/officeDocument/2006/relationships/slideLayout" Target="../slideLayouts/slideLayout5.xml"/><Relationship Id="rId1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4.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5.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slideLayout" Target="../slideLayouts/slideLayout4.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image" Target="../media/image-36-7.png"/><Relationship Id="rId8" Type="http://schemas.openxmlformats.org/officeDocument/2006/relationships/slideLayout" Target="../slideLayouts/slideLayout5.xml"/><Relationship Id="rId9"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4.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3.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5.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4.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slideLayout" Target="../slideLayouts/slideLayout5.xml"/><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4.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5.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4.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image" Target="../media/image-45-6.png"/><Relationship Id="rId7" Type="http://schemas.openxmlformats.org/officeDocument/2006/relationships/image" Target="../media/image-45-7.png"/><Relationship Id="rId8" Type="http://schemas.openxmlformats.org/officeDocument/2006/relationships/image" Target="../media/image-45-8.png"/><Relationship Id="rId9" Type="http://schemas.openxmlformats.org/officeDocument/2006/relationships/image" Target="../media/image-45-9.png"/><Relationship Id="rId10" Type="http://schemas.openxmlformats.org/officeDocument/2006/relationships/image" Target="../media/image-45-10.png"/><Relationship Id="rId11" Type="http://schemas.openxmlformats.org/officeDocument/2006/relationships/image" Target="../media/image-45-11.png"/><Relationship Id="rId12" Type="http://schemas.openxmlformats.org/officeDocument/2006/relationships/image" Target="../media/image-45-12.png"/><Relationship Id="rId13" Type="http://schemas.openxmlformats.org/officeDocument/2006/relationships/image" Target="../media/image-45-13.png"/><Relationship Id="rId14" Type="http://schemas.openxmlformats.org/officeDocument/2006/relationships/image" Target="../media/image-45-14.png"/><Relationship Id="rId15" Type="http://schemas.openxmlformats.org/officeDocument/2006/relationships/slideLayout" Target="../slideLayouts/slideLayout5.xml"/><Relationship Id="rId1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3.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4.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png"/><Relationship Id="rId7" Type="http://schemas.openxmlformats.org/officeDocument/2006/relationships/image" Target="../media/image-49-7.png"/><Relationship Id="rId8" Type="http://schemas.openxmlformats.org/officeDocument/2006/relationships/slideLayout" Target="../slideLayouts/slideLayout5.xml"/><Relationship Id="rId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png"/><Relationship Id="rId7" Type="http://schemas.openxmlformats.org/officeDocument/2006/relationships/image" Target="../media/image-50-7.png"/><Relationship Id="rId8" Type="http://schemas.openxmlformats.org/officeDocument/2006/relationships/slideLayout" Target="../slideLayouts/slideLayout5.xml"/><Relationship Id="rId9"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png"/><Relationship Id="rId7" Type="http://schemas.openxmlformats.org/officeDocument/2006/relationships/image" Target="../media/image-51-7.png"/><Relationship Id="rId8" Type="http://schemas.openxmlformats.org/officeDocument/2006/relationships/slideLayout" Target="../slideLayouts/slideLayout4.xml"/><Relationship Id="rId9"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slideLayout" Target="../slideLayouts/slideLayout5.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slideLayout" Target="../slideLayouts/slideLayout4.xm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slideLayout" Target="../slideLayouts/slideLayout6.xm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hyperlink" Target="https://biodesign.stanford.edu/about-us/process.html" TargetMode="External"/><Relationship Id="rId2" Type="http://schemas.openxmlformats.org/officeDocument/2006/relationships/hyperlink" Target="https://biodesignguide.stanford.edu/wp-content/uploads/2022/07/Need-Statements-v2.pdf" TargetMode="External"/><Relationship Id="rId3" Type="http://schemas.openxmlformats.org/officeDocument/2006/relationships/hyperlink" Target="https://biodesignguide.stanford.edu/wp-content/uploads/2022/08/Principled-Decision-Making-v1.pdf" TargetMode="External"/><Relationship Id="rId4" Type="http://schemas.openxmlformats.org/officeDocument/2006/relationships/hyperlink" Target="https://journalofethics.ama-assn.org/article/patient-centered-ethical-approach-medical-device-innovation/2010-02" TargetMode="External"/><Relationship Id="rId5" Type="http://schemas.openxmlformats.org/officeDocument/2006/relationships/hyperlink" Target="https://www.gsb.stanford.edu/faculty-research/case-studies/role-physicians-device-innovation-critical-success-factor-or-conflict" TargetMode="External"/><Relationship Id="rId6" Type="http://schemas.openxmlformats.org/officeDocument/2006/relationships/hyperlink" Target="https://biodesign.stanford.edu/content/dam/sm/biodesign/documents/programs/global-initiatives/founders-forum/Stanford-Bioesign-in-India.pdf" TargetMode="External"/><Relationship Id="rId7" Type="http://schemas.openxmlformats.org/officeDocument/2006/relationships/hyperlink" Target="https://innovations.bmj.com/content/1/3/81" TargetMode="External"/><Relationship Id="rId8" Type="http://schemas.openxmlformats.org/officeDocument/2006/relationships/hyperlink" Target="https://biodesign.stanford.edu/programs/health-equity.html" TargetMode="External"/><Relationship Id="rId9" Type="http://schemas.openxmlformats.org/officeDocument/2006/relationships/hyperlink" Target="https://bioethics.hms.harvard.edu/education/fellowship-bioethics/curriculum" TargetMode="External"/><Relationship Id="rId10" Type="http://schemas.openxmlformats.org/officeDocument/2006/relationships/hyperlink" Target="https://mrctcenter.org/diversity-in-clinical-research/" TargetMode="External"/><Relationship Id="rId11" Type="http://schemas.openxmlformats.org/officeDocument/2006/relationships/hyperlink" Target="https://mrctcenter.org/resource/accessibility-by-design-abd-toolkit-release/" TargetMode="External"/><Relationship Id="rId12" Type="http://schemas.openxmlformats.org/officeDocument/2006/relationships/hyperlink" Target="https://mrctcenter.org/glossary/" TargetMode="External"/><Relationship Id="rId13" Type="http://schemas.openxmlformats.org/officeDocument/2006/relationships/hyperlink" Target="https://mrctcenter.org/wp-content/uploads/2025/04/2025-04-23c-Responsibilities-Framework_Devices.pdf" TargetMode="External"/><Relationship Id="rId14" Type="http://schemas.openxmlformats.org/officeDocument/2006/relationships/hyperlink" Target="https://mrctcenter.org/wp-content/uploads/2023/03/2017-12-07-MRCT-Return-of-Aggregate-Results-Toolkit-3.1.pdf" TargetMode="External"/><Relationship Id="rId15" Type="http://schemas.openxmlformats.org/officeDocument/2006/relationships/hyperlink" Target="https://www.milbank.org/quarterly/articles/ethical-and-legal-implications-of-remote-monitoring-of-medical-devices/" TargetMode="External"/><Relationship Id="rId16" Type="http://schemas.openxmlformats.org/officeDocument/2006/relationships/hyperlink" Target="https://petrieflom.law.harvard.edu/diagnosing-in-the-home/" TargetMode="External"/><Relationship Id="rId17" Type="http://schemas.openxmlformats.org/officeDocument/2006/relationships/hyperlink" Target="https://hls.harvard.edu/bibliography/the-need-for-a-system-view-to-regulate-artificial-intelligence-machine-learning-based-software-as-medical-device" TargetMode="External"/><Relationship Id="rId18" Type="http://schemas.openxmlformats.org/officeDocument/2006/relationships/hyperlink" Target="https://hls.harvard.edu/bibliography/unsettled-liability-issues-for-prediagnostic-wearables-and-health-related-products" TargetMode="External"/><Relationship Id="rId19" Type="http://schemas.openxmlformats.org/officeDocument/2006/relationships/hyperlink" Target="https://pmc.ncbi.nlm.nih.gov/articles/PMC3815401/" TargetMode="External"/><Relationship Id="rId20" Type="http://schemas.openxmlformats.org/officeDocument/2006/relationships/hyperlink" Target="https://hms.harvard.edu/news/changes-conflicts-policy-heighten-transparency" TargetMode="External"/><Relationship Id="rId21" Type="http://schemas.openxmlformats.org/officeDocument/2006/relationships/slideLayout" Target="../slideLayouts/slideLayout6.xml"/><Relationship Id="rId2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hyperlink" Target="https://www-edc.eng.cam.ac.uk/research/inclusive-design" TargetMode="External"/><Relationship Id="rId2" Type="http://schemas.openxmlformats.org/officeDocument/2006/relationships/hyperlink" Target="https://raeng.org.uk/publications/reports/engineering-better-care" TargetMode="External"/><Relationship Id="rId3" Type="http://schemas.openxmlformats.org/officeDocument/2006/relationships/hyperlink" Target="https://teaching.eng.cam.ac.uk/content/engineering-tripos-part-iib-4g9-biomedical-engineering-2024-25" TargetMode="External"/><Relationship Id="rId4" Type="http://schemas.openxmlformats.org/officeDocument/2006/relationships/hyperlink" Target="https://www.cam.ac.uk/research/news/new-cambridge-institute-will-support-high-value-medical-device-translation" TargetMode="External"/><Relationship Id="rId5" Type="http://schemas.openxmlformats.org/officeDocument/2006/relationships/hyperlink" Target="https://www.jbs.cam.ac.uk/centres/health/" TargetMode="External"/><Relationship Id="rId6" Type="http://schemas.openxmlformats.org/officeDocument/2006/relationships/hyperlink" Target="https://www.governanceandcompliance.admin.cam.ac.uk/files/conflict_of_interest_policy.pdf" TargetMode="External"/><Relationship Id="rId7" Type="http://schemas.openxmlformats.org/officeDocument/2006/relationships/hyperlink" Target="https://ie.cam.ac.uk/wp-content/uploads/2024/04/H2G-3-Spinouts_V2_ISSUU.pdf" TargetMode="External"/><Relationship Id="rId8" Type="http://schemas.openxmlformats.org/officeDocument/2006/relationships/slideLayout" Target="../slideLayouts/slideLayout6.xml"/><Relationship Id="rId9"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hyperlink" Target="https://mohfw.gov.in/press-info/7775" TargetMode="External"/><Relationship Id="rId2" Type="http://schemas.openxmlformats.org/officeDocument/2006/relationships/hyperlink" Target="https://www.cdsco.gov.in/opencms/export/sites/CDSCO_WEB/Pdf-documents/medical-device/Classificationg1.pdf" TargetMode="External"/><Relationship Id="rId3" Type="http://schemas.openxmlformats.org/officeDocument/2006/relationships/hyperlink" Target="https://cdscomdonline.gov.in/NewMedDev/resources/app_srv/NMD/global/helpfiles/nmd_fee.pdf/" TargetMode="External"/><Relationship Id="rId4" Type="http://schemas.openxmlformats.org/officeDocument/2006/relationships/hyperlink" Target="https://www.lawrbit.com/industry-specific/medical-device-import-license-india-procedure/" TargetMode="External"/><Relationship Id="rId5" Type="http://schemas.openxmlformats.org/officeDocument/2006/relationships/hyperlink" Target="https://azbpartners.com/bank/medical-devices-rules-2017" TargetMode="External"/><Relationship Id="rId6" Type="http://schemas.openxmlformats.org/officeDocument/2006/relationships/hyperlink" Target="https://www.appliedclinicaltrialsonline.com/view/new-regulations-medical-devices-india" TargetMode="External"/><Relationship Id="rId7" Type="http://schemas.openxmlformats.org/officeDocument/2006/relationships/hyperlink" Target="https://ssrana.in/articles/medical-devices-rules-faster-manufacturing-licence-approvals/" TargetMode="External"/><Relationship Id="rId8" Type="http://schemas.openxmlformats.org/officeDocument/2006/relationships/hyperlink" Target="https://www.corpseed.com/knowledge-centre/permission-to-import-medical-devices-form-md-14-and-form-md-15" TargetMode="External"/><Relationship Id="rId9" Type="http://schemas.openxmlformats.org/officeDocument/2006/relationships/hyperlink" Target="https://www.scconline.com/blog/post/2021/12/24/draft-medical-devices-amendment-rules-2021-introduces-unique-device-identification-of-the-medical-device/" TargetMode="External"/><Relationship Id="rId10" Type="http://schemas.openxmlformats.org/officeDocument/2006/relationships/hyperlink" Target="https://navigator.global/gb/library/india-educational-series-medical-device-registration-and-post-market-compliance" TargetMode="External"/><Relationship Id="rId11" Type="http://schemas.openxmlformats.org/officeDocument/2006/relationships/hyperlink" Target="https://cdsco.gov.in/opencms/resources/UploadCDSCOWeb/2018/UploadImmunization/FAQmd2018.pdf" TargetMode="External"/><Relationship Id="rId12" Type="http://schemas.openxmlformats.org/officeDocument/2006/relationships/hyperlink" Target="https://medicaldialogues.in/nppa-asks-for-price-movement-details-of-orthopedic-implants" TargetMode="External"/><Relationship Id="rId13" Type="http://schemas.openxmlformats.org/officeDocument/2006/relationships/hyperlink" Target="https://www.pib.gov.in/PressReleaseIframePage.aspx?PRID=1738484&amp;reg=3&amp;lang=2" TargetMode="External"/><Relationship Id="rId14" Type="http://schemas.openxmlformats.org/officeDocument/2006/relationships/hyperlink" Target="https://scroll.in/latest/847453/after-cardiac-stents-the-government-now-caps-prices-of-knee-implants" TargetMode="External"/><Relationship Id="rId15" Type="http://schemas.openxmlformats.org/officeDocument/2006/relationships/hyperlink" Target="https://medicaldialogues.in/news/industry/medical-devices/nppa-revises-coronary-stent-prices-des-at-rs-39186-and-bms-at-rs-10762-from-april-2026-168192" TargetMode="External"/><Relationship Id="rId16" Type="http://schemas.openxmlformats.org/officeDocument/2006/relationships/hyperlink" Target="https://thewire.in/health/cdsco-directs-johnson-johnson-to-pay-rs-74-5-lakh-to-first-patient-with-faulty-hip-implant" TargetMode="External"/><Relationship Id="rId17" Type="http://schemas.openxmlformats.org/officeDocument/2006/relationships/hyperlink" Target="https://www.mondaq.com/reassessing-india&apos;s-medical-device-recall-framework-regulatory-gaps-and-the-case-for-reform/1751304" TargetMode="External"/><Relationship Id="rId18" Type="http://schemas.openxmlformats.org/officeDocument/2006/relationships/hyperlink" Target="https://www.business-standard.com/health/medical-device-bodies-welcome-cdsco-order-on-self-reporting-adverse-effects-124052101276_1.html" TargetMode="External"/><Relationship Id="rId19" Type="http://schemas.openxmlformats.org/officeDocument/2006/relationships/slideLayout" Target="../slideLayouts/slideLayout6.xml"/><Relationship Id="rId20"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hyperlink" Target="https://www.ovid.com/jnls/iphr/fulltext/10.4103/ijp.ijp_837_21~materiovigilance-programme-of-india-current-status-and-way" TargetMode="External"/><Relationship Id="rId2" Type="http://schemas.openxmlformats.org/officeDocument/2006/relationships/hyperlink" Target="https://www.scconline.com/blog/?p=274997" TargetMode="External"/><Relationship Id="rId3" Type="http://schemas.openxmlformats.org/officeDocument/2006/relationships/hyperlink" Target="https://morulaa.com/knowledge-hub/regulations/india/cdsco-medical-device-classification-rehabilitation" TargetMode="External"/><Relationship Id="rId4" Type="http://schemas.openxmlformats.org/officeDocument/2006/relationships/hyperlink" Target="https://www.freyrsolutions.com/blog/samd-regulation-in-india-cdsco-classification-class-a-d-registration-requirements-emerging-market-strategy" TargetMode="External"/><Relationship Id="rId5" Type="http://schemas.openxmlformats.org/officeDocument/2006/relationships/hyperlink" Target="https://www.pureglobal.com/news/india-cdsco-medical-device-software-guidance-2026" TargetMode="External"/><Relationship Id="rId6" Type="http://schemas.openxmlformats.org/officeDocument/2006/relationships/hyperlink" Target="https://operonstrategist.com/understanding-the-significance-of-form-md-3-and-md-7-in-cdsco/" TargetMode="External"/><Relationship Id="rId7" Type="http://schemas.openxmlformats.org/officeDocument/2006/relationships/hyperlink" Target="https://www.lawrbit.com/industry-specific/loan-licence-class-c-d-medical-devices-procedure/" TargetMode="External"/><Relationship Id="rId8" Type="http://schemas.openxmlformats.org/officeDocument/2006/relationships/hyperlink" Target="https://cdsco.gov.in/opencms/resources/UploadCDSCOWeb/2022/Draft_Noti/MDR_G.S.R.188(E)%20dt_06.03.2019_Amendment%20in%20Form%20MD-10%20to%20replace%20the%20SLA%20as%20issuing%20authority%20with%20CLA%20in%20MDR,%202017.pdf" TargetMode="External"/><Relationship Id="rId9" Type="http://schemas.openxmlformats.org/officeDocument/2006/relationships/hyperlink" Target="https://cdsco.gov.in/opencms/export/sites/CDSCO_WEB/Pdf-documents/medical-device/14MD.pdf" TargetMode="External"/><Relationship Id="rId10" Type="http://schemas.openxmlformats.org/officeDocument/2006/relationships/hyperlink" Target="https://corpbiz.io/learning/grant-of-test-license-for-manufacture-under-mdr-2017/" TargetMode="External"/><Relationship Id="rId11" Type="http://schemas.openxmlformats.org/officeDocument/2006/relationships/hyperlink" Target="https://www.lawrbit.com/industry-specific/test-license-import-medical-devices-india-procedure/" TargetMode="External"/><Relationship Id="rId12" Type="http://schemas.openxmlformats.org/officeDocument/2006/relationships/hyperlink" Target="https://corpseed.com/knowledge-centre/medical-device-wholesalers-traders-and-retailers-registration-cdsco-form-md-42" TargetMode="External"/><Relationship Id="rId13" Type="http://schemas.openxmlformats.org/officeDocument/2006/relationships/hyperlink" Target="https://www.teamleaseregtech.com/updates/article/19622/medical-devices-sixth-amendment-rules-2022" TargetMode="External"/><Relationship Id="rId14" Type="http://schemas.openxmlformats.org/officeDocument/2006/relationships/hyperlink" Target="https://operonstrategist.com/exemption-for-investigational-medical-devices-eu-approval/" TargetMode="External"/><Relationship Id="rId15" Type="http://schemas.openxmlformats.org/officeDocument/2006/relationships/hyperlink" Target="https://www.pureglobal.com/news/india-gsr-744e-eu-rule-63-class-a-qms-2026" TargetMode="External"/><Relationship Id="rId16" Type="http://schemas.openxmlformats.org/officeDocument/2006/relationships/hyperlink" Target="https://www.pureglobal.com/news/india-gsr-743e-sterilisation-label-ninth-schedule-2026" TargetMode="External"/><Relationship Id="rId17" Type="http://schemas.openxmlformats.org/officeDocument/2006/relationships/hyperlink" Target="https://cliniexperts.com/regulatory-update/2025-12-04_-g-s-r-883e_draft-notification-for-amendment-in-medical-device-rules-2017/" TargetMode="External"/><Relationship Id="rId18" Type="http://schemas.openxmlformats.org/officeDocument/2006/relationships/hyperlink" Target="https://www.lawrbit.com/industry-specific/class-a-b-medical-device-manufacturing-license-india/" TargetMode="External"/><Relationship Id="rId19" Type="http://schemas.openxmlformats.org/officeDocument/2006/relationships/slideLayout" Target="../slideLayouts/slideLayout6.xml"/><Relationship Id="rId20"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hyperlink" Target="https://lexplosion.in/stakeholders-in-medical-devices-sector-urged-by-cdsco-to-ensure-timely-payment-of-retention-fees-to-maintain-validity-of-licenses-and-certificates/" TargetMode="External"/><Relationship Id="rId2" Type="http://schemas.openxmlformats.org/officeDocument/2006/relationships/hyperlink" Target="https://asiaactual.com/blog/india-proposes-targeted-amendments-to-medical-devices-rules/" TargetMode="External"/><Relationship Id="rId3" Type="http://schemas.openxmlformats.org/officeDocument/2006/relationships/hyperlink" Target="https://www.fdanews.com/articles/12833-indias-cdsco-responds-to-questions-on-medical-device-rule-2017" TargetMode="External"/><Relationship Id="rId4" Type="http://schemas.openxmlformats.org/officeDocument/2006/relationships/hyperlink" Target="https://cdsco.gov.in/opencms/export/sites/CDSCO_WEB/Pdf-documents/IVD/FAQs/CDSCO-IVD-FAQ-03-2022-.pdf" TargetMode="External"/><Relationship Id="rId5" Type="http://schemas.openxmlformats.org/officeDocument/2006/relationships/hyperlink" Target="https://www.freyrsolutions.com/blog/classification-of-non-notified-medical-devices-and-ivds-in-india-decode-cdscos-new-notices" TargetMode="External"/><Relationship Id="rId6" Type="http://schemas.openxmlformats.org/officeDocument/2006/relationships/hyperlink" Target="https://www.business-standard.com/health/cdsco-issues-revised-risk-classification-list-for-cardiovascular-devices-125040201067_1.html" TargetMode="External"/><Relationship Id="rId7" Type="http://schemas.openxmlformats.org/officeDocument/2006/relationships/hyperlink" Target="https://corpbiz.io/learning/cdsco-medical-device-registration-for-paediatrics-and-neonatology/" TargetMode="External"/><Relationship Id="rId8" Type="http://schemas.openxmlformats.org/officeDocument/2006/relationships/hyperlink" Target="https://www.cdsco.gov.in/opencms/export/sites/CDSCO_WEB/Pdf-documents/medical-device/ChecklisFormMD-22MD.pdf" TargetMode="External"/><Relationship Id="rId9" Type="http://schemas.openxmlformats.org/officeDocument/2006/relationships/hyperlink" Target="https://www.raps.org/resource/asia-pacific-roundup-india-releases-a-trio-of-ivd.html" TargetMode="External"/><Relationship Id="rId10" Type="http://schemas.openxmlformats.org/officeDocument/2006/relationships/hyperlink" Target="https://www.ipc.gov.in/images/Inviting_stakeholders_comments_for_Invitro_Diagnostic_Medical_Device_adverse_event_reporting_form.pdf" TargetMode="External"/><Relationship Id="rId11" Type="http://schemas.openxmlformats.org/officeDocument/2006/relationships/hyperlink" Target="https://cdsco.gov.in/opencms/resources/UploadCDSCOWeb/2018/UploadGazette_NotificationsFiles/2237.pdf" TargetMode="External"/><Relationship Id="rId12" Type="http://schemas.openxmlformats.org/officeDocument/2006/relationships/hyperlink" Target="https://www.legitquest.com/act/medical-devices-amendment-rules-2020/9813" TargetMode="External"/><Relationship Id="rId13" Type="http://schemas.openxmlformats.org/officeDocument/2006/relationships/hyperlink" Target="https://cdsco.gov.in/opencms/export/sites/CDSCO_WEB/Pdf-documents/mdgsr.pdf" TargetMode="External"/><Relationship Id="rId14" Type="http://schemas.openxmlformats.org/officeDocument/2006/relationships/hyperlink" Target="https://cliniexperts.com/regulatory-update/license-applications-for-class-c-and-d-medical-devices-deemed-valid-for-upto-6-months/" TargetMode="External"/><Relationship Id="rId15" Type="http://schemas.openxmlformats.org/officeDocument/2006/relationships/hyperlink" Target="https://www.cdsco.gov.in/opencms/resources/UploadCDSCOWeb/2018/UploadPublic_NoticesFiles/fmd.pdf" TargetMode="External"/><Relationship Id="rId16" Type="http://schemas.openxmlformats.org/officeDocument/2006/relationships/hyperlink" Target="https://www.bis.gov.in/bis-publishes-is-23485-medical-devices-quality-management-system-requirements-and-essential-principles-of-safety-performance-for-medical-devices" TargetMode="External"/><Relationship Id="rId17" Type="http://schemas.openxmlformats.org/officeDocument/2006/relationships/hyperlink" Target="https://www.cdsco.gov.in/opencms/resources/UploadCDSCOWeb/2018/UploadPublic_NoticesFiles/notified_body_notice_70.pdf" TargetMode="External"/><Relationship Id="rId18" Type="http://schemas.openxmlformats.org/officeDocument/2006/relationships/hyperlink" Target="https://conventuslaw.com/report/india-cdsco-to-regulate-all-medical-devices-in/" TargetMode="External"/><Relationship Id="rId19" Type="http://schemas.openxmlformats.org/officeDocument/2006/relationships/slideLayout" Target="../slideLayouts/slideLayout6.xml"/><Relationship Id="rId20"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hyperlink" Target="https://lexplosion.in/ministry-of-health-amends-the-medical-devices-rules-2017-prescribes-suspension-and-cancellation-of-licence-for-manufacturer-or-licensee-for-failure-to-comply-with-conditions-of-an-import-license-ef/" TargetMode="External"/><Relationship Id="rId2" Type="http://schemas.openxmlformats.org/officeDocument/2006/relationships/hyperlink" Target="https://bhattandjoshiassociates.com/medical-device-regulation-in-india-a-comprehensive-overview/" TargetMode="External"/><Relationship Id="rId3" Type="http://schemas.openxmlformats.org/officeDocument/2006/relationships/hyperlink" Target="https://cdsco.gov.in/opencms/opencms/en/About-us/Introduction/" TargetMode="External"/><Relationship Id="rId4" Type="http://schemas.openxmlformats.org/officeDocument/2006/relationships/hyperlink" Target="https://www.iitm.ac.in/sites/default/files/Others/medicaldevicesrules2017.pdf" TargetMode="External"/><Relationship Id="rId5" Type="http://schemas.openxmlformats.org/officeDocument/2006/relationships/hyperlink" Target="https://corpbiz.io/learning/process-of-application-for-clinical-investigation-under-mdr-2017/" TargetMode="External"/><Relationship Id="rId6" Type="http://schemas.openxmlformats.org/officeDocument/2006/relationships/hyperlink" Target="https://www.legalraasta.com/blog/role-md-22-md-23-medical-devices-market/" TargetMode="External"/><Relationship Id="rId7" Type="http://schemas.openxmlformats.org/officeDocument/2006/relationships/hyperlink" Target="https://www.corpseed.com/knowledge-centre/cdsco-md-5-license-for-class-a-and-b-medical-devices-manufacturing" TargetMode="External"/><Relationship Id="rId8" Type="http://schemas.openxmlformats.org/officeDocument/2006/relationships/hyperlink" Target="https://www.incorpx.io/iso-13485-certification" TargetMode="External"/><Relationship Id="rId9" Type="http://schemas.openxmlformats.org/officeDocument/2006/relationships/hyperlink" Target="https://cliniexperts.com/iso-13485-for-indian-medical-device-manufacturers-what-it-means-for-cdsco-compliance/" TargetMode="External"/><Relationship Id="rId10" Type="http://schemas.openxmlformats.org/officeDocument/2006/relationships/hyperlink" Target="https://vidhilegalpolicy.in/wp-content/uploads/2020/07/180323_CommentsonClinicalTrialsRules.pdf" TargetMode="External"/><Relationship Id="rId11" Type="http://schemas.openxmlformats.org/officeDocument/2006/relationships/hyperlink" Target="https://ipc.gov.in/mandates/materiovigilance-programme-of-india-mvpi/8-category-en/432-launch-of-materiovigilance-programme-of-india-mvpi.html" TargetMode="External"/><Relationship Id="rId12" Type="http://schemas.openxmlformats.org/officeDocument/2006/relationships/hyperlink" Target="https://www.ncbi.nlm.nih.gov/pmc/articles/PMC7047028/" TargetMode="External"/><Relationship Id="rId13" Type="http://schemas.openxmlformats.org/officeDocument/2006/relationships/hyperlink" Target="https://link.springer.com/article/10.1007/s44174-026-00666-5" TargetMode="External"/><Relationship Id="rId14" Type="http://schemas.openxmlformats.org/officeDocument/2006/relationships/hyperlink" Target="https://pmc.ncbi.nlm.nih.gov/articles/PMC12883217/" TargetMode="External"/><Relationship Id="rId15" Type="http://schemas.openxmlformats.org/officeDocument/2006/relationships/hyperlink" Target="https://www.pacificbridgemedical.com/publication/india-medical-device-regulations-2025-update/" TargetMode="External"/><Relationship Id="rId16" Type="http://schemas.openxmlformats.org/officeDocument/2006/relationships/hyperlink" Target="https://www.qualio.com/blog/cdsco-registration-india-2026-update" TargetMode="External"/><Relationship Id="rId17" Type="http://schemas.openxmlformats.org/officeDocument/2006/relationships/hyperlink" Target="https://www.registerkaro.in/post/cdsco-guidelines-for-medical-devices" TargetMode="External"/><Relationship Id="rId18" Type="http://schemas.openxmlformats.org/officeDocument/2006/relationships/hyperlink" Target="https://operonstrategist.com/examples-of-medical-device-classifications/" TargetMode="External"/><Relationship Id="rId19" Type="http://schemas.openxmlformats.org/officeDocument/2006/relationships/hyperlink" Target="https://corpseed.com/knowledge-centre/classification-of-medical-devices-by-cdsco-in-india" TargetMode="External"/><Relationship Id="rId20" Type="http://schemas.openxmlformats.org/officeDocument/2006/relationships/slideLayout" Target="../slideLayouts/slideLayout6.xml"/><Relationship Id="rId21"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hyperlink" Target="https://www.agileregulatory.com/blogs/cdsco-classification-of-medical-devices-2026-update" TargetMode="External"/><Relationship Id="rId2" Type="http://schemas.openxmlformats.org/officeDocument/2006/relationships/hyperlink" Target="https://www.cdsco.gov.in/opencms/resources/UploadCDSCOWeb/2018/UploadPublic_NoticesFiles/MDmergeclassification15oct25.pdf" TargetMode="External"/><Relationship Id="rId3" Type="http://schemas.openxmlformats.org/officeDocument/2006/relationships/hyperlink" Target="https://medicaldialogues.in/amp/news/industry/medical-devices/low-risk-medical-device-makers-get-clarity-cdsco-publishes-class-a-risk-classification-list-under-mdr-2017-158033" TargetMode="External"/><Relationship Id="rId4" Type="http://schemas.openxmlformats.org/officeDocument/2006/relationships/hyperlink" Target="https://dfda.goa.gov.in/category/notifications/page/3/" TargetMode="External"/><Relationship Id="rId5" Type="http://schemas.openxmlformats.org/officeDocument/2006/relationships/hyperlink" Target="https://biovoicenews.com/bureau-of-indian-standards-to-develop-standards-for-214-critical-medical-devices-by-december-2025/" TargetMode="External"/><Relationship Id="rId6" Type="http://schemas.openxmlformats.org/officeDocument/2006/relationships/hyperlink" Target="https://corporate.cyrilamarchandblogs.com/2025/02/double-check-decoding-indias-dual-framework-for-medical-device-labelling/" TargetMode="External"/><Relationship Id="rId7" Type="http://schemas.openxmlformats.org/officeDocument/2006/relationships/hyperlink" Target="https://www.etvbharat.com/en/!bharat/parliamentary-panel-raps-ministry-of-chemical-and-fertilizer-for-import-of-high-end-medical-devices-enn24031105786" TargetMode="External"/><Relationship Id="rId8" Type="http://schemas.openxmlformats.org/officeDocument/2006/relationships/hyperlink" Target="https://medicalbuyer.co.in/amid-domestic-push-india-imported-medical-devices-worth-8-18b-in-fy24/" TargetMode="External"/><Relationship Id="rId9" Type="http://schemas.openxmlformats.org/officeDocument/2006/relationships/hyperlink" Target="https://biovoicenews.com/indias-medical-devices-industry-likely-to-triple-to-50-billion-by-2030-rubix-industry-insights/" TargetMode="External"/><Relationship Id="rId10" Type="http://schemas.openxmlformats.org/officeDocument/2006/relationships/hyperlink" Target="https://newsonair.gov.in/union-minister-dr-jitendra-singh-says-govt-hopes-to-increase-indias-market-share-to-10-12-over-next-25-years" TargetMode="External"/><Relationship Id="rId11" Type="http://schemas.openxmlformats.org/officeDocument/2006/relationships/hyperlink" Target="https://www.business-standard.com/health/house-panel-flags-licensing-delays-forcing-medical-device-firms-abroad-125031300999_1.html" TargetMode="External"/><Relationship Id="rId12" Type="http://schemas.openxmlformats.org/officeDocument/2006/relationships/hyperlink" Target="https://narendramodi.in/cabinet-approves-the-policy-for-the-medical-devices-sector-569642" TargetMode="External"/><Relationship Id="rId13" Type="http://schemas.openxmlformats.org/officeDocument/2006/relationships/hyperlink" Target="https://investindia.gov.in/blogs/pli-scheme-medical-devices-unleashing-potential-make-india-make-world" TargetMode="External"/><Relationship Id="rId14" Type="http://schemas.openxmlformats.org/officeDocument/2006/relationships/hyperlink" Target="https://www.indianpharmapost.com/policy/indias-medical-devices-pli-scheme-attracts-rs-1153-crore-investment-27-projects-approved-21113" TargetMode="External"/><Relationship Id="rId15" Type="http://schemas.openxmlformats.org/officeDocument/2006/relationships/hyperlink" Target="https://www.business-standard.com/article/economy-policy/centre-notifies-scheme-for-promotion-of-medical-device-parks-121092401048_1.html" TargetMode="External"/><Relationship Id="rId16" Type="http://schemas.openxmlformats.org/officeDocument/2006/relationships/hyperlink" Target="https://en.vikaspedia.in/viewcontent/health/nrhm/scheme-for-strengthening-the-medical-device-industry?lgn=en" TargetMode="External"/><Relationship Id="rId17" Type="http://schemas.openxmlformats.org/officeDocument/2006/relationships/hyperlink" Target="https://biospectrumindia.com/news/22/25334/govt-launches-scheme-for-strengthening-medical-device-industry.html" TargetMode="External"/><Relationship Id="rId18" Type="http://schemas.openxmlformats.org/officeDocument/2006/relationships/hyperlink" Target="https://seair.co.in/exim-news/central-government-launched-export-promotion-council-for-medical-devices.aspx" TargetMode="External"/><Relationship Id="rId19" Type="http://schemas.openxmlformats.org/officeDocument/2006/relationships/slideLayout" Target="../slideLayouts/slideLayout6.xml"/><Relationship Id="rId20"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hyperlink" Target="https://en.wikipedia.org/wiki/Andhra_Pradesh_Medtech_Zone" TargetMode="External"/><Relationship Id="rId2" Type="http://schemas.openxmlformats.org/officeDocument/2006/relationships/hyperlink" Target="https://www.indiascienceandtechnology.gov.in/programme-schemes/biotechnology-ignition-grant-scheme-big-0" TargetMode="External"/><Relationship Id="rId3" Type="http://schemas.openxmlformats.org/officeDocument/2006/relationships/hyperlink" Target="https://medtechmitra.icmr.org.in/about" TargetMode="External"/><Relationship Id="rId4" Type="http://schemas.openxmlformats.org/officeDocument/2006/relationships/hyperlink" Target="https://mondaq.com/india/food-and-drugs-law/668254/dcgi-notifies-the-medical-devices-and-in-vitro-diagnostic-ivd-medical-devices-classification-under-medical-device-rule-2017" TargetMode="External"/><Relationship Id="rId5" Type="http://schemas.openxmlformats.org/officeDocument/2006/relationships/hyperlink" Target="https://www.unigoa.ac.in/uploads/confg_docs/20201229.073758~ICMR_2017_INFORMED_CONSENT_PROCESS.pdf" TargetMode="External"/><Relationship Id="rId6" Type="http://schemas.openxmlformats.org/officeDocument/2006/relationships/hyperlink" Target="https://www.kem.edu/wp-content/uploads/2022/08/27.Audio-Visual-Consent-Recording.pdf" TargetMode="External"/><Relationship Id="rId7" Type="http://schemas.openxmlformats.org/officeDocument/2006/relationships/hyperlink" Target="https://www.icmr.gov.in/icmrobject/uploads/Static/1784177629_draftguidance-non-regulatoryclinicaltrials_latest_v2.pdf" TargetMode="External"/><Relationship Id="rId8" Type="http://schemas.openxmlformats.org/officeDocument/2006/relationships/hyperlink" Target="https://www.nmc.org.in/rules-regulations-nmc/" TargetMode="External"/><Relationship Id="rId9" Type="http://schemas.openxmlformats.org/officeDocument/2006/relationships/hyperlink" Target="https://pharma-dept.gov.in/sites/default/files/ucmpmd%20circular%20with%20amended%20code_1_0.pdf" TargetMode="External"/><Relationship Id="rId10" Type="http://schemas.openxmlformats.org/officeDocument/2006/relationships/hyperlink" Target="https://cdsco.gov.in/opencms/resources/UploadCDSCOWeb/2022/m_device/mdr,%202017%20(1).pdf" TargetMode="External"/><Relationship Id="rId11" Type="http://schemas.openxmlformats.org/officeDocument/2006/relationships/hyperlink" Target="https://cdsco.gov.in/opencms/export/sites/CDSCO_WEB/Pdf-documents/medical-device/12MD.pdf" TargetMode="External"/><Relationship Id="rId12" Type="http://schemas.openxmlformats.org/officeDocument/2006/relationships/hyperlink" Target="https://cdsco.gov.in/opencms/export/sites/CDSCO_WEB/Pdf-documents/medical-device/22MD.pdf" TargetMode="External"/><Relationship Id="rId13" Type="http://schemas.openxmlformats.org/officeDocument/2006/relationships/hyperlink" Target="https://cdsco.gov.in/opencms/export/sites/CDSCO_WEB/Pdf-documents/medical-device/RegulatoryMDR-2017.pdf" TargetMode="External"/><Relationship Id="rId14" Type="http://schemas.openxmlformats.org/officeDocument/2006/relationships/hyperlink" Target="https://cdsco.gov.in/opencms/export/sites/CDSCO_WEB/Pdf-documents/Guidance-document-on-Medical-Device-Software-under-MDR-2017.pdf" TargetMode="External"/><Relationship Id="rId15" Type="http://schemas.openxmlformats.org/officeDocument/2006/relationships/hyperlink" Target="https://nhsrcindia.org/hi/node/10346" TargetMode="External"/><Relationship Id="rId16" Type="http://schemas.openxmlformats.org/officeDocument/2006/relationships/hyperlink" Target="https://static.pib.gov.in/WriteReadData/specificdocs/documents/2025/nov/doc20251117695301.pdf" TargetMode="External"/><Relationship Id="rId17" Type="http://schemas.openxmlformats.org/officeDocument/2006/relationships/hyperlink" Target="https://ethics.ncdirindia.org/asset/pdf/ICMR_National_Ethical_Guidelines.pdf" TargetMode="External"/><Relationship Id="rId18" Type="http://schemas.openxmlformats.org/officeDocument/2006/relationships/hyperlink" Target="https://cdsco.gov.in/opencms/resources/UploadCDSCOWeb/2022/new_DC_rules/NEW%20DRUGS%20ANDctrS%20RULE,%202019.pdf" TargetMode="External"/><Relationship Id="rId19" Type="http://schemas.openxmlformats.org/officeDocument/2006/relationships/hyperlink" Target="https://cdsco.gov.in/opencms/resources/UploadCDSCOWeb/2018/UploadPublic_NoticesFiles/Draft%20guidance%20document%20on%20Medical%20Device%20Software%2021%2010%202025.pdf" TargetMode="External"/><Relationship Id="rId20" Type="http://schemas.openxmlformats.org/officeDocument/2006/relationships/slideLayout" Target="../slideLayouts/slideLayout6.xml"/><Relationship Id="rId21"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hyperlink" Target="https://cdsco.gov.in/opencms/resources/UploadCDSCOWeb/2018/UploadPublic_NoticesFiles/2Draft%20Guidance%20on%20PMS.pdf" TargetMode="External"/><Relationship Id="rId2" Type="http://schemas.openxmlformats.org/officeDocument/2006/relationships/hyperlink" Target="https://ipc.gov.in/mandates/materiovigilance-programme-of-india-mvpi/about-us.html" TargetMode="External"/><Relationship Id="rId3" Type="http://schemas.openxmlformats.org/officeDocument/2006/relationships/hyperlink" Target="https://nhsrcindia.org/sites/default/files/Medical-Devices-Adverse-Event-Reporting-Form-(Version-1.2).pdf" TargetMode="External"/><Relationship Id="rId4" Type="http://schemas.openxmlformats.org/officeDocument/2006/relationships/hyperlink" Target="https://www.pib.gov.in/newsite/PrintRelease.aspx?relid=158452" TargetMode="External"/><Relationship Id="rId5" Type="http://schemas.openxmlformats.org/officeDocument/2006/relationships/hyperlink" Target="https://www.pib.gov.in/newsite/PrintRelease.aspx?relid=170040" TargetMode="External"/><Relationship Id="rId6" Type="http://schemas.openxmlformats.org/officeDocument/2006/relationships/hyperlink" Target="https://medicaldialogues.in/news/industry/medical-devices/nppa-continues-price-cap-on-orthopedic-knee-replacement-implants-for-another-year-till-november-15-2026-158881" TargetMode="External"/><Relationship Id="rId7" Type="http://schemas.openxmlformats.org/officeDocument/2006/relationships/hyperlink" Target="https://www.pib.gov.in/PressReleasePage.aspx?PRID=1735430" TargetMode="External"/><Relationship Id="rId8" Type="http://schemas.openxmlformats.org/officeDocument/2006/relationships/hyperlink" Target="https://www.tctmd.com/news/stents-essential-medicine-indias-cap-stent-prices-could-have-ripples-around-globe" TargetMode="External"/><Relationship Id="rId9" Type="http://schemas.openxmlformats.org/officeDocument/2006/relationships/hyperlink" Target="https://www.businesstoday.in/amp/latest/economy-politics/story/johnson-johnson-faulty-hip-implants-surgeries-compensation-109085-2018-08-25" TargetMode="External"/><Relationship Id="rId10" Type="http://schemas.openxmlformats.org/officeDocument/2006/relationships/hyperlink" Target="https://www.pib.gov.in/Pressreleaseshare.aspx?PRID=1554266" TargetMode="External"/><Relationship Id="rId11" Type="http://schemas.openxmlformats.org/officeDocument/2006/relationships/hyperlink" Target="https://www.ascionline.in/wp-content/uploads/2022/09/asci_june-17_ccc_recomm_press_release.pdf" TargetMode="External"/><Relationship Id="rId12" Type="http://schemas.openxmlformats.org/officeDocument/2006/relationships/hyperlink" Target="https://pharma-dept.gov.in/sites/default/files/UCMDMD%20circular%201-2026+UCMDMP%20code%20as%20amended%20on%2030.4.2026%20(1).pdf" TargetMode="External"/><Relationship Id="rId13" Type="http://schemas.openxmlformats.org/officeDocument/2006/relationships/hyperlink" Target="https://www.delhimedicalcouncil.org/pdf/EthicsRegulations-2002.pdf" TargetMode="External"/><Relationship Id="rId14" Type="http://schemas.openxmlformats.org/officeDocument/2006/relationships/hyperlink" Target="https://thewire.in/health/nmc-puts-new-guidelines-on-doctors-ethics-in-abeyance-after-imas-meeting-with-health-minister" TargetMode="External"/><Relationship Id="rId15" Type="http://schemas.openxmlformats.org/officeDocument/2006/relationships/hyperlink" Target="https://www.indiacode.nic.in/indiacode/bitstream/123456789/1412/1/A1954-21.pdf" TargetMode="External"/><Relationship Id="rId16" Type="http://schemas.openxmlformats.org/officeDocument/2006/relationships/hyperlink" Target="https://pmc.ncbi.nlm.nih.gov/articles/PMC5017174" TargetMode="External"/><Relationship Id="rId17" Type="http://schemas.openxmlformats.org/officeDocument/2006/relationships/hyperlink" Target="https://www.ncbi.nlm.nih.gov/pmc/articles/PMC8295043/" TargetMode="External"/><Relationship Id="rId18" Type="http://schemas.openxmlformats.org/officeDocument/2006/relationships/slideLayout" Target="../slideLayouts/slideLayout6.xml"/><Relationship Id="rId19"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hyperlink" Target="https://www.fda.gov/medical-device-user-fee-amendments-mdufa" TargetMode="External"/><Relationship Id="rId2" Type="http://schemas.openxmlformats.org/officeDocument/2006/relationships/hyperlink" Target="https://www.fda.gov/quality-systems-regulation" TargetMode="External"/><Relationship Id="rId3" Type="http://schemas.openxmlformats.org/officeDocument/2006/relationships/hyperlink" Target="https://www.emergobyul.com/news/us-fda-issues-2025-annual-report-medical-device-regulatory-activities" TargetMode="External"/><Relationship Id="rId4" Type="http://schemas.openxmlformats.org/officeDocument/2006/relationships/hyperlink" Target="https://www.fda.gov/medical-devices/how-study-and-market-your-device/breakthrough-devices-program" TargetMode="External"/><Relationship Id="rId5" Type="http://schemas.openxmlformats.org/officeDocument/2006/relationships/hyperlink" Target="https://www.fda.gov/media/191127/download" TargetMode="External"/><Relationship Id="rId6" Type="http://schemas.openxmlformats.org/officeDocument/2006/relationships/hyperlink" Target="https://www.fda.gov/device-approvals-and-clearances" TargetMode="External"/><Relationship Id="rId7" Type="http://schemas.openxmlformats.org/officeDocument/2006/relationships/hyperlink" Target="https://legacy.registrarcorp.com/an-overview-of-fdas-updated-udi-requirements-for-class-1-medical-devices/" TargetMode="External"/><Relationship Id="rId8" Type="http://schemas.openxmlformats.org/officeDocument/2006/relationships/hyperlink" Target="https://www.medtechdive.com/trendline/medical-device-safety-recalls-fda/502" TargetMode="External"/><Relationship Id="rId9" Type="http://schemas.openxmlformats.org/officeDocument/2006/relationships/hyperlink" Target="https://simplerqms.com/eu-mdr-medical-device-classification/" TargetMode="External"/><Relationship Id="rId10" Type="http://schemas.openxmlformats.org/officeDocument/2006/relationships/hyperlink" Target="https://meddeviceguide.com/blog/eu-mdr-notified-body-certificate-expiry-cliff-eudamed-nando-analysis-2026" TargetMode="External"/><Relationship Id="rId11" Type="http://schemas.openxmlformats.org/officeDocument/2006/relationships/hyperlink" Target="https://www.raps.org/resource/team-nb-survey-shows-slowdown-in-growth-of-mdr-and-ivdr-certificates-issued-in-2025.html" TargetMode="External"/><Relationship Id="rId12" Type="http://schemas.openxmlformats.org/officeDocument/2006/relationships/hyperlink" Target="https://www.bsigroup.com/it-IT/Dispositivi-Medici/news-centre/enews/2023-news/mdr-transition-timelines-extended/" TargetMode="External"/><Relationship Id="rId13" Type="http://schemas.openxmlformats.org/officeDocument/2006/relationships/hyperlink" Target="https://www.tuev-nord.de/en/knowledge/standards-in-focus/eudamed-mandatory-use-of-first-four-modules-from-may-28-2026/" TargetMode="External"/><Relationship Id="rId14" Type="http://schemas.openxmlformats.org/officeDocument/2006/relationships/hyperlink" Target="https://www.fieldfisher.com/en/locations/belgium/insights/breaking-the-bottleneck-the-commission-s-proposal" TargetMode="External"/><Relationship Id="rId15" Type="http://schemas.openxmlformats.org/officeDocument/2006/relationships/hyperlink" Target="https://www.tuvsud.com/en-us/industries/healthcare-and-medical-devices/medical-devices-and-ivd/medical-device-market-approval-and-certification/ukca-for-medical-devices" TargetMode="External"/><Relationship Id="rId16" Type="http://schemas.openxmlformats.org/officeDocument/2006/relationships/hyperlink" Target="https://www.gov.uk/government/news/first-major-overhaul-of-medical-device-regulation-comes-into-force-across-great-britain" TargetMode="External"/><Relationship Id="rId17" Type="http://schemas.openxmlformats.org/officeDocument/2006/relationships/hyperlink" Target="https://www.lw.com/en/insights/uk-mhra-launches-consultation-on-indefinite-recognition-of-ce-marked-medical-devices" TargetMode="External"/><Relationship Id="rId18" Type="http://schemas.openxmlformats.org/officeDocument/2006/relationships/hyperlink" Target="https://www.raps.org/resource/mhra-to-move-forward-with-medical-device-reliance.html" TargetMode="External"/><Relationship Id="rId19" Type="http://schemas.openxmlformats.org/officeDocument/2006/relationships/hyperlink" Target="https://www.pmda.go.jp/english/review-services/reviews/0004.html" TargetMode="External"/><Relationship Id="rId20" Type="http://schemas.openxmlformats.org/officeDocument/2006/relationships/hyperlink" Target="https://www.ropesgray.com/en/newsroom/alerts/2021/March/China-Unveils-New-Medical-Device-Regulations" TargetMode="External"/><Relationship Id="rId21" Type="http://schemas.openxmlformats.org/officeDocument/2006/relationships/hyperlink" Target="https://www.morganlewis.com/pubs/overview-of-medical-device-regulation-in-china" TargetMode="External"/><Relationship Id="rId22" Type="http://schemas.openxmlformats.org/officeDocument/2006/relationships/slideLayout" Target="../slideLayouts/slideLayout6.xml"/><Relationship Id="rId2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hyperlink" Target="https://www.tga.gov.au/resources/decision-trees/what-classification-my-medical-device" TargetMode="External"/><Relationship Id="rId2" Type="http://schemas.openxmlformats.org/officeDocument/2006/relationships/hyperlink" Target="https://www.tga.gov.au/sites/default/files/use-market-authorisation-evidence-comparable-overseas-regulators-assessment-bodies-medical-devices-including-ivds.pdf" TargetMode="External"/><Relationship Id="rId3" Type="http://schemas.openxmlformats.org/officeDocument/2006/relationships/hyperlink" Target="https://www.casrai.org/guides/health-canada-medical-device-license-mdl-mdall" TargetMode="External"/><Relationship Id="rId4" Type="http://schemas.openxmlformats.org/officeDocument/2006/relationships/hyperlink" Target="https://www.freyrsolutions.com/medical-devices/health-canada-medical-device-registration" TargetMode="External"/><Relationship Id="rId5" Type="http://schemas.openxmlformats.org/officeDocument/2006/relationships/hyperlink" Target="https://www.swissmedic.ch/swissmedic/en/home/news/mitteilungen/smc-mitglied-management-committee-imdrf.html" TargetMode="External"/><Relationship Id="rId6" Type="http://schemas.openxmlformats.org/officeDocument/2006/relationships/hyperlink" Target="https://www.imdrf.org/sites/default/files/docs/ghtf/final/sg1/technical-docs/ghtf-sg1-n77-2012-principles-medical-devices-classification-121102.pdf" TargetMode="External"/><Relationship Id="rId7" Type="http://schemas.openxmlformats.org/officeDocument/2006/relationships/hyperlink" Target="https://www.tuvsud.com/en-us/industries/healthcare-and-medical-devices/medical-devices-and-ivd/medical-device-market-approval-and-certification/medical-device-single-audit-program-mdsap" TargetMode="External"/><Relationship Id="rId8" Type="http://schemas.openxmlformats.org/officeDocument/2006/relationships/hyperlink" Target="https://www.who.int/publications/i/item/9789241512350" TargetMode="External"/><Relationship Id="rId9" Type="http://schemas.openxmlformats.org/officeDocument/2006/relationships/hyperlink" Target="https://www.who.int/news/item/07-08-2025-who-designates-new-who-listed-authorities--strengthening-global-access-to-quality-assured-medical-products" TargetMode="External"/><Relationship Id="rId10" Type="http://schemas.openxmlformats.org/officeDocument/2006/relationships/hyperlink" Target="https://cdn.presencis.com/regulations/iso-13485/timeline/" TargetMode="External"/><Relationship Id="rId11" Type="http://schemas.openxmlformats.org/officeDocument/2006/relationships/hyperlink" Target="https://incompliancemag.com/the-iec-60601-amendment-updates-have-published-changes-and-impacts/" TargetMode="External"/><Relationship Id="rId12" Type="http://schemas.openxmlformats.org/officeDocument/2006/relationships/hyperlink" Target="https://asd.criticalsoftware.com/en/newsroom/iec-62304-edition-2-changes-august-2026" TargetMode="External"/><Relationship Id="rId13" Type="http://schemas.openxmlformats.org/officeDocument/2006/relationships/hyperlink" Target="https://www.dqsglobal.com/en/explore/blog/mdr-iec-81001-5-1" TargetMode="External"/><Relationship Id="rId14" Type="http://schemas.openxmlformats.org/officeDocument/2006/relationships/hyperlink" Target="https://www.emergobyul.com/news/us-fda-and-eu-risk-classification-medical-devices" TargetMode="External"/><Relationship Id="rId15" Type="http://schemas.openxmlformats.org/officeDocument/2006/relationships/hyperlink" Target="https://www.cms.gov/files/document/applicable-manufacturer-fact-sheetpdf" TargetMode="External"/><Relationship Id="rId16" Type="http://schemas.openxmlformats.org/officeDocument/2006/relationships/hyperlink" Target="https://jamanetwork.com/journals/jama/fullarticle/2825290" TargetMode="External"/><Relationship Id="rId17" Type="http://schemas.openxmlformats.org/officeDocument/2006/relationships/hyperlink" Target="https://www.gmc-uk.org/professional-standards/the-professional-standards/making-and-using-visual-and-audio-recordings-of-patients/recordings-for-use-in-widely-accessible-public-media---television-radio-internet-print" TargetMode="External"/><Relationship Id="rId18" Type="http://schemas.openxmlformats.org/officeDocument/2006/relationships/slideLayout" Target="../slideLayouts/slideLayout6.xml"/><Relationship Id="rId1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hyperlink" Target="https://www.research-collection.ethz.ch/handle/20.500.11850/126117" TargetMode="External"/><Relationship Id="rId2" Type="http://schemas.openxmlformats.org/officeDocument/2006/relationships/hyperlink" Target="https://www.ideal-collaboration.net/the-ideal-framework/" TargetMode="External"/><Relationship Id="rId3" Type="http://schemas.openxmlformats.org/officeDocument/2006/relationships/hyperlink" Target="https://pubmed.ncbi.nlm.nih.gov/27283585/" TargetMode="External"/><Relationship Id="rId4" Type="http://schemas.openxmlformats.org/officeDocument/2006/relationships/hyperlink" Target="https://jme.bmj.com/content/38/1/9" TargetMode="External"/><Relationship Id="rId5" Type="http://schemas.openxmlformats.org/officeDocument/2006/relationships/hyperlink" Target="https://www.ncbi.nlm.nih.gov/pmc/articles/PMC10122640/" TargetMode="External"/><Relationship Id="rId6" Type="http://schemas.openxmlformats.org/officeDocument/2006/relationships/hyperlink" Target="https://www.nejm.org/doi/full/10.1056/NEJMc2029240" TargetMode="External"/><Relationship Id="rId7" Type="http://schemas.openxmlformats.org/officeDocument/2006/relationships/hyperlink" Target="https://www.wma.net/policies-post/wma-declaration-of-helsinki/" TargetMode="External"/><Relationship Id="rId8" Type="http://schemas.openxmlformats.org/officeDocument/2006/relationships/hyperlink" Target="https://cioms.ch/wp-content/uploads/2017/01/WEB-CIOMS-EthicalGuidelines.pdf" TargetMode="External"/><Relationship Id="rId9" Type="http://schemas.openxmlformats.org/officeDocument/2006/relationships/hyperlink" Target="https://pubmed.ncbi.nlm.nih.gov/28207928/" TargetMode="External"/><Relationship Id="rId10" Type="http://schemas.openxmlformats.org/officeDocument/2006/relationships/hyperlink" Target="https://www.nationalacademies.org/read/12598/chapter/11" TargetMode="External"/><Relationship Id="rId11" Type="http://schemas.openxmlformats.org/officeDocument/2006/relationships/hyperlink" Target="https://psychnews.psychiatryonline.org/doi/10.1176/appi.pn.2021.7.30" TargetMode="External"/><Relationship Id="rId12" Type="http://schemas.openxmlformats.org/officeDocument/2006/relationships/hyperlink" Target="https://philpapers.org/rec/APPFHA" TargetMode="External"/><Relationship Id="rId13" Type="http://schemas.openxmlformats.org/officeDocument/2006/relationships/hyperlink" Target="https://www.gmc-uk.org/professional-standards/the-professional-standards/making-and-using-visual-and-audio-recordings-of-patients" TargetMode="External"/><Relationship Id="rId14" Type="http://schemas.openxmlformats.org/officeDocument/2006/relationships/hyperlink" Target="https://www.ecfr.gov/current/title-45/subtitle-A/subchapter-A/part-46/subpart-A/section-46.116" TargetMode="External"/><Relationship Id="rId15" Type="http://schemas.openxmlformats.org/officeDocument/2006/relationships/hyperlink" Target="https://www.fda.gov/regulatory-information/search-fda-guidance-documents/marketing-submission-recommendations-predetermined-change-control-plan-artificial-intelligence" TargetMode="External"/><Relationship Id="rId16" Type="http://schemas.openxmlformats.org/officeDocument/2006/relationships/hyperlink" Target="https://www.fda.gov/regulatory-information/search-fda-guidance-documents/pulse-oximeters-medical-purposes-non-clinical-and-clinical-performance-testing-labeling-and" TargetMode="External"/><Relationship Id="rId17" Type="http://schemas.openxmlformats.org/officeDocument/2006/relationships/hyperlink" Target="https://www.fda.gov/files/about%20fda/published/Significant-Risk-and-Nonsignificant-Risk-Medical-Device-Studies---Information-Sheet.pdf" TargetMode="External"/><Relationship Id="rId18" Type="http://schemas.openxmlformats.org/officeDocument/2006/relationships/hyperlink" Target="https://eur-lex.europa.eu/eli/reg/2017/745/2023-03-20" TargetMode="External"/><Relationship Id="rId19" Type="http://schemas.openxmlformats.org/officeDocument/2006/relationships/hyperlink" Target="https://eur-lex.europa.eu/legal-content/EN/TXT/HTML/?uri=CELEX:52025PC1023" TargetMode="External"/><Relationship Id="rId20" Type="http://schemas.openxmlformats.org/officeDocument/2006/relationships/hyperlink" Target="https://www.immdsreview.org.uk/downloads/IMMDSReview_Web.pdf" TargetMode="External"/><Relationship Id="rId21" Type="http://schemas.openxmlformats.org/officeDocument/2006/relationships/hyperlink" Target="https://www.cms.gov/files/document/physician-fact-sheetpdf" TargetMode="External"/><Relationship Id="rId22" Type="http://schemas.openxmlformats.org/officeDocument/2006/relationships/slideLayout" Target="../slideLayouts/slideLayout6.xml"/><Relationship Id="rId2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hyperlink" Target="https://www.iso.org/standard/72704.html" TargetMode="External"/><Relationship Id="rId2" Type="http://schemas.openxmlformats.org/officeDocument/2006/relationships/hyperlink" Target="https://www.iso.org/standard/83968.html" TargetMode="External"/><Relationship Id="rId3" Type="http://schemas.openxmlformats.org/officeDocument/2006/relationships/hyperlink" Target="https://webstore.iec.ch/en/publication/67220" TargetMode="External"/><Relationship Id="rId4" Type="http://schemas.openxmlformats.org/officeDocument/2006/relationships/hyperlink" Target="https://www.acpjournals.org/doi/10.7326/ANNALS-24-00724" TargetMode="External"/><Relationship Id="rId5" Type="http://schemas.openxmlformats.org/officeDocument/2006/relationships/hyperlink" Target="https://folia.unifr.ch/global/documents/222920" TargetMode="External"/><Relationship Id="rId6" Type="http://schemas.openxmlformats.org/officeDocument/2006/relationships/hyperlink" Target="https://www.ncbi.nlm.nih.gov/pmc/articles/PMC6928783/" TargetMode="External"/><Relationship Id="rId7" Type="http://schemas.openxmlformats.org/officeDocument/2006/relationships/hyperlink" Target="https://www.ncbi.nlm.nih.gov/pmc/articles/PMC5533840/" TargetMode="External"/><Relationship Id="rId8" Type="http://schemas.openxmlformats.org/officeDocument/2006/relationships/hyperlink" Target="https://pubmed.ncbi.nlm.nih.gov/28890341/" TargetMode="External"/><Relationship Id="rId9" Type="http://schemas.openxmlformats.org/officeDocument/2006/relationships/hyperlink" Target="https://jnnp.bmj.com/content/78/2/134" TargetMode="External"/><Relationship Id="rId10" Type="http://schemas.openxmlformats.org/officeDocument/2006/relationships/hyperlink" Target="https://www.cochrane.org/evidence/CD003523_electromagnetic-fields-treatment-osteoarthritis" TargetMode="External"/><Relationship Id="rId11" Type="http://schemas.openxmlformats.org/officeDocument/2006/relationships/hyperlink" Target="https://medicaljournals.se/jrm/content/abstract/10.2340/16501977-2613" TargetMode="External"/><Relationship Id="rId12" Type="http://schemas.openxmlformats.org/officeDocument/2006/relationships/hyperlink" Target="https://pubmed.ncbi.nlm.nih.gov/32251502/" TargetMode="External"/><Relationship Id="rId13" Type="http://schemas.openxmlformats.org/officeDocument/2006/relationships/hyperlink" Target="https://www.ncbi.nlm.nih.gov/pmc/articles/PMC9213303/" TargetMode="External"/><Relationship Id="rId14" Type="http://schemas.openxmlformats.org/officeDocument/2006/relationships/hyperlink" Target="https://www.esceo.org/sites/esceo/files/pdf/Bannuru_O%26C_OARSIguidelines_2019.pdf" TargetMode="External"/><Relationship Id="rId15" Type="http://schemas.openxmlformats.org/officeDocument/2006/relationships/hyperlink" Target="https://www.nice.org.uk/guidance/ng226/chapter/Recommendations" TargetMode="External"/><Relationship Id="rId16" Type="http://schemas.openxmlformats.org/officeDocument/2006/relationships/hyperlink" Target="https://ard.bmj.com/content/64/1/29.full.pdf" TargetMode="External"/><Relationship Id="rId17" Type="http://schemas.openxmlformats.org/officeDocument/2006/relationships/hyperlink" Target="https://www.swayogya.in/evidence.html" TargetMode="External"/><Relationship Id="rId18" Type="http://schemas.openxmlformats.org/officeDocument/2006/relationships/hyperlink" Target="https://www.youtube.com/watch?v=IfQyVm8Kftc" TargetMode="External"/><Relationship Id="rId19" Type="http://schemas.openxmlformats.org/officeDocument/2006/relationships/hyperlink" Target="https://www.swayogya.in/product.html" TargetMode="External"/><Relationship Id="rId20" Type="http://schemas.openxmlformats.org/officeDocument/2006/relationships/slideLayout" Target="../slideLayouts/slideLayout6.xml"/><Relationship Id="rId21"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body" hasCustomPrompt="1"/>
          </p:nvPr>
        </p:nvSpPr>
        <p:spPr>
          <a:xfrm>
            <a:off x="548640" y="868680"/>
            <a:ext cx="6583680" cy="292608"/>
          </a:xfrm>
          <a:prstGeom prst="rect">
            <a:avLst/>
          </a:prstGeom>
          <a:noFill/>
          <a:ln/>
        </p:spPr>
        <p:txBody>
          <a:bodyPr wrap="square" lIns="0" tIns="0" rIns="0" bIns="0" rtlCol="0" anchor="t"/>
          <a:lstStyle/>
          <a:p>
            <a:pPr algn="l" indent="0" marL="0">
              <a:buNone/>
            </a:pPr>
            <a:r>
              <a:rPr lang="en-US" sz="1300" b="1" spc="300" kern="0" dirty="0">
                <a:solidFill>
                  <a:schemeClr val="accent2"/>
                </a:solidFill>
              </a:rPr>
              <a:t>MEDICAL DEVICE ETHICS WORKSHOP</a:t>
            </a:r>
            <a:endParaRPr lang="en-US" sz="1300" dirty="0"/>
          </a:p>
        </p:txBody>
      </p:sp>
      <p:sp>
        <p:nvSpPr>
          <p:cNvPr id="4" name="Text 0"/>
          <p:cNvSpPr/>
          <p:nvPr>
            <p:ph idx="101" type="title" hasCustomPrompt="1"/>
          </p:nvPr>
        </p:nvSpPr>
        <p:spPr>
          <a:xfrm>
            <a:off x="548640" y="1280160"/>
            <a:ext cx="6766560" cy="2286000"/>
          </a:xfrm>
          <a:prstGeom prst="rect">
            <a:avLst/>
          </a:prstGeom>
          <a:noFill/>
          <a:ln/>
        </p:spPr>
        <p:txBody>
          <a:bodyPr wrap="square" lIns="0" tIns="0" rIns="0" bIns="0" rtlCol="0" anchor="t"/>
          <a:lstStyle/>
          <a:p>
            <a:pPr algn="l" indent="0" marL="0">
              <a:buNone/>
            </a:pPr>
            <a:r>
              <a:rPr lang="en-US" sz="2600" b="1" dirty="0">
                <a:solidFill>
                  <a:schemeClr val="accent6"/>
                </a:solidFill>
              </a:rPr>
              <a:t>Bridging the Gap:</a:t>
            </a:r>
            <a:endParaRPr lang="en-US" sz="4400" dirty="0"/>
          </a:p>
          <a:p>
            <a:pPr algn="l" indent="0" marL="0">
              <a:buNone/>
            </a:pPr>
            <a:r>
              <a:rPr lang="en-US" sz="4400" b="1" dirty="0">
                <a:solidFill>
                  <a:schemeClr val="bg1"/>
                </a:solidFill>
              </a:rPr>
              <a:t>From Innovation to Patient Impact</a:t>
            </a:r>
            <a:endParaRPr lang="en-US" sz="4400" dirty="0"/>
          </a:p>
        </p:txBody>
      </p:sp>
      <p:sp>
        <p:nvSpPr>
          <p:cNvPr id="5" name="Text 0"/>
          <p:cNvSpPr/>
          <p:nvPr>
            <p:ph idx="102" type="body" hasCustomPrompt="1"/>
          </p:nvPr>
        </p:nvSpPr>
        <p:spPr>
          <a:xfrm>
            <a:off x="548640" y="3703320"/>
            <a:ext cx="6400800" cy="777240"/>
          </a:xfrm>
          <a:prstGeom prst="rect">
            <a:avLst/>
          </a:prstGeom>
          <a:noFill/>
          <a:ln/>
        </p:spPr>
        <p:txBody>
          <a:bodyPr wrap="square" lIns="0" tIns="0" rIns="0" bIns="0" rtlCol="0" anchor="t"/>
          <a:lstStyle/>
          <a:p>
            <a:pPr algn="l" indent="0" marL="0">
              <a:buNone/>
            </a:pPr>
            <a:r>
              <a:rPr lang="en-US" sz="1800" dirty="0">
                <a:solidFill>
                  <a:schemeClr val="accent6"/>
                </a:solidFill>
              </a:rPr>
              <a:t>Ethics, Evidence, Regulation and Responsible Medical Device Translation</a:t>
            </a:r>
            <a:endParaRPr lang="en-US" sz="1800" dirty="0"/>
          </a:p>
        </p:txBody>
      </p:sp>
      <p:sp>
        <p:nvSpPr>
          <p:cNvPr id="6" name="Text 0"/>
          <p:cNvSpPr/>
          <p:nvPr>
            <p:ph idx="103" type="body" hasCustomPrompt="1"/>
          </p:nvPr>
        </p:nvSpPr>
        <p:spPr>
          <a:xfrm>
            <a:off x="548640" y="4892040"/>
            <a:ext cx="6400800" cy="731520"/>
          </a:xfrm>
          <a:prstGeom prst="rect">
            <a:avLst/>
          </a:prstGeom>
          <a:noFill/>
          <a:ln/>
        </p:spPr>
        <p:txBody>
          <a:bodyPr wrap="square" lIns="0" tIns="0" rIns="0" bIns="0" rtlCol="0" anchor="t"/>
          <a:lstStyle/>
          <a:p>
            <a:pPr algn="l" indent="0" marL="0">
              <a:buNone/>
            </a:pPr>
            <a:r>
              <a:rPr lang="en-US" sz="1500" b="1" dirty="0">
                <a:solidFill>
                  <a:schemeClr val="bg1"/>
                </a:solidFill>
              </a:rPr>
              <a:t>Dr Vikas Kumar Jha</a:t>
            </a:r>
            <a:endParaRPr lang="en-US" sz="1500" dirty="0"/>
          </a:p>
          <a:p>
            <a:pPr algn="l" indent="0" marL="0">
              <a:buNone/>
            </a:pPr>
            <a:r>
              <a:rPr lang="en-US" sz="1400" dirty="0">
                <a:solidFill>
                  <a:schemeClr val="accent6"/>
                </a:solidFill>
              </a:rPr>
              <a:t>KIIT University, Bhubaneswar</a:t>
            </a:r>
            <a:endParaRPr lang="en-US" sz="1500" dirty="0"/>
          </a:p>
        </p:txBody>
      </p:sp>
      <p:sp>
        <p:nvSpPr>
          <p:cNvPr id="7" name="Text 4"/>
          <p:cNvSpPr txBox="1"/>
          <p:nvPr/>
        </p:nvSpPr>
        <p:spPr>
          <a:xfrm>
            <a:off x="7589520" y="1463040"/>
            <a:ext cx="4050792" cy="274320"/>
          </a:xfrm>
          <a:prstGeom prst="rect">
            <a:avLst/>
          </a:prstGeom>
          <a:noFill/>
          <a:ln/>
        </p:spPr>
        <p:txBody>
          <a:bodyPr wrap="square" lIns="0" tIns="0" rIns="0" bIns="0" rtlCol="0" anchor="t"/>
          <a:lstStyle/>
          <a:p>
            <a:pPr indent="0" marL="0">
              <a:buNone/>
            </a:pPr>
            <a:r>
              <a:rPr lang="en-US" sz="1100" i="1" dirty="0">
                <a:solidFill>
                  <a:schemeClr val="accent6"/>
                </a:solidFill>
              </a:rPr>
              <a:t>Authentic device photographs · no patients shown</a:t>
            </a:r>
            <a:endParaRPr lang="en-US" sz="1100" dirty="0"/>
          </a:p>
        </p:txBody>
      </p:sp>
      <p:pic>
        <p:nvPicPr>
          <p:cNvPr id="8" name="Image 0" descr="FoGO chest cue module and ankle strap module (alpha prototype)">    </p:cNvPr>
          <p:cNvPicPr>
            <a:picLocks noChangeAspect="1"/>
          </p:cNvPicPr>
          <p:nvPr/>
        </p:nvPicPr>
        <p:blipFill>
          <a:blip r:embed="rId1"/>
          <a:stretch>
            <a:fillRect/>
          </a:stretch>
        </p:blipFill>
        <p:spPr>
          <a:xfrm>
            <a:off x="7589520" y="1828800"/>
            <a:ext cx="1874520" cy="1828800"/>
          </a:xfrm>
          <a:prstGeom prst="rect">
            <a:avLst/>
          </a:prstGeom>
        </p:spPr>
      </p:pic>
      <p:pic>
        <p:nvPicPr>
          <p:cNvPr id="9" name="Image 1" descr="SwaKnee controller connected to its knee applicator">    </p:cNvPr>
          <p:cNvPicPr>
            <a:picLocks noChangeAspect="1"/>
          </p:cNvPicPr>
          <p:nvPr/>
        </p:nvPicPr>
        <p:blipFill>
          <a:blip r:embed="rId2"/>
          <a:stretch>
            <a:fillRect/>
          </a:stretch>
        </p:blipFill>
        <p:spPr>
          <a:xfrm>
            <a:off x="9765792" y="1828800"/>
            <a:ext cx="1874520" cy="1828800"/>
          </a:xfrm>
          <a:prstGeom prst="rect">
            <a:avLst/>
          </a:prstGeom>
        </p:spPr>
      </p:pic>
      <p:sp>
        <p:nvSpPr>
          <p:cNvPr id="10" name="Text 5"/>
          <p:cNvSpPr txBox="1"/>
          <p:nvPr/>
        </p:nvSpPr>
        <p:spPr>
          <a:xfrm>
            <a:off x="7589520" y="3767328"/>
            <a:ext cx="1965960" cy="640080"/>
          </a:xfrm>
          <a:prstGeom prst="rect">
            <a:avLst/>
          </a:prstGeom>
          <a:noFill/>
          <a:ln/>
        </p:spPr>
        <p:txBody>
          <a:bodyPr wrap="square" lIns="0" tIns="0" rIns="0" bIns="0" rtlCol="0" anchor="t"/>
          <a:lstStyle/>
          <a:p>
            <a:pPr indent="0" marL="0">
              <a:buNone/>
            </a:pPr>
            <a:r>
              <a:rPr lang="en-US" sz="1300" b="1" dirty="0">
                <a:solidFill>
                  <a:schemeClr val="bg1"/>
                </a:solidFill>
              </a:rPr>
              <a:t>FoGO</a:t>
            </a:r>
            <a:endParaRPr lang="en-US" sz="1300" dirty="0"/>
          </a:p>
          <a:p>
            <a:pPr indent="0" marL="0">
              <a:buNone/>
            </a:pPr>
            <a:r>
              <a:rPr lang="en-US" sz="1050" dirty="0">
                <a:solidFill>
                  <a:schemeClr val="accent6"/>
                </a:solidFill>
              </a:rPr>
              <a:t>Freezing-of-gait wearable · alpha prototype</a:t>
            </a:r>
            <a:endParaRPr lang="en-US" sz="1300" dirty="0"/>
          </a:p>
        </p:txBody>
      </p:sp>
      <p:sp>
        <p:nvSpPr>
          <p:cNvPr id="11" name="Text 6"/>
          <p:cNvSpPr txBox="1"/>
          <p:nvPr/>
        </p:nvSpPr>
        <p:spPr>
          <a:xfrm>
            <a:off x="9765792" y="3767328"/>
            <a:ext cx="1965960" cy="640080"/>
          </a:xfrm>
          <a:prstGeom prst="rect">
            <a:avLst/>
          </a:prstGeom>
          <a:noFill/>
          <a:ln/>
        </p:spPr>
        <p:txBody>
          <a:bodyPr wrap="square" lIns="0" tIns="0" rIns="0" bIns="0" rtlCol="0" anchor="t"/>
          <a:lstStyle/>
          <a:p>
            <a:pPr indent="0" marL="0">
              <a:buNone/>
            </a:pPr>
            <a:r>
              <a:rPr lang="en-US" sz="1300" b="1" dirty="0">
                <a:solidFill>
                  <a:schemeClr val="bg1"/>
                </a:solidFill>
              </a:rPr>
              <a:t>SwaKnee</a:t>
            </a:r>
            <a:endParaRPr lang="en-US" sz="1300" dirty="0"/>
          </a:p>
          <a:p>
            <a:pPr indent="0" marL="0">
              <a:buNone/>
            </a:pPr>
            <a:r>
              <a:rPr lang="en-US" sz="1050" dirty="0">
                <a:solidFill>
                  <a:schemeClr val="accent6"/>
                </a:solidFill>
              </a:rPr>
              <a:t>Pulsed electromagnetic field (PEMF) knee system</a:t>
            </a:r>
            <a:endParaRPr lang="en-US" sz="1300" dirty="0"/>
          </a:p>
        </p:txBody>
      </p:sp>
      <p:sp>
        <p:nvSpPr>
          <p:cNvPr id="12" name="Text 7"/>
          <p:cNvSpPr txBox="1"/>
          <p:nvPr/>
        </p:nvSpPr>
        <p:spPr>
          <a:xfrm>
            <a:off x="7589520" y="4590288"/>
            <a:ext cx="4050792" cy="274320"/>
          </a:xfrm>
          <a:prstGeom prst="rect">
            <a:avLst/>
          </a:prstGeom>
          <a:noFill/>
          <a:ln/>
        </p:spPr>
        <p:txBody>
          <a:bodyPr wrap="square" lIns="0" tIns="0" rIns="0" bIns="0" rtlCol="0" anchor="t"/>
          <a:lstStyle/>
          <a:p>
            <a:pPr indent="0" marL="0">
              <a:buNone/>
            </a:pPr>
            <a:r>
              <a:rPr lang="en-US" sz="1050" b="1" dirty="0">
                <a:solidFill>
                  <a:schemeClr val="accent6"/>
                </a:solidFill>
              </a:rPr>
              <a:t>Six stages · six patient questions · two composite patients</a:t>
            </a:r>
            <a:endParaRPr lang="en-US" sz="1050" dirty="0"/>
          </a:p>
        </p:txBody>
      </p:sp>
      <p:sp>
        <p:nvSpPr>
          <p:cNvPr id="13" name="Stage connector"/>
          <p:cNvSpPr/>
          <p:nvPr/>
        </p:nvSpPr>
        <p:spPr>
          <a:xfrm>
            <a:off x="7927086" y="5157216"/>
            <a:ext cx="3375660" cy="0"/>
          </a:xfrm>
          <a:prstGeom prst="line">
            <a:avLst/>
          </a:prstGeom>
          <a:noFill/>
          <a:ln w="12700">
            <a:solidFill>
              <a:schemeClr val="accent6"/>
            </a:solidFill>
            <a:prstDash val="solid"/>
          </a:ln>
        </p:spPr>
      </p:sp>
      <p:sp>
        <p:nvSpPr>
          <p:cNvPr id="14" name="Icon disc LuSearch"/>
          <p:cNvSpPr/>
          <p:nvPr/>
        </p:nvSpPr>
        <p:spPr>
          <a:xfrm>
            <a:off x="7725918" y="4956048"/>
            <a:ext cx="402336" cy="402336"/>
          </a:xfrm>
          <a:prstGeom prst="ellipse">
            <a:avLst/>
          </a:prstGeom>
          <a:solidFill>
            <a:schemeClr val="accent6"/>
          </a:solidFill>
          <a:ln/>
        </p:spPr>
      </p:sp>
      <p:pic>
        <p:nvPicPr>
          <p:cNvPr id="15" name="Image 2" descr="Search icon">    </p:cNvPr>
          <p:cNvPicPr>
            <a:picLocks noChangeAspect="1"/>
          </p:cNvPicPr>
          <p:nvPr/>
        </p:nvPicPr>
        <p:blipFill>
          <a:blip r:embed="rId3"/>
          <a:stretch>
            <a:fillRect/>
          </a:stretch>
        </p:blipFill>
        <p:spPr>
          <a:xfrm>
            <a:off x="7814432" y="5044562"/>
            <a:ext cx="225308" cy="225308"/>
          </a:xfrm>
          <a:prstGeom prst="rect">
            <a:avLst/>
          </a:prstGeom>
        </p:spPr>
      </p:pic>
      <p:sp>
        <p:nvSpPr>
          <p:cNvPr id="16" name="Text 10"/>
          <p:cNvSpPr txBox="1"/>
          <p:nvPr/>
        </p:nvSpPr>
        <p:spPr>
          <a:xfrm>
            <a:off x="7589520" y="5431536"/>
            <a:ext cx="675132" cy="256032"/>
          </a:xfrm>
          <a:prstGeom prst="rect">
            <a:avLst/>
          </a:prstGeom>
          <a:noFill/>
          <a:ln/>
        </p:spPr>
        <p:txBody>
          <a:bodyPr wrap="square" lIns="0" tIns="0" rIns="0" bIns="0" rtlCol="0" anchor="t"/>
          <a:lstStyle/>
          <a:p>
            <a:pPr algn="ctr" indent="0" marL="0">
              <a:buNone/>
            </a:pPr>
            <a:r>
              <a:rPr lang="en-US" sz="950" b="1" dirty="0">
                <a:solidFill>
                  <a:schemeClr val="bg1"/>
                </a:solidFill>
              </a:rPr>
              <a:t>Need</a:t>
            </a:r>
            <a:endParaRPr lang="en-US" sz="950" dirty="0"/>
          </a:p>
        </p:txBody>
      </p:sp>
      <p:sp>
        <p:nvSpPr>
          <p:cNvPr id="17" name="Icon disc LuFlaskConical"/>
          <p:cNvSpPr/>
          <p:nvPr/>
        </p:nvSpPr>
        <p:spPr>
          <a:xfrm>
            <a:off x="8401050" y="4956048"/>
            <a:ext cx="402336" cy="402336"/>
          </a:xfrm>
          <a:prstGeom prst="ellipse">
            <a:avLst/>
          </a:prstGeom>
          <a:solidFill>
            <a:schemeClr val="accent6"/>
          </a:solidFill>
          <a:ln/>
        </p:spPr>
      </p:sp>
      <p:pic>
        <p:nvPicPr>
          <p:cNvPr id="18" name="Image 3" descr="FlaskConical icon">    </p:cNvPr>
          <p:cNvPicPr>
            <a:picLocks noChangeAspect="1"/>
          </p:cNvPicPr>
          <p:nvPr/>
        </p:nvPicPr>
        <p:blipFill>
          <a:blip r:embed="rId4"/>
          <a:stretch>
            <a:fillRect/>
          </a:stretch>
        </p:blipFill>
        <p:spPr>
          <a:xfrm>
            <a:off x="8489564" y="5044562"/>
            <a:ext cx="225308" cy="225308"/>
          </a:xfrm>
          <a:prstGeom prst="rect">
            <a:avLst/>
          </a:prstGeom>
        </p:spPr>
      </p:pic>
      <p:sp>
        <p:nvSpPr>
          <p:cNvPr id="19" name="Text 12"/>
          <p:cNvSpPr txBox="1"/>
          <p:nvPr/>
        </p:nvSpPr>
        <p:spPr>
          <a:xfrm>
            <a:off x="8264652" y="5431536"/>
            <a:ext cx="675132" cy="256032"/>
          </a:xfrm>
          <a:prstGeom prst="rect">
            <a:avLst/>
          </a:prstGeom>
          <a:noFill/>
          <a:ln/>
        </p:spPr>
        <p:txBody>
          <a:bodyPr wrap="square" lIns="0" tIns="0" rIns="0" bIns="0" rtlCol="0" anchor="t"/>
          <a:lstStyle/>
          <a:p>
            <a:pPr algn="ctr" indent="0" marL="0">
              <a:buNone/>
            </a:pPr>
            <a:r>
              <a:rPr lang="en-US" sz="950" b="1" dirty="0">
                <a:solidFill>
                  <a:schemeClr val="bg1"/>
                </a:solidFill>
              </a:rPr>
              <a:t>Evidence</a:t>
            </a:r>
            <a:endParaRPr lang="en-US" sz="950" dirty="0"/>
          </a:p>
        </p:txBody>
      </p:sp>
      <p:sp>
        <p:nvSpPr>
          <p:cNvPr id="20" name="Icon disc LuUsers"/>
          <p:cNvSpPr/>
          <p:nvPr/>
        </p:nvSpPr>
        <p:spPr>
          <a:xfrm>
            <a:off x="9076182" y="4956048"/>
            <a:ext cx="402336" cy="402336"/>
          </a:xfrm>
          <a:prstGeom prst="ellipse">
            <a:avLst/>
          </a:prstGeom>
          <a:solidFill>
            <a:schemeClr val="accent6"/>
          </a:solidFill>
          <a:ln/>
        </p:spPr>
      </p:sp>
      <p:pic>
        <p:nvPicPr>
          <p:cNvPr id="21" name="Image 4" descr="Users icon">    </p:cNvPr>
          <p:cNvPicPr>
            <a:picLocks noChangeAspect="1"/>
          </p:cNvPicPr>
          <p:nvPr/>
        </p:nvPicPr>
        <p:blipFill>
          <a:blip r:embed="rId5"/>
          <a:stretch>
            <a:fillRect/>
          </a:stretch>
        </p:blipFill>
        <p:spPr>
          <a:xfrm>
            <a:off x="9164696" y="5044562"/>
            <a:ext cx="225308" cy="225308"/>
          </a:xfrm>
          <a:prstGeom prst="rect">
            <a:avLst/>
          </a:prstGeom>
        </p:spPr>
      </p:pic>
      <p:sp>
        <p:nvSpPr>
          <p:cNvPr id="22" name="Text 14"/>
          <p:cNvSpPr txBox="1"/>
          <p:nvPr/>
        </p:nvSpPr>
        <p:spPr>
          <a:xfrm>
            <a:off x="8939784" y="5431536"/>
            <a:ext cx="675132" cy="256032"/>
          </a:xfrm>
          <a:prstGeom prst="rect">
            <a:avLst/>
          </a:prstGeom>
          <a:noFill/>
          <a:ln/>
        </p:spPr>
        <p:txBody>
          <a:bodyPr wrap="square" lIns="0" tIns="0" rIns="0" bIns="0" rtlCol="0" anchor="t"/>
          <a:lstStyle/>
          <a:p>
            <a:pPr algn="ctr" indent="0" marL="0">
              <a:buNone/>
            </a:pPr>
            <a:r>
              <a:rPr lang="en-US" sz="950" b="1" dirty="0">
                <a:solidFill>
                  <a:schemeClr val="bg1"/>
                </a:solidFill>
              </a:rPr>
              <a:t>People</a:t>
            </a:r>
            <a:endParaRPr lang="en-US" sz="950" dirty="0"/>
          </a:p>
        </p:txBody>
      </p:sp>
      <p:sp>
        <p:nvSpPr>
          <p:cNvPr id="23" name="Icon disc LuFileCheck"/>
          <p:cNvSpPr/>
          <p:nvPr/>
        </p:nvSpPr>
        <p:spPr>
          <a:xfrm>
            <a:off x="9751314" y="4956048"/>
            <a:ext cx="402336" cy="402336"/>
          </a:xfrm>
          <a:prstGeom prst="ellipse">
            <a:avLst/>
          </a:prstGeom>
          <a:solidFill>
            <a:schemeClr val="accent6"/>
          </a:solidFill>
          <a:ln/>
        </p:spPr>
      </p:sp>
      <p:pic>
        <p:nvPicPr>
          <p:cNvPr id="24" name="Image 5" descr="FileCheck icon">    </p:cNvPr>
          <p:cNvPicPr>
            <a:picLocks noChangeAspect="1"/>
          </p:cNvPicPr>
          <p:nvPr/>
        </p:nvPicPr>
        <p:blipFill>
          <a:blip r:embed="rId6"/>
          <a:stretch>
            <a:fillRect/>
          </a:stretch>
        </p:blipFill>
        <p:spPr>
          <a:xfrm>
            <a:off x="9839828" y="5044562"/>
            <a:ext cx="225308" cy="225308"/>
          </a:xfrm>
          <a:prstGeom prst="rect">
            <a:avLst/>
          </a:prstGeom>
        </p:spPr>
      </p:pic>
      <p:sp>
        <p:nvSpPr>
          <p:cNvPr id="25" name="Text 16"/>
          <p:cNvSpPr txBox="1"/>
          <p:nvPr/>
        </p:nvSpPr>
        <p:spPr>
          <a:xfrm>
            <a:off x="9614916" y="5431536"/>
            <a:ext cx="675132" cy="256032"/>
          </a:xfrm>
          <a:prstGeom prst="rect">
            <a:avLst/>
          </a:prstGeom>
          <a:noFill/>
          <a:ln/>
        </p:spPr>
        <p:txBody>
          <a:bodyPr wrap="square" lIns="0" tIns="0" rIns="0" bIns="0" rtlCol="0" anchor="t"/>
          <a:lstStyle/>
          <a:p>
            <a:pPr algn="ctr" indent="0" marL="0">
              <a:buNone/>
            </a:pPr>
            <a:r>
              <a:rPr lang="en-US" sz="950" b="1" dirty="0">
                <a:solidFill>
                  <a:schemeClr val="bg1"/>
                </a:solidFill>
              </a:rPr>
              <a:t>Permission</a:t>
            </a:r>
            <a:endParaRPr lang="en-US" sz="950" dirty="0"/>
          </a:p>
        </p:txBody>
      </p:sp>
      <p:sp>
        <p:nvSpPr>
          <p:cNvPr id="26" name="Icon disc LuWallet"/>
          <p:cNvSpPr/>
          <p:nvPr/>
        </p:nvSpPr>
        <p:spPr>
          <a:xfrm>
            <a:off x="10426446" y="4956048"/>
            <a:ext cx="402336" cy="402336"/>
          </a:xfrm>
          <a:prstGeom prst="ellipse">
            <a:avLst/>
          </a:prstGeom>
          <a:solidFill>
            <a:schemeClr val="accent6"/>
          </a:solidFill>
          <a:ln/>
        </p:spPr>
      </p:sp>
      <p:pic>
        <p:nvPicPr>
          <p:cNvPr id="27" name="Image 6" descr="Wallet icon">    </p:cNvPr>
          <p:cNvPicPr>
            <a:picLocks noChangeAspect="1"/>
          </p:cNvPicPr>
          <p:nvPr/>
        </p:nvPicPr>
        <p:blipFill>
          <a:blip r:embed="rId7"/>
          <a:stretch>
            <a:fillRect/>
          </a:stretch>
        </p:blipFill>
        <p:spPr>
          <a:xfrm>
            <a:off x="10514960" y="5044562"/>
            <a:ext cx="225308" cy="225308"/>
          </a:xfrm>
          <a:prstGeom prst="rect">
            <a:avLst/>
          </a:prstGeom>
        </p:spPr>
      </p:pic>
      <p:sp>
        <p:nvSpPr>
          <p:cNvPr id="28" name="Text 18"/>
          <p:cNvSpPr txBox="1"/>
          <p:nvPr/>
        </p:nvSpPr>
        <p:spPr>
          <a:xfrm>
            <a:off x="10290048" y="5431536"/>
            <a:ext cx="675132" cy="256032"/>
          </a:xfrm>
          <a:prstGeom prst="rect">
            <a:avLst/>
          </a:prstGeom>
          <a:noFill/>
          <a:ln/>
        </p:spPr>
        <p:txBody>
          <a:bodyPr wrap="square" lIns="0" tIns="0" rIns="0" bIns="0" rtlCol="0" anchor="t"/>
          <a:lstStyle/>
          <a:p>
            <a:pPr algn="ctr" indent="0" marL="0">
              <a:buNone/>
            </a:pPr>
            <a:r>
              <a:rPr lang="en-US" sz="950" b="1" dirty="0">
                <a:solidFill>
                  <a:schemeClr val="bg1"/>
                </a:solidFill>
              </a:rPr>
              <a:t>Access</a:t>
            </a:r>
            <a:endParaRPr lang="en-US" sz="950" dirty="0"/>
          </a:p>
        </p:txBody>
      </p:sp>
      <p:sp>
        <p:nvSpPr>
          <p:cNvPr id="29" name="Icon disc LuShieldCheck"/>
          <p:cNvSpPr/>
          <p:nvPr/>
        </p:nvSpPr>
        <p:spPr>
          <a:xfrm>
            <a:off x="11101578" y="4956048"/>
            <a:ext cx="402336" cy="402336"/>
          </a:xfrm>
          <a:prstGeom prst="ellipse">
            <a:avLst/>
          </a:prstGeom>
          <a:solidFill>
            <a:schemeClr val="accent6"/>
          </a:solidFill>
          <a:ln/>
        </p:spPr>
      </p:sp>
      <p:pic>
        <p:nvPicPr>
          <p:cNvPr id="30" name="Image 7" descr="ShieldCheck icon">    </p:cNvPr>
          <p:cNvPicPr>
            <a:picLocks noChangeAspect="1"/>
          </p:cNvPicPr>
          <p:nvPr/>
        </p:nvPicPr>
        <p:blipFill>
          <a:blip r:embed="rId8"/>
          <a:stretch>
            <a:fillRect/>
          </a:stretch>
        </p:blipFill>
        <p:spPr>
          <a:xfrm>
            <a:off x="11190092" y="5044562"/>
            <a:ext cx="225308" cy="225308"/>
          </a:xfrm>
          <a:prstGeom prst="rect">
            <a:avLst/>
          </a:prstGeom>
        </p:spPr>
      </p:pic>
      <p:sp>
        <p:nvSpPr>
          <p:cNvPr id="31" name="Text 20"/>
          <p:cNvSpPr txBox="1"/>
          <p:nvPr/>
        </p:nvSpPr>
        <p:spPr>
          <a:xfrm>
            <a:off x="10965180" y="5431536"/>
            <a:ext cx="675132" cy="256032"/>
          </a:xfrm>
          <a:prstGeom prst="rect">
            <a:avLst/>
          </a:prstGeom>
          <a:noFill/>
          <a:ln/>
        </p:spPr>
        <p:txBody>
          <a:bodyPr wrap="square" lIns="0" tIns="0" rIns="0" bIns="0" rtlCol="0" anchor="t"/>
          <a:lstStyle/>
          <a:p>
            <a:pPr algn="ctr" indent="0" marL="0">
              <a:buNone/>
            </a:pPr>
            <a:r>
              <a:rPr lang="en-US" sz="950" b="1" dirty="0">
                <a:solidFill>
                  <a:schemeClr val="bg1"/>
                </a:solidFill>
              </a:rPr>
              <a:t>Safety</a:t>
            </a:r>
            <a:endParaRPr lang="en-US" sz="950" dirty="0"/>
          </a:p>
        </p:txBody>
      </p:sp>
      <p:sp>
        <p:nvSpPr>
          <p:cNvPr id="32" name="Pill 2 devices"/>
          <p:cNvSpPr/>
          <p:nvPr/>
        </p:nvSpPr>
        <p:spPr>
          <a:xfrm>
            <a:off x="548640" y="5897880"/>
            <a:ext cx="1097280" cy="274320"/>
          </a:xfrm>
          <a:prstGeom prst="roundRect">
            <a:avLst>
              <a:gd name="adj" fmla="val 50000"/>
            </a:avLst>
          </a:prstGeom>
          <a:solidFill>
            <a:schemeClr val="tx2"/>
          </a:solidFill>
          <a:ln w="15875">
            <a:solidFill>
              <a:schemeClr val="accent2"/>
            </a:solidFill>
            <a:prstDash val="solid"/>
          </a:ln>
        </p:spPr>
      </p:sp>
      <p:sp>
        <p:nvSpPr>
          <p:cNvPr id="33" name="Text 22"/>
          <p:cNvSpPr txBox="1"/>
          <p:nvPr/>
        </p:nvSpPr>
        <p:spPr>
          <a:xfrm>
            <a:off x="548640" y="5897880"/>
            <a:ext cx="1097280" cy="274320"/>
          </a:xfrm>
          <a:prstGeom prst="rect">
            <a:avLst/>
          </a:prstGeom>
          <a:noFill/>
          <a:ln/>
        </p:spPr>
        <p:txBody>
          <a:bodyPr wrap="square" lIns="0" tIns="0" rIns="0" bIns="0" rtlCol="0" anchor="ctr"/>
          <a:lstStyle/>
          <a:p>
            <a:pPr algn="ctr" indent="0" marL="0">
              <a:buNone/>
            </a:pPr>
            <a:r>
              <a:rPr lang="en-US" sz="1000" b="1" dirty="0">
                <a:solidFill>
                  <a:schemeClr val="accent2"/>
                </a:solidFill>
              </a:rPr>
              <a:t>2 devices</a:t>
            </a:r>
            <a:endParaRPr lang="en-US" sz="1000" dirty="0"/>
          </a:p>
        </p:txBody>
      </p:sp>
      <p:sp>
        <p:nvSpPr>
          <p:cNvPr id="34" name="Pill 2 patients"/>
          <p:cNvSpPr/>
          <p:nvPr/>
        </p:nvSpPr>
        <p:spPr>
          <a:xfrm>
            <a:off x="1783080" y="5897880"/>
            <a:ext cx="1097280" cy="274320"/>
          </a:xfrm>
          <a:prstGeom prst="roundRect">
            <a:avLst>
              <a:gd name="adj" fmla="val 50000"/>
            </a:avLst>
          </a:prstGeom>
          <a:solidFill>
            <a:schemeClr val="tx2"/>
          </a:solidFill>
          <a:ln w="15875">
            <a:solidFill>
              <a:schemeClr val="accent2"/>
            </a:solidFill>
            <a:prstDash val="solid"/>
          </a:ln>
        </p:spPr>
      </p:sp>
      <p:sp>
        <p:nvSpPr>
          <p:cNvPr id="35" name="Text 24"/>
          <p:cNvSpPr txBox="1"/>
          <p:nvPr/>
        </p:nvSpPr>
        <p:spPr>
          <a:xfrm>
            <a:off x="1783080" y="5897880"/>
            <a:ext cx="1097280" cy="274320"/>
          </a:xfrm>
          <a:prstGeom prst="rect">
            <a:avLst/>
          </a:prstGeom>
          <a:noFill/>
          <a:ln/>
        </p:spPr>
        <p:txBody>
          <a:bodyPr wrap="square" lIns="0" tIns="0" rIns="0" bIns="0" rtlCol="0" anchor="ctr"/>
          <a:lstStyle/>
          <a:p>
            <a:pPr algn="ctr" indent="0" marL="0">
              <a:buNone/>
            </a:pPr>
            <a:r>
              <a:rPr lang="en-US" sz="1000" b="1" dirty="0">
                <a:solidFill>
                  <a:schemeClr val="accent2"/>
                </a:solidFill>
              </a:rPr>
              <a:t>2 patients</a:t>
            </a:r>
            <a:endParaRPr lang="en-US" sz="1000" dirty="0"/>
          </a:p>
        </p:txBody>
      </p:sp>
      <p:sp>
        <p:nvSpPr>
          <p:cNvPr id="36" name="Pill 6 stages"/>
          <p:cNvSpPr/>
          <p:nvPr/>
        </p:nvSpPr>
        <p:spPr>
          <a:xfrm>
            <a:off x="3017520" y="5897880"/>
            <a:ext cx="1097280" cy="274320"/>
          </a:xfrm>
          <a:prstGeom prst="roundRect">
            <a:avLst>
              <a:gd name="adj" fmla="val 50000"/>
            </a:avLst>
          </a:prstGeom>
          <a:solidFill>
            <a:schemeClr val="tx2"/>
          </a:solidFill>
          <a:ln w="15875">
            <a:solidFill>
              <a:schemeClr val="accent2"/>
            </a:solidFill>
            <a:prstDash val="solid"/>
          </a:ln>
        </p:spPr>
      </p:sp>
      <p:sp>
        <p:nvSpPr>
          <p:cNvPr id="37" name="Text 26"/>
          <p:cNvSpPr txBox="1"/>
          <p:nvPr/>
        </p:nvSpPr>
        <p:spPr>
          <a:xfrm>
            <a:off x="3017520" y="5897880"/>
            <a:ext cx="1097280" cy="274320"/>
          </a:xfrm>
          <a:prstGeom prst="rect">
            <a:avLst/>
          </a:prstGeom>
          <a:noFill/>
          <a:ln/>
        </p:spPr>
        <p:txBody>
          <a:bodyPr wrap="square" lIns="0" tIns="0" rIns="0" bIns="0" rtlCol="0" anchor="ctr"/>
          <a:lstStyle/>
          <a:p>
            <a:pPr algn="ctr" indent="0" marL="0">
              <a:buNone/>
            </a:pPr>
            <a:r>
              <a:rPr lang="en-US" sz="1000" b="1" dirty="0">
                <a:solidFill>
                  <a:schemeClr val="accent2"/>
                </a:solidFill>
              </a:rPr>
              <a:t>6 stages</a:t>
            </a:r>
            <a:endParaRPr lang="en-US" sz="1000" dirty="0"/>
          </a:p>
        </p:txBody>
      </p:sp>
      <p:sp>
        <p:nvSpPr>
          <p:cNvPr id="38" name="Pill 5 decisions"/>
          <p:cNvSpPr/>
          <p:nvPr/>
        </p:nvSpPr>
        <p:spPr>
          <a:xfrm>
            <a:off x="4251960" y="5897880"/>
            <a:ext cx="1097280" cy="274320"/>
          </a:xfrm>
          <a:prstGeom prst="roundRect">
            <a:avLst>
              <a:gd name="adj" fmla="val 50000"/>
            </a:avLst>
          </a:prstGeom>
          <a:solidFill>
            <a:schemeClr val="tx2"/>
          </a:solidFill>
          <a:ln w="15875">
            <a:solidFill>
              <a:schemeClr val="accent2"/>
            </a:solidFill>
            <a:prstDash val="solid"/>
          </a:ln>
        </p:spPr>
      </p:sp>
      <p:sp>
        <p:nvSpPr>
          <p:cNvPr id="39" name="Text 28"/>
          <p:cNvSpPr txBox="1"/>
          <p:nvPr/>
        </p:nvSpPr>
        <p:spPr>
          <a:xfrm>
            <a:off x="4251960" y="5897880"/>
            <a:ext cx="1097280" cy="274320"/>
          </a:xfrm>
          <a:prstGeom prst="rect">
            <a:avLst/>
          </a:prstGeom>
          <a:noFill/>
          <a:ln/>
        </p:spPr>
        <p:txBody>
          <a:bodyPr wrap="square" lIns="0" tIns="0" rIns="0" bIns="0" rtlCol="0" anchor="ctr"/>
          <a:lstStyle/>
          <a:p>
            <a:pPr algn="ctr" indent="0" marL="0">
              <a:buNone/>
            </a:pPr>
            <a:r>
              <a:rPr lang="en-US" sz="1000" b="1" dirty="0">
                <a:solidFill>
                  <a:schemeClr val="accent2"/>
                </a:solidFill>
              </a:rPr>
              <a:t>5 decisions</a:t>
            </a:r>
            <a:endParaRPr lang="en-US" sz="1000" dirty="0"/>
          </a:p>
        </p:txBody>
      </p:sp>
      <p:sp>
        <p:nvSpPr>
          <p:cNvPr id="40" name="Pill 2 votes"/>
          <p:cNvSpPr/>
          <p:nvPr/>
        </p:nvSpPr>
        <p:spPr>
          <a:xfrm>
            <a:off x="5486400" y="5897880"/>
            <a:ext cx="1097280" cy="274320"/>
          </a:xfrm>
          <a:prstGeom prst="roundRect">
            <a:avLst>
              <a:gd name="adj" fmla="val 50000"/>
            </a:avLst>
          </a:prstGeom>
          <a:solidFill>
            <a:schemeClr val="tx2"/>
          </a:solidFill>
          <a:ln w="15875">
            <a:solidFill>
              <a:schemeClr val="accent2"/>
            </a:solidFill>
            <a:prstDash val="solid"/>
          </a:ln>
        </p:spPr>
      </p:sp>
      <p:sp>
        <p:nvSpPr>
          <p:cNvPr id="41" name="Text 30"/>
          <p:cNvSpPr txBox="1"/>
          <p:nvPr/>
        </p:nvSpPr>
        <p:spPr>
          <a:xfrm>
            <a:off x="5486400" y="5897880"/>
            <a:ext cx="1097280" cy="274320"/>
          </a:xfrm>
          <a:prstGeom prst="rect">
            <a:avLst/>
          </a:prstGeom>
          <a:noFill/>
          <a:ln/>
        </p:spPr>
        <p:txBody>
          <a:bodyPr wrap="square" lIns="0" tIns="0" rIns="0" bIns="0" rtlCol="0" anchor="ctr"/>
          <a:lstStyle/>
          <a:p>
            <a:pPr algn="ctr" indent="0" marL="0">
              <a:buNone/>
            </a:pPr>
            <a:r>
              <a:rPr lang="en-US" sz="1000" b="1" dirty="0">
                <a:solidFill>
                  <a:schemeClr val="accent2"/>
                </a:solidFill>
              </a:rPr>
              <a:t>2 votes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INDIA · WHY NOW</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India's medical device moment</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NMDP 2023 Cabinet release; Parliamentary Standing Committee, Mar 2024; S.O. 648(E) and G.S.R. 102(E), 2020; MDR-2017 Rule 4, Forms MD-3/5/7/9/12/13/22/23; CDSCO fee file</a:t>
            </a:r>
            <a:endParaRPr lang="en-US" sz="950" dirty="0"/>
          </a:p>
        </p:txBody>
      </p:sp>
      <p:sp>
        <p:nvSpPr>
          <p:cNvPr id="6" name="Stat Market size, 2023"/>
          <p:cNvSpPr/>
          <p:nvPr/>
        </p:nvSpPr>
        <p:spPr>
          <a:xfrm>
            <a:off x="548640" y="1508760"/>
            <a:ext cx="2622728" cy="1554480"/>
          </a:xfrm>
          <a:prstGeom prst="roundRect">
            <a:avLst>
              <a:gd name="adj" fmla="val 7059"/>
            </a:avLst>
          </a:prstGeom>
          <a:solidFill>
            <a:schemeClr val="bg1"/>
          </a:solidFill>
          <a:ln w="9525">
            <a:solidFill>
              <a:srgbClr val="D5DFDD"/>
            </a:solidFill>
            <a:prstDash val="solid"/>
          </a:ln>
          <a:effectLst>
            <a:outerShdw sx="100000" sy="100000" kx="0" ky="0" algn="bl" rotWithShape="0" blurRad="76200" dist="25400" dir="5400000">
              <a:srgbClr val="000000">
                <a:alpha val="10000"/>
              </a:srgbClr>
            </a:outerShdw>
          </a:effectLst>
        </p:spPr>
      </p:sp>
      <p:sp>
        <p:nvSpPr>
          <p:cNvPr id="7" name="Stat accent"/>
          <p:cNvSpPr/>
          <p:nvPr/>
        </p:nvSpPr>
        <p:spPr>
          <a:xfrm>
            <a:off x="548640" y="1737360"/>
            <a:ext cx="64008" cy="1097280"/>
          </a:xfrm>
          <a:prstGeom prst="rect">
            <a:avLst/>
          </a:prstGeom>
          <a:solidFill>
            <a:srgbClr val="0F7C74"/>
          </a:solidFill>
          <a:ln/>
        </p:spPr>
      </p:sp>
      <p:sp>
        <p:nvSpPr>
          <p:cNvPr id="8" name="Icon disc LuChartBar"/>
          <p:cNvSpPr/>
          <p:nvPr/>
        </p:nvSpPr>
        <p:spPr>
          <a:xfrm>
            <a:off x="2604440" y="1691640"/>
            <a:ext cx="402336" cy="402336"/>
          </a:xfrm>
          <a:prstGeom prst="ellipse">
            <a:avLst/>
          </a:prstGeom>
          <a:solidFill>
            <a:srgbClr val="0F7C74">
              <a:alpha val="15000"/>
            </a:srgbClr>
          </a:solidFill>
          <a:ln/>
        </p:spPr>
      </p:sp>
      <p:pic>
        <p:nvPicPr>
          <p:cNvPr id="9" name="Image 0" descr="ChartBar icon">    </p:cNvPr>
          <p:cNvPicPr>
            <a:picLocks noChangeAspect="1"/>
          </p:cNvPicPr>
          <p:nvPr/>
        </p:nvPicPr>
        <p:blipFill>
          <a:blip r:embed="rId1"/>
          <a:stretch>
            <a:fillRect/>
          </a:stretch>
        </p:blipFill>
        <p:spPr>
          <a:xfrm>
            <a:off x="2692954" y="1780154"/>
            <a:ext cx="225308" cy="225308"/>
          </a:xfrm>
          <a:prstGeom prst="rect">
            <a:avLst/>
          </a:prstGeom>
        </p:spPr>
      </p:pic>
      <p:sp>
        <p:nvSpPr>
          <p:cNvPr id="10" name="Text 6"/>
          <p:cNvSpPr txBox="1"/>
          <p:nvPr/>
        </p:nvSpPr>
        <p:spPr>
          <a:xfrm>
            <a:off x="777240" y="1645920"/>
            <a:ext cx="1754048" cy="685800"/>
          </a:xfrm>
          <a:prstGeom prst="rect">
            <a:avLst/>
          </a:prstGeom>
          <a:noFill/>
          <a:ln/>
        </p:spPr>
        <p:txBody>
          <a:bodyPr wrap="square" lIns="0" tIns="0" rIns="0" bIns="0" rtlCol="0" anchor="ctr"/>
          <a:lstStyle/>
          <a:p>
            <a:pPr indent="0" marL="0">
              <a:buNone/>
            </a:pPr>
            <a:r>
              <a:rPr lang="en-US" sz="2720" b="1" dirty="0">
                <a:solidFill>
                  <a:srgbClr val="0F7C74"/>
                </a:solidFill>
              </a:rPr>
              <a:t>US$ 11 bn</a:t>
            </a:r>
            <a:endParaRPr lang="en-US" sz="2720" dirty="0"/>
          </a:p>
        </p:txBody>
      </p:sp>
      <p:sp>
        <p:nvSpPr>
          <p:cNvPr id="11" name="Text 7"/>
          <p:cNvSpPr txBox="1"/>
          <p:nvPr/>
        </p:nvSpPr>
        <p:spPr>
          <a:xfrm>
            <a:off x="777240" y="2331720"/>
            <a:ext cx="2256968" cy="292608"/>
          </a:xfrm>
          <a:prstGeom prst="rect">
            <a:avLst/>
          </a:prstGeom>
          <a:noFill/>
          <a:ln/>
        </p:spPr>
        <p:txBody>
          <a:bodyPr wrap="square" lIns="0" tIns="0" rIns="0" bIns="0" rtlCol="0" anchor="t"/>
          <a:lstStyle/>
          <a:p>
            <a:pPr indent="0" marL="0">
              <a:buNone/>
            </a:pPr>
            <a:r>
              <a:rPr lang="en-US" sz="1200" b="1" dirty="0">
                <a:solidFill>
                  <a:schemeClr val="tx1"/>
                </a:solidFill>
              </a:rPr>
              <a:t>Market size, 2023</a:t>
            </a:r>
            <a:endParaRPr lang="en-US" sz="1200" dirty="0"/>
          </a:p>
        </p:txBody>
      </p:sp>
      <p:sp>
        <p:nvSpPr>
          <p:cNvPr id="12" name="Text 8"/>
          <p:cNvSpPr txBox="1"/>
          <p:nvPr/>
        </p:nvSpPr>
        <p:spPr>
          <a:xfrm>
            <a:off x="777240" y="2606040"/>
            <a:ext cx="2256968" cy="411480"/>
          </a:xfrm>
          <a:prstGeom prst="rect">
            <a:avLst/>
          </a:prstGeom>
          <a:noFill/>
          <a:ln/>
        </p:spPr>
        <p:txBody>
          <a:bodyPr wrap="square" lIns="0" tIns="0" rIns="0" bIns="0" rtlCol="0" anchor="t"/>
          <a:lstStyle/>
          <a:p>
            <a:pPr indent="0" marL="0">
              <a:buNone/>
            </a:pPr>
            <a:r>
              <a:rPr lang="en-US" sz="950" dirty="0">
                <a:solidFill>
                  <a:schemeClr val="accent5"/>
                </a:solidFill>
              </a:rPr>
              <a:t>≈1.5% of the world market · NMDP 2023 Cabinet release, 26 Apr 2023</a:t>
            </a:r>
            <a:endParaRPr lang="en-US" sz="950" dirty="0"/>
          </a:p>
        </p:txBody>
      </p:sp>
      <p:sp>
        <p:nvSpPr>
          <p:cNvPr id="13" name="Stat Imported"/>
          <p:cNvSpPr/>
          <p:nvPr/>
        </p:nvSpPr>
        <p:spPr>
          <a:xfrm>
            <a:off x="3372536" y="1508760"/>
            <a:ext cx="2622728" cy="1554480"/>
          </a:xfrm>
          <a:prstGeom prst="roundRect">
            <a:avLst>
              <a:gd name="adj" fmla="val 7059"/>
            </a:avLst>
          </a:prstGeom>
          <a:solidFill>
            <a:schemeClr val="bg1"/>
          </a:solidFill>
          <a:ln w="9525">
            <a:solidFill>
              <a:srgbClr val="D5DFDD"/>
            </a:solidFill>
            <a:prstDash val="solid"/>
          </a:ln>
          <a:effectLst>
            <a:outerShdw sx="100000" sy="100000" kx="0" ky="0" algn="bl" rotWithShape="0" blurRad="76200" dist="25400" dir="5400000">
              <a:srgbClr val="000000">
                <a:alpha val="10000"/>
              </a:srgbClr>
            </a:outerShdw>
          </a:effectLst>
        </p:spPr>
      </p:sp>
      <p:sp>
        <p:nvSpPr>
          <p:cNvPr id="14" name="Stat accent"/>
          <p:cNvSpPr/>
          <p:nvPr/>
        </p:nvSpPr>
        <p:spPr>
          <a:xfrm>
            <a:off x="3372536" y="1737360"/>
            <a:ext cx="64008" cy="1097280"/>
          </a:xfrm>
          <a:prstGeom prst="rect">
            <a:avLst/>
          </a:prstGeom>
          <a:solidFill>
            <a:srgbClr val="C2453A"/>
          </a:solidFill>
          <a:ln/>
        </p:spPr>
      </p:sp>
      <p:sp>
        <p:nvSpPr>
          <p:cNvPr id="15" name="Icon disc LuShip"/>
          <p:cNvSpPr/>
          <p:nvPr/>
        </p:nvSpPr>
        <p:spPr>
          <a:xfrm>
            <a:off x="5428336" y="1691640"/>
            <a:ext cx="402336" cy="402336"/>
          </a:xfrm>
          <a:prstGeom prst="ellipse">
            <a:avLst/>
          </a:prstGeom>
          <a:solidFill>
            <a:srgbClr val="C2453A">
              <a:alpha val="15000"/>
            </a:srgbClr>
          </a:solidFill>
          <a:ln/>
        </p:spPr>
      </p:sp>
      <p:pic>
        <p:nvPicPr>
          <p:cNvPr id="16" name="Image 1" descr="Ship icon">    </p:cNvPr>
          <p:cNvPicPr>
            <a:picLocks noChangeAspect="1"/>
          </p:cNvPicPr>
          <p:nvPr/>
        </p:nvPicPr>
        <p:blipFill>
          <a:blip r:embed="rId2"/>
          <a:stretch>
            <a:fillRect/>
          </a:stretch>
        </p:blipFill>
        <p:spPr>
          <a:xfrm>
            <a:off x="5516850" y="1780154"/>
            <a:ext cx="225308" cy="225308"/>
          </a:xfrm>
          <a:prstGeom prst="rect">
            <a:avLst/>
          </a:prstGeom>
        </p:spPr>
      </p:pic>
      <p:sp>
        <p:nvSpPr>
          <p:cNvPr id="17" name="Text 12"/>
          <p:cNvSpPr txBox="1"/>
          <p:nvPr/>
        </p:nvSpPr>
        <p:spPr>
          <a:xfrm>
            <a:off x="3601136" y="1645920"/>
            <a:ext cx="1754048" cy="685800"/>
          </a:xfrm>
          <a:prstGeom prst="rect">
            <a:avLst/>
          </a:prstGeom>
          <a:noFill/>
          <a:ln/>
        </p:spPr>
        <p:txBody>
          <a:bodyPr wrap="square" lIns="0" tIns="0" rIns="0" bIns="0" rtlCol="0" anchor="ctr"/>
          <a:lstStyle/>
          <a:p>
            <a:pPr indent="0" marL="0">
              <a:buNone/>
            </a:pPr>
            <a:r>
              <a:rPr lang="en-US" sz="3400" b="1" dirty="0">
                <a:solidFill>
                  <a:srgbClr val="C2453A"/>
                </a:solidFill>
              </a:rPr>
              <a:t>≈70%</a:t>
            </a:r>
            <a:endParaRPr lang="en-US" sz="3400" dirty="0"/>
          </a:p>
        </p:txBody>
      </p:sp>
      <p:sp>
        <p:nvSpPr>
          <p:cNvPr id="18" name="Text 13"/>
          <p:cNvSpPr txBox="1"/>
          <p:nvPr/>
        </p:nvSpPr>
        <p:spPr>
          <a:xfrm>
            <a:off x="3601136" y="2331720"/>
            <a:ext cx="2256968" cy="292608"/>
          </a:xfrm>
          <a:prstGeom prst="rect">
            <a:avLst/>
          </a:prstGeom>
          <a:noFill/>
          <a:ln/>
        </p:spPr>
        <p:txBody>
          <a:bodyPr wrap="square" lIns="0" tIns="0" rIns="0" bIns="0" rtlCol="0" anchor="t"/>
          <a:lstStyle/>
          <a:p>
            <a:pPr indent="0" marL="0">
              <a:buNone/>
            </a:pPr>
            <a:r>
              <a:rPr lang="en-US" sz="1200" b="1" dirty="0">
                <a:solidFill>
                  <a:schemeClr val="tx1"/>
                </a:solidFill>
              </a:rPr>
              <a:t>Imported</a:t>
            </a:r>
            <a:endParaRPr lang="en-US" sz="1200" dirty="0"/>
          </a:p>
        </p:txBody>
      </p:sp>
      <p:sp>
        <p:nvSpPr>
          <p:cNvPr id="19" name="Text 14"/>
          <p:cNvSpPr txBox="1"/>
          <p:nvPr/>
        </p:nvSpPr>
        <p:spPr>
          <a:xfrm>
            <a:off x="3601136" y="2606040"/>
            <a:ext cx="2256968" cy="411480"/>
          </a:xfrm>
          <a:prstGeom prst="rect">
            <a:avLst/>
          </a:prstGeom>
          <a:noFill/>
          <a:ln/>
        </p:spPr>
        <p:txBody>
          <a:bodyPr wrap="square" lIns="0" tIns="0" rIns="0" bIns="0" rtlCol="0" anchor="t"/>
          <a:lstStyle/>
          <a:p>
            <a:pPr indent="0" marL="0">
              <a:buNone/>
            </a:pPr>
            <a:r>
              <a:rPr lang="en-US" sz="950" dirty="0">
                <a:solidFill>
                  <a:schemeClr val="accent5"/>
                </a:solidFill>
              </a:rPr>
              <a:t>Parliamentary Standing Committee, Mar 2024 · US$ 8.18 bn imported in FY24</a:t>
            </a:r>
            <a:endParaRPr lang="en-US" sz="950" dirty="0"/>
          </a:p>
        </p:txBody>
      </p:sp>
      <p:sp>
        <p:nvSpPr>
          <p:cNvPr id="20" name="Stat Target by 2030"/>
          <p:cNvSpPr/>
          <p:nvPr/>
        </p:nvSpPr>
        <p:spPr>
          <a:xfrm>
            <a:off x="6196432" y="1508760"/>
            <a:ext cx="2622728" cy="1554480"/>
          </a:xfrm>
          <a:prstGeom prst="roundRect">
            <a:avLst>
              <a:gd name="adj" fmla="val 7059"/>
            </a:avLst>
          </a:prstGeom>
          <a:solidFill>
            <a:schemeClr val="bg1"/>
          </a:solidFill>
          <a:ln w="9525">
            <a:solidFill>
              <a:srgbClr val="D5DFDD"/>
            </a:solidFill>
            <a:prstDash val="solid"/>
          </a:ln>
          <a:effectLst>
            <a:outerShdw sx="100000" sy="100000" kx="0" ky="0" algn="bl" rotWithShape="0" blurRad="76200" dist="25400" dir="5400000">
              <a:srgbClr val="000000">
                <a:alpha val="10000"/>
              </a:srgbClr>
            </a:outerShdw>
          </a:effectLst>
        </p:spPr>
      </p:sp>
      <p:sp>
        <p:nvSpPr>
          <p:cNvPr id="21" name="Stat accent"/>
          <p:cNvSpPr/>
          <p:nvPr/>
        </p:nvSpPr>
        <p:spPr>
          <a:xfrm>
            <a:off x="6196432" y="1737360"/>
            <a:ext cx="64008" cy="1097280"/>
          </a:xfrm>
          <a:prstGeom prst="rect">
            <a:avLst/>
          </a:prstGeom>
          <a:solidFill>
            <a:srgbClr val="E0962A"/>
          </a:solidFill>
          <a:ln/>
        </p:spPr>
      </p:sp>
      <p:sp>
        <p:nvSpPr>
          <p:cNvPr id="22" name="Icon disc LuTarget"/>
          <p:cNvSpPr/>
          <p:nvPr/>
        </p:nvSpPr>
        <p:spPr>
          <a:xfrm>
            <a:off x="8252231" y="1691640"/>
            <a:ext cx="402336" cy="402336"/>
          </a:xfrm>
          <a:prstGeom prst="ellipse">
            <a:avLst/>
          </a:prstGeom>
          <a:solidFill>
            <a:srgbClr val="E0962A">
              <a:alpha val="15000"/>
            </a:srgbClr>
          </a:solidFill>
          <a:ln/>
        </p:spPr>
      </p:sp>
      <p:pic>
        <p:nvPicPr>
          <p:cNvPr id="23" name="Image 2" descr="Target icon">    </p:cNvPr>
          <p:cNvPicPr>
            <a:picLocks noChangeAspect="1"/>
          </p:cNvPicPr>
          <p:nvPr/>
        </p:nvPicPr>
        <p:blipFill>
          <a:blip r:embed="rId3"/>
          <a:stretch>
            <a:fillRect/>
          </a:stretch>
        </p:blipFill>
        <p:spPr>
          <a:xfrm>
            <a:off x="8340745" y="1780154"/>
            <a:ext cx="225308" cy="225308"/>
          </a:xfrm>
          <a:prstGeom prst="rect">
            <a:avLst/>
          </a:prstGeom>
        </p:spPr>
      </p:pic>
      <p:sp>
        <p:nvSpPr>
          <p:cNvPr id="24" name="Text 18"/>
          <p:cNvSpPr txBox="1"/>
          <p:nvPr/>
        </p:nvSpPr>
        <p:spPr>
          <a:xfrm>
            <a:off x="6425032" y="1645920"/>
            <a:ext cx="1754048" cy="685800"/>
          </a:xfrm>
          <a:prstGeom prst="rect">
            <a:avLst/>
          </a:prstGeom>
          <a:noFill/>
          <a:ln/>
        </p:spPr>
        <p:txBody>
          <a:bodyPr wrap="square" lIns="0" tIns="0" rIns="0" bIns="0" rtlCol="0" anchor="ctr"/>
          <a:lstStyle/>
          <a:p>
            <a:pPr indent="0" marL="0">
              <a:buNone/>
            </a:pPr>
            <a:r>
              <a:rPr lang="en-US" sz="2720" b="1" dirty="0">
                <a:solidFill>
                  <a:srgbClr val="E0962A"/>
                </a:solidFill>
              </a:rPr>
              <a:t>US$ 50 bn</a:t>
            </a:r>
            <a:endParaRPr lang="en-US" sz="2720" dirty="0"/>
          </a:p>
        </p:txBody>
      </p:sp>
      <p:sp>
        <p:nvSpPr>
          <p:cNvPr id="25" name="Text 19"/>
          <p:cNvSpPr txBox="1"/>
          <p:nvPr/>
        </p:nvSpPr>
        <p:spPr>
          <a:xfrm>
            <a:off x="6425032" y="2331720"/>
            <a:ext cx="2256968" cy="292608"/>
          </a:xfrm>
          <a:prstGeom prst="rect">
            <a:avLst/>
          </a:prstGeom>
          <a:noFill/>
          <a:ln/>
        </p:spPr>
        <p:txBody>
          <a:bodyPr wrap="square" lIns="0" tIns="0" rIns="0" bIns="0" rtlCol="0" anchor="t"/>
          <a:lstStyle/>
          <a:p>
            <a:pPr indent="0" marL="0">
              <a:buNone/>
            </a:pPr>
            <a:r>
              <a:rPr lang="en-US" sz="1200" b="1" dirty="0">
                <a:solidFill>
                  <a:schemeClr val="tx1"/>
                </a:solidFill>
              </a:rPr>
              <a:t>Target by 2030</a:t>
            </a:r>
            <a:endParaRPr lang="en-US" sz="1200" dirty="0"/>
          </a:p>
        </p:txBody>
      </p:sp>
      <p:sp>
        <p:nvSpPr>
          <p:cNvPr id="26" name="Text 20"/>
          <p:cNvSpPr txBox="1"/>
          <p:nvPr/>
        </p:nvSpPr>
        <p:spPr>
          <a:xfrm>
            <a:off x="6425032" y="2606040"/>
            <a:ext cx="2256968" cy="411480"/>
          </a:xfrm>
          <a:prstGeom prst="rect">
            <a:avLst/>
          </a:prstGeom>
          <a:noFill/>
          <a:ln/>
        </p:spPr>
        <p:txBody>
          <a:bodyPr wrap="square" lIns="0" tIns="0" rIns="0" bIns="0" rtlCol="0" anchor="t"/>
          <a:lstStyle/>
          <a:p>
            <a:pPr indent="0" marL="0">
              <a:buNone/>
            </a:pPr>
            <a:r>
              <a:rPr lang="en-US" sz="950" dirty="0">
                <a:solidFill>
                  <a:schemeClr val="accent5"/>
                </a:solidFill>
              </a:rPr>
              <a:t>National Medical Devices Policy 2023: six strategies, regulatory streamlining first</a:t>
            </a:r>
            <a:endParaRPr lang="en-US" sz="950" dirty="0"/>
          </a:p>
        </p:txBody>
      </p:sp>
      <p:sp>
        <p:nvSpPr>
          <p:cNvPr id="27" name="Stat All devices regulated"/>
          <p:cNvSpPr/>
          <p:nvPr/>
        </p:nvSpPr>
        <p:spPr>
          <a:xfrm>
            <a:off x="9020327" y="1508760"/>
            <a:ext cx="2622728" cy="1554480"/>
          </a:xfrm>
          <a:prstGeom prst="roundRect">
            <a:avLst>
              <a:gd name="adj" fmla="val 7059"/>
            </a:avLst>
          </a:prstGeom>
          <a:solidFill>
            <a:schemeClr val="bg1"/>
          </a:solidFill>
          <a:ln w="9525">
            <a:solidFill>
              <a:srgbClr val="D5DFDD"/>
            </a:solidFill>
            <a:prstDash val="solid"/>
          </a:ln>
          <a:effectLst>
            <a:outerShdw sx="100000" sy="100000" kx="0" ky="0" algn="bl" rotWithShape="0" blurRad="76200" dist="25400" dir="5400000">
              <a:srgbClr val="000000">
                <a:alpha val="10000"/>
              </a:srgbClr>
            </a:outerShdw>
          </a:effectLst>
        </p:spPr>
      </p:sp>
      <p:sp>
        <p:nvSpPr>
          <p:cNvPr id="28" name="Stat accent"/>
          <p:cNvSpPr/>
          <p:nvPr/>
        </p:nvSpPr>
        <p:spPr>
          <a:xfrm>
            <a:off x="9020327" y="1737360"/>
            <a:ext cx="64008" cy="1097280"/>
          </a:xfrm>
          <a:prstGeom prst="rect">
            <a:avLst/>
          </a:prstGeom>
          <a:solidFill>
            <a:srgbClr val="3D5A80"/>
          </a:solidFill>
          <a:ln/>
        </p:spPr>
      </p:sp>
      <p:sp>
        <p:nvSpPr>
          <p:cNvPr id="29" name="Icon disc LuGavel"/>
          <p:cNvSpPr/>
          <p:nvPr/>
        </p:nvSpPr>
        <p:spPr>
          <a:xfrm>
            <a:off x="11076127" y="1691640"/>
            <a:ext cx="402336" cy="402336"/>
          </a:xfrm>
          <a:prstGeom prst="ellipse">
            <a:avLst/>
          </a:prstGeom>
          <a:solidFill>
            <a:srgbClr val="3D5A80">
              <a:alpha val="15000"/>
            </a:srgbClr>
          </a:solidFill>
          <a:ln/>
        </p:spPr>
      </p:sp>
      <p:pic>
        <p:nvPicPr>
          <p:cNvPr id="30" name="Image 3" descr="Gavel icon">    </p:cNvPr>
          <p:cNvPicPr>
            <a:picLocks noChangeAspect="1"/>
          </p:cNvPicPr>
          <p:nvPr/>
        </p:nvPicPr>
        <p:blipFill>
          <a:blip r:embed="rId4"/>
          <a:stretch>
            <a:fillRect/>
          </a:stretch>
        </p:blipFill>
        <p:spPr>
          <a:xfrm>
            <a:off x="11164641" y="1780154"/>
            <a:ext cx="225308" cy="225308"/>
          </a:xfrm>
          <a:prstGeom prst="rect">
            <a:avLst/>
          </a:prstGeom>
        </p:spPr>
      </p:pic>
      <p:sp>
        <p:nvSpPr>
          <p:cNvPr id="31" name="Text 24"/>
          <p:cNvSpPr txBox="1"/>
          <p:nvPr/>
        </p:nvSpPr>
        <p:spPr>
          <a:xfrm>
            <a:off x="9248927" y="1645920"/>
            <a:ext cx="1754048" cy="685800"/>
          </a:xfrm>
          <a:prstGeom prst="rect">
            <a:avLst/>
          </a:prstGeom>
          <a:noFill/>
          <a:ln/>
        </p:spPr>
        <p:txBody>
          <a:bodyPr wrap="square" lIns="0" tIns="0" rIns="0" bIns="0" rtlCol="0" anchor="ctr"/>
          <a:lstStyle/>
          <a:p>
            <a:pPr indent="0" marL="0">
              <a:buNone/>
            </a:pPr>
            <a:r>
              <a:rPr lang="en-US" sz="2720" b="1" dirty="0">
                <a:solidFill>
                  <a:srgbClr val="3D5A80"/>
                </a:solidFill>
              </a:rPr>
              <a:t>1 Apr 2020</a:t>
            </a:r>
            <a:endParaRPr lang="en-US" sz="2720" dirty="0"/>
          </a:p>
        </p:txBody>
      </p:sp>
      <p:sp>
        <p:nvSpPr>
          <p:cNvPr id="32" name="Text 25"/>
          <p:cNvSpPr txBox="1"/>
          <p:nvPr/>
        </p:nvSpPr>
        <p:spPr>
          <a:xfrm>
            <a:off x="9248927" y="2331720"/>
            <a:ext cx="2256968" cy="292608"/>
          </a:xfrm>
          <a:prstGeom prst="rect">
            <a:avLst/>
          </a:prstGeom>
          <a:noFill/>
          <a:ln/>
        </p:spPr>
        <p:txBody>
          <a:bodyPr wrap="square" lIns="0" tIns="0" rIns="0" bIns="0" rtlCol="0" anchor="t"/>
          <a:lstStyle/>
          <a:p>
            <a:pPr indent="0" marL="0">
              <a:buNone/>
            </a:pPr>
            <a:r>
              <a:rPr lang="en-US" sz="1200" b="1" dirty="0">
                <a:solidFill>
                  <a:schemeClr val="tx1"/>
                </a:solidFill>
              </a:rPr>
              <a:t>All devices regulated</a:t>
            </a:r>
            <a:endParaRPr lang="en-US" sz="1200" dirty="0"/>
          </a:p>
        </p:txBody>
      </p:sp>
      <p:sp>
        <p:nvSpPr>
          <p:cNvPr id="33" name="Text 26"/>
          <p:cNvSpPr txBox="1"/>
          <p:nvPr/>
        </p:nvSpPr>
        <p:spPr>
          <a:xfrm>
            <a:off x="9248927" y="2606040"/>
            <a:ext cx="2256968" cy="411480"/>
          </a:xfrm>
          <a:prstGeom prst="rect">
            <a:avLst/>
          </a:prstGeom>
          <a:noFill/>
          <a:ln/>
        </p:spPr>
        <p:txBody>
          <a:bodyPr wrap="square" lIns="0" tIns="0" rIns="0" bIns="0" rtlCol="0" anchor="t"/>
          <a:lstStyle/>
          <a:p>
            <a:pPr indent="0" marL="0">
              <a:buNone/>
            </a:pPr>
            <a:r>
              <a:rPr lang="en-US" sz="950" dirty="0">
                <a:solidFill>
                  <a:schemeClr val="accent5"/>
                </a:solidFill>
              </a:rPr>
              <a:t>S.O. 648(E), 11 Feb 2020: every device a 'drug' under the 1940 Act</a:t>
            </a:r>
            <a:endParaRPr lang="en-US" sz="950" dirty="0"/>
          </a:p>
        </p:txBody>
      </p:sp>
      <p:sp>
        <p:nvSpPr>
          <p:cNvPr id="34" name="Text 27"/>
          <p:cNvSpPr txBox="1"/>
          <p:nvPr/>
        </p:nvSpPr>
        <p:spPr>
          <a:xfrm>
            <a:off x="548640" y="3200400"/>
            <a:ext cx="8229600" cy="237744"/>
          </a:xfrm>
          <a:prstGeom prst="rect">
            <a:avLst/>
          </a:prstGeom>
          <a:noFill/>
          <a:ln/>
        </p:spPr>
        <p:txBody>
          <a:bodyPr wrap="square" lIns="0" tIns="0" rIns="0" bIns="0" rtlCol="0" anchor="t"/>
          <a:lstStyle/>
          <a:p>
            <a:pPr indent="0" marL="0">
              <a:buNone/>
            </a:pPr>
            <a:r>
              <a:rPr lang="en-US" sz="1200" b="1" dirty="0">
                <a:solidFill>
                  <a:schemeClr val="tx2"/>
                </a:solidFill>
              </a:rPr>
              <a:t>One device's regulatory journey under the Medical Devices Rules, 2017 (MDR-2017)</a:t>
            </a:r>
            <a:endParaRPr lang="en-US" sz="1200" dirty="0"/>
          </a:p>
        </p:txBody>
      </p:sp>
      <p:sp>
        <p:nvSpPr>
          <p:cNvPr id="35" name="Step Need"/>
          <p:cNvSpPr/>
          <p:nvPr/>
        </p:nvSpPr>
        <p:spPr>
          <a:xfrm>
            <a:off x="548640" y="3474720"/>
            <a:ext cx="1788109" cy="512064"/>
          </a:xfrm>
          <a:prstGeom prst="homePlate">
            <a:avLst/>
          </a:prstGeom>
          <a:solidFill>
            <a:schemeClr val="accent1"/>
          </a:solidFill>
          <a:ln/>
        </p:spPr>
      </p:sp>
      <p:sp>
        <p:nvSpPr>
          <p:cNvPr id="36" name="Text 29"/>
          <p:cNvSpPr txBox="1"/>
          <p:nvPr/>
        </p:nvSpPr>
        <p:spPr>
          <a:xfrm>
            <a:off x="676656" y="3474720"/>
            <a:ext cx="1422349" cy="512064"/>
          </a:xfrm>
          <a:prstGeom prst="rect">
            <a:avLst/>
          </a:prstGeom>
          <a:noFill/>
          <a:ln/>
        </p:spPr>
        <p:txBody>
          <a:bodyPr wrap="square" lIns="0" tIns="0" rIns="0" bIns="0" rtlCol="0" anchor="ctr"/>
          <a:lstStyle/>
          <a:p>
            <a:pPr indent="0" marL="0">
              <a:buNone/>
            </a:pPr>
            <a:r>
              <a:rPr lang="en-US" sz="1200" b="1" dirty="0">
                <a:solidFill>
                  <a:schemeClr val="bg1"/>
                </a:solidFill>
              </a:rPr>
              <a:t>Need</a:t>
            </a:r>
            <a:endParaRPr lang="en-US" sz="1200" dirty="0"/>
          </a:p>
        </p:txBody>
      </p:sp>
      <p:sp>
        <p:nvSpPr>
          <p:cNvPr id="37" name="Text 30"/>
          <p:cNvSpPr txBox="1"/>
          <p:nvPr/>
        </p:nvSpPr>
        <p:spPr>
          <a:xfrm>
            <a:off x="594360" y="4096512"/>
            <a:ext cx="1650949" cy="1097280"/>
          </a:xfrm>
          <a:prstGeom prst="rect">
            <a:avLst/>
          </a:prstGeom>
          <a:noFill/>
          <a:ln/>
        </p:spPr>
        <p:txBody>
          <a:bodyPr wrap="square" lIns="0" tIns="0" rIns="0" bIns="0" rtlCol="0" anchor="t"/>
          <a:lstStyle/>
          <a:p>
            <a:pPr indent="0" marL="0">
              <a:spcAft>
                <a:spcPts val="200"/>
              </a:spcAft>
              <a:buNone/>
            </a:pPr>
            <a:r>
              <a:rPr lang="en-US" sz="1050" dirty="0">
                <a:solidFill>
                  <a:schemeClr val="tx2"/>
                </a:solidFill>
              </a:rPr>
              <a:t>Observe care; write a solution-neutral need; fix the intended use and the claim</a:t>
            </a:r>
            <a:endParaRPr lang="en-US" sz="1050" dirty="0"/>
          </a:p>
        </p:txBody>
      </p:sp>
      <p:sp>
        <p:nvSpPr>
          <p:cNvPr id="38" name="Step Classify"/>
          <p:cNvSpPr/>
          <p:nvPr/>
        </p:nvSpPr>
        <p:spPr>
          <a:xfrm>
            <a:off x="2409901" y="3474720"/>
            <a:ext cx="1788109" cy="512064"/>
          </a:xfrm>
          <a:prstGeom prst="chevron">
            <a:avLst/>
          </a:prstGeom>
          <a:solidFill>
            <a:schemeClr val="accent4"/>
          </a:solidFill>
          <a:ln/>
        </p:spPr>
      </p:sp>
      <p:sp>
        <p:nvSpPr>
          <p:cNvPr id="39" name="Text 32"/>
          <p:cNvSpPr txBox="1"/>
          <p:nvPr/>
        </p:nvSpPr>
        <p:spPr>
          <a:xfrm>
            <a:off x="2739085" y="3474720"/>
            <a:ext cx="1239469" cy="512064"/>
          </a:xfrm>
          <a:prstGeom prst="rect">
            <a:avLst/>
          </a:prstGeom>
          <a:noFill/>
          <a:ln/>
        </p:spPr>
        <p:txBody>
          <a:bodyPr wrap="square" lIns="0" tIns="0" rIns="0" bIns="0" rtlCol="0" anchor="ctr"/>
          <a:lstStyle/>
          <a:p>
            <a:pPr indent="0" marL="0">
              <a:buNone/>
            </a:pPr>
            <a:r>
              <a:rPr lang="en-US" sz="1200" b="1" dirty="0">
                <a:solidFill>
                  <a:schemeClr val="bg1"/>
                </a:solidFill>
              </a:rPr>
              <a:t>Classify</a:t>
            </a:r>
            <a:endParaRPr lang="en-US" sz="1200" dirty="0"/>
          </a:p>
        </p:txBody>
      </p:sp>
      <p:sp>
        <p:nvSpPr>
          <p:cNvPr id="40" name="Text 33"/>
          <p:cNvSpPr txBox="1"/>
          <p:nvPr/>
        </p:nvSpPr>
        <p:spPr>
          <a:xfrm>
            <a:off x="2455621" y="4096512"/>
            <a:ext cx="1650949" cy="1097280"/>
          </a:xfrm>
          <a:prstGeom prst="rect">
            <a:avLst/>
          </a:prstGeom>
          <a:noFill/>
          <a:ln/>
        </p:spPr>
        <p:txBody>
          <a:bodyPr wrap="square" lIns="0" tIns="0" rIns="0" bIns="0" rtlCol="0" anchor="t"/>
          <a:lstStyle/>
          <a:p>
            <a:pPr indent="0" marL="0">
              <a:spcAft>
                <a:spcPts val="200"/>
              </a:spcAft>
              <a:buNone/>
            </a:pPr>
            <a:r>
              <a:rPr lang="en-US" sz="1050" dirty="0">
                <a:solidFill>
                  <a:schemeClr val="tx2"/>
                </a:solidFill>
              </a:rPr>
              <a:t>Rule 4 + First Schedule: A low · B low-moderate · C moderate-high · D high risk</a:t>
            </a:r>
            <a:endParaRPr lang="en-US" sz="1050" dirty="0"/>
          </a:p>
        </p:txBody>
      </p:sp>
      <p:sp>
        <p:nvSpPr>
          <p:cNvPr id="41" name="Step Test licence"/>
          <p:cNvSpPr/>
          <p:nvPr/>
        </p:nvSpPr>
        <p:spPr>
          <a:xfrm>
            <a:off x="4271162" y="3474720"/>
            <a:ext cx="1788109" cy="512064"/>
          </a:xfrm>
          <a:prstGeom prst="chevron">
            <a:avLst/>
          </a:prstGeom>
          <a:solidFill>
            <a:schemeClr val="accent4"/>
          </a:solidFill>
          <a:ln/>
        </p:spPr>
      </p:sp>
      <p:sp>
        <p:nvSpPr>
          <p:cNvPr id="42" name="Text 35"/>
          <p:cNvSpPr txBox="1"/>
          <p:nvPr/>
        </p:nvSpPr>
        <p:spPr>
          <a:xfrm>
            <a:off x="4600346" y="3474720"/>
            <a:ext cx="1239469" cy="512064"/>
          </a:xfrm>
          <a:prstGeom prst="rect">
            <a:avLst/>
          </a:prstGeom>
          <a:noFill/>
          <a:ln/>
        </p:spPr>
        <p:txBody>
          <a:bodyPr wrap="square" lIns="0" tIns="0" rIns="0" bIns="0" rtlCol="0" anchor="ctr"/>
          <a:lstStyle/>
          <a:p>
            <a:pPr indent="0" marL="0">
              <a:buNone/>
            </a:pPr>
            <a:r>
              <a:rPr lang="en-US" sz="1200" b="1" dirty="0">
                <a:solidFill>
                  <a:schemeClr val="bg1"/>
                </a:solidFill>
              </a:rPr>
              <a:t>Test licence</a:t>
            </a:r>
            <a:endParaRPr lang="en-US" sz="1200" dirty="0"/>
          </a:p>
        </p:txBody>
      </p:sp>
      <p:sp>
        <p:nvSpPr>
          <p:cNvPr id="43" name="Text 36"/>
          <p:cNvSpPr txBox="1"/>
          <p:nvPr/>
        </p:nvSpPr>
        <p:spPr>
          <a:xfrm>
            <a:off x="4316882" y="4096512"/>
            <a:ext cx="1650949" cy="1097280"/>
          </a:xfrm>
          <a:prstGeom prst="rect">
            <a:avLst/>
          </a:prstGeom>
          <a:noFill/>
          <a:ln/>
        </p:spPr>
        <p:txBody>
          <a:bodyPr wrap="square" lIns="0" tIns="0" rIns="0" bIns="0" rtlCol="0" anchor="t"/>
          <a:lstStyle/>
          <a:p>
            <a:pPr indent="0" marL="0">
              <a:spcAft>
                <a:spcPts val="200"/>
              </a:spcAft>
              <a:buNone/>
            </a:pPr>
            <a:r>
              <a:rPr lang="en-US" sz="1050" dirty="0">
                <a:solidFill>
                  <a:schemeClr val="tx2"/>
                </a:solidFill>
              </a:rPr>
              <a:t>MD-12 → MD-13 (Central): prototypes for test, evaluation, demonstration; Rs 500 per device; no sale</a:t>
            </a:r>
            <a:endParaRPr lang="en-US" sz="1050" dirty="0"/>
          </a:p>
        </p:txBody>
      </p:sp>
      <p:sp>
        <p:nvSpPr>
          <p:cNvPr id="44" name="Step Investigate"/>
          <p:cNvSpPr/>
          <p:nvPr/>
        </p:nvSpPr>
        <p:spPr>
          <a:xfrm>
            <a:off x="6132424" y="3474720"/>
            <a:ext cx="1788109" cy="512064"/>
          </a:xfrm>
          <a:prstGeom prst="chevron">
            <a:avLst/>
          </a:prstGeom>
          <a:solidFill>
            <a:schemeClr val="accent4"/>
          </a:solidFill>
          <a:ln/>
        </p:spPr>
      </p:sp>
      <p:sp>
        <p:nvSpPr>
          <p:cNvPr id="45" name="Text 38"/>
          <p:cNvSpPr txBox="1"/>
          <p:nvPr/>
        </p:nvSpPr>
        <p:spPr>
          <a:xfrm>
            <a:off x="6461608" y="3474720"/>
            <a:ext cx="1239469" cy="512064"/>
          </a:xfrm>
          <a:prstGeom prst="rect">
            <a:avLst/>
          </a:prstGeom>
          <a:noFill/>
          <a:ln/>
        </p:spPr>
        <p:txBody>
          <a:bodyPr wrap="square" lIns="0" tIns="0" rIns="0" bIns="0" rtlCol="0" anchor="ctr"/>
          <a:lstStyle/>
          <a:p>
            <a:pPr indent="0" marL="0">
              <a:buNone/>
            </a:pPr>
            <a:r>
              <a:rPr lang="en-US" sz="1200" b="1" dirty="0">
                <a:solidFill>
                  <a:schemeClr val="bg1"/>
                </a:solidFill>
              </a:rPr>
              <a:t>Investigate</a:t>
            </a:r>
            <a:endParaRPr lang="en-US" sz="1200" dirty="0"/>
          </a:p>
        </p:txBody>
      </p:sp>
      <p:sp>
        <p:nvSpPr>
          <p:cNvPr id="46" name="Text 39"/>
          <p:cNvSpPr txBox="1"/>
          <p:nvPr/>
        </p:nvSpPr>
        <p:spPr>
          <a:xfrm>
            <a:off x="6178144" y="4096512"/>
            <a:ext cx="1650949" cy="1097280"/>
          </a:xfrm>
          <a:prstGeom prst="rect">
            <a:avLst/>
          </a:prstGeom>
          <a:noFill/>
          <a:ln/>
        </p:spPr>
        <p:txBody>
          <a:bodyPr wrap="square" lIns="0" tIns="0" rIns="0" bIns="0" rtlCol="0" anchor="t"/>
          <a:lstStyle/>
          <a:p>
            <a:pPr indent="0" marL="0">
              <a:spcAft>
                <a:spcPts val="200"/>
              </a:spcAft>
              <a:buNone/>
            </a:pPr>
            <a:r>
              <a:rPr lang="en-US" sz="1050" dirty="0">
                <a:solidFill>
                  <a:schemeClr val="tx2"/>
                </a:solidFill>
              </a:rPr>
              <a:t>MD-22 → MD-23 permission (Seventh Schedule); registered ethics committee; CTRI registration</a:t>
            </a:r>
            <a:endParaRPr lang="en-US" sz="1050" dirty="0"/>
          </a:p>
        </p:txBody>
      </p:sp>
      <p:sp>
        <p:nvSpPr>
          <p:cNvPr id="47" name="Step Licence"/>
          <p:cNvSpPr/>
          <p:nvPr/>
        </p:nvSpPr>
        <p:spPr>
          <a:xfrm>
            <a:off x="7993685" y="3474720"/>
            <a:ext cx="1788109" cy="512064"/>
          </a:xfrm>
          <a:prstGeom prst="chevron">
            <a:avLst/>
          </a:prstGeom>
          <a:solidFill>
            <a:schemeClr val="accent4"/>
          </a:solidFill>
          <a:ln/>
        </p:spPr>
      </p:sp>
      <p:sp>
        <p:nvSpPr>
          <p:cNvPr id="48" name="Text 41"/>
          <p:cNvSpPr txBox="1"/>
          <p:nvPr/>
        </p:nvSpPr>
        <p:spPr>
          <a:xfrm>
            <a:off x="8322869" y="3474720"/>
            <a:ext cx="1239469" cy="512064"/>
          </a:xfrm>
          <a:prstGeom prst="rect">
            <a:avLst/>
          </a:prstGeom>
          <a:noFill/>
          <a:ln/>
        </p:spPr>
        <p:txBody>
          <a:bodyPr wrap="square" lIns="0" tIns="0" rIns="0" bIns="0" rtlCol="0" anchor="ctr"/>
          <a:lstStyle/>
          <a:p>
            <a:pPr indent="0" marL="0">
              <a:buNone/>
            </a:pPr>
            <a:r>
              <a:rPr lang="en-US" sz="1200" b="1" dirty="0">
                <a:solidFill>
                  <a:schemeClr val="bg1"/>
                </a:solidFill>
              </a:rPr>
              <a:t>Licence</a:t>
            </a:r>
            <a:endParaRPr lang="en-US" sz="1200" dirty="0"/>
          </a:p>
        </p:txBody>
      </p:sp>
      <p:sp>
        <p:nvSpPr>
          <p:cNvPr id="49" name="Text 42"/>
          <p:cNvSpPr txBox="1"/>
          <p:nvPr/>
        </p:nvSpPr>
        <p:spPr>
          <a:xfrm>
            <a:off x="8039405" y="4096512"/>
            <a:ext cx="1650949" cy="1097280"/>
          </a:xfrm>
          <a:prstGeom prst="rect">
            <a:avLst/>
          </a:prstGeom>
          <a:noFill/>
          <a:ln/>
        </p:spPr>
        <p:txBody>
          <a:bodyPr wrap="square" lIns="0" tIns="0" rIns="0" bIns="0" rtlCol="0" anchor="t"/>
          <a:lstStyle/>
          <a:p>
            <a:pPr indent="0" marL="0">
              <a:spcAft>
                <a:spcPts val="200"/>
              </a:spcAft>
              <a:buNone/>
            </a:pPr>
            <a:r>
              <a:rPr lang="en-US" sz="1050" dirty="0">
                <a:solidFill>
                  <a:schemeClr val="tx2"/>
                </a:solidFill>
              </a:rPr>
              <a:t>MD-3 → MD-5, State (A/B; notified-body audit) · MD-7 → MD-9, Central (C/D; CDSCO inspection)</a:t>
            </a:r>
            <a:endParaRPr lang="en-US" sz="1050" dirty="0"/>
          </a:p>
        </p:txBody>
      </p:sp>
      <p:sp>
        <p:nvSpPr>
          <p:cNvPr id="50" name="Step Sustain"/>
          <p:cNvSpPr/>
          <p:nvPr/>
        </p:nvSpPr>
        <p:spPr>
          <a:xfrm>
            <a:off x="9854946" y="3474720"/>
            <a:ext cx="1788109" cy="512064"/>
          </a:xfrm>
          <a:prstGeom prst="chevron">
            <a:avLst/>
          </a:prstGeom>
          <a:solidFill>
            <a:schemeClr val="accent3"/>
          </a:solidFill>
          <a:ln/>
        </p:spPr>
      </p:sp>
      <p:sp>
        <p:nvSpPr>
          <p:cNvPr id="51" name="Text 44"/>
          <p:cNvSpPr txBox="1"/>
          <p:nvPr/>
        </p:nvSpPr>
        <p:spPr>
          <a:xfrm>
            <a:off x="10184130" y="3474720"/>
            <a:ext cx="1239469" cy="512064"/>
          </a:xfrm>
          <a:prstGeom prst="rect">
            <a:avLst/>
          </a:prstGeom>
          <a:noFill/>
          <a:ln/>
        </p:spPr>
        <p:txBody>
          <a:bodyPr wrap="square" lIns="0" tIns="0" rIns="0" bIns="0" rtlCol="0" anchor="ctr"/>
          <a:lstStyle/>
          <a:p>
            <a:pPr indent="0" marL="0">
              <a:buNone/>
            </a:pPr>
            <a:r>
              <a:rPr lang="en-US" sz="1200" b="1" dirty="0">
                <a:solidFill>
                  <a:schemeClr val="bg1"/>
                </a:solidFill>
              </a:rPr>
              <a:t>Sustain</a:t>
            </a:r>
            <a:endParaRPr lang="en-US" sz="1200" dirty="0"/>
          </a:p>
        </p:txBody>
      </p:sp>
      <p:sp>
        <p:nvSpPr>
          <p:cNvPr id="52" name="Text 45"/>
          <p:cNvSpPr txBox="1"/>
          <p:nvPr/>
        </p:nvSpPr>
        <p:spPr>
          <a:xfrm>
            <a:off x="9900666" y="4096512"/>
            <a:ext cx="1650949" cy="1097280"/>
          </a:xfrm>
          <a:prstGeom prst="rect">
            <a:avLst/>
          </a:prstGeom>
          <a:noFill/>
          <a:ln/>
        </p:spPr>
        <p:txBody>
          <a:bodyPr wrap="square" lIns="0" tIns="0" rIns="0" bIns="0" rtlCol="0" anchor="t"/>
          <a:lstStyle/>
          <a:p>
            <a:pPr indent="0" marL="0">
              <a:spcAft>
                <a:spcPts val="200"/>
              </a:spcAft>
              <a:buNone/>
            </a:pPr>
            <a:r>
              <a:rPr lang="en-US" sz="1050" dirty="0">
                <a:solidFill>
                  <a:schemeClr val="tx2"/>
                </a:solidFill>
              </a:rPr>
              <a:t>Retention fee every 5 years; MvPI adverse-event reports; CDSCO alerts and recalls</a:t>
            </a:r>
            <a:endParaRPr lang="en-US" sz="1050" dirty="0"/>
          </a:p>
        </p:txBody>
      </p:sp>
      <p:sp>
        <p:nvSpPr>
          <p:cNvPr id="53" name="Text 46"/>
          <p:cNvSpPr txBox="1"/>
          <p:nvPr/>
        </p:nvSpPr>
        <p:spPr>
          <a:xfrm>
            <a:off x="548640" y="5349240"/>
            <a:ext cx="1371600" cy="274320"/>
          </a:xfrm>
          <a:prstGeom prst="rect">
            <a:avLst/>
          </a:prstGeom>
          <a:noFill/>
          <a:ln/>
        </p:spPr>
        <p:txBody>
          <a:bodyPr wrap="square" lIns="0" tIns="0" rIns="0" bIns="0" rtlCol="0" anchor="ctr"/>
          <a:lstStyle/>
          <a:p>
            <a:pPr indent="0" marL="0">
              <a:buNone/>
            </a:pPr>
            <a:r>
              <a:rPr lang="en-US" sz="1100" b="1" dirty="0">
                <a:solidFill>
                  <a:schemeClr val="tx1"/>
                </a:solidFill>
              </a:rPr>
              <a:t>MDR-2017 phase-in</a:t>
            </a:r>
            <a:endParaRPr lang="en-US" sz="1100" dirty="0"/>
          </a:p>
        </p:txBody>
      </p:sp>
      <p:sp>
        <p:nvSpPr>
          <p:cNvPr id="54" name="Pill In force 1 Jan 2018"/>
          <p:cNvSpPr/>
          <p:nvPr/>
        </p:nvSpPr>
        <p:spPr>
          <a:xfrm>
            <a:off x="1965960" y="5349240"/>
            <a:ext cx="1810512" cy="274320"/>
          </a:xfrm>
          <a:prstGeom prst="roundRect">
            <a:avLst>
              <a:gd name="adj" fmla="val 50000"/>
            </a:avLst>
          </a:prstGeom>
          <a:solidFill>
            <a:schemeClr val="bg1"/>
          </a:solidFill>
          <a:ln w="15875">
            <a:solidFill>
              <a:schemeClr val="accent5"/>
            </a:solidFill>
            <a:prstDash val="solid"/>
          </a:ln>
        </p:spPr>
      </p:sp>
      <p:sp>
        <p:nvSpPr>
          <p:cNvPr id="55" name="Text 48"/>
          <p:cNvSpPr txBox="1"/>
          <p:nvPr/>
        </p:nvSpPr>
        <p:spPr>
          <a:xfrm>
            <a:off x="1965960" y="5349240"/>
            <a:ext cx="1810512" cy="274320"/>
          </a:xfrm>
          <a:prstGeom prst="rect">
            <a:avLst/>
          </a:prstGeom>
          <a:noFill/>
          <a:ln/>
        </p:spPr>
        <p:txBody>
          <a:bodyPr wrap="square" lIns="0" tIns="0" rIns="0" bIns="0" rtlCol="0" anchor="ctr"/>
          <a:lstStyle/>
          <a:p>
            <a:pPr algn="ctr" indent="0" marL="0">
              <a:buNone/>
            </a:pPr>
            <a:r>
              <a:rPr lang="en-US" sz="950" b="1" dirty="0">
                <a:solidFill>
                  <a:schemeClr val="accent5"/>
                </a:solidFill>
              </a:rPr>
              <a:t>In force 1 Jan 2018</a:t>
            </a:r>
            <a:endParaRPr lang="en-US" sz="950" dirty="0"/>
          </a:p>
        </p:txBody>
      </p:sp>
      <p:sp>
        <p:nvSpPr>
          <p:cNvPr id="56" name="Pill All devices 1 Apr 2020"/>
          <p:cNvSpPr/>
          <p:nvPr/>
        </p:nvSpPr>
        <p:spPr>
          <a:xfrm>
            <a:off x="3867912" y="5349240"/>
            <a:ext cx="1810512" cy="274320"/>
          </a:xfrm>
          <a:prstGeom prst="roundRect">
            <a:avLst>
              <a:gd name="adj" fmla="val 50000"/>
            </a:avLst>
          </a:prstGeom>
          <a:solidFill>
            <a:schemeClr val="accent4"/>
          </a:solidFill>
          <a:ln w="15875">
            <a:solidFill>
              <a:schemeClr val="accent4"/>
            </a:solidFill>
            <a:prstDash val="solid"/>
          </a:ln>
        </p:spPr>
      </p:sp>
      <p:sp>
        <p:nvSpPr>
          <p:cNvPr id="57" name="Text 50"/>
          <p:cNvSpPr txBox="1"/>
          <p:nvPr/>
        </p:nvSpPr>
        <p:spPr>
          <a:xfrm>
            <a:off x="3867912" y="5349240"/>
            <a:ext cx="1810512" cy="274320"/>
          </a:xfrm>
          <a:prstGeom prst="rect">
            <a:avLst/>
          </a:prstGeom>
          <a:noFill/>
          <a:ln/>
        </p:spPr>
        <p:txBody>
          <a:bodyPr wrap="square" lIns="0" tIns="0" rIns="0" bIns="0" rtlCol="0" anchor="ctr"/>
          <a:lstStyle/>
          <a:p>
            <a:pPr algn="ctr" indent="0" marL="0">
              <a:buNone/>
            </a:pPr>
            <a:r>
              <a:rPr lang="en-US" sz="950" b="1" dirty="0">
                <a:solidFill>
                  <a:schemeClr val="bg1"/>
                </a:solidFill>
              </a:rPr>
              <a:t>All devices 1 Apr 2020</a:t>
            </a:r>
            <a:endParaRPr lang="en-US" sz="950" dirty="0"/>
          </a:p>
        </p:txBody>
      </p:sp>
      <p:sp>
        <p:nvSpPr>
          <p:cNvPr id="58" name="Pill Registration 1 Oct 2021"/>
          <p:cNvSpPr/>
          <p:nvPr/>
        </p:nvSpPr>
        <p:spPr>
          <a:xfrm>
            <a:off x="5769864" y="5349240"/>
            <a:ext cx="1810512" cy="274320"/>
          </a:xfrm>
          <a:prstGeom prst="roundRect">
            <a:avLst>
              <a:gd name="adj" fmla="val 50000"/>
            </a:avLst>
          </a:prstGeom>
          <a:solidFill>
            <a:schemeClr val="bg1"/>
          </a:solidFill>
          <a:ln w="15875">
            <a:solidFill>
              <a:schemeClr val="accent4"/>
            </a:solidFill>
            <a:prstDash val="solid"/>
          </a:ln>
        </p:spPr>
      </p:sp>
      <p:sp>
        <p:nvSpPr>
          <p:cNvPr id="59" name="Text 52"/>
          <p:cNvSpPr txBox="1"/>
          <p:nvPr/>
        </p:nvSpPr>
        <p:spPr>
          <a:xfrm>
            <a:off x="5769864" y="5349240"/>
            <a:ext cx="1810512" cy="274320"/>
          </a:xfrm>
          <a:prstGeom prst="rect">
            <a:avLst/>
          </a:prstGeom>
          <a:noFill/>
          <a:ln/>
        </p:spPr>
        <p:txBody>
          <a:bodyPr wrap="square" lIns="0" tIns="0" rIns="0" bIns="0" rtlCol="0" anchor="ctr"/>
          <a:lstStyle/>
          <a:p>
            <a:pPr algn="ctr" indent="0" marL="0">
              <a:buNone/>
            </a:pPr>
            <a:r>
              <a:rPr lang="en-US" sz="950" b="1" dirty="0">
                <a:solidFill>
                  <a:schemeClr val="accent4"/>
                </a:solidFill>
              </a:rPr>
              <a:t>Registration 1 Oct 2021</a:t>
            </a:r>
            <a:endParaRPr lang="en-US" sz="950" dirty="0"/>
          </a:p>
        </p:txBody>
      </p:sp>
      <p:sp>
        <p:nvSpPr>
          <p:cNvPr id="60" name="Pill A/B licences 1 Oct 2022"/>
          <p:cNvSpPr/>
          <p:nvPr/>
        </p:nvSpPr>
        <p:spPr>
          <a:xfrm>
            <a:off x="7671816" y="5349240"/>
            <a:ext cx="1810512" cy="274320"/>
          </a:xfrm>
          <a:prstGeom prst="roundRect">
            <a:avLst>
              <a:gd name="adj" fmla="val 50000"/>
            </a:avLst>
          </a:prstGeom>
          <a:solidFill>
            <a:schemeClr val="accent1"/>
          </a:solidFill>
          <a:ln w="15875">
            <a:solidFill>
              <a:schemeClr val="accent1"/>
            </a:solidFill>
            <a:prstDash val="solid"/>
          </a:ln>
        </p:spPr>
      </p:sp>
      <p:sp>
        <p:nvSpPr>
          <p:cNvPr id="61" name="Text 54"/>
          <p:cNvSpPr txBox="1"/>
          <p:nvPr/>
        </p:nvSpPr>
        <p:spPr>
          <a:xfrm>
            <a:off x="7671816" y="5349240"/>
            <a:ext cx="1810512" cy="274320"/>
          </a:xfrm>
          <a:prstGeom prst="rect">
            <a:avLst/>
          </a:prstGeom>
          <a:noFill/>
          <a:ln/>
        </p:spPr>
        <p:txBody>
          <a:bodyPr wrap="square" lIns="0" tIns="0" rIns="0" bIns="0" rtlCol="0" anchor="ctr"/>
          <a:lstStyle/>
          <a:p>
            <a:pPr algn="ctr" indent="0" marL="0">
              <a:buNone/>
            </a:pPr>
            <a:r>
              <a:rPr lang="en-US" sz="950" b="1" dirty="0">
                <a:solidFill>
                  <a:schemeClr val="bg1"/>
                </a:solidFill>
              </a:rPr>
              <a:t>A/B licences 1 Oct 2022</a:t>
            </a:r>
            <a:endParaRPr lang="en-US" sz="950" dirty="0"/>
          </a:p>
        </p:txBody>
      </p:sp>
      <p:sp>
        <p:nvSpPr>
          <p:cNvPr id="62" name="Pill C/D licences 1 Oct 2023"/>
          <p:cNvSpPr/>
          <p:nvPr/>
        </p:nvSpPr>
        <p:spPr>
          <a:xfrm>
            <a:off x="9573768" y="5349240"/>
            <a:ext cx="1810512" cy="274320"/>
          </a:xfrm>
          <a:prstGeom prst="roundRect">
            <a:avLst>
              <a:gd name="adj" fmla="val 50000"/>
            </a:avLst>
          </a:prstGeom>
          <a:solidFill>
            <a:schemeClr val="accent3"/>
          </a:solidFill>
          <a:ln w="15875">
            <a:solidFill>
              <a:schemeClr val="accent3"/>
            </a:solidFill>
            <a:prstDash val="solid"/>
          </a:ln>
        </p:spPr>
      </p:sp>
      <p:sp>
        <p:nvSpPr>
          <p:cNvPr id="63" name="Text 56"/>
          <p:cNvSpPr txBox="1"/>
          <p:nvPr/>
        </p:nvSpPr>
        <p:spPr>
          <a:xfrm>
            <a:off x="9573768" y="5349240"/>
            <a:ext cx="1810512" cy="274320"/>
          </a:xfrm>
          <a:prstGeom prst="rect">
            <a:avLst/>
          </a:prstGeom>
          <a:noFill/>
          <a:ln/>
        </p:spPr>
        <p:txBody>
          <a:bodyPr wrap="square" lIns="0" tIns="0" rIns="0" bIns="0" rtlCol="0" anchor="ctr"/>
          <a:lstStyle/>
          <a:p>
            <a:pPr algn="ctr" indent="0" marL="0">
              <a:buNone/>
            </a:pPr>
            <a:r>
              <a:rPr lang="en-US" sz="950" b="1" dirty="0">
                <a:solidFill>
                  <a:schemeClr val="bg1"/>
                </a:solidFill>
              </a:rPr>
              <a:t>C/D licences 1 Oct 2023</a:t>
            </a:r>
            <a:endParaRPr lang="en-US" sz="950" dirty="0"/>
          </a:p>
        </p:txBody>
      </p:sp>
      <p:sp>
        <p:nvSpPr>
          <p:cNvPr id="64" name="Callout"/>
          <p:cNvSpPr/>
          <p:nvPr/>
        </p:nvSpPr>
        <p:spPr>
          <a:xfrm>
            <a:off x="548640" y="5733288"/>
            <a:ext cx="11094415" cy="438912"/>
          </a:xfrm>
          <a:prstGeom prst="roundRect">
            <a:avLst>
              <a:gd name="adj" fmla="val 16667"/>
            </a:avLst>
          </a:prstGeom>
          <a:solidFill>
            <a:schemeClr val="accent2">
              <a:alpha val="12000"/>
            </a:schemeClr>
          </a:solidFill>
          <a:ln/>
        </p:spPr>
      </p:sp>
      <p:sp>
        <p:nvSpPr>
          <p:cNvPr id="65" name="Callout bar"/>
          <p:cNvSpPr/>
          <p:nvPr/>
        </p:nvSpPr>
        <p:spPr>
          <a:xfrm>
            <a:off x="548640" y="5824728"/>
            <a:ext cx="64008" cy="256032"/>
          </a:xfrm>
          <a:prstGeom prst="rect">
            <a:avLst/>
          </a:prstGeom>
          <a:solidFill>
            <a:schemeClr val="accent2"/>
          </a:solidFill>
          <a:ln/>
        </p:spPr>
      </p:sp>
      <p:sp>
        <p:nvSpPr>
          <p:cNvPr id="66" name="Text 59"/>
          <p:cNvSpPr txBox="1"/>
          <p:nvPr/>
        </p:nvSpPr>
        <p:spPr>
          <a:xfrm>
            <a:off x="822960" y="5733288"/>
            <a:ext cx="10682935" cy="438912"/>
          </a:xfrm>
          <a:prstGeom prst="rect">
            <a:avLst/>
          </a:prstGeom>
          <a:noFill/>
          <a:ln/>
        </p:spPr>
        <p:txBody>
          <a:bodyPr wrap="square" lIns="0" tIns="0" rIns="0" bIns="0" rtlCol="0" anchor="ctr"/>
          <a:lstStyle/>
          <a:p>
            <a:pPr indent="0" marL="0">
              <a:buNone/>
            </a:pPr>
            <a:r>
              <a:rPr lang="en-US" sz="1250" b="1" dirty="0">
                <a:solidFill>
                  <a:schemeClr val="tx1"/>
                </a:solidFill>
              </a:rPr>
              <a:t>Regulation is a sequence of permissions, each answering a different patient question: the same six stages structure this session.</a:t>
            </a:r>
            <a:endParaRPr lang="en-US" sz="12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DISCLOSURE</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My interests, stated first</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Ahilaya Biomedicals project material (supplied); BIRAC BIG scheme; Institute of Medicine 2009; University of Cambridge COI policy</a:t>
            </a:r>
            <a:endParaRPr lang="en-US" sz="950" dirty="0"/>
          </a:p>
        </p:txBody>
      </p:sp>
      <p:sp>
        <p:nvSpPr>
          <p:cNvPr id="6" name="Text 3"/>
          <p:cNvSpPr txBox="1"/>
          <p:nvPr/>
        </p:nvSpPr>
        <p:spPr>
          <a:xfrm>
            <a:off x="548640" y="1536192"/>
            <a:ext cx="6675120" cy="237744"/>
          </a:xfrm>
          <a:prstGeom prst="rect">
            <a:avLst/>
          </a:prstGeom>
          <a:noFill/>
          <a:ln/>
        </p:spPr>
        <p:txBody>
          <a:bodyPr wrap="square" lIns="0" tIns="0" rIns="0" bIns="0" rtlCol="0" anchor="t"/>
          <a:lstStyle/>
          <a:p>
            <a:pPr indent="0" marL="0">
              <a:buNone/>
            </a:pPr>
            <a:r>
              <a:rPr lang="en-US" sz="1200" b="1" dirty="0">
                <a:solidFill>
                  <a:schemeClr val="tx2"/>
                </a:solidFill>
              </a:rPr>
              <a:t>Interests in the two case devices</a:t>
            </a:r>
            <a:endParaRPr lang="en-US" sz="1200" dirty="0"/>
          </a:p>
        </p:txBody>
      </p:sp>
      <p:sp>
        <p:nvSpPr>
          <p:cNvPr id="7" name="Interest card FoGO"/>
          <p:cNvSpPr/>
          <p:nvPr/>
        </p:nvSpPr>
        <p:spPr>
          <a:xfrm>
            <a:off x="548640" y="1828800"/>
            <a:ext cx="6675120" cy="2377440"/>
          </a:xfrm>
          <a:prstGeom prst="roundRect">
            <a:avLst>
              <a:gd name="adj" fmla="val 5385"/>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8" name="Card accent FoGO"/>
          <p:cNvSpPr/>
          <p:nvPr/>
        </p:nvSpPr>
        <p:spPr>
          <a:xfrm>
            <a:off x="548640" y="2103120"/>
            <a:ext cx="64008" cy="1828800"/>
          </a:xfrm>
          <a:prstGeom prst="rect">
            <a:avLst/>
          </a:prstGeom>
          <a:solidFill>
            <a:schemeClr val="accent1"/>
          </a:solidFill>
          <a:ln/>
        </p:spPr>
      </p:sp>
      <p:sp>
        <p:nvSpPr>
          <p:cNvPr id="9" name="Icon disc LuFootprints"/>
          <p:cNvSpPr/>
          <p:nvPr/>
        </p:nvSpPr>
        <p:spPr>
          <a:xfrm>
            <a:off x="822960" y="2011680"/>
            <a:ext cx="475488" cy="475488"/>
          </a:xfrm>
          <a:prstGeom prst="ellipse">
            <a:avLst/>
          </a:prstGeom>
          <a:solidFill>
            <a:schemeClr val="accent1">
              <a:alpha val="15000"/>
            </a:schemeClr>
          </a:solidFill>
          <a:ln/>
        </p:spPr>
      </p:sp>
      <p:pic>
        <p:nvPicPr>
          <p:cNvPr id="10" name="Image 0" descr="Footprints icon">    </p:cNvPr>
          <p:cNvPicPr>
            <a:picLocks noChangeAspect="1"/>
          </p:cNvPicPr>
          <p:nvPr/>
        </p:nvPicPr>
        <p:blipFill>
          <a:blip r:embed="rId1"/>
          <a:stretch>
            <a:fillRect/>
          </a:stretch>
        </p:blipFill>
        <p:spPr>
          <a:xfrm>
            <a:off x="927567" y="2116287"/>
            <a:ext cx="266273" cy="266273"/>
          </a:xfrm>
          <a:prstGeom prst="rect">
            <a:avLst/>
          </a:prstGeom>
        </p:spPr>
      </p:pic>
      <p:sp>
        <p:nvSpPr>
          <p:cNvPr id="11" name="Text 7"/>
          <p:cNvSpPr txBox="1"/>
          <p:nvPr/>
        </p:nvSpPr>
        <p:spPr>
          <a:xfrm>
            <a:off x="1417320" y="1993392"/>
            <a:ext cx="3931920" cy="548640"/>
          </a:xfrm>
          <a:prstGeom prst="rect">
            <a:avLst/>
          </a:prstGeom>
          <a:noFill/>
          <a:ln/>
        </p:spPr>
        <p:txBody>
          <a:bodyPr wrap="square" lIns="0" tIns="0" rIns="0" bIns="0" rtlCol="0" anchor="t"/>
          <a:lstStyle/>
          <a:p>
            <a:pPr indent="0" marL="0">
              <a:buNone/>
            </a:pPr>
            <a:r>
              <a:rPr lang="en-US" sz="1500" b="1" dirty="0">
                <a:solidFill>
                  <a:schemeClr val="tx1"/>
                </a:solidFill>
              </a:rPr>
              <a:t>FoGO · Ahilaya Biomedicals Pvt Ltd</a:t>
            </a:r>
            <a:endParaRPr lang="en-US" sz="1500" dirty="0"/>
          </a:p>
          <a:p>
            <a:pPr indent="0" marL="0">
              <a:buNone/>
            </a:pPr>
            <a:r>
              <a:rPr lang="en-US" sz="1050" dirty="0">
                <a:solidFill>
                  <a:schemeClr val="accent5"/>
                </a:solidFill>
              </a:rPr>
              <a:t>Freezing-of-gait wearable · incubated at KIIT TBI</a:t>
            </a:r>
            <a:endParaRPr lang="en-US" sz="1500" dirty="0"/>
          </a:p>
        </p:txBody>
      </p:sp>
      <p:sp>
        <p:nvSpPr>
          <p:cNvPr id="12" name="Pill Alpha prototype · MD-13"/>
          <p:cNvSpPr/>
          <p:nvPr/>
        </p:nvSpPr>
        <p:spPr>
          <a:xfrm>
            <a:off x="5349240" y="2057400"/>
            <a:ext cx="1691640" cy="274320"/>
          </a:xfrm>
          <a:prstGeom prst="roundRect">
            <a:avLst>
              <a:gd name="adj" fmla="val 50000"/>
            </a:avLst>
          </a:prstGeom>
          <a:solidFill>
            <a:schemeClr val="bg1"/>
          </a:solidFill>
          <a:ln w="15875">
            <a:solidFill>
              <a:schemeClr val="accent1"/>
            </a:solidFill>
            <a:prstDash val="solid"/>
          </a:ln>
        </p:spPr>
      </p:sp>
      <p:sp>
        <p:nvSpPr>
          <p:cNvPr id="13" name="Text 9"/>
          <p:cNvSpPr txBox="1"/>
          <p:nvPr/>
        </p:nvSpPr>
        <p:spPr>
          <a:xfrm>
            <a:off x="5349240" y="2057400"/>
            <a:ext cx="1691640" cy="274320"/>
          </a:xfrm>
          <a:prstGeom prst="rect">
            <a:avLst/>
          </a:prstGeom>
          <a:noFill/>
          <a:ln/>
        </p:spPr>
        <p:txBody>
          <a:bodyPr wrap="square" lIns="0" tIns="0" rIns="0" bIns="0" rtlCol="0" anchor="ctr"/>
          <a:lstStyle/>
          <a:p>
            <a:pPr algn="ctr" indent="0" marL="0">
              <a:buNone/>
            </a:pPr>
            <a:r>
              <a:rPr lang="en-US" sz="950" b="1" dirty="0">
                <a:solidFill>
                  <a:schemeClr val="accent1"/>
                </a:solidFill>
              </a:rPr>
              <a:t>Alpha prototype · MD-13</a:t>
            </a:r>
            <a:endParaRPr lang="en-US" sz="950" dirty="0"/>
          </a:p>
        </p:txBody>
      </p:sp>
      <p:sp>
        <p:nvSpPr>
          <p:cNvPr id="14" name="Icon disc LuUser"/>
          <p:cNvSpPr/>
          <p:nvPr/>
        </p:nvSpPr>
        <p:spPr>
          <a:xfrm>
            <a:off x="822960" y="2670048"/>
            <a:ext cx="292608" cy="292608"/>
          </a:xfrm>
          <a:prstGeom prst="ellipse">
            <a:avLst/>
          </a:prstGeom>
          <a:solidFill>
            <a:schemeClr val="accent1">
              <a:alpha val="15000"/>
            </a:schemeClr>
          </a:solidFill>
          <a:ln/>
        </p:spPr>
      </p:sp>
      <p:pic>
        <p:nvPicPr>
          <p:cNvPr id="15" name="Image 1" descr="User icon">    </p:cNvPr>
          <p:cNvPicPr>
            <a:picLocks noChangeAspect="1"/>
          </p:cNvPicPr>
          <p:nvPr/>
        </p:nvPicPr>
        <p:blipFill>
          <a:blip r:embed="rId2"/>
          <a:stretch>
            <a:fillRect/>
          </a:stretch>
        </p:blipFill>
        <p:spPr>
          <a:xfrm>
            <a:off x="887334" y="2734422"/>
            <a:ext cx="163860" cy="163860"/>
          </a:xfrm>
          <a:prstGeom prst="rect">
            <a:avLst/>
          </a:prstGeom>
        </p:spPr>
      </p:pic>
      <p:sp>
        <p:nvSpPr>
          <p:cNvPr id="16" name="Text 11"/>
          <p:cNvSpPr txBox="1"/>
          <p:nvPr/>
        </p:nvSpPr>
        <p:spPr>
          <a:xfrm>
            <a:off x="1234440" y="2670048"/>
            <a:ext cx="5760720" cy="292608"/>
          </a:xfrm>
          <a:prstGeom prst="rect">
            <a:avLst/>
          </a:prstGeom>
          <a:noFill/>
          <a:ln/>
        </p:spPr>
        <p:txBody>
          <a:bodyPr wrap="square" lIns="0" tIns="0" rIns="0" bIns="0" rtlCol="0" anchor="ctr"/>
          <a:lstStyle/>
          <a:p>
            <a:pPr indent="0" marL="0">
              <a:buNone/>
            </a:pPr>
            <a:r>
              <a:rPr lang="en-US" sz="1150" dirty="0">
                <a:solidFill>
                  <a:schemeClr val="tx1"/>
                </a:solidFill>
              </a:rPr>
              <a:t>Founder and principal investigator</a:t>
            </a:r>
            <a:endParaRPr lang="en-US" sz="1150" dirty="0"/>
          </a:p>
        </p:txBody>
      </p:sp>
      <p:sp>
        <p:nvSpPr>
          <p:cNvPr id="17" name="Icon disc LuFileBadge"/>
          <p:cNvSpPr/>
          <p:nvPr/>
        </p:nvSpPr>
        <p:spPr>
          <a:xfrm>
            <a:off x="822960" y="3035808"/>
            <a:ext cx="292608" cy="292608"/>
          </a:xfrm>
          <a:prstGeom prst="ellipse">
            <a:avLst/>
          </a:prstGeom>
          <a:solidFill>
            <a:schemeClr val="accent1">
              <a:alpha val="15000"/>
            </a:schemeClr>
          </a:solidFill>
          <a:ln/>
        </p:spPr>
      </p:sp>
      <p:pic>
        <p:nvPicPr>
          <p:cNvPr id="18" name="Image 2" descr="FileBadge icon">    </p:cNvPr>
          <p:cNvPicPr>
            <a:picLocks noChangeAspect="1"/>
          </p:cNvPicPr>
          <p:nvPr/>
        </p:nvPicPr>
        <p:blipFill>
          <a:blip r:embed="rId3"/>
          <a:stretch>
            <a:fillRect/>
          </a:stretch>
        </p:blipFill>
        <p:spPr>
          <a:xfrm>
            <a:off x="887334" y="3100182"/>
            <a:ext cx="163860" cy="163860"/>
          </a:xfrm>
          <a:prstGeom prst="rect">
            <a:avLst/>
          </a:prstGeom>
        </p:spPr>
      </p:pic>
      <p:sp>
        <p:nvSpPr>
          <p:cNvPr id="19" name="Text 13"/>
          <p:cNvSpPr txBox="1"/>
          <p:nvPr/>
        </p:nvSpPr>
        <p:spPr>
          <a:xfrm>
            <a:off x="1234440" y="3035808"/>
            <a:ext cx="5760720" cy="292608"/>
          </a:xfrm>
          <a:prstGeom prst="rect">
            <a:avLst/>
          </a:prstGeom>
          <a:noFill/>
          <a:ln/>
        </p:spPr>
        <p:txBody>
          <a:bodyPr wrap="square" lIns="0" tIns="0" rIns="0" bIns="0" rtlCol="0" anchor="ctr"/>
          <a:lstStyle/>
          <a:p>
            <a:pPr indent="0" marL="0">
              <a:buNone/>
            </a:pPr>
            <a:r>
              <a:rPr lang="en-US" sz="1150" dirty="0">
                <a:solidFill>
                  <a:schemeClr val="tx1"/>
                </a:solidFill>
              </a:rPr>
              <a:t>Provisional patent 202531119165 and a design application filed</a:t>
            </a:r>
            <a:endParaRPr lang="en-US" sz="1150" dirty="0"/>
          </a:p>
        </p:txBody>
      </p:sp>
      <p:sp>
        <p:nvSpPr>
          <p:cNvPr id="20" name="Icon disc LuBanknote"/>
          <p:cNvSpPr/>
          <p:nvPr/>
        </p:nvSpPr>
        <p:spPr>
          <a:xfrm>
            <a:off x="822960" y="3401568"/>
            <a:ext cx="292608" cy="292608"/>
          </a:xfrm>
          <a:prstGeom prst="ellipse">
            <a:avLst/>
          </a:prstGeom>
          <a:solidFill>
            <a:schemeClr val="accent1">
              <a:alpha val="15000"/>
            </a:schemeClr>
          </a:solidFill>
          <a:ln/>
        </p:spPr>
      </p:sp>
      <p:pic>
        <p:nvPicPr>
          <p:cNvPr id="21" name="Image 3" descr="Banknote icon">    </p:cNvPr>
          <p:cNvPicPr>
            <a:picLocks noChangeAspect="1"/>
          </p:cNvPicPr>
          <p:nvPr/>
        </p:nvPicPr>
        <p:blipFill>
          <a:blip r:embed="rId4"/>
          <a:stretch>
            <a:fillRect/>
          </a:stretch>
        </p:blipFill>
        <p:spPr>
          <a:xfrm>
            <a:off x="887334" y="3465942"/>
            <a:ext cx="163860" cy="163860"/>
          </a:xfrm>
          <a:prstGeom prst="rect">
            <a:avLst/>
          </a:prstGeom>
        </p:spPr>
      </p:pic>
      <p:sp>
        <p:nvSpPr>
          <p:cNvPr id="22" name="Text 15"/>
          <p:cNvSpPr txBox="1"/>
          <p:nvPr/>
        </p:nvSpPr>
        <p:spPr>
          <a:xfrm>
            <a:off x="1234440" y="3401568"/>
            <a:ext cx="5760720" cy="292608"/>
          </a:xfrm>
          <a:prstGeom prst="rect">
            <a:avLst/>
          </a:prstGeom>
          <a:noFill/>
          <a:ln/>
        </p:spPr>
        <p:txBody>
          <a:bodyPr wrap="square" lIns="0" tIns="0" rIns="0" bIns="0" rtlCol="0" anchor="ctr"/>
          <a:lstStyle/>
          <a:p>
            <a:pPr indent="0" marL="0">
              <a:buNone/>
            </a:pPr>
            <a:r>
              <a:rPr lang="en-US" sz="1150" dirty="0">
                <a:solidFill>
                  <a:schemeClr val="tx1"/>
                </a:solidFill>
              </a:rPr>
              <a:t>₹25.5 lakh in grants: Startup Odisha · DST NIDHI PRAYAS · Startup India Seed Fund</a:t>
            </a:r>
            <a:endParaRPr lang="en-US" sz="1150" dirty="0"/>
          </a:p>
        </p:txBody>
      </p:sp>
      <p:sp>
        <p:nvSpPr>
          <p:cNvPr id="23" name="Icon disc LuHourglass"/>
          <p:cNvSpPr/>
          <p:nvPr/>
        </p:nvSpPr>
        <p:spPr>
          <a:xfrm>
            <a:off x="822960" y="3767328"/>
            <a:ext cx="292608" cy="292608"/>
          </a:xfrm>
          <a:prstGeom prst="ellipse">
            <a:avLst/>
          </a:prstGeom>
          <a:solidFill>
            <a:schemeClr val="accent1">
              <a:alpha val="15000"/>
            </a:schemeClr>
          </a:solidFill>
          <a:ln/>
        </p:spPr>
      </p:sp>
      <p:pic>
        <p:nvPicPr>
          <p:cNvPr id="24" name="Image 4" descr="Hourglass icon">    </p:cNvPr>
          <p:cNvPicPr>
            <a:picLocks noChangeAspect="1"/>
          </p:cNvPicPr>
          <p:nvPr/>
        </p:nvPicPr>
        <p:blipFill>
          <a:blip r:embed="rId5"/>
          <a:stretch>
            <a:fillRect/>
          </a:stretch>
        </p:blipFill>
        <p:spPr>
          <a:xfrm>
            <a:off x="887334" y="3831702"/>
            <a:ext cx="163860" cy="163860"/>
          </a:xfrm>
          <a:prstGeom prst="rect">
            <a:avLst/>
          </a:prstGeom>
        </p:spPr>
      </p:pic>
      <p:sp>
        <p:nvSpPr>
          <p:cNvPr id="25" name="Text 17"/>
          <p:cNvSpPr txBox="1"/>
          <p:nvPr/>
        </p:nvSpPr>
        <p:spPr>
          <a:xfrm>
            <a:off x="1234440" y="3767328"/>
            <a:ext cx="5760720" cy="292608"/>
          </a:xfrm>
          <a:prstGeom prst="rect">
            <a:avLst/>
          </a:prstGeom>
          <a:noFill/>
          <a:ln/>
        </p:spPr>
        <p:txBody>
          <a:bodyPr wrap="square" lIns="0" tIns="0" rIns="0" bIns="0" rtlCol="0" anchor="ctr"/>
          <a:lstStyle/>
          <a:p>
            <a:pPr indent="0" marL="0">
              <a:buNone/>
            </a:pPr>
            <a:r>
              <a:rPr lang="en-US" sz="1150" dirty="0">
                <a:solidFill>
                  <a:schemeClr val="tx1"/>
                </a:solidFill>
              </a:rPr>
              <a:t>BIRAC Biotechnology Ignition Grant proposal under review (BIG: up to ₹50 lakh over 18 months)</a:t>
            </a:r>
            <a:endParaRPr lang="en-US" sz="1150" dirty="0"/>
          </a:p>
        </p:txBody>
      </p:sp>
      <p:sp>
        <p:nvSpPr>
          <p:cNvPr id="26" name="Interest card SwaKnee"/>
          <p:cNvSpPr/>
          <p:nvPr/>
        </p:nvSpPr>
        <p:spPr>
          <a:xfrm>
            <a:off x="548640" y="4389120"/>
            <a:ext cx="6675120" cy="1097280"/>
          </a:xfrm>
          <a:prstGeom prst="roundRect">
            <a:avLst>
              <a:gd name="adj" fmla="val 11667"/>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27" name="Card accent SwaKnee"/>
          <p:cNvSpPr/>
          <p:nvPr/>
        </p:nvSpPr>
        <p:spPr>
          <a:xfrm>
            <a:off x="548640" y="4617720"/>
            <a:ext cx="64008" cy="640080"/>
          </a:xfrm>
          <a:prstGeom prst="rect">
            <a:avLst/>
          </a:prstGeom>
          <a:solidFill>
            <a:schemeClr val="accent2"/>
          </a:solidFill>
          <a:ln/>
        </p:spPr>
      </p:sp>
      <p:sp>
        <p:nvSpPr>
          <p:cNvPr id="28" name="Icon disc LuActivity"/>
          <p:cNvSpPr/>
          <p:nvPr/>
        </p:nvSpPr>
        <p:spPr>
          <a:xfrm>
            <a:off x="822960" y="4553712"/>
            <a:ext cx="475488" cy="475488"/>
          </a:xfrm>
          <a:prstGeom prst="ellipse">
            <a:avLst/>
          </a:prstGeom>
          <a:solidFill>
            <a:schemeClr val="accent2">
              <a:alpha val="15000"/>
            </a:schemeClr>
          </a:solidFill>
          <a:ln/>
        </p:spPr>
      </p:sp>
      <p:pic>
        <p:nvPicPr>
          <p:cNvPr id="29" name="Image 5" descr="Activity icon">    </p:cNvPr>
          <p:cNvPicPr>
            <a:picLocks noChangeAspect="1"/>
          </p:cNvPicPr>
          <p:nvPr/>
        </p:nvPicPr>
        <p:blipFill>
          <a:blip r:embed="rId6"/>
          <a:stretch>
            <a:fillRect/>
          </a:stretch>
        </p:blipFill>
        <p:spPr>
          <a:xfrm>
            <a:off x="927567" y="4658319"/>
            <a:ext cx="266273" cy="266273"/>
          </a:xfrm>
          <a:prstGeom prst="rect">
            <a:avLst/>
          </a:prstGeom>
        </p:spPr>
      </p:pic>
      <p:sp>
        <p:nvSpPr>
          <p:cNvPr id="30" name="Text 21"/>
          <p:cNvSpPr txBox="1"/>
          <p:nvPr/>
        </p:nvSpPr>
        <p:spPr>
          <a:xfrm>
            <a:off x="1417320" y="4535424"/>
            <a:ext cx="3931920" cy="548640"/>
          </a:xfrm>
          <a:prstGeom prst="rect">
            <a:avLst/>
          </a:prstGeom>
          <a:noFill/>
          <a:ln/>
        </p:spPr>
        <p:txBody>
          <a:bodyPr wrap="square" lIns="0" tIns="0" rIns="0" bIns="0" rtlCol="0" anchor="t"/>
          <a:lstStyle/>
          <a:p>
            <a:pPr indent="0" marL="0">
              <a:buNone/>
            </a:pPr>
            <a:r>
              <a:rPr lang="en-US" sz="1500" b="1" dirty="0">
                <a:solidFill>
                  <a:schemeClr val="tx1"/>
                </a:solidFill>
              </a:rPr>
              <a:t>SwaKnee · Swayogya Rehab Solutions</a:t>
            </a:r>
            <a:endParaRPr lang="en-US" sz="1500" dirty="0"/>
          </a:p>
          <a:p>
            <a:pPr indent="0" marL="0">
              <a:buNone/>
            </a:pPr>
            <a:r>
              <a:rPr lang="en-US" sz="1050" dirty="0">
                <a:solidFill>
                  <a:schemeClr val="accent5"/>
                </a:solidFill>
              </a:rPr>
              <a:t>Pulsed electromagnetic field (PEMF) knee system</a:t>
            </a:r>
            <a:endParaRPr lang="en-US" sz="1500" dirty="0"/>
          </a:p>
        </p:txBody>
      </p:sp>
      <p:sp>
        <p:nvSpPr>
          <p:cNvPr id="31" name="Icon disc LuPenTool"/>
          <p:cNvSpPr/>
          <p:nvPr/>
        </p:nvSpPr>
        <p:spPr>
          <a:xfrm>
            <a:off x="822960" y="5102352"/>
            <a:ext cx="292608" cy="292608"/>
          </a:xfrm>
          <a:prstGeom prst="ellipse">
            <a:avLst/>
          </a:prstGeom>
          <a:solidFill>
            <a:schemeClr val="accent2"/>
          </a:solidFill>
          <a:ln/>
        </p:spPr>
      </p:sp>
      <p:pic>
        <p:nvPicPr>
          <p:cNvPr id="32" name="Image 6" descr="PenTool icon">    </p:cNvPr>
          <p:cNvPicPr>
            <a:picLocks noChangeAspect="1"/>
          </p:cNvPicPr>
          <p:nvPr/>
        </p:nvPicPr>
        <p:blipFill>
          <a:blip r:embed="rId7"/>
          <a:stretch>
            <a:fillRect/>
          </a:stretch>
        </p:blipFill>
        <p:spPr>
          <a:xfrm>
            <a:off x="887334" y="5166726"/>
            <a:ext cx="163860" cy="163860"/>
          </a:xfrm>
          <a:prstGeom prst="rect">
            <a:avLst/>
          </a:prstGeom>
        </p:spPr>
      </p:pic>
      <p:sp>
        <p:nvSpPr>
          <p:cNvPr id="33" name="Text 23"/>
          <p:cNvSpPr txBox="1"/>
          <p:nvPr/>
        </p:nvSpPr>
        <p:spPr>
          <a:xfrm>
            <a:off x="1234440" y="5102352"/>
            <a:ext cx="5760720" cy="292608"/>
          </a:xfrm>
          <a:prstGeom prst="rect">
            <a:avLst/>
          </a:prstGeom>
          <a:noFill/>
          <a:ln/>
        </p:spPr>
        <p:txBody>
          <a:bodyPr wrap="square" lIns="0" tIns="0" rIns="0" bIns="0" rtlCol="0" anchor="ctr"/>
          <a:lstStyle/>
          <a:p>
            <a:pPr indent="0" marL="0">
              <a:buNone/>
            </a:pPr>
            <a:r>
              <a:rPr lang="en-US" sz="1200" b="1" dirty="0">
                <a:solidFill>
                  <a:schemeClr val="accent2"/>
                </a:solidFill>
              </a:rPr>
              <a:t>[state role and any equity, royalty or salary interest]</a:t>
            </a:r>
            <a:endParaRPr lang="en-US" sz="1200" dirty="0"/>
          </a:p>
        </p:txBody>
      </p:sp>
      <p:sp>
        <p:nvSpPr>
          <p:cNvPr id="34" name="Text 24"/>
          <p:cNvSpPr txBox="1"/>
          <p:nvPr/>
        </p:nvSpPr>
        <p:spPr>
          <a:xfrm>
            <a:off x="7498080" y="1536192"/>
            <a:ext cx="4144975" cy="237744"/>
          </a:xfrm>
          <a:prstGeom prst="rect">
            <a:avLst/>
          </a:prstGeom>
          <a:noFill/>
          <a:ln/>
        </p:spPr>
        <p:txBody>
          <a:bodyPr wrap="square" lIns="0" tIns="0" rIns="0" bIns="0" rtlCol="0" anchor="t"/>
          <a:lstStyle/>
          <a:p>
            <a:pPr indent="0" marL="0">
              <a:buNone/>
            </a:pPr>
            <a:r>
              <a:rPr lang="en-US" sz="1200" b="1" dirty="0">
                <a:solidFill>
                  <a:schemeClr val="tx2"/>
                </a:solidFill>
              </a:rPr>
              <a:t>Three ground rules for today</a:t>
            </a:r>
            <a:endParaRPr lang="en-US" sz="1200" dirty="0"/>
          </a:p>
        </p:txBody>
      </p:sp>
      <p:sp>
        <p:nvSpPr>
          <p:cNvPr id="35" name="Ground rules panel"/>
          <p:cNvSpPr/>
          <p:nvPr/>
        </p:nvSpPr>
        <p:spPr>
          <a:xfrm>
            <a:off x="7498080" y="1828800"/>
            <a:ext cx="4144975" cy="3657600"/>
          </a:xfrm>
          <a:prstGeom prst="roundRect">
            <a:avLst>
              <a:gd name="adj" fmla="val 3500"/>
            </a:avLst>
          </a:prstGeom>
          <a:solidFill>
            <a:schemeClr val="bg2"/>
          </a:solidFill>
          <a:ln/>
        </p:spPr>
      </p:sp>
      <p:sp>
        <p:nvSpPr>
          <p:cNvPr id="36" name="Badge 1"/>
          <p:cNvSpPr/>
          <p:nvPr/>
        </p:nvSpPr>
        <p:spPr>
          <a:xfrm>
            <a:off x="7726680" y="2029968"/>
            <a:ext cx="457200" cy="457200"/>
          </a:xfrm>
          <a:prstGeom prst="ellipse">
            <a:avLst/>
          </a:prstGeom>
          <a:solidFill>
            <a:schemeClr val="accent2"/>
          </a:solidFill>
          <a:ln/>
        </p:spPr>
      </p:sp>
      <p:sp>
        <p:nvSpPr>
          <p:cNvPr id="37" name="Text 27"/>
          <p:cNvSpPr txBox="1"/>
          <p:nvPr/>
        </p:nvSpPr>
        <p:spPr>
          <a:xfrm>
            <a:off x="7726680" y="2029968"/>
            <a:ext cx="457200" cy="457200"/>
          </a:xfrm>
          <a:prstGeom prst="rect">
            <a:avLst/>
          </a:prstGeom>
          <a:noFill/>
          <a:ln/>
        </p:spPr>
        <p:txBody>
          <a:bodyPr wrap="square" lIns="0" tIns="0" rIns="0" bIns="0" rtlCol="0" anchor="ctr"/>
          <a:lstStyle/>
          <a:p>
            <a:pPr algn="ctr" indent="0" marL="0">
              <a:buNone/>
            </a:pPr>
            <a:r>
              <a:rPr lang="en-US" sz="1500" b="1" dirty="0">
                <a:solidFill>
                  <a:schemeClr val="tx2"/>
                </a:solidFill>
              </a:rPr>
              <a:t>1</a:t>
            </a:r>
            <a:endParaRPr lang="en-US" sz="1500" dirty="0"/>
          </a:p>
        </p:txBody>
      </p:sp>
      <p:sp>
        <p:nvSpPr>
          <p:cNvPr id="38" name="Text 28"/>
          <p:cNvSpPr txBox="1"/>
          <p:nvPr/>
        </p:nvSpPr>
        <p:spPr>
          <a:xfrm>
            <a:off x="8366760" y="1993392"/>
            <a:ext cx="3047695" cy="1005840"/>
          </a:xfrm>
          <a:prstGeom prst="rect">
            <a:avLst/>
          </a:prstGeom>
          <a:noFill/>
          <a:ln/>
        </p:spPr>
        <p:txBody>
          <a:bodyPr wrap="square" lIns="0" tIns="0" rIns="0" bIns="0" rtlCol="0" anchor="t"/>
          <a:lstStyle/>
          <a:p>
            <a:pPr indent="0" marL="0">
              <a:spcAft>
                <a:spcPts val="300"/>
              </a:spcAft>
              <a:buNone/>
            </a:pPr>
            <a:r>
              <a:rPr lang="en-US" sz="1300" b="1" dirty="0">
                <a:solidFill>
                  <a:schemeClr val="tx1"/>
                </a:solidFill>
              </a:rPr>
              <a:t>Vote before you hear my view</a:t>
            </a:r>
            <a:endParaRPr lang="en-US" sz="1300" dirty="0"/>
          </a:p>
          <a:p>
            <a:pPr indent="0" marL="0">
              <a:spcAft>
                <a:spcPts val="300"/>
              </a:spcAft>
              <a:buNone/>
            </a:pPr>
            <a:r>
              <a:rPr lang="en-US" sz="1050" dirty="0">
                <a:solidFill>
                  <a:schemeClr val="tx2"/>
                </a:solidFill>
              </a:rPr>
              <a:t>Record your intuition first; we compare it with the closing vote on the same options.</a:t>
            </a:r>
            <a:endParaRPr lang="en-US" sz="1300" dirty="0"/>
          </a:p>
        </p:txBody>
      </p:sp>
      <p:sp>
        <p:nvSpPr>
          <p:cNvPr id="39" name="Badge 2"/>
          <p:cNvSpPr/>
          <p:nvPr/>
        </p:nvSpPr>
        <p:spPr>
          <a:xfrm>
            <a:off x="7726680" y="3172968"/>
            <a:ext cx="457200" cy="457200"/>
          </a:xfrm>
          <a:prstGeom prst="ellipse">
            <a:avLst/>
          </a:prstGeom>
          <a:solidFill>
            <a:schemeClr val="accent2"/>
          </a:solidFill>
          <a:ln/>
        </p:spPr>
      </p:sp>
      <p:sp>
        <p:nvSpPr>
          <p:cNvPr id="40" name="Text 30"/>
          <p:cNvSpPr txBox="1"/>
          <p:nvPr/>
        </p:nvSpPr>
        <p:spPr>
          <a:xfrm>
            <a:off x="7726680" y="3172968"/>
            <a:ext cx="457200" cy="457200"/>
          </a:xfrm>
          <a:prstGeom prst="rect">
            <a:avLst/>
          </a:prstGeom>
          <a:noFill/>
          <a:ln/>
        </p:spPr>
        <p:txBody>
          <a:bodyPr wrap="square" lIns="0" tIns="0" rIns="0" bIns="0" rtlCol="0" anchor="ctr"/>
          <a:lstStyle/>
          <a:p>
            <a:pPr algn="ctr" indent="0" marL="0">
              <a:buNone/>
            </a:pPr>
            <a:r>
              <a:rPr lang="en-US" sz="1500" b="1" dirty="0">
                <a:solidFill>
                  <a:schemeClr val="tx2"/>
                </a:solidFill>
              </a:rPr>
              <a:t>2</a:t>
            </a:r>
            <a:endParaRPr lang="en-US" sz="1500" dirty="0"/>
          </a:p>
        </p:txBody>
      </p:sp>
      <p:sp>
        <p:nvSpPr>
          <p:cNvPr id="41" name="Text 31"/>
          <p:cNvSpPr txBox="1"/>
          <p:nvPr/>
        </p:nvSpPr>
        <p:spPr>
          <a:xfrm>
            <a:off x="8366760" y="3136392"/>
            <a:ext cx="3047695" cy="1005840"/>
          </a:xfrm>
          <a:prstGeom prst="rect">
            <a:avLst/>
          </a:prstGeom>
          <a:noFill/>
          <a:ln/>
        </p:spPr>
        <p:txBody>
          <a:bodyPr wrap="square" lIns="0" tIns="0" rIns="0" bIns="0" rtlCol="0" anchor="t"/>
          <a:lstStyle/>
          <a:p>
            <a:pPr indent="0" marL="0">
              <a:spcAft>
                <a:spcPts val="300"/>
              </a:spcAft>
              <a:buNone/>
            </a:pPr>
            <a:r>
              <a:rPr lang="en-US" sz="1300" b="1" dirty="0">
                <a:solidFill>
                  <a:schemeClr val="tx1"/>
                </a:solidFill>
              </a:rPr>
              <a:t>Challenge every claim, including mine</a:t>
            </a:r>
            <a:endParaRPr lang="en-US" sz="1300" dirty="0"/>
          </a:p>
          <a:p>
            <a:pPr indent="0" marL="0">
              <a:spcAft>
                <a:spcPts val="300"/>
              </a:spcAft>
              <a:buNone/>
            </a:pPr>
            <a:r>
              <a:rPr lang="en-US" sz="1050" dirty="0">
                <a:solidFill>
                  <a:schemeClr val="tx2"/>
                </a:solidFill>
              </a:rPr>
              <a:t>Ask of each claim: what is the evidence, who measured it, and who paid for it?</a:t>
            </a:r>
            <a:endParaRPr lang="en-US" sz="1300" dirty="0"/>
          </a:p>
        </p:txBody>
      </p:sp>
      <p:sp>
        <p:nvSpPr>
          <p:cNvPr id="42" name="Badge 3"/>
          <p:cNvSpPr/>
          <p:nvPr/>
        </p:nvSpPr>
        <p:spPr>
          <a:xfrm>
            <a:off x="7726680" y="4315968"/>
            <a:ext cx="457200" cy="457200"/>
          </a:xfrm>
          <a:prstGeom prst="ellipse">
            <a:avLst/>
          </a:prstGeom>
          <a:solidFill>
            <a:schemeClr val="accent2"/>
          </a:solidFill>
          <a:ln/>
        </p:spPr>
      </p:sp>
      <p:sp>
        <p:nvSpPr>
          <p:cNvPr id="43" name="Text 33"/>
          <p:cNvSpPr txBox="1"/>
          <p:nvPr/>
        </p:nvSpPr>
        <p:spPr>
          <a:xfrm>
            <a:off x="7726680" y="4315968"/>
            <a:ext cx="457200" cy="457200"/>
          </a:xfrm>
          <a:prstGeom prst="rect">
            <a:avLst/>
          </a:prstGeom>
          <a:noFill/>
          <a:ln/>
        </p:spPr>
        <p:txBody>
          <a:bodyPr wrap="square" lIns="0" tIns="0" rIns="0" bIns="0" rtlCol="0" anchor="ctr"/>
          <a:lstStyle/>
          <a:p>
            <a:pPr algn="ctr" indent="0" marL="0">
              <a:buNone/>
            </a:pPr>
            <a:r>
              <a:rPr lang="en-US" sz="1500" b="1" dirty="0">
                <a:solidFill>
                  <a:schemeClr val="tx2"/>
                </a:solidFill>
              </a:rPr>
              <a:t>3</a:t>
            </a:r>
            <a:endParaRPr lang="en-US" sz="1500" dirty="0"/>
          </a:p>
        </p:txBody>
      </p:sp>
      <p:sp>
        <p:nvSpPr>
          <p:cNvPr id="44" name="Text 34"/>
          <p:cNvSpPr txBox="1"/>
          <p:nvPr/>
        </p:nvSpPr>
        <p:spPr>
          <a:xfrm>
            <a:off x="8366760" y="4279392"/>
            <a:ext cx="3047695" cy="1005840"/>
          </a:xfrm>
          <a:prstGeom prst="rect">
            <a:avLst/>
          </a:prstGeom>
          <a:noFill/>
          <a:ln/>
        </p:spPr>
        <p:txBody>
          <a:bodyPr wrap="square" lIns="0" tIns="0" rIns="0" bIns="0" rtlCol="0" anchor="t"/>
          <a:lstStyle/>
          <a:p>
            <a:pPr indent="0" marL="0">
              <a:spcAft>
                <a:spcPts val="300"/>
              </a:spcAft>
              <a:buNone/>
            </a:pPr>
            <a:r>
              <a:rPr lang="en-US" sz="1300" b="1" dirty="0">
                <a:solidFill>
                  <a:schemeClr val="tx1"/>
                </a:solidFill>
              </a:rPr>
              <a:t>Protect identities</a:t>
            </a:r>
            <a:endParaRPr lang="en-US" sz="1300" dirty="0"/>
          </a:p>
          <a:p>
            <a:pPr indent="0" marL="0">
              <a:spcAft>
                <a:spcPts val="300"/>
              </a:spcAft>
              <a:buNone/>
            </a:pPr>
            <a:r>
              <a:rPr lang="en-US" sz="1050" dirty="0">
                <a:solidFill>
                  <a:schemeClr val="tx2"/>
                </a:solidFill>
              </a:rPr>
              <a:t>No names or photographs of patients from your own practice; personas here are composites.</a:t>
            </a:r>
            <a:endParaRPr lang="en-US" sz="1300" dirty="0"/>
          </a:p>
        </p:txBody>
      </p:sp>
      <p:sp>
        <p:nvSpPr>
          <p:cNvPr id="45" name="Callout"/>
          <p:cNvSpPr/>
          <p:nvPr/>
        </p:nvSpPr>
        <p:spPr>
          <a:xfrm>
            <a:off x="548640" y="5669280"/>
            <a:ext cx="11094415" cy="530352"/>
          </a:xfrm>
          <a:prstGeom prst="roundRect">
            <a:avLst>
              <a:gd name="adj" fmla="val 13793"/>
            </a:avLst>
          </a:prstGeom>
          <a:solidFill>
            <a:schemeClr val="accent2">
              <a:alpha val="12000"/>
            </a:schemeClr>
          </a:solidFill>
          <a:ln/>
        </p:spPr>
      </p:sp>
      <p:sp>
        <p:nvSpPr>
          <p:cNvPr id="46" name="Callout bar"/>
          <p:cNvSpPr/>
          <p:nvPr/>
        </p:nvSpPr>
        <p:spPr>
          <a:xfrm>
            <a:off x="548640" y="5760720"/>
            <a:ext cx="64008" cy="347472"/>
          </a:xfrm>
          <a:prstGeom prst="rect">
            <a:avLst/>
          </a:prstGeom>
          <a:solidFill>
            <a:schemeClr val="accent2"/>
          </a:solidFill>
          <a:ln/>
        </p:spPr>
      </p:sp>
      <p:sp>
        <p:nvSpPr>
          <p:cNvPr id="47" name="Text 37"/>
          <p:cNvSpPr txBox="1"/>
          <p:nvPr/>
        </p:nvSpPr>
        <p:spPr>
          <a:xfrm>
            <a:off x="822960" y="5669280"/>
            <a:ext cx="10682935" cy="530352"/>
          </a:xfrm>
          <a:prstGeom prst="rect">
            <a:avLst/>
          </a:prstGeom>
          <a:noFill/>
          <a:ln/>
        </p:spPr>
        <p:txBody>
          <a:bodyPr wrap="square" lIns="0" tIns="0" rIns="0" bIns="0" rtlCol="0" anchor="ctr"/>
          <a:lstStyle/>
          <a:p>
            <a:pPr indent="0" marL="0">
              <a:buNone/>
            </a:pPr>
            <a:r>
              <a:rPr lang="en-US" sz="1100" dirty="0">
                <a:solidFill>
                  <a:schemeClr val="tx1"/>
                </a:solidFill>
              </a:rPr>
              <a:t>A conflict of interest is a set of circumstances that creates a risk that judgement about a primary interest will be unduly influenced by a secondary interest (Institute of Medicine, 2009): a risk, not an accusation. Test everything I say by whether a conflict would be reasonably perceived (University of Cambridge policy).</a:t>
            </a:r>
            <a:endParaRPr lang="en-US" sz="11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OPENING VOTE</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Would you let a patient use it?</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MDR-2017 (Forms MD-12/13, MD-22/23); NDCT Rules 2019; project material (supplied, 2026)</a:t>
            </a:r>
            <a:endParaRPr lang="en-US" sz="950" dirty="0"/>
          </a:p>
        </p:txBody>
      </p:sp>
      <p:sp>
        <p:nvSpPr>
          <p:cNvPr id="6" name="Text 3"/>
          <p:cNvSpPr txBox="1"/>
          <p:nvPr/>
        </p:nvSpPr>
        <p:spPr>
          <a:xfrm>
            <a:off x="548640" y="1554480"/>
            <a:ext cx="5486400" cy="256032"/>
          </a:xfrm>
          <a:prstGeom prst="rect">
            <a:avLst/>
          </a:prstGeom>
          <a:noFill/>
          <a:ln/>
        </p:spPr>
        <p:txBody>
          <a:bodyPr wrap="square" lIns="0" tIns="0" rIns="0" bIns="0" rtlCol="0" anchor="t"/>
          <a:lstStyle/>
          <a:p>
            <a:pPr indent="0" marL="0">
              <a:buNone/>
            </a:pPr>
            <a:r>
              <a:rPr lang="en-US" sz="1200" b="1" dirty="0">
                <a:solidFill>
                  <a:schemeClr val="accent6"/>
                </a:solidFill>
              </a:rPr>
              <a:t>Three facts about one device (not named yet)</a:t>
            </a:r>
            <a:endParaRPr lang="en-US" sz="1200" dirty="0"/>
          </a:p>
        </p:txBody>
      </p:sp>
      <p:sp>
        <p:nvSpPr>
          <p:cNvPr id="7" name="Icon disc LuCpu"/>
          <p:cNvSpPr/>
          <p:nvPr/>
        </p:nvSpPr>
        <p:spPr>
          <a:xfrm>
            <a:off x="548640" y="1965960"/>
            <a:ext cx="566928" cy="566928"/>
          </a:xfrm>
          <a:prstGeom prst="ellipse">
            <a:avLst/>
          </a:prstGeom>
          <a:solidFill>
            <a:schemeClr val="accent6"/>
          </a:solidFill>
          <a:ln/>
        </p:spPr>
      </p:sp>
      <p:pic>
        <p:nvPicPr>
          <p:cNvPr id="8" name="Image 0" descr="Cpu icon">    </p:cNvPr>
          <p:cNvPicPr>
            <a:picLocks noChangeAspect="1"/>
          </p:cNvPicPr>
          <p:nvPr/>
        </p:nvPicPr>
        <p:blipFill>
          <a:blip r:embed="rId1"/>
          <a:stretch>
            <a:fillRect/>
          </a:stretch>
        </p:blipFill>
        <p:spPr>
          <a:xfrm>
            <a:off x="673364" y="2090684"/>
            <a:ext cx="317480" cy="317480"/>
          </a:xfrm>
          <a:prstGeom prst="rect">
            <a:avLst/>
          </a:prstGeom>
        </p:spPr>
      </p:pic>
      <p:sp>
        <p:nvSpPr>
          <p:cNvPr id="9" name="Text 5"/>
          <p:cNvSpPr txBox="1"/>
          <p:nvPr/>
        </p:nvSpPr>
        <p:spPr>
          <a:xfrm>
            <a:off x="1325880" y="1965960"/>
            <a:ext cx="4617720" cy="566928"/>
          </a:xfrm>
          <a:prstGeom prst="rect">
            <a:avLst/>
          </a:prstGeom>
          <a:noFill/>
          <a:ln/>
        </p:spPr>
        <p:txBody>
          <a:bodyPr wrap="square" lIns="0" tIns="0" rIns="0" bIns="0" rtlCol="0" anchor="ctr"/>
          <a:lstStyle/>
          <a:p>
            <a:pPr indent="0" marL="0">
              <a:buNone/>
            </a:pPr>
            <a:r>
              <a:rPr lang="en-US" sz="1900" dirty="0">
                <a:solidFill>
                  <a:schemeClr val="bg1"/>
                </a:solidFill>
              </a:rPr>
              <a:t>A working prototype</a:t>
            </a:r>
            <a:endParaRPr lang="en-US" sz="1900" dirty="0"/>
          </a:p>
        </p:txBody>
      </p:sp>
      <p:sp>
        <p:nvSpPr>
          <p:cNvPr id="10" name="Icon disc LuDatabase"/>
          <p:cNvSpPr/>
          <p:nvPr/>
        </p:nvSpPr>
        <p:spPr>
          <a:xfrm>
            <a:off x="548640" y="3017520"/>
            <a:ext cx="566928" cy="566928"/>
          </a:xfrm>
          <a:prstGeom prst="ellipse">
            <a:avLst/>
          </a:prstGeom>
          <a:solidFill>
            <a:schemeClr val="accent6"/>
          </a:solidFill>
          <a:ln/>
        </p:spPr>
      </p:sp>
      <p:pic>
        <p:nvPicPr>
          <p:cNvPr id="11" name="Image 1" descr="Database icon">    </p:cNvPr>
          <p:cNvPicPr>
            <a:picLocks noChangeAspect="1"/>
          </p:cNvPicPr>
          <p:nvPr/>
        </p:nvPicPr>
        <p:blipFill>
          <a:blip r:embed="rId2"/>
          <a:stretch>
            <a:fillRect/>
          </a:stretch>
        </p:blipFill>
        <p:spPr>
          <a:xfrm>
            <a:off x="673364" y="3142244"/>
            <a:ext cx="317480" cy="317480"/>
          </a:xfrm>
          <a:prstGeom prst="rect">
            <a:avLst/>
          </a:prstGeom>
        </p:spPr>
      </p:pic>
      <p:sp>
        <p:nvSpPr>
          <p:cNvPr id="12" name="Text 7"/>
          <p:cNvSpPr txBox="1"/>
          <p:nvPr/>
        </p:nvSpPr>
        <p:spPr>
          <a:xfrm>
            <a:off x="1325880" y="3017520"/>
            <a:ext cx="4617720" cy="566928"/>
          </a:xfrm>
          <a:prstGeom prst="rect">
            <a:avLst/>
          </a:prstGeom>
          <a:noFill/>
          <a:ln/>
        </p:spPr>
        <p:txBody>
          <a:bodyPr wrap="square" lIns="0" tIns="0" rIns="0" bIns="0" rtlCol="0" anchor="ctr"/>
          <a:lstStyle/>
          <a:p>
            <a:pPr indent="0" marL="0">
              <a:buNone/>
            </a:pPr>
            <a:r>
              <a:rPr lang="en-US" sz="1900" dirty="0">
                <a:solidFill>
                  <a:schemeClr val="bg1"/>
                </a:solidFill>
              </a:rPr>
              <a:t>Promising results on public datasets</a:t>
            </a:r>
            <a:endParaRPr lang="en-US" sz="1900" dirty="0"/>
          </a:p>
        </p:txBody>
      </p:sp>
      <p:sp>
        <p:nvSpPr>
          <p:cNvPr id="13" name="Icon disc LuFileCheck"/>
          <p:cNvSpPr/>
          <p:nvPr/>
        </p:nvSpPr>
        <p:spPr>
          <a:xfrm>
            <a:off x="548640" y="4069080"/>
            <a:ext cx="566928" cy="566928"/>
          </a:xfrm>
          <a:prstGeom prst="ellipse">
            <a:avLst/>
          </a:prstGeom>
          <a:solidFill>
            <a:schemeClr val="accent6"/>
          </a:solidFill>
          <a:ln/>
        </p:spPr>
      </p:sp>
      <p:pic>
        <p:nvPicPr>
          <p:cNvPr id="14" name="Image 2" descr="FileCheck icon">    </p:cNvPr>
          <p:cNvPicPr>
            <a:picLocks noChangeAspect="1"/>
          </p:cNvPicPr>
          <p:nvPr/>
        </p:nvPicPr>
        <p:blipFill>
          <a:blip r:embed="rId3"/>
          <a:stretch>
            <a:fillRect/>
          </a:stretch>
        </p:blipFill>
        <p:spPr>
          <a:xfrm>
            <a:off x="673364" y="4193804"/>
            <a:ext cx="317480" cy="317480"/>
          </a:xfrm>
          <a:prstGeom prst="rect">
            <a:avLst/>
          </a:prstGeom>
        </p:spPr>
      </p:pic>
      <p:sp>
        <p:nvSpPr>
          <p:cNvPr id="15" name="Text 9"/>
          <p:cNvSpPr txBox="1"/>
          <p:nvPr/>
        </p:nvSpPr>
        <p:spPr>
          <a:xfrm>
            <a:off x="1325880" y="4069080"/>
            <a:ext cx="4617720" cy="566928"/>
          </a:xfrm>
          <a:prstGeom prst="rect">
            <a:avLst/>
          </a:prstGeom>
          <a:noFill/>
          <a:ln/>
        </p:spPr>
        <p:txBody>
          <a:bodyPr wrap="square" lIns="0" tIns="0" rIns="0" bIns="0" rtlCol="0" anchor="ctr"/>
          <a:lstStyle/>
          <a:p>
            <a:pPr indent="0" marL="0">
              <a:buNone/>
            </a:pPr>
            <a:r>
              <a:rPr lang="en-US" sz="1900" dirty="0">
                <a:solidFill>
                  <a:schemeClr val="bg1"/>
                </a:solidFill>
              </a:rPr>
              <a:t>A test licence granted</a:t>
            </a:r>
            <a:endParaRPr lang="en-US" sz="1900" dirty="0"/>
          </a:p>
        </p:txBody>
      </p:sp>
      <p:sp>
        <p:nvSpPr>
          <p:cNvPr id="16" name="Text 10"/>
          <p:cNvSpPr txBox="1"/>
          <p:nvPr/>
        </p:nvSpPr>
        <p:spPr>
          <a:xfrm>
            <a:off x="6400800" y="1554480"/>
            <a:ext cx="5239512" cy="256032"/>
          </a:xfrm>
          <a:prstGeom prst="rect">
            <a:avLst/>
          </a:prstGeom>
          <a:noFill/>
          <a:ln/>
        </p:spPr>
        <p:txBody>
          <a:bodyPr wrap="square" lIns="0" tIns="0" rIns="0" bIns="0" rtlCol="0" anchor="t"/>
          <a:lstStyle/>
          <a:p>
            <a:pPr indent="0" marL="0">
              <a:buNone/>
            </a:pPr>
            <a:r>
              <a:rPr lang="en-US" sz="1200" b="1" dirty="0">
                <a:solidFill>
                  <a:schemeClr val="accent6"/>
                </a:solidFill>
              </a:rPr>
              <a:t>Three options (one, two or three fingers)</a:t>
            </a:r>
            <a:endParaRPr lang="en-US" sz="1200" dirty="0"/>
          </a:p>
        </p:txBody>
      </p:sp>
      <p:sp>
        <p:nvSpPr>
          <p:cNvPr id="17" name="Option 1"/>
          <p:cNvSpPr/>
          <p:nvPr/>
        </p:nvSpPr>
        <p:spPr>
          <a:xfrm>
            <a:off x="6400800" y="1920240"/>
            <a:ext cx="5239512" cy="1024128"/>
          </a:xfrm>
          <a:prstGeom prst="roundRect">
            <a:avLst>
              <a:gd name="adj" fmla="val 12500"/>
            </a:avLst>
          </a:prstGeom>
          <a:solidFill>
            <a:schemeClr val="bg1">
              <a:alpha val="10000"/>
            </a:schemeClr>
          </a:solidFill>
          <a:ln w="12700">
            <a:solidFill>
              <a:schemeClr val="accent6"/>
            </a:solidFill>
            <a:prstDash val="solid"/>
          </a:ln>
        </p:spPr>
      </p:sp>
      <p:sp>
        <p:nvSpPr>
          <p:cNvPr id="18" name="Badge 1"/>
          <p:cNvSpPr/>
          <p:nvPr/>
        </p:nvSpPr>
        <p:spPr>
          <a:xfrm>
            <a:off x="6629400" y="2112264"/>
            <a:ext cx="640080" cy="640080"/>
          </a:xfrm>
          <a:prstGeom prst="ellipse">
            <a:avLst/>
          </a:prstGeom>
          <a:solidFill>
            <a:schemeClr val="accent2"/>
          </a:solidFill>
          <a:ln/>
        </p:spPr>
      </p:sp>
      <p:sp>
        <p:nvSpPr>
          <p:cNvPr id="19" name="Text 13"/>
          <p:cNvSpPr txBox="1"/>
          <p:nvPr/>
        </p:nvSpPr>
        <p:spPr>
          <a:xfrm>
            <a:off x="6629400" y="2112264"/>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1</a:t>
            </a:r>
            <a:endParaRPr lang="en-US" sz="2200" dirty="0"/>
          </a:p>
        </p:txBody>
      </p:sp>
      <p:sp>
        <p:nvSpPr>
          <p:cNvPr id="20" name="Text 14"/>
          <p:cNvSpPr txBox="1"/>
          <p:nvPr/>
        </p:nvSpPr>
        <p:spPr>
          <a:xfrm>
            <a:off x="7498080" y="1920240"/>
            <a:ext cx="3959352" cy="1024128"/>
          </a:xfrm>
          <a:prstGeom prst="rect">
            <a:avLst/>
          </a:prstGeom>
          <a:noFill/>
          <a:ln/>
        </p:spPr>
        <p:txBody>
          <a:bodyPr wrap="square" lIns="0" tIns="0" rIns="0" bIns="0" rtlCol="0" anchor="ctr"/>
          <a:lstStyle/>
          <a:p>
            <a:pPr indent="0" marL="0">
              <a:buNone/>
            </a:pPr>
            <a:r>
              <a:rPr lang="en-US" sz="2000" b="1" dirty="0">
                <a:solidFill>
                  <a:schemeClr val="bg1"/>
                </a:solidFill>
              </a:rPr>
              <a:t>Routine care</a:t>
            </a:r>
            <a:endParaRPr lang="en-US" sz="1400" dirty="0"/>
          </a:p>
          <a:p>
            <a:pPr indent="0" marL="0">
              <a:buNone/>
            </a:pPr>
            <a:r>
              <a:rPr lang="en-US" sz="1300" dirty="0">
                <a:solidFill>
                  <a:schemeClr val="accent6"/>
                </a:solidFill>
              </a:rPr>
              <a:t>Suitable for a clinician to recommend to patients now</a:t>
            </a:r>
            <a:endParaRPr lang="en-US" sz="1400" dirty="0"/>
          </a:p>
        </p:txBody>
      </p:sp>
      <p:sp>
        <p:nvSpPr>
          <p:cNvPr id="21" name="Option 2"/>
          <p:cNvSpPr/>
          <p:nvPr/>
        </p:nvSpPr>
        <p:spPr>
          <a:xfrm>
            <a:off x="6400800" y="3145536"/>
            <a:ext cx="5239512" cy="1024128"/>
          </a:xfrm>
          <a:prstGeom prst="roundRect">
            <a:avLst>
              <a:gd name="adj" fmla="val 12500"/>
            </a:avLst>
          </a:prstGeom>
          <a:solidFill>
            <a:schemeClr val="bg1">
              <a:alpha val="10000"/>
            </a:schemeClr>
          </a:solidFill>
          <a:ln w="12700">
            <a:solidFill>
              <a:schemeClr val="accent6"/>
            </a:solidFill>
            <a:prstDash val="solid"/>
          </a:ln>
        </p:spPr>
      </p:sp>
      <p:sp>
        <p:nvSpPr>
          <p:cNvPr id="22" name="Badge 2"/>
          <p:cNvSpPr/>
          <p:nvPr/>
        </p:nvSpPr>
        <p:spPr>
          <a:xfrm>
            <a:off x="6629400" y="3337560"/>
            <a:ext cx="640080" cy="640080"/>
          </a:xfrm>
          <a:prstGeom prst="ellipse">
            <a:avLst/>
          </a:prstGeom>
          <a:solidFill>
            <a:schemeClr val="accent2"/>
          </a:solidFill>
          <a:ln/>
        </p:spPr>
      </p:sp>
      <p:sp>
        <p:nvSpPr>
          <p:cNvPr id="23" name="Text 17"/>
          <p:cNvSpPr txBox="1"/>
          <p:nvPr/>
        </p:nvSpPr>
        <p:spPr>
          <a:xfrm>
            <a:off x="6629400" y="333756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2</a:t>
            </a:r>
            <a:endParaRPr lang="en-US" sz="2200" dirty="0"/>
          </a:p>
        </p:txBody>
      </p:sp>
      <p:sp>
        <p:nvSpPr>
          <p:cNvPr id="24" name="Text 18"/>
          <p:cNvSpPr txBox="1"/>
          <p:nvPr/>
        </p:nvSpPr>
        <p:spPr>
          <a:xfrm>
            <a:off x="7498080" y="3145536"/>
            <a:ext cx="3959352" cy="1024128"/>
          </a:xfrm>
          <a:prstGeom prst="rect">
            <a:avLst/>
          </a:prstGeom>
          <a:noFill/>
          <a:ln/>
        </p:spPr>
        <p:txBody>
          <a:bodyPr wrap="square" lIns="0" tIns="0" rIns="0" bIns="0" rtlCol="0" anchor="ctr"/>
          <a:lstStyle/>
          <a:p>
            <a:pPr indent="0" marL="0">
              <a:buNone/>
            </a:pPr>
            <a:r>
              <a:rPr lang="en-US" sz="2000" b="1" dirty="0">
                <a:solidFill>
                  <a:schemeClr val="bg1"/>
                </a:solidFill>
              </a:rPr>
              <a:t>Research study</a:t>
            </a:r>
            <a:endParaRPr lang="en-US" sz="1400" dirty="0"/>
          </a:p>
          <a:p>
            <a:pPr indent="0" marL="0">
              <a:buNone/>
            </a:pPr>
            <a:r>
              <a:rPr lang="en-US" sz="1300" dirty="0">
                <a:solidFill>
                  <a:schemeClr val="accent6"/>
                </a:solidFill>
              </a:rPr>
              <a:t>Suitable for a study with ethics approval and consent</a:t>
            </a:r>
            <a:endParaRPr lang="en-US" sz="1400" dirty="0"/>
          </a:p>
        </p:txBody>
      </p:sp>
      <p:sp>
        <p:nvSpPr>
          <p:cNvPr id="25" name="Option 3"/>
          <p:cNvSpPr/>
          <p:nvPr/>
        </p:nvSpPr>
        <p:spPr>
          <a:xfrm>
            <a:off x="6400800" y="4370832"/>
            <a:ext cx="5239512" cy="1024128"/>
          </a:xfrm>
          <a:prstGeom prst="roundRect">
            <a:avLst>
              <a:gd name="adj" fmla="val 12500"/>
            </a:avLst>
          </a:prstGeom>
          <a:solidFill>
            <a:schemeClr val="bg1">
              <a:alpha val="10000"/>
            </a:schemeClr>
          </a:solidFill>
          <a:ln w="12700">
            <a:solidFill>
              <a:schemeClr val="accent6"/>
            </a:solidFill>
            <a:prstDash val="solid"/>
          </a:ln>
        </p:spPr>
      </p:sp>
      <p:sp>
        <p:nvSpPr>
          <p:cNvPr id="26" name="Badge 3"/>
          <p:cNvSpPr/>
          <p:nvPr/>
        </p:nvSpPr>
        <p:spPr>
          <a:xfrm>
            <a:off x="6629400" y="4562856"/>
            <a:ext cx="640080" cy="640080"/>
          </a:xfrm>
          <a:prstGeom prst="ellipse">
            <a:avLst/>
          </a:prstGeom>
          <a:solidFill>
            <a:schemeClr val="accent2"/>
          </a:solidFill>
          <a:ln/>
        </p:spPr>
      </p:sp>
      <p:sp>
        <p:nvSpPr>
          <p:cNvPr id="27" name="Text 21"/>
          <p:cNvSpPr txBox="1"/>
          <p:nvPr/>
        </p:nvSpPr>
        <p:spPr>
          <a:xfrm>
            <a:off x="6629400" y="4562856"/>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3</a:t>
            </a:r>
            <a:endParaRPr lang="en-US" sz="2200" dirty="0"/>
          </a:p>
        </p:txBody>
      </p:sp>
      <p:sp>
        <p:nvSpPr>
          <p:cNvPr id="28" name="Text 22"/>
          <p:cNvSpPr txBox="1"/>
          <p:nvPr/>
        </p:nvSpPr>
        <p:spPr>
          <a:xfrm>
            <a:off x="7498080" y="4370832"/>
            <a:ext cx="3959352" cy="1024128"/>
          </a:xfrm>
          <a:prstGeom prst="rect">
            <a:avLst/>
          </a:prstGeom>
          <a:noFill/>
          <a:ln/>
        </p:spPr>
        <p:txBody>
          <a:bodyPr wrap="square" lIns="0" tIns="0" rIns="0" bIns="0" rtlCol="0" anchor="ctr"/>
          <a:lstStyle/>
          <a:p>
            <a:pPr indent="0" marL="0">
              <a:buNone/>
            </a:pPr>
            <a:r>
              <a:rPr lang="en-US" sz="2000" b="1" dirty="0">
                <a:solidFill>
                  <a:schemeClr val="bg1"/>
                </a:solidFill>
              </a:rPr>
              <a:t>Not yet</a:t>
            </a:r>
            <a:endParaRPr lang="en-US" sz="1400" dirty="0"/>
          </a:p>
          <a:p>
            <a:pPr indent="0" marL="0">
              <a:buNone/>
            </a:pPr>
            <a:r>
              <a:rPr lang="en-US" sz="1300" dirty="0">
                <a:solidFill>
                  <a:schemeClr val="accent6"/>
                </a:solidFill>
              </a:rPr>
              <a:t>I need more information before either</a:t>
            </a:r>
            <a:endParaRPr lang="en-US" sz="1400" dirty="0"/>
          </a:p>
        </p:txBody>
      </p:sp>
      <p:sp>
        <p:nvSpPr>
          <p:cNvPr id="29" name="Text 23"/>
          <p:cNvSpPr txBox="1"/>
          <p:nvPr/>
        </p:nvSpPr>
        <p:spPr>
          <a:xfrm>
            <a:off x="548640" y="4937760"/>
            <a:ext cx="5486400" cy="256032"/>
          </a:xfrm>
          <a:prstGeom prst="rect">
            <a:avLst/>
          </a:prstGeom>
          <a:noFill/>
          <a:ln/>
        </p:spPr>
        <p:txBody>
          <a:bodyPr wrap="square" lIns="0" tIns="0" rIns="0" bIns="0" rtlCol="0" anchor="t"/>
          <a:lstStyle/>
          <a:p>
            <a:pPr indent="0" marL="0">
              <a:buNone/>
            </a:pPr>
            <a:r>
              <a:rPr lang="en-US" sz="1200" b="1" dirty="0">
                <a:solidFill>
                  <a:schemeClr val="accent6"/>
                </a:solidFill>
              </a:rPr>
              <a:t>Record the split on the flipchart</a:t>
            </a:r>
            <a:endParaRPr lang="en-US" sz="1200" dirty="0"/>
          </a:p>
        </p:txBody>
      </p:sp>
      <p:sp>
        <p:nvSpPr>
          <p:cNvPr id="30" name="Pill 1 = ____"/>
          <p:cNvSpPr/>
          <p:nvPr/>
        </p:nvSpPr>
        <p:spPr>
          <a:xfrm>
            <a:off x="548640" y="5257800"/>
            <a:ext cx="1645920" cy="365760"/>
          </a:xfrm>
          <a:prstGeom prst="roundRect">
            <a:avLst>
              <a:gd name="adj" fmla="val 50000"/>
            </a:avLst>
          </a:prstGeom>
          <a:solidFill>
            <a:schemeClr val="tx2"/>
          </a:solidFill>
          <a:ln w="15875">
            <a:solidFill>
              <a:schemeClr val="accent6"/>
            </a:solidFill>
            <a:prstDash val="dash"/>
          </a:ln>
        </p:spPr>
      </p:sp>
      <p:sp>
        <p:nvSpPr>
          <p:cNvPr id="31" name="Text 25"/>
          <p:cNvSpPr txBox="1"/>
          <p:nvPr/>
        </p:nvSpPr>
        <p:spPr>
          <a:xfrm>
            <a:off x="548640" y="5257800"/>
            <a:ext cx="1645920" cy="365760"/>
          </a:xfrm>
          <a:prstGeom prst="rect">
            <a:avLst/>
          </a:prstGeom>
          <a:noFill/>
          <a:ln/>
        </p:spPr>
        <p:txBody>
          <a:bodyPr wrap="square" lIns="0" tIns="0" rIns="0" bIns="0" rtlCol="0" anchor="ctr"/>
          <a:lstStyle/>
          <a:p>
            <a:pPr algn="ctr" indent="0" marL="0">
              <a:buNone/>
            </a:pPr>
            <a:r>
              <a:rPr lang="en-US" sz="1300" b="1" dirty="0">
                <a:solidFill>
                  <a:schemeClr val="accent6"/>
                </a:solidFill>
              </a:rPr>
              <a:t>1 = ____</a:t>
            </a:r>
            <a:endParaRPr lang="en-US" sz="1300" dirty="0"/>
          </a:p>
        </p:txBody>
      </p:sp>
      <p:sp>
        <p:nvSpPr>
          <p:cNvPr id="32" name="Pill 2 = ____"/>
          <p:cNvSpPr/>
          <p:nvPr/>
        </p:nvSpPr>
        <p:spPr>
          <a:xfrm>
            <a:off x="2377440" y="5257800"/>
            <a:ext cx="1645920" cy="365760"/>
          </a:xfrm>
          <a:prstGeom prst="roundRect">
            <a:avLst>
              <a:gd name="adj" fmla="val 50000"/>
            </a:avLst>
          </a:prstGeom>
          <a:solidFill>
            <a:schemeClr val="tx2"/>
          </a:solidFill>
          <a:ln w="15875">
            <a:solidFill>
              <a:schemeClr val="accent6"/>
            </a:solidFill>
            <a:prstDash val="dash"/>
          </a:ln>
        </p:spPr>
      </p:sp>
      <p:sp>
        <p:nvSpPr>
          <p:cNvPr id="33" name="Text 27"/>
          <p:cNvSpPr txBox="1"/>
          <p:nvPr/>
        </p:nvSpPr>
        <p:spPr>
          <a:xfrm>
            <a:off x="2377440" y="5257800"/>
            <a:ext cx="1645920" cy="365760"/>
          </a:xfrm>
          <a:prstGeom prst="rect">
            <a:avLst/>
          </a:prstGeom>
          <a:noFill/>
          <a:ln/>
        </p:spPr>
        <p:txBody>
          <a:bodyPr wrap="square" lIns="0" tIns="0" rIns="0" bIns="0" rtlCol="0" anchor="ctr"/>
          <a:lstStyle/>
          <a:p>
            <a:pPr algn="ctr" indent="0" marL="0">
              <a:buNone/>
            </a:pPr>
            <a:r>
              <a:rPr lang="en-US" sz="1300" b="1" dirty="0">
                <a:solidFill>
                  <a:schemeClr val="accent6"/>
                </a:solidFill>
              </a:rPr>
              <a:t>2 = ____</a:t>
            </a:r>
            <a:endParaRPr lang="en-US" sz="1300" dirty="0"/>
          </a:p>
        </p:txBody>
      </p:sp>
      <p:sp>
        <p:nvSpPr>
          <p:cNvPr id="34" name="Pill 3 = ____"/>
          <p:cNvSpPr/>
          <p:nvPr/>
        </p:nvSpPr>
        <p:spPr>
          <a:xfrm>
            <a:off x="4206240" y="5257800"/>
            <a:ext cx="1645920" cy="365760"/>
          </a:xfrm>
          <a:prstGeom prst="roundRect">
            <a:avLst>
              <a:gd name="adj" fmla="val 50000"/>
            </a:avLst>
          </a:prstGeom>
          <a:solidFill>
            <a:schemeClr val="tx2"/>
          </a:solidFill>
          <a:ln w="15875">
            <a:solidFill>
              <a:schemeClr val="accent6"/>
            </a:solidFill>
            <a:prstDash val="dash"/>
          </a:ln>
        </p:spPr>
      </p:sp>
      <p:sp>
        <p:nvSpPr>
          <p:cNvPr id="35" name="Text 29"/>
          <p:cNvSpPr txBox="1"/>
          <p:nvPr/>
        </p:nvSpPr>
        <p:spPr>
          <a:xfrm>
            <a:off x="4206240" y="5257800"/>
            <a:ext cx="1645920" cy="365760"/>
          </a:xfrm>
          <a:prstGeom prst="rect">
            <a:avLst/>
          </a:prstGeom>
          <a:noFill/>
          <a:ln/>
        </p:spPr>
        <p:txBody>
          <a:bodyPr wrap="square" lIns="0" tIns="0" rIns="0" bIns="0" rtlCol="0" anchor="ctr"/>
          <a:lstStyle/>
          <a:p>
            <a:pPr algn="ctr" indent="0" marL="0">
              <a:buNone/>
            </a:pPr>
            <a:r>
              <a:rPr lang="en-US" sz="1300" b="1" dirty="0">
                <a:solidFill>
                  <a:schemeClr val="accent6"/>
                </a:solidFill>
              </a:rPr>
              <a:t>3 = ____</a:t>
            </a:r>
            <a:endParaRPr lang="en-US" sz="1300" dirty="0"/>
          </a:p>
        </p:txBody>
      </p:sp>
      <p:sp>
        <p:nvSpPr>
          <p:cNvPr id="36" name="Callout"/>
          <p:cNvSpPr/>
          <p:nvPr/>
        </p:nvSpPr>
        <p:spPr>
          <a:xfrm>
            <a:off x="548640" y="5760720"/>
            <a:ext cx="11094415" cy="438912"/>
          </a:xfrm>
          <a:prstGeom prst="roundRect">
            <a:avLst>
              <a:gd name="adj" fmla="val 16667"/>
            </a:avLst>
          </a:prstGeom>
          <a:solidFill>
            <a:schemeClr val="accent2">
              <a:alpha val="20000"/>
            </a:schemeClr>
          </a:solidFill>
          <a:ln/>
        </p:spPr>
      </p:sp>
      <p:sp>
        <p:nvSpPr>
          <p:cNvPr id="37" name="Callout bar"/>
          <p:cNvSpPr/>
          <p:nvPr/>
        </p:nvSpPr>
        <p:spPr>
          <a:xfrm>
            <a:off x="548640" y="5852160"/>
            <a:ext cx="64008" cy="256032"/>
          </a:xfrm>
          <a:prstGeom prst="rect">
            <a:avLst/>
          </a:prstGeom>
          <a:solidFill>
            <a:schemeClr val="accent2"/>
          </a:solidFill>
          <a:ln/>
        </p:spPr>
      </p:sp>
      <p:sp>
        <p:nvSpPr>
          <p:cNvPr id="38" name="Text 32"/>
          <p:cNvSpPr txBox="1"/>
          <p:nvPr/>
        </p:nvSpPr>
        <p:spPr>
          <a:xfrm>
            <a:off x="822960" y="5760720"/>
            <a:ext cx="10682935" cy="438912"/>
          </a:xfrm>
          <a:prstGeom prst="rect">
            <a:avLst/>
          </a:prstGeom>
          <a:noFill/>
          <a:ln/>
        </p:spPr>
        <p:txBody>
          <a:bodyPr wrap="square" lIns="0" tIns="0" rIns="0" bIns="0" rtlCol="0" anchor="ctr"/>
          <a:lstStyle/>
          <a:p>
            <a:pPr indent="0" marL="0">
              <a:buNone/>
            </a:pPr>
            <a:r>
              <a:rPr lang="en-US" sz="1250" b="1" dirty="0">
                <a:solidFill>
                  <a:schemeClr val="bg1"/>
                </a:solidFill>
              </a:rPr>
              <a:t>Hold up one, two or three fingers, then tell your neighbour why. We vote again at the end with exactly the same options.</a:t>
            </a:r>
            <a:endParaRPr lang="en-US" sz="12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LENSES</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Three teaching traditions, one Indian patient</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Stanford Biodesign guides (2022); MRCT Center; Petrie-Flom; Cambridge EDC; Engineering Better Care (2017); MDR-2017; ICMR 2017; IPC MvPI; NPPA (PIB 2017, 2021); DPDP Rules 2025</a:t>
            </a:r>
            <a:endParaRPr lang="en-US" sz="950" dirty="0"/>
          </a:p>
        </p:txBody>
      </p:sp>
      <p:sp>
        <p:nvSpPr>
          <p:cNvPr id="6" name="Card Stanford Biodesign"/>
          <p:cNvSpPr/>
          <p:nvPr/>
        </p:nvSpPr>
        <p:spPr>
          <a:xfrm>
            <a:off x="548640" y="1572768"/>
            <a:ext cx="3564026" cy="2788920"/>
          </a:xfrm>
          <a:prstGeom prst="roundRect">
            <a:avLst>
              <a:gd name="adj" fmla="val 3934"/>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7" name="Icon disc LuLightbulb"/>
          <p:cNvSpPr/>
          <p:nvPr/>
        </p:nvSpPr>
        <p:spPr>
          <a:xfrm>
            <a:off x="731520" y="1755648"/>
            <a:ext cx="475488" cy="475488"/>
          </a:xfrm>
          <a:prstGeom prst="ellipse">
            <a:avLst/>
          </a:prstGeom>
          <a:solidFill>
            <a:schemeClr val="accent2">
              <a:alpha val="15000"/>
            </a:schemeClr>
          </a:solidFill>
          <a:ln/>
        </p:spPr>
      </p:sp>
      <p:pic>
        <p:nvPicPr>
          <p:cNvPr id="8" name="Image 0" descr="Lightbulb icon">    </p:cNvPr>
          <p:cNvPicPr>
            <a:picLocks noChangeAspect="1"/>
          </p:cNvPicPr>
          <p:nvPr/>
        </p:nvPicPr>
        <p:blipFill>
          <a:blip r:embed="rId1"/>
          <a:stretch>
            <a:fillRect/>
          </a:stretch>
        </p:blipFill>
        <p:spPr>
          <a:xfrm>
            <a:off x="836127" y="1860255"/>
            <a:ext cx="266273" cy="266273"/>
          </a:xfrm>
          <a:prstGeom prst="rect">
            <a:avLst/>
          </a:prstGeom>
        </p:spPr>
      </p:pic>
      <p:sp>
        <p:nvSpPr>
          <p:cNvPr id="9" name="Pill NEED"/>
          <p:cNvSpPr/>
          <p:nvPr/>
        </p:nvSpPr>
        <p:spPr>
          <a:xfrm>
            <a:off x="2878226" y="1755648"/>
            <a:ext cx="1051560" cy="237744"/>
          </a:xfrm>
          <a:prstGeom prst="roundRect">
            <a:avLst>
              <a:gd name="adj" fmla="val 50000"/>
            </a:avLst>
          </a:prstGeom>
          <a:solidFill>
            <a:schemeClr val="accent2"/>
          </a:solidFill>
          <a:ln w="15875">
            <a:solidFill>
              <a:schemeClr val="accent2"/>
            </a:solidFill>
            <a:prstDash val="solid"/>
          </a:ln>
        </p:spPr>
      </p:sp>
      <p:sp>
        <p:nvSpPr>
          <p:cNvPr id="10" name="Text 6"/>
          <p:cNvSpPr txBox="1"/>
          <p:nvPr/>
        </p:nvSpPr>
        <p:spPr>
          <a:xfrm>
            <a:off x="2878226" y="1755648"/>
            <a:ext cx="1051560" cy="237744"/>
          </a:xfrm>
          <a:prstGeom prst="rect">
            <a:avLst/>
          </a:prstGeom>
          <a:noFill/>
          <a:ln/>
        </p:spPr>
        <p:txBody>
          <a:bodyPr wrap="square" lIns="0" tIns="0" rIns="0" bIns="0" rtlCol="0" anchor="ctr"/>
          <a:lstStyle/>
          <a:p>
            <a:pPr algn="ctr" indent="0" marL="0">
              <a:buNone/>
            </a:pPr>
            <a:r>
              <a:rPr lang="en-US" sz="900" b="1" dirty="0">
                <a:solidFill>
                  <a:schemeClr val="bg1"/>
                </a:solidFill>
              </a:rPr>
              <a:t>NEED</a:t>
            </a:r>
            <a:endParaRPr lang="en-US" sz="900" dirty="0"/>
          </a:p>
        </p:txBody>
      </p:sp>
      <p:sp>
        <p:nvSpPr>
          <p:cNvPr id="11" name="Text 7"/>
          <p:cNvSpPr txBox="1"/>
          <p:nvPr/>
        </p:nvSpPr>
        <p:spPr>
          <a:xfrm>
            <a:off x="1344168" y="1755648"/>
            <a:ext cx="1488338" cy="475488"/>
          </a:xfrm>
          <a:prstGeom prst="rect">
            <a:avLst/>
          </a:prstGeom>
          <a:noFill/>
          <a:ln/>
        </p:spPr>
        <p:txBody>
          <a:bodyPr wrap="square" lIns="0" tIns="0" rIns="0" bIns="0" rtlCol="0" anchor="ctr"/>
          <a:lstStyle/>
          <a:p>
            <a:pPr indent="0" marL="0">
              <a:buNone/>
            </a:pPr>
            <a:r>
              <a:rPr lang="en-US" sz="1400" b="1" dirty="0">
                <a:solidFill>
                  <a:schemeClr val="tx1"/>
                </a:solidFill>
              </a:rPr>
              <a:t>Stanford Biodesign</a:t>
            </a:r>
            <a:endParaRPr lang="en-US" sz="1400" dirty="0"/>
          </a:p>
        </p:txBody>
      </p:sp>
      <p:sp>
        <p:nvSpPr>
          <p:cNvPr id="12" name="Text 8"/>
          <p:cNvSpPr txBox="1"/>
          <p:nvPr/>
        </p:nvSpPr>
        <p:spPr>
          <a:xfrm>
            <a:off x="731520" y="2340864"/>
            <a:ext cx="3198266" cy="1856232"/>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2"/>
                </a:solidFill>
              </a:rPr>
              <a:t>Identify → Invent → Implement: start from a validated need, not a technology</a:t>
            </a:r>
            <a:endParaRPr lang="en-US" sz="1050" dirty="0"/>
          </a:p>
          <a:p>
            <a:pPr marL="127000" indent="-127000">
              <a:spcAft>
                <a:spcPts val="300"/>
              </a:spcAft>
              <a:buSzPct val="100000"/>
              <a:buChar char="•"/>
            </a:pPr>
            <a:r>
              <a:rPr lang="en-US" sz="1050" dirty="0">
                <a:solidFill>
                  <a:schemeClr val="tx2"/>
                </a:solidFill>
              </a:rPr>
              <a:t>Need Statements (Student Guide, 2022): solution-neutral, screened before inventing</a:t>
            </a:r>
            <a:endParaRPr lang="en-US" sz="1050" dirty="0"/>
          </a:p>
          <a:p>
            <a:pPr marL="127000" indent="-127000">
              <a:spcAft>
                <a:spcPts val="300"/>
              </a:spcAft>
              <a:buSzPct val="100000"/>
              <a:buChar char="•"/>
            </a:pPr>
            <a:r>
              <a:rPr lang="en-US" sz="1050" dirty="0">
                <a:solidFill>
                  <a:schemeClr val="tx2"/>
                </a:solidFill>
              </a:rPr>
              <a:t>Principled Decision-Making (2022): write the team's ethical principles early</a:t>
            </a:r>
            <a:endParaRPr lang="en-US" sz="1050" dirty="0"/>
          </a:p>
          <a:p>
            <a:pPr marL="127000" indent="-127000">
              <a:spcAft>
                <a:spcPts val="300"/>
              </a:spcAft>
              <a:buSzPct val="100000"/>
              <a:buChar char="•"/>
            </a:pPr>
            <a:r>
              <a:rPr lang="en-US" sz="1050" dirty="0">
                <a:solidFill>
                  <a:schemeClr val="tx2"/>
                </a:solidFill>
              </a:rPr>
              <a:t>India: Stanford-India Biodesign since 2007 (32 fellows, 14 technologies, 13 companies), now the School of International Biodesign at AIIMS; an AIIMS emergency-department study filtered 100 needs to 10 (Chaturvedi 2015)</a:t>
            </a:r>
            <a:endParaRPr lang="en-US" sz="1050" dirty="0"/>
          </a:p>
        </p:txBody>
      </p:sp>
      <p:sp>
        <p:nvSpPr>
          <p:cNvPr id="13" name="Card Harvard research ethics"/>
          <p:cNvSpPr/>
          <p:nvPr/>
        </p:nvSpPr>
        <p:spPr>
          <a:xfrm>
            <a:off x="4313834" y="1572768"/>
            <a:ext cx="3564026" cy="2788920"/>
          </a:xfrm>
          <a:prstGeom prst="roundRect">
            <a:avLst>
              <a:gd name="adj" fmla="val 3934"/>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14" name="Icon disc LuScale"/>
          <p:cNvSpPr/>
          <p:nvPr/>
        </p:nvSpPr>
        <p:spPr>
          <a:xfrm>
            <a:off x="4496714" y="1755648"/>
            <a:ext cx="475488" cy="475488"/>
          </a:xfrm>
          <a:prstGeom prst="ellipse">
            <a:avLst/>
          </a:prstGeom>
          <a:solidFill>
            <a:schemeClr val="accent3">
              <a:alpha val="15000"/>
            </a:schemeClr>
          </a:solidFill>
          <a:ln/>
        </p:spPr>
      </p:sp>
      <p:pic>
        <p:nvPicPr>
          <p:cNvPr id="15" name="Image 1" descr="Scale icon">    </p:cNvPr>
          <p:cNvPicPr>
            <a:picLocks noChangeAspect="1"/>
          </p:cNvPicPr>
          <p:nvPr/>
        </p:nvPicPr>
        <p:blipFill>
          <a:blip r:embed="rId2"/>
          <a:stretch>
            <a:fillRect/>
          </a:stretch>
        </p:blipFill>
        <p:spPr>
          <a:xfrm>
            <a:off x="4601322" y="1860255"/>
            <a:ext cx="266273" cy="266273"/>
          </a:xfrm>
          <a:prstGeom prst="rect">
            <a:avLst/>
          </a:prstGeom>
        </p:spPr>
      </p:pic>
      <p:sp>
        <p:nvSpPr>
          <p:cNvPr id="16" name="Pill PEOPLE"/>
          <p:cNvSpPr/>
          <p:nvPr/>
        </p:nvSpPr>
        <p:spPr>
          <a:xfrm>
            <a:off x="6643421" y="1755648"/>
            <a:ext cx="1051560" cy="237744"/>
          </a:xfrm>
          <a:prstGeom prst="roundRect">
            <a:avLst>
              <a:gd name="adj" fmla="val 50000"/>
            </a:avLst>
          </a:prstGeom>
          <a:solidFill>
            <a:schemeClr val="accent3"/>
          </a:solidFill>
          <a:ln w="15875">
            <a:solidFill>
              <a:schemeClr val="accent3"/>
            </a:solidFill>
            <a:prstDash val="solid"/>
          </a:ln>
        </p:spPr>
      </p:sp>
      <p:sp>
        <p:nvSpPr>
          <p:cNvPr id="17" name="Text 12"/>
          <p:cNvSpPr txBox="1"/>
          <p:nvPr/>
        </p:nvSpPr>
        <p:spPr>
          <a:xfrm>
            <a:off x="6643421" y="1755648"/>
            <a:ext cx="1051560" cy="237744"/>
          </a:xfrm>
          <a:prstGeom prst="rect">
            <a:avLst/>
          </a:prstGeom>
          <a:noFill/>
          <a:ln/>
        </p:spPr>
        <p:txBody>
          <a:bodyPr wrap="square" lIns="0" tIns="0" rIns="0" bIns="0" rtlCol="0" anchor="ctr"/>
          <a:lstStyle/>
          <a:p>
            <a:pPr algn="ctr" indent="0" marL="0">
              <a:buNone/>
            </a:pPr>
            <a:r>
              <a:rPr lang="en-US" sz="900" b="1" dirty="0">
                <a:solidFill>
                  <a:schemeClr val="bg1"/>
                </a:solidFill>
              </a:rPr>
              <a:t>PEOPLE</a:t>
            </a:r>
            <a:endParaRPr lang="en-US" sz="900" dirty="0"/>
          </a:p>
        </p:txBody>
      </p:sp>
      <p:sp>
        <p:nvSpPr>
          <p:cNvPr id="18" name="Text 13"/>
          <p:cNvSpPr txBox="1"/>
          <p:nvPr/>
        </p:nvSpPr>
        <p:spPr>
          <a:xfrm>
            <a:off x="5109362" y="1755648"/>
            <a:ext cx="1488338" cy="475488"/>
          </a:xfrm>
          <a:prstGeom prst="rect">
            <a:avLst/>
          </a:prstGeom>
          <a:noFill/>
          <a:ln/>
        </p:spPr>
        <p:txBody>
          <a:bodyPr wrap="square" lIns="0" tIns="0" rIns="0" bIns="0" rtlCol="0" anchor="ctr"/>
          <a:lstStyle/>
          <a:p>
            <a:pPr indent="0" marL="0">
              <a:buNone/>
            </a:pPr>
            <a:r>
              <a:rPr lang="en-US" sz="1400" b="1" dirty="0">
                <a:solidFill>
                  <a:schemeClr val="tx1"/>
                </a:solidFill>
              </a:rPr>
              <a:t>Harvard research ethics</a:t>
            </a:r>
            <a:endParaRPr lang="en-US" sz="1400" dirty="0"/>
          </a:p>
        </p:txBody>
      </p:sp>
      <p:sp>
        <p:nvSpPr>
          <p:cNvPr id="19" name="Text 14"/>
          <p:cNvSpPr txBox="1"/>
          <p:nvPr/>
        </p:nvSpPr>
        <p:spPr>
          <a:xfrm>
            <a:off x="4496714" y="2340864"/>
            <a:ext cx="3198266" cy="1856232"/>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2"/>
                </a:solidFill>
              </a:rPr>
              <a:t>HMS Center for Bioethics: case-based teaching of research ethics</a:t>
            </a:r>
            <a:endParaRPr lang="en-US" sz="1050" dirty="0"/>
          </a:p>
          <a:p>
            <a:pPr marL="127000" indent="-127000">
              <a:spcAft>
                <a:spcPts val="300"/>
              </a:spcAft>
              <a:buSzPct val="100000"/>
              <a:buChar char="•"/>
            </a:pPr>
            <a:r>
              <a:rPr lang="en-US" sz="1050" dirty="0">
                <a:solidFill>
                  <a:schemeClr val="tx2"/>
                </a:solidFill>
              </a:rPr>
              <a:t>MRCT Center (Brigham and Harvard): Diversity guidance (2020), Accessibility by Design toolkit (2023), plain-language glossary, post-trial access for devices (2025)</a:t>
            </a:r>
            <a:endParaRPr lang="en-US" sz="1050" dirty="0"/>
          </a:p>
          <a:p>
            <a:pPr marL="127000" indent="-127000">
              <a:spcAft>
                <a:spcPts val="300"/>
              </a:spcAft>
              <a:buSzPct val="100000"/>
              <a:buChar char="•"/>
            </a:pPr>
            <a:r>
              <a:rPr lang="en-US" sz="1050" dirty="0">
                <a:solidFill>
                  <a:schemeClr val="tx2"/>
                </a:solidFill>
              </a:rPr>
              <a:t>Petrie-Flom Center: Diagnosing in the Home; ethics of remote device monitoring (Cohen, Gerke &amp; Kramer 2020)</a:t>
            </a:r>
            <a:endParaRPr lang="en-US" sz="1050" dirty="0"/>
          </a:p>
          <a:p>
            <a:pPr marL="127000" indent="-127000">
              <a:spcAft>
                <a:spcPts val="300"/>
              </a:spcAft>
              <a:buSzPct val="100000"/>
              <a:buChar char="•"/>
            </a:pPr>
            <a:r>
              <a:rPr lang="en-US" sz="1050" dirty="0">
                <a:solidFill>
                  <a:schemeClr val="tx2"/>
                </a:solidFill>
              </a:rPr>
              <a:t>HMS conflict-of-interest policy (2010): disclose, then manage</a:t>
            </a:r>
            <a:endParaRPr lang="en-US" sz="1050" dirty="0"/>
          </a:p>
        </p:txBody>
      </p:sp>
      <p:sp>
        <p:nvSpPr>
          <p:cNvPr id="20" name="Card Cambridge design and translation"/>
          <p:cNvSpPr/>
          <p:nvPr/>
        </p:nvSpPr>
        <p:spPr>
          <a:xfrm>
            <a:off x="8079029" y="1572768"/>
            <a:ext cx="3564026" cy="2788920"/>
          </a:xfrm>
          <a:prstGeom prst="roundRect">
            <a:avLst>
              <a:gd name="adj" fmla="val 3934"/>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21" name="Icon disc LuPencilRuler"/>
          <p:cNvSpPr/>
          <p:nvPr/>
        </p:nvSpPr>
        <p:spPr>
          <a:xfrm>
            <a:off x="8261909" y="1755648"/>
            <a:ext cx="475488" cy="475488"/>
          </a:xfrm>
          <a:prstGeom prst="ellipse">
            <a:avLst/>
          </a:prstGeom>
          <a:solidFill>
            <a:schemeClr val="accent4">
              <a:alpha val="15000"/>
            </a:schemeClr>
          </a:solidFill>
          <a:ln/>
        </p:spPr>
      </p:sp>
      <p:pic>
        <p:nvPicPr>
          <p:cNvPr id="22" name="Image 2" descr="PencilRuler icon">    </p:cNvPr>
          <p:cNvPicPr>
            <a:picLocks noChangeAspect="1"/>
          </p:cNvPicPr>
          <p:nvPr/>
        </p:nvPicPr>
        <p:blipFill>
          <a:blip r:embed="rId3"/>
          <a:stretch>
            <a:fillRect/>
          </a:stretch>
        </p:blipFill>
        <p:spPr>
          <a:xfrm>
            <a:off x="8366516" y="1860255"/>
            <a:ext cx="266273" cy="266273"/>
          </a:xfrm>
          <a:prstGeom prst="rect">
            <a:avLst/>
          </a:prstGeom>
        </p:spPr>
      </p:pic>
      <p:sp>
        <p:nvSpPr>
          <p:cNvPr id="23" name="Pill ACCESS · SAFETY"/>
          <p:cNvSpPr/>
          <p:nvPr/>
        </p:nvSpPr>
        <p:spPr>
          <a:xfrm>
            <a:off x="10408615" y="1755648"/>
            <a:ext cx="1051560" cy="237744"/>
          </a:xfrm>
          <a:prstGeom prst="roundRect">
            <a:avLst>
              <a:gd name="adj" fmla="val 50000"/>
            </a:avLst>
          </a:prstGeom>
          <a:solidFill>
            <a:schemeClr val="accent4"/>
          </a:solidFill>
          <a:ln w="15875">
            <a:solidFill>
              <a:schemeClr val="accent4"/>
            </a:solidFill>
            <a:prstDash val="solid"/>
          </a:ln>
        </p:spPr>
      </p:sp>
      <p:sp>
        <p:nvSpPr>
          <p:cNvPr id="24" name="Text 18"/>
          <p:cNvSpPr txBox="1"/>
          <p:nvPr/>
        </p:nvSpPr>
        <p:spPr>
          <a:xfrm>
            <a:off x="10408615" y="1755648"/>
            <a:ext cx="1051560" cy="237744"/>
          </a:xfrm>
          <a:prstGeom prst="rect">
            <a:avLst/>
          </a:prstGeom>
          <a:noFill/>
          <a:ln/>
        </p:spPr>
        <p:txBody>
          <a:bodyPr wrap="square" lIns="0" tIns="0" rIns="0" bIns="0" rtlCol="0" anchor="ctr"/>
          <a:lstStyle/>
          <a:p>
            <a:pPr algn="ctr" indent="0" marL="0">
              <a:buNone/>
            </a:pPr>
            <a:r>
              <a:rPr lang="en-US" sz="900" b="1" dirty="0">
                <a:solidFill>
                  <a:schemeClr val="bg1"/>
                </a:solidFill>
              </a:rPr>
              <a:t>ACCESS · SAFETY</a:t>
            </a:r>
            <a:endParaRPr lang="en-US" sz="900" dirty="0"/>
          </a:p>
        </p:txBody>
      </p:sp>
      <p:sp>
        <p:nvSpPr>
          <p:cNvPr id="25" name="Text 19"/>
          <p:cNvSpPr txBox="1"/>
          <p:nvPr/>
        </p:nvSpPr>
        <p:spPr>
          <a:xfrm>
            <a:off x="8874557" y="1755648"/>
            <a:ext cx="1488338" cy="475488"/>
          </a:xfrm>
          <a:prstGeom prst="rect">
            <a:avLst/>
          </a:prstGeom>
          <a:noFill/>
          <a:ln/>
        </p:spPr>
        <p:txBody>
          <a:bodyPr wrap="square" lIns="0" tIns="0" rIns="0" bIns="0" rtlCol="0" anchor="ctr"/>
          <a:lstStyle/>
          <a:p>
            <a:pPr indent="0" marL="0">
              <a:buNone/>
            </a:pPr>
            <a:r>
              <a:rPr lang="en-US" sz="1400" b="1" dirty="0">
                <a:solidFill>
                  <a:schemeClr val="tx1"/>
                </a:solidFill>
              </a:rPr>
              <a:t>Cambridge design and translation</a:t>
            </a:r>
            <a:endParaRPr lang="en-US" sz="1400" dirty="0"/>
          </a:p>
        </p:txBody>
      </p:sp>
      <p:sp>
        <p:nvSpPr>
          <p:cNvPr id="26" name="Text 20"/>
          <p:cNvSpPr txBox="1"/>
          <p:nvPr/>
        </p:nvSpPr>
        <p:spPr>
          <a:xfrm>
            <a:off x="8261909" y="2340864"/>
            <a:ext cx="3198266" cy="1856232"/>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2"/>
                </a:solidFill>
              </a:rPr>
              <a:t>Engineering Design Centre Inclusive Design Toolkit and Exclusion Calculator: who is excluded by a product's demands?</a:t>
            </a:r>
            <a:endParaRPr lang="en-US" sz="1050" dirty="0"/>
          </a:p>
          <a:p>
            <a:pPr marL="127000" indent="-127000">
              <a:spcAft>
                <a:spcPts val="300"/>
              </a:spcAft>
              <a:buSzPct val="100000"/>
              <a:buChar char="•"/>
            </a:pPr>
            <a:r>
              <a:rPr lang="en-US" sz="1050" dirty="0">
                <a:solidFill>
                  <a:schemeClr val="tx2"/>
                </a:solidFill>
              </a:rPr>
              <a:t>Engineering Better Care (2017; working group chaired by Prof John Clarkson): people, systems, design and risk, with a 'Sustain' phase</a:t>
            </a:r>
            <a:endParaRPr lang="en-US" sz="1050" dirty="0"/>
          </a:p>
          <a:p>
            <a:pPr marL="127000" indent="-127000">
              <a:spcAft>
                <a:spcPts val="300"/>
              </a:spcAft>
              <a:buSzPct val="100000"/>
              <a:buChar char="•"/>
            </a:pPr>
            <a:r>
              <a:rPr lang="en-US" sz="1050" dirty="0">
                <a:solidFill>
                  <a:schemeClr val="tx2"/>
                </a:solidFill>
              </a:rPr>
              <a:t>Institute for Biomedical Innovation (announced January 2026): from lab prototype to trial-ready device</a:t>
            </a:r>
            <a:endParaRPr lang="en-US" sz="1050" dirty="0"/>
          </a:p>
          <a:p>
            <a:pPr marL="127000" indent="-127000">
              <a:spcAft>
                <a:spcPts val="300"/>
              </a:spcAft>
              <a:buSzPct val="100000"/>
              <a:buChar char="•"/>
            </a:pPr>
            <a:r>
              <a:rPr lang="en-US" sz="1050" dirty="0">
                <a:solidFill>
                  <a:schemeClr val="tx2"/>
                </a:solidFill>
              </a:rPr>
              <a:t>Cambridge Judge CCHLE: making proven solutions affordable</a:t>
            </a:r>
            <a:endParaRPr lang="en-US" sz="1050" dirty="0"/>
          </a:p>
        </p:txBody>
      </p:sp>
      <p:sp>
        <p:nvSpPr>
          <p:cNvPr id="27" name="Text 21"/>
          <p:cNvSpPr txBox="1"/>
          <p:nvPr/>
        </p:nvSpPr>
        <p:spPr>
          <a:xfrm>
            <a:off x="548640" y="4434840"/>
            <a:ext cx="11094415" cy="219456"/>
          </a:xfrm>
          <a:prstGeom prst="rect">
            <a:avLst/>
          </a:prstGeom>
          <a:noFill/>
          <a:ln/>
        </p:spPr>
        <p:txBody>
          <a:bodyPr wrap="square" lIns="0" tIns="0" rIns="0" bIns="0" rtlCol="0" anchor="t"/>
          <a:lstStyle/>
          <a:p>
            <a:pPr indent="0" marL="0">
              <a:buNone/>
            </a:pPr>
            <a:r>
              <a:rPr lang="en-US" sz="950" i="1" dirty="0">
                <a:solidFill>
                  <a:schemeClr val="accent5"/>
                </a:solidFill>
              </a:rPr>
              <a:t>None of these institutions has evaluated or endorsed FoGO or SwaKnee. The Biodesign textbook is Stanford content published by Cambridge University Press.</a:t>
            </a:r>
            <a:endParaRPr lang="en-US" sz="950" dirty="0"/>
          </a:p>
        </p:txBody>
      </p:sp>
      <p:sp>
        <p:nvSpPr>
          <p:cNvPr id="28" name="India band"/>
          <p:cNvSpPr/>
          <p:nvPr/>
        </p:nvSpPr>
        <p:spPr>
          <a:xfrm>
            <a:off x="548640" y="4736592"/>
            <a:ext cx="11094415" cy="1463040"/>
          </a:xfrm>
          <a:prstGeom prst="roundRect">
            <a:avLst>
              <a:gd name="adj" fmla="val 8750"/>
            </a:avLst>
          </a:prstGeom>
          <a:solidFill>
            <a:schemeClr val="bg2"/>
          </a:solidFill>
          <a:ln/>
        </p:spPr>
      </p:sp>
      <p:sp>
        <p:nvSpPr>
          <p:cNvPr id="29" name="India band accent"/>
          <p:cNvSpPr/>
          <p:nvPr/>
        </p:nvSpPr>
        <p:spPr>
          <a:xfrm>
            <a:off x="548640" y="4919472"/>
            <a:ext cx="64008" cy="1097280"/>
          </a:xfrm>
          <a:prstGeom prst="rect">
            <a:avLst/>
          </a:prstGeom>
          <a:solidFill>
            <a:schemeClr val="accent1"/>
          </a:solidFill>
          <a:ln/>
        </p:spPr>
      </p:sp>
      <p:sp>
        <p:nvSpPr>
          <p:cNvPr id="30" name="Text 24"/>
          <p:cNvSpPr txBox="1"/>
          <p:nvPr/>
        </p:nvSpPr>
        <p:spPr>
          <a:xfrm>
            <a:off x="822960" y="4828032"/>
            <a:ext cx="7315200" cy="256032"/>
          </a:xfrm>
          <a:prstGeom prst="rect">
            <a:avLst/>
          </a:prstGeom>
          <a:noFill/>
          <a:ln/>
        </p:spPr>
        <p:txBody>
          <a:bodyPr wrap="square" lIns="0" tIns="0" rIns="0" bIns="0" rtlCol="0" anchor="t"/>
          <a:lstStyle/>
          <a:p>
            <a:pPr indent="0" marL="0">
              <a:buNone/>
            </a:pPr>
            <a:r>
              <a:rPr lang="en-US" sz="1250" b="1" dirty="0">
                <a:solidFill>
                  <a:schemeClr val="accent1"/>
                </a:solidFill>
              </a:rPr>
              <a:t>Applied to Indian rules and Indian patients</a:t>
            </a:r>
            <a:endParaRPr lang="en-US" sz="1250" dirty="0"/>
          </a:p>
        </p:txBody>
      </p:sp>
      <p:sp>
        <p:nvSpPr>
          <p:cNvPr id="31" name="Icon disc LuGavel"/>
          <p:cNvSpPr/>
          <p:nvPr/>
        </p:nvSpPr>
        <p:spPr>
          <a:xfrm>
            <a:off x="822960" y="5175504"/>
            <a:ext cx="365760" cy="365760"/>
          </a:xfrm>
          <a:prstGeom prst="ellipse">
            <a:avLst/>
          </a:prstGeom>
          <a:solidFill>
            <a:schemeClr val="accent4">
              <a:alpha val="20000"/>
            </a:schemeClr>
          </a:solidFill>
          <a:ln/>
        </p:spPr>
      </p:sp>
      <p:pic>
        <p:nvPicPr>
          <p:cNvPr id="32" name="Image 3" descr="Gavel icon">    </p:cNvPr>
          <p:cNvPicPr>
            <a:picLocks noChangeAspect="1"/>
          </p:cNvPicPr>
          <p:nvPr/>
        </p:nvPicPr>
        <p:blipFill>
          <a:blip r:embed="rId4"/>
          <a:stretch>
            <a:fillRect/>
          </a:stretch>
        </p:blipFill>
        <p:spPr>
          <a:xfrm>
            <a:off x="903427" y="5255971"/>
            <a:ext cx="204826" cy="204826"/>
          </a:xfrm>
          <a:prstGeom prst="rect">
            <a:avLst/>
          </a:prstGeom>
        </p:spPr>
      </p:pic>
      <p:sp>
        <p:nvSpPr>
          <p:cNvPr id="33" name="Text 26"/>
          <p:cNvSpPr txBox="1"/>
          <p:nvPr/>
        </p:nvSpPr>
        <p:spPr>
          <a:xfrm>
            <a:off x="1261872" y="5175504"/>
            <a:ext cx="1269949" cy="365760"/>
          </a:xfrm>
          <a:prstGeom prst="rect">
            <a:avLst/>
          </a:prstGeom>
          <a:noFill/>
          <a:ln/>
        </p:spPr>
        <p:txBody>
          <a:bodyPr wrap="square" lIns="0" tIns="0" rIns="0" bIns="0" rtlCol="0" anchor="ctr"/>
          <a:lstStyle/>
          <a:p>
            <a:pPr indent="0" marL="0">
              <a:buNone/>
            </a:pPr>
            <a:r>
              <a:rPr lang="en-US" sz="1050" b="1" dirty="0">
                <a:solidFill>
                  <a:schemeClr val="tx1"/>
                </a:solidFill>
              </a:rPr>
              <a:t>CDSCO · MDR-2017</a:t>
            </a:r>
            <a:endParaRPr lang="en-US" sz="1050" dirty="0"/>
          </a:p>
        </p:txBody>
      </p:sp>
      <p:sp>
        <p:nvSpPr>
          <p:cNvPr id="34" name="Text 27"/>
          <p:cNvSpPr txBox="1"/>
          <p:nvPr/>
        </p:nvSpPr>
        <p:spPr>
          <a:xfrm>
            <a:off x="822960" y="5605272"/>
            <a:ext cx="1635709" cy="566928"/>
          </a:xfrm>
          <a:prstGeom prst="rect">
            <a:avLst/>
          </a:prstGeom>
          <a:noFill/>
          <a:ln/>
        </p:spPr>
        <p:txBody>
          <a:bodyPr wrap="square" lIns="0" tIns="0" rIns="0" bIns="0" rtlCol="0" anchor="t"/>
          <a:lstStyle/>
          <a:p>
            <a:pPr indent="0" marL="0">
              <a:buNone/>
            </a:pPr>
            <a:r>
              <a:rPr lang="en-US" sz="950" dirty="0">
                <a:solidFill>
                  <a:schemeClr val="tx2"/>
                </a:solidFill>
              </a:rPr>
              <a:t>Permission: Rule 4 classes A–D; licences MD-5 / MD-9; test licence MD-13</a:t>
            </a:r>
            <a:endParaRPr lang="en-US" sz="950" dirty="0"/>
          </a:p>
        </p:txBody>
      </p:sp>
      <p:sp>
        <p:nvSpPr>
          <p:cNvPr id="35" name="Icon disc LuScale"/>
          <p:cNvSpPr/>
          <p:nvPr/>
        </p:nvSpPr>
        <p:spPr>
          <a:xfrm>
            <a:off x="2595829" y="5175504"/>
            <a:ext cx="365760" cy="365760"/>
          </a:xfrm>
          <a:prstGeom prst="ellipse">
            <a:avLst/>
          </a:prstGeom>
          <a:solidFill>
            <a:schemeClr val="accent2">
              <a:alpha val="20000"/>
            </a:schemeClr>
          </a:solidFill>
          <a:ln/>
        </p:spPr>
      </p:sp>
      <p:pic>
        <p:nvPicPr>
          <p:cNvPr id="36" name="Image 4" descr="Scale icon">    </p:cNvPr>
          <p:cNvPicPr>
            <a:picLocks noChangeAspect="1"/>
          </p:cNvPicPr>
          <p:nvPr/>
        </p:nvPicPr>
        <p:blipFill>
          <a:blip r:embed="rId5"/>
          <a:stretch>
            <a:fillRect/>
          </a:stretch>
        </p:blipFill>
        <p:spPr>
          <a:xfrm>
            <a:off x="2676296" y="5255971"/>
            <a:ext cx="204826" cy="204826"/>
          </a:xfrm>
          <a:prstGeom prst="rect">
            <a:avLst/>
          </a:prstGeom>
        </p:spPr>
      </p:pic>
      <p:sp>
        <p:nvSpPr>
          <p:cNvPr id="37" name="Text 29"/>
          <p:cNvSpPr txBox="1"/>
          <p:nvPr/>
        </p:nvSpPr>
        <p:spPr>
          <a:xfrm>
            <a:off x="3034741" y="5175504"/>
            <a:ext cx="1269949" cy="365760"/>
          </a:xfrm>
          <a:prstGeom prst="rect">
            <a:avLst/>
          </a:prstGeom>
          <a:noFill/>
          <a:ln/>
        </p:spPr>
        <p:txBody>
          <a:bodyPr wrap="square" lIns="0" tIns="0" rIns="0" bIns="0" rtlCol="0" anchor="ctr"/>
          <a:lstStyle/>
          <a:p>
            <a:pPr indent="0" marL="0">
              <a:buNone/>
            </a:pPr>
            <a:r>
              <a:rPr lang="en-US" sz="1050" b="1" dirty="0">
                <a:solidFill>
                  <a:schemeClr val="tx1"/>
                </a:solidFill>
              </a:rPr>
              <a:t>ICMR 2017</a:t>
            </a:r>
            <a:endParaRPr lang="en-US" sz="1050" dirty="0"/>
          </a:p>
        </p:txBody>
      </p:sp>
      <p:sp>
        <p:nvSpPr>
          <p:cNvPr id="38" name="Text 30"/>
          <p:cNvSpPr txBox="1"/>
          <p:nvPr/>
        </p:nvSpPr>
        <p:spPr>
          <a:xfrm>
            <a:off x="2595829" y="5605272"/>
            <a:ext cx="1635709" cy="566928"/>
          </a:xfrm>
          <a:prstGeom prst="rect">
            <a:avLst/>
          </a:prstGeom>
          <a:noFill/>
          <a:ln/>
        </p:spPr>
        <p:txBody>
          <a:bodyPr wrap="square" lIns="0" tIns="0" rIns="0" bIns="0" rtlCol="0" anchor="t"/>
          <a:lstStyle/>
          <a:p>
            <a:pPr indent="0" marL="0">
              <a:buNone/>
            </a:pPr>
            <a:r>
              <a:rPr lang="en-US" sz="950" dirty="0">
                <a:solidFill>
                  <a:schemeClr val="tx2"/>
                </a:solidFill>
              </a:rPr>
              <a:t>People: National Ethical Guidelines; ethics committees registered under NDCT Rules 2019</a:t>
            </a:r>
            <a:endParaRPr lang="en-US" sz="950" dirty="0"/>
          </a:p>
        </p:txBody>
      </p:sp>
      <p:sp>
        <p:nvSpPr>
          <p:cNvPr id="39" name="Icon disc LuSiren"/>
          <p:cNvSpPr/>
          <p:nvPr/>
        </p:nvSpPr>
        <p:spPr>
          <a:xfrm>
            <a:off x="4368698" y="5175504"/>
            <a:ext cx="365760" cy="365760"/>
          </a:xfrm>
          <a:prstGeom prst="ellipse">
            <a:avLst/>
          </a:prstGeom>
          <a:solidFill>
            <a:schemeClr val="accent3">
              <a:alpha val="20000"/>
            </a:schemeClr>
          </a:solidFill>
          <a:ln/>
        </p:spPr>
      </p:sp>
      <p:pic>
        <p:nvPicPr>
          <p:cNvPr id="40" name="Image 5" descr="Siren icon">    </p:cNvPr>
          <p:cNvPicPr>
            <a:picLocks noChangeAspect="1"/>
          </p:cNvPicPr>
          <p:nvPr/>
        </p:nvPicPr>
        <p:blipFill>
          <a:blip r:embed="rId6"/>
          <a:stretch>
            <a:fillRect/>
          </a:stretch>
        </p:blipFill>
        <p:spPr>
          <a:xfrm>
            <a:off x="4449166" y="5255971"/>
            <a:ext cx="204826" cy="204826"/>
          </a:xfrm>
          <a:prstGeom prst="rect">
            <a:avLst/>
          </a:prstGeom>
        </p:spPr>
      </p:pic>
      <p:sp>
        <p:nvSpPr>
          <p:cNvPr id="41" name="Text 32"/>
          <p:cNvSpPr txBox="1"/>
          <p:nvPr/>
        </p:nvSpPr>
        <p:spPr>
          <a:xfrm>
            <a:off x="4807610" y="5175504"/>
            <a:ext cx="1269949" cy="365760"/>
          </a:xfrm>
          <a:prstGeom prst="rect">
            <a:avLst/>
          </a:prstGeom>
          <a:noFill/>
          <a:ln/>
        </p:spPr>
        <p:txBody>
          <a:bodyPr wrap="square" lIns="0" tIns="0" rIns="0" bIns="0" rtlCol="0" anchor="ctr"/>
          <a:lstStyle/>
          <a:p>
            <a:pPr indent="0" marL="0">
              <a:buNone/>
            </a:pPr>
            <a:r>
              <a:rPr lang="en-US" sz="1050" b="1" dirty="0">
                <a:solidFill>
                  <a:schemeClr val="tx1"/>
                </a:solidFill>
              </a:rPr>
              <a:t>MvPI · IPC</a:t>
            </a:r>
            <a:endParaRPr lang="en-US" sz="1050" dirty="0"/>
          </a:p>
        </p:txBody>
      </p:sp>
      <p:sp>
        <p:nvSpPr>
          <p:cNvPr id="42" name="Text 33"/>
          <p:cNvSpPr txBox="1"/>
          <p:nvPr/>
        </p:nvSpPr>
        <p:spPr>
          <a:xfrm>
            <a:off x="4368698" y="5605272"/>
            <a:ext cx="1635709" cy="566928"/>
          </a:xfrm>
          <a:prstGeom prst="rect">
            <a:avLst/>
          </a:prstGeom>
          <a:noFill/>
          <a:ln/>
        </p:spPr>
        <p:txBody>
          <a:bodyPr wrap="square" lIns="0" tIns="0" rIns="0" bIns="0" rtlCol="0" anchor="t"/>
          <a:lstStyle/>
          <a:p>
            <a:pPr indent="0" marL="0">
              <a:buNone/>
            </a:pPr>
            <a:r>
              <a:rPr lang="en-US" sz="950" dirty="0">
                <a:solidFill>
                  <a:schemeClr val="tx2"/>
                </a:solidFill>
              </a:rPr>
              <a:t>Safety: adverse-event reporting since 6 Jul 2015; 174 monitoring centres</a:t>
            </a:r>
            <a:endParaRPr lang="en-US" sz="950" dirty="0"/>
          </a:p>
        </p:txBody>
      </p:sp>
      <p:sp>
        <p:nvSpPr>
          <p:cNvPr id="43" name="Icon disc LuIndianRupee"/>
          <p:cNvSpPr/>
          <p:nvPr/>
        </p:nvSpPr>
        <p:spPr>
          <a:xfrm>
            <a:off x="6141568" y="5175504"/>
            <a:ext cx="365760" cy="365760"/>
          </a:xfrm>
          <a:prstGeom prst="ellipse">
            <a:avLst/>
          </a:prstGeom>
          <a:solidFill>
            <a:schemeClr val="accent1">
              <a:alpha val="20000"/>
            </a:schemeClr>
          </a:solidFill>
          <a:ln/>
        </p:spPr>
      </p:sp>
      <p:pic>
        <p:nvPicPr>
          <p:cNvPr id="44" name="Image 6" descr="IndianRupee icon">    </p:cNvPr>
          <p:cNvPicPr>
            <a:picLocks noChangeAspect="1"/>
          </p:cNvPicPr>
          <p:nvPr/>
        </p:nvPicPr>
        <p:blipFill>
          <a:blip r:embed="rId7"/>
          <a:stretch>
            <a:fillRect/>
          </a:stretch>
        </p:blipFill>
        <p:spPr>
          <a:xfrm>
            <a:off x="6222035" y="5255971"/>
            <a:ext cx="204826" cy="204826"/>
          </a:xfrm>
          <a:prstGeom prst="rect">
            <a:avLst/>
          </a:prstGeom>
        </p:spPr>
      </p:pic>
      <p:sp>
        <p:nvSpPr>
          <p:cNvPr id="45" name="Text 35"/>
          <p:cNvSpPr txBox="1"/>
          <p:nvPr/>
        </p:nvSpPr>
        <p:spPr>
          <a:xfrm>
            <a:off x="6580480" y="5175504"/>
            <a:ext cx="1269949" cy="365760"/>
          </a:xfrm>
          <a:prstGeom prst="rect">
            <a:avLst/>
          </a:prstGeom>
          <a:noFill/>
          <a:ln/>
        </p:spPr>
        <p:txBody>
          <a:bodyPr wrap="square" lIns="0" tIns="0" rIns="0" bIns="0" rtlCol="0" anchor="ctr"/>
          <a:lstStyle/>
          <a:p>
            <a:pPr indent="0" marL="0">
              <a:buNone/>
            </a:pPr>
            <a:r>
              <a:rPr lang="en-US" sz="1050" b="1" dirty="0">
                <a:solidFill>
                  <a:schemeClr val="tx1"/>
                </a:solidFill>
              </a:rPr>
              <a:t>NPPA · DPCO 2013</a:t>
            </a:r>
            <a:endParaRPr lang="en-US" sz="1050" dirty="0"/>
          </a:p>
        </p:txBody>
      </p:sp>
      <p:sp>
        <p:nvSpPr>
          <p:cNvPr id="46" name="Text 36"/>
          <p:cNvSpPr txBox="1"/>
          <p:nvPr/>
        </p:nvSpPr>
        <p:spPr>
          <a:xfrm>
            <a:off x="6141568" y="5605272"/>
            <a:ext cx="1635709" cy="566928"/>
          </a:xfrm>
          <a:prstGeom prst="rect">
            <a:avLst/>
          </a:prstGeom>
          <a:noFill/>
          <a:ln/>
        </p:spPr>
        <p:txBody>
          <a:bodyPr wrap="square" lIns="0" tIns="0" rIns="0" bIns="0" rtlCol="0" anchor="t"/>
          <a:lstStyle/>
          <a:p>
            <a:pPr indent="0" marL="0">
              <a:buNone/>
            </a:pPr>
            <a:r>
              <a:rPr lang="en-US" sz="950" dirty="0">
                <a:solidFill>
                  <a:schemeClr val="tx2"/>
                </a:solidFill>
              </a:rPr>
              <a:t>Access: ceiling prices on stents and knee implants (2017); trade-margin caps (2021)</a:t>
            </a:r>
            <a:endParaRPr lang="en-US" sz="950" dirty="0"/>
          </a:p>
        </p:txBody>
      </p:sp>
      <p:sp>
        <p:nvSpPr>
          <p:cNvPr id="47" name="Icon disc LuRuler"/>
          <p:cNvSpPr/>
          <p:nvPr/>
        </p:nvSpPr>
        <p:spPr>
          <a:xfrm>
            <a:off x="7914437" y="5175504"/>
            <a:ext cx="365760" cy="365760"/>
          </a:xfrm>
          <a:prstGeom prst="ellipse">
            <a:avLst/>
          </a:prstGeom>
          <a:solidFill>
            <a:schemeClr val="accent5">
              <a:alpha val="20000"/>
            </a:schemeClr>
          </a:solidFill>
          <a:ln/>
        </p:spPr>
      </p:sp>
      <p:pic>
        <p:nvPicPr>
          <p:cNvPr id="48" name="Image 7" descr="Ruler icon">    </p:cNvPr>
          <p:cNvPicPr>
            <a:picLocks noChangeAspect="1"/>
          </p:cNvPicPr>
          <p:nvPr/>
        </p:nvPicPr>
        <p:blipFill>
          <a:blip r:embed="rId8"/>
          <a:stretch>
            <a:fillRect/>
          </a:stretch>
        </p:blipFill>
        <p:spPr>
          <a:xfrm>
            <a:off x="7994904" y="5255971"/>
            <a:ext cx="204826" cy="204826"/>
          </a:xfrm>
          <a:prstGeom prst="rect">
            <a:avLst/>
          </a:prstGeom>
        </p:spPr>
      </p:pic>
      <p:sp>
        <p:nvSpPr>
          <p:cNvPr id="49" name="Text 38"/>
          <p:cNvSpPr txBox="1"/>
          <p:nvPr/>
        </p:nvSpPr>
        <p:spPr>
          <a:xfrm>
            <a:off x="8353349" y="5175504"/>
            <a:ext cx="1269949" cy="365760"/>
          </a:xfrm>
          <a:prstGeom prst="rect">
            <a:avLst/>
          </a:prstGeom>
          <a:noFill/>
          <a:ln/>
        </p:spPr>
        <p:txBody>
          <a:bodyPr wrap="square" lIns="0" tIns="0" rIns="0" bIns="0" rtlCol="0" anchor="ctr"/>
          <a:lstStyle/>
          <a:p>
            <a:pPr indent="0" marL="0">
              <a:buNone/>
            </a:pPr>
            <a:r>
              <a:rPr lang="en-US" sz="1050" b="1" dirty="0">
                <a:solidFill>
                  <a:schemeClr val="tx1"/>
                </a:solidFill>
              </a:rPr>
              <a:t>BIS</a:t>
            </a:r>
            <a:endParaRPr lang="en-US" sz="1050" dirty="0"/>
          </a:p>
        </p:txBody>
      </p:sp>
      <p:sp>
        <p:nvSpPr>
          <p:cNvPr id="50" name="Text 39"/>
          <p:cNvSpPr txBox="1"/>
          <p:nvPr/>
        </p:nvSpPr>
        <p:spPr>
          <a:xfrm>
            <a:off x="7914437" y="5605272"/>
            <a:ext cx="1635709" cy="566928"/>
          </a:xfrm>
          <a:prstGeom prst="rect">
            <a:avLst/>
          </a:prstGeom>
          <a:noFill/>
          <a:ln/>
        </p:spPr>
        <p:txBody>
          <a:bodyPr wrap="square" lIns="0" tIns="0" rIns="0" bIns="0" rtlCol="0" anchor="t"/>
          <a:lstStyle/>
          <a:p>
            <a:pPr indent="0" marL="0">
              <a:buNone/>
            </a:pPr>
            <a:r>
              <a:rPr lang="en-US" sz="950" dirty="0">
                <a:solidFill>
                  <a:schemeClr val="tx2"/>
                </a:solidFill>
              </a:rPr>
              <a:t>Standards: Indian Standards; Essential Principles checklist (Class A self-certified)</a:t>
            </a:r>
            <a:endParaRPr lang="en-US" sz="950" dirty="0"/>
          </a:p>
        </p:txBody>
      </p:sp>
      <p:sp>
        <p:nvSpPr>
          <p:cNvPr id="51" name="Icon disc LuLock"/>
          <p:cNvSpPr/>
          <p:nvPr/>
        </p:nvSpPr>
        <p:spPr>
          <a:xfrm>
            <a:off x="9687306" y="5175504"/>
            <a:ext cx="365760" cy="365760"/>
          </a:xfrm>
          <a:prstGeom prst="ellipse">
            <a:avLst/>
          </a:prstGeom>
          <a:solidFill>
            <a:schemeClr val="accent4">
              <a:alpha val="20000"/>
            </a:schemeClr>
          </a:solidFill>
          <a:ln/>
        </p:spPr>
      </p:sp>
      <p:pic>
        <p:nvPicPr>
          <p:cNvPr id="52" name="Image 8" descr="Lock icon">    </p:cNvPr>
          <p:cNvPicPr>
            <a:picLocks noChangeAspect="1"/>
          </p:cNvPicPr>
          <p:nvPr/>
        </p:nvPicPr>
        <p:blipFill>
          <a:blip r:embed="rId9"/>
          <a:stretch>
            <a:fillRect/>
          </a:stretch>
        </p:blipFill>
        <p:spPr>
          <a:xfrm>
            <a:off x="9767773" y="5255971"/>
            <a:ext cx="204826" cy="204826"/>
          </a:xfrm>
          <a:prstGeom prst="rect">
            <a:avLst/>
          </a:prstGeom>
        </p:spPr>
      </p:pic>
      <p:sp>
        <p:nvSpPr>
          <p:cNvPr id="53" name="Text 41"/>
          <p:cNvSpPr txBox="1"/>
          <p:nvPr/>
        </p:nvSpPr>
        <p:spPr>
          <a:xfrm>
            <a:off x="10126218" y="5175504"/>
            <a:ext cx="1269949" cy="365760"/>
          </a:xfrm>
          <a:prstGeom prst="rect">
            <a:avLst/>
          </a:prstGeom>
          <a:noFill/>
          <a:ln/>
        </p:spPr>
        <p:txBody>
          <a:bodyPr wrap="square" lIns="0" tIns="0" rIns="0" bIns="0" rtlCol="0" anchor="ctr"/>
          <a:lstStyle/>
          <a:p>
            <a:pPr indent="0" marL="0">
              <a:buNone/>
            </a:pPr>
            <a:r>
              <a:rPr lang="en-US" sz="1050" b="1" dirty="0">
                <a:solidFill>
                  <a:schemeClr val="tx1"/>
                </a:solidFill>
              </a:rPr>
              <a:t>DPDP Rules 2025</a:t>
            </a:r>
            <a:endParaRPr lang="en-US" sz="1050" dirty="0"/>
          </a:p>
        </p:txBody>
      </p:sp>
      <p:sp>
        <p:nvSpPr>
          <p:cNvPr id="54" name="Text 42"/>
          <p:cNvSpPr txBox="1"/>
          <p:nvPr/>
        </p:nvSpPr>
        <p:spPr>
          <a:xfrm>
            <a:off x="9687306" y="5605272"/>
            <a:ext cx="1635709" cy="566928"/>
          </a:xfrm>
          <a:prstGeom prst="rect">
            <a:avLst/>
          </a:prstGeom>
          <a:noFill/>
          <a:ln/>
        </p:spPr>
        <p:txBody>
          <a:bodyPr wrap="square" lIns="0" tIns="0" rIns="0" bIns="0" rtlCol="0" anchor="t"/>
          <a:lstStyle/>
          <a:p>
            <a:pPr indent="0" marL="0">
              <a:buNone/>
            </a:pPr>
            <a:r>
              <a:rPr lang="en-US" sz="950" dirty="0">
                <a:solidFill>
                  <a:schemeClr val="tx2"/>
                </a:solidFill>
              </a:rPr>
              <a:t>Data: personal health data from apps and cloud; phased commencement</a:t>
            </a: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PATIENTS</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Two people we will follow</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composite personas (workshop); India State-Level Disease Burden Initiative, Lancet Glob Health 2021; Pal et al., Indian J Orthop 2016; SwaKnee leaflet (supplied)</a:t>
            </a:r>
            <a:endParaRPr lang="en-US" sz="950" dirty="0"/>
          </a:p>
        </p:txBody>
      </p:sp>
      <p:sp>
        <p:nvSpPr>
          <p:cNvPr id="6" name="Text 3"/>
          <p:cNvSpPr txBox="1"/>
          <p:nvPr/>
        </p:nvSpPr>
        <p:spPr>
          <a:xfrm>
            <a:off x="548640" y="1463040"/>
            <a:ext cx="11094415" cy="310896"/>
          </a:xfrm>
          <a:prstGeom prst="rect">
            <a:avLst/>
          </a:prstGeom>
          <a:noFill/>
          <a:ln/>
        </p:spPr>
        <p:txBody>
          <a:bodyPr wrap="square" lIns="0" tIns="0" rIns="0" bIns="0" rtlCol="0" anchor="t"/>
          <a:lstStyle/>
          <a:p>
            <a:pPr indent="0" marL="0">
              <a:buNone/>
            </a:pPr>
            <a:r>
              <a:rPr lang="en-US" sz="1150" i="1" dirty="0">
                <a:solidFill>
                  <a:schemeClr val="tx2"/>
                </a:solidFill>
              </a:rPr>
              <a:t>Ramesh and Kamala are composites, not real patients, built from situations common in Odisha clinics. Every decision today is made for one of them: when you vote, vote for them.</a:t>
            </a:r>
            <a:endParaRPr lang="en-US" sz="1150" dirty="0"/>
          </a:p>
        </p:txBody>
      </p:sp>
      <p:sp>
        <p:nvSpPr>
          <p:cNvPr id="7" name="Persona Ramesh"/>
          <p:cNvSpPr/>
          <p:nvPr/>
        </p:nvSpPr>
        <p:spPr>
          <a:xfrm>
            <a:off x="548640" y="1874520"/>
            <a:ext cx="5432908" cy="4297680"/>
          </a:xfrm>
          <a:prstGeom prst="roundRect">
            <a:avLst>
              <a:gd name="adj" fmla="val 2979"/>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8" name="Persona accent Ramesh"/>
          <p:cNvSpPr/>
          <p:nvPr/>
        </p:nvSpPr>
        <p:spPr>
          <a:xfrm>
            <a:off x="548640" y="2148840"/>
            <a:ext cx="64008" cy="3749040"/>
          </a:xfrm>
          <a:prstGeom prst="rect">
            <a:avLst/>
          </a:prstGeom>
          <a:solidFill>
            <a:schemeClr val="accent1"/>
          </a:solidFill>
          <a:ln/>
        </p:spPr>
      </p:sp>
      <p:pic>
        <p:nvPicPr>
          <p:cNvPr id="9" name="Image 0" descr="FoGO ankle module worn by a volunteer, legs only">    </p:cNvPr>
          <p:cNvPicPr>
            <a:picLocks noChangeAspect="1"/>
          </p:cNvPicPr>
          <p:nvPr/>
        </p:nvPicPr>
        <p:blipFill>
          <a:blip r:embed="rId1"/>
          <a:stretch>
            <a:fillRect/>
          </a:stretch>
        </p:blipFill>
        <p:spPr>
          <a:xfrm>
            <a:off x="822960" y="2103120"/>
            <a:ext cx="1828800" cy="1828800"/>
          </a:xfrm>
          <a:prstGeom prst="rect">
            <a:avLst/>
          </a:prstGeom>
        </p:spPr>
      </p:pic>
      <p:sp>
        <p:nvSpPr>
          <p:cNvPr id="10" name="Text 6"/>
          <p:cNvSpPr txBox="1"/>
          <p:nvPr/>
        </p:nvSpPr>
        <p:spPr>
          <a:xfrm>
            <a:off x="2880360" y="2075688"/>
            <a:ext cx="2872588" cy="868680"/>
          </a:xfrm>
          <a:prstGeom prst="rect">
            <a:avLst/>
          </a:prstGeom>
          <a:noFill/>
          <a:ln/>
        </p:spPr>
        <p:txBody>
          <a:bodyPr wrap="square" lIns="0" tIns="0" rIns="0" bIns="0" rtlCol="0" anchor="t"/>
          <a:lstStyle/>
          <a:p>
            <a:pPr indent="0" marL="0">
              <a:buNone/>
            </a:pPr>
            <a:r>
              <a:rPr lang="en-US" sz="2200" b="1" dirty="0">
                <a:solidFill>
                  <a:schemeClr val="tx1"/>
                </a:solidFill>
              </a:rPr>
              <a:t>Ramesh, 71</a:t>
            </a:r>
            <a:endParaRPr lang="en-US" sz="2200" dirty="0"/>
          </a:p>
          <a:p>
            <a:pPr indent="0" marL="0">
              <a:buNone/>
            </a:pPr>
            <a:r>
              <a:rPr lang="en-US" sz="1100" dirty="0">
                <a:solidFill>
                  <a:schemeClr val="tx2"/>
                </a:solidFill>
              </a:rPr>
              <a:t>Parkinson's disease with freezing of gait</a:t>
            </a:r>
            <a:endParaRPr lang="en-US" sz="2200" dirty="0"/>
          </a:p>
        </p:txBody>
      </p:sp>
      <p:sp>
        <p:nvSpPr>
          <p:cNvPr id="11" name="Text 7"/>
          <p:cNvSpPr txBox="1"/>
          <p:nvPr/>
        </p:nvSpPr>
        <p:spPr>
          <a:xfrm>
            <a:off x="2880360" y="2944368"/>
            <a:ext cx="2872588" cy="457200"/>
          </a:xfrm>
          <a:prstGeom prst="rect">
            <a:avLst/>
          </a:prstGeom>
          <a:noFill/>
          <a:ln/>
        </p:spPr>
        <p:txBody>
          <a:bodyPr wrap="square" lIns="0" tIns="0" rIns="0" bIns="0" rtlCol="0" anchor="ctr"/>
          <a:lstStyle/>
          <a:p>
            <a:pPr indent="0" marL="0">
              <a:buNone/>
            </a:pPr>
            <a:r>
              <a:rPr lang="en-US" sz="2400" b="1" dirty="0">
                <a:solidFill>
                  <a:schemeClr val="accent1"/>
                </a:solidFill>
              </a:rPr>
              <a:t>≈7.7 lakh</a:t>
            </a:r>
            <a:endParaRPr lang="en-US" sz="2400" dirty="0"/>
          </a:p>
        </p:txBody>
      </p:sp>
      <p:sp>
        <p:nvSpPr>
          <p:cNvPr id="12" name="Text 8"/>
          <p:cNvSpPr txBox="1"/>
          <p:nvPr/>
        </p:nvSpPr>
        <p:spPr>
          <a:xfrm>
            <a:off x="2880360" y="3410712"/>
            <a:ext cx="2872588" cy="566928"/>
          </a:xfrm>
          <a:prstGeom prst="rect">
            <a:avLst/>
          </a:prstGeom>
          <a:noFill/>
          <a:ln/>
        </p:spPr>
        <p:txBody>
          <a:bodyPr wrap="square" lIns="0" tIns="0" rIns="0" bIns="0" rtlCol="0" anchor="t"/>
          <a:lstStyle/>
          <a:p>
            <a:pPr indent="0" marL="0">
              <a:buNone/>
            </a:pPr>
            <a:r>
              <a:rPr lang="en-US" sz="1050" b="1" dirty="0">
                <a:solidFill>
                  <a:schemeClr val="tx1"/>
                </a:solidFill>
              </a:rPr>
              <a:t>people living with Parkinson's disease in India, 2019</a:t>
            </a:r>
            <a:endParaRPr lang="en-US" sz="1050" dirty="0"/>
          </a:p>
          <a:p>
            <a:pPr indent="0" marL="0">
              <a:buNone/>
            </a:pPr>
            <a:r>
              <a:rPr lang="en-US" sz="950" dirty="0">
                <a:solidFill>
                  <a:schemeClr val="accent5"/>
                </a:solidFill>
              </a:rPr>
              <a:t>India State-Level Disease Burden Initiative (GBD 2019), as cited in the FoGO project material</a:t>
            </a:r>
            <a:endParaRPr lang="en-US" sz="1050" dirty="0"/>
          </a:p>
        </p:txBody>
      </p:sp>
      <p:sp>
        <p:nvSpPr>
          <p:cNvPr id="13" name="Icon disc LuClock"/>
          <p:cNvSpPr/>
          <p:nvPr/>
        </p:nvSpPr>
        <p:spPr>
          <a:xfrm>
            <a:off x="822960" y="4142232"/>
            <a:ext cx="292608" cy="292608"/>
          </a:xfrm>
          <a:prstGeom prst="ellipse">
            <a:avLst/>
          </a:prstGeom>
          <a:solidFill>
            <a:schemeClr val="accent1">
              <a:alpha val="15000"/>
            </a:schemeClr>
          </a:solidFill>
          <a:ln/>
        </p:spPr>
      </p:sp>
      <p:pic>
        <p:nvPicPr>
          <p:cNvPr id="14" name="Image 1" descr="Clock icon">    </p:cNvPr>
          <p:cNvPicPr>
            <a:picLocks noChangeAspect="1"/>
          </p:cNvPicPr>
          <p:nvPr/>
        </p:nvPicPr>
        <p:blipFill>
          <a:blip r:embed="rId2"/>
          <a:stretch>
            <a:fillRect/>
          </a:stretch>
        </p:blipFill>
        <p:spPr>
          <a:xfrm>
            <a:off x="887334" y="4206606"/>
            <a:ext cx="163860" cy="163860"/>
          </a:xfrm>
          <a:prstGeom prst="rect">
            <a:avLst/>
          </a:prstGeom>
        </p:spPr>
      </p:pic>
      <p:sp>
        <p:nvSpPr>
          <p:cNvPr id="15" name="Text 10"/>
          <p:cNvSpPr txBox="1"/>
          <p:nvPr/>
        </p:nvSpPr>
        <p:spPr>
          <a:xfrm>
            <a:off x="1234440" y="4142232"/>
            <a:ext cx="4518508" cy="292608"/>
          </a:xfrm>
          <a:prstGeom prst="rect">
            <a:avLst/>
          </a:prstGeom>
          <a:noFill/>
          <a:ln/>
        </p:spPr>
        <p:txBody>
          <a:bodyPr wrap="square" lIns="0" tIns="0" rIns="0" bIns="0" rtlCol="0" anchor="ctr"/>
          <a:lstStyle/>
          <a:p>
            <a:pPr indent="0" marL="0">
              <a:buNone/>
            </a:pPr>
            <a:r>
              <a:rPr lang="en-US" sz="1100" dirty="0">
                <a:solidFill>
                  <a:schemeClr val="tx1"/>
                </a:solidFill>
              </a:rPr>
              <a:t>Parkinson's disease for eight years</a:t>
            </a:r>
            <a:endParaRPr lang="en-US" sz="1100" dirty="0"/>
          </a:p>
        </p:txBody>
      </p:sp>
      <p:sp>
        <p:nvSpPr>
          <p:cNvPr id="16" name="Icon disc LuFootprints"/>
          <p:cNvSpPr/>
          <p:nvPr/>
        </p:nvSpPr>
        <p:spPr>
          <a:xfrm>
            <a:off x="822960" y="4526280"/>
            <a:ext cx="292608" cy="292608"/>
          </a:xfrm>
          <a:prstGeom prst="ellipse">
            <a:avLst/>
          </a:prstGeom>
          <a:solidFill>
            <a:schemeClr val="accent1">
              <a:alpha val="15000"/>
            </a:schemeClr>
          </a:solidFill>
          <a:ln/>
        </p:spPr>
      </p:sp>
      <p:pic>
        <p:nvPicPr>
          <p:cNvPr id="17" name="Image 2" descr="Footprints icon">    </p:cNvPr>
          <p:cNvPicPr>
            <a:picLocks noChangeAspect="1"/>
          </p:cNvPicPr>
          <p:nvPr/>
        </p:nvPicPr>
        <p:blipFill>
          <a:blip r:embed="rId3"/>
          <a:stretch>
            <a:fillRect/>
          </a:stretch>
        </p:blipFill>
        <p:spPr>
          <a:xfrm>
            <a:off x="887334" y="4590654"/>
            <a:ext cx="163860" cy="163860"/>
          </a:xfrm>
          <a:prstGeom prst="rect">
            <a:avLst/>
          </a:prstGeom>
        </p:spPr>
      </p:pic>
      <p:sp>
        <p:nvSpPr>
          <p:cNvPr id="18" name="Text 12"/>
          <p:cNvSpPr txBox="1"/>
          <p:nvPr/>
        </p:nvSpPr>
        <p:spPr>
          <a:xfrm>
            <a:off x="1234440" y="4526280"/>
            <a:ext cx="4518508" cy="292608"/>
          </a:xfrm>
          <a:prstGeom prst="rect">
            <a:avLst/>
          </a:prstGeom>
          <a:noFill/>
          <a:ln/>
        </p:spPr>
        <p:txBody>
          <a:bodyPr wrap="square" lIns="0" tIns="0" rIns="0" bIns="0" rtlCol="0" anchor="ctr"/>
          <a:lstStyle/>
          <a:p>
            <a:pPr indent="0" marL="0">
              <a:buNone/>
            </a:pPr>
            <a:r>
              <a:rPr lang="en-US" sz="1100" dirty="0">
                <a:solidFill>
                  <a:schemeClr val="tx1"/>
                </a:solidFill>
              </a:rPr>
              <a:t>Freezes in doorways and when turning</a:t>
            </a:r>
            <a:endParaRPr lang="en-US" sz="1100" dirty="0"/>
          </a:p>
        </p:txBody>
      </p:sp>
      <p:sp>
        <p:nvSpPr>
          <p:cNvPr id="19" name="Icon disc LuTriangleAlert"/>
          <p:cNvSpPr/>
          <p:nvPr/>
        </p:nvSpPr>
        <p:spPr>
          <a:xfrm>
            <a:off x="822960" y="4910328"/>
            <a:ext cx="292608" cy="292608"/>
          </a:xfrm>
          <a:prstGeom prst="ellipse">
            <a:avLst/>
          </a:prstGeom>
          <a:solidFill>
            <a:schemeClr val="accent1">
              <a:alpha val="15000"/>
            </a:schemeClr>
          </a:solidFill>
          <a:ln/>
        </p:spPr>
      </p:sp>
      <p:pic>
        <p:nvPicPr>
          <p:cNvPr id="20" name="Image 3" descr="TriangleAlert icon">    </p:cNvPr>
          <p:cNvPicPr>
            <a:picLocks noChangeAspect="1"/>
          </p:cNvPicPr>
          <p:nvPr/>
        </p:nvPicPr>
        <p:blipFill>
          <a:blip r:embed="rId4"/>
          <a:stretch>
            <a:fillRect/>
          </a:stretch>
        </p:blipFill>
        <p:spPr>
          <a:xfrm>
            <a:off x="887334" y="4974702"/>
            <a:ext cx="163860" cy="163860"/>
          </a:xfrm>
          <a:prstGeom prst="rect">
            <a:avLst/>
          </a:prstGeom>
        </p:spPr>
      </p:pic>
      <p:sp>
        <p:nvSpPr>
          <p:cNvPr id="21" name="Text 14"/>
          <p:cNvSpPr txBox="1"/>
          <p:nvPr/>
        </p:nvSpPr>
        <p:spPr>
          <a:xfrm>
            <a:off x="1234440" y="4910328"/>
            <a:ext cx="4518508" cy="292608"/>
          </a:xfrm>
          <a:prstGeom prst="rect">
            <a:avLst/>
          </a:prstGeom>
          <a:noFill/>
          <a:ln/>
        </p:spPr>
        <p:txBody>
          <a:bodyPr wrap="square" lIns="0" tIns="0" rIns="0" bIns="0" rtlCol="0" anchor="ctr"/>
          <a:lstStyle/>
          <a:p>
            <a:pPr indent="0" marL="0">
              <a:buNone/>
            </a:pPr>
            <a:r>
              <a:rPr lang="en-US" sz="1100" dirty="0">
                <a:solidFill>
                  <a:schemeClr val="tx1"/>
                </a:solidFill>
              </a:rPr>
              <a:t>Has fallen twice this year</a:t>
            </a:r>
            <a:endParaRPr lang="en-US" sz="1100" dirty="0"/>
          </a:p>
        </p:txBody>
      </p:sp>
      <p:sp>
        <p:nvSpPr>
          <p:cNvPr id="22" name="Icon disc LuSmartphone"/>
          <p:cNvSpPr/>
          <p:nvPr/>
        </p:nvSpPr>
        <p:spPr>
          <a:xfrm>
            <a:off x="822960" y="5294376"/>
            <a:ext cx="292608" cy="292608"/>
          </a:xfrm>
          <a:prstGeom prst="ellipse">
            <a:avLst/>
          </a:prstGeom>
          <a:solidFill>
            <a:schemeClr val="accent1">
              <a:alpha val="15000"/>
            </a:schemeClr>
          </a:solidFill>
          <a:ln/>
        </p:spPr>
      </p:sp>
      <p:pic>
        <p:nvPicPr>
          <p:cNvPr id="23" name="Image 4" descr="Smartphone icon">    </p:cNvPr>
          <p:cNvPicPr>
            <a:picLocks noChangeAspect="1"/>
          </p:cNvPicPr>
          <p:nvPr/>
        </p:nvPicPr>
        <p:blipFill>
          <a:blip r:embed="rId5"/>
          <a:stretch>
            <a:fillRect/>
          </a:stretch>
        </p:blipFill>
        <p:spPr>
          <a:xfrm>
            <a:off x="887334" y="5358750"/>
            <a:ext cx="163860" cy="163860"/>
          </a:xfrm>
          <a:prstGeom prst="rect">
            <a:avLst/>
          </a:prstGeom>
        </p:spPr>
      </p:pic>
      <p:sp>
        <p:nvSpPr>
          <p:cNvPr id="24" name="Text 16"/>
          <p:cNvSpPr txBox="1"/>
          <p:nvPr/>
        </p:nvSpPr>
        <p:spPr>
          <a:xfrm>
            <a:off x="1234440" y="5294376"/>
            <a:ext cx="4518508" cy="292608"/>
          </a:xfrm>
          <a:prstGeom prst="rect">
            <a:avLst/>
          </a:prstGeom>
          <a:noFill/>
          <a:ln/>
        </p:spPr>
        <p:txBody>
          <a:bodyPr wrap="square" lIns="0" tIns="0" rIns="0" bIns="0" rtlCol="0" anchor="ctr"/>
          <a:lstStyle/>
          <a:p>
            <a:pPr indent="0" marL="0">
              <a:buNone/>
            </a:pPr>
            <a:r>
              <a:rPr lang="en-US" sz="1100" dirty="0">
                <a:solidFill>
                  <a:schemeClr val="tx1"/>
                </a:solidFill>
              </a:rPr>
              <a:t>Lives with his daughter, who works days and lends him her smartphone</a:t>
            </a:r>
            <a:endParaRPr lang="en-US" sz="1100" dirty="0"/>
          </a:p>
        </p:txBody>
      </p:sp>
      <p:sp>
        <p:nvSpPr>
          <p:cNvPr id="25" name="Persona rule"/>
          <p:cNvSpPr/>
          <p:nvPr/>
        </p:nvSpPr>
        <p:spPr>
          <a:xfrm>
            <a:off x="822960" y="5641848"/>
            <a:ext cx="4929988" cy="0"/>
          </a:xfrm>
          <a:prstGeom prst="line">
            <a:avLst/>
          </a:prstGeom>
          <a:noFill/>
          <a:ln w="9525">
            <a:solidFill>
              <a:srgbClr val="E3EAE8"/>
            </a:solidFill>
            <a:prstDash val="solid"/>
          </a:ln>
        </p:spPr>
      </p:sp>
      <p:sp>
        <p:nvSpPr>
          <p:cNvPr id="26" name="Text 18"/>
          <p:cNvSpPr txBox="1"/>
          <p:nvPr/>
        </p:nvSpPr>
        <p:spPr>
          <a:xfrm>
            <a:off x="822960" y="5715000"/>
            <a:ext cx="3146908" cy="274320"/>
          </a:xfrm>
          <a:prstGeom prst="rect">
            <a:avLst/>
          </a:prstGeom>
          <a:noFill/>
          <a:ln/>
        </p:spPr>
        <p:txBody>
          <a:bodyPr wrap="square" lIns="0" tIns="0" rIns="0" bIns="0" rtlCol="0" anchor="ctr"/>
          <a:lstStyle/>
          <a:p>
            <a:pPr indent="0" marL="0">
              <a:buNone/>
            </a:pPr>
            <a:r>
              <a:rPr lang="en-US" sz="1050" dirty="0">
                <a:solidFill>
                  <a:schemeClr val="accent5"/>
                </a:solidFill>
              </a:rPr>
              <a:t>Device in this story: </a:t>
            </a:r>
            <a:pPr indent="0" marL="0">
              <a:buNone/>
            </a:pPr>
            <a:r>
              <a:rPr lang="en-US" sz="1050" b="1" dirty="0">
                <a:solidFill>
                  <a:schemeClr val="tx1"/>
                </a:solidFill>
              </a:rPr>
              <a:t>FoGO, freezing-of-gait wearable</a:t>
            </a:r>
            <a:endParaRPr lang="en-US" sz="1050" dirty="0"/>
          </a:p>
        </p:txBody>
      </p:sp>
      <p:sp>
        <p:nvSpPr>
          <p:cNvPr id="27" name="Pill Alpha prototype · MD-13"/>
          <p:cNvSpPr/>
          <p:nvPr/>
        </p:nvSpPr>
        <p:spPr>
          <a:xfrm>
            <a:off x="4015588" y="5715000"/>
            <a:ext cx="1737360" cy="256032"/>
          </a:xfrm>
          <a:prstGeom prst="roundRect">
            <a:avLst>
              <a:gd name="adj" fmla="val 50000"/>
            </a:avLst>
          </a:prstGeom>
          <a:solidFill>
            <a:schemeClr val="bg1"/>
          </a:solidFill>
          <a:ln w="15875">
            <a:solidFill>
              <a:schemeClr val="accent1"/>
            </a:solidFill>
            <a:prstDash val="solid"/>
          </a:ln>
        </p:spPr>
      </p:sp>
      <p:sp>
        <p:nvSpPr>
          <p:cNvPr id="28" name="Text 20"/>
          <p:cNvSpPr txBox="1"/>
          <p:nvPr/>
        </p:nvSpPr>
        <p:spPr>
          <a:xfrm>
            <a:off x="4015588" y="5715000"/>
            <a:ext cx="1737360" cy="256032"/>
          </a:xfrm>
          <a:prstGeom prst="rect">
            <a:avLst/>
          </a:prstGeom>
          <a:noFill/>
          <a:ln/>
        </p:spPr>
        <p:txBody>
          <a:bodyPr wrap="square" lIns="0" tIns="0" rIns="0" bIns="0" rtlCol="0" anchor="ctr"/>
          <a:lstStyle/>
          <a:p>
            <a:pPr algn="ctr" indent="0" marL="0">
              <a:buNone/>
            </a:pPr>
            <a:r>
              <a:rPr lang="en-US" sz="950" b="1" dirty="0">
                <a:solidFill>
                  <a:schemeClr val="accent1"/>
                </a:solidFill>
              </a:rPr>
              <a:t>Alpha prototype · MD-13</a:t>
            </a:r>
            <a:endParaRPr lang="en-US" sz="950" dirty="0"/>
          </a:p>
        </p:txBody>
      </p:sp>
      <p:sp>
        <p:nvSpPr>
          <p:cNvPr id="29" name="Persona Kamala"/>
          <p:cNvSpPr/>
          <p:nvPr/>
        </p:nvSpPr>
        <p:spPr>
          <a:xfrm>
            <a:off x="6210148" y="1874520"/>
            <a:ext cx="5432908" cy="4297680"/>
          </a:xfrm>
          <a:prstGeom prst="roundRect">
            <a:avLst>
              <a:gd name="adj" fmla="val 2979"/>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30" name="Persona accent Kamala"/>
          <p:cNvSpPr/>
          <p:nvPr/>
        </p:nvSpPr>
        <p:spPr>
          <a:xfrm>
            <a:off x="6210148" y="2148840"/>
            <a:ext cx="64008" cy="3749040"/>
          </a:xfrm>
          <a:prstGeom prst="rect">
            <a:avLst/>
          </a:prstGeom>
          <a:solidFill>
            <a:schemeClr val="accent4"/>
          </a:solidFill>
          <a:ln/>
        </p:spPr>
      </p:sp>
      <p:pic>
        <p:nvPicPr>
          <p:cNvPr id="31" name="Image 5" descr="SwaKnee controller and knee applicator">    </p:cNvPr>
          <p:cNvPicPr>
            <a:picLocks noChangeAspect="1"/>
          </p:cNvPicPr>
          <p:nvPr/>
        </p:nvPicPr>
        <p:blipFill>
          <a:blip r:embed="rId6"/>
          <a:stretch>
            <a:fillRect/>
          </a:stretch>
        </p:blipFill>
        <p:spPr>
          <a:xfrm>
            <a:off x="6484468" y="2103120"/>
            <a:ext cx="1828800" cy="1828800"/>
          </a:xfrm>
          <a:prstGeom prst="rect">
            <a:avLst/>
          </a:prstGeom>
        </p:spPr>
      </p:pic>
      <p:sp>
        <p:nvSpPr>
          <p:cNvPr id="32" name="Text 23"/>
          <p:cNvSpPr txBox="1"/>
          <p:nvPr/>
        </p:nvSpPr>
        <p:spPr>
          <a:xfrm>
            <a:off x="8541868" y="2075688"/>
            <a:ext cx="2872588" cy="868680"/>
          </a:xfrm>
          <a:prstGeom prst="rect">
            <a:avLst/>
          </a:prstGeom>
          <a:noFill/>
          <a:ln/>
        </p:spPr>
        <p:txBody>
          <a:bodyPr wrap="square" lIns="0" tIns="0" rIns="0" bIns="0" rtlCol="0" anchor="t"/>
          <a:lstStyle/>
          <a:p>
            <a:pPr indent="0" marL="0">
              <a:buNone/>
            </a:pPr>
            <a:r>
              <a:rPr lang="en-US" sz="2200" b="1" dirty="0">
                <a:solidFill>
                  <a:schemeClr val="tx1"/>
                </a:solidFill>
              </a:rPr>
              <a:t>Kamala, 64</a:t>
            </a:r>
            <a:endParaRPr lang="en-US" sz="2200" dirty="0"/>
          </a:p>
          <a:p>
            <a:pPr indent="0" marL="0">
              <a:buNone/>
            </a:pPr>
            <a:r>
              <a:rPr lang="en-US" sz="1100" dirty="0">
                <a:solidFill>
                  <a:schemeClr val="tx2"/>
                </a:solidFill>
              </a:rPr>
              <a:t>Knee osteoarthritis in both knees</a:t>
            </a:r>
            <a:endParaRPr lang="en-US" sz="2200" dirty="0"/>
          </a:p>
        </p:txBody>
      </p:sp>
      <p:sp>
        <p:nvSpPr>
          <p:cNvPr id="33" name="Text 24"/>
          <p:cNvSpPr txBox="1"/>
          <p:nvPr/>
        </p:nvSpPr>
        <p:spPr>
          <a:xfrm>
            <a:off x="8541868" y="2944368"/>
            <a:ext cx="2872588" cy="457200"/>
          </a:xfrm>
          <a:prstGeom prst="rect">
            <a:avLst/>
          </a:prstGeom>
          <a:noFill/>
          <a:ln/>
        </p:spPr>
        <p:txBody>
          <a:bodyPr wrap="square" lIns="0" tIns="0" rIns="0" bIns="0" rtlCol="0" anchor="ctr"/>
          <a:lstStyle/>
          <a:p>
            <a:pPr indent="0" marL="0">
              <a:buNone/>
            </a:pPr>
            <a:r>
              <a:rPr lang="en-US" sz="2400" b="1" dirty="0">
                <a:solidFill>
                  <a:schemeClr val="accent4"/>
                </a:solidFill>
              </a:rPr>
              <a:t>28.7%</a:t>
            </a:r>
            <a:endParaRPr lang="en-US" sz="2400" dirty="0"/>
          </a:p>
        </p:txBody>
      </p:sp>
      <p:sp>
        <p:nvSpPr>
          <p:cNvPr id="34" name="Text 25"/>
          <p:cNvSpPr txBox="1"/>
          <p:nvPr/>
        </p:nvSpPr>
        <p:spPr>
          <a:xfrm>
            <a:off x="8541868" y="3410712"/>
            <a:ext cx="2872588" cy="566928"/>
          </a:xfrm>
          <a:prstGeom prst="rect">
            <a:avLst/>
          </a:prstGeom>
          <a:noFill/>
          <a:ln/>
        </p:spPr>
        <p:txBody>
          <a:bodyPr wrap="square" lIns="0" tIns="0" rIns="0" bIns="0" rtlCol="0" anchor="t"/>
          <a:lstStyle/>
          <a:p>
            <a:pPr indent="0" marL="0">
              <a:buNone/>
            </a:pPr>
            <a:r>
              <a:rPr lang="en-US" sz="1050" b="1" dirty="0">
                <a:solidFill>
                  <a:schemeClr val="tx1"/>
                </a:solidFill>
              </a:rPr>
              <a:t>knee osteoarthritis in a five-site community survey (n = 5,000)</a:t>
            </a:r>
            <a:endParaRPr lang="en-US" sz="1050" dirty="0"/>
          </a:p>
          <a:p>
            <a:pPr indent="0" marL="0">
              <a:buNone/>
            </a:pPr>
            <a:r>
              <a:rPr lang="en-US" sz="950" dirty="0">
                <a:solidFill>
                  <a:schemeClr val="accent5"/>
                </a:solidFill>
              </a:rPr>
              <a:t>Pal et al., Indian J Orthop 2016 (one study, not national)</a:t>
            </a:r>
            <a:endParaRPr lang="en-US" sz="1050" dirty="0"/>
          </a:p>
        </p:txBody>
      </p:sp>
      <p:sp>
        <p:nvSpPr>
          <p:cNvPr id="35" name="Icon disc LuBone"/>
          <p:cNvSpPr/>
          <p:nvPr/>
        </p:nvSpPr>
        <p:spPr>
          <a:xfrm>
            <a:off x="6484468" y="4142232"/>
            <a:ext cx="292608" cy="292608"/>
          </a:xfrm>
          <a:prstGeom prst="ellipse">
            <a:avLst/>
          </a:prstGeom>
          <a:solidFill>
            <a:schemeClr val="accent4">
              <a:alpha val="15000"/>
            </a:schemeClr>
          </a:solidFill>
          <a:ln/>
        </p:spPr>
      </p:sp>
      <p:pic>
        <p:nvPicPr>
          <p:cNvPr id="36" name="Image 6" descr="Bone icon">    </p:cNvPr>
          <p:cNvPicPr>
            <a:picLocks noChangeAspect="1"/>
          </p:cNvPicPr>
          <p:nvPr/>
        </p:nvPicPr>
        <p:blipFill>
          <a:blip r:embed="rId7"/>
          <a:stretch>
            <a:fillRect/>
          </a:stretch>
        </p:blipFill>
        <p:spPr>
          <a:xfrm>
            <a:off x="6548841" y="4206606"/>
            <a:ext cx="163860" cy="163860"/>
          </a:xfrm>
          <a:prstGeom prst="rect">
            <a:avLst/>
          </a:prstGeom>
        </p:spPr>
      </p:pic>
      <p:sp>
        <p:nvSpPr>
          <p:cNvPr id="37" name="Text 27"/>
          <p:cNvSpPr txBox="1"/>
          <p:nvPr/>
        </p:nvSpPr>
        <p:spPr>
          <a:xfrm>
            <a:off x="6895948" y="4142232"/>
            <a:ext cx="4518508" cy="292608"/>
          </a:xfrm>
          <a:prstGeom prst="rect">
            <a:avLst/>
          </a:prstGeom>
          <a:noFill/>
          <a:ln/>
        </p:spPr>
        <p:txBody>
          <a:bodyPr wrap="square" lIns="0" tIns="0" rIns="0" bIns="0" rtlCol="0" anchor="ctr"/>
          <a:lstStyle/>
          <a:p>
            <a:pPr indent="0" marL="0">
              <a:buNone/>
            </a:pPr>
            <a:r>
              <a:rPr lang="en-US" sz="1100" dirty="0">
                <a:solidFill>
                  <a:schemeClr val="tx1"/>
                </a:solidFill>
              </a:rPr>
              <a:t>Osteoarthritis in both knees</a:t>
            </a:r>
            <a:endParaRPr lang="en-US" sz="1100" dirty="0"/>
          </a:p>
        </p:txBody>
      </p:sp>
      <p:sp>
        <p:nvSpPr>
          <p:cNvPr id="38" name="Icon disc LuMapPin"/>
          <p:cNvSpPr/>
          <p:nvPr/>
        </p:nvSpPr>
        <p:spPr>
          <a:xfrm>
            <a:off x="6484468" y="4526280"/>
            <a:ext cx="292608" cy="292608"/>
          </a:xfrm>
          <a:prstGeom prst="ellipse">
            <a:avLst/>
          </a:prstGeom>
          <a:solidFill>
            <a:schemeClr val="accent4">
              <a:alpha val="15000"/>
            </a:schemeClr>
          </a:solidFill>
          <a:ln/>
        </p:spPr>
      </p:sp>
      <p:pic>
        <p:nvPicPr>
          <p:cNvPr id="39" name="Image 7" descr="MapPin icon">    </p:cNvPr>
          <p:cNvPicPr>
            <a:picLocks noChangeAspect="1"/>
          </p:cNvPicPr>
          <p:nvPr/>
        </p:nvPicPr>
        <p:blipFill>
          <a:blip r:embed="rId8"/>
          <a:stretch>
            <a:fillRect/>
          </a:stretch>
        </p:blipFill>
        <p:spPr>
          <a:xfrm>
            <a:off x="6548841" y="4590654"/>
            <a:ext cx="163860" cy="163860"/>
          </a:xfrm>
          <a:prstGeom prst="rect">
            <a:avLst/>
          </a:prstGeom>
        </p:spPr>
      </p:pic>
      <p:sp>
        <p:nvSpPr>
          <p:cNvPr id="40" name="Text 29"/>
          <p:cNvSpPr txBox="1"/>
          <p:nvPr/>
        </p:nvSpPr>
        <p:spPr>
          <a:xfrm>
            <a:off x="6895948" y="4526280"/>
            <a:ext cx="4518508" cy="292608"/>
          </a:xfrm>
          <a:prstGeom prst="rect">
            <a:avLst/>
          </a:prstGeom>
          <a:noFill/>
          <a:ln/>
        </p:spPr>
        <p:txBody>
          <a:bodyPr wrap="square" lIns="0" tIns="0" rIns="0" bIns="0" rtlCol="0" anchor="ctr"/>
          <a:lstStyle/>
          <a:p>
            <a:pPr indent="0" marL="0">
              <a:buNone/>
            </a:pPr>
            <a:r>
              <a:rPr lang="en-US" sz="1100" dirty="0">
                <a:solidFill>
                  <a:schemeClr val="tx1"/>
                </a:solidFill>
              </a:rPr>
              <a:t>Lives 30 km from the clinic at the district hospital</a:t>
            </a:r>
            <a:endParaRPr lang="en-US" sz="1100" dirty="0"/>
          </a:p>
        </p:txBody>
      </p:sp>
      <p:sp>
        <p:nvSpPr>
          <p:cNvPr id="41" name="Icon disc LuBus"/>
          <p:cNvSpPr/>
          <p:nvPr/>
        </p:nvSpPr>
        <p:spPr>
          <a:xfrm>
            <a:off x="6484468" y="4910328"/>
            <a:ext cx="292608" cy="292608"/>
          </a:xfrm>
          <a:prstGeom prst="ellipse">
            <a:avLst/>
          </a:prstGeom>
          <a:solidFill>
            <a:schemeClr val="accent4">
              <a:alpha val="15000"/>
            </a:schemeClr>
          </a:solidFill>
          <a:ln/>
        </p:spPr>
      </p:sp>
      <p:pic>
        <p:nvPicPr>
          <p:cNvPr id="42" name="Image 8" descr="Bus icon">    </p:cNvPr>
          <p:cNvPicPr>
            <a:picLocks noChangeAspect="1"/>
          </p:cNvPicPr>
          <p:nvPr/>
        </p:nvPicPr>
        <p:blipFill>
          <a:blip r:embed="rId9"/>
          <a:stretch>
            <a:fillRect/>
          </a:stretch>
        </p:blipFill>
        <p:spPr>
          <a:xfrm>
            <a:off x="6548841" y="4974702"/>
            <a:ext cx="163860" cy="163860"/>
          </a:xfrm>
          <a:prstGeom prst="rect">
            <a:avLst/>
          </a:prstGeom>
        </p:spPr>
      </p:pic>
      <p:sp>
        <p:nvSpPr>
          <p:cNvPr id="43" name="Text 31"/>
          <p:cNvSpPr txBox="1"/>
          <p:nvPr/>
        </p:nvSpPr>
        <p:spPr>
          <a:xfrm>
            <a:off x="6895948" y="4910328"/>
            <a:ext cx="4518508" cy="292608"/>
          </a:xfrm>
          <a:prstGeom prst="rect">
            <a:avLst/>
          </a:prstGeom>
          <a:noFill/>
          <a:ln/>
        </p:spPr>
        <p:txBody>
          <a:bodyPr wrap="square" lIns="0" tIns="0" rIns="0" bIns="0" rtlCol="0" anchor="ctr"/>
          <a:lstStyle/>
          <a:p>
            <a:pPr indent="0" marL="0">
              <a:buNone/>
            </a:pPr>
            <a:r>
              <a:rPr lang="en-US" sz="1100" dirty="0">
                <a:solidFill>
                  <a:schemeClr val="tx1"/>
                </a:solidFill>
              </a:rPr>
              <a:t>Travels by shared auto; someone must accompany her</a:t>
            </a:r>
            <a:endParaRPr lang="en-US" sz="1100" dirty="0"/>
          </a:p>
        </p:txBody>
      </p:sp>
      <p:sp>
        <p:nvSpPr>
          <p:cNvPr id="44" name="Icon disc LuWallet"/>
          <p:cNvSpPr/>
          <p:nvPr/>
        </p:nvSpPr>
        <p:spPr>
          <a:xfrm>
            <a:off x="6484468" y="5294376"/>
            <a:ext cx="292608" cy="292608"/>
          </a:xfrm>
          <a:prstGeom prst="ellipse">
            <a:avLst/>
          </a:prstGeom>
          <a:solidFill>
            <a:schemeClr val="accent4">
              <a:alpha val="15000"/>
            </a:schemeClr>
          </a:solidFill>
          <a:ln/>
        </p:spPr>
      </p:sp>
      <p:pic>
        <p:nvPicPr>
          <p:cNvPr id="45" name="Image 9" descr="Wallet icon">    </p:cNvPr>
          <p:cNvPicPr>
            <a:picLocks noChangeAspect="1"/>
          </p:cNvPicPr>
          <p:nvPr/>
        </p:nvPicPr>
        <p:blipFill>
          <a:blip r:embed="rId10"/>
          <a:stretch>
            <a:fillRect/>
          </a:stretch>
        </p:blipFill>
        <p:spPr>
          <a:xfrm>
            <a:off x="6548841" y="5358750"/>
            <a:ext cx="163860" cy="163860"/>
          </a:xfrm>
          <a:prstGeom prst="rect">
            <a:avLst/>
          </a:prstGeom>
        </p:spPr>
      </p:pic>
      <p:sp>
        <p:nvSpPr>
          <p:cNvPr id="46" name="Text 33"/>
          <p:cNvSpPr txBox="1"/>
          <p:nvPr/>
        </p:nvSpPr>
        <p:spPr>
          <a:xfrm>
            <a:off x="6895948" y="5294376"/>
            <a:ext cx="4518508" cy="292608"/>
          </a:xfrm>
          <a:prstGeom prst="rect">
            <a:avLst/>
          </a:prstGeom>
          <a:noFill/>
          <a:ln/>
        </p:spPr>
        <p:txBody>
          <a:bodyPr wrap="square" lIns="0" tIns="0" rIns="0" bIns="0" rtlCol="0" anchor="ctr"/>
          <a:lstStyle/>
          <a:p>
            <a:pPr indent="0" marL="0">
              <a:buNone/>
            </a:pPr>
            <a:r>
              <a:rPr lang="en-US" sz="1100" dirty="0">
                <a:solidFill>
                  <a:schemeClr val="tx1"/>
                </a:solidFill>
              </a:rPr>
              <a:t>Household pays out of pocket and loses wages on clinic days</a:t>
            </a:r>
            <a:endParaRPr lang="en-US" sz="1100" dirty="0"/>
          </a:p>
        </p:txBody>
      </p:sp>
      <p:sp>
        <p:nvSpPr>
          <p:cNvPr id="47" name="Persona rule"/>
          <p:cNvSpPr/>
          <p:nvPr/>
        </p:nvSpPr>
        <p:spPr>
          <a:xfrm>
            <a:off x="6484468" y="5641848"/>
            <a:ext cx="4929988" cy="0"/>
          </a:xfrm>
          <a:prstGeom prst="line">
            <a:avLst/>
          </a:prstGeom>
          <a:noFill/>
          <a:ln w="9525">
            <a:solidFill>
              <a:srgbClr val="E3EAE8"/>
            </a:solidFill>
            <a:prstDash val="solid"/>
          </a:ln>
        </p:spPr>
      </p:sp>
      <p:sp>
        <p:nvSpPr>
          <p:cNvPr id="48" name="Text 35"/>
          <p:cNvSpPr txBox="1"/>
          <p:nvPr/>
        </p:nvSpPr>
        <p:spPr>
          <a:xfrm>
            <a:off x="6484468" y="5715000"/>
            <a:ext cx="3146908" cy="274320"/>
          </a:xfrm>
          <a:prstGeom prst="rect">
            <a:avLst/>
          </a:prstGeom>
          <a:noFill/>
          <a:ln/>
        </p:spPr>
        <p:txBody>
          <a:bodyPr wrap="square" lIns="0" tIns="0" rIns="0" bIns="0" rtlCol="0" anchor="ctr"/>
          <a:lstStyle/>
          <a:p>
            <a:pPr indent="0" marL="0">
              <a:buNone/>
            </a:pPr>
            <a:r>
              <a:rPr lang="en-US" sz="1050" dirty="0">
                <a:solidFill>
                  <a:schemeClr val="accent5"/>
                </a:solidFill>
              </a:rPr>
              <a:t>Device in this story: </a:t>
            </a:r>
            <a:pPr indent="0" marL="0">
              <a:buNone/>
            </a:pPr>
            <a:r>
              <a:rPr lang="en-US" sz="1050" b="1" dirty="0">
                <a:solidFill>
                  <a:schemeClr val="tx1"/>
                </a:solidFill>
              </a:rPr>
              <a:t>SwaKnee, PEMF knee system</a:t>
            </a:r>
            <a:endParaRPr lang="en-US" sz="1050" dirty="0"/>
          </a:p>
        </p:txBody>
      </p:sp>
      <p:sp>
        <p:nvSpPr>
          <p:cNvPr id="49" name="Pill Product · 45-min daily sessions"/>
          <p:cNvSpPr/>
          <p:nvPr/>
        </p:nvSpPr>
        <p:spPr>
          <a:xfrm>
            <a:off x="9677095" y="5715000"/>
            <a:ext cx="1737360" cy="256032"/>
          </a:xfrm>
          <a:prstGeom prst="roundRect">
            <a:avLst>
              <a:gd name="adj" fmla="val 50000"/>
            </a:avLst>
          </a:prstGeom>
          <a:solidFill>
            <a:schemeClr val="bg1"/>
          </a:solidFill>
          <a:ln w="15875">
            <a:solidFill>
              <a:schemeClr val="accent4"/>
            </a:solidFill>
            <a:prstDash val="solid"/>
          </a:ln>
        </p:spPr>
      </p:sp>
      <p:sp>
        <p:nvSpPr>
          <p:cNvPr id="50" name="Text 37"/>
          <p:cNvSpPr txBox="1"/>
          <p:nvPr/>
        </p:nvSpPr>
        <p:spPr>
          <a:xfrm>
            <a:off x="9677095" y="5715000"/>
            <a:ext cx="1737360" cy="256032"/>
          </a:xfrm>
          <a:prstGeom prst="rect">
            <a:avLst/>
          </a:prstGeom>
          <a:noFill/>
          <a:ln/>
        </p:spPr>
        <p:txBody>
          <a:bodyPr wrap="square" lIns="0" tIns="0" rIns="0" bIns="0" rtlCol="0" anchor="ctr"/>
          <a:lstStyle/>
          <a:p>
            <a:pPr algn="ctr" indent="0" marL="0">
              <a:buNone/>
            </a:pPr>
            <a:r>
              <a:rPr lang="en-US" sz="950" b="1" dirty="0">
                <a:solidFill>
                  <a:schemeClr val="accent4"/>
                </a:solidFill>
              </a:rPr>
              <a:t>Product · 45-min daily sessions</a:t>
            </a: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THE JOURNEY</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Every stage answers a patient question</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ICMR 2017; MDR-2017 Forms MD-5/9/13/15/22/23; NDCT Rules 2019; ISO 14155; NPPA (PIB 2017; cap to 15 Nov 2026); IPC MvPI; CDSCO ASR alert 2013; Engineering Better Care 2017</a:t>
            </a:r>
            <a:endParaRPr lang="en-US" sz="950" dirty="0"/>
          </a:p>
        </p:txBody>
      </p:sp>
      <p:sp>
        <p:nvSpPr>
          <p:cNvPr id="6" name="Progress Need"/>
          <p:cNvSpPr/>
          <p:nvPr/>
        </p:nvSpPr>
        <p:spPr>
          <a:xfrm>
            <a:off x="9582912" y="393192"/>
            <a:ext cx="128016" cy="128016"/>
          </a:xfrm>
          <a:prstGeom prst="ellipse">
            <a:avLst/>
          </a:prstGeom>
          <a:solidFill>
            <a:schemeClr val="bg1"/>
          </a:solidFill>
          <a:ln w="12700">
            <a:solidFill>
              <a:schemeClr val="accent5"/>
            </a:solidFill>
            <a:prstDash val="solid"/>
          </a:ln>
        </p:spPr>
      </p:sp>
      <p:sp>
        <p:nvSpPr>
          <p:cNvPr id="7" name="Progress Evidence"/>
          <p:cNvSpPr/>
          <p:nvPr/>
        </p:nvSpPr>
        <p:spPr>
          <a:xfrm>
            <a:off x="9948672" y="393192"/>
            <a:ext cx="128016" cy="128016"/>
          </a:xfrm>
          <a:prstGeom prst="ellipse">
            <a:avLst/>
          </a:prstGeom>
          <a:solidFill>
            <a:schemeClr val="bg1"/>
          </a:solidFill>
          <a:ln w="12700">
            <a:solidFill>
              <a:schemeClr val="accent5"/>
            </a:solidFill>
            <a:prstDash val="solid"/>
          </a:ln>
        </p:spPr>
      </p:sp>
      <p:sp>
        <p:nvSpPr>
          <p:cNvPr id="8" name="Progress People"/>
          <p:cNvSpPr/>
          <p:nvPr/>
        </p:nvSpPr>
        <p:spPr>
          <a:xfrm>
            <a:off x="10314432" y="393192"/>
            <a:ext cx="128016" cy="128016"/>
          </a:xfrm>
          <a:prstGeom prst="ellipse">
            <a:avLst/>
          </a:prstGeom>
          <a:solidFill>
            <a:schemeClr val="bg1"/>
          </a:solidFill>
          <a:ln w="12700">
            <a:solidFill>
              <a:schemeClr val="accent5"/>
            </a:solidFill>
            <a:prstDash val="solid"/>
          </a:ln>
        </p:spPr>
      </p:sp>
      <p:sp>
        <p:nvSpPr>
          <p:cNvPr id="9" name="Progress Permission"/>
          <p:cNvSpPr/>
          <p:nvPr/>
        </p:nvSpPr>
        <p:spPr>
          <a:xfrm>
            <a:off x="10680192" y="393192"/>
            <a:ext cx="128016" cy="128016"/>
          </a:xfrm>
          <a:prstGeom prst="ellipse">
            <a:avLst/>
          </a:prstGeom>
          <a:solidFill>
            <a:schemeClr val="bg1"/>
          </a:solidFill>
          <a:ln w="12700">
            <a:solidFill>
              <a:schemeClr val="accent5"/>
            </a:solidFill>
            <a:prstDash val="solid"/>
          </a:ln>
        </p:spPr>
      </p:sp>
      <p:sp>
        <p:nvSpPr>
          <p:cNvPr id="10"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1"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Journey line"/>
          <p:cNvSpPr/>
          <p:nvPr/>
        </p:nvSpPr>
        <p:spPr>
          <a:xfrm>
            <a:off x="1473175" y="2834640"/>
            <a:ext cx="9245346" cy="0"/>
          </a:xfrm>
          <a:prstGeom prst="line">
            <a:avLst/>
          </a:prstGeom>
          <a:noFill/>
          <a:ln w="31750">
            <a:solidFill>
              <a:srgbClr val="C9D6D3"/>
            </a:solidFill>
            <a:prstDash val="solid"/>
          </a:ln>
        </p:spPr>
      </p:sp>
      <p:sp>
        <p:nvSpPr>
          <p:cNvPr id="13" name="Text 10"/>
          <p:cNvSpPr txBox="1"/>
          <p:nvPr/>
        </p:nvSpPr>
        <p:spPr>
          <a:xfrm>
            <a:off x="548640" y="1572768"/>
            <a:ext cx="1849069" cy="329184"/>
          </a:xfrm>
          <a:prstGeom prst="rect">
            <a:avLst/>
          </a:prstGeom>
          <a:noFill/>
          <a:ln/>
        </p:spPr>
        <p:txBody>
          <a:bodyPr wrap="square" lIns="0" tIns="0" rIns="0" bIns="0" rtlCol="0" anchor="t"/>
          <a:lstStyle/>
          <a:p>
            <a:pPr algn="ctr" indent="0" marL="0">
              <a:buNone/>
            </a:pPr>
            <a:r>
              <a:rPr lang="en-US" sz="1500" b="1" dirty="0">
                <a:solidFill>
                  <a:schemeClr val="accent1"/>
                </a:solidFill>
              </a:rPr>
              <a:t>Need</a:t>
            </a:r>
            <a:endParaRPr lang="en-US" sz="1500" dirty="0"/>
          </a:p>
        </p:txBody>
      </p:sp>
      <p:sp>
        <p:nvSpPr>
          <p:cNvPr id="14" name="Text 11"/>
          <p:cNvSpPr txBox="1"/>
          <p:nvPr/>
        </p:nvSpPr>
        <p:spPr>
          <a:xfrm>
            <a:off x="621792" y="1901952"/>
            <a:ext cx="1702765" cy="512064"/>
          </a:xfrm>
          <a:prstGeom prst="rect">
            <a:avLst/>
          </a:prstGeom>
          <a:noFill/>
          <a:ln/>
        </p:spPr>
        <p:txBody>
          <a:bodyPr wrap="square" lIns="0" tIns="0" rIns="0" bIns="0" rtlCol="0" anchor="t"/>
          <a:lstStyle/>
          <a:p>
            <a:pPr algn="ctr" indent="0" marL="0">
              <a:buNone/>
            </a:pPr>
            <a:r>
              <a:rPr lang="en-US" sz="1150" i="1" dirty="0">
                <a:solidFill>
                  <a:schemeClr val="tx2"/>
                </a:solidFill>
              </a:rPr>
              <a:t>“Will it help me?”</a:t>
            </a:r>
            <a:endParaRPr lang="en-US" sz="1150" dirty="0"/>
          </a:p>
        </p:txBody>
      </p:sp>
      <p:sp>
        <p:nvSpPr>
          <p:cNvPr id="15" name="Icon disc LuSearch"/>
          <p:cNvSpPr/>
          <p:nvPr/>
        </p:nvSpPr>
        <p:spPr>
          <a:xfrm>
            <a:off x="1116559" y="2478024"/>
            <a:ext cx="713232" cy="713232"/>
          </a:xfrm>
          <a:prstGeom prst="ellipse">
            <a:avLst/>
          </a:prstGeom>
          <a:solidFill>
            <a:schemeClr val="accent1"/>
          </a:solidFill>
          <a:ln w="25400">
            <a:solidFill>
              <a:schemeClr val="bg1"/>
            </a:solidFill>
            <a:prstDash val="solid"/>
          </a:ln>
        </p:spPr>
      </p:sp>
      <p:pic>
        <p:nvPicPr>
          <p:cNvPr id="16" name="Image 0" descr="Search icon">    </p:cNvPr>
          <p:cNvPicPr>
            <a:picLocks noChangeAspect="1"/>
          </p:cNvPicPr>
          <p:nvPr/>
        </p:nvPicPr>
        <p:blipFill>
          <a:blip r:embed="rId1"/>
          <a:stretch>
            <a:fillRect/>
          </a:stretch>
        </p:blipFill>
        <p:spPr>
          <a:xfrm>
            <a:off x="1273470" y="2634935"/>
            <a:ext cx="399410" cy="399410"/>
          </a:xfrm>
          <a:prstGeom prst="rect">
            <a:avLst/>
          </a:prstGeom>
        </p:spPr>
      </p:pic>
      <p:sp>
        <p:nvSpPr>
          <p:cNvPr id="17" name="Badge 1"/>
          <p:cNvSpPr/>
          <p:nvPr/>
        </p:nvSpPr>
        <p:spPr>
          <a:xfrm>
            <a:off x="1061695" y="2423160"/>
            <a:ext cx="274320" cy="274320"/>
          </a:xfrm>
          <a:prstGeom prst="ellipse">
            <a:avLst/>
          </a:prstGeom>
          <a:solidFill>
            <a:schemeClr val="accent2"/>
          </a:solidFill>
          <a:ln/>
        </p:spPr>
      </p:sp>
      <p:sp>
        <p:nvSpPr>
          <p:cNvPr id="18" name="Text 14"/>
          <p:cNvSpPr txBox="1"/>
          <p:nvPr/>
        </p:nvSpPr>
        <p:spPr>
          <a:xfrm>
            <a:off x="1061695" y="2423160"/>
            <a:ext cx="274320" cy="274320"/>
          </a:xfrm>
          <a:prstGeom prst="rect">
            <a:avLst/>
          </a:prstGeom>
          <a:noFill/>
          <a:ln/>
        </p:spPr>
        <p:txBody>
          <a:bodyPr wrap="square" lIns="0" tIns="0" rIns="0" bIns="0" rtlCol="0" anchor="ctr"/>
          <a:lstStyle/>
          <a:p>
            <a:pPr algn="ctr" indent="0" marL="0">
              <a:buNone/>
            </a:pPr>
            <a:r>
              <a:rPr lang="en-US" sz="1000" b="1" dirty="0">
                <a:solidFill>
                  <a:schemeClr val="tx2"/>
                </a:solidFill>
              </a:rPr>
              <a:t>1</a:t>
            </a:r>
            <a:endParaRPr lang="en-US" sz="1000" dirty="0"/>
          </a:p>
        </p:txBody>
      </p:sp>
      <p:sp>
        <p:nvSpPr>
          <p:cNvPr id="19" name="Pill Clinic · SIB at AIIMS"/>
          <p:cNvSpPr/>
          <p:nvPr/>
        </p:nvSpPr>
        <p:spPr>
          <a:xfrm>
            <a:off x="622783" y="3474720"/>
            <a:ext cx="1700784" cy="292608"/>
          </a:xfrm>
          <a:prstGeom prst="roundRect">
            <a:avLst>
              <a:gd name="adj" fmla="val 50000"/>
            </a:avLst>
          </a:prstGeom>
          <a:solidFill>
            <a:schemeClr val="accent1"/>
          </a:solidFill>
          <a:ln w="15875">
            <a:solidFill>
              <a:schemeClr val="accent1"/>
            </a:solidFill>
            <a:prstDash val="solid"/>
          </a:ln>
        </p:spPr>
      </p:sp>
      <p:sp>
        <p:nvSpPr>
          <p:cNvPr id="20" name="Text 16"/>
          <p:cNvSpPr txBox="1"/>
          <p:nvPr/>
        </p:nvSpPr>
        <p:spPr>
          <a:xfrm>
            <a:off x="622783" y="3474720"/>
            <a:ext cx="1700784" cy="292608"/>
          </a:xfrm>
          <a:prstGeom prst="rect">
            <a:avLst/>
          </a:prstGeom>
          <a:noFill/>
          <a:ln/>
        </p:spPr>
        <p:txBody>
          <a:bodyPr wrap="square" lIns="0" tIns="0" rIns="0" bIns="0" rtlCol="0" anchor="ctr"/>
          <a:lstStyle/>
          <a:p>
            <a:pPr algn="ctr" indent="0" marL="0">
              <a:buNone/>
            </a:pPr>
            <a:r>
              <a:rPr lang="en-US" sz="950" b="1" dirty="0">
                <a:solidFill>
                  <a:schemeClr val="bg1"/>
                </a:solidFill>
              </a:rPr>
              <a:t>Clinic · SIB at AIIMS</a:t>
            </a:r>
            <a:endParaRPr lang="en-US" sz="950" dirty="0"/>
          </a:p>
        </p:txBody>
      </p:sp>
      <p:sp>
        <p:nvSpPr>
          <p:cNvPr id="21" name="Text 17"/>
          <p:cNvSpPr txBox="1"/>
          <p:nvPr/>
        </p:nvSpPr>
        <p:spPr>
          <a:xfrm>
            <a:off x="622783" y="3858768"/>
            <a:ext cx="1700784" cy="1463040"/>
          </a:xfrm>
          <a:prstGeom prst="rect">
            <a:avLst/>
          </a:prstGeom>
          <a:noFill/>
          <a:ln/>
        </p:spPr>
        <p:txBody>
          <a:bodyPr wrap="square" lIns="0" tIns="0" rIns="0" bIns="0" rtlCol="0" anchor="t"/>
          <a:lstStyle/>
          <a:p>
            <a:pPr algn="l" indent="0" marL="0">
              <a:buNone/>
            </a:pPr>
            <a:r>
              <a:rPr lang="en-US" sz="1050" dirty="0">
                <a:solidFill>
                  <a:schemeClr val="tx1"/>
                </a:solidFill>
              </a:rPr>
              <a:t>Observe care, write a solution-neutral need, state the intended use and the claim. The School of International Biodesign (AIIMS, IIT Delhi) teaches the method in India.</a:t>
            </a:r>
            <a:endParaRPr lang="en-US" sz="1050" dirty="0"/>
          </a:p>
        </p:txBody>
      </p:sp>
      <p:sp>
        <p:nvSpPr>
          <p:cNvPr id="22" name="Text 18"/>
          <p:cNvSpPr txBox="1"/>
          <p:nvPr/>
        </p:nvSpPr>
        <p:spPr>
          <a:xfrm>
            <a:off x="2397709" y="1572768"/>
            <a:ext cx="1849069" cy="329184"/>
          </a:xfrm>
          <a:prstGeom prst="rect">
            <a:avLst/>
          </a:prstGeom>
          <a:noFill/>
          <a:ln/>
        </p:spPr>
        <p:txBody>
          <a:bodyPr wrap="square" lIns="0" tIns="0" rIns="0" bIns="0" rtlCol="0" anchor="t"/>
          <a:lstStyle/>
          <a:p>
            <a:pPr algn="ctr" indent="0" marL="0">
              <a:buNone/>
            </a:pPr>
            <a:r>
              <a:rPr lang="en-US" sz="1500" b="1" dirty="0">
                <a:solidFill>
                  <a:schemeClr val="accent4"/>
                </a:solidFill>
              </a:rPr>
              <a:t>Evidence</a:t>
            </a:r>
            <a:endParaRPr lang="en-US" sz="1500" dirty="0"/>
          </a:p>
        </p:txBody>
      </p:sp>
      <p:sp>
        <p:nvSpPr>
          <p:cNvPr id="23" name="Text 19"/>
          <p:cNvSpPr txBox="1"/>
          <p:nvPr/>
        </p:nvSpPr>
        <p:spPr>
          <a:xfrm>
            <a:off x="2470861" y="1901952"/>
            <a:ext cx="1702765" cy="512064"/>
          </a:xfrm>
          <a:prstGeom prst="rect">
            <a:avLst/>
          </a:prstGeom>
          <a:noFill/>
          <a:ln/>
        </p:spPr>
        <p:txBody>
          <a:bodyPr wrap="square" lIns="0" tIns="0" rIns="0" bIns="0" rtlCol="0" anchor="t"/>
          <a:lstStyle/>
          <a:p>
            <a:pPr algn="ctr" indent="0" marL="0">
              <a:buNone/>
            </a:pPr>
            <a:r>
              <a:rPr lang="en-US" sz="1150" i="1" dirty="0">
                <a:solidFill>
                  <a:schemeClr val="tx2"/>
                </a:solidFill>
              </a:rPr>
              <a:t>“Is there proof, for people like me?”</a:t>
            </a:r>
            <a:endParaRPr lang="en-US" sz="1150" dirty="0"/>
          </a:p>
        </p:txBody>
      </p:sp>
      <p:sp>
        <p:nvSpPr>
          <p:cNvPr id="24" name="Icon disc LuFlaskConical"/>
          <p:cNvSpPr/>
          <p:nvPr/>
        </p:nvSpPr>
        <p:spPr>
          <a:xfrm>
            <a:off x="2965628" y="2478024"/>
            <a:ext cx="713232" cy="713232"/>
          </a:xfrm>
          <a:prstGeom prst="ellipse">
            <a:avLst/>
          </a:prstGeom>
          <a:solidFill>
            <a:schemeClr val="accent4"/>
          </a:solidFill>
          <a:ln w="25400">
            <a:solidFill>
              <a:schemeClr val="bg1"/>
            </a:solidFill>
            <a:prstDash val="solid"/>
          </a:ln>
        </p:spPr>
      </p:sp>
      <p:pic>
        <p:nvPicPr>
          <p:cNvPr id="25" name="Image 1" descr="FlaskConical icon">    </p:cNvPr>
          <p:cNvPicPr>
            <a:picLocks noChangeAspect="1"/>
          </p:cNvPicPr>
          <p:nvPr/>
        </p:nvPicPr>
        <p:blipFill>
          <a:blip r:embed="rId2"/>
          <a:stretch>
            <a:fillRect/>
          </a:stretch>
        </p:blipFill>
        <p:spPr>
          <a:xfrm>
            <a:off x="3122539" y="2634935"/>
            <a:ext cx="399410" cy="399410"/>
          </a:xfrm>
          <a:prstGeom prst="rect">
            <a:avLst/>
          </a:prstGeom>
        </p:spPr>
      </p:pic>
      <p:sp>
        <p:nvSpPr>
          <p:cNvPr id="26" name="Badge 2"/>
          <p:cNvSpPr/>
          <p:nvPr/>
        </p:nvSpPr>
        <p:spPr>
          <a:xfrm>
            <a:off x="2910764" y="2423160"/>
            <a:ext cx="274320" cy="274320"/>
          </a:xfrm>
          <a:prstGeom prst="ellipse">
            <a:avLst/>
          </a:prstGeom>
          <a:solidFill>
            <a:schemeClr val="accent2"/>
          </a:solidFill>
          <a:ln/>
        </p:spPr>
      </p:sp>
      <p:sp>
        <p:nvSpPr>
          <p:cNvPr id="27" name="Text 22"/>
          <p:cNvSpPr txBox="1"/>
          <p:nvPr/>
        </p:nvSpPr>
        <p:spPr>
          <a:xfrm>
            <a:off x="2910764" y="2423160"/>
            <a:ext cx="274320" cy="274320"/>
          </a:xfrm>
          <a:prstGeom prst="rect">
            <a:avLst/>
          </a:prstGeom>
          <a:noFill/>
          <a:ln/>
        </p:spPr>
        <p:txBody>
          <a:bodyPr wrap="square" lIns="0" tIns="0" rIns="0" bIns="0" rtlCol="0" anchor="ctr"/>
          <a:lstStyle/>
          <a:p>
            <a:pPr algn="ctr" indent="0" marL="0">
              <a:buNone/>
            </a:pPr>
            <a:r>
              <a:rPr lang="en-US" sz="1000" b="1" dirty="0">
                <a:solidFill>
                  <a:schemeClr val="tx2"/>
                </a:solidFill>
              </a:rPr>
              <a:t>2</a:t>
            </a:r>
            <a:endParaRPr lang="en-US" sz="1000" dirty="0"/>
          </a:p>
        </p:txBody>
      </p:sp>
      <p:sp>
        <p:nvSpPr>
          <p:cNvPr id="28" name="Pill CDSCO · CTRI"/>
          <p:cNvSpPr/>
          <p:nvPr/>
        </p:nvSpPr>
        <p:spPr>
          <a:xfrm>
            <a:off x="2471852" y="3474720"/>
            <a:ext cx="1700784" cy="292608"/>
          </a:xfrm>
          <a:prstGeom prst="roundRect">
            <a:avLst>
              <a:gd name="adj" fmla="val 50000"/>
            </a:avLst>
          </a:prstGeom>
          <a:solidFill>
            <a:schemeClr val="accent4"/>
          </a:solidFill>
          <a:ln w="15875">
            <a:solidFill>
              <a:schemeClr val="accent4"/>
            </a:solidFill>
            <a:prstDash val="solid"/>
          </a:ln>
        </p:spPr>
      </p:sp>
      <p:sp>
        <p:nvSpPr>
          <p:cNvPr id="29" name="Text 24"/>
          <p:cNvSpPr txBox="1"/>
          <p:nvPr/>
        </p:nvSpPr>
        <p:spPr>
          <a:xfrm>
            <a:off x="2471852" y="3474720"/>
            <a:ext cx="1700784" cy="292608"/>
          </a:xfrm>
          <a:prstGeom prst="rect">
            <a:avLst/>
          </a:prstGeom>
          <a:noFill/>
          <a:ln/>
        </p:spPr>
        <p:txBody>
          <a:bodyPr wrap="square" lIns="0" tIns="0" rIns="0" bIns="0" rtlCol="0" anchor="ctr"/>
          <a:lstStyle/>
          <a:p>
            <a:pPr algn="ctr" indent="0" marL="0">
              <a:buNone/>
            </a:pPr>
            <a:r>
              <a:rPr lang="en-US" sz="950" b="1" dirty="0">
                <a:solidFill>
                  <a:schemeClr val="bg1"/>
                </a:solidFill>
              </a:rPr>
              <a:t>CDSCO · CTRI</a:t>
            </a:r>
            <a:endParaRPr lang="en-US" sz="950" dirty="0"/>
          </a:p>
        </p:txBody>
      </p:sp>
      <p:sp>
        <p:nvSpPr>
          <p:cNvPr id="30" name="Text 25"/>
          <p:cNvSpPr txBox="1"/>
          <p:nvPr/>
        </p:nvSpPr>
        <p:spPr>
          <a:xfrm>
            <a:off x="2471852" y="3858768"/>
            <a:ext cx="1700784" cy="1463040"/>
          </a:xfrm>
          <a:prstGeom prst="rect">
            <a:avLst/>
          </a:prstGeom>
          <a:noFill/>
          <a:ln/>
        </p:spPr>
        <p:txBody>
          <a:bodyPr wrap="square" lIns="0" tIns="0" rIns="0" bIns="0" rtlCol="0" anchor="t"/>
          <a:lstStyle/>
          <a:p>
            <a:pPr algn="l" indent="0" marL="0">
              <a:buNone/>
            </a:pPr>
            <a:r>
              <a:rPr lang="en-US" sz="1050" dirty="0">
                <a:solidFill>
                  <a:schemeClr val="tx1"/>
                </a:solidFill>
              </a:rPr>
              <a:t>Clinical investigation permission MD-22 → MD-23 (Seventh Schedule documents); prospective CTRI registration; ISO 14155 good clinical practice.</a:t>
            </a:r>
            <a:endParaRPr lang="en-US" sz="1050" dirty="0"/>
          </a:p>
        </p:txBody>
      </p:sp>
      <p:sp>
        <p:nvSpPr>
          <p:cNvPr id="31" name="Text 26"/>
          <p:cNvSpPr txBox="1"/>
          <p:nvPr/>
        </p:nvSpPr>
        <p:spPr>
          <a:xfrm>
            <a:off x="4246778" y="1572768"/>
            <a:ext cx="1849069" cy="329184"/>
          </a:xfrm>
          <a:prstGeom prst="rect">
            <a:avLst/>
          </a:prstGeom>
          <a:noFill/>
          <a:ln/>
        </p:spPr>
        <p:txBody>
          <a:bodyPr wrap="square" lIns="0" tIns="0" rIns="0" bIns="0" rtlCol="0" anchor="t"/>
          <a:lstStyle/>
          <a:p>
            <a:pPr algn="ctr" indent="0" marL="0">
              <a:buNone/>
            </a:pPr>
            <a:r>
              <a:rPr lang="en-US" sz="1500" b="1" dirty="0">
                <a:solidFill>
                  <a:schemeClr val="accent2"/>
                </a:solidFill>
              </a:rPr>
              <a:t>People</a:t>
            </a:r>
            <a:endParaRPr lang="en-US" sz="1500" dirty="0"/>
          </a:p>
        </p:txBody>
      </p:sp>
      <p:sp>
        <p:nvSpPr>
          <p:cNvPr id="32" name="Text 27"/>
          <p:cNvSpPr txBox="1"/>
          <p:nvPr/>
        </p:nvSpPr>
        <p:spPr>
          <a:xfrm>
            <a:off x="4319930" y="1901952"/>
            <a:ext cx="1702765" cy="512064"/>
          </a:xfrm>
          <a:prstGeom prst="rect">
            <a:avLst/>
          </a:prstGeom>
          <a:noFill/>
          <a:ln/>
        </p:spPr>
        <p:txBody>
          <a:bodyPr wrap="square" lIns="0" tIns="0" rIns="0" bIns="0" rtlCol="0" anchor="t"/>
          <a:lstStyle/>
          <a:p>
            <a:pPr algn="ctr" indent="0" marL="0">
              <a:buNone/>
            </a:pPr>
            <a:r>
              <a:rPr lang="en-US" sz="1150" i="1" dirty="0">
                <a:solidFill>
                  <a:schemeClr val="tx2"/>
                </a:solidFill>
              </a:rPr>
              <a:t>“Can I freely say no?”</a:t>
            </a:r>
            <a:endParaRPr lang="en-US" sz="1150" dirty="0"/>
          </a:p>
        </p:txBody>
      </p:sp>
      <p:sp>
        <p:nvSpPr>
          <p:cNvPr id="33" name="Icon disc LuUsers"/>
          <p:cNvSpPr/>
          <p:nvPr/>
        </p:nvSpPr>
        <p:spPr>
          <a:xfrm>
            <a:off x="4814697" y="2478024"/>
            <a:ext cx="713232" cy="713232"/>
          </a:xfrm>
          <a:prstGeom prst="ellipse">
            <a:avLst/>
          </a:prstGeom>
          <a:solidFill>
            <a:schemeClr val="accent2"/>
          </a:solidFill>
          <a:ln w="25400">
            <a:solidFill>
              <a:schemeClr val="bg1"/>
            </a:solidFill>
            <a:prstDash val="solid"/>
          </a:ln>
        </p:spPr>
      </p:sp>
      <p:pic>
        <p:nvPicPr>
          <p:cNvPr id="34" name="Image 2" descr="Users icon">    </p:cNvPr>
          <p:cNvPicPr>
            <a:picLocks noChangeAspect="1"/>
          </p:cNvPicPr>
          <p:nvPr/>
        </p:nvPicPr>
        <p:blipFill>
          <a:blip r:embed="rId3"/>
          <a:stretch>
            <a:fillRect/>
          </a:stretch>
        </p:blipFill>
        <p:spPr>
          <a:xfrm>
            <a:off x="4971608" y="2634935"/>
            <a:ext cx="399410" cy="399410"/>
          </a:xfrm>
          <a:prstGeom prst="rect">
            <a:avLst/>
          </a:prstGeom>
        </p:spPr>
      </p:pic>
      <p:sp>
        <p:nvSpPr>
          <p:cNvPr id="35" name="Badge 3"/>
          <p:cNvSpPr/>
          <p:nvPr/>
        </p:nvSpPr>
        <p:spPr>
          <a:xfrm>
            <a:off x="4759833" y="2423160"/>
            <a:ext cx="274320" cy="274320"/>
          </a:xfrm>
          <a:prstGeom prst="ellipse">
            <a:avLst/>
          </a:prstGeom>
          <a:solidFill>
            <a:schemeClr val="accent2"/>
          </a:solidFill>
          <a:ln/>
        </p:spPr>
      </p:sp>
      <p:sp>
        <p:nvSpPr>
          <p:cNvPr id="36" name="Text 30"/>
          <p:cNvSpPr txBox="1"/>
          <p:nvPr/>
        </p:nvSpPr>
        <p:spPr>
          <a:xfrm>
            <a:off x="4759833" y="2423160"/>
            <a:ext cx="274320" cy="274320"/>
          </a:xfrm>
          <a:prstGeom prst="rect">
            <a:avLst/>
          </a:prstGeom>
          <a:noFill/>
          <a:ln/>
        </p:spPr>
        <p:txBody>
          <a:bodyPr wrap="square" lIns="0" tIns="0" rIns="0" bIns="0" rtlCol="0" anchor="ctr"/>
          <a:lstStyle/>
          <a:p>
            <a:pPr algn="ctr" indent="0" marL="0">
              <a:buNone/>
            </a:pPr>
            <a:r>
              <a:rPr lang="en-US" sz="1000" b="1" dirty="0">
                <a:solidFill>
                  <a:schemeClr val="tx2"/>
                </a:solidFill>
              </a:rPr>
              <a:t>3</a:t>
            </a:r>
            <a:endParaRPr lang="en-US" sz="1000" dirty="0"/>
          </a:p>
        </p:txBody>
      </p:sp>
      <p:sp>
        <p:nvSpPr>
          <p:cNvPr id="37" name="Pill Ethics committee · ICMR"/>
          <p:cNvSpPr/>
          <p:nvPr/>
        </p:nvSpPr>
        <p:spPr>
          <a:xfrm>
            <a:off x="4320921" y="3474720"/>
            <a:ext cx="1700784" cy="292608"/>
          </a:xfrm>
          <a:prstGeom prst="roundRect">
            <a:avLst>
              <a:gd name="adj" fmla="val 50000"/>
            </a:avLst>
          </a:prstGeom>
          <a:solidFill>
            <a:schemeClr val="accent2"/>
          </a:solidFill>
          <a:ln w="15875">
            <a:solidFill>
              <a:schemeClr val="accent2"/>
            </a:solidFill>
            <a:prstDash val="solid"/>
          </a:ln>
        </p:spPr>
      </p:sp>
      <p:sp>
        <p:nvSpPr>
          <p:cNvPr id="38" name="Text 32"/>
          <p:cNvSpPr txBox="1"/>
          <p:nvPr/>
        </p:nvSpPr>
        <p:spPr>
          <a:xfrm>
            <a:off x="4320921" y="3474720"/>
            <a:ext cx="1700784" cy="292608"/>
          </a:xfrm>
          <a:prstGeom prst="rect">
            <a:avLst/>
          </a:prstGeom>
          <a:noFill/>
          <a:ln/>
        </p:spPr>
        <p:txBody>
          <a:bodyPr wrap="square" lIns="0" tIns="0" rIns="0" bIns="0" rtlCol="0" anchor="ctr"/>
          <a:lstStyle/>
          <a:p>
            <a:pPr algn="ctr" indent="0" marL="0">
              <a:buNone/>
            </a:pPr>
            <a:r>
              <a:rPr lang="en-US" sz="950" b="1" dirty="0">
                <a:solidFill>
                  <a:schemeClr val="bg1"/>
                </a:solidFill>
              </a:rPr>
              <a:t>Ethics committee · ICMR</a:t>
            </a:r>
            <a:endParaRPr lang="en-US" sz="950" dirty="0"/>
          </a:p>
        </p:txBody>
      </p:sp>
      <p:sp>
        <p:nvSpPr>
          <p:cNvPr id="39" name="Text 33"/>
          <p:cNvSpPr txBox="1"/>
          <p:nvPr/>
        </p:nvSpPr>
        <p:spPr>
          <a:xfrm>
            <a:off x="4320921" y="3858768"/>
            <a:ext cx="1700784" cy="1463040"/>
          </a:xfrm>
          <a:prstGeom prst="rect">
            <a:avLst/>
          </a:prstGeom>
          <a:noFill/>
          <a:ln/>
        </p:spPr>
        <p:txBody>
          <a:bodyPr wrap="square" lIns="0" tIns="0" rIns="0" bIns="0" rtlCol="0" anchor="t"/>
          <a:lstStyle/>
          <a:p>
            <a:pPr algn="l" indent="0" marL="0">
              <a:buNone/>
            </a:pPr>
            <a:r>
              <a:rPr lang="en-US" sz="1050" dirty="0">
                <a:solidFill>
                  <a:schemeClr val="tx1"/>
                </a:solidFill>
              </a:rPr>
              <a:t>Ethics committee registered under the NDCT Rules 2019; ICMR 2017 guidelines on consent (s.5), vulnerability (s.6) and device trials (s.7.7); interests disclosed.</a:t>
            </a:r>
            <a:endParaRPr lang="en-US" sz="1050" dirty="0"/>
          </a:p>
        </p:txBody>
      </p:sp>
      <p:sp>
        <p:nvSpPr>
          <p:cNvPr id="40" name="Text 34"/>
          <p:cNvSpPr txBox="1"/>
          <p:nvPr/>
        </p:nvSpPr>
        <p:spPr>
          <a:xfrm>
            <a:off x="6095848" y="1572768"/>
            <a:ext cx="1849069" cy="329184"/>
          </a:xfrm>
          <a:prstGeom prst="rect">
            <a:avLst/>
          </a:prstGeom>
          <a:noFill/>
          <a:ln/>
        </p:spPr>
        <p:txBody>
          <a:bodyPr wrap="square" lIns="0" tIns="0" rIns="0" bIns="0" rtlCol="0" anchor="t"/>
          <a:lstStyle/>
          <a:p>
            <a:pPr algn="ctr" indent="0" marL="0">
              <a:buNone/>
            </a:pPr>
            <a:r>
              <a:rPr lang="en-US" sz="1500" b="1" dirty="0">
                <a:solidFill>
                  <a:schemeClr val="accent4"/>
                </a:solidFill>
              </a:rPr>
              <a:t>Permission</a:t>
            </a:r>
            <a:endParaRPr lang="en-US" sz="1500" dirty="0"/>
          </a:p>
        </p:txBody>
      </p:sp>
      <p:sp>
        <p:nvSpPr>
          <p:cNvPr id="41" name="Text 35"/>
          <p:cNvSpPr txBox="1"/>
          <p:nvPr/>
        </p:nvSpPr>
        <p:spPr>
          <a:xfrm>
            <a:off x="6169000" y="1901952"/>
            <a:ext cx="1702765" cy="512064"/>
          </a:xfrm>
          <a:prstGeom prst="rect">
            <a:avLst/>
          </a:prstGeom>
          <a:noFill/>
          <a:ln/>
        </p:spPr>
        <p:txBody>
          <a:bodyPr wrap="square" lIns="0" tIns="0" rIns="0" bIns="0" rtlCol="0" anchor="t"/>
          <a:lstStyle/>
          <a:p>
            <a:pPr algn="ctr" indent="0" marL="0">
              <a:buNone/>
            </a:pPr>
            <a:r>
              <a:rPr lang="en-US" sz="1150" i="1" dirty="0">
                <a:solidFill>
                  <a:schemeClr val="tx2"/>
                </a:solidFill>
              </a:rPr>
              <a:t>“Is it allowed for this use?”</a:t>
            </a:r>
            <a:endParaRPr lang="en-US" sz="1150" dirty="0"/>
          </a:p>
        </p:txBody>
      </p:sp>
      <p:sp>
        <p:nvSpPr>
          <p:cNvPr id="42" name="Icon disc LuFileCheck"/>
          <p:cNvSpPr/>
          <p:nvPr/>
        </p:nvSpPr>
        <p:spPr>
          <a:xfrm>
            <a:off x="6663766" y="2478024"/>
            <a:ext cx="713232" cy="713232"/>
          </a:xfrm>
          <a:prstGeom prst="ellipse">
            <a:avLst/>
          </a:prstGeom>
          <a:solidFill>
            <a:schemeClr val="accent4"/>
          </a:solidFill>
          <a:ln w="25400">
            <a:solidFill>
              <a:schemeClr val="bg1"/>
            </a:solidFill>
            <a:prstDash val="solid"/>
          </a:ln>
        </p:spPr>
      </p:sp>
      <p:pic>
        <p:nvPicPr>
          <p:cNvPr id="43" name="Image 3" descr="FileCheck icon">    </p:cNvPr>
          <p:cNvPicPr>
            <a:picLocks noChangeAspect="1"/>
          </p:cNvPicPr>
          <p:nvPr/>
        </p:nvPicPr>
        <p:blipFill>
          <a:blip r:embed="rId4"/>
          <a:stretch>
            <a:fillRect/>
          </a:stretch>
        </p:blipFill>
        <p:spPr>
          <a:xfrm>
            <a:off x="6820677" y="2634935"/>
            <a:ext cx="399410" cy="399410"/>
          </a:xfrm>
          <a:prstGeom prst="rect">
            <a:avLst/>
          </a:prstGeom>
        </p:spPr>
      </p:pic>
      <p:sp>
        <p:nvSpPr>
          <p:cNvPr id="44" name="Badge 4"/>
          <p:cNvSpPr/>
          <p:nvPr/>
        </p:nvSpPr>
        <p:spPr>
          <a:xfrm>
            <a:off x="6608902" y="2423160"/>
            <a:ext cx="274320" cy="274320"/>
          </a:xfrm>
          <a:prstGeom prst="ellipse">
            <a:avLst/>
          </a:prstGeom>
          <a:solidFill>
            <a:schemeClr val="accent2"/>
          </a:solidFill>
          <a:ln/>
        </p:spPr>
      </p:sp>
      <p:sp>
        <p:nvSpPr>
          <p:cNvPr id="45" name="Text 38"/>
          <p:cNvSpPr txBox="1"/>
          <p:nvPr/>
        </p:nvSpPr>
        <p:spPr>
          <a:xfrm>
            <a:off x="6608902" y="2423160"/>
            <a:ext cx="274320" cy="274320"/>
          </a:xfrm>
          <a:prstGeom prst="rect">
            <a:avLst/>
          </a:prstGeom>
          <a:noFill/>
          <a:ln/>
        </p:spPr>
        <p:txBody>
          <a:bodyPr wrap="square" lIns="0" tIns="0" rIns="0" bIns="0" rtlCol="0" anchor="ctr"/>
          <a:lstStyle/>
          <a:p>
            <a:pPr algn="ctr" indent="0" marL="0">
              <a:buNone/>
            </a:pPr>
            <a:r>
              <a:rPr lang="en-US" sz="1000" b="1" dirty="0">
                <a:solidFill>
                  <a:schemeClr val="tx2"/>
                </a:solidFill>
              </a:rPr>
              <a:t>4</a:t>
            </a:r>
            <a:endParaRPr lang="en-US" sz="1000" dirty="0"/>
          </a:p>
        </p:txBody>
      </p:sp>
      <p:sp>
        <p:nvSpPr>
          <p:cNvPr id="46" name="Pill CDSCO · State licensing authority"/>
          <p:cNvSpPr/>
          <p:nvPr/>
        </p:nvSpPr>
        <p:spPr>
          <a:xfrm>
            <a:off x="6169990" y="3474720"/>
            <a:ext cx="1700784" cy="292608"/>
          </a:xfrm>
          <a:prstGeom prst="roundRect">
            <a:avLst>
              <a:gd name="adj" fmla="val 50000"/>
            </a:avLst>
          </a:prstGeom>
          <a:solidFill>
            <a:schemeClr val="accent4"/>
          </a:solidFill>
          <a:ln w="15875">
            <a:solidFill>
              <a:schemeClr val="accent4"/>
            </a:solidFill>
            <a:prstDash val="solid"/>
          </a:ln>
        </p:spPr>
      </p:sp>
      <p:sp>
        <p:nvSpPr>
          <p:cNvPr id="47" name="Text 40"/>
          <p:cNvSpPr txBox="1"/>
          <p:nvPr/>
        </p:nvSpPr>
        <p:spPr>
          <a:xfrm>
            <a:off x="6169990" y="3474720"/>
            <a:ext cx="1700784" cy="292608"/>
          </a:xfrm>
          <a:prstGeom prst="rect">
            <a:avLst/>
          </a:prstGeom>
          <a:noFill/>
          <a:ln/>
        </p:spPr>
        <p:txBody>
          <a:bodyPr wrap="square" lIns="0" tIns="0" rIns="0" bIns="0" rtlCol="0" anchor="ctr"/>
          <a:lstStyle/>
          <a:p>
            <a:pPr algn="ctr" indent="0" marL="0">
              <a:buNone/>
            </a:pPr>
            <a:r>
              <a:rPr lang="en-US" sz="950" b="1" dirty="0">
                <a:solidFill>
                  <a:schemeClr val="bg1"/>
                </a:solidFill>
              </a:rPr>
              <a:t>CDSCO · State licensing authority</a:t>
            </a:r>
            <a:endParaRPr lang="en-US" sz="950" dirty="0"/>
          </a:p>
        </p:txBody>
      </p:sp>
      <p:sp>
        <p:nvSpPr>
          <p:cNvPr id="48" name="Text 41"/>
          <p:cNvSpPr txBox="1"/>
          <p:nvPr/>
        </p:nvSpPr>
        <p:spPr>
          <a:xfrm>
            <a:off x="6169990" y="3858768"/>
            <a:ext cx="1700784" cy="1463040"/>
          </a:xfrm>
          <a:prstGeom prst="rect">
            <a:avLst/>
          </a:prstGeom>
          <a:noFill/>
          <a:ln/>
        </p:spPr>
        <p:txBody>
          <a:bodyPr wrap="square" lIns="0" tIns="0" rIns="0" bIns="0" rtlCol="0" anchor="t"/>
          <a:lstStyle/>
          <a:p>
            <a:pPr algn="l" indent="0" marL="0">
              <a:buNone/>
            </a:pPr>
            <a:r>
              <a:rPr lang="en-US" sz="1050" dirty="0">
                <a:solidFill>
                  <a:schemeClr val="tx1"/>
                </a:solidFill>
              </a:rPr>
              <a:t>Manufacturing licence MD-5 (Class A/B, State) or MD-9 (Class C/D, Central); test licence MD-13 for prototypes; import licence MD-15 for any class.</a:t>
            </a:r>
            <a:endParaRPr lang="en-US" sz="1050" dirty="0"/>
          </a:p>
        </p:txBody>
      </p:sp>
      <p:sp>
        <p:nvSpPr>
          <p:cNvPr id="49" name="Text 42"/>
          <p:cNvSpPr txBox="1"/>
          <p:nvPr/>
        </p:nvSpPr>
        <p:spPr>
          <a:xfrm>
            <a:off x="7944917" y="1572768"/>
            <a:ext cx="1849069" cy="329184"/>
          </a:xfrm>
          <a:prstGeom prst="rect">
            <a:avLst/>
          </a:prstGeom>
          <a:noFill/>
          <a:ln/>
        </p:spPr>
        <p:txBody>
          <a:bodyPr wrap="square" lIns="0" tIns="0" rIns="0" bIns="0" rtlCol="0" anchor="t"/>
          <a:lstStyle/>
          <a:p>
            <a:pPr algn="ctr" indent="0" marL="0">
              <a:buNone/>
            </a:pPr>
            <a:r>
              <a:rPr lang="en-US" sz="1500" b="1" dirty="0">
                <a:solidFill>
                  <a:schemeClr val="accent1"/>
                </a:solidFill>
              </a:rPr>
              <a:t>Access</a:t>
            </a:r>
            <a:endParaRPr lang="en-US" sz="1500" dirty="0"/>
          </a:p>
        </p:txBody>
      </p:sp>
      <p:sp>
        <p:nvSpPr>
          <p:cNvPr id="50" name="Text 43"/>
          <p:cNvSpPr txBox="1"/>
          <p:nvPr/>
        </p:nvSpPr>
        <p:spPr>
          <a:xfrm>
            <a:off x="8018069" y="1901952"/>
            <a:ext cx="1702765" cy="512064"/>
          </a:xfrm>
          <a:prstGeom prst="rect">
            <a:avLst/>
          </a:prstGeom>
          <a:noFill/>
          <a:ln/>
        </p:spPr>
        <p:txBody>
          <a:bodyPr wrap="square" lIns="0" tIns="0" rIns="0" bIns="0" rtlCol="0" anchor="t"/>
          <a:lstStyle/>
          <a:p>
            <a:pPr algn="ctr" indent="0" marL="0">
              <a:buNone/>
            </a:pPr>
            <a:r>
              <a:rPr lang="en-US" sz="1150" i="1" dirty="0">
                <a:solidFill>
                  <a:schemeClr val="tx2"/>
                </a:solidFill>
              </a:rPr>
              <a:t>“Can I afford it and keep using it?”</a:t>
            </a:r>
            <a:endParaRPr lang="en-US" sz="1150" dirty="0"/>
          </a:p>
        </p:txBody>
      </p:sp>
      <p:sp>
        <p:nvSpPr>
          <p:cNvPr id="51" name="Icon disc LuWallet"/>
          <p:cNvSpPr/>
          <p:nvPr/>
        </p:nvSpPr>
        <p:spPr>
          <a:xfrm>
            <a:off x="8512835" y="2478024"/>
            <a:ext cx="713232" cy="713232"/>
          </a:xfrm>
          <a:prstGeom prst="ellipse">
            <a:avLst/>
          </a:prstGeom>
          <a:solidFill>
            <a:schemeClr val="accent1"/>
          </a:solidFill>
          <a:ln w="25400">
            <a:solidFill>
              <a:schemeClr val="bg1"/>
            </a:solidFill>
            <a:prstDash val="solid"/>
          </a:ln>
        </p:spPr>
      </p:sp>
      <p:pic>
        <p:nvPicPr>
          <p:cNvPr id="52" name="Image 4" descr="Wallet icon">    </p:cNvPr>
          <p:cNvPicPr>
            <a:picLocks noChangeAspect="1"/>
          </p:cNvPicPr>
          <p:nvPr/>
        </p:nvPicPr>
        <p:blipFill>
          <a:blip r:embed="rId5"/>
          <a:stretch>
            <a:fillRect/>
          </a:stretch>
        </p:blipFill>
        <p:spPr>
          <a:xfrm>
            <a:off x="8669746" y="2634935"/>
            <a:ext cx="399410" cy="399410"/>
          </a:xfrm>
          <a:prstGeom prst="rect">
            <a:avLst/>
          </a:prstGeom>
        </p:spPr>
      </p:pic>
      <p:sp>
        <p:nvSpPr>
          <p:cNvPr id="53" name="Badge 5"/>
          <p:cNvSpPr/>
          <p:nvPr/>
        </p:nvSpPr>
        <p:spPr>
          <a:xfrm>
            <a:off x="8457971" y="2423160"/>
            <a:ext cx="274320" cy="274320"/>
          </a:xfrm>
          <a:prstGeom prst="ellipse">
            <a:avLst/>
          </a:prstGeom>
          <a:solidFill>
            <a:schemeClr val="accent2"/>
          </a:solidFill>
          <a:ln/>
        </p:spPr>
      </p:sp>
      <p:sp>
        <p:nvSpPr>
          <p:cNvPr id="54" name="Text 46"/>
          <p:cNvSpPr txBox="1"/>
          <p:nvPr/>
        </p:nvSpPr>
        <p:spPr>
          <a:xfrm>
            <a:off x="8457971" y="2423160"/>
            <a:ext cx="274320" cy="274320"/>
          </a:xfrm>
          <a:prstGeom prst="rect">
            <a:avLst/>
          </a:prstGeom>
          <a:noFill/>
          <a:ln/>
        </p:spPr>
        <p:txBody>
          <a:bodyPr wrap="square" lIns="0" tIns="0" rIns="0" bIns="0" rtlCol="0" anchor="ctr"/>
          <a:lstStyle/>
          <a:p>
            <a:pPr algn="ctr" indent="0" marL="0">
              <a:buNone/>
            </a:pPr>
            <a:r>
              <a:rPr lang="en-US" sz="1000" b="1" dirty="0">
                <a:solidFill>
                  <a:schemeClr val="tx2"/>
                </a:solidFill>
              </a:rPr>
              <a:t>5</a:t>
            </a:r>
            <a:endParaRPr lang="en-US" sz="1000" dirty="0"/>
          </a:p>
        </p:txBody>
      </p:sp>
      <p:sp>
        <p:nvSpPr>
          <p:cNvPr id="55" name="Pill NPPA · families"/>
          <p:cNvSpPr/>
          <p:nvPr/>
        </p:nvSpPr>
        <p:spPr>
          <a:xfrm>
            <a:off x="8019059" y="3474720"/>
            <a:ext cx="1700784" cy="292608"/>
          </a:xfrm>
          <a:prstGeom prst="roundRect">
            <a:avLst>
              <a:gd name="adj" fmla="val 50000"/>
            </a:avLst>
          </a:prstGeom>
          <a:solidFill>
            <a:schemeClr val="accent1"/>
          </a:solidFill>
          <a:ln w="15875">
            <a:solidFill>
              <a:schemeClr val="accent1"/>
            </a:solidFill>
            <a:prstDash val="solid"/>
          </a:ln>
        </p:spPr>
      </p:sp>
      <p:sp>
        <p:nvSpPr>
          <p:cNvPr id="56" name="Text 48"/>
          <p:cNvSpPr txBox="1"/>
          <p:nvPr/>
        </p:nvSpPr>
        <p:spPr>
          <a:xfrm>
            <a:off x="8019059" y="3474720"/>
            <a:ext cx="1700784" cy="292608"/>
          </a:xfrm>
          <a:prstGeom prst="rect">
            <a:avLst/>
          </a:prstGeom>
          <a:noFill/>
          <a:ln/>
        </p:spPr>
        <p:txBody>
          <a:bodyPr wrap="square" lIns="0" tIns="0" rIns="0" bIns="0" rtlCol="0" anchor="ctr"/>
          <a:lstStyle/>
          <a:p>
            <a:pPr algn="ctr" indent="0" marL="0">
              <a:buNone/>
            </a:pPr>
            <a:r>
              <a:rPr lang="en-US" sz="950" b="1" dirty="0">
                <a:solidFill>
                  <a:schemeClr val="bg1"/>
                </a:solidFill>
              </a:rPr>
              <a:t>NPPA · families</a:t>
            </a:r>
            <a:endParaRPr lang="en-US" sz="950" dirty="0"/>
          </a:p>
        </p:txBody>
      </p:sp>
      <p:sp>
        <p:nvSpPr>
          <p:cNvPr id="57" name="Text 49"/>
          <p:cNvSpPr txBox="1"/>
          <p:nvPr/>
        </p:nvSpPr>
        <p:spPr>
          <a:xfrm>
            <a:off x="8019059" y="3858768"/>
            <a:ext cx="1700784" cy="1463040"/>
          </a:xfrm>
          <a:prstGeom prst="rect">
            <a:avLst/>
          </a:prstGeom>
          <a:noFill/>
          <a:ln/>
        </p:spPr>
        <p:txBody>
          <a:bodyPr wrap="square" lIns="0" tIns="0" rIns="0" bIns="0" rtlCol="0" anchor="t"/>
          <a:lstStyle/>
          <a:p>
            <a:pPr algn="l" indent="0" marL="0">
              <a:buNone/>
            </a:pPr>
            <a:r>
              <a:rPr lang="en-US" sz="1050" dirty="0">
                <a:solidFill>
                  <a:schemeClr val="tx1"/>
                </a:solidFill>
              </a:rPr>
              <a:t>DPCO 2013 ceiling prices: coronary stents (Feb 2017), knee implants (Aug 2017, cap continued to 15 Nov 2026); most outpatient devices are paid for out of pocket.</a:t>
            </a:r>
            <a:endParaRPr lang="en-US" sz="1050" dirty="0"/>
          </a:p>
        </p:txBody>
      </p:sp>
      <p:sp>
        <p:nvSpPr>
          <p:cNvPr id="58" name="Text 50"/>
          <p:cNvSpPr txBox="1"/>
          <p:nvPr/>
        </p:nvSpPr>
        <p:spPr>
          <a:xfrm>
            <a:off x="9793986" y="1572768"/>
            <a:ext cx="1849069" cy="329184"/>
          </a:xfrm>
          <a:prstGeom prst="rect">
            <a:avLst/>
          </a:prstGeom>
          <a:noFill/>
          <a:ln/>
        </p:spPr>
        <p:txBody>
          <a:bodyPr wrap="square" lIns="0" tIns="0" rIns="0" bIns="0" rtlCol="0" anchor="t"/>
          <a:lstStyle/>
          <a:p>
            <a:pPr algn="ctr" indent="0" marL="0">
              <a:buNone/>
            </a:pPr>
            <a:r>
              <a:rPr lang="en-US" sz="1500" b="1" dirty="0">
                <a:solidFill>
                  <a:schemeClr val="accent3"/>
                </a:solidFill>
              </a:rPr>
              <a:t>Safety</a:t>
            </a:r>
            <a:endParaRPr lang="en-US" sz="1500" dirty="0"/>
          </a:p>
        </p:txBody>
      </p:sp>
      <p:sp>
        <p:nvSpPr>
          <p:cNvPr id="59" name="Text 51"/>
          <p:cNvSpPr txBox="1"/>
          <p:nvPr/>
        </p:nvSpPr>
        <p:spPr>
          <a:xfrm>
            <a:off x="9867138" y="1901952"/>
            <a:ext cx="1702765" cy="512064"/>
          </a:xfrm>
          <a:prstGeom prst="rect">
            <a:avLst/>
          </a:prstGeom>
          <a:noFill/>
          <a:ln/>
        </p:spPr>
        <p:txBody>
          <a:bodyPr wrap="square" lIns="0" tIns="0" rIns="0" bIns="0" rtlCol="0" anchor="t"/>
          <a:lstStyle/>
          <a:p>
            <a:pPr algn="ctr" indent="0" marL="0">
              <a:buNone/>
            </a:pPr>
            <a:r>
              <a:rPr lang="en-US" sz="1150" i="1" dirty="0">
                <a:solidFill>
                  <a:schemeClr val="tx2"/>
                </a:solidFill>
              </a:rPr>
              <a:t>“Who answers if it fails?”</a:t>
            </a:r>
            <a:endParaRPr lang="en-US" sz="1150" dirty="0"/>
          </a:p>
        </p:txBody>
      </p:sp>
      <p:sp>
        <p:nvSpPr>
          <p:cNvPr id="60" name="Icon disc LuShieldCheck"/>
          <p:cNvSpPr/>
          <p:nvPr/>
        </p:nvSpPr>
        <p:spPr>
          <a:xfrm>
            <a:off x="10361905" y="2478024"/>
            <a:ext cx="713232" cy="713232"/>
          </a:xfrm>
          <a:prstGeom prst="ellipse">
            <a:avLst/>
          </a:prstGeom>
          <a:solidFill>
            <a:schemeClr val="accent3"/>
          </a:solidFill>
          <a:ln w="25400">
            <a:solidFill>
              <a:schemeClr val="bg1"/>
            </a:solidFill>
            <a:prstDash val="solid"/>
          </a:ln>
        </p:spPr>
      </p:sp>
      <p:pic>
        <p:nvPicPr>
          <p:cNvPr id="61" name="Image 5" descr="ShieldCheck icon">    </p:cNvPr>
          <p:cNvPicPr>
            <a:picLocks noChangeAspect="1"/>
          </p:cNvPicPr>
          <p:nvPr/>
        </p:nvPicPr>
        <p:blipFill>
          <a:blip r:embed="rId6"/>
          <a:stretch>
            <a:fillRect/>
          </a:stretch>
        </p:blipFill>
        <p:spPr>
          <a:xfrm>
            <a:off x="10518816" y="2634935"/>
            <a:ext cx="399410" cy="399410"/>
          </a:xfrm>
          <a:prstGeom prst="rect">
            <a:avLst/>
          </a:prstGeom>
        </p:spPr>
      </p:pic>
      <p:sp>
        <p:nvSpPr>
          <p:cNvPr id="62" name="Badge 6"/>
          <p:cNvSpPr/>
          <p:nvPr/>
        </p:nvSpPr>
        <p:spPr>
          <a:xfrm>
            <a:off x="10307041" y="2423160"/>
            <a:ext cx="274320" cy="274320"/>
          </a:xfrm>
          <a:prstGeom prst="ellipse">
            <a:avLst/>
          </a:prstGeom>
          <a:solidFill>
            <a:schemeClr val="accent2"/>
          </a:solidFill>
          <a:ln/>
        </p:spPr>
      </p:sp>
      <p:sp>
        <p:nvSpPr>
          <p:cNvPr id="63" name="Text 54"/>
          <p:cNvSpPr txBox="1"/>
          <p:nvPr/>
        </p:nvSpPr>
        <p:spPr>
          <a:xfrm>
            <a:off x="10307041" y="2423160"/>
            <a:ext cx="274320" cy="274320"/>
          </a:xfrm>
          <a:prstGeom prst="rect">
            <a:avLst/>
          </a:prstGeom>
          <a:noFill/>
          <a:ln/>
        </p:spPr>
        <p:txBody>
          <a:bodyPr wrap="square" lIns="0" tIns="0" rIns="0" bIns="0" rtlCol="0" anchor="ctr"/>
          <a:lstStyle/>
          <a:p>
            <a:pPr algn="ctr" indent="0" marL="0">
              <a:buNone/>
            </a:pPr>
            <a:r>
              <a:rPr lang="en-US" sz="1000" b="1" dirty="0">
                <a:solidFill>
                  <a:schemeClr val="tx2"/>
                </a:solidFill>
              </a:rPr>
              <a:t>6</a:t>
            </a:r>
            <a:endParaRPr lang="en-US" sz="1000" dirty="0"/>
          </a:p>
        </p:txBody>
      </p:sp>
      <p:sp>
        <p:nvSpPr>
          <p:cNvPr id="64" name="Pill MvPI at IPC · CDSCO"/>
          <p:cNvSpPr/>
          <p:nvPr/>
        </p:nvSpPr>
        <p:spPr>
          <a:xfrm>
            <a:off x="9868129" y="3474720"/>
            <a:ext cx="1700784" cy="292608"/>
          </a:xfrm>
          <a:prstGeom prst="roundRect">
            <a:avLst>
              <a:gd name="adj" fmla="val 50000"/>
            </a:avLst>
          </a:prstGeom>
          <a:solidFill>
            <a:schemeClr val="accent3"/>
          </a:solidFill>
          <a:ln w="15875">
            <a:solidFill>
              <a:schemeClr val="accent3"/>
            </a:solidFill>
            <a:prstDash val="solid"/>
          </a:ln>
        </p:spPr>
      </p:sp>
      <p:sp>
        <p:nvSpPr>
          <p:cNvPr id="65" name="Text 56"/>
          <p:cNvSpPr txBox="1"/>
          <p:nvPr/>
        </p:nvSpPr>
        <p:spPr>
          <a:xfrm>
            <a:off x="9868129" y="3474720"/>
            <a:ext cx="1700784" cy="292608"/>
          </a:xfrm>
          <a:prstGeom prst="rect">
            <a:avLst/>
          </a:prstGeom>
          <a:noFill/>
          <a:ln/>
        </p:spPr>
        <p:txBody>
          <a:bodyPr wrap="square" lIns="0" tIns="0" rIns="0" bIns="0" rtlCol="0" anchor="ctr"/>
          <a:lstStyle/>
          <a:p>
            <a:pPr algn="ctr" indent="0" marL="0">
              <a:buNone/>
            </a:pPr>
            <a:r>
              <a:rPr lang="en-US" sz="950" b="1" dirty="0">
                <a:solidFill>
                  <a:schemeClr val="bg1"/>
                </a:solidFill>
              </a:rPr>
              <a:t>MvPI at IPC · CDSCO</a:t>
            </a:r>
            <a:endParaRPr lang="en-US" sz="950" dirty="0"/>
          </a:p>
        </p:txBody>
      </p:sp>
      <p:sp>
        <p:nvSpPr>
          <p:cNvPr id="66" name="Text 57"/>
          <p:cNvSpPr txBox="1"/>
          <p:nvPr/>
        </p:nvSpPr>
        <p:spPr>
          <a:xfrm>
            <a:off x="9868129" y="3858768"/>
            <a:ext cx="1700784" cy="1463040"/>
          </a:xfrm>
          <a:prstGeom prst="rect">
            <a:avLst/>
          </a:prstGeom>
          <a:noFill/>
          <a:ln/>
        </p:spPr>
        <p:txBody>
          <a:bodyPr wrap="square" lIns="0" tIns="0" rIns="0" bIns="0" rtlCol="0" anchor="t"/>
          <a:lstStyle/>
          <a:p>
            <a:pPr algn="l" indent="0" marL="0">
              <a:buNone/>
            </a:pPr>
            <a:r>
              <a:rPr lang="en-US" sz="1050" dirty="0">
                <a:solidFill>
                  <a:schemeClr val="tx1"/>
                </a:solidFill>
              </a:rPr>
              <a:t>Adverse-event reporting since 6 Jul 2015 through 174 monitoring centres; CDSCO alerts, recalls and licence cancellation (DePuy ASR hip, 2013).</a:t>
            </a:r>
            <a:endParaRPr lang="en-US" sz="1050" dirty="0"/>
          </a:p>
        </p:txBody>
      </p:sp>
      <p:sp>
        <p:nvSpPr>
          <p:cNvPr id="67" name="Text 58"/>
          <p:cNvSpPr txBox="1"/>
          <p:nvPr/>
        </p:nvSpPr>
        <p:spPr>
          <a:xfrm>
            <a:off x="548640" y="3236976"/>
            <a:ext cx="11094415" cy="201168"/>
          </a:xfrm>
          <a:prstGeom prst="rect">
            <a:avLst/>
          </a:prstGeom>
          <a:noFill/>
          <a:ln/>
        </p:spPr>
        <p:txBody>
          <a:bodyPr wrap="square" lIns="0" tIns="0" rIns="0" bIns="0" rtlCol="0" anchor="t"/>
          <a:lstStyle/>
          <a:p>
            <a:pPr algn="ctr" indent="0" marL="0">
              <a:buNone/>
            </a:pPr>
            <a:r>
              <a:rPr lang="en-US" sz="900" b="1" spc="200" kern="0" dirty="0">
                <a:solidFill>
                  <a:schemeClr val="accent5"/>
                </a:solidFill>
              </a:rPr>
              <a:t>ANSWERED IN INDIA BY</a:t>
            </a:r>
            <a:endParaRPr lang="en-US" sz="900" dirty="0"/>
          </a:p>
        </p:txBody>
      </p:sp>
      <p:sp>
        <p:nvSpPr>
          <p:cNvPr id="68" name="Callout"/>
          <p:cNvSpPr/>
          <p:nvPr/>
        </p:nvSpPr>
        <p:spPr>
          <a:xfrm>
            <a:off x="548640" y="5486400"/>
            <a:ext cx="11094415" cy="566928"/>
          </a:xfrm>
          <a:prstGeom prst="roundRect">
            <a:avLst>
              <a:gd name="adj" fmla="val 12903"/>
            </a:avLst>
          </a:prstGeom>
          <a:solidFill>
            <a:schemeClr val="accent2">
              <a:alpha val="12000"/>
            </a:schemeClr>
          </a:solidFill>
          <a:ln/>
        </p:spPr>
      </p:sp>
      <p:sp>
        <p:nvSpPr>
          <p:cNvPr id="69" name="Callout bar"/>
          <p:cNvSpPr/>
          <p:nvPr/>
        </p:nvSpPr>
        <p:spPr>
          <a:xfrm>
            <a:off x="548640" y="5577840"/>
            <a:ext cx="64008" cy="384048"/>
          </a:xfrm>
          <a:prstGeom prst="rect">
            <a:avLst/>
          </a:prstGeom>
          <a:solidFill>
            <a:schemeClr val="accent2"/>
          </a:solidFill>
          <a:ln/>
        </p:spPr>
      </p:sp>
      <p:sp>
        <p:nvSpPr>
          <p:cNvPr id="70" name="Text 61"/>
          <p:cNvSpPr txBox="1"/>
          <p:nvPr/>
        </p:nvSpPr>
        <p:spPr>
          <a:xfrm>
            <a:off x="822960" y="5486400"/>
            <a:ext cx="10682935" cy="566928"/>
          </a:xfrm>
          <a:prstGeom prst="rect">
            <a:avLst/>
          </a:prstGeom>
          <a:noFill/>
          <a:ln/>
        </p:spPr>
        <p:txBody>
          <a:bodyPr wrap="square" lIns="0" tIns="0" rIns="0" bIns="0" rtlCol="0" anchor="ctr"/>
          <a:lstStyle/>
          <a:p>
            <a:pPr indent="0" marL="0">
              <a:buNone/>
            </a:pPr>
            <a:r>
              <a:rPr lang="en-US" sz="1200" dirty="0">
                <a:solidFill>
                  <a:schemeClr val="tx1"/>
                </a:solidFill>
              </a:rPr>
              <a:t>The six dots at the top of later slides show which stage we are in. Stages are not strictly sequential: Engineering Better Care's 'Sustain' phase means access and safety are designed in from the start, not added after launch.</a:t>
            </a:r>
            <a:endParaRPr lang="en-US" sz="12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103120"/>
            <a:ext cx="7315200" cy="292608"/>
          </a:xfrm>
          <a:prstGeom prst="rect">
            <a:avLst/>
          </a:prstGeom>
          <a:noFill/>
          <a:ln/>
        </p:spPr>
        <p:txBody>
          <a:bodyPr wrap="square" lIns="0" tIns="0" rIns="0" bIns="0" rtlCol="0" anchor="t"/>
          <a:lstStyle/>
          <a:p>
            <a:pPr algn="l" indent="0" marL="0">
              <a:buNone/>
            </a:pPr>
            <a:r>
              <a:rPr lang="en-US" sz="1300" b="1" spc="300" kern="0" dirty="0">
                <a:solidFill>
                  <a:schemeClr val="accent2"/>
                </a:solidFill>
              </a:rPr>
              <a:t>PART 1 · NEED AND EVIDENCE</a:t>
            </a:r>
            <a:endParaRPr lang="en-US" sz="1300" dirty="0"/>
          </a:p>
        </p:txBody>
      </p:sp>
      <p:sp>
        <p:nvSpPr>
          <p:cNvPr id="3" name="Text 0"/>
          <p:cNvSpPr/>
          <p:nvPr>
            <p:ph idx="101" type="title" hasCustomPrompt="1"/>
          </p:nvPr>
        </p:nvSpPr>
        <p:spPr>
          <a:xfrm>
            <a:off x="548640" y="2468880"/>
            <a:ext cx="7498080" cy="1463040"/>
          </a:xfrm>
          <a:prstGeom prst="rect">
            <a:avLst/>
          </a:prstGeom>
          <a:noFill/>
          <a:ln/>
        </p:spPr>
        <p:txBody>
          <a:bodyPr wrap="square" lIns="0" tIns="0" rIns="0" bIns="0" rtlCol="0" anchor="t"/>
          <a:lstStyle/>
          <a:p>
            <a:pPr algn="l" indent="0" marL="0">
              <a:buNone/>
            </a:pPr>
            <a:r>
              <a:rPr lang="en-US" sz="4200" b="1" dirty="0">
                <a:solidFill>
                  <a:schemeClr val="bg1"/>
                </a:solidFill>
              </a:rPr>
              <a:t>What are we promising, and what has been shown?</a:t>
            </a:r>
            <a:endParaRPr lang="en-US" sz="4200" dirty="0"/>
          </a:p>
        </p:txBody>
      </p:sp>
      <p:sp>
        <p:nvSpPr>
          <p:cNvPr id="5" name="Text 0"/>
          <p:cNvSpPr/>
          <p:nvPr>
            <p:ph idx="102" type="body" hasCustomPrompt="1"/>
          </p:nvPr>
        </p:nvSpPr>
        <p:spPr>
          <a:xfrm>
            <a:off x="548640" y="3977640"/>
            <a:ext cx="6949440" cy="914400"/>
          </a:xfrm>
          <a:prstGeom prst="rect">
            <a:avLst/>
          </a:prstGeom>
          <a:noFill/>
          <a:ln/>
        </p:spPr>
        <p:txBody>
          <a:bodyPr wrap="square" lIns="0" tIns="0" rIns="0" bIns="0" rtlCol="0" anchor="t"/>
          <a:lstStyle/>
          <a:p>
            <a:pPr algn="l" indent="0" marL="0">
              <a:buNone/>
            </a:pPr>
            <a:r>
              <a:rPr lang="en-US" sz="1700" dirty="0">
                <a:solidFill>
                  <a:schemeClr val="accent6"/>
                </a:solidFill>
              </a:rPr>
              <a:t>Two devices, two patients. First the wording of the need and the claim; then what each prototype has demonstrated, reported, planned or not yet established.</a:t>
            </a:r>
            <a:endParaRPr lang="en-US" sz="1700" dirty="0"/>
          </a:p>
        </p:txBody>
      </p:sp>
      <p:sp>
        <p:nvSpPr>
          <p:cNvPr id="6" name="Text 3"/>
          <p:cNvSpPr txBox="1"/>
          <p:nvPr/>
        </p:nvSpPr>
        <p:spPr>
          <a:xfrm>
            <a:off x="502920" y="502920"/>
            <a:ext cx="3657600" cy="1463040"/>
          </a:xfrm>
          <a:prstGeom prst="rect">
            <a:avLst/>
          </a:prstGeom>
          <a:noFill/>
          <a:ln/>
        </p:spPr>
        <p:txBody>
          <a:bodyPr wrap="square" lIns="0" tIns="0" rIns="0" bIns="0" rtlCol="0" anchor="t"/>
          <a:lstStyle/>
          <a:p>
            <a:pPr indent="0" marL="0">
              <a:buNone/>
            </a:pPr>
            <a:r>
              <a:rPr lang="en-US" sz="9600" b="1" dirty="0">
                <a:solidFill>
                  <a:schemeClr val="accent6">
                    <a:alpha val="30000"/>
                  </a:schemeClr>
                </a:solidFill>
                <a:latin typeface="Cambria" pitchFamily="34" charset="0"/>
                <a:ea typeface="Cambria" pitchFamily="34" charset="-122"/>
                <a:cs typeface="Cambria" pitchFamily="34" charset="-120"/>
              </a:rPr>
              <a:t>01</a:t>
            </a:r>
            <a:endParaRPr lang="en-US" sz="9600" dirty="0"/>
          </a:p>
        </p:txBody>
      </p:sp>
      <p:sp>
        <p:nvSpPr>
          <p:cNvPr id="7" name="Icon disc LuTarget"/>
          <p:cNvSpPr/>
          <p:nvPr/>
        </p:nvSpPr>
        <p:spPr>
          <a:xfrm>
            <a:off x="548640" y="5074920"/>
            <a:ext cx="329184" cy="329184"/>
          </a:xfrm>
          <a:prstGeom prst="ellipse">
            <a:avLst/>
          </a:prstGeom>
          <a:solidFill>
            <a:schemeClr val="accent2"/>
          </a:solidFill>
          <a:ln/>
        </p:spPr>
      </p:sp>
      <p:pic>
        <p:nvPicPr>
          <p:cNvPr id="8" name="Image 0" descr="Target icon">    </p:cNvPr>
          <p:cNvPicPr>
            <a:picLocks noChangeAspect="1"/>
          </p:cNvPicPr>
          <p:nvPr/>
        </p:nvPicPr>
        <p:blipFill>
          <a:blip r:embed="rId1"/>
          <a:stretch>
            <a:fillRect/>
          </a:stretch>
        </p:blipFill>
        <p:spPr>
          <a:xfrm>
            <a:off x="621060" y="5147340"/>
            <a:ext cx="184343" cy="184343"/>
          </a:xfrm>
          <a:prstGeom prst="rect">
            <a:avLst/>
          </a:prstGeom>
        </p:spPr>
      </p:pic>
      <p:sp>
        <p:nvSpPr>
          <p:cNvPr id="9" name="Text 5"/>
          <p:cNvSpPr txBox="1"/>
          <p:nvPr/>
        </p:nvSpPr>
        <p:spPr>
          <a:xfrm>
            <a:off x="1005840" y="5074920"/>
            <a:ext cx="6858000" cy="329184"/>
          </a:xfrm>
          <a:prstGeom prst="rect">
            <a:avLst/>
          </a:prstGeom>
          <a:noFill/>
          <a:ln/>
        </p:spPr>
        <p:txBody>
          <a:bodyPr wrap="square" lIns="0" tIns="0" rIns="0" bIns="0" rtlCol="0" anchor="ctr"/>
          <a:lstStyle/>
          <a:p>
            <a:pPr indent="0" marL="0">
              <a:buNone/>
            </a:pPr>
            <a:r>
              <a:rPr lang="en-US" sz="1300" dirty="0">
                <a:solidFill>
                  <a:schemeClr val="bg1"/>
                </a:solidFill>
              </a:rPr>
              <a:t>A solution-neutral need, and a claim ladder that sets the evidence bar</a:t>
            </a:r>
            <a:endParaRPr lang="en-US" sz="1300" dirty="0"/>
          </a:p>
        </p:txBody>
      </p:sp>
      <p:sp>
        <p:nvSpPr>
          <p:cNvPr id="10" name="Icon disc LuScanLine"/>
          <p:cNvSpPr/>
          <p:nvPr/>
        </p:nvSpPr>
        <p:spPr>
          <a:xfrm>
            <a:off x="548640" y="5532120"/>
            <a:ext cx="329184" cy="329184"/>
          </a:xfrm>
          <a:prstGeom prst="ellipse">
            <a:avLst/>
          </a:prstGeom>
          <a:solidFill>
            <a:schemeClr val="accent2"/>
          </a:solidFill>
          <a:ln/>
        </p:spPr>
      </p:sp>
      <p:pic>
        <p:nvPicPr>
          <p:cNvPr id="11" name="Image 1" descr="ScanLine icon">    </p:cNvPr>
          <p:cNvPicPr>
            <a:picLocks noChangeAspect="1"/>
          </p:cNvPicPr>
          <p:nvPr/>
        </p:nvPicPr>
        <p:blipFill>
          <a:blip r:embed="rId2"/>
          <a:stretch>
            <a:fillRect/>
          </a:stretch>
        </p:blipFill>
        <p:spPr>
          <a:xfrm>
            <a:off x="621060" y="5604540"/>
            <a:ext cx="184343" cy="184343"/>
          </a:xfrm>
          <a:prstGeom prst="rect">
            <a:avLst/>
          </a:prstGeom>
        </p:spPr>
      </p:pic>
      <p:sp>
        <p:nvSpPr>
          <p:cNvPr id="12" name="Text 7"/>
          <p:cNvSpPr txBox="1"/>
          <p:nvPr/>
        </p:nvSpPr>
        <p:spPr>
          <a:xfrm>
            <a:off x="1005840" y="5532120"/>
            <a:ext cx="6858000" cy="329184"/>
          </a:xfrm>
          <a:prstGeom prst="rect">
            <a:avLst/>
          </a:prstGeom>
          <a:noFill/>
          <a:ln/>
        </p:spPr>
        <p:txBody>
          <a:bodyPr wrap="square" lIns="0" tIns="0" rIns="0" bIns="0" rtlCol="0" anchor="ctr"/>
          <a:lstStyle/>
          <a:p>
            <a:pPr indent="0" marL="0">
              <a:buNone/>
            </a:pPr>
            <a:r>
              <a:rPr lang="en-US" sz="1300" dirty="0">
                <a:solidFill>
                  <a:schemeClr val="bg1"/>
                </a:solidFill>
              </a:rPr>
              <a:t>Is it a medical device in India? The intended purpose decides, not the technology</a:t>
            </a:r>
            <a:endParaRPr lang="en-US" sz="1300" dirty="0"/>
          </a:p>
        </p:txBody>
      </p:sp>
      <p:sp>
        <p:nvSpPr>
          <p:cNvPr id="13" name="Icon disc LuChartBar"/>
          <p:cNvSpPr/>
          <p:nvPr/>
        </p:nvSpPr>
        <p:spPr>
          <a:xfrm>
            <a:off x="548640" y="5989320"/>
            <a:ext cx="329184" cy="329184"/>
          </a:xfrm>
          <a:prstGeom prst="ellipse">
            <a:avLst/>
          </a:prstGeom>
          <a:solidFill>
            <a:schemeClr val="accent2"/>
          </a:solidFill>
          <a:ln/>
        </p:spPr>
      </p:sp>
      <p:pic>
        <p:nvPicPr>
          <p:cNvPr id="14" name="Image 2" descr="ChartBar icon">    </p:cNvPr>
          <p:cNvPicPr>
            <a:picLocks noChangeAspect="1"/>
          </p:cNvPicPr>
          <p:nvPr/>
        </p:nvPicPr>
        <p:blipFill>
          <a:blip r:embed="rId3"/>
          <a:stretch>
            <a:fillRect/>
          </a:stretch>
        </p:blipFill>
        <p:spPr>
          <a:xfrm>
            <a:off x="621060" y="6061740"/>
            <a:ext cx="184343" cy="184343"/>
          </a:xfrm>
          <a:prstGeom prst="rect">
            <a:avLst/>
          </a:prstGeom>
        </p:spPr>
      </p:pic>
      <p:sp>
        <p:nvSpPr>
          <p:cNvPr id="15" name="Text 9"/>
          <p:cNvSpPr txBox="1"/>
          <p:nvPr/>
        </p:nvSpPr>
        <p:spPr>
          <a:xfrm>
            <a:off x="1005840" y="5989320"/>
            <a:ext cx="6858000" cy="329184"/>
          </a:xfrm>
          <a:prstGeom prst="rect">
            <a:avLst/>
          </a:prstGeom>
          <a:noFill/>
          <a:ln/>
        </p:spPr>
        <p:txBody>
          <a:bodyPr wrap="square" lIns="0" tIns="0" rIns="0" bIns="0" rtlCol="0" anchor="ctr"/>
          <a:lstStyle/>
          <a:p>
            <a:pPr indent="0" marL="0">
              <a:buNone/>
            </a:pPr>
            <a:r>
              <a:rPr lang="en-US" sz="1300" dirty="0">
                <a:solidFill>
                  <a:schemeClr val="bg1"/>
                </a:solidFill>
              </a:rPr>
              <a:t>FoGO and SwaKnee on the evidence ladder, with a decision to vote on</a:t>
            </a:r>
            <a:endParaRPr lang="en-US" sz="1300" dirty="0"/>
          </a:p>
        </p:txBody>
      </p:sp>
      <p:pic>
        <p:nvPicPr>
          <p:cNvPr id="16" name="Image 3" descr="FoGO alpha prototype (V3, 2025): phone app, chest module on an adhesive patch, ankle module">    </p:cNvPr>
          <p:cNvPicPr>
            <a:picLocks noChangeAspect="1"/>
          </p:cNvPicPr>
          <p:nvPr/>
        </p:nvPicPr>
        <p:blipFill>
          <a:blip r:embed="rId4"/>
          <a:stretch>
            <a:fillRect/>
          </a:stretch>
        </p:blipFill>
        <p:spPr>
          <a:xfrm>
            <a:off x="8138160" y="1371600"/>
            <a:ext cx="3520440" cy="4114800"/>
          </a:xfrm>
          <a:prstGeom prst="rect">
            <a:avLst/>
          </a:prstGeom>
        </p:spPr>
      </p:pic>
      <p:sp>
        <p:nvSpPr>
          <p:cNvPr id="17" name="Text 10"/>
          <p:cNvSpPr txBox="1"/>
          <p:nvPr/>
        </p:nvSpPr>
        <p:spPr>
          <a:xfrm>
            <a:off x="8138160" y="5541264"/>
            <a:ext cx="3520440" cy="274320"/>
          </a:xfrm>
          <a:prstGeom prst="rect">
            <a:avLst/>
          </a:prstGeom>
          <a:noFill/>
          <a:ln/>
        </p:spPr>
        <p:txBody>
          <a:bodyPr wrap="square" lIns="0" tIns="0" rIns="0" bIns="0" rtlCol="0" anchor="t"/>
          <a:lstStyle/>
          <a:p>
            <a:pPr indent="0" marL="0">
              <a:buNone/>
            </a:pPr>
            <a:r>
              <a:rPr lang="en-US" sz="950" i="1" dirty="0">
                <a:solidFill>
                  <a:schemeClr val="accent6"/>
                </a:solidFill>
              </a:rPr>
              <a:t>FoGO alpha prototype (V3, 2025): phone app, chest module on an adhesive patch, ankle module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NEED · WORDING</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Wording sets the evidence bar</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Stanford Biodesign Need Statements (2022); MDR-2017; CDSCO MDSW guidance 21 Jul 2026; Forms MD-12/13, MD-22/23; UCMPMD 2024; DMRA 1954; Simon et al., JAMA 2022</a:t>
            </a:r>
            <a:endParaRPr lang="en-US" sz="950" dirty="0"/>
          </a:p>
        </p:txBody>
      </p:sp>
      <p:sp>
        <p:nvSpPr>
          <p:cNvPr id="5" name="Progress Need"/>
          <p:cNvSpPr/>
          <p:nvPr/>
        </p:nvSpPr>
        <p:spPr>
          <a:xfrm>
            <a:off x="9537192" y="347472"/>
            <a:ext cx="219456" cy="219456"/>
          </a:xfrm>
          <a:prstGeom prst="ellipse">
            <a:avLst/>
          </a:prstGeom>
          <a:solidFill>
            <a:schemeClr val="accent1"/>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bg1"/>
          </a:solidFill>
          <a:ln w="12700">
            <a:solidFill>
              <a:schemeClr val="accent5"/>
            </a:solidFill>
            <a:prstDash val="solid"/>
          </a:ln>
        </p:spPr>
      </p:sp>
      <p:sp>
        <p:nvSpPr>
          <p:cNvPr id="7" name="Progress People"/>
          <p:cNvSpPr/>
          <p:nvPr/>
        </p:nvSpPr>
        <p:spPr>
          <a:xfrm>
            <a:off x="10314432" y="393192"/>
            <a:ext cx="128016" cy="128016"/>
          </a:xfrm>
          <a:prstGeom prst="ellipse">
            <a:avLst/>
          </a:prstGeom>
          <a:solidFill>
            <a:schemeClr val="bg1"/>
          </a:solidFill>
          <a:ln w="12700">
            <a:solidFill>
              <a:schemeClr val="accent5"/>
            </a:solidFill>
            <a:prstDash val="solid"/>
          </a:ln>
        </p:spPr>
      </p:sp>
      <p:sp>
        <p:nvSpPr>
          <p:cNvPr id="8" name="Progress Permission"/>
          <p:cNvSpPr/>
          <p:nvPr/>
        </p:nvSpPr>
        <p:spPr>
          <a:xfrm>
            <a:off x="10680192" y="393192"/>
            <a:ext cx="128016" cy="128016"/>
          </a:xfrm>
          <a:prstGeom prst="ellipse">
            <a:avLst/>
          </a:prstGeom>
          <a:solidFill>
            <a:schemeClr val="bg1"/>
          </a:solidFill>
          <a:ln w="12700">
            <a:solidFill>
              <a:schemeClr val="accent5"/>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Need statement card"/>
          <p:cNvSpPr/>
          <p:nvPr/>
        </p:nvSpPr>
        <p:spPr>
          <a:xfrm>
            <a:off x="548640" y="1600200"/>
            <a:ext cx="4480560" cy="2651760"/>
          </a:xfrm>
          <a:prstGeom prst="roundRect">
            <a:avLst>
              <a:gd name="adj" fmla="val 4828"/>
            </a:avLst>
          </a:prstGeom>
          <a:solidFill>
            <a:schemeClr val="bg2"/>
          </a:solidFill>
          <a:ln/>
        </p:spPr>
      </p:sp>
      <p:sp>
        <p:nvSpPr>
          <p:cNvPr id="13" name="Icon disc LuTarget"/>
          <p:cNvSpPr/>
          <p:nvPr/>
        </p:nvSpPr>
        <p:spPr>
          <a:xfrm>
            <a:off x="731520" y="1783080"/>
            <a:ext cx="457200" cy="457200"/>
          </a:xfrm>
          <a:prstGeom prst="ellipse">
            <a:avLst/>
          </a:prstGeom>
          <a:solidFill>
            <a:schemeClr val="accent1"/>
          </a:solidFill>
          <a:ln/>
        </p:spPr>
      </p:sp>
      <p:pic>
        <p:nvPicPr>
          <p:cNvPr id="14" name="Image 0" descr="Target icon">    </p:cNvPr>
          <p:cNvPicPr>
            <a:picLocks noChangeAspect="1"/>
          </p:cNvPicPr>
          <p:nvPr/>
        </p:nvPicPr>
        <p:blipFill>
          <a:blip r:embed="rId1"/>
          <a:stretch>
            <a:fillRect/>
          </a:stretch>
        </p:blipFill>
        <p:spPr>
          <a:xfrm>
            <a:off x="832104" y="1883664"/>
            <a:ext cx="256032" cy="256032"/>
          </a:xfrm>
          <a:prstGeom prst="rect">
            <a:avLst/>
          </a:prstGeom>
        </p:spPr>
      </p:pic>
      <p:sp>
        <p:nvSpPr>
          <p:cNvPr id="15" name="Text 11"/>
          <p:cNvSpPr txBox="1"/>
          <p:nvPr/>
        </p:nvSpPr>
        <p:spPr>
          <a:xfrm>
            <a:off x="1325880" y="1783080"/>
            <a:ext cx="3566160" cy="457200"/>
          </a:xfrm>
          <a:prstGeom prst="rect">
            <a:avLst/>
          </a:prstGeom>
          <a:noFill/>
          <a:ln/>
        </p:spPr>
        <p:txBody>
          <a:bodyPr wrap="square" lIns="0" tIns="0" rIns="0" bIns="0" rtlCol="0" anchor="ctr"/>
          <a:lstStyle/>
          <a:p>
            <a:pPr indent="0" marL="0">
              <a:buNone/>
            </a:pPr>
            <a:r>
              <a:rPr lang="en-US" sz="1400" b="1" dirty="0">
                <a:solidFill>
                  <a:schemeClr val="tx1"/>
                </a:solidFill>
              </a:rPr>
              <a:t>Stanford Biodesign need statement</a:t>
            </a:r>
            <a:endParaRPr lang="en-US" sz="1400" dirty="0"/>
          </a:p>
        </p:txBody>
      </p:sp>
      <p:sp>
        <p:nvSpPr>
          <p:cNvPr id="16" name="Text 12"/>
          <p:cNvSpPr txBox="1"/>
          <p:nvPr/>
        </p:nvSpPr>
        <p:spPr>
          <a:xfrm>
            <a:off x="731520" y="2331720"/>
            <a:ext cx="4114800" cy="640080"/>
          </a:xfrm>
          <a:prstGeom prst="rect">
            <a:avLst/>
          </a:prstGeom>
          <a:noFill/>
          <a:ln/>
        </p:spPr>
        <p:txBody>
          <a:bodyPr wrap="square" lIns="0" tIns="0" rIns="0" bIns="0" rtlCol="0" anchor="t"/>
          <a:lstStyle/>
          <a:p>
            <a:pPr indent="0" marL="0">
              <a:buNone/>
            </a:pPr>
            <a:r>
              <a:rPr lang="en-US" sz="1250" dirty="0">
                <a:solidFill>
                  <a:schemeClr val="tx2"/>
                </a:solidFill>
              </a:rPr>
              <a:t>A way to </a:t>
            </a:r>
            <a:pPr indent="0" marL="0">
              <a:buNone/>
            </a:pPr>
            <a:r>
              <a:rPr lang="en-US" sz="1250" b="1" dirty="0">
                <a:solidFill>
                  <a:schemeClr val="accent4"/>
                </a:solidFill>
              </a:rPr>
              <a:t>[address the problem]</a:t>
            </a:r>
            <a:pPr indent="0" marL="0">
              <a:buNone/>
            </a:pPr>
            <a:r>
              <a:rPr lang="en-US" sz="1250" dirty="0">
                <a:solidFill>
                  <a:schemeClr val="tx2"/>
                </a:solidFill>
              </a:rPr>
              <a:t> in </a:t>
            </a:r>
            <a:pPr indent="0" marL="0">
              <a:buNone/>
            </a:pPr>
            <a:r>
              <a:rPr lang="en-US" sz="1250" b="1" dirty="0">
                <a:solidFill>
                  <a:schemeClr val="accent1"/>
                </a:solidFill>
              </a:rPr>
              <a:t>[a specific population]</a:t>
            </a:r>
            <a:pPr indent="0" marL="0">
              <a:buNone/>
            </a:pPr>
            <a:r>
              <a:rPr lang="en-US" sz="1250" dirty="0">
                <a:solidFill>
                  <a:schemeClr val="tx2"/>
                </a:solidFill>
              </a:rPr>
              <a:t> in order to </a:t>
            </a:r>
            <a:pPr indent="0" marL="0">
              <a:buNone/>
            </a:pPr>
            <a:r>
              <a:rPr lang="en-US" sz="1250" b="1" dirty="0">
                <a:solidFill>
                  <a:schemeClr val="accent2"/>
                </a:solidFill>
              </a:rPr>
              <a:t>[achieve a desired outcome]</a:t>
            </a:r>
            <a:endParaRPr lang="en-US" sz="1250" dirty="0"/>
          </a:p>
        </p:txBody>
      </p:sp>
      <p:sp>
        <p:nvSpPr>
          <p:cNvPr id="17" name="Text 13"/>
          <p:cNvSpPr txBox="1"/>
          <p:nvPr/>
        </p:nvSpPr>
        <p:spPr>
          <a:xfrm>
            <a:off x="731520" y="3017520"/>
            <a:ext cx="4114800" cy="868680"/>
          </a:xfrm>
          <a:prstGeom prst="rect">
            <a:avLst/>
          </a:prstGeom>
          <a:noFill/>
          <a:ln/>
        </p:spPr>
        <p:txBody>
          <a:bodyPr wrap="square" lIns="0" tIns="0" rIns="0" bIns="0" rtlCol="0" anchor="t"/>
          <a:lstStyle/>
          <a:p>
            <a:pPr indent="0" marL="0">
              <a:buNone/>
            </a:pPr>
            <a:r>
              <a:rPr lang="en-US" sz="1150" b="1" dirty="0">
                <a:solidFill>
                  <a:schemeClr val="tx1"/>
                </a:solidFill>
              </a:rPr>
              <a:t>Ramesh: </a:t>
            </a:r>
            <a:pPr indent="0" marL="0">
              <a:buNone/>
            </a:pPr>
            <a:r>
              <a:rPr lang="en-US" sz="1150" dirty="0">
                <a:solidFill>
                  <a:schemeClr val="tx1"/>
                </a:solidFill>
              </a:rPr>
              <a:t>a way to </a:t>
            </a:r>
            <a:pPr indent="0" marL="0">
              <a:buNone/>
            </a:pPr>
            <a:r>
              <a:rPr lang="en-US" sz="1150" b="1" dirty="0">
                <a:solidFill>
                  <a:schemeClr val="accent4"/>
                </a:solidFill>
              </a:rPr>
              <a:t>reduce freezing-related immobility and falls</a:t>
            </a:r>
            <a:pPr indent="0" marL="0">
              <a:buNone/>
            </a:pPr>
            <a:r>
              <a:rPr lang="en-US" sz="1150" dirty="0">
                <a:solidFill>
                  <a:schemeClr val="tx1"/>
                </a:solidFill>
              </a:rPr>
              <a:t> in </a:t>
            </a:r>
            <a:pPr indent="0" marL="0">
              <a:buNone/>
            </a:pPr>
            <a:r>
              <a:rPr lang="en-US" sz="1150" b="1" dirty="0">
                <a:solidFill>
                  <a:schemeClr val="accent1"/>
                </a:solidFill>
              </a:rPr>
              <a:t>people with Parkinson's disease living at home</a:t>
            </a:r>
            <a:pPr indent="0" marL="0">
              <a:buNone/>
            </a:pPr>
            <a:r>
              <a:rPr lang="en-US" sz="1150" dirty="0">
                <a:solidFill>
                  <a:schemeClr val="tx1"/>
                </a:solidFill>
              </a:rPr>
              <a:t>, in order to </a:t>
            </a:r>
            <a:pPr indent="0" marL="0">
              <a:buNone/>
            </a:pPr>
            <a:r>
              <a:rPr lang="en-US" sz="1150" b="1" dirty="0">
                <a:solidFill>
                  <a:schemeClr val="accent2"/>
                </a:solidFill>
              </a:rPr>
              <a:t>preserve safe, independent walking</a:t>
            </a:r>
            <a:pPr indent="0" marL="0">
              <a:buNone/>
            </a:pPr>
            <a:r>
              <a:rPr lang="en-US" sz="1150" dirty="0">
                <a:solidFill>
                  <a:schemeClr val="tx1"/>
                </a:solidFill>
              </a:rPr>
              <a:t>.</a:t>
            </a:r>
            <a:endParaRPr lang="en-US" sz="1150" dirty="0"/>
          </a:p>
        </p:txBody>
      </p:sp>
      <p:sp>
        <p:nvSpPr>
          <p:cNvPr id="18" name="Text 14"/>
          <p:cNvSpPr txBox="1"/>
          <p:nvPr/>
        </p:nvSpPr>
        <p:spPr>
          <a:xfrm>
            <a:off x="731520" y="3886200"/>
            <a:ext cx="4114800" cy="274320"/>
          </a:xfrm>
          <a:prstGeom prst="rect">
            <a:avLst/>
          </a:prstGeom>
          <a:noFill/>
          <a:ln/>
        </p:spPr>
        <p:txBody>
          <a:bodyPr wrap="square" lIns="0" tIns="0" rIns="0" bIns="0" rtlCol="0" anchor="t"/>
          <a:lstStyle/>
          <a:p>
            <a:pPr indent="0" marL="0">
              <a:buNone/>
            </a:pPr>
            <a:r>
              <a:rPr lang="en-US" sz="1050" i="1" dirty="0">
                <a:solidFill>
                  <a:schemeClr val="accent5"/>
                </a:solidFill>
              </a:rPr>
              <a:t>No sensor, no vibration, no app: the need stays solution-neutral.</a:t>
            </a:r>
            <a:endParaRPr lang="en-US" sz="1050" dirty="0"/>
          </a:p>
        </p:txBody>
      </p:sp>
      <p:sp>
        <p:nvSpPr>
          <p:cNvPr id="19" name="Callout"/>
          <p:cNvSpPr/>
          <p:nvPr/>
        </p:nvSpPr>
        <p:spPr>
          <a:xfrm>
            <a:off x="548640" y="4434840"/>
            <a:ext cx="4480560" cy="548640"/>
          </a:xfrm>
          <a:prstGeom prst="roundRect">
            <a:avLst>
              <a:gd name="adj" fmla="val 13333"/>
            </a:avLst>
          </a:prstGeom>
          <a:solidFill>
            <a:schemeClr val="accent2">
              <a:alpha val="12000"/>
            </a:schemeClr>
          </a:solidFill>
          <a:ln/>
        </p:spPr>
      </p:sp>
      <p:sp>
        <p:nvSpPr>
          <p:cNvPr id="20" name="Callout bar"/>
          <p:cNvSpPr/>
          <p:nvPr/>
        </p:nvSpPr>
        <p:spPr>
          <a:xfrm>
            <a:off x="548640" y="4526280"/>
            <a:ext cx="64008" cy="365760"/>
          </a:xfrm>
          <a:prstGeom prst="rect">
            <a:avLst/>
          </a:prstGeom>
          <a:solidFill>
            <a:schemeClr val="accent2"/>
          </a:solidFill>
          <a:ln/>
        </p:spPr>
      </p:sp>
      <p:sp>
        <p:nvSpPr>
          <p:cNvPr id="21" name="Text 17"/>
          <p:cNvSpPr txBox="1"/>
          <p:nvPr/>
        </p:nvSpPr>
        <p:spPr>
          <a:xfrm>
            <a:off x="822960" y="4434840"/>
            <a:ext cx="4069080" cy="548640"/>
          </a:xfrm>
          <a:prstGeom prst="rect">
            <a:avLst/>
          </a:prstGeom>
          <a:noFill/>
          <a:ln/>
        </p:spPr>
        <p:txBody>
          <a:bodyPr wrap="square" lIns="0" tIns="0" rIns="0" bIns="0" rtlCol="0" anchor="ctr"/>
          <a:lstStyle/>
          <a:p>
            <a:pPr indent="0" marL="0">
              <a:buNone/>
            </a:pPr>
            <a:r>
              <a:rPr lang="en-US" sz="1200" b="1" dirty="0">
                <a:solidFill>
                  <a:schemeClr val="tx1"/>
                </a:solidFill>
              </a:rPr>
              <a:t>Your turn (60 s): rewrite Kamala's need without naming any device.</a:t>
            </a:r>
            <a:endParaRPr lang="en-US" sz="1200" dirty="0"/>
          </a:p>
        </p:txBody>
      </p:sp>
      <p:sp>
        <p:nvSpPr>
          <p:cNvPr id="22" name="Why wording matters"/>
          <p:cNvSpPr/>
          <p:nvPr/>
        </p:nvSpPr>
        <p:spPr>
          <a:xfrm>
            <a:off x="548640" y="5166360"/>
            <a:ext cx="4480560" cy="960120"/>
          </a:xfrm>
          <a:prstGeom prst="roundRect">
            <a:avLst>
              <a:gd name="adj" fmla="val 13333"/>
            </a:avLst>
          </a:prstGeom>
          <a:solidFill>
            <a:schemeClr val="bg1"/>
          </a:solidFill>
          <a:ln w="9525">
            <a:solidFill>
              <a:srgbClr val="E3EAE8"/>
            </a:solidFill>
            <a:prstDash val="solid"/>
          </a:ln>
        </p:spPr>
      </p:sp>
      <p:sp>
        <p:nvSpPr>
          <p:cNvPr id="23" name="Icon disc LuGavel"/>
          <p:cNvSpPr/>
          <p:nvPr/>
        </p:nvSpPr>
        <p:spPr>
          <a:xfrm>
            <a:off x="713232" y="5330952"/>
            <a:ext cx="365760" cy="365760"/>
          </a:xfrm>
          <a:prstGeom prst="ellipse">
            <a:avLst/>
          </a:prstGeom>
          <a:solidFill>
            <a:schemeClr val="accent4">
              <a:alpha val="15000"/>
            </a:schemeClr>
          </a:solidFill>
          <a:ln/>
        </p:spPr>
      </p:sp>
      <p:pic>
        <p:nvPicPr>
          <p:cNvPr id="24" name="Image 1" descr="Gavel icon">    </p:cNvPr>
          <p:cNvPicPr>
            <a:picLocks noChangeAspect="1"/>
          </p:cNvPicPr>
          <p:nvPr/>
        </p:nvPicPr>
        <p:blipFill>
          <a:blip r:embed="rId2"/>
          <a:stretch>
            <a:fillRect/>
          </a:stretch>
        </p:blipFill>
        <p:spPr>
          <a:xfrm>
            <a:off x="793699" y="5411419"/>
            <a:ext cx="204826" cy="204826"/>
          </a:xfrm>
          <a:prstGeom prst="rect">
            <a:avLst/>
          </a:prstGeom>
        </p:spPr>
      </p:pic>
      <p:sp>
        <p:nvSpPr>
          <p:cNvPr id="25" name="Text 20"/>
          <p:cNvSpPr txBox="1"/>
          <p:nvPr/>
        </p:nvSpPr>
        <p:spPr>
          <a:xfrm>
            <a:off x="1188720" y="5230368"/>
            <a:ext cx="3703320" cy="868680"/>
          </a:xfrm>
          <a:prstGeom prst="rect">
            <a:avLst/>
          </a:prstGeom>
          <a:noFill/>
          <a:ln/>
        </p:spPr>
        <p:txBody>
          <a:bodyPr wrap="square" lIns="0" tIns="0" rIns="0" bIns="0" rtlCol="0" anchor="ctr"/>
          <a:lstStyle/>
          <a:p>
            <a:pPr indent="0" marL="0">
              <a:buNone/>
            </a:pPr>
            <a:r>
              <a:rPr lang="en-US" sz="950" b="1" dirty="0">
                <a:solidFill>
                  <a:schemeClr val="tx2"/>
                </a:solidFill>
              </a:rPr>
              <a:t>Why the words matter. </a:t>
            </a:r>
            <a:pPr indent="0" marL="0">
              <a:buNone/>
            </a:pPr>
            <a:r>
              <a:rPr lang="en-US" sz="950" dirty="0">
                <a:solidFill>
                  <a:schemeClr val="tx2"/>
                </a:solidFill>
              </a:rPr>
              <a:t>Under MDR-2017 the intended use and the claims decide whether a product is a medical device and which class (A–D) it falls in. CDSCO's software guidance (21 Jul 2026) grades risk by how far the output drives clinical decisions and how serious the condition is.</a:t>
            </a:r>
            <a:endParaRPr lang="en-US" sz="950" dirty="0"/>
          </a:p>
        </p:txBody>
      </p:sp>
      <p:sp>
        <p:nvSpPr>
          <p:cNvPr id="26" name="Claim rung INFORMATION"/>
          <p:cNvSpPr/>
          <p:nvPr/>
        </p:nvSpPr>
        <p:spPr>
          <a:xfrm>
            <a:off x="5303520" y="3154680"/>
            <a:ext cx="1515618" cy="2697480"/>
          </a:xfrm>
          <a:prstGeom prst="rect">
            <a:avLst/>
          </a:prstGeom>
          <a:solidFill>
            <a:schemeClr val="accent6"/>
          </a:solidFill>
          <a:ln/>
        </p:spPr>
      </p:sp>
      <p:sp>
        <p:nvSpPr>
          <p:cNvPr id="27" name="Text 22"/>
          <p:cNvSpPr txBox="1"/>
          <p:nvPr/>
        </p:nvSpPr>
        <p:spPr>
          <a:xfrm>
            <a:off x="5413248" y="3246120"/>
            <a:ext cx="1296162" cy="228600"/>
          </a:xfrm>
          <a:prstGeom prst="rect">
            <a:avLst/>
          </a:prstGeom>
          <a:noFill/>
          <a:ln/>
        </p:spPr>
        <p:txBody>
          <a:bodyPr wrap="square" lIns="0" tIns="0" rIns="0" bIns="0" rtlCol="0" anchor="t"/>
          <a:lstStyle/>
          <a:p>
            <a:pPr indent="0" marL="0">
              <a:buNone/>
            </a:pPr>
            <a:r>
              <a:rPr lang="en-US" sz="950" b="1" spc="100" kern="0" dirty="0">
                <a:solidFill>
                  <a:schemeClr val="tx2"/>
                </a:solidFill>
              </a:rPr>
              <a:t>INFORMATION</a:t>
            </a:r>
            <a:endParaRPr lang="en-US" sz="950" dirty="0"/>
          </a:p>
        </p:txBody>
      </p:sp>
      <p:sp>
        <p:nvSpPr>
          <p:cNvPr id="28" name="Text 23"/>
          <p:cNvSpPr txBox="1"/>
          <p:nvPr/>
        </p:nvSpPr>
        <p:spPr>
          <a:xfrm>
            <a:off x="5413248" y="3483864"/>
            <a:ext cx="1296162" cy="566928"/>
          </a:xfrm>
          <a:prstGeom prst="rect">
            <a:avLst/>
          </a:prstGeom>
          <a:noFill/>
          <a:ln/>
        </p:spPr>
        <p:txBody>
          <a:bodyPr wrap="square" lIns="0" tIns="0" rIns="0" bIns="0" rtlCol="0" anchor="t"/>
          <a:lstStyle/>
          <a:p>
            <a:pPr indent="0" marL="0">
              <a:buNone/>
            </a:pPr>
            <a:r>
              <a:rPr lang="en-US" sz="1150" b="1" i="1" dirty="0">
                <a:solidFill>
                  <a:schemeClr val="tx2"/>
                </a:solidFill>
              </a:rPr>
              <a:t>“Shows your walking patterns”</a:t>
            </a:r>
            <a:endParaRPr lang="en-US" sz="1150" dirty="0"/>
          </a:p>
        </p:txBody>
      </p:sp>
      <p:sp>
        <p:nvSpPr>
          <p:cNvPr id="29" name="Text 24"/>
          <p:cNvSpPr txBox="1"/>
          <p:nvPr/>
        </p:nvSpPr>
        <p:spPr>
          <a:xfrm>
            <a:off x="5394960" y="4087368"/>
            <a:ext cx="1332738" cy="1691640"/>
          </a:xfrm>
          <a:prstGeom prst="rect">
            <a:avLst/>
          </a:prstGeom>
          <a:noFill/>
          <a:ln/>
        </p:spPr>
        <p:txBody>
          <a:bodyPr wrap="square" lIns="0" tIns="0" rIns="0" bIns="0" rtlCol="0" anchor="t"/>
          <a:lstStyle/>
          <a:p>
            <a:pPr indent="0" marL="0">
              <a:spcAft>
                <a:spcPts val="200"/>
              </a:spcAft>
              <a:buNone/>
            </a:pPr>
            <a:r>
              <a:rPr lang="en-US" sz="950" b="1" dirty="0">
                <a:solidFill>
                  <a:schemeClr val="tx2"/>
                </a:solidFill>
              </a:rPr>
              <a:t>Evidence needed</a:t>
            </a:r>
            <a:endParaRPr lang="en-US" sz="950" dirty="0"/>
          </a:p>
          <a:p>
            <a:pPr marL="101600" indent="-101600">
              <a:spcAft>
                <a:spcPts val="200"/>
              </a:spcAft>
              <a:buSzPct val="100000"/>
              <a:buChar char="•"/>
            </a:pPr>
            <a:r>
              <a:rPr lang="en-US" sz="950" dirty="0">
                <a:solidFill>
                  <a:schemeClr val="tx2"/>
                </a:solidFill>
              </a:rPr>
              <a:t>Bench accuracy</a:t>
            </a:r>
            <a:endParaRPr lang="en-US" sz="950" dirty="0"/>
          </a:p>
          <a:p>
            <a:pPr marL="101600" indent="-101600">
              <a:spcAft>
                <a:spcPts val="200"/>
              </a:spcAft>
              <a:buSzPct val="100000"/>
              <a:buChar char="•"/>
            </a:pPr>
            <a:r>
              <a:rPr lang="en-US" sz="950" dirty="0">
                <a:solidFill>
                  <a:schemeClr val="tx2"/>
                </a:solidFill>
              </a:rPr>
              <a:t>Usability</a:t>
            </a:r>
            <a:endParaRPr lang="en-US" sz="950" dirty="0"/>
          </a:p>
          <a:p>
            <a:pPr indent="0" marL="0">
              <a:spcAft>
                <a:spcPts val="200"/>
              </a:spcAft>
              <a:buNone/>
            </a:pPr>
            <a:r>
              <a:rPr lang="en-US" sz="950" b="1" dirty="0">
                <a:solidFill>
                  <a:schemeClr val="tx2"/>
                </a:solidFill>
              </a:rPr>
              <a:t>Permission in India</a:t>
            </a:r>
            <a:endParaRPr lang="en-US" sz="950" dirty="0"/>
          </a:p>
          <a:p>
            <a:pPr marL="101600" indent="-101600">
              <a:spcAft>
                <a:spcPts val="200"/>
              </a:spcAft>
              <a:buSzPct val="100000"/>
              <a:buChar char="•"/>
            </a:pPr>
            <a:r>
              <a:rPr lang="en-US" sz="950" dirty="0">
                <a:solidFill>
                  <a:schemeClr val="tx2"/>
                </a:solidFill>
              </a:rPr>
              <a:t>No medical purpose: outside MDR-2017</a:t>
            </a:r>
            <a:endParaRPr lang="en-US" sz="950" dirty="0"/>
          </a:p>
          <a:p>
            <a:pPr marL="101600" indent="-101600">
              <a:spcAft>
                <a:spcPts val="200"/>
              </a:spcAft>
              <a:buSzPct val="100000"/>
              <a:buChar char="•"/>
            </a:pPr>
            <a:r>
              <a:rPr lang="en-US" sz="950" dirty="0">
                <a:solidFill>
                  <a:schemeClr val="tx2"/>
                </a:solidFill>
              </a:rPr>
              <a:t>Real purpose decides, not the label</a:t>
            </a:r>
            <a:endParaRPr lang="en-US" sz="950" dirty="0"/>
          </a:p>
        </p:txBody>
      </p:sp>
      <p:sp>
        <p:nvSpPr>
          <p:cNvPr id="30" name="Claim rung MONITORING"/>
          <p:cNvSpPr/>
          <p:nvPr/>
        </p:nvSpPr>
        <p:spPr>
          <a:xfrm>
            <a:off x="6910578" y="2624328"/>
            <a:ext cx="1515618" cy="3227832"/>
          </a:xfrm>
          <a:prstGeom prst="rect">
            <a:avLst/>
          </a:prstGeom>
          <a:solidFill>
            <a:schemeClr val="accent1"/>
          </a:solidFill>
          <a:ln/>
        </p:spPr>
      </p:sp>
      <p:sp>
        <p:nvSpPr>
          <p:cNvPr id="31" name="Text 26"/>
          <p:cNvSpPr txBox="1"/>
          <p:nvPr/>
        </p:nvSpPr>
        <p:spPr>
          <a:xfrm>
            <a:off x="7020306" y="2715768"/>
            <a:ext cx="1296162" cy="228600"/>
          </a:xfrm>
          <a:prstGeom prst="rect">
            <a:avLst/>
          </a:prstGeom>
          <a:noFill/>
          <a:ln/>
        </p:spPr>
        <p:txBody>
          <a:bodyPr wrap="square" lIns="0" tIns="0" rIns="0" bIns="0" rtlCol="0" anchor="t"/>
          <a:lstStyle/>
          <a:p>
            <a:pPr indent="0" marL="0">
              <a:buNone/>
            </a:pPr>
            <a:r>
              <a:rPr lang="en-US" sz="950" b="1" spc="100" kern="0" dirty="0">
                <a:solidFill>
                  <a:schemeClr val="bg1"/>
                </a:solidFill>
              </a:rPr>
              <a:t>MONITORING</a:t>
            </a:r>
            <a:endParaRPr lang="en-US" sz="950" dirty="0"/>
          </a:p>
        </p:txBody>
      </p:sp>
      <p:sp>
        <p:nvSpPr>
          <p:cNvPr id="32" name="Text 27"/>
          <p:cNvSpPr txBox="1"/>
          <p:nvPr/>
        </p:nvSpPr>
        <p:spPr>
          <a:xfrm>
            <a:off x="7020306" y="2953512"/>
            <a:ext cx="1296162" cy="566928"/>
          </a:xfrm>
          <a:prstGeom prst="rect">
            <a:avLst/>
          </a:prstGeom>
          <a:noFill/>
          <a:ln/>
        </p:spPr>
        <p:txBody>
          <a:bodyPr wrap="square" lIns="0" tIns="0" rIns="0" bIns="0" rtlCol="0" anchor="t"/>
          <a:lstStyle/>
          <a:p>
            <a:pPr indent="0" marL="0">
              <a:buNone/>
            </a:pPr>
            <a:r>
              <a:rPr lang="en-US" sz="1150" b="1" i="1" dirty="0">
                <a:solidFill>
                  <a:schemeClr val="bg1"/>
                </a:solidFill>
              </a:rPr>
              <a:t>“Tracks your gait for your neurologist”</a:t>
            </a:r>
            <a:endParaRPr lang="en-US" sz="1150" dirty="0"/>
          </a:p>
        </p:txBody>
      </p:sp>
      <p:sp>
        <p:nvSpPr>
          <p:cNvPr id="33" name="Text 28"/>
          <p:cNvSpPr txBox="1"/>
          <p:nvPr/>
        </p:nvSpPr>
        <p:spPr>
          <a:xfrm>
            <a:off x="7002018" y="3557016"/>
            <a:ext cx="1332738" cy="2221992"/>
          </a:xfrm>
          <a:prstGeom prst="rect">
            <a:avLst/>
          </a:prstGeom>
          <a:noFill/>
          <a:ln/>
        </p:spPr>
        <p:txBody>
          <a:bodyPr wrap="square" lIns="0" tIns="0" rIns="0" bIns="0" rtlCol="0" anchor="t"/>
          <a:lstStyle/>
          <a:p>
            <a:pPr indent="0" marL="0">
              <a:spcAft>
                <a:spcPts val="200"/>
              </a:spcAft>
              <a:buNone/>
            </a:pPr>
            <a:r>
              <a:rPr lang="en-US" sz="950" b="1" dirty="0">
                <a:solidFill>
                  <a:schemeClr val="bg1"/>
                </a:solidFill>
              </a:rPr>
              <a:t>Evidence needed</a:t>
            </a:r>
            <a:endParaRPr lang="en-US" sz="950" dirty="0"/>
          </a:p>
          <a:p>
            <a:pPr marL="101600" indent="-101600">
              <a:spcAft>
                <a:spcPts val="200"/>
              </a:spcAft>
              <a:buSzPct val="100000"/>
              <a:buChar char="•"/>
            </a:pPr>
            <a:r>
              <a:rPr lang="en-US" sz="950" dirty="0">
                <a:solidFill>
                  <a:schemeClr val="bg1"/>
                </a:solidFill>
              </a:rPr>
              <a:t>Analytical validation of the measure</a:t>
            </a:r>
            <a:endParaRPr lang="en-US" sz="950" dirty="0"/>
          </a:p>
          <a:p>
            <a:pPr marL="101600" indent="-101600">
              <a:spcAft>
                <a:spcPts val="200"/>
              </a:spcAft>
              <a:buSzPct val="100000"/>
              <a:buChar char="•"/>
            </a:pPr>
            <a:r>
              <a:rPr lang="en-US" sz="950" dirty="0">
                <a:solidFill>
                  <a:schemeClr val="bg1"/>
                </a:solidFill>
              </a:rPr>
              <a:t>Software V&amp;V, cybersecurity</a:t>
            </a:r>
            <a:endParaRPr lang="en-US" sz="950" dirty="0"/>
          </a:p>
          <a:p>
            <a:pPr marL="101600" indent="-101600">
              <a:spcAft>
                <a:spcPts val="200"/>
              </a:spcAft>
              <a:buSzPct val="100000"/>
              <a:buChar char="•"/>
            </a:pPr>
            <a:r>
              <a:rPr lang="en-US" sz="950" dirty="0">
                <a:solidFill>
                  <a:schemeClr val="bg1"/>
                </a:solidFill>
              </a:rPr>
              <a:t>Usability in Indian clinics</a:t>
            </a:r>
            <a:endParaRPr lang="en-US" sz="950" dirty="0"/>
          </a:p>
          <a:p>
            <a:pPr indent="0" marL="0">
              <a:spcAft>
                <a:spcPts val="200"/>
              </a:spcAft>
              <a:buNone/>
            </a:pPr>
            <a:r>
              <a:rPr lang="en-US" sz="950" b="1" dirty="0">
                <a:solidFill>
                  <a:schemeClr val="bg1"/>
                </a:solidFill>
              </a:rPr>
              <a:t>Permission in India</a:t>
            </a:r>
            <a:endParaRPr lang="en-US" sz="950" dirty="0"/>
          </a:p>
          <a:p>
            <a:pPr marL="101600" indent="-101600">
              <a:spcAft>
                <a:spcPts val="200"/>
              </a:spcAft>
              <a:buSzPct val="100000"/>
              <a:buChar char="•"/>
            </a:pPr>
            <a:r>
              <a:rPr lang="en-US" sz="950" dirty="0">
                <a:solidFill>
                  <a:schemeClr val="bg1"/>
                </a:solidFill>
              </a:rPr>
              <a:t>Medical purpose: a device</a:t>
            </a:r>
            <a:endParaRPr lang="en-US" sz="950" dirty="0"/>
          </a:p>
          <a:p>
            <a:pPr marL="101600" indent="-101600">
              <a:spcAft>
                <a:spcPts val="200"/>
              </a:spcAft>
              <a:buSzPct val="100000"/>
              <a:buChar char="•"/>
            </a:pPr>
            <a:r>
              <a:rPr lang="en-US" sz="950" dirty="0">
                <a:solidFill>
                  <a:schemeClr val="bg1"/>
                </a:solidFill>
              </a:rPr>
              <a:t>SaMD class by MDSW guidance 2026</a:t>
            </a:r>
            <a:endParaRPr lang="en-US" sz="950" dirty="0"/>
          </a:p>
          <a:p>
            <a:pPr marL="101600" indent="-101600">
              <a:spcAft>
                <a:spcPts val="200"/>
              </a:spcAft>
              <a:buSzPct val="100000"/>
              <a:buChar char="•"/>
            </a:pPr>
            <a:r>
              <a:rPr lang="en-US" sz="950" dirty="0">
                <a:solidFill>
                  <a:schemeClr val="bg1"/>
                </a:solidFill>
              </a:rPr>
              <a:t>Licence MD-5 (State) or MD-9 (Central)</a:t>
            </a:r>
            <a:endParaRPr lang="en-US" sz="950" dirty="0"/>
          </a:p>
        </p:txBody>
      </p:sp>
      <p:sp>
        <p:nvSpPr>
          <p:cNvPr id="34" name="Claim rung DETECTION"/>
          <p:cNvSpPr/>
          <p:nvPr/>
        </p:nvSpPr>
        <p:spPr>
          <a:xfrm>
            <a:off x="8517636" y="2093976"/>
            <a:ext cx="1515618" cy="3758184"/>
          </a:xfrm>
          <a:prstGeom prst="rect">
            <a:avLst/>
          </a:prstGeom>
          <a:solidFill>
            <a:schemeClr val="accent4"/>
          </a:solidFill>
          <a:ln/>
        </p:spPr>
      </p:sp>
      <p:sp>
        <p:nvSpPr>
          <p:cNvPr id="35" name="Text 30"/>
          <p:cNvSpPr txBox="1"/>
          <p:nvPr/>
        </p:nvSpPr>
        <p:spPr>
          <a:xfrm>
            <a:off x="8627364" y="2185416"/>
            <a:ext cx="1296162" cy="228600"/>
          </a:xfrm>
          <a:prstGeom prst="rect">
            <a:avLst/>
          </a:prstGeom>
          <a:noFill/>
          <a:ln/>
        </p:spPr>
        <p:txBody>
          <a:bodyPr wrap="square" lIns="0" tIns="0" rIns="0" bIns="0" rtlCol="0" anchor="t"/>
          <a:lstStyle/>
          <a:p>
            <a:pPr indent="0" marL="0">
              <a:buNone/>
            </a:pPr>
            <a:r>
              <a:rPr lang="en-US" sz="950" b="1" spc="100" kern="0" dirty="0">
                <a:solidFill>
                  <a:schemeClr val="bg1"/>
                </a:solidFill>
              </a:rPr>
              <a:t>DETECTION</a:t>
            </a:r>
            <a:endParaRPr lang="en-US" sz="950" dirty="0"/>
          </a:p>
        </p:txBody>
      </p:sp>
      <p:sp>
        <p:nvSpPr>
          <p:cNvPr id="36" name="Text 31"/>
          <p:cNvSpPr txBox="1"/>
          <p:nvPr/>
        </p:nvSpPr>
        <p:spPr>
          <a:xfrm>
            <a:off x="8627364" y="2423160"/>
            <a:ext cx="1296162" cy="566928"/>
          </a:xfrm>
          <a:prstGeom prst="rect">
            <a:avLst/>
          </a:prstGeom>
          <a:noFill/>
          <a:ln/>
        </p:spPr>
        <p:txBody>
          <a:bodyPr wrap="square" lIns="0" tIns="0" rIns="0" bIns="0" rtlCol="0" anchor="t"/>
          <a:lstStyle/>
          <a:p>
            <a:pPr indent="0" marL="0">
              <a:buNone/>
            </a:pPr>
            <a:r>
              <a:rPr lang="en-US" sz="1150" b="1" i="1" dirty="0">
                <a:solidFill>
                  <a:schemeClr val="bg1"/>
                </a:solidFill>
              </a:rPr>
              <a:t>“Detects freezing of gait in Parkinson's”</a:t>
            </a:r>
            <a:endParaRPr lang="en-US" sz="1150" dirty="0"/>
          </a:p>
        </p:txBody>
      </p:sp>
      <p:sp>
        <p:nvSpPr>
          <p:cNvPr id="37" name="Text 32"/>
          <p:cNvSpPr txBox="1"/>
          <p:nvPr/>
        </p:nvSpPr>
        <p:spPr>
          <a:xfrm>
            <a:off x="8609076" y="3026664"/>
            <a:ext cx="1332738" cy="2752344"/>
          </a:xfrm>
          <a:prstGeom prst="rect">
            <a:avLst/>
          </a:prstGeom>
          <a:noFill/>
          <a:ln/>
        </p:spPr>
        <p:txBody>
          <a:bodyPr wrap="square" lIns="0" tIns="0" rIns="0" bIns="0" rtlCol="0" anchor="t"/>
          <a:lstStyle/>
          <a:p>
            <a:pPr indent="0" marL="0">
              <a:spcAft>
                <a:spcPts val="200"/>
              </a:spcAft>
              <a:buNone/>
            </a:pPr>
            <a:r>
              <a:rPr lang="en-US" sz="950" b="1" dirty="0">
                <a:solidFill>
                  <a:schemeClr val="bg1"/>
                </a:solidFill>
              </a:rPr>
              <a:t>Evidence needed</a:t>
            </a:r>
            <a:endParaRPr lang="en-US" sz="950" dirty="0"/>
          </a:p>
          <a:p>
            <a:pPr marL="101600" indent="-101600">
              <a:spcAft>
                <a:spcPts val="200"/>
              </a:spcAft>
              <a:buSzPct val="100000"/>
              <a:buChar char="•"/>
            </a:pPr>
            <a:r>
              <a:rPr lang="en-US" sz="950" dirty="0">
                <a:solidFill>
                  <a:schemeClr val="bg1"/>
                </a:solidFill>
              </a:rPr>
              <a:t>Sensitivity, specificity vs video-labelled freezes</a:t>
            </a:r>
            <a:endParaRPr lang="en-US" sz="950" dirty="0"/>
          </a:p>
          <a:p>
            <a:pPr marL="101600" indent="-101600">
              <a:spcAft>
                <a:spcPts val="200"/>
              </a:spcAft>
              <a:buSzPct val="100000"/>
              <a:buChar char="•"/>
            </a:pPr>
            <a:r>
              <a:rPr lang="en-US" sz="950" dirty="0">
                <a:solidFill>
                  <a:schemeClr val="bg1"/>
                </a:solidFill>
              </a:rPr>
              <a:t>False alarms per hour, latency</a:t>
            </a:r>
            <a:endParaRPr lang="en-US" sz="950" dirty="0"/>
          </a:p>
          <a:p>
            <a:pPr marL="101600" indent="-101600">
              <a:spcAft>
                <a:spcPts val="200"/>
              </a:spcAft>
              <a:buSzPct val="100000"/>
              <a:buChar char="•"/>
            </a:pPr>
            <a:r>
              <a:rPr lang="en-US" sz="950" dirty="0">
                <a:solidFill>
                  <a:schemeClr val="bg1"/>
                </a:solidFill>
              </a:rPr>
              <a:t>Homes, turns, doorways, walking aids</a:t>
            </a:r>
            <a:endParaRPr lang="en-US" sz="950" dirty="0"/>
          </a:p>
          <a:p>
            <a:pPr indent="0" marL="0">
              <a:spcAft>
                <a:spcPts val="200"/>
              </a:spcAft>
              <a:buNone/>
            </a:pPr>
            <a:r>
              <a:rPr lang="en-US" sz="950" b="1" dirty="0">
                <a:solidFill>
                  <a:schemeClr val="bg1"/>
                </a:solidFill>
              </a:rPr>
              <a:t>Permission in India</a:t>
            </a:r>
            <a:endParaRPr lang="en-US" sz="950" dirty="0"/>
          </a:p>
          <a:p>
            <a:pPr marL="101600" indent="-101600">
              <a:spcAft>
                <a:spcPts val="200"/>
              </a:spcAft>
              <a:buSzPct val="100000"/>
              <a:buChar char="•"/>
            </a:pPr>
            <a:r>
              <a:rPr lang="en-US" sz="950" dirty="0">
                <a:solidFill>
                  <a:schemeClr val="bg1"/>
                </a:solidFill>
              </a:rPr>
              <a:t>Test units: MD-12 → MD-13</a:t>
            </a:r>
            <a:endParaRPr lang="en-US" sz="950" dirty="0"/>
          </a:p>
          <a:p>
            <a:pPr marL="101600" indent="-101600">
              <a:spcAft>
                <a:spcPts val="200"/>
              </a:spcAft>
              <a:buSzPct val="100000"/>
              <a:buChar char="•"/>
            </a:pPr>
            <a:r>
              <a:rPr lang="en-US" sz="950" dirty="0">
                <a:solidFill>
                  <a:schemeClr val="bg1"/>
                </a:solidFill>
              </a:rPr>
              <a:t>Clinical investigation: MD-22 → MD-23</a:t>
            </a:r>
            <a:endParaRPr lang="en-US" sz="950" dirty="0"/>
          </a:p>
          <a:p>
            <a:pPr marL="101600" indent="-101600">
              <a:spcAft>
                <a:spcPts val="200"/>
              </a:spcAft>
              <a:buSzPct val="100000"/>
              <a:buChar char="•"/>
            </a:pPr>
            <a:r>
              <a:rPr lang="en-US" sz="950" dirty="0">
                <a:solidFill>
                  <a:schemeClr val="bg1"/>
                </a:solidFill>
              </a:rPr>
              <a:t>Registered ethics committee, CTRI</a:t>
            </a:r>
            <a:endParaRPr lang="en-US" sz="950" dirty="0"/>
          </a:p>
          <a:p>
            <a:pPr marL="101600" indent="-101600">
              <a:spcAft>
                <a:spcPts val="200"/>
              </a:spcAft>
              <a:buSzPct val="100000"/>
              <a:buChar char="•"/>
            </a:pPr>
            <a:r>
              <a:rPr lang="en-US" sz="950" dirty="0">
                <a:solidFill>
                  <a:schemeClr val="bg1"/>
                </a:solidFill>
              </a:rPr>
              <a:t>Then the licence</a:t>
            </a:r>
            <a:endParaRPr lang="en-US" sz="950" dirty="0"/>
          </a:p>
        </p:txBody>
      </p:sp>
      <p:sp>
        <p:nvSpPr>
          <p:cNvPr id="38" name="Claim rung TREATMENT"/>
          <p:cNvSpPr/>
          <p:nvPr/>
        </p:nvSpPr>
        <p:spPr>
          <a:xfrm>
            <a:off x="10124694" y="1563624"/>
            <a:ext cx="1515618" cy="4288536"/>
          </a:xfrm>
          <a:prstGeom prst="rect">
            <a:avLst/>
          </a:prstGeom>
          <a:solidFill>
            <a:schemeClr val="accent3"/>
          </a:solidFill>
          <a:ln/>
        </p:spPr>
      </p:sp>
      <p:sp>
        <p:nvSpPr>
          <p:cNvPr id="39" name="Text 34"/>
          <p:cNvSpPr txBox="1"/>
          <p:nvPr/>
        </p:nvSpPr>
        <p:spPr>
          <a:xfrm>
            <a:off x="10234422" y="1655064"/>
            <a:ext cx="1296162" cy="228600"/>
          </a:xfrm>
          <a:prstGeom prst="rect">
            <a:avLst/>
          </a:prstGeom>
          <a:noFill/>
          <a:ln/>
        </p:spPr>
        <p:txBody>
          <a:bodyPr wrap="square" lIns="0" tIns="0" rIns="0" bIns="0" rtlCol="0" anchor="t"/>
          <a:lstStyle/>
          <a:p>
            <a:pPr indent="0" marL="0">
              <a:buNone/>
            </a:pPr>
            <a:r>
              <a:rPr lang="en-US" sz="950" b="1" spc="100" kern="0" dirty="0">
                <a:solidFill>
                  <a:schemeClr val="bg1"/>
                </a:solidFill>
              </a:rPr>
              <a:t>TREATMENT</a:t>
            </a:r>
            <a:endParaRPr lang="en-US" sz="950" dirty="0"/>
          </a:p>
        </p:txBody>
      </p:sp>
      <p:sp>
        <p:nvSpPr>
          <p:cNvPr id="40" name="Text 35"/>
          <p:cNvSpPr txBox="1"/>
          <p:nvPr/>
        </p:nvSpPr>
        <p:spPr>
          <a:xfrm>
            <a:off x="10234422" y="1892808"/>
            <a:ext cx="1296162" cy="566928"/>
          </a:xfrm>
          <a:prstGeom prst="rect">
            <a:avLst/>
          </a:prstGeom>
          <a:noFill/>
          <a:ln/>
        </p:spPr>
        <p:txBody>
          <a:bodyPr wrap="square" lIns="0" tIns="0" rIns="0" bIns="0" rtlCol="0" anchor="t"/>
          <a:lstStyle/>
          <a:p>
            <a:pPr indent="0" marL="0">
              <a:buNone/>
            </a:pPr>
            <a:r>
              <a:rPr lang="en-US" sz="1150" b="1" i="1" dirty="0">
                <a:solidFill>
                  <a:schemeClr val="bg1"/>
                </a:solidFill>
              </a:rPr>
              <a:t>“Reduces freezing and falls”</a:t>
            </a:r>
            <a:endParaRPr lang="en-US" sz="1150" dirty="0"/>
          </a:p>
        </p:txBody>
      </p:sp>
      <p:sp>
        <p:nvSpPr>
          <p:cNvPr id="41" name="Text 36"/>
          <p:cNvSpPr txBox="1"/>
          <p:nvPr/>
        </p:nvSpPr>
        <p:spPr>
          <a:xfrm>
            <a:off x="10216134" y="2496312"/>
            <a:ext cx="1332738" cy="3282696"/>
          </a:xfrm>
          <a:prstGeom prst="rect">
            <a:avLst/>
          </a:prstGeom>
          <a:noFill/>
          <a:ln/>
        </p:spPr>
        <p:txBody>
          <a:bodyPr wrap="square" lIns="0" tIns="0" rIns="0" bIns="0" rtlCol="0" anchor="t"/>
          <a:lstStyle/>
          <a:p>
            <a:pPr indent="0" marL="0">
              <a:spcAft>
                <a:spcPts val="200"/>
              </a:spcAft>
              <a:buNone/>
            </a:pPr>
            <a:r>
              <a:rPr lang="en-US" sz="950" b="1" dirty="0">
                <a:solidFill>
                  <a:schemeClr val="bg1"/>
                </a:solidFill>
              </a:rPr>
              <a:t>Evidence needed</a:t>
            </a:r>
            <a:endParaRPr lang="en-US" sz="950" dirty="0"/>
          </a:p>
          <a:p>
            <a:pPr marL="101600" indent="-101600">
              <a:spcAft>
                <a:spcPts val="200"/>
              </a:spcAft>
              <a:buSzPct val="100000"/>
              <a:buChar char="•"/>
            </a:pPr>
            <a:r>
              <a:rPr lang="en-US" sz="950" dirty="0">
                <a:solidFill>
                  <a:schemeClr val="bg1"/>
                </a:solidFill>
              </a:rPr>
              <a:t>Prospective controlled trial: falls, walking, confidence</a:t>
            </a:r>
            <a:endParaRPr lang="en-US" sz="950" dirty="0"/>
          </a:p>
          <a:p>
            <a:pPr marL="101600" indent="-101600">
              <a:spcAft>
                <a:spcPts val="200"/>
              </a:spcAft>
              <a:buSzPct val="100000"/>
              <a:buChar char="•"/>
            </a:pPr>
            <a:r>
              <a:rPr lang="en-US" sz="950" dirty="0">
                <a:solidFill>
                  <a:schemeClr val="bg1"/>
                </a:solidFill>
              </a:rPr>
              <a:t>Durability and safety over time</a:t>
            </a:r>
            <a:endParaRPr lang="en-US" sz="950" dirty="0"/>
          </a:p>
          <a:p>
            <a:pPr marL="101600" indent="-101600">
              <a:spcAft>
                <a:spcPts val="200"/>
              </a:spcAft>
              <a:buSzPct val="100000"/>
              <a:buChar char="•"/>
            </a:pPr>
            <a:r>
              <a:rPr lang="en-US" sz="950" dirty="0">
                <a:solidFill>
                  <a:schemeClr val="bg1"/>
                </a:solidFill>
              </a:rPr>
              <a:t>Fair performance across groups</a:t>
            </a:r>
            <a:endParaRPr lang="en-US" sz="950" dirty="0"/>
          </a:p>
          <a:p>
            <a:pPr indent="0" marL="0">
              <a:spcAft>
                <a:spcPts val="200"/>
              </a:spcAft>
              <a:buNone/>
            </a:pPr>
            <a:r>
              <a:rPr lang="en-US" sz="950" b="1" dirty="0">
                <a:solidFill>
                  <a:schemeClr val="bg1"/>
                </a:solidFill>
              </a:rPr>
              <a:t>Permission in India</a:t>
            </a:r>
            <a:endParaRPr lang="en-US" sz="950" dirty="0"/>
          </a:p>
          <a:p>
            <a:pPr marL="101600" indent="-101600">
              <a:spcAft>
                <a:spcPts val="200"/>
              </a:spcAft>
              <a:buSzPct val="100000"/>
              <a:buChar char="•"/>
            </a:pPr>
            <a:r>
              <a:rPr lang="en-US" sz="950" dirty="0">
                <a:solidFill>
                  <a:schemeClr val="bg1"/>
                </a:solidFill>
              </a:rPr>
              <a:t>All of the detection rung</a:t>
            </a:r>
            <a:endParaRPr lang="en-US" sz="950" dirty="0"/>
          </a:p>
          <a:p>
            <a:pPr marL="101600" indent="-101600">
              <a:spcAft>
                <a:spcPts val="200"/>
              </a:spcAft>
              <a:buSzPct val="100000"/>
              <a:buChar char="•"/>
            </a:pPr>
            <a:r>
              <a:rPr lang="en-US" sz="950" dirty="0">
                <a:solidFill>
                  <a:schemeClr val="bg1"/>
                </a:solidFill>
              </a:rPr>
              <a:t>Claims control: UCMPMD 2024, DMRA 1954, ASCI</a:t>
            </a:r>
            <a:endParaRPr lang="en-US" sz="950" dirty="0"/>
          </a:p>
          <a:p>
            <a:pPr marL="101600" indent="-101600">
              <a:spcAft>
                <a:spcPts val="200"/>
              </a:spcAft>
              <a:buSzPct val="100000"/>
              <a:buChar char="•"/>
            </a:pPr>
            <a:r>
              <a:rPr lang="en-US" sz="950" dirty="0">
                <a:solidFill>
                  <a:schemeClr val="bg1"/>
                </a:solidFill>
              </a:rPr>
              <a:t>Label per Rule 44; vigilance after launch</a:t>
            </a:r>
            <a:endParaRPr lang="en-US" sz="950" dirty="0"/>
          </a:p>
        </p:txBody>
      </p:sp>
      <p:sp>
        <p:nvSpPr>
          <p:cNvPr id="42" name="Claim arrow"/>
          <p:cNvSpPr/>
          <p:nvPr/>
        </p:nvSpPr>
        <p:spPr>
          <a:xfrm>
            <a:off x="5303520" y="5943600"/>
            <a:ext cx="6336792" cy="256032"/>
          </a:xfrm>
          <a:prstGeom prst="rightArrow">
            <a:avLst/>
          </a:prstGeom>
          <a:solidFill>
            <a:srgbClr val="D5DFDD"/>
          </a:solidFill>
          <a:ln/>
        </p:spPr>
      </p:sp>
      <p:sp>
        <p:nvSpPr>
          <p:cNvPr id="43" name="Text 38"/>
          <p:cNvSpPr txBox="1"/>
          <p:nvPr/>
        </p:nvSpPr>
        <p:spPr>
          <a:xfrm>
            <a:off x="5486400" y="5943600"/>
            <a:ext cx="5788152" cy="256032"/>
          </a:xfrm>
          <a:prstGeom prst="rect">
            <a:avLst/>
          </a:prstGeom>
          <a:noFill/>
          <a:ln/>
        </p:spPr>
        <p:txBody>
          <a:bodyPr wrap="square" lIns="0" tIns="0" rIns="0" bIns="0" rtlCol="0" anchor="ctr"/>
          <a:lstStyle/>
          <a:p>
            <a:pPr indent="0" marL="0">
              <a:buNone/>
            </a:pPr>
            <a:r>
              <a:rPr lang="en-US" sz="1050" b="1" dirty="0">
                <a:solidFill>
                  <a:schemeClr val="tx1"/>
                </a:solidFill>
              </a:rPr>
              <a:t>Stronger claim   →   more evidence, more permissions, closer scrutiny</a:t>
            </a:r>
            <a:endParaRPr lang="en-US" sz="10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NEED · IS IT A DEVICE?</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Is it a medical device in India?</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D&amp;C Act 1940 s.3(b)(iv); S.O. 648(E) 11 Feb 2020; MDR-2017 Rule 4 and First Schedule; CDSCO MDSW guidance 21 Jul 2026; G.S.R. 777(E) 14 Oct 2022; Simon et al., JAMA 2022</a:t>
            </a:r>
            <a:endParaRPr lang="en-US" sz="950" dirty="0"/>
          </a:p>
        </p:txBody>
      </p:sp>
      <p:sp>
        <p:nvSpPr>
          <p:cNvPr id="5" name="Progress Need"/>
          <p:cNvSpPr/>
          <p:nvPr/>
        </p:nvSpPr>
        <p:spPr>
          <a:xfrm>
            <a:off x="9537192" y="347472"/>
            <a:ext cx="219456" cy="219456"/>
          </a:xfrm>
          <a:prstGeom prst="ellipse">
            <a:avLst/>
          </a:prstGeom>
          <a:solidFill>
            <a:schemeClr val="accent1"/>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bg1"/>
          </a:solidFill>
          <a:ln w="12700">
            <a:solidFill>
              <a:schemeClr val="accent5"/>
            </a:solidFill>
            <a:prstDash val="solid"/>
          </a:ln>
        </p:spPr>
      </p:sp>
      <p:sp>
        <p:nvSpPr>
          <p:cNvPr id="7" name="Progress People"/>
          <p:cNvSpPr/>
          <p:nvPr/>
        </p:nvSpPr>
        <p:spPr>
          <a:xfrm>
            <a:off x="10314432" y="393192"/>
            <a:ext cx="128016" cy="128016"/>
          </a:xfrm>
          <a:prstGeom prst="ellipse">
            <a:avLst/>
          </a:prstGeom>
          <a:solidFill>
            <a:schemeClr val="bg1"/>
          </a:solidFill>
          <a:ln w="12700">
            <a:solidFill>
              <a:schemeClr val="accent5"/>
            </a:solidFill>
            <a:prstDash val="solid"/>
          </a:ln>
        </p:spPr>
      </p:sp>
      <p:sp>
        <p:nvSpPr>
          <p:cNvPr id="8" name="Progress Permission"/>
          <p:cNvSpPr/>
          <p:nvPr/>
        </p:nvSpPr>
        <p:spPr>
          <a:xfrm>
            <a:off x="10680192" y="393192"/>
            <a:ext cx="128016" cy="128016"/>
          </a:xfrm>
          <a:prstGeom prst="ellipse">
            <a:avLst/>
          </a:prstGeom>
          <a:solidFill>
            <a:schemeClr val="bg1"/>
          </a:solidFill>
          <a:ln w="12700">
            <a:solidFill>
              <a:schemeClr val="accent5"/>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Question 1 · What is it for?"/>
          <p:cNvSpPr/>
          <p:nvPr/>
        </p:nvSpPr>
        <p:spPr>
          <a:xfrm>
            <a:off x="548640" y="1600200"/>
            <a:ext cx="2331720" cy="2331720"/>
          </a:xfrm>
          <a:prstGeom prst="roundRect">
            <a:avLst>
              <a:gd name="adj" fmla="val 4706"/>
            </a:avLst>
          </a:prstGeom>
          <a:solidFill>
            <a:schemeClr val="accent4"/>
          </a:solidFill>
          <a:ln/>
        </p:spPr>
      </p:sp>
      <p:sp>
        <p:nvSpPr>
          <p:cNvPr id="13" name="Icon disc LuCircleHelp"/>
          <p:cNvSpPr/>
          <p:nvPr/>
        </p:nvSpPr>
        <p:spPr>
          <a:xfrm>
            <a:off x="685800" y="1737360"/>
            <a:ext cx="384048" cy="384048"/>
          </a:xfrm>
          <a:prstGeom prst="ellipse">
            <a:avLst/>
          </a:prstGeom>
          <a:solidFill>
            <a:schemeClr val="bg1">
              <a:alpha val="20000"/>
            </a:schemeClr>
          </a:solidFill>
          <a:ln/>
        </p:spPr>
      </p:sp>
      <p:pic>
        <p:nvPicPr>
          <p:cNvPr id="14" name="Image 0" descr="CircleHelp icon">    </p:cNvPr>
          <p:cNvPicPr>
            <a:picLocks noChangeAspect="1"/>
          </p:cNvPicPr>
          <p:nvPr/>
        </p:nvPicPr>
        <p:blipFill>
          <a:blip r:embed="rId1"/>
          <a:stretch>
            <a:fillRect/>
          </a:stretch>
        </p:blipFill>
        <p:spPr>
          <a:xfrm>
            <a:off x="770291" y="1821851"/>
            <a:ext cx="215067" cy="215067"/>
          </a:xfrm>
          <a:prstGeom prst="rect">
            <a:avLst/>
          </a:prstGeom>
        </p:spPr>
      </p:pic>
      <p:sp>
        <p:nvSpPr>
          <p:cNvPr id="15" name="Text 11"/>
          <p:cNvSpPr txBox="1"/>
          <p:nvPr/>
        </p:nvSpPr>
        <p:spPr>
          <a:xfrm>
            <a:off x="1170432" y="1737360"/>
            <a:ext cx="1600200" cy="384048"/>
          </a:xfrm>
          <a:prstGeom prst="rect">
            <a:avLst/>
          </a:prstGeom>
          <a:noFill/>
          <a:ln/>
        </p:spPr>
        <p:txBody>
          <a:bodyPr wrap="square" lIns="0" tIns="0" rIns="0" bIns="0" rtlCol="0" anchor="ctr"/>
          <a:lstStyle/>
          <a:p>
            <a:pPr indent="0" marL="0">
              <a:buNone/>
            </a:pPr>
            <a:r>
              <a:rPr lang="en-US" sz="1200" b="1" dirty="0">
                <a:solidFill>
                  <a:schemeClr val="bg1"/>
                </a:solidFill>
              </a:rPr>
              <a:t>1 · What is it for?</a:t>
            </a:r>
            <a:endParaRPr lang="en-US" sz="1200" dirty="0"/>
          </a:p>
        </p:txBody>
      </p:sp>
      <p:sp>
        <p:nvSpPr>
          <p:cNvPr id="16" name="Text 12"/>
          <p:cNvSpPr txBox="1"/>
          <p:nvPr/>
        </p:nvSpPr>
        <p:spPr>
          <a:xfrm>
            <a:off x="685800" y="2194560"/>
            <a:ext cx="2057400" cy="1645920"/>
          </a:xfrm>
          <a:prstGeom prst="rect">
            <a:avLst/>
          </a:prstGeom>
          <a:noFill/>
          <a:ln/>
        </p:spPr>
        <p:txBody>
          <a:bodyPr wrap="square" lIns="0" tIns="0" rIns="0" bIns="0" rtlCol="0" anchor="t"/>
          <a:lstStyle/>
          <a:p>
            <a:pPr indent="0" marL="0">
              <a:spcAft>
                <a:spcPts val="200"/>
              </a:spcAft>
              <a:buNone/>
            </a:pPr>
            <a:r>
              <a:rPr lang="en-US" sz="950" dirty="0">
                <a:solidFill>
                  <a:schemeClr val="bg1"/>
                </a:solidFill>
              </a:rPr>
              <a:t>D&amp;C Act 1940, s.3(b)(iv): devices intended for use in human beings for the diagnosis, treatment, mitigation or prevention of disease or disorder.</a:t>
            </a:r>
            <a:endParaRPr lang="en-US" sz="950" dirty="0"/>
          </a:p>
          <a:p>
            <a:pPr indent="0" marL="0">
              <a:spcAft>
                <a:spcPts val="200"/>
              </a:spcAft>
              <a:buNone/>
            </a:pPr>
            <a:r>
              <a:rPr lang="en-US" sz="950" dirty="0">
                <a:solidFill>
                  <a:schemeClr val="bg1"/>
                </a:solidFill>
              </a:rPr>
              <a:t>All such devices were notified on 11 Feb 2020 (S.O. 648(E)) and regulated from 1 Apr 2020.</a:t>
            </a:r>
            <a:endParaRPr lang="en-US" sz="950" dirty="0"/>
          </a:p>
        </p:txBody>
      </p:sp>
      <p:sp>
        <p:nvSpPr>
          <p:cNvPr id="17" name="Text 13"/>
          <p:cNvSpPr txBox="1"/>
          <p:nvPr/>
        </p:nvSpPr>
        <p:spPr>
          <a:xfrm>
            <a:off x="2880360" y="1874520"/>
            <a:ext cx="731520" cy="365760"/>
          </a:xfrm>
          <a:prstGeom prst="rect">
            <a:avLst/>
          </a:prstGeom>
          <a:noFill/>
          <a:ln/>
        </p:spPr>
        <p:txBody>
          <a:bodyPr wrap="square" lIns="0" tIns="0" rIns="0" bIns="0" rtlCol="0" anchor="b"/>
          <a:lstStyle/>
          <a:p>
            <a:pPr algn="ctr" indent="0" marL="0">
              <a:buNone/>
            </a:pPr>
            <a:r>
              <a:rPr lang="en-US" sz="900" b="1" dirty="0">
                <a:solidFill>
                  <a:schemeClr val="accent1"/>
                </a:solidFill>
              </a:rPr>
              <a:t>Medical purpose</a:t>
            </a:r>
            <a:endParaRPr lang="en-US" sz="900" dirty="0"/>
          </a:p>
        </p:txBody>
      </p:sp>
      <p:sp>
        <p:nvSpPr>
          <p:cNvPr id="18" name="Arrow"/>
          <p:cNvSpPr/>
          <p:nvPr/>
        </p:nvSpPr>
        <p:spPr>
          <a:xfrm>
            <a:off x="2926080" y="2286000"/>
            <a:ext cx="640080" cy="0"/>
          </a:xfrm>
          <a:prstGeom prst="line">
            <a:avLst/>
          </a:prstGeom>
          <a:noFill/>
          <a:ln w="25400">
            <a:solidFill>
              <a:schemeClr val="accent1"/>
            </a:solidFill>
            <a:prstDash val="solid"/>
            <a:tailEnd type="triangle"/>
          </a:ln>
        </p:spPr>
      </p:sp>
      <p:sp>
        <p:nvSpPr>
          <p:cNvPr id="19" name="Text 15"/>
          <p:cNvSpPr txBox="1"/>
          <p:nvPr/>
        </p:nvSpPr>
        <p:spPr>
          <a:xfrm>
            <a:off x="2880360" y="3218688"/>
            <a:ext cx="731520" cy="365760"/>
          </a:xfrm>
          <a:prstGeom prst="rect">
            <a:avLst/>
          </a:prstGeom>
          <a:noFill/>
          <a:ln/>
        </p:spPr>
        <p:txBody>
          <a:bodyPr wrap="square" lIns="0" tIns="0" rIns="0" bIns="0" rtlCol="0" anchor="b"/>
          <a:lstStyle/>
          <a:p>
            <a:pPr algn="ctr" indent="0" marL="0">
              <a:buNone/>
            </a:pPr>
            <a:r>
              <a:rPr lang="en-US" sz="900" b="1" dirty="0">
                <a:solidFill>
                  <a:schemeClr val="accent5"/>
                </a:solidFill>
              </a:rPr>
              <a:t>No medical purpose</a:t>
            </a:r>
            <a:endParaRPr lang="en-US" sz="900" dirty="0"/>
          </a:p>
        </p:txBody>
      </p:sp>
      <p:sp>
        <p:nvSpPr>
          <p:cNvPr id="20" name="Arrow"/>
          <p:cNvSpPr/>
          <p:nvPr/>
        </p:nvSpPr>
        <p:spPr>
          <a:xfrm>
            <a:off x="2926080" y="3657600"/>
            <a:ext cx="640080" cy="0"/>
          </a:xfrm>
          <a:prstGeom prst="line">
            <a:avLst/>
          </a:prstGeom>
          <a:noFill/>
          <a:ln w="25400">
            <a:solidFill>
              <a:schemeClr val="accent5"/>
            </a:solidFill>
            <a:prstDash val="solid"/>
            <a:tailEnd type="triangle"/>
          </a:ln>
        </p:spPr>
      </p:sp>
      <p:sp>
        <p:nvSpPr>
          <p:cNvPr id="21" name="Question 2 · Software doing medical work?"/>
          <p:cNvSpPr/>
          <p:nvPr/>
        </p:nvSpPr>
        <p:spPr>
          <a:xfrm>
            <a:off x="3611880" y="1600200"/>
            <a:ext cx="2514600" cy="1508760"/>
          </a:xfrm>
          <a:prstGeom prst="roundRect">
            <a:avLst>
              <a:gd name="adj" fmla="val 7273"/>
            </a:avLst>
          </a:prstGeom>
          <a:solidFill>
            <a:schemeClr val="accent4"/>
          </a:solidFill>
          <a:ln/>
        </p:spPr>
      </p:sp>
      <p:sp>
        <p:nvSpPr>
          <p:cNvPr id="22" name="Icon disc LuCpu"/>
          <p:cNvSpPr/>
          <p:nvPr/>
        </p:nvSpPr>
        <p:spPr>
          <a:xfrm>
            <a:off x="3749040" y="1737360"/>
            <a:ext cx="384048" cy="384048"/>
          </a:xfrm>
          <a:prstGeom prst="ellipse">
            <a:avLst/>
          </a:prstGeom>
          <a:solidFill>
            <a:schemeClr val="bg1">
              <a:alpha val="20000"/>
            </a:schemeClr>
          </a:solidFill>
          <a:ln/>
        </p:spPr>
      </p:sp>
      <p:pic>
        <p:nvPicPr>
          <p:cNvPr id="23" name="Image 1" descr="Cpu icon">    </p:cNvPr>
          <p:cNvPicPr>
            <a:picLocks noChangeAspect="1"/>
          </p:cNvPicPr>
          <p:nvPr/>
        </p:nvPicPr>
        <p:blipFill>
          <a:blip r:embed="rId2"/>
          <a:stretch>
            <a:fillRect/>
          </a:stretch>
        </p:blipFill>
        <p:spPr>
          <a:xfrm>
            <a:off x="3833531" y="1821851"/>
            <a:ext cx="215067" cy="215067"/>
          </a:xfrm>
          <a:prstGeom prst="rect">
            <a:avLst/>
          </a:prstGeom>
        </p:spPr>
      </p:pic>
      <p:sp>
        <p:nvSpPr>
          <p:cNvPr id="24" name="Text 19"/>
          <p:cNvSpPr txBox="1"/>
          <p:nvPr/>
        </p:nvSpPr>
        <p:spPr>
          <a:xfrm>
            <a:off x="4233672" y="1737360"/>
            <a:ext cx="1783080" cy="384048"/>
          </a:xfrm>
          <a:prstGeom prst="rect">
            <a:avLst/>
          </a:prstGeom>
          <a:noFill/>
          <a:ln/>
        </p:spPr>
        <p:txBody>
          <a:bodyPr wrap="square" lIns="0" tIns="0" rIns="0" bIns="0" rtlCol="0" anchor="ctr"/>
          <a:lstStyle/>
          <a:p>
            <a:pPr indent="0" marL="0">
              <a:buNone/>
            </a:pPr>
            <a:r>
              <a:rPr lang="en-US" sz="1200" b="1" dirty="0">
                <a:solidFill>
                  <a:schemeClr val="bg1"/>
                </a:solidFill>
              </a:rPr>
              <a:t>2 · Software doing medical work?</a:t>
            </a:r>
            <a:endParaRPr lang="en-US" sz="1200" dirty="0"/>
          </a:p>
        </p:txBody>
      </p:sp>
      <p:sp>
        <p:nvSpPr>
          <p:cNvPr id="25" name="Text 20"/>
          <p:cNvSpPr txBox="1"/>
          <p:nvPr/>
        </p:nvSpPr>
        <p:spPr>
          <a:xfrm>
            <a:off x="3749040" y="2194560"/>
            <a:ext cx="2240280" cy="822960"/>
          </a:xfrm>
          <a:prstGeom prst="rect">
            <a:avLst/>
          </a:prstGeom>
          <a:noFill/>
          <a:ln/>
        </p:spPr>
        <p:txBody>
          <a:bodyPr wrap="square" lIns="0" tIns="0" rIns="0" bIns="0" rtlCol="0" anchor="t"/>
          <a:lstStyle/>
          <a:p>
            <a:pPr indent="0" marL="0">
              <a:spcAft>
                <a:spcPts val="200"/>
              </a:spcAft>
              <a:buNone/>
            </a:pPr>
            <a:r>
              <a:rPr lang="en-US" sz="950" dirty="0">
                <a:solidFill>
                  <a:schemeClr val="bg1"/>
                </a:solidFill>
              </a:rPr>
              <a:t>SaMD or software in a device: CDSCO guidance CDSCO/MD/GD/MDSW/01/2026 (21 Jul 2026). Class follows the medical purpose, how far the output drives clinical decisions, and the severity of the condition. AI and IoT included.</a:t>
            </a:r>
            <a:endParaRPr lang="en-US" sz="950" dirty="0"/>
          </a:p>
        </p:txBody>
      </p:sp>
      <p:sp>
        <p:nvSpPr>
          <p:cNvPr id="26" name="Arrow"/>
          <p:cNvSpPr/>
          <p:nvPr/>
        </p:nvSpPr>
        <p:spPr>
          <a:xfrm>
            <a:off x="6172200" y="2286000"/>
            <a:ext cx="457200" cy="0"/>
          </a:xfrm>
          <a:prstGeom prst="line">
            <a:avLst/>
          </a:prstGeom>
          <a:noFill/>
          <a:ln w="25400">
            <a:solidFill>
              <a:schemeClr val="accent1"/>
            </a:solidFill>
            <a:prstDash val="solid"/>
            <a:tailEnd type="triangle"/>
          </a:ln>
        </p:spPr>
      </p:sp>
      <p:sp>
        <p:nvSpPr>
          <p:cNvPr id="27" name="Question 3 · Which risk class?"/>
          <p:cNvSpPr/>
          <p:nvPr/>
        </p:nvSpPr>
        <p:spPr>
          <a:xfrm>
            <a:off x="6675120" y="1600200"/>
            <a:ext cx="2514600" cy="1508760"/>
          </a:xfrm>
          <a:prstGeom prst="roundRect">
            <a:avLst>
              <a:gd name="adj" fmla="val 7273"/>
            </a:avLst>
          </a:prstGeom>
          <a:solidFill>
            <a:schemeClr val="accent4"/>
          </a:solidFill>
          <a:ln/>
        </p:spPr>
      </p:sp>
      <p:sp>
        <p:nvSpPr>
          <p:cNvPr id="28" name="Icon disc LuLayers"/>
          <p:cNvSpPr/>
          <p:nvPr/>
        </p:nvSpPr>
        <p:spPr>
          <a:xfrm>
            <a:off x="6812280" y="1737360"/>
            <a:ext cx="384048" cy="384048"/>
          </a:xfrm>
          <a:prstGeom prst="ellipse">
            <a:avLst/>
          </a:prstGeom>
          <a:solidFill>
            <a:schemeClr val="bg1">
              <a:alpha val="20000"/>
            </a:schemeClr>
          </a:solidFill>
          <a:ln/>
        </p:spPr>
      </p:sp>
      <p:pic>
        <p:nvPicPr>
          <p:cNvPr id="29" name="Image 2" descr="Layers icon">    </p:cNvPr>
          <p:cNvPicPr>
            <a:picLocks noChangeAspect="1"/>
          </p:cNvPicPr>
          <p:nvPr/>
        </p:nvPicPr>
        <p:blipFill>
          <a:blip r:embed="rId3"/>
          <a:stretch>
            <a:fillRect/>
          </a:stretch>
        </p:blipFill>
        <p:spPr>
          <a:xfrm>
            <a:off x="6896771" y="1821851"/>
            <a:ext cx="215067" cy="215067"/>
          </a:xfrm>
          <a:prstGeom prst="rect">
            <a:avLst/>
          </a:prstGeom>
        </p:spPr>
      </p:pic>
      <p:sp>
        <p:nvSpPr>
          <p:cNvPr id="30" name="Text 24"/>
          <p:cNvSpPr txBox="1"/>
          <p:nvPr/>
        </p:nvSpPr>
        <p:spPr>
          <a:xfrm>
            <a:off x="7296912" y="1737360"/>
            <a:ext cx="1783080" cy="384048"/>
          </a:xfrm>
          <a:prstGeom prst="rect">
            <a:avLst/>
          </a:prstGeom>
          <a:noFill/>
          <a:ln/>
        </p:spPr>
        <p:txBody>
          <a:bodyPr wrap="square" lIns="0" tIns="0" rIns="0" bIns="0" rtlCol="0" anchor="ctr"/>
          <a:lstStyle/>
          <a:p>
            <a:pPr indent="0" marL="0">
              <a:buNone/>
            </a:pPr>
            <a:r>
              <a:rPr lang="en-US" sz="1200" b="1" dirty="0">
                <a:solidFill>
                  <a:schemeClr val="bg1"/>
                </a:solidFill>
              </a:rPr>
              <a:t>3 · Which risk class?</a:t>
            </a:r>
            <a:endParaRPr lang="en-US" sz="1200" dirty="0"/>
          </a:p>
        </p:txBody>
      </p:sp>
      <p:sp>
        <p:nvSpPr>
          <p:cNvPr id="31" name="Text 25"/>
          <p:cNvSpPr txBox="1"/>
          <p:nvPr/>
        </p:nvSpPr>
        <p:spPr>
          <a:xfrm>
            <a:off x="6812280" y="2194560"/>
            <a:ext cx="2240280" cy="822960"/>
          </a:xfrm>
          <a:prstGeom prst="rect">
            <a:avLst/>
          </a:prstGeom>
          <a:noFill/>
          <a:ln/>
        </p:spPr>
        <p:txBody>
          <a:bodyPr wrap="square" lIns="0" tIns="0" rIns="0" bIns="0" rtlCol="0" anchor="t"/>
          <a:lstStyle/>
          <a:p>
            <a:pPr indent="0" marL="0">
              <a:spcAft>
                <a:spcPts val="200"/>
              </a:spcAft>
              <a:buNone/>
            </a:pPr>
            <a:r>
              <a:rPr lang="en-US" sz="950" dirty="0">
                <a:solidFill>
                  <a:schemeClr val="bg1"/>
                </a:solidFill>
              </a:rPr>
              <a:t>Rule 4 and First Schedule Part I: non-invasive, invasive (orifice or surgical; transient, short- or long-term), active (energy, diagnosis, substances) and special rules → Class A (low) to D (high).</a:t>
            </a:r>
            <a:endParaRPr lang="en-US" sz="950" dirty="0"/>
          </a:p>
        </p:txBody>
      </p:sp>
      <p:sp>
        <p:nvSpPr>
          <p:cNvPr id="32" name="Arrow"/>
          <p:cNvSpPr/>
          <p:nvPr/>
        </p:nvSpPr>
        <p:spPr>
          <a:xfrm>
            <a:off x="9235440" y="2286000"/>
            <a:ext cx="411480" cy="0"/>
          </a:xfrm>
          <a:prstGeom prst="line">
            <a:avLst/>
          </a:prstGeom>
          <a:noFill/>
          <a:ln w="25400">
            <a:solidFill>
              <a:schemeClr val="accent1"/>
            </a:solidFill>
            <a:prstDash val="solid"/>
            <a:tailEnd type="triangle"/>
          </a:ln>
        </p:spPr>
      </p:sp>
      <p:sp>
        <p:nvSpPr>
          <p:cNvPr id="33" name="Question Regulated device"/>
          <p:cNvSpPr/>
          <p:nvPr/>
        </p:nvSpPr>
        <p:spPr>
          <a:xfrm>
            <a:off x="9692640" y="1600200"/>
            <a:ext cx="1947672" cy="1508760"/>
          </a:xfrm>
          <a:prstGeom prst="roundRect">
            <a:avLst>
              <a:gd name="adj" fmla="val 7273"/>
            </a:avLst>
          </a:prstGeom>
          <a:solidFill>
            <a:schemeClr val="accent1"/>
          </a:solidFill>
          <a:ln/>
        </p:spPr>
      </p:sp>
      <p:sp>
        <p:nvSpPr>
          <p:cNvPr id="34" name="Icon disc LuFileCheck"/>
          <p:cNvSpPr/>
          <p:nvPr/>
        </p:nvSpPr>
        <p:spPr>
          <a:xfrm>
            <a:off x="9829800" y="1737360"/>
            <a:ext cx="384048" cy="384048"/>
          </a:xfrm>
          <a:prstGeom prst="ellipse">
            <a:avLst/>
          </a:prstGeom>
          <a:solidFill>
            <a:schemeClr val="bg1">
              <a:alpha val="20000"/>
            </a:schemeClr>
          </a:solidFill>
          <a:ln/>
        </p:spPr>
      </p:sp>
      <p:pic>
        <p:nvPicPr>
          <p:cNvPr id="35" name="Image 3" descr="FileCheck icon">    </p:cNvPr>
          <p:cNvPicPr>
            <a:picLocks noChangeAspect="1"/>
          </p:cNvPicPr>
          <p:nvPr/>
        </p:nvPicPr>
        <p:blipFill>
          <a:blip r:embed="rId4"/>
          <a:stretch>
            <a:fillRect/>
          </a:stretch>
        </p:blipFill>
        <p:spPr>
          <a:xfrm>
            <a:off x="9914291" y="1821851"/>
            <a:ext cx="215067" cy="215067"/>
          </a:xfrm>
          <a:prstGeom prst="rect">
            <a:avLst/>
          </a:prstGeom>
        </p:spPr>
      </p:pic>
      <p:sp>
        <p:nvSpPr>
          <p:cNvPr id="36" name="Text 29"/>
          <p:cNvSpPr txBox="1"/>
          <p:nvPr/>
        </p:nvSpPr>
        <p:spPr>
          <a:xfrm>
            <a:off x="10314432" y="1737360"/>
            <a:ext cx="1216152" cy="384048"/>
          </a:xfrm>
          <a:prstGeom prst="rect">
            <a:avLst/>
          </a:prstGeom>
          <a:noFill/>
          <a:ln/>
        </p:spPr>
        <p:txBody>
          <a:bodyPr wrap="square" lIns="0" tIns="0" rIns="0" bIns="0" rtlCol="0" anchor="ctr"/>
          <a:lstStyle/>
          <a:p>
            <a:pPr indent="0" marL="0">
              <a:buNone/>
            </a:pPr>
            <a:r>
              <a:rPr lang="en-US" sz="1200" b="1" dirty="0">
                <a:solidFill>
                  <a:schemeClr val="bg1"/>
                </a:solidFill>
              </a:rPr>
              <a:t>Regulated device</a:t>
            </a:r>
            <a:endParaRPr lang="en-US" sz="1200" dirty="0"/>
          </a:p>
        </p:txBody>
      </p:sp>
      <p:sp>
        <p:nvSpPr>
          <p:cNvPr id="37" name="Text 30"/>
          <p:cNvSpPr txBox="1"/>
          <p:nvPr/>
        </p:nvSpPr>
        <p:spPr>
          <a:xfrm>
            <a:off x="9829800" y="2194560"/>
            <a:ext cx="1673352" cy="822960"/>
          </a:xfrm>
          <a:prstGeom prst="rect">
            <a:avLst/>
          </a:prstGeom>
          <a:noFill/>
          <a:ln/>
        </p:spPr>
        <p:txBody>
          <a:bodyPr wrap="square" lIns="0" tIns="0" rIns="0" bIns="0" rtlCol="0" anchor="t"/>
          <a:lstStyle/>
          <a:p>
            <a:pPr indent="0" marL="0">
              <a:spcAft>
                <a:spcPts val="200"/>
              </a:spcAft>
              <a:buNone/>
            </a:pPr>
            <a:r>
              <a:rPr lang="en-US" sz="950" dirty="0">
                <a:solidFill>
                  <a:schemeClr val="bg1"/>
                </a:solidFill>
              </a:rPr>
              <a:t>Class A/B: State licence MD-5 (Class A non-sterile non-measuring: registration only).</a:t>
            </a:r>
            <a:endParaRPr lang="en-US" sz="950" dirty="0"/>
          </a:p>
          <a:p>
            <a:pPr indent="0" marL="0">
              <a:spcAft>
                <a:spcPts val="200"/>
              </a:spcAft>
              <a:buNone/>
            </a:pPr>
            <a:r>
              <a:rPr lang="en-US" sz="950" dirty="0">
                <a:solidFill>
                  <a:schemeClr val="bg1"/>
                </a:solidFill>
              </a:rPr>
              <a:t>Class C/D: Central licence MD-9. Import: MD-15.</a:t>
            </a:r>
            <a:endParaRPr lang="en-US" sz="950" dirty="0"/>
          </a:p>
        </p:txBody>
      </p:sp>
      <p:sp>
        <p:nvSpPr>
          <p:cNvPr id="38" name="Outside MDR"/>
          <p:cNvSpPr/>
          <p:nvPr/>
        </p:nvSpPr>
        <p:spPr>
          <a:xfrm>
            <a:off x="3611880" y="3364992"/>
            <a:ext cx="8028432" cy="566928"/>
          </a:xfrm>
          <a:prstGeom prst="roundRect">
            <a:avLst>
              <a:gd name="adj" fmla="val 16129"/>
            </a:avLst>
          </a:prstGeom>
          <a:solidFill>
            <a:schemeClr val="bg2"/>
          </a:solidFill>
          <a:ln w="12700">
            <a:solidFill>
              <a:schemeClr val="accent5"/>
            </a:solidFill>
            <a:prstDash val="dash"/>
          </a:ln>
        </p:spPr>
      </p:sp>
      <p:sp>
        <p:nvSpPr>
          <p:cNvPr id="39" name="Icon disc LuCircleOff"/>
          <p:cNvSpPr/>
          <p:nvPr/>
        </p:nvSpPr>
        <p:spPr>
          <a:xfrm>
            <a:off x="3749040" y="3493008"/>
            <a:ext cx="310896" cy="310896"/>
          </a:xfrm>
          <a:prstGeom prst="ellipse">
            <a:avLst/>
          </a:prstGeom>
          <a:solidFill>
            <a:schemeClr val="accent5"/>
          </a:solidFill>
          <a:ln/>
        </p:spPr>
      </p:sp>
      <p:pic>
        <p:nvPicPr>
          <p:cNvPr id="40" name="Image 4" descr="CircleOff icon">    </p:cNvPr>
          <p:cNvPicPr>
            <a:picLocks noChangeAspect="1"/>
          </p:cNvPicPr>
          <p:nvPr/>
        </p:nvPicPr>
        <p:blipFill>
          <a:blip r:embed="rId5"/>
          <a:stretch>
            <a:fillRect/>
          </a:stretch>
        </p:blipFill>
        <p:spPr>
          <a:xfrm>
            <a:off x="3817437" y="3561405"/>
            <a:ext cx="174102" cy="174102"/>
          </a:xfrm>
          <a:prstGeom prst="rect">
            <a:avLst/>
          </a:prstGeom>
        </p:spPr>
      </p:pic>
      <p:sp>
        <p:nvSpPr>
          <p:cNvPr id="41" name="Text 33"/>
          <p:cNvSpPr txBox="1"/>
          <p:nvPr/>
        </p:nvSpPr>
        <p:spPr>
          <a:xfrm>
            <a:off x="4160520" y="3364992"/>
            <a:ext cx="7406640" cy="566928"/>
          </a:xfrm>
          <a:prstGeom prst="rect">
            <a:avLst/>
          </a:prstGeom>
          <a:noFill/>
          <a:ln/>
        </p:spPr>
        <p:txBody>
          <a:bodyPr wrap="square" lIns="0" tIns="0" rIns="0" bIns="0" rtlCol="0" anchor="ctr"/>
          <a:lstStyle/>
          <a:p>
            <a:pPr indent="0" marL="0">
              <a:buNone/>
            </a:pPr>
            <a:r>
              <a:rPr lang="en-US" sz="950" b="1" dirty="0">
                <a:solidFill>
                  <a:schemeClr val="tx1"/>
                </a:solidFill>
              </a:rPr>
              <a:t>Outside MDR-2017 </a:t>
            </a:r>
            <a:pPr indent="0" marL="0">
              <a:buNone/>
            </a:pPr>
            <a:r>
              <a:rPr lang="en-US" sz="950" dirty="0">
                <a:solidFill>
                  <a:schemeClr val="tx1"/>
                </a:solidFill>
              </a:rPr>
              <a:t>when no medical purpose is claimed (fitness, wellness, administration). The real purpose and the claims decide, not the label or the technology: calling a product “wellness” does not remove obligations if its purpose is medical (Simon, Shachar &amp; Cohen, JAMA 2022).</a:t>
            </a:r>
            <a:endParaRPr lang="en-US" sz="950" dirty="0"/>
          </a:p>
        </p:txBody>
      </p:sp>
      <p:sp>
        <p:nvSpPr>
          <p:cNvPr id="42" name="Card FoGO"/>
          <p:cNvSpPr/>
          <p:nvPr/>
        </p:nvSpPr>
        <p:spPr>
          <a:xfrm>
            <a:off x="548640" y="4160520"/>
            <a:ext cx="2650160" cy="2011680"/>
          </a:xfrm>
          <a:prstGeom prst="roundRect">
            <a:avLst>
              <a:gd name="adj" fmla="val 5455"/>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43" name="Icon disc LuWatch"/>
          <p:cNvSpPr/>
          <p:nvPr/>
        </p:nvSpPr>
        <p:spPr>
          <a:xfrm>
            <a:off x="731520" y="4343400"/>
            <a:ext cx="402336" cy="402336"/>
          </a:xfrm>
          <a:prstGeom prst="ellipse">
            <a:avLst/>
          </a:prstGeom>
          <a:solidFill>
            <a:schemeClr val="accent1">
              <a:alpha val="15000"/>
            </a:schemeClr>
          </a:solidFill>
          <a:ln/>
        </p:spPr>
      </p:sp>
      <p:pic>
        <p:nvPicPr>
          <p:cNvPr id="44" name="Image 5" descr="Watch icon">    </p:cNvPr>
          <p:cNvPicPr>
            <a:picLocks noChangeAspect="1"/>
          </p:cNvPicPr>
          <p:nvPr/>
        </p:nvPicPr>
        <p:blipFill>
          <a:blip r:embed="rId6"/>
          <a:stretch>
            <a:fillRect/>
          </a:stretch>
        </p:blipFill>
        <p:spPr>
          <a:xfrm>
            <a:off x="820034" y="4431914"/>
            <a:ext cx="225308" cy="225308"/>
          </a:xfrm>
          <a:prstGeom prst="rect">
            <a:avLst/>
          </a:prstGeom>
        </p:spPr>
      </p:pic>
      <p:sp>
        <p:nvSpPr>
          <p:cNvPr id="45" name="Pill Device"/>
          <p:cNvSpPr/>
          <p:nvPr/>
        </p:nvSpPr>
        <p:spPr>
          <a:xfrm>
            <a:off x="1964360" y="4343400"/>
            <a:ext cx="1051560" cy="237744"/>
          </a:xfrm>
          <a:prstGeom prst="roundRect">
            <a:avLst>
              <a:gd name="adj" fmla="val 50000"/>
            </a:avLst>
          </a:prstGeom>
          <a:solidFill>
            <a:schemeClr val="accent1"/>
          </a:solidFill>
          <a:ln w="15875">
            <a:solidFill>
              <a:schemeClr val="accent1"/>
            </a:solidFill>
            <a:prstDash val="solid"/>
          </a:ln>
        </p:spPr>
      </p:sp>
      <p:sp>
        <p:nvSpPr>
          <p:cNvPr id="46" name="Text 37"/>
          <p:cNvSpPr txBox="1"/>
          <p:nvPr/>
        </p:nvSpPr>
        <p:spPr>
          <a:xfrm>
            <a:off x="1964360" y="4343400"/>
            <a:ext cx="1051560" cy="237744"/>
          </a:xfrm>
          <a:prstGeom prst="rect">
            <a:avLst/>
          </a:prstGeom>
          <a:noFill/>
          <a:ln/>
        </p:spPr>
        <p:txBody>
          <a:bodyPr wrap="square" lIns="0" tIns="0" rIns="0" bIns="0" rtlCol="0" anchor="ctr"/>
          <a:lstStyle/>
          <a:p>
            <a:pPr algn="ctr" indent="0" marL="0">
              <a:buNone/>
            </a:pPr>
            <a:r>
              <a:rPr lang="en-US" sz="900" b="1" dirty="0">
                <a:solidFill>
                  <a:schemeClr val="bg1"/>
                </a:solidFill>
              </a:rPr>
              <a:t>Device</a:t>
            </a:r>
            <a:endParaRPr lang="en-US" sz="900" dirty="0"/>
          </a:p>
        </p:txBody>
      </p:sp>
      <p:sp>
        <p:nvSpPr>
          <p:cNvPr id="47" name="Text 38"/>
          <p:cNvSpPr txBox="1"/>
          <p:nvPr/>
        </p:nvSpPr>
        <p:spPr>
          <a:xfrm>
            <a:off x="1271016" y="4343400"/>
            <a:ext cx="647624" cy="402336"/>
          </a:xfrm>
          <a:prstGeom prst="rect">
            <a:avLst/>
          </a:prstGeom>
          <a:noFill/>
          <a:ln/>
        </p:spPr>
        <p:txBody>
          <a:bodyPr wrap="square" lIns="0" tIns="0" rIns="0" bIns="0" rtlCol="0" anchor="ctr"/>
          <a:lstStyle/>
          <a:p>
            <a:pPr indent="0" marL="0">
              <a:buNone/>
            </a:pPr>
            <a:r>
              <a:rPr lang="en-US" sz="1200" b="1" dirty="0">
                <a:solidFill>
                  <a:schemeClr val="tx1"/>
                </a:solidFill>
              </a:rPr>
              <a:t>FoGO</a:t>
            </a:r>
            <a:endParaRPr lang="en-US" sz="1200" dirty="0"/>
          </a:p>
        </p:txBody>
      </p:sp>
      <p:sp>
        <p:nvSpPr>
          <p:cNvPr id="48" name="Text 39"/>
          <p:cNvSpPr txBox="1"/>
          <p:nvPr/>
        </p:nvSpPr>
        <p:spPr>
          <a:xfrm>
            <a:off x="731520" y="4855464"/>
            <a:ext cx="2284400" cy="1152144"/>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tx2"/>
                </a:solidFill>
              </a:rPr>
              <a:t>Claim: detects freezing of gait and cues the user</a:t>
            </a:r>
            <a:endParaRPr lang="en-US" sz="950" dirty="0"/>
          </a:p>
          <a:p>
            <a:pPr marL="127000" indent="-127000">
              <a:spcAft>
                <a:spcPts val="300"/>
              </a:spcAft>
              <a:buSzPct val="100000"/>
              <a:buChar char="•"/>
            </a:pPr>
            <a:r>
              <a:rPr lang="en-US" sz="950" dirty="0">
                <a:solidFill>
                  <a:schemeClr val="tx2"/>
                </a:solidFill>
              </a:rPr>
              <a:t>Software drives the cue: SaMD rules apply</a:t>
            </a:r>
            <a:endParaRPr lang="en-US" sz="950" dirty="0"/>
          </a:p>
          <a:p>
            <a:pPr marL="127000" indent="-127000">
              <a:spcAft>
                <a:spcPts val="300"/>
              </a:spcAft>
              <a:buSzPct val="100000"/>
              <a:buChar char="•"/>
            </a:pPr>
            <a:r>
              <a:rPr lang="en-US" sz="950" dirty="0">
                <a:solidFill>
                  <a:schemeClr val="tx2"/>
                </a:solidFill>
              </a:rPr>
              <a:t>Class: developer proposes B; say “likely B or C” until CDSCO confirms</a:t>
            </a:r>
            <a:endParaRPr lang="en-US" sz="950" dirty="0"/>
          </a:p>
        </p:txBody>
      </p:sp>
      <p:sp>
        <p:nvSpPr>
          <p:cNvPr id="49" name="Card SwaKnee"/>
          <p:cNvSpPr/>
          <p:nvPr/>
        </p:nvSpPr>
        <p:spPr>
          <a:xfrm>
            <a:off x="3363392" y="4160520"/>
            <a:ext cx="2650160" cy="2011680"/>
          </a:xfrm>
          <a:prstGeom prst="roundRect">
            <a:avLst>
              <a:gd name="adj" fmla="val 5455"/>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50" name="Icon disc LuMagnet"/>
          <p:cNvSpPr/>
          <p:nvPr/>
        </p:nvSpPr>
        <p:spPr>
          <a:xfrm>
            <a:off x="3546272" y="4343400"/>
            <a:ext cx="402336" cy="402336"/>
          </a:xfrm>
          <a:prstGeom prst="ellipse">
            <a:avLst/>
          </a:prstGeom>
          <a:solidFill>
            <a:schemeClr val="accent1">
              <a:alpha val="15000"/>
            </a:schemeClr>
          </a:solidFill>
          <a:ln/>
        </p:spPr>
      </p:sp>
      <p:pic>
        <p:nvPicPr>
          <p:cNvPr id="51" name="Image 6" descr="Magnet icon">    </p:cNvPr>
          <p:cNvPicPr>
            <a:picLocks noChangeAspect="1"/>
          </p:cNvPicPr>
          <p:nvPr/>
        </p:nvPicPr>
        <p:blipFill>
          <a:blip r:embed="rId7"/>
          <a:stretch>
            <a:fillRect/>
          </a:stretch>
        </p:blipFill>
        <p:spPr>
          <a:xfrm>
            <a:off x="3634786" y="4431914"/>
            <a:ext cx="225308" cy="225308"/>
          </a:xfrm>
          <a:prstGeom prst="rect">
            <a:avLst/>
          </a:prstGeom>
        </p:spPr>
      </p:pic>
      <p:sp>
        <p:nvSpPr>
          <p:cNvPr id="52" name="Pill Device"/>
          <p:cNvSpPr/>
          <p:nvPr/>
        </p:nvSpPr>
        <p:spPr>
          <a:xfrm>
            <a:off x="4779112" y="4343400"/>
            <a:ext cx="1051560" cy="237744"/>
          </a:xfrm>
          <a:prstGeom prst="roundRect">
            <a:avLst>
              <a:gd name="adj" fmla="val 50000"/>
            </a:avLst>
          </a:prstGeom>
          <a:solidFill>
            <a:schemeClr val="accent1"/>
          </a:solidFill>
          <a:ln w="15875">
            <a:solidFill>
              <a:schemeClr val="accent1"/>
            </a:solidFill>
            <a:prstDash val="solid"/>
          </a:ln>
        </p:spPr>
      </p:sp>
      <p:sp>
        <p:nvSpPr>
          <p:cNvPr id="53" name="Text 43"/>
          <p:cNvSpPr txBox="1"/>
          <p:nvPr/>
        </p:nvSpPr>
        <p:spPr>
          <a:xfrm>
            <a:off x="4779112" y="4343400"/>
            <a:ext cx="1051560" cy="237744"/>
          </a:xfrm>
          <a:prstGeom prst="rect">
            <a:avLst/>
          </a:prstGeom>
          <a:noFill/>
          <a:ln/>
        </p:spPr>
        <p:txBody>
          <a:bodyPr wrap="square" lIns="0" tIns="0" rIns="0" bIns="0" rtlCol="0" anchor="ctr"/>
          <a:lstStyle/>
          <a:p>
            <a:pPr algn="ctr" indent="0" marL="0">
              <a:buNone/>
            </a:pPr>
            <a:r>
              <a:rPr lang="en-US" sz="900" b="1" dirty="0">
                <a:solidFill>
                  <a:schemeClr val="bg1"/>
                </a:solidFill>
              </a:rPr>
              <a:t>Device</a:t>
            </a:r>
            <a:endParaRPr lang="en-US" sz="900" dirty="0"/>
          </a:p>
        </p:txBody>
      </p:sp>
      <p:sp>
        <p:nvSpPr>
          <p:cNvPr id="54" name="Text 44"/>
          <p:cNvSpPr txBox="1"/>
          <p:nvPr/>
        </p:nvSpPr>
        <p:spPr>
          <a:xfrm>
            <a:off x="4085768" y="4343400"/>
            <a:ext cx="647624" cy="402336"/>
          </a:xfrm>
          <a:prstGeom prst="rect">
            <a:avLst/>
          </a:prstGeom>
          <a:noFill/>
          <a:ln/>
        </p:spPr>
        <p:txBody>
          <a:bodyPr wrap="square" lIns="0" tIns="0" rIns="0" bIns="0" rtlCol="0" anchor="ctr"/>
          <a:lstStyle/>
          <a:p>
            <a:pPr indent="0" marL="0">
              <a:buNone/>
            </a:pPr>
            <a:r>
              <a:rPr lang="en-US" sz="1200" b="1" dirty="0">
                <a:solidFill>
                  <a:schemeClr val="tx1"/>
                </a:solidFill>
              </a:rPr>
              <a:t>SwaKnee</a:t>
            </a:r>
            <a:endParaRPr lang="en-US" sz="1200" dirty="0"/>
          </a:p>
        </p:txBody>
      </p:sp>
      <p:sp>
        <p:nvSpPr>
          <p:cNvPr id="55" name="Text 45"/>
          <p:cNvSpPr txBox="1"/>
          <p:nvPr/>
        </p:nvSpPr>
        <p:spPr>
          <a:xfrm>
            <a:off x="3546272" y="4855464"/>
            <a:ext cx="2284400" cy="1152144"/>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tx2"/>
                </a:solidFill>
              </a:rPr>
              <a:t>Claim: pulsed electromagnetic field for knee osteoarthritis pain</a:t>
            </a:r>
            <a:endParaRPr lang="en-US" sz="950" dirty="0"/>
          </a:p>
          <a:p>
            <a:pPr marL="127000" indent="-127000">
              <a:spcAft>
                <a:spcPts val="300"/>
              </a:spcAft>
              <a:buSzPct val="100000"/>
              <a:buChar char="•"/>
            </a:pPr>
            <a:r>
              <a:rPr lang="en-US" sz="950" dirty="0">
                <a:solidFill>
                  <a:schemeClr val="tx2"/>
                </a:solidFill>
              </a:rPr>
              <a:t>Active therapeutic device delivering energy</a:t>
            </a:r>
            <a:endParaRPr lang="en-US" sz="950" dirty="0"/>
          </a:p>
          <a:p>
            <a:pPr marL="127000" indent="-127000">
              <a:spcAft>
                <a:spcPts val="300"/>
              </a:spcAft>
              <a:buSzPct val="100000"/>
              <a:buChar char="•"/>
            </a:pPr>
            <a:r>
              <a:rPr lang="en-US" sz="950" dirty="0">
                <a:solidFill>
                  <a:schemeClr val="tx2"/>
                </a:solidFill>
              </a:rPr>
              <a:t>Class: likely B under the First Schedule; verify on CDSCO lists</a:t>
            </a:r>
            <a:endParaRPr lang="en-US" sz="950" dirty="0"/>
          </a:p>
        </p:txBody>
      </p:sp>
      <p:sp>
        <p:nvSpPr>
          <p:cNvPr id="56" name="Card Fitness band"/>
          <p:cNvSpPr/>
          <p:nvPr/>
        </p:nvSpPr>
        <p:spPr>
          <a:xfrm>
            <a:off x="6178144" y="4160520"/>
            <a:ext cx="2650160" cy="2011680"/>
          </a:xfrm>
          <a:prstGeom prst="roundRect">
            <a:avLst>
              <a:gd name="adj" fmla="val 5455"/>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57" name="Icon disc LuActivity"/>
          <p:cNvSpPr/>
          <p:nvPr/>
        </p:nvSpPr>
        <p:spPr>
          <a:xfrm>
            <a:off x="6361024" y="4343400"/>
            <a:ext cx="402336" cy="402336"/>
          </a:xfrm>
          <a:prstGeom prst="ellipse">
            <a:avLst/>
          </a:prstGeom>
          <a:solidFill>
            <a:schemeClr val="accent5">
              <a:alpha val="15000"/>
            </a:schemeClr>
          </a:solidFill>
          <a:ln/>
        </p:spPr>
      </p:sp>
      <p:pic>
        <p:nvPicPr>
          <p:cNvPr id="58" name="Image 7" descr="Activity icon">    </p:cNvPr>
          <p:cNvPicPr>
            <a:picLocks noChangeAspect="1"/>
          </p:cNvPicPr>
          <p:nvPr/>
        </p:nvPicPr>
        <p:blipFill>
          <a:blip r:embed="rId8"/>
          <a:stretch>
            <a:fillRect/>
          </a:stretch>
        </p:blipFill>
        <p:spPr>
          <a:xfrm>
            <a:off x="6449538" y="4431914"/>
            <a:ext cx="225308" cy="225308"/>
          </a:xfrm>
          <a:prstGeom prst="rect">
            <a:avLst/>
          </a:prstGeom>
        </p:spPr>
      </p:pic>
      <p:sp>
        <p:nvSpPr>
          <p:cNvPr id="59" name="Pill Not a device"/>
          <p:cNvSpPr/>
          <p:nvPr/>
        </p:nvSpPr>
        <p:spPr>
          <a:xfrm>
            <a:off x="7593863" y="4343400"/>
            <a:ext cx="1051560" cy="237744"/>
          </a:xfrm>
          <a:prstGeom prst="roundRect">
            <a:avLst>
              <a:gd name="adj" fmla="val 50000"/>
            </a:avLst>
          </a:prstGeom>
          <a:solidFill>
            <a:schemeClr val="accent5"/>
          </a:solidFill>
          <a:ln w="15875">
            <a:solidFill>
              <a:schemeClr val="accent5"/>
            </a:solidFill>
            <a:prstDash val="solid"/>
          </a:ln>
        </p:spPr>
      </p:sp>
      <p:sp>
        <p:nvSpPr>
          <p:cNvPr id="60" name="Text 49"/>
          <p:cNvSpPr txBox="1"/>
          <p:nvPr/>
        </p:nvSpPr>
        <p:spPr>
          <a:xfrm>
            <a:off x="7593863" y="4343400"/>
            <a:ext cx="1051560" cy="237744"/>
          </a:xfrm>
          <a:prstGeom prst="rect">
            <a:avLst/>
          </a:prstGeom>
          <a:noFill/>
          <a:ln/>
        </p:spPr>
        <p:txBody>
          <a:bodyPr wrap="square" lIns="0" tIns="0" rIns="0" bIns="0" rtlCol="0" anchor="ctr"/>
          <a:lstStyle/>
          <a:p>
            <a:pPr algn="ctr" indent="0" marL="0">
              <a:buNone/>
            </a:pPr>
            <a:r>
              <a:rPr lang="en-US" sz="900" b="1" dirty="0">
                <a:solidFill>
                  <a:schemeClr val="bg1"/>
                </a:solidFill>
              </a:rPr>
              <a:t>Not a device</a:t>
            </a:r>
            <a:endParaRPr lang="en-US" sz="900" dirty="0"/>
          </a:p>
        </p:txBody>
      </p:sp>
      <p:sp>
        <p:nvSpPr>
          <p:cNvPr id="61" name="Text 50"/>
          <p:cNvSpPr txBox="1"/>
          <p:nvPr/>
        </p:nvSpPr>
        <p:spPr>
          <a:xfrm>
            <a:off x="6900520" y="4343400"/>
            <a:ext cx="647624" cy="402336"/>
          </a:xfrm>
          <a:prstGeom prst="rect">
            <a:avLst/>
          </a:prstGeom>
          <a:noFill/>
          <a:ln/>
        </p:spPr>
        <p:txBody>
          <a:bodyPr wrap="square" lIns="0" tIns="0" rIns="0" bIns="0" rtlCol="0" anchor="ctr"/>
          <a:lstStyle/>
          <a:p>
            <a:pPr indent="0" marL="0">
              <a:buNone/>
            </a:pPr>
            <a:r>
              <a:rPr lang="en-US" sz="1200" b="1" dirty="0">
                <a:solidFill>
                  <a:schemeClr val="tx1"/>
                </a:solidFill>
              </a:rPr>
              <a:t>Fitness band</a:t>
            </a:r>
            <a:endParaRPr lang="en-US" sz="1200" dirty="0"/>
          </a:p>
        </p:txBody>
      </p:sp>
      <p:sp>
        <p:nvSpPr>
          <p:cNvPr id="62" name="Text 51"/>
          <p:cNvSpPr txBox="1"/>
          <p:nvPr/>
        </p:nvSpPr>
        <p:spPr>
          <a:xfrm>
            <a:off x="6361024" y="4855464"/>
            <a:ext cx="2284400" cy="1152144"/>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tx2"/>
                </a:solidFill>
              </a:rPr>
              <a:t>Claim: counts steps, “stay active”</a:t>
            </a:r>
            <a:endParaRPr lang="en-US" sz="950" dirty="0"/>
          </a:p>
          <a:p>
            <a:pPr marL="127000" indent="-127000">
              <a:spcAft>
                <a:spcPts val="300"/>
              </a:spcAft>
              <a:buSzPct val="100000"/>
              <a:buChar char="•"/>
            </a:pPr>
            <a:r>
              <a:rPr lang="en-US" sz="950" dirty="0">
                <a:solidFill>
                  <a:schemeClr val="tx2"/>
                </a:solidFill>
              </a:rPr>
              <a:t>No disease named, no diagnosis</a:t>
            </a:r>
            <a:endParaRPr lang="en-US" sz="950" dirty="0"/>
          </a:p>
          <a:p>
            <a:pPr marL="127000" indent="-127000">
              <a:spcAft>
                <a:spcPts val="300"/>
              </a:spcAft>
              <a:buSzPct val="100000"/>
              <a:buChar char="•"/>
            </a:pPr>
            <a:r>
              <a:rPr lang="en-US" sz="950" dirty="0">
                <a:solidFill>
                  <a:schemeClr val="tx2"/>
                </a:solidFill>
              </a:rPr>
              <a:t>Adds “detects arrhythmia”? Then it is a device</a:t>
            </a:r>
            <a:endParaRPr lang="en-US" sz="950" dirty="0"/>
          </a:p>
        </p:txBody>
      </p:sp>
      <p:sp>
        <p:nvSpPr>
          <p:cNvPr id="63" name="Card Hospital app"/>
          <p:cNvSpPr/>
          <p:nvPr/>
        </p:nvSpPr>
        <p:spPr>
          <a:xfrm>
            <a:off x="8992895" y="4160520"/>
            <a:ext cx="2650160" cy="2011680"/>
          </a:xfrm>
          <a:prstGeom prst="roundRect">
            <a:avLst>
              <a:gd name="adj" fmla="val 5455"/>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64" name="Icon disc LuCalendarDays"/>
          <p:cNvSpPr/>
          <p:nvPr/>
        </p:nvSpPr>
        <p:spPr>
          <a:xfrm>
            <a:off x="9175775" y="4343400"/>
            <a:ext cx="402336" cy="402336"/>
          </a:xfrm>
          <a:prstGeom prst="ellipse">
            <a:avLst/>
          </a:prstGeom>
          <a:solidFill>
            <a:schemeClr val="accent5">
              <a:alpha val="15000"/>
            </a:schemeClr>
          </a:solidFill>
          <a:ln/>
        </p:spPr>
      </p:sp>
      <p:pic>
        <p:nvPicPr>
          <p:cNvPr id="65" name="Image 8" descr="CalendarDays icon">    </p:cNvPr>
          <p:cNvPicPr>
            <a:picLocks noChangeAspect="1"/>
          </p:cNvPicPr>
          <p:nvPr/>
        </p:nvPicPr>
        <p:blipFill>
          <a:blip r:embed="rId9"/>
          <a:stretch>
            <a:fillRect/>
          </a:stretch>
        </p:blipFill>
        <p:spPr>
          <a:xfrm>
            <a:off x="9264289" y="4431914"/>
            <a:ext cx="225308" cy="225308"/>
          </a:xfrm>
          <a:prstGeom prst="rect">
            <a:avLst/>
          </a:prstGeom>
        </p:spPr>
      </p:pic>
      <p:sp>
        <p:nvSpPr>
          <p:cNvPr id="66" name="Pill Not a device"/>
          <p:cNvSpPr/>
          <p:nvPr/>
        </p:nvSpPr>
        <p:spPr>
          <a:xfrm>
            <a:off x="10408615" y="4343400"/>
            <a:ext cx="1051560" cy="237744"/>
          </a:xfrm>
          <a:prstGeom prst="roundRect">
            <a:avLst>
              <a:gd name="adj" fmla="val 50000"/>
            </a:avLst>
          </a:prstGeom>
          <a:solidFill>
            <a:schemeClr val="accent5"/>
          </a:solidFill>
          <a:ln w="15875">
            <a:solidFill>
              <a:schemeClr val="accent5"/>
            </a:solidFill>
            <a:prstDash val="solid"/>
          </a:ln>
        </p:spPr>
      </p:sp>
      <p:sp>
        <p:nvSpPr>
          <p:cNvPr id="67" name="Text 55"/>
          <p:cNvSpPr txBox="1"/>
          <p:nvPr/>
        </p:nvSpPr>
        <p:spPr>
          <a:xfrm>
            <a:off x="10408615" y="4343400"/>
            <a:ext cx="1051560" cy="237744"/>
          </a:xfrm>
          <a:prstGeom prst="rect">
            <a:avLst/>
          </a:prstGeom>
          <a:noFill/>
          <a:ln/>
        </p:spPr>
        <p:txBody>
          <a:bodyPr wrap="square" lIns="0" tIns="0" rIns="0" bIns="0" rtlCol="0" anchor="ctr"/>
          <a:lstStyle/>
          <a:p>
            <a:pPr algn="ctr" indent="0" marL="0">
              <a:buNone/>
            </a:pPr>
            <a:r>
              <a:rPr lang="en-US" sz="900" b="1" dirty="0">
                <a:solidFill>
                  <a:schemeClr val="bg1"/>
                </a:solidFill>
              </a:rPr>
              <a:t>Not a device</a:t>
            </a:r>
            <a:endParaRPr lang="en-US" sz="900" dirty="0"/>
          </a:p>
        </p:txBody>
      </p:sp>
      <p:sp>
        <p:nvSpPr>
          <p:cNvPr id="68" name="Text 56"/>
          <p:cNvSpPr txBox="1"/>
          <p:nvPr/>
        </p:nvSpPr>
        <p:spPr>
          <a:xfrm>
            <a:off x="9715271" y="4343400"/>
            <a:ext cx="647624" cy="402336"/>
          </a:xfrm>
          <a:prstGeom prst="rect">
            <a:avLst/>
          </a:prstGeom>
          <a:noFill/>
          <a:ln/>
        </p:spPr>
        <p:txBody>
          <a:bodyPr wrap="square" lIns="0" tIns="0" rIns="0" bIns="0" rtlCol="0" anchor="ctr"/>
          <a:lstStyle/>
          <a:p>
            <a:pPr indent="0" marL="0">
              <a:buNone/>
            </a:pPr>
            <a:r>
              <a:rPr lang="en-US" sz="1200" b="1" dirty="0">
                <a:solidFill>
                  <a:schemeClr val="tx1"/>
                </a:solidFill>
              </a:rPr>
              <a:t>Hospital app</a:t>
            </a:r>
            <a:endParaRPr lang="en-US" sz="1200" dirty="0"/>
          </a:p>
        </p:txBody>
      </p:sp>
      <p:sp>
        <p:nvSpPr>
          <p:cNvPr id="69" name="Text 57"/>
          <p:cNvSpPr txBox="1"/>
          <p:nvPr/>
        </p:nvSpPr>
        <p:spPr>
          <a:xfrm>
            <a:off x="9175775" y="4855464"/>
            <a:ext cx="2284400" cy="1152144"/>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tx2"/>
                </a:solidFill>
              </a:rPr>
              <a:t>Appointments, queues, billing</a:t>
            </a:r>
            <a:endParaRPr lang="en-US" sz="950" dirty="0"/>
          </a:p>
          <a:p>
            <a:pPr marL="127000" indent="-127000">
              <a:spcAft>
                <a:spcPts val="300"/>
              </a:spcAft>
              <a:buSzPct val="100000"/>
              <a:buChar char="•"/>
            </a:pPr>
            <a:r>
              <a:rPr lang="en-US" sz="950" dirty="0">
                <a:solidFill>
                  <a:schemeClr val="tx2"/>
                </a:solidFill>
              </a:rPr>
              <a:t>No medical purpose in the output</a:t>
            </a:r>
            <a:endParaRPr lang="en-US" sz="950" dirty="0"/>
          </a:p>
          <a:p>
            <a:pPr marL="127000" indent="-127000">
              <a:spcAft>
                <a:spcPts val="300"/>
              </a:spcAft>
              <a:buSzPct val="100000"/>
              <a:buChar char="•"/>
            </a:pPr>
            <a:r>
              <a:rPr lang="en-US" sz="950" dirty="0">
                <a:solidFill>
                  <a:schemeClr val="tx2"/>
                </a:solidFill>
              </a:rPr>
              <a:t>Adds triage or dosing advice? Re-check</a:t>
            </a: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EVIDENCE · FoGO</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What did the prototype show?</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FoGO BIRAC BIG presentation (supplied, 2026; project-reported); 12 s demonstration clip (volunteer, simulated freeze)</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02952" y="347472"/>
            <a:ext cx="219456" cy="219456"/>
          </a:xfrm>
          <a:prstGeom prst="ellipse">
            <a:avLst/>
          </a:prstGeom>
          <a:solidFill>
            <a:schemeClr val="accent1"/>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tx2"/>
          </a:solidFill>
          <a:ln w="12700">
            <a:solidFill>
              <a:schemeClr val="accent6"/>
            </a:solidFill>
            <a:prstDash val="solid"/>
          </a:ln>
        </p:spPr>
      </p:sp>
      <p:sp>
        <p:nvSpPr>
          <p:cNvPr id="8" name="Progress Permission"/>
          <p:cNvSpPr/>
          <p:nvPr/>
        </p:nvSpPr>
        <p:spPr>
          <a:xfrm>
            <a:off x="10680192" y="393192"/>
            <a:ext cx="128016" cy="128016"/>
          </a:xfrm>
          <a:prstGeom prst="ellipse">
            <a:avLst/>
          </a:prstGeom>
          <a:solidFill>
            <a:schemeClr val="tx2"/>
          </a:solidFill>
          <a:ln w="12700">
            <a:solidFill>
              <a:schemeClr val="accent6"/>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pic>
        <p:nvPicPr>
          <p:cNvPr id="3" name="FoGO prototype clip (12 s)">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00200"/>
            <a:ext cx="4846320" cy="3781810"/>
          </a:xfrm>
          <a:prstGeom prst="rect">
            <a:avLst/>
          </a:prstGeom>
        </p:spPr>
      </p:pic>
      <p:sp>
        <p:nvSpPr>
          <p:cNvPr id="13" name="Text 9"/>
          <p:cNvSpPr txBox="1"/>
          <p:nvPr/>
        </p:nvSpPr>
        <p:spPr>
          <a:xfrm>
            <a:off x="548640" y="5455162"/>
            <a:ext cx="4846320" cy="274320"/>
          </a:xfrm>
          <a:prstGeom prst="rect">
            <a:avLst/>
          </a:prstGeom>
          <a:noFill/>
          <a:ln/>
        </p:spPr>
        <p:txBody>
          <a:bodyPr wrap="square" lIns="0" tIns="0" rIns="0" bIns="0" rtlCol="0" anchor="t"/>
          <a:lstStyle/>
          <a:p>
            <a:pPr indent="0" marL="0">
              <a:buNone/>
            </a:pPr>
            <a:r>
              <a:rPr lang="en-US" sz="1000" i="1" dirty="0">
                <a:solidFill>
                  <a:schemeClr val="accent6"/>
                </a:solidFill>
              </a:rPr>
              <a:t>12 s staged demonstration · volunteer · simulated freeze · face obscured · not clinical footage</a:t>
            </a:r>
            <a:endParaRPr lang="en-US" sz="1000" dirty="0"/>
          </a:p>
        </p:txBody>
      </p:sp>
      <p:sp>
        <p:nvSpPr>
          <p:cNvPr id="14" name="Callout"/>
          <p:cNvSpPr/>
          <p:nvPr/>
        </p:nvSpPr>
        <p:spPr>
          <a:xfrm>
            <a:off x="548640" y="5760720"/>
            <a:ext cx="4846320" cy="457200"/>
          </a:xfrm>
          <a:prstGeom prst="roundRect">
            <a:avLst>
              <a:gd name="adj" fmla="val 16000"/>
            </a:avLst>
          </a:prstGeom>
          <a:solidFill>
            <a:schemeClr val="accent2">
              <a:alpha val="20000"/>
            </a:schemeClr>
          </a:solidFill>
          <a:ln/>
        </p:spPr>
      </p:sp>
      <p:sp>
        <p:nvSpPr>
          <p:cNvPr id="15" name="Callout bar"/>
          <p:cNvSpPr/>
          <p:nvPr/>
        </p:nvSpPr>
        <p:spPr>
          <a:xfrm>
            <a:off x="548640" y="5852160"/>
            <a:ext cx="64008" cy="274320"/>
          </a:xfrm>
          <a:prstGeom prst="rect">
            <a:avLst/>
          </a:prstGeom>
          <a:solidFill>
            <a:schemeClr val="accent2"/>
          </a:solidFill>
          <a:ln/>
        </p:spPr>
      </p:sp>
      <p:sp>
        <p:nvSpPr>
          <p:cNvPr id="16" name="Text 12"/>
          <p:cNvSpPr txBox="1"/>
          <p:nvPr/>
        </p:nvSpPr>
        <p:spPr>
          <a:xfrm>
            <a:off x="822960" y="5760720"/>
            <a:ext cx="4434840" cy="457200"/>
          </a:xfrm>
          <a:prstGeom prst="rect">
            <a:avLst/>
          </a:prstGeom>
          <a:noFill/>
          <a:ln/>
        </p:spPr>
        <p:txBody>
          <a:bodyPr wrap="square" lIns="0" tIns="0" rIns="0" bIns="0" rtlCol="0" anchor="ctr"/>
          <a:lstStyle/>
          <a:p>
            <a:pPr indent="0" marL="0">
              <a:buNone/>
            </a:pPr>
            <a:r>
              <a:rPr lang="en-US" sz="1200" b="1" dirty="0">
                <a:solidFill>
                  <a:schemeClr val="bg1"/>
                </a:solidFill>
              </a:rPr>
              <a:t>Watch, then: what did you see? What did you infer?</a:t>
            </a:r>
            <a:endParaRPr lang="en-US" sz="1200" dirty="0"/>
          </a:p>
        </p:txBody>
      </p:sp>
      <p:sp>
        <p:nvSpPr>
          <p:cNvPr id="17" name="Node Ankle module"/>
          <p:cNvSpPr/>
          <p:nvPr/>
        </p:nvSpPr>
        <p:spPr>
          <a:xfrm>
            <a:off x="5715000" y="1600200"/>
            <a:ext cx="1591056" cy="1325880"/>
          </a:xfrm>
          <a:prstGeom prst="roundRect">
            <a:avLst>
              <a:gd name="adj" fmla="val 8276"/>
            </a:avLst>
          </a:prstGeom>
          <a:solidFill>
            <a:schemeClr val="bg1">
              <a:alpha val="10000"/>
            </a:schemeClr>
          </a:solidFill>
          <a:ln w="12700">
            <a:solidFill>
              <a:schemeClr val="accent6"/>
            </a:solidFill>
            <a:prstDash val="solid"/>
          </a:ln>
        </p:spPr>
      </p:sp>
      <p:sp>
        <p:nvSpPr>
          <p:cNvPr id="18" name="Icon disc LuWatch"/>
          <p:cNvSpPr/>
          <p:nvPr/>
        </p:nvSpPr>
        <p:spPr>
          <a:xfrm>
            <a:off x="5852160" y="1728216"/>
            <a:ext cx="384048" cy="384048"/>
          </a:xfrm>
          <a:prstGeom prst="ellipse">
            <a:avLst/>
          </a:prstGeom>
          <a:solidFill>
            <a:schemeClr val="accent6"/>
          </a:solidFill>
          <a:ln/>
        </p:spPr>
      </p:sp>
      <p:pic>
        <p:nvPicPr>
          <p:cNvPr id="19" name="Image 0" descr="Watch icon">    </p:cNvPr>
          <p:cNvPicPr>
            <a:picLocks noChangeAspect="1"/>
          </p:cNvPicPr>
          <p:nvPr/>
        </p:nvPicPr>
        <p:blipFill>
          <a:blip r:embed="rId4"/>
          <a:stretch>
            <a:fillRect/>
          </a:stretch>
        </p:blipFill>
        <p:spPr>
          <a:xfrm>
            <a:off x="5936651" y="1812707"/>
            <a:ext cx="215067" cy="215067"/>
          </a:xfrm>
          <a:prstGeom prst="rect">
            <a:avLst/>
          </a:prstGeom>
        </p:spPr>
      </p:pic>
      <p:sp>
        <p:nvSpPr>
          <p:cNvPr id="20" name="Text 15"/>
          <p:cNvSpPr txBox="1"/>
          <p:nvPr/>
        </p:nvSpPr>
        <p:spPr>
          <a:xfrm>
            <a:off x="6309360" y="1728216"/>
            <a:ext cx="905256" cy="384048"/>
          </a:xfrm>
          <a:prstGeom prst="rect">
            <a:avLst/>
          </a:prstGeom>
          <a:noFill/>
          <a:ln/>
        </p:spPr>
        <p:txBody>
          <a:bodyPr wrap="square" lIns="0" tIns="0" rIns="0" bIns="0" rtlCol="0" anchor="ctr"/>
          <a:lstStyle/>
          <a:p>
            <a:pPr indent="0" marL="0">
              <a:buNone/>
            </a:pPr>
            <a:r>
              <a:rPr lang="en-US" sz="1150" b="1" dirty="0">
                <a:solidFill>
                  <a:schemeClr val="bg1"/>
                </a:solidFill>
              </a:rPr>
              <a:t>Ankle module</a:t>
            </a:r>
            <a:endParaRPr lang="en-US" sz="1150" dirty="0"/>
          </a:p>
        </p:txBody>
      </p:sp>
      <p:sp>
        <p:nvSpPr>
          <p:cNvPr id="21" name="Text 16"/>
          <p:cNvSpPr txBox="1"/>
          <p:nvPr/>
        </p:nvSpPr>
        <p:spPr>
          <a:xfrm>
            <a:off x="5852160" y="2185416"/>
            <a:ext cx="1316736" cy="685800"/>
          </a:xfrm>
          <a:prstGeom prst="rect">
            <a:avLst/>
          </a:prstGeom>
          <a:noFill/>
          <a:ln/>
        </p:spPr>
        <p:txBody>
          <a:bodyPr wrap="square" lIns="0" tIns="0" rIns="0" bIns="0" rtlCol="0" anchor="t"/>
          <a:lstStyle/>
          <a:p>
            <a:pPr indent="0" marL="0">
              <a:buNone/>
            </a:pPr>
            <a:r>
              <a:rPr lang="en-US" sz="950" dirty="0">
                <a:solidFill>
                  <a:schemeClr val="accent6"/>
                </a:solidFill>
              </a:rPr>
              <a:t>6-axis motion sensor streams at 100 Hz</a:t>
            </a:r>
            <a:endParaRPr lang="en-US" sz="950" dirty="0"/>
          </a:p>
        </p:txBody>
      </p:sp>
      <p:sp>
        <p:nvSpPr>
          <p:cNvPr id="22" name="Arrow"/>
          <p:cNvSpPr/>
          <p:nvPr/>
        </p:nvSpPr>
        <p:spPr>
          <a:xfrm>
            <a:off x="7360920" y="2258568"/>
            <a:ext cx="457200" cy="0"/>
          </a:xfrm>
          <a:prstGeom prst="line">
            <a:avLst/>
          </a:prstGeom>
          <a:noFill/>
          <a:ln w="25400">
            <a:solidFill>
              <a:schemeClr val="accent2"/>
            </a:solidFill>
            <a:prstDash val="solid"/>
            <a:tailEnd type="triangle"/>
          </a:ln>
        </p:spPr>
      </p:sp>
      <p:sp>
        <p:nvSpPr>
          <p:cNvPr id="23" name="Text 18"/>
          <p:cNvSpPr txBox="1"/>
          <p:nvPr/>
        </p:nvSpPr>
        <p:spPr>
          <a:xfrm>
            <a:off x="7306056" y="1874520"/>
            <a:ext cx="576072" cy="329184"/>
          </a:xfrm>
          <a:prstGeom prst="rect">
            <a:avLst/>
          </a:prstGeom>
          <a:noFill/>
          <a:ln/>
        </p:spPr>
        <p:txBody>
          <a:bodyPr wrap="square" lIns="0" tIns="0" rIns="0" bIns="0" rtlCol="0" anchor="b"/>
          <a:lstStyle/>
          <a:p>
            <a:pPr algn="ctr" indent="0" marL="0">
              <a:buNone/>
            </a:pPr>
            <a:r>
              <a:rPr lang="en-US" sz="900" b="1" dirty="0">
                <a:solidFill>
                  <a:schemeClr val="accent2"/>
                </a:solidFill>
              </a:rPr>
              <a:t>Bluetooth</a:t>
            </a:r>
            <a:endParaRPr lang="en-US" sz="900" dirty="0"/>
          </a:p>
        </p:txBody>
      </p:sp>
      <p:sp>
        <p:nvSpPr>
          <p:cNvPr id="24" name="Node Phone app"/>
          <p:cNvSpPr/>
          <p:nvPr/>
        </p:nvSpPr>
        <p:spPr>
          <a:xfrm>
            <a:off x="7882128" y="1600200"/>
            <a:ext cx="1591056" cy="1325880"/>
          </a:xfrm>
          <a:prstGeom prst="roundRect">
            <a:avLst>
              <a:gd name="adj" fmla="val 8276"/>
            </a:avLst>
          </a:prstGeom>
          <a:solidFill>
            <a:schemeClr val="bg1">
              <a:alpha val="10000"/>
            </a:schemeClr>
          </a:solidFill>
          <a:ln w="12700">
            <a:solidFill>
              <a:schemeClr val="accent6"/>
            </a:solidFill>
            <a:prstDash val="solid"/>
          </a:ln>
        </p:spPr>
      </p:sp>
      <p:sp>
        <p:nvSpPr>
          <p:cNvPr id="25" name="Icon disc LuSmartphone"/>
          <p:cNvSpPr/>
          <p:nvPr/>
        </p:nvSpPr>
        <p:spPr>
          <a:xfrm>
            <a:off x="8019288" y="1728216"/>
            <a:ext cx="384048" cy="384048"/>
          </a:xfrm>
          <a:prstGeom prst="ellipse">
            <a:avLst/>
          </a:prstGeom>
          <a:solidFill>
            <a:schemeClr val="accent6"/>
          </a:solidFill>
          <a:ln/>
        </p:spPr>
      </p:sp>
      <p:pic>
        <p:nvPicPr>
          <p:cNvPr id="26" name="Image 1" descr="Smartphone icon">    </p:cNvPr>
          <p:cNvPicPr>
            <a:picLocks noChangeAspect="1"/>
          </p:cNvPicPr>
          <p:nvPr/>
        </p:nvPicPr>
        <p:blipFill>
          <a:blip r:embed="rId5"/>
          <a:stretch>
            <a:fillRect/>
          </a:stretch>
        </p:blipFill>
        <p:spPr>
          <a:xfrm>
            <a:off x="8103779" y="1812707"/>
            <a:ext cx="215067" cy="215067"/>
          </a:xfrm>
          <a:prstGeom prst="rect">
            <a:avLst/>
          </a:prstGeom>
        </p:spPr>
      </p:pic>
      <p:sp>
        <p:nvSpPr>
          <p:cNvPr id="27" name="Text 21"/>
          <p:cNvSpPr txBox="1"/>
          <p:nvPr/>
        </p:nvSpPr>
        <p:spPr>
          <a:xfrm>
            <a:off x="8476488" y="1728216"/>
            <a:ext cx="905256" cy="384048"/>
          </a:xfrm>
          <a:prstGeom prst="rect">
            <a:avLst/>
          </a:prstGeom>
          <a:noFill/>
          <a:ln/>
        </p:spPr>
        <p:txBody>
          <a:bodyPr wrap="square" lIns="0" tIns="0" rIns="0" bIns="0" rtlCol="0" anchor="ctr"/>
          <a:lstStyle/>
          <a:p>
            <a:pPr indent="0" marL="0">
              <a:buNone/>
            </a:pPr>
            <a:r>
              <a:rPr lang="en-US" sz="1150" b="1" dirty="0">
                <a:solidFill>
                  <a:schemeClr val="bg1"/>
                </a:solidFill>
              </a:rPr>
              <a:t>Phone app</a:t>
            </a:r>
            <a:endParaRPr lang="en-US" sz="1150" dirty="0"/>
          </a:p>
        </p:txBody>
      </p:sp>
      <p:sp>
        <p:nvSpPr>
          <p:cNvPr id="28" name="Text 22"/>
          <p:cNvSpPr txBox="1"/>
          <p:nvPr/>
        </p:nvSpPr>
        <p:spPr>
          <a:xfrm>
            <a:off x="8019288" y="2185416"/>
            <a:ext cx="1316736" cy="685800"/>
          </a:xfrm>
          <a:prstGeom prst="rect">
            <a:avLst/>
          </a:prstGeom>
          <a:noFill/>
          <a:ln/>
        </p:spPr>
        <p:txBody>
          <a:bodyPr wrap="square" lIns="0" tIns="0" rIns="0" bIns="0" rtlCol="0" anchor="t"/>
          <a:lstStyle/>
          <a:p>
            <a:pPr indent="0" marL="0">
              <a:buNone/>
            </a:pPr>
            <a:r>
              <a:rPr lang="en-US" sz="950" dirty="0">
                <a:solidFill>
                  <a:schemeClr val="accent6"/>
                </a:solidFill>
              </a:rPr>
              <a:t>Detection model; 2-of-3 debounce confirms a freeze</a:t>
            </a:r>
            <a:endParaRPr lang="en-US" sz="950" dirty="0"/>
          </a:p>
        </p:txBody>
      </p:sp>
      <p:sp>
        <p:nvSpPr>
          <p:cNvPr id="29" name="Arrow"/>
          <p:cNvSpPr/>
          <p:nvPr/>
        </p:nvSpPr>
        <p:spPr>
          <a:xfrm>
            <a:off x="9528048" y="2258568"/>
            <a:ext cx="457200" cy="0"/>
          </a:xfrm>
          <a:prstGeom prst="line">
            <a:avLst/>
          </a:prstGeom>
          <a:noFill/>
          <a:ln w="25400">
            <a:solidFill>
              <a:schemeClr val="accent2"/>
            </a:solidFill>
            <a:prstDash val="solid"/>
            <a:tailEnd type="triangle"/>
          </a:ln>
        </p:spPr>
      </p:sp>
      <p:sp>
        <p:nvSpPr>
          <p:cNvPr id="30" name="Text 24"/>
          <p:cNvSpPr txBox="1"/>
          <p:nvPr/>
        </p:nvSpPr>
        <p:spPr>
          <a:xfrm>
            <a:off x="9473184" y="1874520"/>
            <a:ext cx="576072" cy="329184"/>
          </a:xfrm>
          <a:prstGeom prst="rect">
            <a:avLst/>
          </a:prstGeom>
          <a:noFill/>
          <a:ln/>
        </p:spPr>
        <p:txBody>
          <a:bodyPr wrap="square" lIns="0" tIns="0" rIns="0" bIns="0" rtlCol="0" anchor="b"/>
          <a:lstStyle/>
          <a:p>
            <a:pPr algn="ctr" indent="0" marL="0">
              <a:buNone/>
            </a:pPr>
            <a:r>
              <a:rPr lang="en-US" sz="900" b="1" dirty="0">
                <a:solidFill>
                  <a:schemeClr val="accent2"/>
                </a:solidFill>
              </a:rPr>
              <a:t>≈255 ms</a:t>
            </a:r>
            <a:endParaRPr lang="en-US" sz="900" dirty="0"/>
          </a:p>
        </p:txBody>
      </p:sp>
      <p:sp>
        <p:nvSpPr>
          <p:cNvPr id="31" name="Node Chest module"/>
          <p:cNvSpPr/>
          <p:nvPr/>
        </p:nvSpPr>
        <p:spPr>
          <a:xfrm>
            <a:off x="10049256" y="1600200"/>
            <a:ext cx="1591056" cy="1325880"/>
          </a:xfrm>
          <a:prstGeom prst="roundRect">
            <a:avLst>
              <a:gd name="adj" fmla="val 8276"/>
            </a:avLst>
          </a:prstGeom>
          <a:solidFill>
            <a:schemeClr val="bg1">
              <a:alpha val="10000"/>
            </a:schemeClr>
          </a:solidFill>
          <a:ln w="12700">
            <a:solidFill>
              <a:schemeClr val="accent6"/>
            </a:solidFill>
            <a:prstDash val="solid"/>
          </a:ln>
        </p:spPr>
      </p:sp>
      <p:sp>
        <p:nvSpPr>
          <p:cNvPr id="32" name="Icon disc LuVibrate"/>
          <p:cNvSpPr/>
          <p:nvPr/>
        </p:nvSpPr>
        <p:spPr>
          <a:xfrm>
            <a:off x="10186416" y="1728216"/>
            <a:ext cx="384048" cy="384048"/>
          </a:xfrm>
          <a:prstGeom prst="ellipse">
            <a:avLst/>
          </a:prstGeom>
          <a:solidFill>
            <a:schemeClr val="accent6"/>
          </a:solidFill>
          <a:ln/>
        </p:spPr>
      </p:sp>
      <p:pic>
        <p:nvPicPr>
          <p:cNvPr id="33" name="Image 2" descr="Vibrate icon">    </p:cNvPr>
          <p:cNvPicPr>
            <a:picLocks noChangeAspect="1"/>
          </p:cNvPicPr>
          <p:nvPr/>
        </p:nvPicPr>
        <p:blipFill>
          <a:blip r:embed="rId6"/>
          <a:stretch>
            <a:fillRect/>
          </a:stretch>
        </p:blipFill>
        <p:spPr>
          <a:xfrm>
            <a:off x="10270907" y="1812707"/>
            <a:ext cx="215067" cy="215067"/>
          </a:xfrm>
          <a:prstGeom prst="rect">
            <a:avLst/>
          </a:prstGeom>
        </p:spPr>
      </p:pic>
      <p:sp>
        <p:nvSpPr>
          <p:cNvPr id="34" name="Text 27"/>
          <p:cNvSpPr txBox="1"/>
          <p:nvPr/>
        </p:nvSpPr>
        <p:spPr>
          <a:xfrm>
            <a:off x="10643616" y="1728216"/>
            <a:ext cx="905256" cy="384048"/>
          </a:xfrm>
          <a:prstGeom prst="rect">
            <a:avLst/>
          </a:prstGeom>
          <a:noFill/>
          <a:ln/>
        </p:spPr>
        <p:txBody>
          <a:bodyPr wrap="square" lIns="0" tIns="0" rIns="0" bIns="0" rtlCol="0" anchor="ctr"/>
          <a:lstStyle/>
          <a:p>
            <a:pPr indent="0" marL="0">
              <a:buNone/>
            </a:pPr>
            <a:r>
              <a:rPr lang="en-US" sz="1150" b="1" dirty="0">
                <a:solidFill>
                  <a:schemeClr val="bg1"/>
                </a:solidFill>
              </a:rPr>
              <a:t>Chest module</a:t>
            </a:r>
            <a:endParaRPr lang="en-US" sz="1150" dirty="0"/>
          </a:p>
        </p:txBody>
      </p:sp>
      <p:sp>
        <p:nvSpPr>
          <p:cNvPr id="35" name="Text 28"/>
          <p:cNvSpPr txBox="1"/>
          <p:nvPr/>
        </p:nvSpPr>
        <p:spPr>
          <a:xfrm>
            <a:off x="10186416" y="2185416"/>
            <a:ext cx="1316736" cy="685800"/>
          </a:xfrm>
          <a:prstGeom prst="rect">
            <a:avLst/>
          </a:prstGeom>
          <a:noFill/>
          <a:ln/>
        </p:spPr>
        <p:txBody>
          <a:bodyPr wrap="square" lIns="0" tIns="0" rIns="0" bIns="0" rtlCol="0" anchor="t"/>
          <a:lstStyle/>
          <a:p>
            <a:pPr indent="0" marL="0">
              <a:buNone/>
            </a:pPr>
            <a:r>
              <a:rPr lang="en-US" sz="950" dirty="0">
                <a:solidFill>
                  <a:schemeClr val="accent6"/>
                </a:solidFill>
              </a:rPr>
              <a:t>Vibrotactile cue on an adhesive patch</a:t>
            </a:r>
            <a:endParaRPr lang="en-US" sz="950" dirty="0"/>
          </a:p>
        </p:txBody>
      </p:sp>
      <p:sp>
        <p:nvSpPr>
          <p:cNvPr id="36" name="Text 29"/>
          <p:cNvSpPr txBox="1"/>
          <p:nvPr/>
        </p:nvSpPr>
        <p:spPr>
          <a:xfrm>
            <a:off x="5715000" y="2980944"/>
            <a:ext cx="5925312" cy="274320"/>
          </a:xfrm>
          <a:prstGeom prst="rect">
            <a:avLst/>
          </a:prstGeom>
          <a:noFill/>
          <a:ln/>
        </p:spPr>
        <p:txBody>
          <a:bodyPr wrap="square" lIns="0" tIns="0" rIns="0" bIns="0" rtlCol="0" anchor="t"/>
          <a:lstStyle/>
          <a:p>
            <a:pPr indent="0" marL="0">
              <a:buNone/>
            </a:pPr>
            <a:r>
              <a:rPr lang="en-US" sz="900" i="1" dirty="0">
                <a:solidFill>
                  <a:schemeClr val="accent6"/>
                </a:solidFill>
              </a:rPr>
              <a:t>Detection-to-cue latency ≈255 ms and 100 Hz sampling are project-reported bench values, not clinical measurements.</a:t>
            </a:r>
            <a:endParaRPr lang="en-US" sz="900" dirty="0"/>
          </a:p>
        </p:txBody>
      </p:sp>
      <p:sp>
        <p:nvSpPr>
          <p:cNvPr id="37" name="Pill Seen (demonstrated)"/>
          <p:cNvSpPr/>
          <p:nvPr/>
        </p:nvSpPr>
        <p:spPr>
          <a:xfrm>
            <a:off x="5715000" y="3337560"/>
            <a:ext cx="1828800" cy="310896"/>
          </a:xfrm>
          <a:prstGeom prst="roundRect">
            <a:avLst>
              <a:gd name="adj" fmla="val 50000"/>
            </a:avLst>
          </a:prstGeom>
          <a:solidFill>
            <a:schemeClr val="accent1"/>
          </a:solidFill>
          <a:ln w="15875">
            <a:solidFill>
              <a:schemeClr val="accent1"/>
            </a:solidFill>
            <a:prstDash val="solid"/>
          </a:ln>
        </p:spPr>
      </p:sp>
      <p:sp>
        <p:nvSpPr>
          <p:cNvPr id="38" name="Text 31"/>
          <p:cNvSpPr txBox="1"/>
          <p:nvPr/>
        </p:nvSpPr>
        <p:spPr>
          <a:xfrm>
            <a:off x="5715000" y="3337560"/>
            <a:ext cx="1828800" cy="310896"/>
          </a:xfrm>
          <a:prstGeom prst="rect">
            <a:avLst/>
          </a:prstGeom>
          <a:noFill/>
          <a:ln/>
        </p:spPr>
        <p:txBody>
          <a:bodyPr wrap="square" lIns="0" tIns="0" rIns="0" bIns="0" rtlCol="0" anchor="ctr"/>
          <a:lstStyle/>
          <a:p>
            <a:pPr algn="ctr" indent="0" marL="0">
              <a:buNone/>
            </a:pPr>
            <a:r>
              <a:rPr lang="en-US" sz="1100" b="1" dirty="0">
                <a:solidFill>
                  <a:schemeClr val="bg1"/>
                </a:solidFill>
              </a:rPr>
              <a:t>Seen (demonstrated)</a:t>
            </a:r>
            <a:endParaRPr lang="en-US" sz="1100" dirty="0"/>
          </a:p>
        </p:txBody>
      </p:sp>
      <p:sp>
        <p:nvSpPr>
          <p:cNvPr id="39" name="Pill Not yet shown"/>
          <p:cNvSpPr/>
          <p:nvPr/>
        </p:nvSpPr>
        <p:spPr>
          <a:xfrm>
            <a:off x="8805672" y="3337560"/>
            <a:ext cx="1828800" cy="310896"/>
          </a:xfrm>
          <a:prstGeom prst="roundRect">
            <a:avLst>
              <a:gd name="adj" fmla="val 50000"/>
            </a:avLst>
          </a:prstGeom>
          <a:solidFill>
            <a:schemeClr val="tx2"/>
          </a:solidFill>
          <a:ln w="15875">
            <a:solidFill>
              <a:schemeClr val="accent3"/>
            </a:solidFill>
            <a:prstDash val="solid"/>
          </a:ln>
        </p:spPr>
      </p:sp>
      <p:sp>
        <p:nvSpPr>
          <p:cNvPr id="40" name="Text 33"/>
          <p:cNvSpPr txBox="1"/>
          <p:nvPr/>
        </p:nvSpPr>
        <p:spPr>
          <a:xfrm>
            <a:off x="8805672" y="3337560"/>
            <a:ext cx="1828800" cy="310896"/>
          </a:xfrm>
          <a:prstGeom prst="rect">
            <a:avLst/>
          </a:prstGeom>
          <a:noFill/>
          <a:ln/>
        </p:spPr>
        <p:txBody>
          <a:bodyPr wrap="square" lIns="0" tIns="0" rIns="0" bIns="0" rtlCol="0" anchor="ctr"/>
          <a:lstStyle/>
          <a:p>
            <a:pPr algn="ctr" indent="0" marL="0">
              <a:buNone/>
            </a:pPr>
            <a:r>
              <a:rPr lang="en-US" sz="1100" b="1" dirty="0">
                <a:solidFill>
                  <a:schemeClr val="bg1"/>
                </a:solidFill>
              </a:rPr>
              <a:t>Not yet shown</a:t>
            </a:r>
            <a:endParaRPr lang="en-US" sz="1100" dirty="0"/>
          </a:p>
        </p:txBody>
      </p:sp>
      <p:sp>
        <p:nvSpPr>
          <p:cNvPr id="41" name="Icon disc LuCheck"/>
          <p:cNvSpPr/>
          <p:nvPr/>
        </p:nvSpPr>
        <p:spPr>
          <a:xfrm>
            <a:off x="5715000" y="3858768"/>
            <a:ext cx="274320" cy="274320"/>
          </a:xfrm>
          <a:prstGeom prst="ellipse">
            <a:avLst/>
          </a:prstGeom>
          <a:solidFill>
            <a:schemeClr val="accent1"/>
          </a:solidFill>
          <a:ln/>
        </p:spPr>
      </p:sp>
      <p:pic>
        <p:nvPicPr>
          <p:cNvPr id="42" name="Image 3" descr="Check icon">    </p:cNvPr>
          <p:cNvPicPr>
            <a:picLocks noChangeAspect="1"/>
          </p:cNvPicPr>
          <p:nvPr/>
        </p:nvPicPr>
        <p:blipFill>
          <a:blip r:embed="rId7"/>
          <a:stretch>
            <a:fillRect/>
          </a:stretch>
        </p:blipFill>
        <p:spPr>
          <a:xfrm>
            <a:off x="5775350" y="3919118"/>
            <a:ext cx="153619" cy="153619"/>
          </a:xfrm>
          <a:prstGeom prst="rect">
            <a:avLst/>
          </a:prstGeom>
        </p:spPr>
      </p:pic>
      <p:sp>
        <p:nvSpPr>
          <p:cNvPr id="43" name="Text 35"/>
          <p:cNvSpPr txBox="1"/>
          <p:nvPr/>
        </p:nvSpPr>
        <p:spPr>
          <a:xfrm>
            <a:off x="6117336" y="3767328"/>
            <a:ext cx="2432304" cy="457200"/>
          </a:xfrm>
          <a:prstGeom prst="rect">
            <a:avLst/>
          </a:prstGeom>
          <a:noFill/>
          <a:ln/>
        </p:spPr>
        <p:txBody>
          <a:bodyPr wrap="square" lIns="0" tIns="0" rIns="0" bIns="0" rtlCol="0" anchor="ctr"/>
          <a:lstStyle/>
          <a:p>
            <a:pPr indent="0" marL="0">
              <a:buNone/>
            </a:pPr>
            <a:r>
              <a:rPr lang="en-US" sz="1050" dirty="0">
                <a:solidFill>
                  <a:schemeClr val="bg1"/>
                </a:solidFill>
              </a:rPr>
              <a:t>Stop sensed by the ankle module</a:t>
            </a:r>
            <a:endParaRPr lang="en-US" sz="1050" dirty="0"/>
          </a:p>
        </p:txBody>
      </p:sp>
      <p:sp>
        <p:nvSpPr>
          <p:cNvPr id="44" name="Icon disc LuCheck"/>
          <p:cNvSpPr/>
          <p:nvPr/>
        </p:nvSpPr>
        <p:spPr>
          <a:xfrm>
            <a:off x="5715000" y="4334256"/>
            <a:ext cx="274320" cy="274320"/>
          </a:xfrm>
          <a:prstGeom prst="ellipse">
            <a:avLst/>
          </a:prstGeom>
          <a:solidFill>
            <a:schemeClr val="accent1"/>
          </a:solidFill>
          <a:ln/>
        </p:spPr>
      </p:sp>
      <p:pic>
        <p:nvPicPr>
          <p:cNvPr id="45" name="Image 4" descr="Check icon">    </p:cNvPr>
          <p:cNvPicPr>
            <a:picLocks noChangeAspect="1"/>
          </p:cNvPicPr>
          <p:nvPr/>
        </p:nvPicPr>
        <p:blipFill>
          <a:blip r:embed="rId8"/>
          <a:stretch>
            <a:fillRect/>
          </a:stretch>
        </p:blipFill>
        <p:spPr>
          <a:xfrm>
            <a:off x="5775350" y="4394606"/>
            <a:ext cx="153619" cy="153619"/>
          </a:xfrm>
          <a:prstGeom prst="rect">
            <a:avLst/>
          </a:prstGeom>
        </p:spPr>
      </p:pic>
      <p:sp>
        <p:nvSpPr>
          <p:cNvPr id="46" name="Text 37"/>
          <p:cNvSpPr txBox="1"/>
          <p:nvPr/>
        </p:nvSpPr>
        <p:spPr>
          <a:xfrm>
            <a:off x="6117336" y="4242816"/>
            <a:ext cx="2432304" cy="457200"/>
          </a:xfrm>
          <a:prstGeom prst="rect">
            <a:avLst/>
          </a:prstGeom>
          <a:noFill/>
          <a:ln/>
        </p:spPr>
        <p:txBody>
          <a:bodyPr wrap="square" lIns="0" tIns="0" rIns="0" bIns="0" rtlCol="0" anchor="ctr"/>
          <a:lstStyle/>
          <a:p>
            <a:pPr indent="0" marL="0">
              <a:buNone/>
            </a:pPr>
            <a:r>
              <a:rPr lang="en-US" sz="1050" dirty="0">
                <a:solidFill>
                  <a:schemeClr val="bg1"/>
                </a:solidFill>
              </a:rPr>
              <a:t>App thresholds crossed; flagged as a freeze</a:t>
            </a:r>
            <a:endParaRPr lang="en-US" sz="1050" dirty="0"/>
          </a:p>
        </p:txBody>
      </p:sp>
      <p:sp>
        <p:nvSpPr>
          <p:cNvPr id="47" name="Icon disc LuCheck"/>
          <p:cNvSpPr/>
          <p:nvPr/>
        </p:nvSpPr>
        <p:spPr>
          <a:xfrm>
            <a:off x="5715000" y="4809744"/>
            <a:ext cx="274320" cy="274320"/>
          </a:xfrm>
          <a:prstGeom prst="ellipse">
            <a:avLst/>
          </a:prstGeom>
          <a:solidFill>
            <a:schemeClr val="accent1"/>
          </a:solidFill>
          <a:ln/>
        </p:spPr>
      </p:sp>
      <p:pic>
        <p:nvPicPr>
          <p:cNvPr id="48" name="Image 5" descr="Check icon">    </p:cNvPr>
          <p:cNvPicPr>
            <a:picLocks noChangeAspect="1"/>
          </p:cNvPicPr>
          <p:nvPr/>
        </p:nvPicPr>
        <p:blipFill>
          <a:blip r:embed="rId9"/>
          <a:stretch>
            <a:fillRect/>
          </a:stretch>
        </p:blipFill>
        <p:spPr>
          <a:xfrm>
            <a:off x="5775350" y="4870094"/>
            <a:ext cx="153619" cy="153619"/>
          </a:xfrm>
          <a:prstGeom prst="rect">
            <a:avLst/>
          </a:prstGeom>
        </p:spPr>
      </p:pic>
      <p:sp>
        <p:nvSpPr>
          <p:cNvPr id="49" name="Text 39"/>
          <p:cNvSpPr txBox="1"/>
          <p:nvPr/>
        </p:nvSpPr>
        <p:spPr>
          <a:xfrm>
            <a:off x="6117336" y="4718304"/>
            <a:ext cx="2432304" cy="457200"/>
          </a:xfrm>
          <a:prstGeom prst="rect">
            <a:avLst/>
          </a:prstGeom>
          <a:noFill/>
          <a:ln/>
        </p:spPr>
        <p:txBody>
          <a:bodyPr wrap="square" lIns="0" tIns="0" rIns="0" bIns="0" rtlCol="0" anchor="ctr"/>
          <a:lstStyle/>
          <a:p>
            <a:pPr indent="0" marL="0">
              <a:buNone/>
            </a:pPr>
            <a:r>
              <a:rPr lang="en-US" sz="1050" dirty="0">
                <a:solidFill>
                  <a:schemeClr val="bg1"/>
                </a:solidFill>
              </a:rPr>
              <a:t>Chest module vibrates on cue</a:t>
            </a:r>
            <a:endParaRPr lang="en-US" sz="1050" dirty="0"/>
          </a:p>
        </p:txBody>
      </p:sp>
      <p:sp>
        <p:nvSpPr>
          <p:cNvPr id="50" name="Icon disc LuX"/>
          <p:cNvSpPr/>
          <p:nvPr/>
        </p:nvSpPr>
        <p:spPr>
          <a:xfrm>
            <a:off x="8805672" y="3858768"/>
            <a:ext cx="274320" cy="274320"/>
          </a:xfrm>
          <a:prstGeom prst="ellipse">
            <a:avLst/>
          </a:prstGeom>
          <a:solidFill>
            <a:schemeClr val="accent3"/>
          </a:solidFill>
          <a:ln/>
        </p:spPr>
      </p:sp>
      <p:pic>
        <p:nvPicPr>
          <p:cNvPr id="51" name="Image 6" descr="X icon">    </p:cNvPr>
          <p:cNvPicPr>
            <a:picLocks noChangeAspect="1"/>
          </p:cNvPicPr>
          <p:nvPr/>
        </p:nvPicPr>
        <p:blipFill>
          <a:blip r:embed="rId10"/>
          <a:stretch>
            <a:fillRect/>
          </a:stretch>
        </p:blipFill>
        <p:spPr>
          <a:xfrm>
            <a:off x="8866022" y="3919118"/>
            <a:ext cx="153619" cy="153619"/>
          </a:xfrm>
          <a:prstGeom prst="rect">
            <a:avLst/>
          </a:prstGeom>
        </p:spPr>
      </p:pic>
      <p:sp>
        <p:nvSpPr>
          <p:cNvPr id="52" name="Text 41"/>
          <p:cNvSpPr txBox="1"/>
          <p:nvPr/>
        </p:nvSpPr>
        <p:spPr>
          <a:xfrm>
            <a:off x="9208008" y="3767328"/>
            <a:ext cx="2432304" cy="457200"/>
          </a:xfrm>
          <a:prstGeom prst="rect">
            <a:avLst/>
          </a:prstGeom>
          <a:noFill/>
          <a:ln/>
        </p:spPr>
        <p:txBody>
          <a:bodyPr wrap="square" lIns="0" tIns="0" rIns="0" bIns="0" rtlCol="0" anchor="ctr"/>
          <a:lstStyle/>
          <a:p>
            <a:pPr indent="0" marL="0">
              <a:buNone/>
            </a:pPr>
            <a:r>
              <a:rPr lang="en-US" sz="1050" dirty="0">
                <a:solidFill>
                  <a:schemeClr val="bg1"/>
                </a:solidFill>
              </a:rPr>
              <a:t>Real freezes in people with Parkinson's</a:t>
            </a:r>
            <a:endParaRPr lang="en-US" sz="1050" dirty="0"/>
          </a:p>
        </p:txBody>
      </p:sp>
      <p:sp>
        <p:nvSpPr>
          <p:cNvPr id="53" name="Icon disc LuX"/>
          <p:cNvSpPr/>
          <p:nvPr/>
        </p:nvSpPr>
        <p:spPr>
          <a:xfrm>
            <a:off x="8805672" y="4334256"/>
            <a:ext cx="274320" cy="274320"/>
          </a:xfrm>
          <a:prstGeom prst="ellipse">
            <a:avLst/>
          </a:prstGeom>
          <a:solidFill>
            <a:schemeClr val="accent3"/>
          </a:solidFill>
          <a:ln/>
        </p:spPr>
      </p:sp>
      <p:pic>
        <p:nvPicPr>
          <p:cNvPr id="54" name="Image 7" descr="X icon">    </p:cNvPr>
          <p:cNvPicPr>
            <a:picLocks noChangeAspect="1"/>
          </p:cNvPicPr>
          <p:nvPr/>
        </p:nvPicPr>
        <p:blipFill>
          <a:blip r:embed="rId11"/>
          <a:stretch>
            <a:fillRect/>
          </a:stretch>
        </p:blipFill>
        <p:spPr>
          <a:xfrm>
            <a:off x="8866022" y="4394606"/>
            <a:ext cx="153619" cy="153619"/>
          </a:xfrm>
          <a:prstGeom prst="rect">
            <a:avLst/>
          </a:prstGeom>
        </p:spPr>
      </p:pic>
      <p:sp>
        <p:nvSpPr>
          <p:cNvPr id="55" name="Text 43"/>
          <p:cNvSpPr txBox="1"/>
          <p:nvPr/>
        </p:nvSpPr>
        <p:spPr>
          <a:xfrm>
            <a:off x="9208008" y="4242816"/>
            <a:ext cx="2432304" cy="457200"/>
          </a:xfrm>
          <a:prstGeom prst="rect">
            <a:avLst/>
          </a:prstGeom>
          <a:noFill/>
          <a:ln/>
        </p:spPr>
        <p:txBody>
          <a:bodyPr wrap="square" lIns="0" tIns="0" rIns="0" bIns="0" rtlCol="0" anchor="ctr"/>
          <a:lstStyle/>
          <a:p>
            <a:pPr indent="0" marL="0">
              <a:buNone/>
            </a:pPr>
            <a:r>
              <a:rPr lang="en-US" sz="1050" dirty="0">
                <a:solidFill>
                  <a:schemeClr val="bg1"/>
                </a:solidFill>
              </a:rPr>
              <a:t>A freeze told from a voluntary stop or a doorway pause</a:t>
            </a:r>
            <a:endParaRPr lang="en-US" sz="1050" dirty="0"/>
          </a:p>
        </p:txBody>
      </p:sp>
      <p:sp>
        <p:nvSpPr>
          <p:cNvPr id="56" name="Icon disc LuX"/>
          <p:cNvSpPr/>
          <p:nvPr/>
        </p:nvSpPr>
        <p:spPr>
          <a:xfrm>
            <a:off x="8805672" y="4809744"/>
            <a:ext cx="274320" cy="274320"/>
          </a:xfrm>
          <a:prstGeom prst="ellipse">
            <a:avLst/>
          </a:prstGeom>
          <a:solidFill>
            <a:schemeClr val="accent3"/>
          </a:solidFill>
          <a:ln/>
        </p:spPr>
      </p:sp>
      <p:pic>
        <p:nvPicPr>
          <p:cNvPr id="57" name="Image 8" descr="X icon">    </p:cNvPr>
          <p:cNvPicPr>
            <a:picLocks noChangeAspect="1"/>
          </p:cNvPicPr>
          <p:nvPr/>
        </p:nvPicPr>
        <p:blipFill>
          <a:blip r:embed="rId12"/>
          <a:stretch>
            <a:fillRect/>
          </a:stretch>
        </p:blipFill>
        <p:spPr>
          <a:xfrm>
            <a:off x="8866022" y="4870094"/>
            <a:ext cx="153619" cy="153619"/>
          </a:xfrm>
          <a:prstGeom prst="rect">
            <a:avLst/>
          </a:prstGeom>
        </p:spPr>
      </p:pic>
      <p:sp>
        <p:nvSpPr>
          <p:cNvPr id="58" name="Text 45"/>
          <p:cNvSpPr txBox="1"/>
          <p:nvPr/>
        </p:nvSpPr>
        <p:spPr>
          <a:xfrm>
            <a:off x="9208008" y="4718304"/>
            <a:ext cx="2432304" cy="457200"/>
          </a:xfrm>
          <a:prstGeom prst="rect">
            <a:avLst/>
          </a:prstGeom>
          <a:noFill/>
          <a:ln/>
        </p:spPr>
        <p:txBody>
          <a:bodyPr wrap="square" lIns="0" tIns="0" rIns="0" bIns="0" rtlCol="0" anchor="ctr"/>
          <a:lstStyle/>
          <a:p>
            <a:pPr indent="0" marL="0">
              <a:buNone/>
            </a:pPr>
            <a:r>
              <a:rPr lang="en-US" sz="1050" dirty="0">
                <a:solidFill>
                  <a:schemeClr val="bg1"/>
                </a:solidFill>
              </a:rPr>
              <a:t>Many users, homes, turns, walking aids</a:t>
            </a:r>
            <a:endParaRPr lang="en-US" sz="1050" dirty="0"/>
          </a:p>
        </p:txBody>
      </p:sp>
      <p:sp>
        <p:nvSpPr>
          <p:cNvPr id="59" name="Icon disc LuX"/>
          <p:cNvSpPr/>
          <p:nvPr/>
        </p:nvSpPr>
        <p:spPr>
          <a:xfrm>
            <a:off x="8805672" y="5285232"/>
            <a:ext cx="274320" cy="274320"/>
          </a:xfrm>
          <a:prstGeom prst="ellipse">
            <a:avLst/>
          </a:prstGeom>
          <a:solidFill>
            <a:schemeClr val="accent3"/>
          </a:solidFill>
          <a:ln/>
        </p:spPr>
      </p:sp>
      <p:pic>
        <p:nvPicPr>
          <p:cNvPr id="60" name="Image 9" descr="X icon">    </p:cNvPr>
          <p:cNvPicPr>
            <a:picLocks noChangeAspect="1"/>
          </p:cNvPicPr>
          <p:nvPr/>
        </p:nvPicPr>
        <p:blipFill>
          <a:blip r:embed="rId13"/>
          <a:stretch>
            <a:fillRect/>
          </a:stretch>
        </p:blipFill>
        <p:spPr>
          <a:xfrm>
            <a:off x="8866022" y="5345582"/>
            <a:ext cx="153619" cy="153619"/>
          </a:xfrm>
          <a:prstGeom prst="rect">
            <a:avLst/>
          </a:prstGeom>
        </p:spPr>
      </p:pic>
      <p:sp>
        <p:nvSpPr>
          <p:cNvPr id="61" name="Text 47"/>
          <p:cNvSpPr txBox="1"/>
          <p:nvPr/>
        </p:nvSpPr>
        <p:spPr>
          <a:xfrm>
            <a:off x="9208008" y="5193792"/>
            <a:ext cx="2432304" cy="457200"/>
          </a:xfrm>
          <a:prstGeom prst="rect">
            <a:avLst/>
          </a:prstGeom>
          <a:noFill/>
          <a:ln/>
        </p:spPr>
        <p:txBody>
          <a:bodyPr wrap="square" lIns="0" tIns="0" rIns="0" bIns="0" rtlCol="0" anchor="ctr"/>
          <a:lstStyle/>
          <a:p>
            <a:pPr indent="0" marL="0">
              <a:buNone/>
            </a:pPr>
            <a:r>
              <a:rPr lang="en-US" sz="1050" dirty="0">
                <a:solidFill>
                  <a:schemeClr val="bg1"/>
                </a:solidFill>
              </a:rPr>
              <a:t>Tolerability of repeated cues</a:t>
            </a:r>
            <a:endParaRPr lang="en-US" sz="1050" dirty="0"/>
          </a:p>
        </p:txBody>
      </p:sp>
      <p:sp>
        <p:nvSpPr>
          <p:cNvPr id="62" name="Icon disc LuX"/>
          <p:cNvSpPr/>
          <p:nvPr/>
        </p:nvSpPr>
        <p:spPr>
          <a:xfrm>
            <a:off x="8805672" y="5760720"/>
            <a:ext cx="274320" cy="274320"/>
          </a:xfrm>
          <a:prstGeom prst="ellipse">
            <a:avLst/>
          </a:prstGeom>
          <a:solidFill>
            <a:schemeClr val="accent3"/>
          </a:solidFill>
          <a:ln/>
        </p:spPr>
      </p:sp>
      <p:pic>
        <p:nvPicPr>
          <p:cNvPr id="63" name="Image 10" descr="X icon">    </p:cNvPr>
          <p:cNvPicPr>
            <a:picLocks noChangeAspect="1"/>
          </p:cNvPicPr>
          <p:nvPr/>
        </p:nvPicPr>
        <p:blipFill>
          <a:blip r:embed="rId14"/>
          <a:stretch>
            <a:fillRect/>
          </a:stretch>
        </p:blipFill>
        <p:spPr>
          <a:xfrm>
            <a:off x="8866022" y="5821070"/>
            <a:ext cx="153619" cy="153619"/>
          </a:xfrm>
          <a:prstGeom prst="rect">
            <a:avLst/>
          </a:prstGeom>
        </p:spPr>
      </p:pic>
      <p:sp>
        <p:nvSpPr>
          <p:cNvPr id="64" name="Text 49"/>
          <p:cNvSpPr txBox="1"/>
          <p:nvPr/>
        </p:nvSpPr>
        <p:spPr>
          <a:xfrm>
            <a:off x="9208008" y="5669280"/>
            <a:ext cx="2432304" cy="457200"/>
          </a:xfrm>
          <a:prstGeom prst="rect">
            <a:avLst/>
          </a:prstGeom>
          <a:noFill/>
          <a:ln/>
        </p:spPr>
        <p:txBody>
          <a:bodyPr wrap="square" lIns="0" tIns="0" rIns="0" bIns="0" rtlCol="0" anchor="ctr"/>
          <a:lstStyle/>
          <a:p>
            <a:pPr indent="0" marL="0">
              <a:buNone/>
            </a:pPr>
            <a:r>
              <a:rPr lang="en-US" sz="1050" dirty="0">
                <a:solidFill>
                  <a:schemeClr val="bg1"/>
                </a:solidFill>
              </a:rPr>
              <a:t>Fewer falls or more walking</a:t>
            </a:r>
            <a:endParaRPr lang="en-US" sz="10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EVIDENCE · FoGO</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Three iterations, three kinds of proof</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FoGO BIRAC BIG presentation (supplied; prototype photographs Jan 2024–Jun 2025; EMC pre-compliance Jul 2026); CDSCO Form MD-12/MD-13 (test licence, 25 units, 10 Aug 2026)</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02952" y="347472"/>
            <a:ext cx="219456" cy="219456"/>
          </a:xfrm>
          <a:prstGeom prst="ellipse">
            <a:avLst/>
          </a:prstGeom>
          <a:solidFill>
            <a:schemeClr val="accent1"/>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bg1"/>
          </a:solidFill>
          <a:ln w="12700">
            <a:solidFill>
              <a:schemeClr val="accent5"/>
            </a:solidFill>
            <a:prstDash val="solid"/>
          </a:ln>
        </p:spPr>
      </p:sp>
      <p:sp>
        <p:nvSpPr>
          <p:cNvPr id="8" name="Progress Permission"/>
          <p:cNvSpPr/>
          <p:nvPr/>
        </p:nvSpPr>
        <p:spPr>
          <a:xfrm>
            <a:off x="10680192" y="393192"/>
            <a:ext cx="128016" cy="128016"/>
          </a:xfrm>
          <a:prstGeom prst="ellipse">
            <a:avLst/>
          </a:prstGeom>
          <a:solidFill>
            <a:schemeClr val="bg1"/>
          </a:solidFill>
          <a:ln w="12700">
            <a:solidFill>
              <a:schemeClr val="accent5"/>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pic>
        <p:nvPicPr>
          <p:cNvPr id="12" name="Image 0" descr="V1 · Jan 2024 · boxed electronics, wired motor">    </p:cNvPr>
          <p:cNvPicPr>
            <a:picLocks noChangeAspect="1"/>
          </p:cNvPicPr>
          <p:nvPr/>
        </p:nvPicPr>
        <p:blipFill>
          <a:blip r:embed="rId1"/>
          <a:stretch>
            <a:fillRect/>
          </a:stretch>
        </p:blipFill>
        <p:spPr>
          <a:xfrm>
            <a:off x="548640" y="1600200"/>
            <a:ext cx="2633472" cy="1920240"/>
          </a:xfrm>
          <a:prstGeom prst="rect">
            <a:avLst/>
          </a:prstGeom>
        </p:spPr>
      </p:pic>
      <p:sp>
        <p:nvSpPr>
          <p:cNvPr id="13" name="Text 9"/>
          <p:cNvSpPr txBox="1"/>
          <p:nvPr/>
        </p:nvSpPr>
        <p:spPr>
          <a:xfrm>
            <a:off x="548640" y="3575304"/>
            <a:ext cx="2633472" cy="274320"/>
          </a:xfrm>
          <a:prstGeom prst="rect">
            <a:avLst/>
          </a:prstGeom>
          <a:noFill/>
          <a:ln/>
        </p:spPr>
        <p:txBody>
          <a:bodyPr wrap="square" lIns="0" tIns="0" rIns="0" bIns="0" rtlCol="0" anchor="t"/>
          <a:lstStyle/>
          <a:p>
            <a:pPr indent="0" marL="0">
              <a:buNone/>
            </a:pPr>
            <a:r>
              <a:rPr lang="en-US" sz="950" i="1" dirty="0">
                <a:solidFill>
                  <a:schemeClr val="accent5"/>
                </a:solidFill>
              </a:rPr>
              <a:t>V1 · Jan 2024 · boxed electronics, wired motor</a:t>
            </a:r>
            <a:endParaRPr lang="en-US" sz="950" dirty="0"/>
          </a:p>
        </p:txBody>
      </p:sp>
      <p:sp>
        <p:nvSpPr>
          <p:cNvPr id="14" name="Pill Demonstrated"/>
          <p:cNvSpPr/>
          <p:nvPr/>
        </p:nvSpPr>
        <p:spPr>
          <a:xfrm>
            <a:off x="548640" y="3931920"/>
            <a:ext cx="1828800" cy="310896"/>
          </a:xfrm>
          <a:prstGeom prst="roundRect">
            <a:avLst>
              <a:gd name="adj" fmla="val 50000"/>
            </a:avLst>
          </a:prstGeom>
          <a:solidFill>
            <a:schemeClr val="accent1"/>
          </a:solidFill>
          <a:ln w="15875">
            <a:solidFill>
              <a:schemeClr val="accent1"/>
            </a:solidFill>
            <a:prstDash val="solid"/>
          </a:ln>
        </p:spPr>
      </p:sp>
      <p:sp>
        <p:nvSpPr>
          <p:cNvPr id="15" name="Text 11"/>
          <p:cNvSpPr txBox="1"/>
          <p:nvPr/>
        </p:nvSpPr>
        <p:spPr>
          <a:xfrm>
            <a:off x="548640" y="3931920"/>
            <a:ext cx="1828800" cy="310896"/>
          </a:xfrm>
          <a:prstGeom prst="rect">
            <a:avLst/>
          </a:prstGeom>
          <a:noFill/>
          <a:ln/>
        </p:spPr>
        <p:txBody>
          <a:bodyPr wrap="square" lIns="0" tIns="0" rIns="0" bIns="0" rtlCol="0" anchor="ctr"/>
          <a:lstStyle/>
          <a:p>
            <a:pPr algn="ctr" indent="0" marL="0">
              <a:buNone/>
            </a:pPr>
            <a:r>
              <a:rPr lang="en-US" sz="1100" b="1" dirty="0">
                <a:solidFill>
                  <a:schemeClr val="bg1"/>
                </a:solidFill>
              </a:rPr>
              <a:t>Demonstrated</a:t>
            </a:r>
            <a:endParaRPr lang="en-US" sz="1100" dirty="0"/>
          </a:p>
        </p:txBody>
      </p:sp>
      <p:sp>
        <p:nvSpPr>
          <p:cNvPr id="16" name="Text 12"/>
          <p:cNvSpPr txBox="1"/>
          <p:nvPr/>
        </p:nvSpPr>
        <p:spPr>
          <a:xfrm>
            <a:off x="548640" y="4315968"/>
            <a:ext cx="2633472" cy="457200"/>
          </a:xfrm>
          <a:prstGeom prst="rect">
            <a:avLst/>
          </a:prstGeom>
          <a:noFill/>
          <a:ln/>
        </p:spPr>
        <p:txBody>
          <a:bodyPr wrap="square" lIns="0" tIns="0" rIns="0" bIns="0" rtlCol="0" anchor="t"/>
          <a:lstStyle/>
          <a:p>
            <a:pPr indent="0" marL="0">
              <a:buNone/>
            </a:pPr>
            <a:r>
              <a:rPr lang="en-US" sz="1000" dirty="0">
                <a:solidFill>
                  <a:schemeClr val="tx2"/>
                </a:solidFill>
              </a:rPr>
              <a:t>Bench function: sensing electronics and a vibration motor working from a box</a:t>
            </a:r>
            <a:endParaRPr lang="en-US" sz="1000" dirty="0"/>
          </a:p>
        </p:txBody>
      </p:sp>
      <p:pic>
        <p:nvPicPr>
          <p:cNvPr id="17" name="Image 1" descr="V2 · 2024–25 · two wearable modules">    </p:cNvPr>
          <p:cNvPicPr>
            <a:picLocks noChangeAspect="1"/>
          </p:cNvPicPr>
          <p:nvPr/>
        </p:nvPicPr>
        <p:blipFill>
          <a:blip r:embed="rId2"/>
          <a:stretch>
            <a:fillRect/>
          </a:stretch>
        </p:blipFill>
        <p:spPr>
          <a:xfrm>
            <a:off x="3364992" y="1600200"/>
            <a:ext cx="2633472" cy="1920240"/>
          </a:xfrm>
          <a:prstGeom prst="rect">
            <a:avLst/>
          </a:prstGeom>
        </p:spPr>
      </p:pic>
      <p:sp>
        <p:nvSpPr>
          <p:cNvPr id="18" name="Text 13"/>
          <p:cNvSpPr txBox="1"/>
          <p:nvPr/>
        </p:nvSpPr>
        <p:spPr>
          <a:xfrm>
            <a:off x="3364992" y="3575304"/>
            <a:ext cx="2633472" cy="274320"/>
          </a:xfrm>
          <a:prstGeom prst="rect">
            <a:avLst/>
          </a:prstGeom>
          <a:noFill/>
          <a:ln/>
        </p:spPr>
        <p:txBody>
          <a:bodyPr wrap="square" lIns="0" tIns="0" rIns="0" bIns="0" rtlCol="0" anchor="t"/>
          <a:lstStyle/>
          <a:p>
            <a:pPr indent="0" marL="0">
              <a:buNone/>
            </a:pPr>
            <a:r>
              <a:rPr lang="en-US" sz="950" i="1" dirty="0">
                <a:solidFill>
                  <a:schemeClr val="accent5"/>
                </a:solidFill>
              </a:rPr>
              <a:t>V2 · 2024–25 · two wearable modules</a:t>
            </a:r>
            <a:endParaRPr lang="en-US" sz="950" dirty="0"/>
          </a:p>
        </p:txBody>
      </p:sp>
      <p:sp>
        <p:nvSpPr>
          <p:cNvPr id="19" name="Pill Demonstrated"/>
          <p:cNvSpPr/>
          <p:nvPr/>
        </p:nvSpPr>
        <p:spPr>
          <a:xfrm>
            <a:off x="3364992" y="3931920"/>
            <a:ext cx="1828800" cy="310896"/>
          </a:xfrm>
          <a:prstGeom prst="roundRect">
            <a:avLst>
              <a:gd name="adj" fmla="val 50000"/>
            </a:avLst>
          </a:prstGeom>
          <a:solidFill>
            <a:schemeClr val="accent1"/>
          </a:solidFill>
          <a:ln w="15875">
            <a:solidFill>
              <a:schemeClr val="accent1"/>
            </a:solidFill>
            <a:prstDash val="solid"/>
          </a:ln>
        </p:spPr>
      </p:sp>
      <p:sp>
        <p:nvSpPr>
          <p:cNvPr id="20" name="Text 15"/>
          <p:cNvSpPr txBox="1"/>
          <p:nvPr/>
        </p:nvSpPr>
        <p:spPr>
          <a:xfrm>
            <a:off x="3364992" y="3931920"/>
            <a:ext cx="1828800" cy="310896"/>
          </a:xfrm>
          <a:prstGeom prst="rect">
            <a:avLst/>
          </a:prstGeom>
          <a:noFill/>
          <a:ln/>
        </p:spPr>
        <p:txBody>
          <a:bodyPr wrap="square" lIns="0" tIns="0" rIns="0" bIns="0" rtlCol="0" anchor="ctr"/>
          <a:lstStyle/>
          <a:p>
            <a:pPr algn="ctr" indent="0" marL="0">
              <a:buNone/>
            </a:pPr>
            <a:r>
              <a:rPr lang="en-US" sz="1100" b="1" dirty="0">
                <a:solidFill>
                  <a:schemeClr val="bg1"/>
                </a:solidFill>
              </a:rPr>
              <a:t>Demonstrated</a:t>
            </a:r>
            <a:endParaRPr lang="en-US" sz="1100" dirty="0"/>
          </a:p>
        </p:txBody>
      </p:sp>
      <p:sp>
        <p:nvSpPr>
          <p:cNvPr id="21" name="Text 16"/>
          <p:cNvSpPr txBox="1"/>
          <p:nvPr/>
        </p:nvSpPr>
        <p:spPr>
          <a:xfrm>
            <a:off x="3364992" y="4315968"/>
            <a:ext cx="2633472" cy="457200"/>
          </a:xfrm>
          <a:prstGeom prst="rect">
            <a:avLst/>
          </a:prstGeom>
          <a:noFill/>
          <a:ln/>
        </p:spPr>
        <p:txBody>
          <a:bodyPr wrap="square" lIns="0" tIns="0" rIns="0" bIns="0" rtlCol="0" anchor="t"/>
          <a:lstStyle/>
          <a:p>
            <a:pPr indent="0" marL="0">
              <a:buNone/>
            </a:pPr>
            <a:r>
              <a:rPr lang="en-US" sz="1000" dirty="0">
                <a:solidFill>
                  <a:schemeClr val="tx2"/>
                </a:solidFill>
              </a:rPr>
              <a:t>Wearable form: ankle sensor case and a small chest vibrotactile unit</a:t>
            </a:r>
            <a:endParaRPr lang="en-US" sz="1000" dirty="0"/>
          </a:p>
        </p:txBody>
      </p:sp>
      <p:pic>
        <p:nvPicPr>
          <p:cNvPr id="22" name="Image 2" descr="V3 · Jun 2025 · alpha system with app">    </p:cNvPr>
          <p:cNvPicPr>
            <a:picLocks noChangeAspect="1"/>
          </p:cNvPicPr>
          <p:nvPr/>
        </p:nvPicPr>
        <p:blipFill>
          <a:blip r:embed="rId3"/>
          <a:stretch>
            <a:fillRect/>
          </a:stretch>
        </p:blipFill>
        <p:spPr>
          <a:xfrm>
            <a:off x="6181344" y="1600200"/>
            <a:ext cx="2633472" cy="1920240"/>
          </a:xfrm>
          <a:prstGeom prst="rect">
            <a:avLst/>
          </a:prstGeom>
        </p:spPr>
      </p:pic>
      <p:sp>
        <p:nvSpPr>
          <p:cNvPr id="23" name="Text 17"/>
          <p:cNvSpPr txBox="1"/>
          <p:nvPr/>
        </p:nvSpPr>
        <p:spPr>
          <a:xfrm>
            <a:off x="6181344" y="3575304"/>
            <a:ext cx="2633472" cy="274320"/>
          </a:xfrm>
          <a:prstGeom prst="rect">
            <a:avLst/>
          </a:prstGeom>
          <a:noFill/>
          <a:ln/>
        </p:spPr>
        <p:txBody>
          <a:bodyPr wrap="square" lIns="0" tIns="0" rIns="0" bIns="0" rtlCol="0" anchor="t"/>
          <a:lstStyle/>
          <a:p>
            <a:pPr indent="0" marL="0">
              <a:buNone/>
            </a:pPr>
            <a:r>
              <a:rPr lang="en-US" sz="950" i="1" dirty="0">
                <a:solidFill>
                  <a:schemeClr val="accent5"/>
                </a:solidFill>
              </a:rPr>
              <a:t>V3 · Jun 2025 · alpha system with app</a:t>
            </a:r>
            <a:endParaRPr lang="en-US" sz="950" dirty="0"/>
          </a:p>
        </p:txBody>
      </p:sp>
      <p:sp>
        <p:nvSpPr>
          <p:cNvPr id="24" name="Pill Demonstrated"/>
          <p:cNvSpPr/>
          <p:nvPr/>
        </p:nvSpPr>
        <p:spPr>
          <a:xfrm>
            <a:off x="6181344" y="3931920"/>
            <a:ext cx="1828800" cy="310896"/>
          </a:xfrm>
          <a:prstGeom prst="roundRect">
            <a:avLst>
              <a:gd name="adj" fmla="val 50000"/>
            </a:avLst>
          </a:prstGeom>
          <a:solidFill>
            <a:schemeClr val="accent1"/>
          </a:solidFill>
          <a:ln w="15875">
            <a:solidFill>
              <a:schemeClr val="accent1"/>
            </a:solidFill>
            <a:prstDash val="solid"/>
          </a:ln>
        </p:spPr>
      </p:sp>
      <p:sp>
        <p:nvSpPr>
          <p:cNvPr id="25" name="Text 19"/>
          <p:cNvSpPr txBox="1"/>
          <p:nvPr/>
        </p:nvSpPr>
        <p:spPr>
          <a:xfrm>
            <a:off x="6181344" y="3931920"/>
            <a:ext cx="1828800" cy="310896"/>
          </a:xfrm>
          <a:prstGeom prst="rect">
            <a:avLst/>
          </a:prstGeom>
          <a:noFill/>
          <a:ln/>
        </p:spPr>
        <p:txBody>
          <a:bodyPr wrap="square" lIns="0" tIns="0" rIns="0" bIns="0" rtlCol="0" anchor="ctr"/>
          <a:lstStyle/>
          <a:p>
            <a:pPr algn="ctr" indent="0" marL="0">
              <a:buNone/>
            </a:pPr>
            <a:r>
              <a:rPr lang="en-US" sz="1100" b="1" dirty="0">
                <a:solidFill>
                  <a:schemeClr val="bg1"/>
                </a:solidFill>
              </a:rPr>
              <a:t>Demonstrated</a:t>
            </a:r>
            <a:endParaRPr lang="en-US" sz="1100" dirty="0"/>
          </a:p>
        </p:txBody>
      </p:sp>
      <p:sp>
        <p:nvSpPr>
          <p:cNvPr id="26" name="Text 20"/>
          <p:cNvSpPr txBox="1"/>
          <p:nvPr/>
        </p:nvSpPr>
        <p:spPr>
          <a:xfrm>
            <a:off x="6181344" y="4315968"/>
            <a:ext cx="2633472" cy="457200"/>
          </a:xfrm>
          <a:prstGeom prst="rect">
            <a:avLst/>
          </a:prstGeom>
          <a:noFill/>
          <a:ln/>
        </p:spPr>
        <p:txBody>
          <a:bodyPr wrap="square" lIns="0" tIns="0" rIns="0" bIns="0" rtlCol="0" anchor="t"/>
          <a:lstStyle/>
          <a:p>
            <a:pPr indent="0" marL="0">
              <a:buNone/>
            </a:pPr>
            <a:r>
              <a:rPr lang="en-US" sz="1000" dirty="0">
                <a:solidFill>
                  <a:schemeClr val="tx2"/>
                </a:solidFill>
              </a:rPr>
              <a:t>Integrated system: ankle strap, adhesive chest patch, phone app; the staged demo</a:t>
            </a:r>
            <a:endParaRPr lang="en-US" sz="1000" dirty="0"/>
          </a:p>
        </p:txBody>
      </p:sp>
      <p:pic>
        <p:nvPicPr>
          <p:cNvPr id="27" name="Image 3" descr="EMC pre-compliance · Jul 2026">    </p:cNvPr>
          <p:cNvPicPr>
            <a:picLocks noChangeAspect="1"/>
          </p:cNvPicPr>
          <p:nvPr/>
        </p:nvPicPr>
        <p:blipFill>
          <a:blip r:embed="rId4"/>
          <a:stretch>
            <a:fillRect/>
          </a:stretch>
        </p:blipFill>
        <p:spPr>
          <a:xfrm>
            <a:off x="8997696" y="1600200"/>
            <a:ext cx="2633472" cy="1920240"/>
          </a:xfrm>
          <a:prstGeom prst="rect">
            <a:avLst/>
          </a:prstGeom>
        </p:spPr>
      </p:pic>
      <p:sp>
        <p:nvSpPr>
          <p:cNvPr id="28" name="Text 21"/>
          <p:cNvSpPr txBox="1"/>
          <p:nvPr/>
        </p:nvSpPr>
        <p:spPr>
          <a:xfrm>
            <a:off x="8997696" y="3575304"/>
            <a:ext cx="2633472" cy="274320"/>
          </a:xfrm>
          <a:prstGeom prst="rect">
            <a:avLst/>
          </a:prstGeom>
          <a:noFill/>
          <a:ln/>
        </p:spPr>
        <p:txBody>
          <a:bodyPr wrap="square" lIns="0" tIns="0" rIns="0" bIns="0" rtlCol="0" anchor="t"/>
          <a:lstStyle/>
          <a:p>
            <a:pPr indent="0" marL="0">
              <a:buNone/>
            </a:pPr>
            <a:r>
              <a:rPr lang="en-US" sz="950" i="1" dirty="0">
                <a:solidFill>
                  <a:schemeClr val="accent5"/>
                </a:solidFill>
              </a:rPr>
              <a:t>EMC pre-compliance · Jul 2026</a:t>
            </a:r>
            <a:endParaRPr lang="en-US" sz="950" dirty="0"/>
          </a:p>
        </p:txBody>
      </p:sp>
      <p:sp>
        <p:nvSpPr>
          <p:cNvPr id="29" name="Pill Pre-compliance, not certified"/>
          <p:cNvSpPr/>
          <p:nvPr/>
        </p:nvSpPr>
        <p:spPr>
          <a:xfrm>
            <a:off x="8997696" y="3931920"/>
            <a:ext cx="1828800" cy="310896"/>
          </a:xfrm>
          <a:prstGeom prst="roundRect">
            <a:avLst>
              <a:gd name="adj" fmla="val 50000"/>
            </a:avLst>
          </a:prstGeom>
          <a:solidFill>
            <a:schemeClr val="bg1"/>
          </a:solidFill>
          <a:ln w="15875">
            <a:solidFill>
              <a:schemeClr val="accent1"/>
            </a:solidFill>
            <a:prstDash val="solid"/>
          </a:ln>
        </p:spPr>
      </p:sp>
      <p:sp>
        <p:nvSpPr>
          <p:cNvPr id="30" name="Text 23"/>
          <p:cNvSpPr txBox="1"/>
          <p:nvPr/>
        </p:nvSpPr>
        <p:spPr>
          <a:xfrm>
            <a:off x="8997696" y="3931920"/>
            <a:ext cx="1828800" cy="310896"/>
          </a:xfrm>
          <a:prstGeom prst="rect">
            <a:avLst/>
          </a:prstGeom>
          <a:noFill/>
          <a:ln/>
        </p:spPr>
        <p:txBody>
          <a:bodyPr wrap="square" lIns="0" tIns="0" rIns="0" bIns="0" rtlCol="0" anchor="ctr"/>
          <a:lstStyle/>
          <a:p>
            <a:pPr algn="ctr" indent="0" marL="0">
              <a:buNone/>
            </a:pPr>
            <a:r>
              <a:rPr lang="en-US" sz="1100" b="1" dirty="0">
                <a:solidFill>
                  <a:schemeClr val="accent1"/>
                </a:solidFill>
              </a:rPr>
              <a:t>Pre-compliance, not certified</a:t>
            </a:r>
            <a:endParaRPr lang="en-US" sz="1100" dirty="0"/>
          </a:p>
        </p:txBody>
      </p:sp>
      <p:sp>
        <p:nvSpPr>
          <p:cNvPr id="31" name="Text 24"/>
          <p:cNvSpPr txBox="1"/>
          <p:nvPr/>
        </p:nvSpPr>
        <p:spPr>
          <a:xfrm>
            <a:off x="8997696" y="4315968"/>
            <a:ext cx="2633472" cy="457200"/>
          </a:xfrm>
          <a:prstGeom prst="rect">
            <a:avLst/>
          </a:prstGeom>
          <a:noFill/>
          <a:ln/>
        </p:spPr>
        <p:txBody>
          <a:bodyPr wrap="square" lIns="0" tIns="0" rIns="0" bIns="0" rtlCol="0" anchor="t"/>
          <a:lstStyle/>
          <a:p>
            <a:pPr indent="0" marL="0">
              <a:buNone/>
            </a:pPr>
            <a:r>
              <a:rPr lang="en-US" sz="1000" dirty="0">
                <a:solidFill>
                  <a:schemeClr val="tx2"/>
                </a:solidFill>
              </a:rPr>
              <a:t>IEC 60601-1-2 pre-compliance run; formal testing for the dossier still to come</a:t>
            </a:r>
            <a:endParaRPr lang="en-US" sz="1000" dirty="0"/>
          </a:p>
        </p:txBody>
      </p:sp>
      <p:sp>
        <p:nvSpPr>
          <p:cNvPr id="32" name="Text 25"/>
          <p:cNvSpPr txBox="1"/>
          <p:nvPr/>
        </p:nvSpPr>
        <p:spPr>
          <a:xfrm>
            <a:off x="548640" y="4773168"/>
            <a:ext cx="11091672" cy="256032"/>
          </a:xfrm>
          <a:prstGeom prst="rect">
            <a:avLst/>
          </a:prstGeom>
          <a:noFill/>
          <a:ln/>
        </p:spPr>
        <p:txBody>
          <a:bodyPr wrap="square" lIns="0" tIns="0" rIns="0" bIns="0" rtlCol="0" anchor="t"/>
          <a:lstStyle/>
          <a:p>
            <a:pPr indent="0" marL="0">
              <a:buNone/>
            </a:pPr>
            <a:r>
              <a:rPr lang="en-US" sz="1000" i="1" dirty="0">
                <a:solidFill>
                  <a:schemeClr val="accent5"/>
                </a:solidFill>
              </a:rPr>
              <a:t>None of these is clinical evidence: each prototype answered an engineering question. The MD-13 test licence allows 25 units for investigation, test and demonstration; they cannot be sold.</a:t>
            </a:r>
            <a:endParaRPr lang="en-US" sz="1000" dirty="0"/>
          </a:p>
        </p:txBody>
      </p:sp>
      <p:sp>
        <p:nvSpPr>
          <p:cNvPr id="33" name="Timeline"/>
          <p:cNvSpPr/>
          <p:nvPr/>
        </p:nvSpPr>
        <p:spPr>
          <a:xfrm>
            <a:off x="548640" y="5943600"/>
            <a:ext cx="11094415" cy="0"/>
          </a:xfrm>
          <a:prstGeom prst="line">
            <a:avLst/>
          </a:prstGeom>
          <a:noFill/>
          <a:ln w="31750">
            <a:solidFill>
              <a:schemeClr val="accent4"/>
            </a:solidFill>
            <a:prstDash val="solid"/>
          </a:ln>
        </p:spPr>
      </p:sp>
      <p:sp>
        <p:nvSpPr>
          <p:cNvPr id="34" name="Milestone Jan 2024"/>
          <p:cNvSpPr/>
          <p:nvPr/>
        </p:nvSpPr>
        <p:spPr>
          <a:xfrm>
            <a:off x="1325880" y="5852160"/>
            <a:ext cx="182880" cy="182880"/>
          </a:xfrm>
          <a:prstGeom prst="ellipse">
            <a:avLst/>
          </a:prstGeom>
          <a:solidFill>
            <a:schemeClr val="accent1"/>
          </a:solidFill>
          <a:ln w="25400">
            <a:solidFill>
              <a:schemeClr val="bg1"/>
            </a:solidFill>
            <a:prstDash val="solid"/>
          </a:ln>
        </p:spPr>
      </p:sp>
      <p:sp>
        <p:nvSpPr>
          <p:cNvPr id="35" name="Pill Jan 2024"/>
          <p:cNvSpPr/>
          <p:nvPr/>
        </p:nvSpPr>
        <p:spPr>
          <a:xfrm>
            <a:off x="960120" y="5440680"/>
            <a:ext cx="914400" cy="256032"/>
          </a:xfrm>
          <a:prstGeom prst="roundRect">
            <a:avLst>
              <a:gd name="adj" fmla="val 50000"/>
            </a:avLst>
          </a:prstGeom>
          <a:solidFill>
            <a:schemeClr val="accent1"/>
          </a:solidFill>
          <a:ln w="15875">
            <a:solidFill>
              <a:schemeClr val="accent1"/>
            </a:solidFill>
            <a:prstDash val="solid"/>
          </a:ln>
        </p:spPr>
      </p:sp>
      <p:sp>
        <p:nvSpPr>
          <p:cNvPr id="36" name="Text 29"/>
          <p:cNvSpPr txBox="1"/>
          <p:nvPr/>
        </p:nvSpPr>
        <p:spPr>
          <a:xfrm>
            <a:off x="960120" y="544068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Jan 2024</a:t>
            </a:r>
            <a:endParaRPr lang="en-US" sz="1000" dirty="0"/>
          </a:p>
        </p:txBody>
      </p:sp>
      <p:sp>
        <p:nvSpPr>
          <p:cNvPr id="37" name="Text 30"/>
          <p:cNvSpPr txBox="1"/>
          <p:nvPr/>
        </p:nvSpPr>
        <p:spPr>
          <a:xfrm>
            <a:off x="320040" y="4782312"/>
            <a:ext cx="2194560" cy="566928"/>
          </a:xfrm>
          <a:prstGeom prst="rect">
            <a:avLst/>
          </a:prstGeom>
          <a:noFill/>
          <a:ln/>
        </p:spPr>
        <p:txBody>
          <a:bodyPr wrap="square" lIns="0" tIns="0" rIns="0" bIns="0" rtlCol="0" anchor="b"/>
          <a:lstStyle/>
          <a:p>
            <a:pPr algn="ctr" indent="0" marL="0">
              <a:buNone/>
            </a:pPr>
            <a:r>
              <a:rPr lang="en-US" sz="1050" b="1" dirty="0">
                <a:solidFill>
                  <a:schemeClr val="tx1"/>
                </a:solidFill>
              </a:rPr>
              <a:t>V1 bench prototype</a:t>
            </a:r>
            <a:pPr algn="ctr" indent="0" marL="0">
              <a:buNone/>
            </a:pPr>
            <a:endParaRPr lang="en-US" sz="1050" dirty="0"/>
          </a:p>
        </p:txBody>
      </p:sp>
      <p:sp>
        <p:nvSpPr>
          <p:cNvPr id="38" name="Milestone Jun 2025"/>
          <p:cNvSpPr/>
          <p:nvPr/>
        </p:nvSpPr>
        <p:spPr>
          <a:xfrm>
            <a:off x="3665144" y="5852160"/>
            <a:ext cx="182880" cy="182880"/>
          </a:xfrm>
          <a:prstGeom prst="ellipse">
            <a:avLst/>
          </a:prstGeom>
          <a:solidFill>
            <a:schemeClr val="accent1"/>
          </a:solidFill>
          <a:ln w="25400">
            <a:solidFill>
              <a:schemeClr val="bg1"/>
            </a:solidFill>
            <a:prstDash val="solid"/>
          </a:ln>
        </p:spPr>
      </p:sp>
      <p:sp>
        <p:nvSpPr>
          <p:cNvPr id="39" name="Pill Jun 2025"/>
          <p:cNvSpPr/>
          <p:nvPr/>
        </p:nvSpPr>
        <p:spPr>
          <a:xfrm>
            <a:off x="3299384" y="5440680"/>
            <a:ext cx="914400" cy="256032"/>
          </a:xfrm>
          <a:prstGeom prst="roundRect">
            <a:avLst>
              <a:gd name="adj" fmla="val 50000"/>
            </a:avLst>
          </a:prstGeom>
          <a:solidFill>
            <a:schemeClr val="accent1"/>
          </a:solidFill>
          <a:ln w="15875">
            <a:solidFill>
              <a:schemeClr val="accent1"/>
            </a:solidFill>
            <a:prstDash val="solid"/>
          </a:ln>
        </p:spPr>
      </p:sp>
      <p:sp>
        <p:nvSpPr>
          <p:cNvPr id="40" name="Text 33"/>
          <p:cNvSpPr txBox="1"/>
          <p:nvPr/>
        </p:nvSpPr>
        <p:spPr>
          <a:xfrm>
            <a:off x="3299384" y="544068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Jun 2025</a:t>
            </a:r>
            <a:endParaRPr lang="en-US" sz="1000" dirty="0"/>
          </a:p>
        </p:txBody>
      </p:sp>
      <p:sp>
        <p:nvSpPr>
          <p:cNvPr id="41" name="Text 34"/>
          <p:cNvSpPr txBox="1"/>
          <p:nvPr/>
        </p:nvSpPr>
        <p:spPr>
          <a:xfrm>
            <a:off x="2659304" y="4782312"/>
            <a:ext cx="2194560" cy="566928"/>
          </a:xfrm>
          <a:prstGeom prst="rect">
            <a:avLst/>
          </a:prstGeom>
          <a:noFill/>
          <a:ln/>
        </p:spPr>
        <p:txBody>
          <a:bodyPr wrap="square" lIns="0" tIns="0" rIns="0" bIns="0" rtlCol="0" anchor="b"/>
          <a:lstStyle/>
          <a:p>
            <a:pPr algn="ctr" indent="0" marL="0">
              <a:buNone/>
            </a:pPr>
            <a:r>
              <a:rPr lang="en-US" sz="1050" b="1" dirty="0">
                <a:solidFill>
                  <a:schemeClr val="tx1"/>
                </a:solidFill>
              </a:rPr>
              <a:t>V3 alpha system</a:t>
            </a:r>
            <a:pPr algn="ctr" indent="0" marL="0">
              <a:buNone/>
            </a:pPr>
            <a:endParaRPr lang="en-US" sz="1050" dirty="0"/>
          </a:p>
        </p:txBody>
      </p:sp>
      <p:sp>
        <p:nvSpPr>
          <p:cNvPr id="42" name="Milestone Jul 2026"/>
          <p:cNvSpPr/>
          <p:nvPr/>
        </p:nvSpPr>
        <p:spPr>
          <a:xfrm>
            <a:off x="6004408" y="5852160"/>
            <a:ext cx="182880" cy="182880"/>
          </a:xfrm>
          <a:prstGeom prst="ellipse">
            <a:avLst/>
          </a:prstGeom>
          <a:solidFill>
            <a:schemeClr val="accent1"/>
          </a:solidFill>
          <a:ln w="25400">
            <a:solidFill>
              <a:schemeClr val="bg1"/>
            </a:solidFill>
            <a:prstDash val="solid"/>
          </a:ln>
        </p:spPr>
      </p:sp>
      <p:sp>
        <p:nvSpPr>
          <p:cNvPr id="43" name="Pill Jul 2026"/>
          <p:cNvSpPr/>
          <p:nvPr/>
        </p:nvSpPr>
        <p:spPr>
          <a:xfrm>
            <a:off x="5638648" y="5440680"/>
            <a:ext cx="914400" cy="256032"/>
          </a:xfrm>
          <a:prstGeom prst="roundRect">
            <a:avLst>
              <a:gd name="adj" fmla="val 50000"/>
            </a:avLst>
          </a:prstGeom>
          <a:solidFill>
            <a:schemeClr val="accent1"/>
          </a:solidFill>
          <a:ln w="15875">
            <a:solidFill>
              <a:schemeClr val="accent1"/>
            </a:solidFill>
            <a:prstDash val="solid"/>
          </a:ln>
        </p:spPr>
      </p:sp>
      <p:sp>
        <p:nvSpPr>
          <p:cNvPr id="44" name="Text 37"/>
          <p:cNvSpPr txBox="1"/>
          <p:nvPr/>
        </p:nvSpPr>
        <p:spPr>
          <a:xfrm>
            <a:off x="5638648" y="544068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Jul 2026</a:t>
            </a:r>
            <a:endParaRPr lang="en-US" sz="1000" dirty="0"/>
          </a:p>
        </p:txBody>
      </p:sp>
      <p:sp>
        <p:nvSpPr>
          <p:cNvPr id="45" name="Text 38"/>
          <p:cNvSpPr txBox="1"/>
          <p:nvPr/>
        </p:nvSpPr>
        <p:spPr>
          <a:xfrm>
            <a:off x="4998568" y="4782312"/>
            <a:ext cx="2194560" cy="566928"/>
          </a:xfrm>
          <a:prstGeom prst="rect">
            <a:avLst/>
          </a:prstGeom>
          <a:noFill/>
          <a:ln/>
        </p:spPr>
        <p:txBody>
          <a:bodyPr wrap="square" lIns="0" tIns="0" rIns="0" bIns="0" rtlCol="0" anchor="b"/>
          <a:lstStyle/>
          <a:p>
            <a:pPr algn="ctr" indent="0" marL="0">
              <a:buNone/>
            </a:pPr>
            <a:r>
              <a:rPr lang="en-US" sz="1050" b="1" dirty="0">
                <a:solidFill>
                  <a:schemeClr val="tx1"/>
                </a:solidFill>
              </a:rPr>
              <a:t>EMC pre-compliance (IEC 60601-1-2)</a:t>
            </a:r>
            <a:pPr algn="ctr" indent="0" marL="0">
              <a:buNone/>
            </a:pPr>
            <a:endParaRPr lang="en-US" sz="1050" dirty="0"/>
          </a:p>
        </p:txBody>
      </p:sp>
      <p:sp>
        <p:nvSpPr>
          <p:cNvPr id="46" name="Milestone 10 Aug 2026"/>
          <p:cNvSpPr/>
          <p:nvPr/>
        </p:nvSpPr>
        <p:spPr>
          <a:xfrm>
            <a:off x="8297951" y="5806440"/>
            <a:ext cx="274320" cy="274320"/>
          </a:xfrm>
          <a:prstGeom prst="ellipse">
            <a:avLst/>
          </a:prstGeom>
          <a:solidFill>
            <a:schemeClr val="accent4"/>
          </a:solidFill>
          <a:ln w="25400">
            <a:solidFill>
              <a:schemeClr val="bg1"/>
            </a:solidFill>
            <a:prstDash val="solid"/>
          </a:ln>
        </p:spPr>
      </p:sp>
      <p:sp>
        <p:nvSpPr>
          <p:cNvPr id="47" name="Pill 10 Aug 2026"/>
          <p:cNvSpPr/>
          <p:nvPr/>
        </p:nvSpPr>
        <p:spPr>
          <a:xfrm>
            <a:off x="7977911" y="5440680"/>
            <a:ext cx="914400" cy="256032"/>
          </a:xfrm>
          <a:prstGeom prst="roundRect">
            <a:avLst>
              <a:gd name="adj" fmla="val 50000"/>
            </a:avLst>
          </a:prstGeom>
          <a:solidFill>
            <a:schemeClr val="accent4"/>
          </a:solidFill>
          <a:ln w="15875">
            <a:solidFill>
              <a:schemeClr val="accent4"/>
            </a:solidFill>
            <a:prstDash val="solid"/>
          </a:ln>
        </p:spPr>
      </p:sp>
      <p:sp>
        <p:nvSpPr>
          <p:cNvPr id="48" name="Text 41"/>
          <p:cNvSpPr txBox="1"/>
          <p:nvPr/>
        </p:nvSpPr>
        <p:spPr>
          <a:xfrm>
            <a:off x="7977911" y="544068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10 Aug 2026</a:t>
            </a:r>
            <a:endParaRPr lang="en-US" sz="1000" dirty="0"/>
          </a:p>
        </p:txBody>
      </p:sp>
      <p:sp>
        <p:nvSpPr>
          <p:cNvPr id="49" name="Text 42"/>
          <p:cNvSpPr txBox="1"/>
          <p:nvPr/>
        </p:nvSpPr>
        <p:spPr>
          <a:xfrm>
            <a:off x="7337831" y="4782312"/>
            <a:ext cx="2194560" cy="566928"/>
          </a:xfrm>
          <a:prstGeom prst="rect">
            <a:avLst/>
          </a:prstGeom>
          <a:noFill/>
          <a:ln/>
        </p:spPr>
        <p:txBody>
          <a:bodyPr wrap="square" lIns="0" tIns="0" rIns="0" bIns="0" rtlCol="0" anchor="b"/>
          <a:lstStyle/>
          <a:p>
            <a:pPr algn="ctr" indent="0" marL="0">
              <a:buNone/>
            </a:pPr>
            <a:r>
              <a:rPr lang="en-US" sz="1050" b="1" dirty="0">
                <a:solidFill>
                  <a:schemeClr val="tx1"/>
                </a:solidFill>
              </a:rPr>
              <a:t>Form MD-13 test licence, 25 units</a:t>
            </a:r>
            <a:pPr algn="ctr" indent="0" marL="0">
              <a:buNone/>
            </a:pPr>
            <a:endParaRPr lang="en-US" sz="1050" dirty="0"/>
          </a:p>
        </p:txBody>
      </p:sp>
      <p:sp>
        <p:nvSpPr>
          <p:cNvPr id="50" name="Milestone Planned"/>
          <p:cNvSpPr/>
          <p:nvPr/>
        </p:nvSpPr>
        <p:spPr>
          <a:xfrm>
            <a:off x="10682935" y="5852160"/>
            <a:ext cx="182880" cy="182880"/>
          </a:xfrm>
          <a:prstGeom prst="ellipse">
            <a:avLst/>
          </a:prstGeom>
          <a:solidFill>
            <a:schemeClr val="accent2"/>
          </a:solidFill>
          <a:ln w="25400">
            <a:solidFill>
              <a:schemeClr val="bg1"/>
            </a:solidFill>
            <a:prstDash val="solid"/>
          </a:ln>
        </p:spPr>
      </p:sp>
      <p:sp>
        <p:nvSpPr>
          <p:cNvPr id="51" name="Pill Planned"/>
          <p:cNvSpPr/>
          <p:nvPr/>
        </p:nvSpPr>
        <p:spPr>
          <a:xfrm>
            <a:off x="10317175" y="5440680"/>
            <a:ext cx="914400" cy="256032"/>
          </a:xfrm>
          <a:prstGeom prst="roundRect">
            <a:avLst>
              <a:gd name="adj" fmla="val 50000"/>
            </a:avLst>
          </a:prstGeom>
          <a:solidFill>
            <a:schemeClr val="accent2"/>
          </a:solidFill>
          <a:ln w="15875">
            <a:solidFill>
              <a:schemeClr val="accent2"/>
            </a:solidFill>
            <a:prstDash val="solid"/>
          </a:ln>
        </p:spPr>
      </p:sp>
      <p:sp>
        <p:nvSpPr>
          <p:cNvPr id="52" name="Text 45"/>
          <p:cNvSpPr txBox="1"/>
          <p:nvPr/>
        </p:nvSpPr>
        <p:spPr>
          <a:xfrm>
            <a:off x="10317175" y="544068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Planned</a:t>
            </a:r>
            <a:endParaRPr lang="en-US" sz="1000" dirty="0"/>
          </a:p>
        </p:txBody>
      </p:sp>
      <p:sp>
        <p:nvSpPr>
          <p:cNvPr id="53" name="Text 46"/>
          <p:cNvSpPr txBox="1"/>
          <p:nvPr/>
        </p:nvSpPr>
        <p:spPr>
          <a:xfrm>
            <a:off x="9677095" y="4782312"/>
            <a:ext cx="2194560" cy="566928"/>
          </a:xfrm>
          <a:prstGeom prst="rect">
            <a:avLst/>
          </a:prstGeom>
          <a:noFill/>
          <a:ln/>
        </p:spPr>
        <p:txBody>
          <a:bodyPr wrap="square" lIns="0" tIns="0" rIns="0" bIns="0" rtlCol="0" anchor="b"/>
          <a:lstStyle/>
          <a:p>
            <a:pPr algn="ctr" indent="0" marL="0">
              <a:buNone/>
            </a:pPr>
            <a:r>
              <a:rPr lang="en-US" sz="1050" b="1" dirty="0">
                <a:solidFill>
                  <a:schemeClr val="tx1"/>
                </a:solidFill>
              </a:rPr>
              <a:t>Clinical proof-of-concept (MD-22 → MD-23, ethics, CTRI)</a:t>
            </a:r>
            <a:pPr algn="ctr" indent="0" marL="0">
              <a:buNone/>
            </a:pPr>
            <a:endParaRPr lang="en-US" sz="10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EVIDENCE · FoGO</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FoGO has climbed two rungs, not five</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FoGO BIRAC BIG presentation (project-reported F1); Bächlin et al. 2010 (Daphnet); Silva de Lima et al. 2017; Pardoel et al. 2019; IDEAL (2009, 2019 update); IDEAL-D (BMJ 2016)</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02952" y="347472"/>
            <a:ext cx="219456" cy="219456"/>
          </a:xfrm>
          <a:prstGeom prst="ellipse">
            <a:avLst/>
          </a:prstGeom>
          <a:solidFill>
            <a:schemeClr val="accent1"/>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bg1"/>
          </a:solidFill>
          <a:ln w="12700">
            <a:solidFill>
              <a:schemeClr val="accent5"/>
            </a:solidFill>
            <a:prstDash val="solid"/>
          </a:ln>
        </p:spPr>
      </p:sp>
      <p:sp>
        <p:nvSpPr>
          <p:cNvPr id="8" name="Progress Permission"/>
          <p:cNvSpPr/>
          <p:nvPr/>
        </p:nvSpPr>
        <p:spPr>
          <a:xfrm>
            <a:off x="10680192" y="393192"/>
            <a:ext cx="128016" cy="128016"/>
          </a:xfrm>
          <a:prstGeom prst="ellipse">
            <a:avLst/>
          </a:prstGeom>
          <a:solidFill>
            <a:schemeClr val="bg1"/>
          </a:solidFill>
          <a:ln w="12700">
            <a:solidFill>
              <a:schemeClr val="accent5"/>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Rung 5"/>
          <p:cNvSpPr/>
          <p:nvPr/>
        </p:nvSpPr>
        <p:spPr>
          <a:xfrm>
            <a:off x="548640" y="1600200"/>
            <a:ext cx="2221992" cy="713232"/>
          </a:xfrm>
          <a:prstGeom prst="rect">
            <a:avLst/>
          </a:prstGeom>
          <a:solidFill>
            <a:schemeClr val="accent3">
              <a:alpha val="30000"/>
            </a:schemeClr>
          </a:solidFill>
          <a:ln/>
        </p:spPr>
      </p:sp>
      <p:sp>
        <p:nvSpPr>
          <p:cNvPr id="13" name="Badge 5"/>
          <p:cNvSpPr/>
          <p:nvPr/>
        </p:nvSpPr>
        <p:spPr>
          <a:xfrm>
            <a:off x="658368" y="1728216"/>
            <a:ext cx="457200" cy="457200"/>
          </a:xfrm>
          <a:prstGeom prst="ellipse">
            <a:avLst/>
          </a:prstGeom>
          <a:solidFill>
            <a:schemeClr val="tx1"/>
          </a:solidFill>
          <a:ln/>
        </p:spPr>
      </p:sp>
      <p:sp>
        <p:nvSpPr>
          <p:cNvPr id="14" name="Text 11"/>
          <p:cNvSpPr txBox="1"/>
          <p:nvPr/>
        </p:nvSpPr>
        <p:spPr>
          <a:xfrm>
            <a:off x="658368" y="1728216"/>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15" name="Text 12"/>
          <p:cNvSpPr txBox="1"/>
          <p:nvPr/>
        </p:nvSpPr>
        <p:spPr>
          <a:xfrm>
            <a:off x="2907792" y="1618488"/>
            <a:ext cx="1847088" cy="676656"/>
          </a:xfrm>
          <a:prstGeom prst="rect">
            <a:avLst/>
          </a:prstGeom>
          <a:noFill/>
          <a:ln/>
        </p:spPr>
        <p:txBody>
          <a:bodyPr wrap="square" lIns="0" tIns="0" rIns="0" bIns="0" rtlCol="0" anchor="t"/>
          <a:lstStyle/>
          <a:p>
            <a:pPr indent="0" marL="0">
              <a:buNone/>
            </a:pPr>
            <a:r>
              <a:rPr lang="en-US" sz="1200" b="1" dirty="0">
                <a:solidFill>
                  <a:schemeClr val="tx1"/>
                </a:solidFill>
              </a:rPr>
              <a:t>Safe and fair over time?</a:t>
            </a:r>
            <a:endParaRPr lang="en-US" sz="1200" dirty="0"/>
          </a:p>
          <a:p>
            <a:pPr indent="0" marL="0">
              <a:buNone/>
            </a:pPr>
            <a:r>
              <a:rPr lang="en-US" sz="950" dirty="0">
                <a:solidFill>
                  <a:schemeClr val="tx2"/>
                </a:solidFill>
              </a:rPr>
              <a:t>Long-term safety; fair performance across users, aids and homes</a:t>
            </a:r>
            <a:endParaRPr lang="en-US" sz="1200" dirty="0"/>
          </a:p>
        </p:txBody>
      </p:sp>
      <p:sp>
        <p:nvSpPr>
          <p:cNvPr id="16" name="Pill Not established"/>
          <p:cNvSpPr/>
          <p:nvPr/>
        </p:nvSpPr>
        <p:spPr>
          <a:xfrm>
            <a:off x="4846320" y="1801368"/>
            <a:ext cx="1691640" cy="310896"/>
          </a:xfrm>
          <a:prstGeom prst="roundRect">
            <a:avLst>
              <a:gd name="adj" fmla="val 50000"/>
            </a:avLst>
          </a:prstGeom>
          <a:solidFill>
            <a:schemeClr val="bg1"/>
          </a:solidFill>
          <a:ln w="15875">
            <a:solidFill>
              <a:schemeClr val="accent3"/>
            </a:solidFill>
            <a:prstDash val="solid"/>
          </a:ln>
        </p:spPr>
      </p:sp>
      <p:sp>
        <p:nvSpPr>
          <p:cNvPr id="17" name="Text 14"/>
          <p:cNvSpPr txBox="1"/>
          <p:nvPr/>
        </p:nvSpPr>
        <p:spPr>
          <a:xfrm>
            <a:off x="4846320" y="1801368"/>
            <a:ext cx="1691640" cy="310896"/>
          </a:xfrm>
          <a:prstGeom prst="rect">
            <a:avLst/>
          </a:prstGeom>
          <a:noFill/>
          <a:ln/>
        </p:spPr>
        <p:txBody>
          <a:bodyPr wrap="square" lIns="0" tIns="0" rIns="0" bIns="0" rtlCol="0" anchor="ctr"/>
          <a:lstStyle/>
          <a:p>
            <a:pPr algn="ctr" indent="0" marL="0">
              <a:buNone/>
            </a:pPr>
            <a:r>
              <a:rPr lang="en-US" sz="1100" b="1" dirty="0">
                <a:solidFill>
                  <a:schemeClr val="accent3"/>
                </a:solidFill>
              </a:rPr>
              <a:t>Not established</a:t>
            </a:r>
            <a:endParaRPr lang="en-US" sz="1100" dirty="0"/>
          </a:p>
        </p:txBody>
      </p:sp>
      <p:sp>
        <p:nvSpPr>
          <p:cNvPr id="18" name="Rung 4"/>
          <p:cNvSpPr/>
          <p:nvPr/>
        </p:nvSpPr>
        <p:spPr>
          <a:xfrm>
            <a:off x="548640" y="2350008"/>
            <a:ext cx="1837944" cy="713232"/>
          </a:xfrm>
          <a:prstGeom prst="rect">
            <a:avLst/>
          </a:prstGeom>
          <a:solidFill>
            <a:schemeClr val="accent3">
              <a:alpha val="30000"/>
            </a:schemeClr>
          </a:solidFill>
          <a:ln/>
        </p:spPr>
      </p:sp>
      <p:sp>
        <p:nvSpPr>
          <p:cNvPr id="19" name="Badge 4"/>
          <p:cNvSpPr/>
          <p:nvPr/>
        </p:nvSpPr>
        <p:spPr>
          <a:xfrm>
            <a:off x="658368" y="2478024"/>
            <a:ext cx="457200" cy="457200"/>
          </a:xfrm>
          <a:prstGeom prst="ellipse">
            <a:avLst/>
          </a:prstGeom>
          <a:solidFill>
            <a:schemeClr val="tx1"/>
          </a:solidFill>
          <a:ln/>
        </p:spPr>
      </p:sp>
      <p:sp>
        <p:nvSpPr>
          <p:cNvPr id="20" name="Text 17"/>
          <p:cNvSpPr txBox="1"/>
          <p:nvPr/>
        </p:nvSpPr>
        <p:spPr>
          <a:xfrm>
            <a:off x="658368" y="247802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1" name="Text 18"/>
          <p:cNvSpPr txBox="1"/>
          <p:nvPr/>
        </p:nvSpPr>
        <p:spPr>
          <a:xfrm>
            <a:off x="2523744" y="2368296"/>
            <a:ext cx="2231136" cy="676656"/>
          </a:xfrm>
          <a:prstGeom prst="rect">
            <a:avLst/>
          </a:prstGeom>
          <a:noFill/>
          <a:ln/>
        </p:spPr>
        <p:txBody>
          <a:bodyPr wrap="square" lIns="0" tIns="0" rIns="0" bIns="0" rtlCol="0" anchor="t"/>
          <a:lstStyle/>
          <a:p>
            <a:pPr indent="0" marL="0">
              <a:buNone/>
            </a:pPr>
            <a:r>
              <a:rPr lang="en-US" sz="1200" b="1" dirty="0">
                <a:solidFill>
                  <a:schemeClr val="tx1"/>
                </a:solidFill>
              </a:rPr>
              <a:t>Helps in daily life?</a:t>
            </a:r>
            <a:endParaRPr lang="en-US" sz="1200" dirty="0"/>
          </a:p>
          <a:p>
            <a:pPr indent="0" marL="0">
              <a:buNone/>
            </a:pPr>
            <a:r>
              <a:rPr lang="en-US" sz="950" dirty="0">
                <a:solidFill>
                  <a:schemeClr val="tx2"/>
                </a:solidFill>
              </a:rPr>
              <a:t>Fewer falls, more walking, confidence. No cueing trial has yet shown fewer falls</a:t>
            </a:r>
            <a:endParaRPr lang="en-US" sz="1200" dirty="0"/>
          </a:p>
        </p:txBody>
      </p:sp>
      <p:sp>
        <p:nvSpPr>
          <p:cNvPr id="22" name="Pill Not established"/>
          <p:cNvSpPr/>
          <p:nvPr/>
        </p:nvSpPr>
        <p:spPr>
          <a:xfrm>
            <a:off x="4846320" y="2551176"/>
            <a:ext cx="1691640" cy="310896"/>
          </a:xfrm>
          <a:prstGeom prst="roundRect">
            <a:avLst>
              <a:gd name="adj" fmla="val 50000"/>
            </a:avLst>
          </a:prstGeom>
          <a:solidFill>
            <a:schemeClr val="bg1"/>
          </a:solidFill>
          <a:ln w="15875">
            <a:solidFill>
              <a:schemeClr val="accent3"/>
            </a:solidFill>
            <a:prstDash val="solid"/>
          </a:ln>
        </p:spPr>
      </p:sp>
      <p:sp>
        <p:nvSpPr>
          <p:cNvPr id="23" name="Text 20"/>
          <p:cNvSpPr txBox="1"/>
          <p:nvPr/>
        </p:nvSpPr>
        <p:spPr>
          <a:xfrm>
            <a:off x="4846320" y="2551176"/>
            <a:ext cx="1691640" cy="310896"/>
          </a:xfrm>
          <a:prstGeom prst="rect">
            <a:avLst/>
          </a:prstGeom>
          <a:noFill/>
          <a:ln/>
        </p:spPr>
        <p:txBody>
          <a:bodyPr wrap="square" lIns="0" tIns="0" rIns="0" bIns="0" rtlCol="0" anchor="ctr"/>
          <a:lstStyle/>
          <a:p>
            <a:pPr algn="ctr" indent="0" marL="0">
              <a:buNone/>
            </a:pPr>
            <a:r>
              <a:rPr lang="en-US" sz="1100" b="1" dirty="0">
                <a:solidFill>
                  <a:schemeClr val="accent3"/>
                </a:solidFill>
              </a:rPr>
              <a:t>Not established</a:t>
            </a:r>
            <a:endParaRPr lang="en-US" sz="1100" dirty="0"/>
          </a:p>
        </p:txBody>
      </p:sp>
      <p:sp>
        <p:nvSpPr>
          <p:cNvPr id="24" name="Rung 3"/>
          <p:cNvSpPr/>
          <p:nvPr/>
        </p:nvSpPr>
        <p:spPr>
          <a:xfrm>
            <a:off x="548640" y="3099816"/>
            <a:ext cx="1453896" cy="713232"/>
          </a:xfrm>
          <a:prstGeom prst="rect">
            <a:avLst/>
          </a:prstGeom>
          <a:solidFill>
            <a:schemeClr val="accent2">
              <a:alpha val="55000"/>
            </a:schemeClr>
          </a:solidFill>
          <a:ln/>
        </p:spPr>
      </p:sp>
      <p:sp>
        <p:nvSpPr>
          <p:cNvPr id="25" name="Badge 3"/>
          <p:cNvSpPr/>
          <p:nvPr/>
        </p:nvSpPr>
        <p:spPr>
          <a:xfrm>
            <a:off x="658368" y="3227832"/>
            <a:ext cx="457200" cy="457200"/>
          </a:xfrm>
          <a:prstGeom prst="ellipse">
            <a:avLst/>
          </a:prstGeom>
          <a:solidFill>
            <a:schemeClr val="tx1"/>
          </a:solidFill>
          <a:ln/>
        </p:spPr>
      </p:sp>
      <p:sp>
        <p:nvSpPr>
          <p:cNvPr id="26" name="Text 23"/>
          <p:cNvSpPr txBox="1"/>
          <p:nvPr/>
        </p:nvSpPr>
        <p:spPr>
          <a:xfrm>
            <a:off x="658368" y="3227832"/>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Text 24"/>
          <p:cNvSpPr txBox="1"/>
          <p:nvPr/>
        </p:nvSpPr>
        <p:spPr>
          <a:xfrm>
            <a:off x="2139696" y="3118104"/>
            <a:ext cx="2615184" cy="676656"/>
          </a:xfrm>
          <a:prstGeom prst="rect">
            <a:avLst/>
          </a:prstGeom>
          <a:noFill/>
          <a:ln/>
        </p:spPr>
        <p:txBody>
          <a:bodyPr wrap="square" lIns="0" tIns="0" rIns="0" bIns="0" rtlCol="0" anchor="t"/>
          <a:lstStyle/>
          <a:p>
            <a:pPr indent="0" marL="0">
              <a:buNone/>
            </a:pPr>
            <a:r>
              <a:rPr lang="en-US" sz="1200" b="1" dirty="0">
                <a:solidFill>
                  <a:schemeClr val="tx1"/>
                </a:solidFill>
              </a:rPr>
              <a:t>Detects real freezes in people?</a:t>
            </a:r>
            <a:endParaRPr lang="en-US" sz="1200" dirty="0"/>
          </a:p>
          <a:p>
            <a:pPr indent="0" marL="0">
              <a:buNone/>
            </a:pPr>
            <a:r>
              <a:rPr lang="en-US" sz="950" dirty="0">
                <a:solidFill>
                  <a:schemeClr val="tx2"/>
                </a:solidFill>
              </a:rPr>
              <a:t>Prospective proof-of-concept with AIIMS Bhubaneswar advisers; BIRAC BIG proposal under review; not yet funded, approved or permitted</a:t>
            </a:r>
            <a:endParaRPr lang="en-US" sz="1200" dirty="0"/>
          </a:p>
        </p:txBody>
      </p:sp>
      <p:sp>
        <p:nvSpPr>
          <p:cNvPr id="28" name="Pill Planned"/>
          <p:cNvSpPr/>
          <p:nvPr/>
        </p:nvSpPr>
        <p:spPr>
          <a:xfrm>
            <a:off x="4846320" y="3300984"/>
            <a:ext cx="1691640" cy="310896"/>
          </a:xfrm>
          <a:prstGeom prst="roundRect">
            <a:avLst>
              <a:gd name="adj" fmla="val 50000"/>
            </a:avLst>
          </a:prstGeom>
          <a:solidFill>
            <a:schemeClr val="bg1"/>
          </a:solidFill>
          <a:ln w="15875">
            <a:solidFill>
              <a:schemeClr val="accent2"/>
            </a:solidFill>
            <a:prstDash val="dash"/>
          </a:ln>
        </p:spPr>
      </p:sp>
      <p:sp>
        <p:nvSpPr>
          <p:cNvPr id="29" name="Text 26"/>
          <p:cNvSpPr txBox="1"/>
          <p:nvPr/>
        </p:nvSpPr>
        <p:spPr>
          <a:xfrm>
            <a:off x="4846320" y="3300984"/>
            <a:ext cx="1691640" cy="310896"/>
          </a:xfrm>
          <a:prstGeom prst="rect">
            <a:avLst/>
          </a:prstGeom>
          <a:noFill/>
          <a:ln/>
        </p:spPr>
        <p:txBody>
          <a:bodyPr wrap="square" lIns="0" tIns="0" rIns="0" bIns="0" rtlCol="0" anchor="ctr"/>
          <a:lstStyle/>
          <a:p>
            <a:pPr algn="ctr" indent="0" marL="0">
              <a:buNone/>
            </a:pPr>
            <a:r>
              <a:rPr lang="en-US" sz="1100" b="1" dirty="0">
                <a:solidFill>
                  <a:schemeClr val="accent2"/>
                </a:solidFill>
              </a:rPr>
              <a:t>Planned</a:t>
            </a:r>
            <a:endParaRPr lang="en-US" sz="1100" dirty="0"/>
          </a:p>
        </p:txBody>
      </p:sp>
      <p:sp>
        <p:nvSpPr>
          <p:cNvPr id="30" name="Rung 2"/>
          <p:cNvSpPr/>
          <p:nvPr/>
        </p:nvSpPr>
        <p:spPr>
          <a:xfrm>
            <a:off x="548640" y="3849624"/>
            <a:ext cx="1069848" cy="713232"/>
          </a:xfrm>
          <a:prstGeom prst="rect">
            <a:avLst/>
          </a:prstGeom>
          <a:solidFill>
            <a:schemeClr val="accent1">
              <a:alpha val="45000"/>
            </a:schemeClr>
          </a:solidFill>
          <a:ln/>
        </p:spPr>
      </p:sp>
      <p:sp>
        <p:nvSpPr>
          <p:cNvPr id="31" name="Badge 2"/>
          <p:cNvSpPr/>
          <p:nvPr/>
        </p:nvSpPr>
        <p:spPr>
          <a:xfrm>
            <a:off x="658368" y="3977640"/>
            <a:ext cx="457200" cy="457200"/>
          </a:xfrm>
          <a:prstGeom prst="ellipse">
            <a:avLst/>
          </a:prstGeom>
          <a:solidFill>
            <a:schemeClr val="tx1"/>
          </a:solidFill>
          <a:ln/>
        </p:spPr>
      </p:sp>
      <p:sp>
        <p:nvSpPr>
          <p:cNvPr id="32" name="Text 29"/>
          <p:cNvSpPr txBox="1"/>
          <p:nvPr/>
        </p:nvSpPr>
        <p:spPr>
          <a:xfrm>
            <a:off x="658368" y="397764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33" name="Text 30"/>
          <p:cNvSpPr txBox="1"/>
          <p:nvPr/>
        </p:nvSpPr>
        <p:spPr>
          <a:xfrm>
            <a:off x="1755648" y="3867912"/>
            <a:ext cx="2999232" cy="676656"/>
          </a:xfrm>
          <a:prstGeom prst="rect">
            <a:avLst/>
          </a:prstGeom>
          <a:noFill/>
          <a:ln/>
        </p:spPr>
        <p:txBody>
          <a:bodyPr wrap="square" lIns="0" tIns="0" rIns="0" bIns="0" rtlCol="0" anchor="t"/>
          <a:lstStyle/>
          <a:p>
            <a:pPr indent="0" marL="0">
              <a:buNone/>
            </a:pPr>
            <a:r>
              <a:rPr lang="en-US" sz="1200" b="1" dirty="0">
                <a:solidFill>
                  <a:schemeClr val="tx1"/>
                </a:solidFill>
              </a:rPr>
              <a:t>Detects on recorded data?</a:t>
            </a:r>
            <a:endParaRPr lang="en-US" sz="1200" dirty="0"/>
          </a:p>
          <a:p>
            <a:pPr indent="0" marL="0">
              <a:buNone/>
            </a:pPr>
            <a:r>
              <a:rPr lang="en-US" sz="950" dirty="0">
                <a:solidFill>
                  <a:schemeClr val="tx2"/>
                </a:solidFill>
              </a:rPr>
              <a:t>F1 0.83–0.85 subject-wise on Daphnet, CuPiD and Turning-in-place; 0.74–0.80 on an unseen dataset; project-reported, not peer-reviewed</a:t>
            </a:r>
            <a:endParaRPr lang="en-US" sz="1200" dirty="0"/>
          </a:p>
        </p:txBody>
      </p:sp>
      <p:sp>
        <p:nvSpPr>
          <p:cNvPr id="34" name="Pill Reported, preliminary"/>
          <p:cNvSpPr/>
          <p:nvPr/>
        </p:nvSpPr>
        <p:spPr>
          <a:xfrm>
            <a:off x="4846320" y="4050792"/>
            <a:ext cx="1691640" cy="310896"/>
          </a:xfrm>
          <a:prstGeom prst="roundRect">
            <a:avLst>
              <a:gd name="adj" fmla="val 50000"/>
            </a:avLst>
          </a:prstGeom>
          <a:solidFill>
            <a:schemeClr val="bg1"/>
          </a:solidFill>
          <a:ln w="15875">
            <a:solidFill>
              <a:schemeClr val="accent1"/>
            </a:solidFill>
            <a:prstDash val="solid"/>
          </a:ln>
        </p:spPr>
      </p:sp>
      <p:sp>
        <p:nvSpPr>
          <p:cNvPr id="35" name="Text 32"/>
          <p:cNvSpPr txBox="1"/>
          <p:nvPr/>
        </p:nvSpPr>
        <p:spPr>
          <a:xfrm>
            <a:off x="4846320" y="4050792"/>
            <a:ext cx="1691640" cy="310896"/>
          </a:xfrm>
          <a:prstGeom prst="rect">
            <a:avLst/>
          </a:prstGeom>
          <a:noFill/>
          <a:ln/>
        </p:spPr>
        <p:txBody>
          <a:bodyPr wrap="square" lIns="0" tIns="0" rIns="0" bIns="0" rtlCol="0" anchor="ctr"/>
          <a:lstStyle/>
          <a:p>
            <a:pPr algn="ctr" indent="0" marL="0">
              <a:buNone/>
            </a:pPr>
            <a:r>
              <a:rPr lang="en-US" sz="1100" b="1" dirty="0">
                <a:solidFill>
                  <a:schemeClr val="accent1"/>
                </a:solidFill>
              </a:rPr>
              <a:t>Reported, preliminary</a:t>
            </a:r>
            <a:endParaRPr lang="en-US" sz="1100" dirty="0"/>
          </a:p>
        </p:txBody>
      </p:sp>
      <p:sp>
        <p:nvSpPr>
          <p:cNvPr id="36" name="Rung 1"/>
          <p:cNvSpPr/>
          <p:nvPr/>
        </p:nvSpPr>
        <p:spPr>
          <a:xfrm>
            <a:off x="548640" y="4599432"/>
            <a:ext cx="685800" cy="713232"/>
          </a:xfrm>
          <a:prstGeom prst="rect">
            <a:avLst/>
          </a:prstGeom>
          <a:solidFill>
            <a:schemeClr val="accent1"/>
          </a:solidFill>
          <a:ln/>
        </p:spPr>
      </p:sp>
      <p:sp>
        <p:nvSpPr>
          <p:cNvPr id="37" name="Badge 1"/>
          <p:cNvSpPr/>
          <p:nvPr/>
        </p:nvSpPr>
        <p:spPr>
          <a:xfrm>
            <a:off x="658368" y="4727448"/>
            <a:ext cx="457200" cy="457200"/>
          </a:xfrm>
          <a:prstGeom prst="ellipse">
            <a:avLst/>
          </a:prstGeom>
          <a:solidFill>
            <a:schemeClr val="bg1"/>
          </a:solidFill>
          <a:ln/>
        </p:spPr>
      </p:sp>
      <p:sp>
        <p:nvSpPr>
          <p:cNvPr id="38" name="Text 35"/>
          <p:cNvSpPr txBox="1"/>
          <p:nvPr/>
        </p:nvSpPr>
        <p:spPr>
          <a:xfrm>
            <a:off x="658368" y="4727448"/>
            <a:ext cx="457200" cy="457200"/>
          </a:xfrm>
          <a:prstGeom prst="rect">
            <a:avLst/>
          </a:prstGeom>
          <a:noFill/>
          <a:ln/>
        </p:spPr>
        <p:txBody>
          <a:bodyPr wrap="square" lIns="0" tIns="0" rIns="0" bIns="0" rtlCol="0" anchor="ctr"/>
          <a:lstStyle/>
          <a:p>
            <a:pPr algn="ctr" indent="0" marL="0">
              <a:buNone/>
            </a:pPr>
            <a:r>
              <a:rPr lang="en-US" sz="1500" b="1" dirty="0">
                <a:solidFill>
                  <a:schemeClr val="accent1"/>
                </a:solidFill>
              </a:rPr>
              <a:t>1</a:t>
            </a:r>
            <a:endParaRPr lang="en-US" sz="1500" dirty="0"/>
          </a:p>
        </p:txBody>
      </p:sp>
      <p:sp>
        <p:nvSpPr>
          <p:cNvPr id="39" name="Text 36"/>
          <p:cNvSpPr txBox="1"/>
          <p:nvPr/>
        </p:nvSpPr>
        <p:spPr>
          <a:xfrm>
            <a:off x="1371600" y="4617720"/>
            <a:ext cx="3383280" cy="676656"/>
          </a:xfrm>
          <a:prstGeom prst="rect">
            <a:avLst/>
          </a:prstGeom>
          <a:noFill/>
          <a:ln/>
        </p:spPr>
        <p:txBody>
          <a:bodyPr wrap="square" lIns="0" tIns="0" rIns="0" bIns="0" rtlCol="0" anchor="t"/>
          <a:lstStyle/>
          <a:p>
            <a:pPr indent="0" marL="0">
              <a:buNone/>
            </a:pPr>
            <a:r>
              <a:rPr lang="en-US" sz="1200" b="1" dirty="0">
                <a:solidFill>
                  <a:schemeClr val="tx1"/>
                </a:solidFill>
              </a:rPr>
              <a:t>Works as a system?</a:t>
            </a:r>
            <a:endParaRPr lang="en-US" sz="1200" dirty="0"/>
          </a:p>
          <a:p>
            <a:pPr indent="0" marL="0">
              <a:buNone/>
            </a:pPr>
            <a:r>
              <a:rPr lang="en-US" sz="950" dirty="0">
                <a:solidFill>
                  <a:schemeClr val="tx2"/>
                </a:solidFill>
              </a:rPr>
              <a:t>Staged demo: a volunteer's simulated freeze sensed, flagged and cued; bench study of five cue sites (chest most sensitive)</a:t>
            </a:r>
            <a:endParaRPr lang="en-US" sz="1200" dirty="0"/>
          </a:p>
        </p:txBody>
      </p:sp>
      <p:sp>
        <p:nvSpPr>
          <p:cNvPr id="40" name="Pill Demonstrated"/>
          <p:cNvSpPr/>
          <p:nvPr/>
        </p:nvSpPr>
        <p:spPr>
          <a:xfrm>
            <a:off x="4846320" y="4800600"/>
            <a:ext cx="1691640" cy="310896"/>
          </a:xfrm>
          <a:prstGeom prst="roundRect">
            <a:avLst>
              <a:gd name="adj" fmla="val 50000"/>
            </a:avLst>
          </a:prstGeom>
          <a:solidFill>
            <a:schemeClr val="accent1"/>
          </a:solidFill>
          <a:ln w="15875">
            <a:solidFill>
              <a:schemeClr val="accent1"/>
            </a:solidFill>
            <a:prstDash val="solid"/>
          </a:ln>
        </p:spPr>
      </p:sp>
      <p:sp>
        <p:nvSpPr>
          <p:cNvPr id="41" name="Text 38"/>
          <p:cNvSpPr txBox="1"/>
          <p:nvPr/>
        </p:nvSpPr>
        <p:spPr>
          <a:xfrm>
            <a:off x="4846320" y="4800600"/>
            <a:ext cx="1691640" cy="310896"/>
          </a:xfrm>
          <a:prstGeom prst="rect">
            <a:avLst/>
          </a:prstGeom>
          <a:noFill/>
          <a:ln/>
        </p:spPr>
        <p:txBody>
          <a:bodyPr wrap="square" lIns="0" tIns="0" rIns="0" bIns="0" rtlCol="0" anchor="ctr"/>
          <a:lstStyle/>
          <a:p>
            <a:pPr algn="ctr" indent="0" marL="0">
              <a:buNone/>
            </a:pPr>
            <a:r>
              <a:rPr lang="en-US" sz="1100" b="1" dirty="0">
                <a:solidFill>
                  <a:schemeClr val="bg1"/>
                </a:solidFill>
              </a:rPr>
              <a:t>Demonstrated</a:t>
            </a:r>
            <a:endParaRPr lang="en-US" sz="1100" dirty="0"/>
          </a:p>
        </p:txBody>
      </p:sp>
      <p:sp>
        <p:nvSpPr>
          <p:cNvPr id="42" name="Ladder arrow"/>
          <p:cNvSpPr/>
          <p:nvPr/>
        </p:nvSpPr>
        <p:spPr>
          <a:xfrm>
            <a:off x="548640" y="5440680"/>
            <a:ext cx="5989320" cy="237744"/>
          </a:xfrm>
          <a:prstGeom prst="rightArrow">
            <a:avLst/>
          </a:prstGeom>
          <a:solidFill>
            <a:srgbClr val="D5DFDD"/>
          </a:solidFill>
          <a:ln/>
        </p:spPr>
      </p:sp>
      <p:sp>
        <p:nvSpPr>
          <p:cNvPr id="43" name="Text 40"/>
          <p:cNvSpPr txBox="1"/>
          <p:nvPr/>
        </p:nvSpPr>
        <p:spPr>
          <a:xfrm>
            <a:off x="685800" y="5440680"/>
            <a:ext cx="5669280" cy="237744"/>
          </a:xfrm>
          <a:prstGeom prst="rect">
            <a:avLst/>
          </a:prstGeom>
          <a:noFill/>
          <a:ln/>
        </p:spPr>
        <p:txBody>
          <a:bodyPr wrap="square" lIns="0" tIns="0" rIns="0" bIns="0" rtlCol="0" anchor="ctr"/>
          <a:lstStyle/>
          <a:p>
            <a:pPr indent="0" marL="0">
              <a:buNone/>
            </a:pPr>
            <a:r>
              <a:rPr lang="en-US" sz="950" b="1" dirty="0">
                <a:solidFill>
                  <a:schemeClr val="tx1"/>
                </a:solidFill>
              </a:rPr>
              <a:t>Pre-IDEAL (bench, datasets)   →   IDEAL 1–2a (first in humans)   →   2b–4 (comparison, long-term)</a:t>
            </a:r>
            <a:endParaRPr lang="en-US" sz="950" dirty="0"/>
          </a:p>
        </p:txBody>
      </p:sp>
      <p:graphicFrame>
        <p:nvGraphicFramePr>
          <p:cNvPr id="44" name="Chart 0" descr=""/>
          <p:cNvGraphicFramePr/>
          <p:nvPr/>
        </p:nvGraphicFramePr>
        <p:xfrm>
          <a:off x="6858000" y="1572768"/>
          <a:ext cx="4782312" cy="2331720"/>
        </p:xfrm>
        <a:graphic xmlns:a="http://schemas.openxmlformats.org/drawingml/2006/main">
          <a:graphicData uri="http://schemas.openxmlformats.org/drawingml/2006/chart">
            <c:chart xmlns:c="http://schemas.openxmlformats.org/drawingml/2006/chart" r:id="rId1"/>
          </a:graphicData>
        </a:graphic>
      </p:graphicFrame>
      <p:sp>
        <p:nvSpPr>
          <p:cNvPr id="45" name="Stat False alarms per minute"/>
          <p:cNvSpPr/>
          <p:nvPr/>
        </p:nvSpPr>
        <p:spPr>
          <a:xfrm>
            <a:off x="6858000" y="4023360"/>
            <a:ext cx="2308860" cy="1325880"/>
          </a:xfrm>
          <a:prstGeom prst="roundRect">
            <a:avLst>
              <a:gd name="adj" fmla="val 8276"/>
            </a:avLst>
          </a:prstGeom>
          <a:solidFill>
            <a:schemeClr val="bg1"/>
          </a:solidFill>
          <a:ln w="9525">
            <a:solidFill>
              <a:srgbClr val="D5DFDD"/>
            </a:solidFill>
            <a:prstDash val="solid"/>
          </a:ln>
          <a:effectLst>
            <a:outerShdw sx="100000" sy="100000" kx="0" ky="0" algn="bl" rotWithShape="0" blurRad="76200" dist="25400" dir="5400000">
              <a:srgbClr val="000000">
                <a:alpha val="10000"/>
              </a:srgbClr>
            </a:outerShdw>
          </a:effectLst>
        </p:spPr>
      </p:sp>
      <p:sp>
        <p:nvSpPr>
          <p:cNvPr id="46" name="Stat accent"/>
          <p:cNvSpPr/>
          <p:nvPr/>
        </p:nvSpPr>
        <p:spPr>
          <a:xfrm>
            <a:off x="6858000" y="4251960"/>
            <a:ext cx="64008" cy="868680"/>
          </a:xfrm>
          <a:prstGeom prst="rect">
            <a:avLst/>
          </a:prstGeom>
          <a:solidFill>
            <a:schemeClr val="accent3"/>
          </a:solidFill>
          <a:ln/>
        </p:spPr>
      </p:sp>
      <p:sp>
        <p:nvSpPr>
          <p:cNvPr id="47" name="Icon disc LuBellRing"/>
          <p:cNvSpPr/>
          <p:nvPr/>
        </p:nvSpPr>
        <p:spPr>
          <a:xfrm>
            <a:off x="8599932" y="4206240"/>
            <a:ext cx="402336" cy="402336"/>
          </a:xfrm>
          <a:prstGeom prst="ellipse">
            <a:avLst/>
          </a:prstGeom>
          <a:solidFill>
            <a:schemeClr val="accent3">
              <a:alpha val="15000"/>
            </a:schemeClr>
          </a:solidFill>
          <a:ln/>
        </p:spPr>
      </p:sp>
      <p:pic>
        <p:nvPicPr>
          <p:cNvPr id="48" name="Image 0" descr="BellRing icon">    </p:cNvPr>
          <p:cNvPicPr>
            <a:picLocks noChangeAspect="1"/>
          </p:cNvPicPr>
          <p:nvPr/>
        </p:nvPicPr>
        <p:blipFill>
          <a:blip r:embed="rId2"/>
          <a:stretch>
            <a:fillRect/>
          </a:stretch>
        </p:blipFill>
        <p:spPr>
          <a:xfrm>
            <a:off x="8688446" y="4294754"/>
            <a:ext cx="225308" cy="225308"/>
          </a:xfrm>
          <a:prstGeom prst="rect">
            <a:avLst/>
          </a:prstGeom>
        </p:spPr>
      </p:pic>
      <p:sp>
        <p:nvSpPr>
          <p:cNvPr id="49" name="Text 44"/>
          <p:cNvSpPr txBox="1"/>
          <p:nvPr/>
        </p:nvSpPr>
        <p:spPr>
          <a:xfrm>
            <a:off x="7086600" y="4160520"/>
            <a:ext cx="1440180" cy="685800"/>
          </a:xfrm>
          <a:prstGeom prst="rect">
            <a:avLst/>
          </a:prstGeom>
          <a:noFill/>
          <a:ln/>
        </p:spPr>
        <p:txBody>
          <a:bodyPr wrap="square" lIns="0" tIns="0" rIns="0" bIns="0" rtlCol="0" anchor="ctr"/>
          <a:lstStyle/>
          <a:p>
            <a:pPr indent="0" marL="0">
              <a:buNone/>
            </a:pPr>
            <a:r>
              <a:rPr lang="en-US" sz="2400" b="1" dirty="0">
                <a:solidFill>
                  <a:schemeClr val="accent3"/>
                </a:solidFill>
              </a:rPr>
              <a:t>0.15–0.18</a:t>
            </a:r>
            <a:endParaRPr lang="en-US" sz="2400" dirty="0"/>
          </a:p>
        </p:txBody>
      </p:sp>
      <p:sp>
        <p:nvSpPr>
          <p:cNvPr id="50" name="Text 45"/>
          <p:cNvSpPr txBox="1"/>
          <p:nvPr/>
        </p:nvSpPr>
        <p:spPr>
          <a:xfrm>
            <a:off x="7086600" y="4846320"/>
            <a:ext cx="1943100" cy="292608"/>
          </a:xfrm>
          <a:prstGeom prst="rect">
            <a:avLst/>
          </a:prstGeom>
          <a:noFill/>
          <a:ln/>
        </p:spPr>
        <p:txBody>
          <a:bodyPr wrap="square" lIns="0" tIns="0" rIns="0" bIns="0" rtlCol="0" anchor="t"/>
          <a:lstStyle/>
          <a:p>
            <a:pPr indent="0" marL="0">
              <a:buNone/>
            </a:pPr>
            <a:r>
              <a:rPr lang="en-US" sz="1200" b="1" dirty="0">
                <a:solidFill>
                  <a:schemeClr val="tx1"/>
                </a:solidFill>
              </a:rPr>
              <a:t>False alarms per minute</a:t>
            </a:r>
            <a:endParaRPr lang="en-US" sz="1200" dirty="0"/>
          </a:p>
        </p:txBody>
      </p:sp>
      <p:sp>
        <p:nvSpPr>
          <p:cNvPr id="51" name="Text 46"/>
          <p:cNvSpPr txBox="1"/>
          <p:nvPr/>
        </p:nvSpPr>
        <p:spPr>
          <a:xfrm>
            <a:off x="7086600" y="5120640"/>
            <a:ext cx="1943100" cy="182880"/>
          </a:xfrm>
          <a:prstGeom prst="rect">
            <a:avLst/>
          </a:prstGeom>
          <a:noFill/>
          <a:ln/>
        </p:spPr>
        <p:txBody>
          <a:bodyPr wrap="square" lIns="0" tIns="0" rIns="0" bIns="0" rtlCol="0" anchor="t"/>
          <a:lstStyle/>
          <a:p>
            <a:pPr indent="0" marL="0">
              <a:buNone/>
            </a:pPr>
            <a:r>
              <a:rPr lang="en-US" sz="950" dirty="0">
                <a:solidFill>
                  <a:schemeClr val="accent5"/>
                </a:solidFill>
              </a:rPr>
              <a:t>Subject-wise; ≈0.21–0.27/min cross-dataset (project chart)</a:t>
            </a:r>
            <a:endParaRPr lang="en-US" sz="950" dirty="0"/>
          </a:p>
        </p:txBody>
      </p:sp>
      <p:sp>
        <p:nvSpPr>
          <p:cNvPr id="52" name="Stat Daphnet benchmark"/>
          <p:cNvSpPr/>
          <p:nvPr/>
        </p:nvSpPr>
        <p:spPr>
          <a:xfrm>
            <a:off x="9331452" y="4023360"/>
            <a:ext cx="2308860" cy="1325880"/>
          </a:xfrm>
          <a:prstGeom prst="roundRect">
            <a:avLst>
              <a:gd name="adj" fmla="val 8276"/>
            </a:avLst>
          </a:prstGeom>
          <a:solidFill>
            <a:schemeClr val="bg1"/>
          </a:solidFill>
          <a:ln w="9525">
            <a:solidFill>
              <a:srgbClr val="D5DFDD"/>
            </a:solidFill>
            <a:prstDash val="solid"/>
          </a:ln>
          <a:effectLst>
            <a:outerShdw sx="100000" sy="100000" kx="0" ky="0" algn="bl" rotWithShape="0" blurRad="76200" dist="25400" dir="5400000">
              <a:srgbClr val="000000">
                <a:alpha val="10000"/>
              </a:srgbClr>
            </a:outerShdw>
          </a:effectLst>
        </p:spPr>
      </p:sp>
      <p:sp>
        <p:nvSpPr>
          <p:cNvPr id="53" name="Stat accent"/>
          <p:cNvSpPr/>
          <p:nvPr/>
        </p:nvSpPr>
        <p:spPr>
          <a:xfrm>
            <a:off x="9331452" y="4251960"/>
            <a:ext cx="64008" cy="868680"/>
          </a:xfrm>
          <a:prstGeom prst="rect">
            <a:avLst/>
          </a:prstGeom>
          <a:solidFill>
            <a:schemeClr val="accent4"/>
          </a:solidFill>
          <a:ln/>
        </p:spPr>
      </p:sp>
      <p:sp>
        <p:nvSpPr>
          <p:cNvPr id="54" name="Icon disc LuDatabase"/>
          <p:cNvSpPr/>
          <p:nvPr/>
        </p:nvSpPr>
        <p:spPr>
          <a:xfrm>
            <a:off x="11073384" y="4206240"/>
            <a:ext cx="402336" cy="402336"/>
          </a:xfrm>
          <a:prstGeom prst="ellipse">
            <a:avLst/>
          </a:prstGeom>
          <a:solidFill>
            <a:schemeClr val="accent4">
              <a:alpha val="15000"/>
            </a:schemeClr>
          </a:solidFill>
          <a:ln/>
        </p:spPr>
      </p:sp>
      <p:pic>
        <p:nvPicPr>
          <p:cNvPr id="55" name="Image 1" descr="Database icon">    </p:cNvPr>
          <p:cNvPicPr>
            <a:picLocks noChangeAspect="1"/>
          </p:cNvPicPr>
          <p:nvPr/>
        </p:nvPicPr>
        <p:blipFill>
          <a:blip r:embed="rId3"/>
          <a:stretch>
            <a:fillRect/>
          </a:stretch>
        </p:blipFill>
        <p:spPr>
          <a:xfrm>
            <a:off x="11161898" y="4294754"/>
            <a:ext cx="225308" cy="225308"/>
          </a:xfrm>
          <a:prstGeom prst="rect">
            <a:avLst/>
          </a:prstGeom>
        </p:spPr>
      </p:pic>
      <p:sp>
        <p:nvSpPr>
          <p:cNvPr id="56" name="Text 50"/>
          <p:cNvSpPr txBox="1"/>
          <p:nvPr/>
        </p:nvSpPr>
        <p:spPr>
          <a:xfrm>
            <a:off x="9560052" y="4160520"/>
            <a:ext cx="1440180" cy="685800"/>
          </a:xfrm>
          <a:prstGeom prst="rect">
            <a:avLst/>
          </a:prstGeom>
          <a:noFill/>
          <a:ln/>
        </p:spPr>
        <p:txBody>
          <a:bodyPr wrap="square" lIns="0" tIns="0" rIns="0" bIns="0" rtlCol="0" anchor="ctr"/>
          <a:lstStyle/>
          <a:p>
            <a:pPr indent="0" marL="0">
              <a:buNone/>
            </a:pPr>
            <a:r>
              <a:rPr lang="en-US" sz="2400" b="1" dirty="0">
                <a:solidFill>
                  <a:schemeClr val="accent4"/>
                </a:solidFill>
              </a:rPr>
              <a:t>n = 10</a:t>
            </a:r>
            <a:endParaRPr lang="en-US" sz="2400" dirty="0"/>
          </a:p>
        </p:txBody>
      </p:sp>
      <p:sp>
        <p:nvSpPr>
          <p:cNvPr id="57" name="Text 51"/>
          <p:cNvSpPr txBox="1"/>
          <p:nvPr/>
        </p:nvSpPr>
        <p:spPr>
          <a:xfrm>
            <a:off x="9560052" y="4846320"/>
            <a:ext cx="1943100" cy="292608"/>
          </a:xfrm>
          <a:prstGeom prst="rect">
            <a:avLst/>
          </a:prstGeom>
          <a:noFill/>
          <a:ln/>
        </p:spPr>
        <p:txBody>
          <a:bodyPr wrap="square" lIns="0" tIns="0" rIns="0" bIns="0" rtlCol="0" anchor="t"/>
          <a:lstStyle/>
          <a:p>
            <a:pPr indent="0" marL="0">
              <a:buNone/>
            </a:pPr>
            <a:r>
              <a:rPr lang="en-US" sz="1200" b="1" dirty="0">
                <a:solidFill>
                  <a:schemeClr val="tx1"/>
                </a:solidFill>
              </a:rPr>
              <a:t>Daphnet benchmark</a:t>
            </a:r>
            <a:endParaRPr lang="en-US" sz="1200" dirty="0"/>
          </a:p>
        </p:txBody>
      </p:sp>
      <p:sp>
        <p:nvSpPr>
          <p:cNvPr id="58" name="Text 52"/>
          <p:cNvSpPr txBox="1"/>
          <p:nvPr/>
        </p:nvSpPr>
        <p:spPr>
          <a:xfrm>
            <a:off x="9560052" y="5120640"/>
            <a:ext cx="1943100" cy="182880"/>
          </a:xfrm>
          <a:prstGeom prst="rect">
            <a:avLst/>
          </a:prstGeom>
          <a:noFill/>
          <a:ln/>
        </p:spPr>
        <p:txBody>
          <a:bodyPr wrap="square" lIns="0" tIns="0" rIns="0" bIns="0" rtlCol="0" anchor="t"/>
          <a:lstStyle/>
          <a:p>
            <a:pPr indent="0" marL="0">
              <a:buNone/>
            </a:pPr>
            <a:r>
              <a:rPr lang="en-US" sz="950" dirty="0">
                <a:solidFill>
                  <a:schemeClr val="accent5"/>
                </a:solidFill>
              </a:rPr>
              <a:t>Lab, 8 froze, 237 video-labelled events</a:t>
            </a:r>
            <a:endParaRPr lang="en-US" sz="950" dirty="0"/>
          </a:p>
        </p:txBody>
      </p:sp>
      <p:sp>
        <p:nvSpPr>
          <p:cNvPr id="59" name="Callout"/>
          <p:cNvSpPr/>
          <p:nvPr/>
        </p:nvSpPr>
        <p:spPr>
          <a:xfrm>
            <a:off x="548640" y="5532120"/>
            <a:ext cx="11094415" cy="548640"/>
          </a:xfrm>
          <a:prstGeom prst="roundRect">
            <a:avLst>
              <a:gd name="adj" fmla="val 13333"/>
            </a:avLst>
          </a:prstGeom>
          <a:solidFill>
            <a:schemeClr val="accent2">
              <a:alpha val="12000"/>
            </a:schemeClr>
          </a:solidFill>
          <a:ln/>
        </p:spPr>
      </p:sp>
      <p:sp>
        <p:nvSpPr>
          <p:cNvPr id="60" name="Callout bar"/>
          <p:cNvSpPr/>
          <p:nvPr/>
        </p:nvSpPr>
        <p:spPr>
          <a:xfrm>
            <a:off x="548640" y="5623560"/>
            <a:ext cx="64008" cy="365760"/>
          </a:xfrm>
          <a:prstGeom prst="rect">
            <a:avLst/>
          </a:prstGeom>
          <a:solidFill>
            <a:schemeClr val="accent2"/>
          </a:solidFill>
          <a:ln/>
        </p:spPr>
      </p:sp>
      <p:sp>
        <p:nvSpPr>
          <p:cNvPr id="61" name="Text 55"/>
          <p:cNvSpPr txBox="1"/>
          <p:nvPr/>
        </p:nvSpPr>
        <p:spPr>
          <a:xfrm>
            <a:off x="822960" y="5532120"/>
            <a:ext cx="10682935" cy="548640"/>
          </a:xfrm>
          <a:prstGeom prst="rect">
            <a:avLst/>
          </a:prstGeom>
          <a:noFill/>
          <a:ln/>
        </p:spPr>
        <p:txBody>
          <a:bodyPr wrap="square" lIns="0" tIns="0" rIns="0" bIns="0" rtlCol="0" anchor="ctr"/>
          <a:lstStyle/>
          <a:p>
            <a:pPr indent="0" marL="0">
              <a:buNone/>
            </a:pPr>
            <a:r>
              <a:rPr lang="en-US" sz="1300" b="1" dirty="0">
                <a:solidFill>
                  <a:schemeClr val="tx1"/>
                </a:solidFill>
              </a:rPr>
              <a:t>The rungs are questions, not a compulsory sequence. Which rung matters most before Ramesh uses it at home?</a:t>
            </a:r>
            <a:endParaRPr lang="en-US" sz="13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WOULD YOU PROCEED? 1/5</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Home pilot for Ramesh next month?</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FoGO BIRAC BIG presentation; MDR-2017 Chapter VII, Forms MD-12/13 and MD-22/23; ICMR 2017; Helsinki 2024 para 34; DPDP Rules 2025</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02952" y="347472"/>
            <a:ext cx="219456" cy="219456"/>
          </a:xfrm>
          <a:prstGeom prst="ellipse">
            <a:avLst/>
          </a:prstGeom>
          <a:solidFill>
            <a:schemeClr val="accent1"/>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tx2"/>
          </a:solidFill>
          <a:ln w="12700">
            <a:solidFill>
              <a:schemeClr val="accent6"/>
            </a:solidFill>
            <a:prstDash val="solid"/>
          </a:ln>
        </p:spPr>
      </p:sp>
      <p:sp>
        <p:nvSpPr>
          <p:cNvPr id="8" name="Progress Permission"/>
          <p:cNvSpPr/>
          <p:nvPr/>
        </p:nvSpPr>
        <p:spPr>
          <a:xfrm>
            <a:off x="10680192" y="393192"/>
            <a:ext cx="128016" cy="128016"/>
          </a:xfrm>
          <a:prstGeom prst="ellipse">
            <a:avLst/>
          </a:prstGeom>
          <a:solidFill>
            <a:schemeClr val="tx2"/>
          </a:solidFill>
          <a:ln w="12700">
            <a:solidFill>
              <a:schemeClr val="accent6"/>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sp>
        <p:nvSpPr>
          <p:cNvPr id="12" name="Text 9"/>
          <p:cNvSpPr txBox="1"/>
          <p:nvPr/>
        </p:nvSpPr>
        <p:spPr>
          <a:xfrm>
            <a:off x="548640" y="1600200"/>
            <a:ext cx="5394960" cy="274320"/>
          </a:xfrm>
          <a:prstGeom prst="rect">
            <a:avLst/>
          </a:prstGeom>
          <a:noFill/>
          <a:ln/>
        </p:spPr>
        <p:txBody>
          <a:bodyPr wrap="square" lIns="0" tIns="0" rIns="0" bIns="0" rtlCol="0" anchor="t"/>
          <a:lstStyle/>
          <a:p>
            <a:pPr indent="0" marL="0">
              <a:buNone/>
            </a:pPr>
            <a:r>
              <a:rPr lang="en-US" sz="1050" i="1" dirty="0">
                <a:solidFill>
                  <a:schemeClr val="accent6"/>
                </a:solidFill>
              </a:rPr>
              <a:t>A hypothetical scenario built on real FoGO facts</a:t>
            </a:r>
            <a:endParaRPr lang="en-US" sz="1050" dirty="0"/>
          </a:p>
        </p:txBody>
      </p:sp>
      <p:sp>
        <p:nvSpPr>
          <p:cNvPr id="13" name="Icon disc LuDatabase"/>
          <p:cNvSpPr/>
          <p:nvPr/>
        </p:nvSpPr>
        <p:spPr>
          <a:xfrm>
            <a:off x="548640" y="2048256"/>
            <a:ext cx="566928" cy="566928"/>
          </a:xfrm>
          <a:prstGeom prst="ellipse">
            <a:avLst/>
          </a:prstGeom>
          <a:solidFill>
            <a:schemeClr val="accent6"/>
          </a:solidFill>
          <a:ln/>
        </p:spPr>
      </p:sp>
      <p:pic>
        <p:nvPicPr>
          <p:cNvPr id="14" name="Image 0" descr="Database icon">    </p:cNvPr>
          <p:cNvPicPr>
            <a:picLocks noChangeAspect="1"/>
          </p:cNvPicPr>
          <p:nvPr/>
        </p:nvPicPr>
        <p:blipFill>
          <a:blip r:embed="rId1"/>
          <a:stretch>
            <a:fillRect/>
          </a:stretch>
        </p:blipFill>
        <p:spPr>
          <a:xfrm>
            <a:off x="673364" y="2172980"/>
            <a:ext cx="317480" cy="317480"/>
          </a:xfrm>
          <a:prstGeom prst="rect">
            <a:avLst/>
          </a:prstGeom>
        </p:spPr>
      </p:pic>
      <p:sp>
        <p:nvSpPr>
          <p:cNvPr id="15" name="Text 11"/>
          <p:cNvSpPr txBox="1"/>
          <p:nvPr/>
        </p:nvSpPr>
        <p:spPr>
          <a:xfrm>
            <a:off x="1325880" y="2048256"/>
            <a:ext cx="4617720" cy="566928"/>
          </a:xfrm>
          <a:prstGeom prst="rect">
            <a:avLst/>
          </a:prstGeom>
          <a:noFill/>
          <a:ln/>
        </p:spPr>
        <p:txBody>
          <a:bodyPr wrap="square" lIns="0" tIns="0" rIns="0" bIns="0" rtlCol="0" anchor="ctr"/>
          <a:lstStyle/>
          <a:p>
            <a:pPr indent="0" marL="0">
              <a:buNone/>
            </a:pPr>
            <a:r>
              <a:rPr lang="en-US" sz="1800" dirty="0">
                <a:solidFill>
                  <a:schemeClr val="bg1"/>
                </a:solidFill>
              </a:rPr>
              <a:t>F1 0.83–0.85 on public data</a:t>
            </a:r>
            <a:endParaRPr lang="en-US" sz="1800" dirty="0"/>
          </a:p>
        </p:txBody>
      </p:sp>
      <p:sp>
        <p:nvSpPr>
          <p:cNvPr id="16" name="Icon disc LuHouse"/>
          <p:cNvSpPr/>
          <p:nvPr/>
        </p:nvSpPr>
        <p:spPr>
          <a:xfrm>
            <a:off x="548640" y="3401568"/>
            <a:ext cx="566928" cy="566928"/>
          </a:xfrm>
          <a:prstGeom prst="ellipse">
            <a:avLst/>
          </a:prstGeom>
          <a:solidFill>
            <a:schemeClr val="accent6"/>
          </a:solidFill>
          <a:ln/>
        </p:spPr>
      </p:sp>
      <p:pic>
        <p:nvPicPr>
          <p:cNvPr id="17" name="Image 1" descr="House icon">    </p:cNvPr>
          <p:cNvPicPr>
            <a:picLocks noChangeAspect="1"/>
          </p:cNvPicPr>
          <p:nvPr/>
        </p:nvPicPr>
        <p:blipFill>
          <a:blip r:embed="rId2"/>
          <a:stretch>
            <a:fillRect/>
          </a:stretch>
        </p:blipFill>
        <p:spPr>
          <a:xfrm>
            <a:off x="673364" y="3526292"/>
            <a:ext cx="317480" cy="317480"/>
          </a:xfrm>
          <a:prstGeom prst="rect">
            <a:avLst/>
          </a:prstGeom>
        </p:spPr>
      </p:pic>
      <p:sp>
        <p:nvSpPr>
          <p:cNvPr id="18" name="Text 13"/>
          <p:cNvSpPr txBox="1"/>
          <p:nvPr/>
        </p:nvSpPr>
        <p:spPr>
          <a:xfrm>
            <a:off x="1325880" y="3401568"/>
            <a:ext cx="4617720" cy="566928"/>
          </a:xfrm>
          <a:prstGeom prst="rect">
            <a:avLst/>
          </a:prstGeom>
          <a:noFill/>
          <a:ln/>
        </p:spPr>
        <p:txBody>
          <a:bodyPr wrap="square" lIns="0" tIns="0" rIns="0" bIns="0" rtlCol="0" anchor="ctr"/>
          <a:lstStyle/>
          <a:p>
            <a:pPr indent="0" marL="0">
              <a:buNone/>
            </a:pPr>
            <a:r>
              <a:rPr lang="en-US" sz="1800" dirty="0">
                <a:solidFill>
                  <a:schemeClr val="bg1"/>
                </a:solidFill>
              </a:rPr>
              <a:t>Ten users, alone at home</a:t>
            </a:r>
            <a:endParaRPr lang="en-US" sz="1800" dirty="0"/>
          </a:p>
        </p:txBody>
      </p:sp>
      <p:sp>
        <p:nvSpPr>
          <p:cNvPr id="19" name="Icon disc LuUser"/>
          <p:cNvSpPr/>
          <p:nvPr/>
        </p:nvSpPr>
        <p:spPr>
          <a:xfrm>
            <a:off x="548640" y="4754880"/>
            <a:ext cx="566928" cy="566928"/>
          </a:xfrm>
          <a:prstGeom prst="ellipse">
            <a:avLst/>
          </a:prstGeom>
          <a:solidFill>
            <a:schemeClr val="accent6"/>
          </a:solidFill>
          <a:ln/>
        </p:spPr>
      </p:sp>
      <p:pic>
        <p:nvPicPr>
          <p:cNvPr id="20" name="Image 2" descr="User icon">    </p:cNvPr>
          <p:cNvPicPr>
            <a:picLocks noChangeAspect="1"/>
          </p:cNvPicPr>
          <p:nvPr/>
        </p:nvPicPr>
        <p:blipFill>
          <a:blip r:embed="rId3"/>
          <a:stretch>
            <a:fillRect/>
          </a:stretch>
        </p:blipFill>
        <p:spPr>
          <a:xfrm>
            <a:off x="673364" y="4879604"/>
            <a:ext cx="317480" cy="317480"/>
          </a:xfrm>
          <a:prstGeom prst="rect">
            <a:avLst/>
          </a:prstGeom>
        </p:spPr>
      </p:pic>
      <p:sp>
        <p:nvSpPr>
          <p:cNvPr id="21" name="Text 15"/>
          <p:cNvSpPr txBox="1"/>
          <p:nvPr/>
        </p:nvSpPr>
        <p:spPr>
          <a:xfrm>
            <a:off x="1325880" y="4754880"/>
            <a:ext cx="4617720" cy="566928"/>
          </a:xfrm>
          <a:prstGeom prst="rect">
            <a:avLst/>
          </a:prstGeom>
          <a:noFill/>
          <a:ln/>
        </p:spPr>
        <p:txBody>
          <a:bodyPr wrap="square" lIns="0" tIns="0" rIns="0" bIns="0" rtlCol="0" anchor="ctr"/>
          <a:lstStyle/>
          <a:p>
            <a:pPr indent="0" marL="0">
              <a:buNone/>
            </a:pPr>
            <a:r>
              <a:rPr lang="en-US" sz="1800" dirty="0">
                <a:solidFill>
                  <a:schemeClr val="bg1"/>
                </a:solidFill>
              </a:rPr>
              <a:t>Ramesh fell twice; asks to join</a:t>
            </a:r>
            <a:endParaRPr lang="en-US" sz="1800" dirty="0"/>
          </a:p>
        </p:txBody>
      </p:sp>
      <p:sp>
        <p:nvSpPr>
          <p:cNvPr id="22" name="Option A"/>
          <p:cNvSpPr/>
          <p:nvPr/>
        </p:nvSpPr>
        <p:spPr>
          <a:xfrm>
            <a:off x="6400800" y="1783080"/>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23" name="Badge A"/>
          <p:cNvSpPr/>
          <p:nvPr/>
        </p:nvSpPr>
        <p:spPr>
          <a:xfrm>
            <a:off x="6629400" y="2011680"/>
            <a:ext cx="640080" cy="640080"/>
          </a:xfrm>
          <a:prstGeom prst="ellipse">
            <a:avLst/>
          </a:prstGeom>
          <a:solidFill>
            <a:schemeClr val="accent2"/>
          </a:solidFill>
          <a:ln/>
        </p:spPr>
      </p:sp>
      <p:sp>
        <p:nvSpPr>
          <p:cNvPr id="24" name="Text 18"/>
          <p:cNvSpPr txBox="1"/>
          <p:nvPr/>
        </p:nvSpPr>
        <p:spPr>
          <a:xfrm>
            <a:off x="6629400" y="201168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A</a:t>
            </a:r>
            <a:endParaRPr lang="en-US" sz="2200" dirty="0"/>
          </a:p>
        </p:txBody>
      </p:sp>
      <p:sp>
        <p:nvSpPr>
          <p:cNvPr id="25" name="Text 19"/>
          <p:cNvSpPr txBox="1"/>
          <p:nvPr/>
        </p:nvSpPr>
        <p:spPr>
          <a:xfrm>
            <a:off x="7498080" y="1783080"/>
            <a:ext cx="3959352" cy="1097280"/>
          </a:xfrm>
          <a:prstGeom prst="rect">
            <a:avLst/>
          </a:prstGeom>
          <a:noFill/>
          <a:ln/>
        </p:spPr>
        <p:txBody>
          <a:bodyPr wrap="square" lIns="0" tIns="0" rIns="0" bIns="0" rtlCol="0" anchor="ctr"/>
          <a:lstStyle/>
          <a:p>
            <a:pPr indent="0" marL="0">
              <a:buNone/>
            </a:pPr>
            <a:r>
              <a:rPr lang="en-US" sz="2000" b="1" dirty="0">
                <a:solidFill>
                  <a:schemeClr val="bg1"/>
                </a:solidFill>
              </a:rPr>
              <a:t>Proceed</a:t>
            </a:r>
            <a:endParaRPr lang="en-US" sz="1400" dirty="0"/>
          </a:p>
        </p:txBody>
      </p:sp>
      <p:sp>
        <p:nvSpPr>
          <p:cNvPr id="26" name="Option B"/>
          <p:cNvSpPr/>
          <p:nvPr/>
        </p:nvSpPr>
        <p:spPr>
          <a:xfrm>
            <a:off x="6400800" y="3136392"/>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27" name="Badge B"/>
          <p:cNvSpPr/>
          <p:nvPr/>
        </p:nvSpPr>
        <p:spPr>
          <a:xfrm>
            <a:off x="6629400" y="3364992"/>
            <a:ext cx="640080" cy="640080"/>
          </a:xfrm>
          <a:prstGeom prst="ellipse">
            <a:avLst/>
          </a:prstGeom>
          <a:solidFill>
            <a:schemeClr val="accent2"/>
          </a:solidFill>
          <a:ln/>
        </p:spPr>
      </p:sp>
      <p:sp>
        <p:nvSpPr>
          <p:cNvPr id="28" name="Text 22"/>
          <p:cNvSpPr txBox="1"/>
          <p:nvPr/>
        </p:nvSpPr>
        <p:spPr>
          <a:xfrm>
            <a:off x="6629400" y="3364992"/>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B</a:t>
            </a:r>
            <a:endParaRPr lang="en-US" sz="2200" dirty="0"/>
          </a:p>
        </p:txBody>
      </p:sp>
      <p:sp>
        <p:nvSpPr>
          <p:cNvPr id="29" name="Text 23"/>
          <p:cNvSpPr txBox="1"/>
          <p:nvPr/>
        </p:nvSpPr>
        <p:spPr>
          <a:xfrm>
            <a:off x="7498080" y="3136392"/>
            <a:ext cx="3959352" cy="1097280"/>
          </a:xfrm>
          <a:prstGeom prst="rect">
            <a:avLst/>
          </a:prstGeom>
          <a:noFill/>
          <a:ln/>
        </p:spPr>
        <p:txBody>
          <a:bodyPr wrap="square" lIns="0" tIns="0" rIns="0" bIns="0" rtlCol="0" anchor="ctr"/>
          <a:lstStyle/>
          <a:p>
            <a:pPr indent="0" marL="0">
              <a:buNone/>
            </a:pPr>
            <a:r>
              <a:rPr lang="en-US" sz="2000" b="1" dirty="0">
                <a:solidFill>
                  <a:schemeClr val="bg1"/>
                </a:solidFill>
              </a:rPr>
              <a:t>Proceed with conditions</a:t>
            </a:r>
            <a:endParaRPr lang="en-US" sz="1400" dirty="0"/>
          </a:p>
          <a:p>
            <a:pPr indent="0" marL="0">
              <a:buNone/>
            </a:pPr>
            <a:r>
              <a:rPr lang="en-US" sz="1300" dirty="0">
                <a:solidFill>
                  <a:schemeClr val="accent6"/>
                </a:solidFill>
              </a:rPr>
              <a:t>Name them</a:t>
            </a:r>
            <a:endParaRPr lang="en-US" sz="1400" dirty="0"/>
          </a:p>
        </p:txBody>
      </p:sp>
      <p:sp>
        <p:nvSpPr>
          <p:cNvPr id="30" name="Option C"/>
          <p:cNvSpPr/>
          <p:nvPr/>
        </p:nvSpPr>
        <p:spPr>
          <a:xfrm>
            <a:off x="6400800" y="4489704"/>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31" name="Badge C"/>
          <p:cNvSpPr/>
          <p:nvPr/>
        </p:nvSpPr>
        <p:spPr>
          <a:xfrm>
            <a:off x="6629400" y="4718304"/>
            <a:ext cx="640080" cy="640080"/>
          </a:xfrm>
          <a:prstGeom prst="ellipse">
            <a:avLst/>
          </a:prstGeom>
          <a:solidFill>
            <a:schemeClr val="accent2"/>
          </a:solidFill>
          <a:ln/>
        </p:spPr>
      </p:sp>
      <p:sp>
        <p:nvSpPr>
          <p:cNvPr id="32" name="Text 26"/>
          <p:cNvSpPr txBox="1"/>
          <p:nvPr/>
        </p:nvSpPr>
        <p:spPr>
          <a:xfrm>
            <a:off x="6629400" y="4718304"/>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C</a:t>
            </a:r>
            <a:endParaRPr lang="en-US" sz="2200" dirty="0"/>
          </a:p>
        </p:txBody>
      </p:sp>
      <p:sp>
        <p:nvSpPr>
          <p:cNvPr id="33" name="Text 27"/>
          <p:cNvSpPr txBox="1"/>
          <p:nvPr/>
        </p:nvSpPr>
        <p:spPr>
          <a:xfrm>
            <a:off x="7498080" y="4489704"/>
            <a:ext cx="3959352" cy="1097280"/>
          </a:xfrm>
          <a:prstGeom prst="rect">
            <a:avLst/>
          </a:prstGeom>
          <a:noFill/>
          <a:ln/>
        </p:spPr>
        <p:txBody>
          <a:bodyPr wrap="square" lIns="0" tIns="0" rIns="0" bIns="0" rtlCol="0" anchor="ctr"/>
          <a:lstStyle/>
          <a:p>
            <a:pPr indent="0" marL="0">
              <a:buNone/>
            </a:pPr>
            <a:r>
              <a:rPr lang="en-US" sz="2000" b="1" dirty="0">
                <a:solidFill>
                  <a:schemeClr val="bg1"/>
                </a:solidFill>
              </a:rPr>
              <a:t>Not yet</a:t>
            </a:r>
            <a:endParaRPr lang="en-US" sz="1400" dirty="0"/>
          </a:p>
        </p:txBody>
      </p:sp>
      <p:sp>
        <p:nvSpPr>
          <p:cNvPr id="34" name="Callout"/>
          <p:cNvSpPr/>
          <p:nvPr/>
        </p:nvSpPr>
        <p:spPr>
          <a:xfrm>
            <a:off x="548640" y="5623560"/>
            <a:ext cx="5394960" cy="502920"/>
          </a:xfrm>
          <a:prstGeom prst="roundRect">
            <a:avLst>
              <a:gd name="adj" fmla="val 14545"/>
            </a:avLst>
          </a:prstGeom>
          <a:solidFill>
            <a:schemeClr val="accent2">
              <a:alpha val="20000"/>
            </a:schemeClr>
          </a:solidFill>
          <a:ln/>
        </p:spPr>
      </p:sp>
      <p:sp>
        <p:nvSpPr>
          <p:cNvPr id="35" name="Callout bar"/>
          <p:cNvSpPr/>
          <p:nvPr/>
        </p:nvSpPr>
        <p:spPr>
          <a:xfrm>
            <a:off x="548640" y="5715000"/>
            <a:ext cx="64008" cy="320040"/>
          </a:xfrm>
          <a:prstGeom prst="rect">
            <a:avLst/>
          </a:prstGeom>
          <a:solidFill>
            <a:schemeClr val="accent2"/>
          </a:solidFill>
          <a:ln/>
        </p:spPr>
      </p:sp>
      <p:sp>
        <p:nvSpPr>
          <p:cNvPr id="36" name="Text 30"/>
          <p:cNvSpPr txBox="1"/>
          <p:nvPr/>
        </p:nvSpPr>
        <p:spPr>
          <a:xfrm>
            <a:off x="822960" y="5623560"/>
            <a:ext cx="4983480" cy="502920"/>
          </a:xfrm>
          <a:prstGeom prst="rect">
            <a:avLst/>
          </a:prstGeom>
          <a:noFill/>
          <a:ln/>
        </p:spPr>
        <p:txBody>
          <a:bodyPr wrap="square" lIns="0" tIns="0" rIns="0" bIns="0" rtlCol="0" anchor="ctr"/>
          <a:lstStyle/>
          <a:p>
            <a:pPr indent="0" marL="0">
              <a:buNone/>
            </a:pPr>
            <a:r>
              <a:rPr lang="en-US" sz="1200" b="1" dirty="0">
                <a:solidFill>
                  <a:schemeClr val="bg1"/>
                </a:solidFill>
              </a:rPr>
              <a:t>Vote A, B or C. Then pairs, 60 seconds: if B, which two conditions?</a:t>
            </a:r>
            <a:endParaRPr lang="en-US" sz="12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EVIDENCE · RISK</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Rank failures by harm and likelihood</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FoGO BIRAC BIG presentation (false-alarm rates, project-reported); ISO 14971:2019; IEC 62366-1; CDSCO MD-22 checklist (risk management report); Gerke et al. 2020</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02952" y="347472"/>
            <a:ext cx="219456" cy="219456"/>
          </a:xfrm>
          <a:prstGeom prst="ellipse">
            <a:avLst/>
          </a:prstGeom>
          <a:solidFill>
            <a:schemeClr val="accent1"/>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bg1"/>
          </a:solidFill>
          <a:ln w="12700">
            <a:solidFill>
              <a:schemeClr val="accent5"/>
            </a:solidFill>
            <a:prstDash val="solid"/>
          </a:ln>
        </p:spPr>
      </p:sp>
      <p:sp>
        <p:nvSpPr>
          <p:cNvPr id="8" name="Progress Permission"/>
          <p:cNvSpPr/>
          <p:nvPr/>
        </p:nvSpPr>
        <p:spPr>
          <a:xfrm>
            <a:off x="10680192" y="393192"/>
            <a:ext cx="128016" cy="128016"/>
          </a:xfrm>
          <a:prstGeom prst="ellipse">
            <a:avLst/>
          </a:prstGeom>
          <a:solidFill>
            <a:schemeClr val="bg1"/>
          </a:solidFill>
          <a:ln w="12700">
            <a:solidFill>
              <a:schemeClr val="accent5"/>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Risk cell Critical Rare"/>
          <p:cNvSpPr/>
          <p:nvPr/>
        </p:nvSpPr>
        <p:spPr>
          <a:xfrm>
            <a:off x="1280160" y="1691640"/>
            <a:ext cx="1691640" cy="1005840"/>
          </a:xfrm>
          <a:prstGeom prst="rect">
            <a:avLst/>
          </a:prstGeom>
          <a:solidFill>
            <a:srgbClr val="E0962A">
              <a:alpha val="28000"/>
            </a:srgbClr>
          </a:solidFill>
          <a:ln w="19050">
            <a:solidFill>
              <a:srgbClr val="FFFFFF"/>
            </a:solidFill>
            <a:prstDash val="solid"/>
          </a:ln>
        </p:spPr>
      </p:sp>
      <p:sp>
        <p:nvSpPr>
          <p:cNvPr id="13" name="Risk cell Critical Possible"/>
          <p:cNvSpPr/>
          <p:nvPr/>
        </p:nvSpPr>
        <p:spPr>
          <a:xfrm>
            <a:off x="2971800" y="1691640"/>
            <a:ext cx="1691640" cy="1005840"/>
          </a:xfrm>
          <a:prstGeom prst="rect">
            <a:avLst/>
          </a:prstGeom>
          <a:solidFill>
            <a:srgbClr val="C2453A">
              <a:alpha val="30000"/>
            </a:srgbClr>
          </a:solidFill>
          <a:ln w="19050">
            <a:solidFill>
              <a:srgbClr val="FFFFFF"/>
            </a:solidFill>
            <a:prstDash val="solid"/>
          </a:ln>
        </p:spPr>
      </p:sp>
      <p:sp>
        <p:nvSpPr>
          <p:cNvPr id="14" name="Risk cell Critical Frequent"/>
          <p:cNvSpPr/>
          <p:nvPr/>
        </p:nvSpPr>
        <p:spPr>
          <a:xfrm>
            <a:off x="4663440" y="1691640"/>
            <a:ext cx="1691640" cy="1005840"/>
          </a:xfrm>
          <a:prstGeom prst="rect">
            <a:avLst/>
          </a:prstGeom>
          <a:solidFill>
            <a:srgbClr val="C2453A">
              <a:alpha val="30000"/>
            </a:srgbClr>
          </a:solidFill>
          <a:ln w="19050">
            <a:solidFill>
              <a:srgbClr val="FFFFFF"/>
            </a:solidFill>
            <a:prstDash val="solid"/>
          </a:ln>
        </p:spPr>
      </p:sp>
      <p:sp>
        <p:nvSpPr>
          <p:cNvPr id="15" name="Risk cell Serious Rare"/>
          <p:cNvSpPr/>
          <p:nvPr/>
        </p:nvSpPr>
        <p:spPr>
          <a:xfrm>
            <a:off x="1280160" y="2697480"/>
            <a:ext cx="1691640" cy="1005840"/>
          </a:xfrm>
          <a:prstGeom prst="rect">
            <a:avLst/>
          </a:prstGeom>
          <a:solidFill>
            <a:srgbClr val="3C9D6A">
              <a:alpha val="20000"/>
            </a:srgbClr>
          </a:solidFill>
          <a:ln w="19050">
            <a:solidFill>
              <a:srgbClr val="FFFFFF"/>
            </a:solidFill>
            <a:prstDash val="solid"/>
          </a:ln>
        </p:spPr>
      </p:sp>
      <p:sp>
        <p:nvSpPr>
          <p:cNvPr id="16" name="Risk cell Serious Possible"/>
          <p:cNvSpPr/>
          <p:nvPr/>
        </p:nvSpPr>
        <p:spPr>
          <a:xfrm>
            <a:off x="2971800" y="2697480"/>
            <a:ext cx="1691640" cy="1005840"/>
          </a:xfrm>
          <a:prstGeom prst="rect">
            <a:avLst/>
          </a:prstGeom>
          <a:solidFill>
            <a:srgbClr val="E0962A">
              <a:alpha val="28000"/>
            </a:srgbClr>
          </a:solidFill>
          <a:ln w="19050">
            <a:solidFill>
              <a:srgbClr val="FFFFFF"/>
            </a:solidFill>
            <a:prstDash val="solid"/>
          </a:ln>
        </p:spPr>
      </p:sp>
      <p:sp>
        <p:nvSpPr>
          <p:cNvPr id="17" name="Risk cell Serious Frequent"/>
          <p:cNvSpPr/>
          <p:nvPr/>
        </p:nvSpPr>
        <p:spPr>
          <a:xfrm>
            <a:off x="4663440" y="2697480"/>
            <a:ext cx="1691640" cy="1005840"/>
          </a:xfrm>
          <a:prstGeom prst="rect">
            <a:avLst/>
          </a:prstGeom>
          <a:solidFill>
            <a:srgbClr val="C2453A">
              <a:alpha val="30000"/>
            </a:srgbClr>
          </a:solidFill>
          <a:ln w="19050">
            <a:solidFill>
              <a:srgbClr val="FFFFFF"/>
            </a:solidFill>
            <a:prstDash val="solid"/>
          </a:ln>
        </p:spPr>
      </p:sp>
      <p:sp>
        <p:nvSpPr>
          <p:cNvPr id="18" name="Risk cell Minor Rare"/>
          <p:cNvSpPr/>
          <p:nvPr/>
        </p:nvSpPr>
        <p:spPr>
          <a:xfrm>
            <a:off x="1280160" y="3703320"/>
            <a:ext cx="1691640" cy="1005840"/>
          </a:xfrm>
          <a:prstGeom prst="rect">
            <a:avLst/>
          </a:prstGeom>
          <a:solidFill>
            <a:srgbClr val="3C9D6A">
              <a:alpha val="20000"/>
            </a:srgbClr>
          </a:solidFill>
          <a:ln w="19050">
            <a:solidFill>
              <a:srgbClr val="FFFFFF"/>
            </a:solidFill>
            <a:prstDash val="solid"/>
          </a:ln>
        </p:spPr>
      </p:sp>
      <p:sp>
        <p:nvSpPr>
          <p:cNvPr id="19" name="Risk cell Minor Possible"/>
          <p:cNvSpPr/>
          <p:nvPr/>
        </p:nvSpPr>
        <p:spPr>
          <a:xfrm>
            <a:off x="2971800" y="3703320"/>
            <a:ext cx="1691640" cy="1005840"/>
          </a:xfrm>
          <a:prstGeom prst="rect">
            <a:avLst/>
          </a:prstGeom>
          <a:solidFill>
            <a:srgbClr val="3C9D6A">
              <a:alpha val="20000"/>
            </a:srgbClr>
          </a:solidFill>
          <a:ln w="19050">
            <a:solidFill>
              <a:srgbClr val="FFFFFF"/>
            </a:solidFill>
            <a:prstDash val="solid"/>
          </a:ln>
        </p:spPr>
      </p:sp>
      <p:sp>
        <p:nvSpPr>
          <p:cNvPr id="20" name="Risk cell Minor Frequent"/>
          <p:cNvSpPr/>
          <p:nvPr/>
        </p:nvSpPr>
        <p:spPr>
          <a:xfrm>
            <a:off x="4663440" y="3703320"/>
            <a:ext cx="1691640" cy="1005840"/>
          </a:xfrm>
          <a:prstGeom prst="rect">
            <a:avLst/>
          </a:prstGeom>
          <a:solidFill>
            <a:srgbClr val="E0962A">
              <a:alpha val="28000"/>
            </a:srgbClr>
          </a:solidFill>
          <a:ln w="19050">
            <a:solidFill>
              <a:srgbClr val="FFFFFF"/>
            </a:solidFill>
            <a:prstDash val="solid"/>
          </a:ln>
        </p:spPr>
      </p:sp>
      <p:sp>
        <p:nvSpPr>
          <p:cNvPr id="21" name="Text 18"/>
          <p:cNvSpPr txBox="1"/>
          <p:nvPr/>
        </p:nvSpPr>
        <p:spPr>
          <a:xfrm>
            <a:off x="548640" y="1691640"/>
            <a:ext cx="685800" cy="1005840"/>
          </a:xfrm>
          <a:prstGeom prst="rect">
            <a:avLst/>
          </a:prstGeom>
          <a:noFill/>
          <a:ln/>
        </p:spPr>
        <p:txBody>
          <a:bodyPr wrap="square" lIns="0" tIns="0" rIns="0" bIns="0" rtlCol="0" anchor="ctr"/>
          <a:lstStyle/>
          <a:p>
            <a:pPr algn="r" indent="0" marL="0">
              <a:buNone/>
            </a:pPr>
            <a:r>
              <a:rPr lang="en-US" sz="1050" b="1" dirty="0">
                <a:solidFill>
                  <a:schemeClr val="tx2"/>
                </a:solidFill>
              </a:rPr>
              <a:t>Critical</a:t>
            </a:r>
            <a:endParaRPr lang="en-US" sz="1050" dirty="0"/>
          </a:p>
        </p:txBody>
      </p:sp>
      <p:sp>
        <p:nvSpPr>
          <p:cNvPr id="22" name="Text 19"/>
          <p:cNvSpPr txBox="1"/>
          <p:nvPr/>
        </p:nvSpPr>
        <p:spPr>
          <a:xfrm>
            <a:off x="548640" y="2697480"/>
            <a:ext cx="685800" cy="1005840"/>
          </a:xfrm>
          <a:prstGeom prst="rect">
            <a:avLst/>
          </a:prstGeom>
          <a:noFill/>
          <a:ln/>
        </p:spPr>
        <p:txBody>
          <a:bodyPr wrap="square" lIns="0" tIns="0" rIns="0" bIns="0" rtlCol="0" anchor="ctr"/>
          <a:lstStyle/>
          <a:p>
            <a:pPr algn="r" indent="0" marL="0">
              <a:buNone/>
            </a:pPr>
            <a:r>
              <a:rPr lang="en-US" sz="1050" b="1" dirty="0">
                <a:solidFill>
                  <a:schemeClr val="tx2"/>
                </a:solidFill>
              </a:rPr>
              <a:t>Serious</a:t>
            </a:r>
            <a:endParaRPr lang="en-US" sz="1050" dirty="0"/>
          </a:p>
        </p:txBody>
      </p:sp>
      <p:sp>
        <p:nvSpPr>
          <p:cNvPr id="23" name="Text 20"/>
          <p:cNvSpPr txBox="1"/>
          <p:nvPr/>
        </p:nvSpPr>
        <p:spPr>
          <a:xfrm>
            <a:off x="548640" y="3703320"/>
            <a:ext cx="685800" cy="1005840"/>
          </a:xfrm>
          <a:prstGeom prst="rect">
            <a:avLst/>
          </a:prstGeom>
          <a:noFill/>
          <a:ln/>
        </p:spPr>
        <p:txBody>
          <a:bodyPr wrap="square" lIns="0" tIns="0" rIns="0" bIns="0" rtlCol="0" anchor="ctr"/>
          <a:lstStyle/>
          <a:p>
            <a:pPr algn="r" indent="0" marL="0">
              <a:buNone/>
            </a:pPr>
            <a:r>
              <a:rPr lang="en-US" sz="1050" b="1" dirty="0">
                <a:solidFill>
                  <a:schemeClr val="tx2"/>
                </a:solidFill>
              </a:rPr>
              <a:t>Minor</a:t>
            </a:r>
            <a:endParaRPr lang="en-US" sz="1050" dirty="0"/>
          </a:p>
        </p:txBody>
      </p:sp>
      <p:sp>
        <p:nvSpPr>
          <p:cNvPr id="24" name="Text 21"/>
          <p:cNvSpPr txBox="1"/>
          <p:nvPr/>
        </p:nvSpPr>
        <p:spPr>
          <a:xfrm>
            <a:off x="1280160" y="4745736"/>
            <a:ext cx="1691640" cy="256032"/>
          </a:xfrm>
          <a:prstGeom prst="rect">
            <a:avLst/>
          </a:prstGeom>
          <a:noFill/>
          <a:ln/>
        </p:spPr>
        <p:txBody>
          <a:bodyPr wrap="square" lIns="0" tIns="0" rIns="0" bIns="0" rtlCol="0" anchor="t"/>
          <a:lstStyle/>
          <a:p>
            <a:pPr algn="ctr" indent="0" marL="0">
              <a:buNone/>
            </a:pPr>
            <a:r>
              <a:rPr lang="en-US" sz="1050" b="1" dirty="0">
                <a:solidFill>
                  <a:schemeClr val="tx2"/>
                </a:solidFill>
              </a:rPr>
              <a:t>Rare</a:t>
            </a:r>
            <a:endParaRPr lang="en-US" sz="1050" dirty="0"/>
          </a:p>
        </p:txBody>
      </p:sp>
      <p:sp>
        <p:nvSpPr>
          <p:cNvPr id="25" name="Text 22"/>
          <p:cNvSpPr txBox="1"/>
          <p:nvPr/>
        </p:nvSpPr>
        <p:spPr>
          <a:xfrm>
            <a:off x="2971800" y="4745736"/>
            <a:ext cx="1691640" cy="256032"/>
          </a:xfrm>
          <a:prstGeom prst="rect">
            <a:avLst/>
          </a:prstGeom>
          <a:noFill/>
          <a:ln/>
        </p:spPr>
        <p:txBody>
          <a:bodyPr wrap="square" lIns="0" tIns="0" rIns="0" bIns="0" rtlCol="0" anchor="t"/>
          <a:lstStyle/>
          <a:p>
            <a:pPr algn="ctr" indent="0" marL="0">
              <a:buNone/>
            </a:pPr>
            <a:r>
              <a:rPr lang="en-US" sz="1050" b="1" dirty="0">
                <a:solidFill>
                  <a:schemeClr val="tx2"/>
                </a:solidFill>
              </a:rPr>
              <a:t>Possible</a:t>
            </a:r>
            <a:endParaRPr lang="en-US" sz="1050" dirty="0"/>
          </a:p>
        </p:txBody>
      </p:sp>
      <p:sp>
        <p:nvSpPr>
          <p:cNvPr id="26" name="Text 23"/>
          <p:cNvSpPr txBox="1"/>
          <p:nvPr/>
        </p:nvSpPr>
        <p:spPr>
          <a:xfrm>
            <a:off x="4663440" y="4745736"/>
            <a:ext cx="1691640" cy="256032"/>
          </a:xfrm>
          <a:prstGeom prst="rect">
            <a:avLst/>
          </a:prstGeom>
          <a:noFill/>
          <a:ln/>
        </p:spPr>
        <p:txBody>
          <a:bodyPr wrap="square" lIns="0" tIns="0" rIns="0" bIns="0" rtlCol="0" anchor="t"/>
          <a:lstStyle/>
          <a:p>
            <a:pPr algn="ctr" indent="0" marL="0">
              <a:buNone/>
            </a:pPr>
            <a:r>
              <a:rPr lang="en-US" sz="1050" b="1" dirty="0">
                <a:solidFill>
                  <a:schemeClr val="tx2"/>
                </a:solidFill>
              </a:rPr>
              <a:t>Frequent</a:t>
            </a:r>
            <a:endParaRPr lang="en-US" sz="1050" dirty="0"/>
          </a:p>
        </p:txBody>
      </p:sp>
      <p:sp>
        <p:nvSpPr>
          <p:cNvPr id="27" name="Text 24"/>
          <p:cNvSpPr txBox="1"/>
          <p:nvPr/>
        </p:nvSpPr>
        <p:spPr>
          <a:xfrm>
            <a:off x="548640" y="1463040"/>
            <a:ext cx="731520" cy="201168"/>
          </a:xfrm>
          <a:prstGeom prst="rect">
            <a:avLst/>
          </a:prstGeom>
          <a:noFill/>
          <a:ln/>
        </p:spPr>
        <p:txBody>
          <a:bodyPr wrap="square" lIns="0" tIns="0" rIns="0" bIns="0" rtlCol="0" anchor="t"/>
          <a:lstStyle/>
          <a:p>
            <a:pPr algn="r" indent="0" marL="0">
              <a:buNone/>
            </a:pPr>
            <a:r>
              <a:rPr lang="en-US" sz="900" b="1" dirty="0">
                <a:solidFill>
                  <a:schemeClr val="accent5"/>
                </a:solidFill>
              </a:rPr>
              <a:t>SEVERITY ↑</a:t>
            </a:r>
            <a:endParaRPr lang="en-US" sz="900" dirty="0"/>
          </a:p>
        </p:txBody>
      </p:sp>
      <p:sp>
        <p:nvSpPr>
          <p:cNvPr id="28" name="Text 25"/>
          <p:cNvSpPr txBox="1"/>
          <p:nvPr/>
        </p:nvSpPr>
        <p:spPr>
          <a:xfrm>
            <a:off x="5257800" y="5020056"/>
            <a:ext cx="1097280" cy="201168"/>
          </a:xfrm>
          <a:prstGeom prst="rect">
            <a:avLst/>
          </a:prstGeom>
          <a:noFill/>
          <a:ln/>
        </p:spPr>
        <p:txBody>
          <a:bodyPr wrap="square" lIns="0" tIns="0" rIns="0" bIns="0" rtlCol="0" anchor="t"/>
          <a:lstStyle/>
          <a:p>
            <a:pPr algn="r" indent="0" marL="0">
              <a:buNone/>
            </a:pPr>
            <a:r>
              <a:rPr lang="en-US" sz="900" b="1" dirty="0">
                <a:solidFill>
                  <a:schemeClr val="accent5"/>
                </a:solidFill>
              </a:rPr>
              <a:t>LIKELIHOOD →</a:t>
            </a:r>
            <a:endParaRPr lang="en-US" sz="900" dirty="0"/>
          </a:p>
        </p:txBody>
      </p:sp>
      <p:sp>
        <p:nvSpPr>
          <p:cNvPr id="29" name="Failure Missed freeze: no cue, possible fall"/>
          <p:cNvSpPr/>
          <p:nvPr/>
        </p:nvSpPr>
        <p:spPr>
          <a:xfrm>
            <a:off x="3063240" y="1965960"/>
            <a:ext cx="1508760" cy="457200"/>
          </a:xfrm>
          <a:prstGeom prst="roundRect">
            <a:avLst>
              <a:gd name="adj" fmla="val 20000"/>
            </a:avLst>
          </a:prstGeom>
          <a:solidFill>
            <a:schemeClr val="bg1"/>
          </a:solidFill>
          <a:ln w="12700">
            <a:solidFill>
              <a:srgbClr val="C2453A"/>
            </a:solidFill>
            <a:prstDash val="solid"/>
          </a:ln>
          <a:effectLst>
            <a:outerShdw sx="100000" sy="100000" kx="0" ky="0" algn="bl" rotWithShape="0" blurRad="50800" dist="25400" dir="5400000">
              <a:srgbClr val="000000">
                <a:alpha val="10000"/>
              </a:srgbClr>
            </a:outerShdw>
          </a:effectLst>
        </p:spPr>
      </p:sp>
      <p:sp>
        <p:nvSpPr>
          <p:cNvPr id="30" name="Icon disc LuCircleX"/>
          <p:cNvSpPr/>
          <p:nvPr/>
        </p:nvSpPr>
        <p:spPr>
          <a:xfrm>
            <a:off x="3136392" y="2048256"/>
            <a:ext cx="292608" cy="292608"/>
          </a:xfrm>
          <a:prstGeom prst="ellipse">
            <a:avLst/>
          </a:prstGeom>
          <a:solidFill>
            <a:srgbClr val="C2453A"/>
          </a:solidFill>
          <a:ln/>
        </p:spPr>
      </p:sp>
      <p:pic>
        <p:nvPicPr>
          <p:cNvPr id="31" name="Image 0" descr="CircleX icon">    </p:cNvPr>
          <p:cNvPicPr>
            <a:picLocks noChangeAspect="1"/>
          </p:cNvPicPr>
          <p:nvPr/>
        </p:nvPicPr>
        <p:blipFill>
          <a:blip r:embed="rId1"/>
          <a:stretch>
            <a:fillRect/>
          </a:stretch>
        </p:blipFill>
        <p:spPr>
          <a:xfrm>
            <a:off x="3200766" y="2112630"/>
            <a:ext cx="163860" cy="163860"/>
          </a:xfrm>
          <a:prstGeom prst="rect">
            <a:avLst/>
          </a:prstGeom>
        </p:spPr>
      </p:pic>
      <p:sp>
        <p:nvSpPr>
          <p:cNvPr id="32" name="Text 28"/>
          <p:cNvSpPr txBox="1"/>
          <p:nvPr/>
        </p:nvSpPr>
        <p:spPr>
          <a:xfrm>
            <a:off x="3483864" y="1965960"/>
            <a:ext cx="1051560" cy="457200"/>
          </a:xfrm>
          <a:prstGeom prst="rect">
            <a:avLst/>
          </a:prstGeom>
          <a:noFill/>
          <a:ln/>
        </p:spPr>
        <p:txBody>
          <a:bodyPr wrap="square" lIns="0" tIns="0" rIns="0" bIns="0" rtlCol="0" anchor="ctr"/>
          <a:lstStyle/>
          <a:p>
            <a:pPr indent="0" marL="0">
              <a:buNone/>
            </a:pPr>
            <a:r>
              <a:rPr lang="en-US" sz="900" b="1" dirty="0">
                <a:solidFill>
                  <a:schemeClr val="tx1"/>
                </a:solidFill>
              </a:rPr>
              <a:t>Missed freeze: no cue, possible fall</a:t>
            </a:r>
            <a:endParaRPr lang="en-US" sz="900" dirty="0"/>
          </a:p>
        </p:txBody>
      </p:sp>
      <p:sp>
        <p:nvSpPr>
          <p:cNvPr id="33" name="Failure Silent signal loss: false reassurance"/>
          <p:cNvSpPr/>
          <p:nvPr/>
        </p:nvSpPr>
        <p:spPr>
          <a:xfrm>
            <a:off x="3063240" y="2971800"/>
            <a:ext cx="1508760" cy="457200"/>
          </a:xfrm>
          <a:prstGeom prst="roundRect">
            <a:avLst>
              <a:gd name="adj" fmla="val 20000"/>
            </a:avLst>
          </a:prstGeom>
          <a:solidFill>
            <a:schemeClr val="bg1"/>
          </a:solidFill>
          <a:ln w="12700">
            <a:solidFill>
              <a:srgbClr val="E0962A"/>
            </a:solidFill>
            <a:prstDash val="solid"/>
          </a:ln>
          <a:effectLst>
            <a:outerShdw sx="100000" sy="100000" kx="0" ky="0" algn="bl" rotWithShape="0" blurRad="50800" dist="25400" dir="5400000">
              <a:srgbClr val="000000">
                <a:alpha val="10000"/>
              </a:srgbClr>
            </a:outerShdw>
          </a:effectLst>
        </p:spPr>
      </p:sp>
      <p:sp>
        <p:nvSpPr>
          <p:cNvPr id="34" name="Icon disc LuWifiOff"/>
          <p:cNvSpPr/>
          <p:nvPr/>
        </p:nvSpPr>
        <p:spPr>
          <a:xfrm>
            <a:off x="3136392" y="3054096"/>
            <a:ext cx="292608" cy="292608"/>
          </a:xfrm>
          <a:prstGeom prst="ellipse">
            <a:avLst/>
          </a:prstGeom>
          <a:solidFill>
            <a:srgbClr val="E0962A"/>
          </a:solidFill>
          <a:ln/>
        </p:spPr>
      </p:sp>
      <p:pic>
        <p:nvPicPr>
          <p:cNvPr id="35" name="Image 1" descr="WifiOff icon">    </p:cNvPr>
          <p:cNvPicPr>
            <a:picLocks noChangeAspect="1"/>
          </p:cNvPicPr>
          <p:nvPr/>
        </p:nvPicPr>
        <p:blipFill>
          <a:blip r:embed="rId2"/>
          <a:stretch>
            <a:fillRect/>
          </a:stretch>
        </p:blipFill>
        <p:spPr>
          <a:xfrm>
            <a:off x="3200766" y="3118470"/>
            <a:ext cx="163860" cy="163860"/>
          </a:xfrm>
          <a:prstGeom prst="rect">
            <a:avLst/>
          </a:prstGeom>
        </p:spPr>
      </p:pic>
      <p:sp>
        <p:nvSpPr>
          <p:cNvPr id="36" name="Text 31"/>
          <p:cNvSpPr txBox="1"/>
          <p:nvPr/>
        </p:nvSpPr>
        <p:spPr>
          <a:xfrm>
            <a:off x="3483864" y="2971800"/>
            <a:ext cx="1051560" cy="457200"/>
          </a:xfrm>
          <a:prstGeom prst="rect">
            <a:avLst/>
          </a:prstGeom>
          <a:noFill/>
          <a:ln/>
        </p:spPr>
        <p:txBody>
          <a:bodyPr wrap="square" lIns="0" tIns="0" rIns="0" bIns="0" rtlCol="0" anchor="ctr"/>
          <a:lstStyle/>
          <a:p>
            <a:pPr indent="0" marL="0">
              <a:buNone/>
            </a:pPr>
            <a:r>
              <a:rPr lang="en-US" sz="900" b="1" dirty="0">
                <a:solidFill>
                  <a:schemeClr val="tx1"/>
                </a:solidFill>
              </a:rPr>
              <a:t>Silent signal loss: false reassurance</a:t>
            </a:r>
            <a:endParaRPr lang="en-US" sz="900" dirty="0"/>
          </a:p>
        </p:txBody>
      </p:sp>
      <p:sp>
        <p:nvSpPr>
          <p:cNvPr id="37" name="Failure Flat battery mid-walk"/>
          <p:cNvSpPr/>
          <p:nvPr/>
        </p:nvSpPr>
        <p:spPr>
          <a:xfrm>
            <a:off x="4754880" y="2971800"/>
            <a:ext cx="1508760" cy="457200"/>
          </a:xfrm>
          <a:prstGeom prst="roundRect">
            <a:avLst>
              <a:gd name="adj" fmla="val 20000"/>
            </a:avLst>
          </a:prstGeom>
          <a:solidFill>
            <a:schemeClr val="bg1"/>
          </a:solidFill>
          <a:ln w="12700">
            <a:solidFill>
              <a:srgbClr val="C2453A"/>
            </a:solidFill>
            <a:prstDash val="solid"/>
          </a:ln>
          <a:effectLst>
            <a:outerShdw sx="100000" sy="100000" kx="0" ky="0" algn="bl" rotWithShape="0" blurRad="50800" dist="25400" dir="5400000">
              <a:srgbClr val="000000">
                <a:alpha val="10000"/>
              </a:srgbClr>
            </a:outerShdw>
          </a:effectLst>
        </p:spPr>
      </p:sp>
      <p:sp>
        <p:nvSpPr>
          <p:cNvPr id="38" name="Icon disc LuBatteryLow"/>
          <p:cNvSpPr/>
          <p:nvPr/>
        </p:nvSpPr>
        <p:spPr>
          <a:xfrm>
            <a:off x="4828032" y="3054096"/>
            <a:ext cx="292608" cy="292608"/>
          </a:xfrm>
          <a:prstGeom prst="ellipse">
            <a:avLst/>
          </a:prstGeom>
          <a:solidFill>
            <a:srgbClr val="C2453A"/>
          </a:solidFill>
          <a:ln/>
        </p:spPr>
      </p:sp>
      <p:pic>
        <p:nvPicPr>
          <p:cNvPr id="39" name="Image 2" descr="BatteryLow icon">    </p:cNvPr>
          <p:cNvPicPr>
            <a:picLocks noChangeAspect="1"/>
          </p:cNvPicPr>
          <p:nvPr/>
        </p:nvPicPr>
        <p:blipFill>
          <a:blip r:embed="rId3"/>
          <a:stretch>
            <a:fillRect/>
          </a:stretch>
        </p:blipFill>
        <p:spPr>
          <a:xfrm>
            <a:off x="4892406" y="3118470"/>
            <a:ext cx="163860" cy="163860"/>
          </a:xfrm>
          <a:prstGeom prst="rect">
            <a:avLst/>
          </a:prstGeom>
        </p:spPr>
      </p:pic>
      <p:sp>
        <p:nvSpPr>
          <p:cNvPr id="40" name="Text 34"/>
          <p:cNvSpPr txBox="1"/>
          <p:nvPr/>
        </p:nvSpPr>
        <p:spPr>
          <a:xfrm>
            <a:off x="5175504" y="2971800"/>
            <a:ext cx="1051560" cy="457200"/>
          </a:xfrm>
          <a:prstGeom prst="rect">
            <a:avLst/>
          </a:prstGeom>
          <a:noFill/>
          <a:ln/>
        </p:spPr>
        <p:txBody>
          <a:bodyPr wrap="square" lIns="0" tIns="0" rIns="0" bIns="0" rtlCol="0" anchor="ctr"/>
          <a:lstStyle/>
          <a:p>
            <a:pPr indent="0" marL="0">
              <a:buNone/>
            </a:pPr>
            <a:r>
              <a:rPr lang="en-US" sz="900" b="1" dirty="0">
                <a:solidFill>
                  <a:schemeClr val="tx1"/>
                </a:solidFill>
              </a:rPr>
              <a:t>Flat battery mid-walk</a:t>
            </a:r>
            <a:endParaRPr lang="en-US" sz="900" dirty="0"/>
          </a:p>
        </p:txBody>
      </p:sp>
      <p:sp>
        <p:nvSpPr>
          <p:cNvPr id="41" name="Failure False cue: minor, but frequent"/>
          <p:cNvSpPr/>
          <p:nvPr/>
        </p:nvSpPr>
        <p:spPr>
          <a:xfrm>
            <a:off x="4754880" y="3977640"/>
            <a:ext cx="1508760" cy="457200"/>
          </a:xfrm>
          <a:prstGeom prst="roundRect">
            <a:avLst>
              <a:gd name="adj" fmla="val 20000"/>
            </a:avLst>
          </a:prstGeom>
          <a:solidFill>
            <a:schemeClr val="bg1"/>
          </a:solidFill>
          <a:ln w="12700">
            <a:solidFill>
              <a:srgbClr val="E0962A"/>
            </a:solidFill>
            <a:prstDash val="solid"/>
          </a:ln>
          <a:effectLst>
            <a:outerShdw sx="100000" sy="100000" kx="0" ky="0" algn="bl" rotWithShape="0" blurRad="50800" dist="25400" dir="5400000">
              <a:srgbClr val="000000">
                <a:alpha val="10000"/>
              </a:srgbClr>
            </a:outerShdw>
          </a:effectLst>
        </p:spPr>
      </p:sp>
      <p:sp>
        <p:nvSpPr>
          <p:cNvPr id="42" name="Icon disc LuBellRing"/>
          <p:cNvSpPr/>
          <p:nvPr/>
        </p:nvSpPr>
        <p:spPr>
          <a:xfrm>
            <a:off x="4828032" y="4059936"/>
            <a:ext cx="292608" cy="292608"/>
          </a:xfrm>
          <a:prstGeom prst="ellipse">
            <a:avLst/>
          </a:prstGeom>
          <a:solidFill>
            <a:srgbClr val="E0962A"/>
          </a:solidFill>
          <a:ln/>
        </p:spPr>
      </p:sp>
      <p:pic>
        <p:nvPicPr>
          <p:cNvPr id="43" name="Image 3" descr="BellRing icon">    </p:cNvPr>
          <p:cNvPicPr>
            <a:picLocks noChangeAspect="1"/>
          </p:cNvPicPr>
          <p:nvPr/>
        </p:nvPicPr>
        <p:blipFill>
          <a:blip r:embed="rId4"/>
          <a:stretch>
            <a:fillRect/>
          </a:stretch>
        </p:blipFill>
        <p:spPr>
          <a:xfrm>
            <a:off x="4892406" y="4124310"/>
            <a:ext cx="163860" cy="163860"/>
          </a:xfrm>
          <a:prstGeom prst="rect">
            <a:avLst/>
          </a:prstGeom>
        </p:spPr>
      </p:pic>
      <p:sp>
        <p:nvSpPr>
          <p:cNvPr id="44" name="Text 37"/>
          <p:cNvSpPr txBox="1"/>
          <p:nvPr/>
        </p:nvSpPr>
        <p:spPr>
          <a:xfrm>
            <a:off x="5175504" y="3977640"/>
            <a:ext cx="1051560" cy="457200"/>
          </a:xfrm>
          <a:prstGeom prst="rect">
            <a:avLst/>
          </a:prstGeom>
          <a:noFill/>
          <a:ln/>
        </p:spPr>
        <p:txBody>
          <a:bodyPr wrap="square" lIns="0" tIns="0" rIns="0" bIns="0" rtlCol="0" anchor="ctr"/>
          <a:lstStyle/>
          <a:p>
            <a:pPr indent="0" marL="0">
              <a:buNone/>
            </a:pPr>
            <a:r>
              <a:rPr lang="en-US" sz="900" b="1" dirty="0">
                <a:solidFill>
                  <a:schemeClr val="tx1"/>
                </a:solidFill>
              </a:rPr>
              <a:t>False cue: minor, but frequent</a:t>
            </a:r>
            <a:endParaRPr lang="en-US" sz="900" dirty="0"/>
          </a:p>
        </p:txBody>
      </p:sp>
      <p:sp>
        <p:nvSpPr>
          <p:cNvPr id="45" name="Failure Skin irritation under strap or patch"/>
          <p:cNvSpPr/>
          <p:nvPr/>
        </p:nvSpPr>
        <p:spPr>
          <a:xfrm>
            <a:off x="3063240" y="3977640"/>
            <a:ext cx="1508760" cy="457200"/>
          </a:xfrm>
          <a:prstGeom prst="roundRect">
            <a:avLst>
              <a:gd name="adj" fmla="val 20000"/>
            </a:avLst>
          </a:prstGeom>
          <a:solidFill>
            <a:schemeClr val="bg1"/>
          </a:solidFill>
          <a:ln w="12700">
            <a:solidFill>
              <a:srgbClr val="3C9D6A"/>
            </a:solidFill>
            <a:prstDash val="solid"/>
          </a:ln>
          <a:effectLst>
            <a:outerShdw sx="100000" sy="100000" kx="0" ky="0" algn="bl" rotWithShape="0" blurRad="50800" dist="25400" dir="5400000">
              <a:srgbClr val="000000">
                <a:alpha val="10000"/>
              </a:srgbClr>
            </a:outerShdw>
          </a:effectLst>
        </p:spPr>
      </p:sp>
      <p:sp>
        <p:nvSpPr>
          <p:cNvPr id="46" name="Icon disc LuBandage"/>
          <p:cNvSpPr/>
          <p:nvPr/>
        </p:nvSpPr>
        <p:spPr>
          <a:xfrm>
            <a:off x="3136392" y="4059936"/>
            <a:ext cx="292608" cy="292608"/>
          </a:xfrm>
          <a:prstGeom prst="ellipse">
            <a:avLst/>
          </a:prstGeom>
          <a:solidFill>
            <a:srgbClr val="3C9D6A"/>
          </a:solidFill>
          <a:ln/>
        </p:spPr>
      </p:sp>
      <p:pic>
        <p:nvPicPr>
          <p:cNvPr id="47" name="Image 4" descr="Bandage icon">    </p:cNvPr>
          <p:cNvPicPr>
            <a:picLocks noChangeAspect="1"/>
          </p:cNvPicPr>
          <p:nvPr/>
        </p:nvPicPr>
        <p:blipFill>
          <a:blip r:embed="rId5"/>
          <a:stretch>
            <a:fillRect/>
          </a:stretch>
        </p:blipFill>
        <p:spPr>
          <a:xfrm>
            <a:off x="3200766" y="4124310"/>
            <a:ext cx="163860" cy="163860"/>
          </a:xfrm>
          <a:prstGeom prst="rect">
            <a:avLst/>
          </a:prstGeom>
        </p:spPr>
      </p:pic>
      <p:sp>
        <p:nvSpPr>
          <p:cNvPr id="48" name="Text 40"/>
          <p:cNvSpPr txBox="1"/>
          <p:nvPr/>
        </p:nvSpPr>
        <p:spPr>
          <a:xfrm>
            <a:off x="3483864" y="3977640"/>
            <a:ext cx="1051560" cy="457200"/>
          </a:xfrm>
          <a:prstGeom prst="rect">
            <a:avLst/>
          </a:prstGeom>
          <a:noFill/>
          <a:ln/>
        </p:spPr>
        <p:txBody>
          <a:bodyPr wrap="square" lIns="0" tIns="0" rIns="0" bIns="0" rtlCol="0" anchor="ctr"/>
          <a:lstStyle/>
          <a:p>
            <a:pPr indent="0" marL="0">
              <a:buNone/>
            </a:pPr>
            <a:r>
              <a:rPr lang="en-US" sz="900" b="1" dirty="0">
                <a:solidFill>
                  <a:schemeClr val="tx1"/>
                </a:solidFill>
              </a:rPr>
              <a:t>Skin irritation under strap or patch</a:t>
            </a:r>
            <a:endParaRPr lang="en-US" sz="900" dirty="0"/>
          </a:p>
        </p:txBody>
      </p:sp>
      <p:sp>
        <p:nvSpPr>
          <p:cNvPr id="49" name="Failure Data exposure from the app"/>
          <p:cNvSpPr/>
          <p:nvPr/>
        </p:nvSpPr>
        <p:spPr>
          <a:xfrm>
            <a:off x="1371600" y="2971800"/>
            <a:ext cx="1508760" cy="457200"/>
          </a:xfrm>
          <a:prstGeom prst="roundRect">
            <a:avLst>
              <a:gd name="adj" fmla="val 20000"/>
            </a:avLst>
          </a:prstGeom>
          <a:solidFill>
            <a:schemeClr val="bg1"/>
          </a:solidFill>
          <a:ln w="12700">
            <a:solidFill>
              <a:srgbClr val="3C9D6A"/>
            </a:solidFill>
            <a:prstDash val="solid"/>
          </a:ln>
          <a:effectLst>
            <a:outerShdw sx="100000" sy="100000" kx="0" ky="0" algn="bl" rotWithShape="0" blurRad="50800" dist="25400" dir="5400000">
              <a:srgbClr val="000000">
                <a:alpha val="10000"/>
              </a:srgbClr>
            </a:outerShdw>
          </a:effectLst>
        </p:spPr>
      </p:sp>
      <p:sp>
        <p:nvSpPr>
          <p:cNvPr id="50" name="Icon disc LuLock"/>
          <p:cNvSpPr/>
          <p:nvPr/>
        </p:nvSpPr>
        <p:spPr>
          <a:xfrm>
            <a:off x="1444752" y="3054096"/>
            <a:ext cx="292608" cy="292608"/>
          </a:xfrm>
          <a:prstGeom prst="ellipse">
            <a:avLst/>
          </a:prstGeom>
          <a:solidFill>
            <a:srgbClr val="3C9D6A"/>
          </a:solidFill>
          <a:ln/>
        </p:spPr>
      </p:sp>
      <p:pic>
        <p:nvPicPr>
          <p:cNvPr id="51" name="Image 5" descr="Lock icon">    </p:cNvPr>
          <p:cNvPicPr>
            <a:picLocks noChangeAspect="1"/>
          </p:cNvPicPr>
          <p:nvPr/>
        </p:nvPicPr>
        <p:blipFill>
          <a:blip r:embed="rId6"/>
          <a:stretch>
            <a:fillRect/>
          </a:stretch>
        </p:blipFill>
        <p:spPr>
          <a:xfrm>
            <a:off x="1509126" y="3118470"/>
            <a:ext cx="163860" cy="163860"/>
          </a:xfrm>
          <a:prstGeom prst="rect">
            <a:avLst/>
          </a:prstGeom>
        </p:spPr>
      </p:pic>
      <p:sp>
        <p:nvSpPr>
          <p:cNvPr id="52" name="Text 43"/>
          <p:cNvSpPr txBox="1"/>
          <p:nvPr/>
        </p:nvSpPr>
        <p:spPr>
          <a:xfrm>
            <a:off x="1792224" y="2971800"/>
            <a:ext cx="1051560" cy="457200"/>
          </a:xfrm>
          <a:prstGeom prst="rect">
            <a:avLst/>
          </a:prstGeom>
          <a:noFill/>
          <a:ln/>
        </p:spPr>
        <p:txBody>
          <a:bodyPr wrap="square" lIns="0" tIns="0" rIns="0" bIns="0" rtlCol="0" anchor="ctr"/>
          <a:lstStyle/>
          <a:p>
            <a:pPr indent="0" marL="0">
              <a:buNone/>
            </a:pPr>
            <a:r>
              <a:rPr lang="en-US" sz="900" b="1" dirty="0">
                <a:solidFill>
                  <a:schemeClr val="tx1"/>
                </a:solidFill>
              </a:rPr>
              <a:t>Data exposure from the app</a:t>
            </a:r>
            <a:endParaRPr lang="en-US" sz="900" dirty="0"/>
          </a:p>
        </p:txBody>
      </p:sp>
      <p:sp>
        <p:nvSpPr>
          <p:cNvPr id="53" name="Text 44"/>
          <p:cNvSpPr txBox="1"/>
          <p:nvPr/>
        </p:nvSpPr>
        <p:spPr>
          <a:xfrm>
            <a:off x="548640" y="5138928"/>
            <a:ext cx="5852160" cy="228600"/>
          </a:xfrm>
          <a:prstGeom prst="rect">
            <a:avLst/>
          </a:prstGeom>
          <a:noFill/>
          <a:ln/>
        </p:spPr>
        <p:txBody>
          <a:bodyPr wrap="square" lIns="0" tIns="0" rIns="0" bIns="0" rtlCol="0" anchor="t"/>
          <a:lstStyle/>
          <a:p>
            <a:pPr indent="0" marL="0">
              <a:buNone/>
            </a:pPr>
            <a:r>
              <a:rPr lang="en-US" sz="900" i="1" dirty="0">
                <a:solidFill>
                  <a:schemeClr val="accent5"/>
                </a:solidFill>
              </a:rPr>
              <a:t>Placement is illustrative, for discussion; not from measured data.</a:t>
            </a:r>
            <a:endParaRPr lang="en-US" sz="900" dirty="0"/>
          </a:p>
        </p:txBody>
      </p:sp>
      <p:sp>
        <p:nvSpPr>
          <p:cNvPr id="54" name="False-cue stat"/>
          <p:cNvSpPr/>
          <p:nvPr/>
        </p:nvSpPr>
        <p:spPr>
          <a:xfrm>
            <a:off x="6583680" y="1600200"/>
            <a:ext cx="5056632" cy="1097280"/>
          </a:xfrm>
          <a:prstGeom prst="roundRect">
            <a:avLst>
              <a:gd name="adj" fmla="val 11667"/>
            </a:avLst>
          </a:prstGeom>
          <a:solidFill>
            <a:schemeClr val="bg1"/>
          </a:solidFill>
          <a:ln w="9525">
            <a:solidFill>
              <a:srgbClr val="D5DFDD"/>
            </a:solidFill>
            <a:prstDash val="solid"/>
          </a:ln>
          <a:effectLst>
            <a:outerShdw sx="100000" sy="100000" kx="0" ky="0" algn="bl" rotWithShape="0" blurRad="76200" dist="25400" dir="5400000">
              <a:srgbClr val="000000">
                <a:alpha val="14000"/>
              </a:srgbClr>
            </a:outerShdw>
          </a:effectLst>
        </p:spPr>
      </p:sp>
      <p:sp>
        <p:nvSpPr>
          <p:cNvPr id="55" name="Stat accent"/>
          <p:cNvSpPr/>
          <p:nvPr/>
        </p:nvSpPr>
        <p:spPr>
          <a:xfrm>
            <a:off x="6583680" y="1828800"/>
            <a:ext cx="64008" cy="640080"/>
          </a:xfrm>
          <a:prstGeom prst="rect">
            <a:avLst/>
          </a:prstGeom>
          <a:solidFill>
            <a:schemeClr val="accent3"/>
          </a:solidFill>
          <a:ln/>
        </p:spPr>
      </p:sp>
      <p:sp>
        <p:nvSpPr>
          <p:cNvPr id="56" name="Text 47"/>
          <p:cNvSpPr txBox="1"/>
          <p:nvPr/>
        </p:nvSpPr>
        <p:spPr>
          <a:xfrm>
            <a:off x="6812280" y="1645920"/>
            <a:ext cx="1371600" cy="1005840"/>
          </a:xfrm>
          <a:prstGeom prst="rect">
            <a:avLst/>
          </a:prstGeom>
          <a:noFill/>
          <a:ln/>
        </p:spPr>
        <p:txBody>
          <a:bodyPr wrap="square" lIns="0" tIns="0" rIns="0" bIns="0" rtlCol="0" anchor="ctr"/>
          <a:lstStyle/>
          <a:p>
            <a:pPr indent="0" marL="0">
              <a:buNone/>
            </a:pPr>
            <a:r>
              <a:rPr lang="en-US" sz="3600" b="1" dirty="0">
                <a:solidFill>
                  <a:schemeClr val="accent3"/>
                </a:solidFill>
              </a:rPr>
              <a:t>9–16</a:t>
            </a:r>
            <a:endParaRPr lang="en-US" sz="3600" dirty="0"/>
          </a:p>
        </p:txBody>
      </p:sp>
      <p:sp>
        <p:nvSpPr>
          <p:cNvPr id="57" name="Text 48"/>
          <p:cNvSpPr txBox="1"/>
          <p:nvPr/>
        </p:nvSpPr>
        <p:spPr>
          <a:xfrm>
            <a:off x="8183880" y="1664208"/>
            <a:ext cx="3273552" cy="987552"/>
          </a:xfrm>
          <a:prstGeom prst="rect">
            <a:avLst/>
          </a:prstGeom>
          <a:noFill/>
          <a:ln/>
        </p:spPr>
        <p:txBody>
          <a:bodyPr wrap="square" lIns="0" tIns="0" rIns="0" bIns="0" rtlCol="0" anchor="ctr"/>
          <a:lstStyle/>
          <a:p>
            <a:pPr indent="0" marL="0">
              <a:buNone/>
            </a:pPr>
            <a:r>
              <a:rPr lang="en-US" sz="1200" b="1" dirty="0">
                <a:solidFill>
                  <a:schemeClr val="tx1"/>
                </a:solidFill>
              </a:rPr>
              <a:t>unnecessary vibrations per walking hour</a:t>
            </a:r>
            <a:endParaRPr lang="en-US" sz="1200" dirty="0"/>
          </a:p>
          <a:p>
            <a:pPr indent="0" marL="0">
              <a:buNone/>
            </a:pPr>
            <a:r>
              <a:rPr lang="en-US" sz="950" dirty="0">
                <a:solidFill>
                  <a:schemeClr val="accent5"/>
                </a:solidFill>
              </a:rPr>
              <a:t>if the reported 0.15–0.27 false alarms per minute held at home. An extrapolation from dataset rates, not a measured home rate. Would Ramesh keep wearing it?</a:t>
            </a:r>
            <a:endParaRPr lang="en-US" sz="1200" dirty="0"/>
          </a:p>
        </p:txBody>
      </p:sp>
      <p:sp>
        <p:nvSpPr>
          <p:cNvPr id="58" name="ISO 14971 step Identify"/>
          <p:cNvSpPr/>
          <p:nvPr/>
        </p:nvSpPr>
        <p:spPr>
          <a:xfrm>
            <a:off x="6583680" y="2880360"/>
            <a:ext cx="967435" cy="512064"/>
          </a:xfrm>
          <a:prstGeom prst="homePlate">
            <a:avLst/>
          </a:prstGeom>
          <a:solidFill>
            <a:schemeClr val="accent4"/>
          </a:solidFill>
          <a:ln/>
        </p:spPr>
      </p:sp>
      <p:sp>
        <p:nvSpPr>
          <p:cNvPr id="59" name="Text 50"/>
          <p:cNvSpPr txBox="1"/>
          <p:nvPr/>
        </p:nvSpPr>
        <p:spPr>
          <a:xfrm>
            <a:off x="6601968" y="2880360"/>
            <a:ext cx="766267" cy="512064"/>
          </a:xfrm>
          <a:prstGeom prst="rect">
            <a:avLst/>
          </a:prstGeom>
          <a:noFill/>
          <a:ln/>
        </p:spPr>
        <p:txBody>
          <a:bodyPr wrap="square" lIns="0" tIns="0" rIns="0" bIns="0" rtlCol="0" anchor="ctr"/>
          <a:lstStyle/>
          <a:p>
            <a:pPr algn="ctr" indent="0" marL="0">
              <a:buNone/>
            </a:pPr>
            <a:r>
              <a:rPr lang="en-US" sz="1000" b="1" dirty="0">
                <a:solidFill>
                  <a:schemeClr val="bg1"/>
                </a:solidFill>
              </a:rPr>
              <a:t>Identify</a:t>
            </a:r>
            <a:endParaRPr lang="en-US" sz="1000" dirty="0"/>
          </a:p>
        </p:txBody>
      </p:sp>
      <p:sp>
        <p:nvSpPr>
          <p:cNvPr id="60" name="ISO 14971 step Estimate"/>
          <p:cNvSpPr/>
          <p:nvPr/>
        </p:nvSpPr>
        <p:spPr>
          <a:xfrm>
            <a:off x="7605979" y="2880360"/>
            <a:ext cx="967435" cy="512064"/>
          </a:xfrm>
          <a:prstGeom prst="chevron">
            <a:avLst/>
          </a:prstGeom>
          <a:solidFill>
            <a:schemeClr val="accent4"/>
          </a:solidFill>
          <a:ln/>
        </p:spPr>
      </p:sp>
      <p:sp>
        <p:nvSpPr>
          <p:cNvPr id="61" name="Text 52"/>
          <p:cNvSpPr txBox="1"/>
          <p:nvPr/>
        </p:nvSpPr>
        <p:spPr>
          <a:xfrm>
            <a:off x="7788859" y="2880360"/>
            <a:ext cx="674827" cy="512064"/>
          </a:xfrm>
          <a:prstGeom prst="rect">
            <a:avLst/>
          </a:prstGeom>
          <a:noFill/>
          <a:ln/>
        </p:spPr>
        <p:txBody>
          <a:bodyPr wrap="square" lIns="0" tIns="0" rIns="0" bIns="0" rtlCol="0" anchor="ctr"/>
          <a:lstStyle/>
          <a:p>
            <a:pPr algn="ctr" indent="0" marL="0">
              <a:buNone/>
            </a:pPr>
            <a:r>
              <a:rPr lang="en-US" sz="1000" b="1" dirty="0">
                <a:solidFill>
                  <a:schemeClr val="bg1"/>
                </a:solidFill>
              </a:rPr>
              <a:t>Estimate</a:t>
            </a:r>
            <a:endParaRPr lang="en-US" sz="1000" dirty="0"/>
          </a:p>
        </p:txBody>
      </p:sp>
      <p:sp>
        <p:nvSpPr>
          <p:cNvPr id="62" name="ISO 14971 step Control"/>
          <p:cNvSpPr/>
          <p:nvPr/>
        </p:nvSpPr>
        <p:spPr>
          <a:xfrm>
            <a:off x="8628278" y="2880360"/>
            <a:ext cx="967435" cy="512064"/>
          </a:xfrm>
          <a:prstGeom prst="chevron">
            <a:avLst/>
          </a:prstGeom>
          <a:solidFill>
            <a:schemeClr val="accent4"/>
          </a:solidFill>
          <a:ln/>
        </p:spPr>
      </p:sp>
      <p:sp>
        <p:nvSpPr>
          <p:cNvPr id="63" name="Text 54"/>
          <p:cNvSpPr txBox="1"/>
          <p:nvPr/>
        </p:nvSpPr>
        <p:spPr>
          <a:xfrm>
            <a:off x="8811158" y="2880360"/>
            <a:ext cx="674827" cy="512064"/>
          </a:xfrm>
          <a:prstGeom prst="rect">
            <a:avLst/>
          </a:prstGeom>
          <a:noFill/>
          <a:ln/>
        </p:spPr>
        <p:txBody>
          <a:bodyPr wrap="square" lIns="0" tIns="0" rIns="0" bIns="0" rtlCol="0" anchor="ctr"/>
          <a:lstStyle/>
          <a:p>
            <a:pPr algn="ctr" indent="0" marL="0">
              <a:buNone/>
            </a:pPr>
            <a:r>
              <a:rPr lang="en-US" sz="1000" b="1" dirty="0">
                <a:solidFill>
                  <a:schemeClr val="bg1"/>
                </a:solidFill>
              </a:rPr>
              <a:t>Control</a:t>
            </a:r>
            <a:endParaRPr lang="en-US" sz="1000" dirty="0"/>
          </a:p>
        </p:txBody>
      </p:sp>
      <p:sp>
        <p:nvSpPr>
          <p:cNvPr id="64" name="ISO 14971 step Verify"/>
          <p:cNvSpPr/>
          <p:nvPr/>
        </p:nvSpPr>
        <p:spPr>
          <a:xfrm>
            <a:off x="9650578" y="2880360"/>
            <a:ext cx="967435" cy="512064"/>
          </a:xfrm>
          <a:prstGeom prst="chevron">
            <a:avLst/>
          </a:prstGeom>
          <a:solidFill>
            <a:schemeClr val="accent4"/>
          </a:solidFill>
          <a:ln/>
        </p:spPr>
      </p:sp>
      <p:sp>
        <p:nvSpPr>
          <p:cNvPr id="65" name="Text 56"/>
          <p:cNvSpPr txBox="1"/>
          <p:nvPr/>
        </p:nvSpPr>
        <p:spPr>
          <a:xfrm>
            <a:off x="9833458" y="2880360"/>
            <a:ext cx="674827" cy="512064"/>
          </a:xfrm>
          <a:prstGeom prst="rect">
            <a:avLst/>
          </a:prstGeom>
          <a:noFill/>
          <a:ln/>
        </p:spPr>
        <p:txBody>
          <a:bodyPr wrap="square" lIns="0" tIns="0" rIns="0" bIns="0" rtlCol="0" anchor="ctr"/>
          <a:lstStyle/>
          <a:p>
            <a:pPr algn="ctr" indent="0" marL="0">
              <a:buNone/>
            </a:pPr>
            <a:r>
              <a:rPr lang="en-US" sz="1000" b="1" dirty="0">
                <a:solidFill>
                  <a:schemeClr val="bg1"/>
                </a:solidFill>
              </a:rPr>
              <a:t>Verify</a:t>
            </a:r>
            <a:endParaRPr lang="en-US" sz="1000" dirty="0"/>
          </a:p>
        </p:txBody>
      </p:sp>
      <p:sp>
        <p:nvSpPr>
          <p:cNvPr id="66" name="ISO 14971 step Monitor"/>
          <p:cNvSpPr/>
          <p:nvPr/>
        </p:nvSpPr>
        <p:spPr>
          <a:xfrm>
            <a:off x="10672877" y="2880360"/>
            <a:ext cx="967435" cy="512064"/>
          </a:xfrm>
          <a:prstGeom prst="chevron">
            <a:avLst/>
          </a:prstGeom>
          <a:solidFill>
            <a:schemeClr val="accent4"/>
          </a:solidFill>
          <a:ln/>
        </p:spPr>
      </p:sp>
      <p:sp>
        <p:nvSpPr>
          <p:cNvPr id="67" name="Text 58"/>
          <p:cNvSpPr txBox="1"/>
          <p:nvPr/>
        </p:nvSpPr>
        <p:spPr>
          <a:xfrm>
            <a:off x="10855757" y="2880360"/>
            <a:ext cx="674827" cy="512064"/>
          </a:xfrm>
          <a:prstGeom prst="rect">
            <a:avLst/>
          </a:prstGeom>
          <a:noFill/>
          <a:ln/>
        </p:spPr>
        <p:txBody>
          <a:bodyPr wrap="square" lIns="0" tIns="0" rIns="0" bIns="0" rtlCol="0" anchor="ctr"/>
          <a:lstStyle/>
          <a:p>
            <a:pPr algn="ctr" indent="0" marL="0">
              <a:buNone/>
            </a:pPr>
            <a:r>
              <a:rPr lang="en-US" sz="1000" b="1" dirty="0">
                <a:solidFill>
                  <a:schemeClr val="bg1"/>
                </a:solidFill>
              </a:rPr>
              <a:t>Monitor</a:t>
            </a:r>
            <a:endParaRPr lang="en-US" sz="1000" dirty="0"/>
          </a:p>
        </p:txBody>
      </p:sp>
      <p:sp>
        <p:nvSpPr>
          <p:cNvPr id="68" name="Text 59"/>
          <p:cNvSpPr txBox="1"/>
          <p:nvPr/>
        </p:nvSpPr>
        <p:spPr>
          <a:xfrm>
            <a:off x="6583680" y="3456432"/>
            <a:ext cx="5056632" cy="256032"/>
          </a:xfrm>
          <a:prstGeom prst="rect">
            <a:avLst/>
          </a:prstGeom>
          <a:noFill/>
          <a:ln/>
        </p:spPr>
        <p:txBody>
          <a:bodyPr wrap="square" lIns="0" tIns="0" rIns="0" bIns="0" rtlCol="0" anchor="t"/>
          <a:lstStyle/>
          <a:p>
            <a:pPr indent="0" marL="0">
              <a:buNone/>
            </a:pPr>
            <a:r>
              <a:rPr lang="en-US" sz="950" i="1" dirty="0">
                <a:solidFill>
                  <a:schemeClr val="accent5"/>
                </a:solidFill>
              </a:rPr>
              <a:t>ISO 14971:2019 risk management · IEC 62366-1 usability engineering · ask how each control will be shown to work</a:t>
            </a:r>
            <a:endParaRPr lang="en-US" sz="950" dirty="0"/>
          </a:p>
        </p:txBody>
      </p:sp>
      <p:sp>
        <p:nvSpPr>
          <p:cNvPr id="69" name="Controls card"/>
          <p:cNvSpPr/>
          <p:nvPr/>
        </p:nvSpPr>
        <p:spPr>
          <a:xfrm>
            <a:off x="6583680" y="3794760"/>
            <a:ext cx="5056632" cy="1508760"/>
          </a:xfrm>
          <a:prstGeom prst="roundRect">
            <a:avLst>
              <a:gd name="adj" fmla="val 8485"/>
            </a:avLst>
          </a:prstGeom>
          <a:solidFill>
            <a:schemeClr val="bg2"/>
          </a:solidFill>
          <a:ln/>
        </p:spPr>
      </p:sp>
      <p:sp>
        <p:nvSpPr>
          <p:cNvPr id="70" name="Icon disc LuShieldCheck"/>
          <p:cNvSpPr/>
          <p:nvPr/>
        </p:nvSpPr>
        <p:spPr>
          <a:xfrm>
            <a:off x="6720840" y="3931920"/>
            <a:ext cx="365760" cy="365760"/>
          </a:xfrm>
          <a:prstGeom prst="ellipse">
            <a:avLst/>
          </a:prstGeom>
          <a:solidFill>
            <a:schemeClr val="accent1"/>
          </a:solidFill>
          <a:ln/>
        </p:spPr>
      </p:sp>
      <p:pic>
        <p:nvPicPr>
          <p:cNvPr id="71" name="Image 6" descr="ShieldCheck icon">    </p:cNvPr>
          <p:cNvPicPr>
            <a:picLocks noChangeAspect="1"/>
          </p:cNvPicPr>
          <p:nvPr/>
        </p:nvPicPr>
        <p:blipFill>
          <a:blip r:embed="rId7"/>
          <a:stretch>
            <a:fillRect/>
          </a:stretch>
        </p:blipFill>
        <p:spPr>
          <a:xfrm>
            <a:off x="6801307" y="4012387"/>
            <a:ext cx="204826" cy="204826"/>
          </a:xfrm>
          <a:prstGeom prst="rect">
            <a:avLst/>
          </a:prstGeom>
        </p:spPr>
      </p:pic>
      <p:sp>
        <p:nvSpPr>
          <p:cNvPr id="72" name="Text 62"/>
          <p:cNvSpPr txBox="1"/>
          <p:nvPr/>
        </p:nvSpPr>
        <p:spPr>
          <a:xfrm>
            <a:off x="7178040" y="3931920"/>
            <a:ext cx="4325112" cy="365760"/>
          </a:xfrm>
          <a:prstGeom prst="rect">
            <a:avLst/>
          </a:prstGeom>
          <a:noFill/>
          <a:ln/>
        </p:spPr>
        <p:txBody>
          <a:bodyPr wrap="square" lIns="0" tIns="0" rIns="0" bIns="0" rtlCol="0" anchor="ctr"/>
          <a:lstStyle/>
          <a:p>
            <a:pPr indent="0" marL="0">
              <a:buNone/>
            </a:pPr>
            <a:r>
              <a:rPr lang="en-US" sz="1250" b="1" dirty="0">
                <a:solidFill>
                  <a:schemeClr val="tx1"/>
                </a:solidFill>
              </a:rPr>
              <a:t>Controls to test first</a:t>
            </a:r>
            <a:endParaRPr lang="en-US" sz="1250" dirty="0"/>
          </a:p>
        </p:txBody>
      </p:sp>
      <p:sp>
        <p:nvSpPr>
          <p:cNvPr id="73" name="Text 63"/>
          <p:cNvSpPr txBox="1"/>
          <p:nvPr/>
        </p:nvSpPr>
        <p:spPr>
          <a:xfrm>
            <a:off x="6720840" y="4343400"/>
            <a:ext cx="4782312" cy="914400"/>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chemeClr val="tx2"/>
                </a:solidFill>
              </a:rPr>
              <a:t>Visible and tactile loss-of-monitoring alert</a:t>
            </a:r>
            <a:endParaRPr lang="en-US" sz="1000" dirty="0"/>
          </a:p>
          <a:p>
            <a:pPr marL="127000" indent="-127000">
              <a:spcAft>
                <a:spcPts val="200"/>
              </a:spcAft>
              <a:buSzPct val="100000"/>
              <a:buChar char="•"/>
            </a:pPr>
            <a:r>
              <a:rPr lang="en-US" sz="1000" dirty="0">
                <a:solidFill>
                  <a:schemeClr val="tx2"/>
                </a:solidFill>
              </a:rPr>
              <a:t>Cue-intensity limit (within the bench-tested range) and an easy stop</a:t>
            </a:r>
            <a:endParaRPr lang="en-US" sz="1000" dirty="0"/>
          </a:p>
          <a:p>
            <a:pPr marL="127000" indent="-127000">
              <a:spcAft>
                <a:spcPts val="200"/>
              </a:spcAft>
              <a:buSzPct val="100000"/>
              <a:buChar char="•"/>
            </a:pPr>
            <a:r>
              <a:rPr lang="en-US" sz="1000" dirty="0">
                <a:solidFill>
                  <a:schemeClr val="tx2"/>
                </a:solidFill>
              </a:rPr>
              <a:t>Performance during turns, in doorways and with walking aids</a:t>
            </a:r>
            <a:endParaRPr lang="en-US" sz="1000" dirty="0"/>
          </a:p>
          <a:p>
            <a:pPr marL="127000" indent="-127000">
              <a:spcAft>
                <a:spcPts val="200"/>
              </a:spcAft>
              <a:buSzPct val="100000"/>
              <a:buChar char="•"/>
            </a:pPr>
            <a:r>
              <a:rPr lang="en-US" sz="1000" dirty="0">
                <a:solidFill>
                  <a:schemeClr val="tx2"/>
                </a:solidFill>
              </a:rPr>
              <a:t>Low-battery warning before a walk</a:t>
            </a:r>
            <a:endParaRPr lang="en-US" sz="1000" dirty="0"/>
          </a:p>
          <a:p>
            <a:pPr marL="127000" indent="-127000">
              <a:spcAft>
                <a:spcPts val="200"/>
              </a:spcAft>
              <a:buSzPct val="100000"/>
              <a:buChar char="•"/>
            </a:pPr>
            <a:r>
              <a:rPr lang="en-US" sz="1000" dirty="0">
                <a:solidFill>
                  <a:schemeClr val="tx2"/>
                </a:solidFill>
              </a:rPr>
              <a:t>Encryption and short data retention (DPDP Rules 2025)</a:t>
            </a:r>
            <a:endParaRPr lang="en-US" sz="1000" dirty="0"/>
          </a:p>
        </p:txBody>
      </p:sp>
      <p:sp>
        <p:nvSpPr>
          <p:cNvPr id="74" name="Callout"/>
          <p:cNvSpPr/>
          <p:nvPr/>
        </p:nvSpPr>
        <p:spPr>
          <a:xfrm>
            <a:off x="548640" y="5532120"/>
            <a:ext cx="11094415" cy="548640"/>
          </a:xfrm>
          <a:prstGeom prst="roundRect">
            <a:avLst>
              <a:gd name="adj" fmla="val 13333"/>
            </a:avLst>
          </a:prstGeom>
          <a:solidFill>
            <a:schemeClr val="accent2">
              <a:alpha val="12000"/>
            </a:schemeClr>
          </a:solidFill>
          <a:ln/>
        </p:spPr>
      </p:sp>
      <p:sp>
        <p:nvSpPr>
          <p:cNvPr id="75" name="Callout bar"/>
          <p:cNvSpPr/>
          <p:nvPr/>
        </p:nvSpPr>
        <p:spPr>
          <a:xfrm>
            <a:off x="548640" y="5623560"/>
            <a:ext cx="64008" cy="365760"/>
          </a:xfrm>
          <a:prstGeom prst="rect">
            <a:avLst/>
          </a:prstGeom>
          <a:solidFill>
            <a:schemeClr val="accent2"/>
          </a:solidFill>
          <a:ln/>
        </p:spPr>
      </p:sp>
      <p:sp>
        <p:nvSpPr>
          <p:cNvPr id="76" name="Text 66"/>
          <p:cNvSpPr txBox="1"/>
          <p:nvPr/>
        </p:nvSpPr>
        <p:spPr>
          <a:xfrm>
            <a:off x="822960" y="5532120"/>
            <a:ext cx="10682935" cy="548640"/>
          </a:xfrm>
          <a:prstGeom prst="rect">
            <a:avLst/>
          </a:prstGeom>
          <a:noFill/>
          <a:ln/>
        </p:spPr>
        <p:txBody>
          <a:bodyPr wrap="square" lIns="0" tIns="0" rIns="0" bIns="0" rtlCol="0" anchor="ctr"/>
          <a:lstStyle/>
          <a:p>
            <a:pPr indent="0" marL="0">
              <a:buNone/>
            </a:pPr>
            <a:r>
              <a:rPr lang="en-US" sz="1300" b="1" dirty="0">
                <a:solidFill>
                  <a:schemeClr val="tx1"/>
                </a:solidFill>
              </a:rPr>
              <a:t>Which control would you test first, and how would you show that it works?</a:t>
            </a:r>
            <a:endParaRPr lang="en-US" sz="13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EVIDENCE · SwaKnee</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A device is also a daily routine</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SwaKnee leaflet (supplied; 45 min × 45 days); Swayogya product photographs and ‘How to use’ step videos (20 s silent edit)</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02952" y="347472"/>
            <a:ext cx="219456" cy="219456"/>
          </a:xfrm>
          <a:prstGeom prst="ellipse">
            <a:avLst/>
          </a:prstGeom>
          <a:solidFill>
            <a:schemeClr val="accent1"/>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tx2"/>
          </a:solidFill>
          <a:ln w="12700">
            <a:solidFill>
              <a:schemeClr val="accent6"/>
            </a:solidFill>
            <a:prstDash val="solid"/>
          </a:ln>
        </p:spPr>
      </p:sp>
      <p:sp>
        <p:nvSpPr>
          <p:cNvPr id="8" name="Progress Permission"/>
          <p:cNvSpPr/>
          <p:nvPr/>
        </p:nvSpPr>
        <p:spPr>
          <a:xfrm>
            <a:off x="10680192" y="393192"/>
            <a:ext cx="128016" cy="128016"/>
          </a:xfrm>
          <a:prstGeom prst="ellipse">
            <a:avLst/>
          </a:prstGeom>
          <a:solidFill>
            <a:schemeClr val="tx2"/>
          </a:solidFill>
          <a:ln w="12700">
            <a:solidFill>
              <a:schemeClr val="accent6"/>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pic>
        <p:nvPicPr>
          <p:cNvPr id="3" name="SwaKnee how-to-use clip (20 s)">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00200"/>
            <a:ext cx="5120640" cy="3657600"/>
          </a:xfrm>
          <a:prstGeom prst="rect">
            <a:avLst/>
          </a:prstGeom>
        </p:spPr>
      </p:pic>
      <p:sp>
        <p:nvSpPr>
          <p:cNvPr id="13" name="Text 9"/>
          <p:cNvSpPr txBox="1"/>
          <p:nvPr/>
        </p:nvSpPr>
        <p:spPr>
          <a:xfrm>
            <a:off x="548640" y="5330952"/>
            <a:ext cx="5120640" cy="274320"/>
          </a:xfrm>
          <a:prstGeom prst="rect">
            <a:avLst/>
          </a:prstGeom>
          <a:noFill/>
          <a:ln/>
        </p:spPr>
        <p:txBody>
          <a:bodyPr wrap="square" lIns="0" tIns="0" rIns="0" bIns="0" rtlCol="0" anchor="t"/>
          <a:lstStyle/>
          <a:p>
            <a:pPr indent="0" marL="0">
              <a:buNone/>
            </a:pPr>
            <a:r>
              <a:rPr lang="en-US" sz="1000" i="1" dirty="0">
                <a:solidFill>
                  <a:schemeClr val="accent6"/>
                </a:solidFill>
              </a:rPr>
              <a:t>20 s company demonstration of use · fit, switch on, rest · shows no clinical response · no faces</a:t>
            </a:r>
            <a:endParaRPr lang="en-US" sz="1000" dirty="0"/>
          </a:p>
        </p:txBody>
      </p:sp>
      <p:sp>
        <p:nvSpPr>
          <p:cNvPr id="14" name="Pill Reported: company material"/>
          <p:cNvSpPr/>
          <p:nvPr/>
        </p:nvSpPr>
        <p:spPr>
          <a:xfrm>
            <a:off x="548640" y="5760720"/>
            <a:ext cx="2377440" cy="310896"/>
          </a:xfrm>
          <a:prstGeom prst="roundRect">
            <a:avLst>
              <a:gd name="adj" fmla="val 50000"/>
            </a:avLst>
          </a:prstGeom>
          <a:solidFill>
            <a:schemeClr val="tx2"/>
          </a:solidFill>
          <a:ln w="15875">
            <a:solidFill>
              <a:schemeClr val="accent1"/>
            </a:solidFill>
            <a:prstDash val="solid"/>
          </a:ln>
        </p:spPr>
      </p:sp>
      <p:sp>
        <p:nvSpPr>
          <p:cNvPr id="15" name="Text 11"/>
          <p:cNvSpPr txBox="1"/>
          <p:nvPr/>
        </p:nvSpPr>
        <p:spPr>
          <a:xfrm>
            <a:off x="548640" y="5760720"/>
            <a:ext cx="2377440" cy="310896"/>
          </a:xfrm>
          <a:prstGeom prst="rect">
            <a:avLst/>
          </a:prstGeom>
          <a:noFill/>
          <a:ln/>
        </p:spPr>
        <p:txBody>
          <a:bodyPr wrap="square" lIns="0" tIns="0" rIns="0" bIns="0" rtlCol="0" anchor="ctr"/>
          <a:lstStyle/>
          <a:p>
            <a:pPr algn="ctr" indent="0" marL="0">
              <a:buNone/>
            </a:pPr>
            <a:r>
              <a:rPr lang="en-US" sz="1100" b="1" dirty="0">
                <a:solidFill>
                  <a:schemeClr val="bg1"/>
                </a:solidFill>
              </a:rPr>
              <a:t>Reported: company material</a:t>
            </a:r>
            <a:endParaRPr lang="en-US" sz="1100" dirty="0"/>
          </a:p>
        </p:txBody>
      </p:sp>
      <p:sp>
        <p:nvSpPr>
          <p:cNvPr id="16" name="Text 12"/>
          <p:cNvSpPr txBox="1"/>
          <p:nvPr/>
        </p:nvSpPr>
        <p:spPr>
          <a:xfrm>
            <a:off x="5943600" y="1536192"/>
            <a:ext cx="3566160" cy="914400"/>
          </a:xfrm>
          <a:prstGeom prst="rect">
            <a:avLst/>
          </a:prstGeom>
          <a:noFill/>
          <a:ln/>
        </p:spPr>
        <p:txBody>
          <a:bodyPr wrap="square" lIns="0" tIns="0" rIns="0" bIns="0" rtlCol="0" anchor="ctr"/>
          <a:lstStyle/>
          <a:p>
            <a:pPr indent="0" marL="0">
              <a:buNone/>
            </a:pPr>
            <a:r>
              <a:rPr lang="en-US" sz="5400" b="1" dirty="0">
                <a:solidFill>
                  <a:schemeClr val="accent2"/>
                </a:solidFill>
              </a:rPr>
              <a:t>≈34 hours</a:t>
            </a:r>
            <a:endParaRPr lang="en-US" sz="5400" dirty="0"/>
          </a:p>
        </p:txBody>
      </p:sp>
      <p:sp>
        <p:nvSpPr>
          <p:cNvPr id="17" name="Text 13"/>
          <p:cNvSpPr txBox="1"/>
          <p:nvPr/>
        </p:nvSpPr>
        <p:spPr>
          <a:xfrm>
            <a:off x="5943600" y="2468880"/>
            <a:ext cx="3611880" cy="292608"/>
          </a:xfrm>
          <a:prstGeom prst="rect">
            <a:avLst/>
          </a:prstGeom>
          <a:noFill/>
          <a:ln/>
        </p:spPr>
        <p:txBody>
          <a:bodyPr wrap="square" lIns="0" tIns="0" rIns="0" bIns="0" rtlCol="0" anchor="t"/>
          <a:lstStyle/>
          <a:p>
            <a:pPr indent="0" marL="0">
              <a:buNone/>
            </a:pPr>
            <a:r>
              <a:rPr lang="en-US" sz="1300" b="1" dirty="0">
                <a:solidFill>
                  <a:schemeClr val="bg1"/>
                </a:solidFill>
              </a:rPr>
              <a:t>45 min a day × 45 days = 2,025 minutes</a:t>
            </a:r>
            <a:endParaRPr lang="en-US" sz="1300" dirty="0"/>
          </a:p>
        </p:txBody>
      </p:sp>
      <p:sp>
        <p:nvSpPr>
          <p:cNvPr id="18" name="Text 14"/>
          <p:cNvSpPr txBox="1"/>
          <p:nvPr/>
        </p:nvSpPr>
        <p:spPr>
          <a:xfrm>
            <a:off x="5943600" y="2779776"/>
            <a:ext cx="3611880" cy="457200"/>
          </a:xfrm>
          <a:prstGeom prst="rect">
            <a:avLst/>
          </a:prstGeom>
          <a:noFill/>
          <a:ln/>
        </p:spPr>
        <p:txBody>
          <a:bodyPr wrap="square" lIns="0" tIns="0" rIns="0" bIns="0" rtlCol="0" anchor="t"/>
          <a:lstStyle/>
          <a:p>
            <a:pPr indent="0" marL="0">
              <a:buNone/>
            </a:pPr>
            <a:r>
              <a:rPr lang="en-US" sz="1000" i="1" dirty="0">
                <a:solidFill>
                  <a:schemeClr val="accent6"/>
                </a:solidFill>
              </a:rPr>
              <a:t>of Kamala's time, before travel, fitting, charging and help from family (leaflet schedule: an illustration, not a prescription)</a:t>
            </a:r>
            <a:endParaRPr lang="en-US" sz="1000" dirty="0"/>
          </a:p>
        </p:txBody>
      </p:sp>
      <p:pic>
        <p:nvPicPr>
          <p:cNvPr id="19" name="Image 0" descr="Controller and knee applicator">    </p:cNvPr>
          <p:cNvPicPr>
            <a:picLocks noChangeAspect="1"/>
          </p:cNvPicPr>
          <p:nvPr/>
        </p:nvPicPr>
        <p:blipFill>
          <a:blip r:embed="rId4"/>
          <a:stretch>
            <a:fillRect/>
          </a:stretch>
        </p:blipFill>
        <p:spPr>
          <a:xfrm>
            <a:off x="9692640" y="1600200"/>
            <a:ext cx="1947672" cy="1947672"/>
          </a:xfrm>
          <a:prstGeom prst="rect">
            <a:avLst/>
          </a:prstGeom>
        </p:spPr>
      </p:pic>
      <p:sp>
        <p:nvSpPr>
          <p:cNvPr id="20" name="Text 15"/>
          <p:cNvSpPr txBox="1"/>
          <p:nvPr/>
        </p:nvSpPr>
        <p:spPr>
          <a:xfrm>
            <a:off x="9692640" y="3602736"/>
            <a:ext cx="1947672" cy="274320"/>
          </a:xfrm>
          <a:prstGeom prst="rect">
            <a:avLst/>
          </a:prstGeom>
          <a:noFill/>
          <a:ln/>
        </p:spPr>
        <p:txBody>
          <a:bodyPr wrap="square" lIns="0" tIns="0" rIns="0" bIns="0" rtlCol="0" anchor="t"/>
          <a:lstStyle/>
          <a:p>
            <a:pPr indent="0" marL="0">
              <a:buNone/>
            </a:pPr>
            <a:r>
              <a:rPr lang="en-US" sz="950" i="1" dirty="0">
                <a:solidFill>
                  <a:schemeClr val="accent6"/>
                </a:solidFill>
              </a:rPr>
              <a:t>Controller and knee applicator</a:t>
            </a:r>
            <a:endParaRPr lang="en-US" sz="950" dirty="0"/>
          </a:p>
        </p:txBody>
      </p:sp>
      <p:sp>
        <p:nvSpPr>
          <p:cNvPr id="21" name="Rule"/>
          <p:cNvSpPr/>
          <p:nvPr/>
        </p:nvSpPr>
        <p:spPr>
          <a:xfrm>
            <a:off x="6190488" y="3611880"/>
            <a:ext cx="0" cy="1645920"/>
          </a:xfrm>
          <a:prstGeom prst="line">
            <a:avLst/>
          </a:prstGeom>
          <a:noFill/>
          <a:ln w="25400">
            <a:solidFill>
              <a:schemeClr val="accent6"/>
            </a:solidFill>
            <a:prstDash val="solid"/>
          </a:ln>
        </p:spPr>
      </p:sp>
      <p:sp>
        <p:nvSpPr>
          <p:cNvPr id="22" name="Badge 1"/>
          <p:cNvSpPr/>
          <p:nvPr/>
        </p:nvSpPr>
        <p:spPr>
          <a:xfrm>
            <a:off x="5943600" y="3337560"/>
            <a:ext cx="493776" cy="493776"/>
          </a:xfrm>
          <a:prstGeom prst="ellipse">
            <a:avLst/>
          </a:prstGeom>
          <a:solidFill>
            <a:schemeClr val="accent2"/>
          </a:solidFill>
          <a:ln/>
        </p:spPr>
      </p:sp>
      <p:sp>
        <p:nvSpPr>
          <p:cNvPr id="23" name="Text 18"/>
          <p:cNvSpPr txBox="1"/>
          <p:nvPr/>
        </p:nvSpPr>
        <p:spPr>
          <a:xfrm>
            <a:off x="5943600" y="3337560"/>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4" name="Text 19"/>
          <p:cNvSpPr txBox="1"/>
          <p:nvPr/>
        </p:nvSpPr>
        <p:spPr>
          <a:xfrm>
            <a:off x="6629400" y="3319272"/>
            <a:ext cx="5010912" cy="475488"/>
          </a:xfrm>
          <a:prstGeom prst="rect">
            <a:avLst/>
          </a:prstGeom>
          <a:noFill/>
          <a:ln/>
        </p:spPr>
        <p:txBody>
          <a:bodyPr wrap="square" lIns="0" tIns="0" rIns="0" bIns="0" rtlCol="0" anchor="t"/>
          <a:lstStyle/>
          <a:p>
            <a:pPr indent="0" marL="0">
              <a:buNone/>
            </a:pPr>
            <a:r>
              <a:rPr lang="en-US" sz="1200" b="1" dirty="0">
                <a:solidFill>
                  <a:schemeClr val="bg1"/>
                </a:solidFill>
              </a:rPr>
              <a:t>Fit the applicator around the knee</a:t>
            </a:r>
            <a:endParaRPr lang="en-US" sz="1200" dirty="0"/>
          </a:p>
          <a:p>
            <a:pPr indent="0" marL="0">
              <a:buNone/>
            </a:pPr>
            <a:r>
              <a:rPr lang="en-US" sz="950" dirty="0">
                <a:solidFill>
                  <a:schemeClr val="accent6"/>
                </a:solidFill>
              </a:rPr>
              <a:t>Strap cuff; connect the cable to the controller</a:t>
            </a:r>
            <a:endParaRPr lang="en-US" sz="1200" dirty="0"/>
          </a:p>
        </p:txBody>
      </p:sp>
      <p:sp>
        <p:nvSpPr>
          <p:cNvPr id="25" name="Badge 2"/>
          <p:cNvSpPr/>
          <p:nvPr/>
        </p:nvSpPr>
        <p:spPr>
          <a:xfrm>
            <a:off x="5943600" y="3886200"/>
            <a:ext cx="493776" cy="493776"/>
          </a:xfrm>
          <a:prstGeom prst="ellipse">
            <a:avLst/>
          </a:prstGeom>
          <a:solidFill>
            <a:schemeClr val="accent2"/>
          </a:solidFill>
          <a:ln/>
        </p:spPr>
      </p:sp>
      <p:sp>
        <p:nvSpPr>
          <p:cNvPr id="26" name="Text 21"/>
          <p:cNvSpPr txBox="1"/>
          <p:nvPr/>
        </p:nvSpPr>
        <p:spPr>
          <a:xfrm>
            <a:off x="5943600" y="3886200"/>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7" name="Text 22"/>
          <p:cNvSpPr txBox="1"/>
          <p:nvPr/>
        </p:nvSpPr>
        <p:spPr>
          <a:xfrm>
            <a:off x="6629400" y="3867912"/>
            <a:ext cx="5010912" cy="475488"/>
          </a:xfrm>
          <a:prstGeom prst="rect">
            <a:avLst/>
          </a:prstGeom>
          <a:noFill/>
          <a:ln/>
        </p:spPr>
        <p:txBody>
          <a:bodyPr wrap="square" lIns="0" tIns="0" rIns="0" bIns="0" rtlCol="0" anchor="t"/>
          <a:lstStyle/>
          <a:p>
            <a:pPr indent="0" marL="0">
              <a:buNone/>
            </a:pPr>
            <a:r>
              <a:rPr lang="en-US" sz="1200" b="1" dirty="0">
                <a:solidFill>
                  <a:schemeClr val="bg1"/>
                </a:solidFill>
              </a:rPr>
              <a:t>Switch on the controller</a:t>
            </a:r>
            <a:endParaRPr lang="en-US" sz="1200" dirty="0"/>
          </a:p>
          <a:p>
            <a:pPr indent="0" marL="0">
              <a:buNone/>
            </a:pPr>
            <a:r>
              <a:rPr lang="en-US" sz="950" dirty="0">
                <a:solidFill>
                  <a:schemeClr val="accent6"/>
                </a:solidFill>
              </a:rPr>
              <a:t>Power button; status light; mains or charged battery</a:t>
            </a:r>
            <a:endParaRPr lang="en-US" sz="1200" dirty="0"/>
          </a:p>
        </p:txBody>
      </p:sp>
      <p:sp>
        <p:nvSpPr>
          <p:cNvPr id="28" name="Badge 3"/>
          <p:cNvSpPr/>
          <p:nvPr/>
        </p:nvSpPr>
        <p:spPr>
          <a:xfrm>
            <a:off x="5943600" y="4434840"/>
            <a:ext cx="493776" cy="493776"/>
          </a:xfrm>
          <a:prstGeom prst="ellipse">
            <a:avLst/>
          </a:prstGeom>
          <a:solidFill>
            <a:schemeClr val="accent2"/>
          </a:solidFill>
          <a:ln/>
        </p:spPr>
      </p:sp>
      <p:sp>
        <p:nvSpPr>
          <p:cNvPr id="29" name="Text 24"/>
          <p:cNvSpPr txBox="1"/>
          <p:nvPr/>
        </p:nvSpPr>
        <p:spPr>
          <a:xfrm>
            <a:off x="5943600" y="4434840"/>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0" name="Text 25"/>
          <p:cNvSpPr txBox="1"/>
          <p:nvPr/>
        </p:nvSpPr>
        <p:spPr>
          <a:xfrm>
            <a:off x="6629400" y="4416552"/>
            <a:ext cx="5010912" cy="475488"/>
          </a:xfrm>
          <a:prstGeom prst="rect">
            <a:avLst/>
          </a:prstGeom>
          <a:noFill/>
          <a:ln/>
        </p:spPr>
        <p:txBody>
          <a:bodyPr wrap="square" lIns="0" tIns="0" rIns="0" bIns="0" rtlCol="0" anchor="t"/>
          <a:lstStyle/>
          <a:p>
            <a:pPr indent="0" marL="0">
              <a:buNone/>
            </a:pPr>
            <a:r>
              <a:rPr lang="en-US" sz="1200" b="1" dirty="0">
                <a:solidFill>
                  <a:schemeClr val="bg1"/>
                </a:solidFill>
              </a:rPr>
              <a:t>Rest for the 45-minute session</a:t>
            </a:r>
            <a:endParaRPr lang="en-US" sz="1200" dirty="0"/>
          </a:p>
          <a:p>
            <a:pPr indent="0" marL="0">
              <a:buNone/>
            </a:pPr>
            <a:r>
              <a:rPr lang="en-US" sz="950" dirty="0">
                <a:solidFill>
                  <a:schemeClr val="accent6"/>
                </a:solidFill>
              </a:rPr>
              <a:t>Seated or lying; every day</a:t>
            </a:r>
            <a:endParaRPr lang="en-US" sz="1200" dirty="0"/>
          </a:p>
        </p:txBody>
      </p:sp>
      <p:sp>
        <p:nvSpPr>
          <p:cNvPr id="31" name="Badge 4"/>
          <p:cNvSpPr/>
          <p:nvPr/>
        </p:nvSpPr>
        <p:spPr>
          <a:xfrm>
            <a:off x="5943600" y="4983480"/>
            <a:ext cx="493776" cy="493776"/>
          </a:xfrm>
          <a:prstGeom prst="ellipse">
            <a:avLst/>
          </a:prstGeom>
          <a:solidFill>
            <a:schemeClr val="accent2"/>
          </a:solidFill>
          <a:ln/>
        </p:spPr>
      </p:sp>
      <p:sp>
        <p:nvSpPr>
          <p:cNvPr id="32" name="Text 27"/>
          <p:cNvSpPr txBox="1"/>
          <p:nvPr/>
        </p:nvSpPr>
        <p:spPr>
          <a:xfrm>
            <a:off x="5943600" y="4983480"/>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33" name="Text 28"/>
          <p:cNvSpPr txBox="1"/>
          <p:nvPr/>
        </p:nvSpPr>
        <p:spPr>
          <a:xfrm>
            <a:off x="6629400" y="4965192"/>
            <a:ext cx="5010912" cy="475488"/>
          </a:xfrm>
          <a:prstGeom prst="rect">
            <a:avLst/>
          </a:prstGeom>
          <a:noFill/>
          <a:ln/>
        </p:spPr>
        <p:txBody>
          <a:bodyPr wrap="square" lIns="0" tIns="0" rIns="0" bIns="0" rtlCol="0" anchor="t"/>
          <a:lstStyle/>
          <a:p>
            <a:pPr indent="0" marL="0">
              <a:buNone/>
            </a:pPr>
            <a:r>
              <a:rPr lang="en-US" sz="1200" b="1" dirty="0">
                <a:solidFill>
                  <a:schemeClr val="bg1"/>
                </a:solidFill>
              </a:rPr>
              <a:t>Repeat for 45 days</a:t>
            </a:r>
            <a:endParaRPr lang="en-US" sz="1200" dirty="0"/>
          </a:p>
          <a:p>
            <a:pPr indent="0" marL="0">
              <a:buNone/>
            </a:pPr>
            <a:r>
              <a:rPr lang="en-US" sz="950" dirty="0">
                <a:solidFill>
                  <a:schemeClr val="accent6"/>
                </a:solidFill>
              </a:rPr>
              <a:t>Charge, store, travel for follow-up; family helps when it slips</a:t>
            </a:r>
            <a:endParaRPr lang="en-US" sz="1200" dirty="0"/>
          </a:p>
        </p:txBody>
      </p:sp>
      <p:sp>
        <p:nvSpPr>
          <p:cNvPr id="34" name="Callout"/>
          <p:cNvSpPr/>
          <p:nvPr/>
        </p:nvSpPr>
        <p:spPr>
          <a:xfrm>
            <a:off x="5943600" y="5577840"/>
            <a:ext cx="5696712" cy="548640"/>
          </a:xfrm>
          <a:prstGeom prst="roundRect">
            <a:avLst>
              <a:gd name="adj" fmla="val 13333"/>
            </a:avLst>
          </a:prstGeom>
          <a:solidFill>
            <a:schemeClr val="accent2">
              <a:alpha val="20000"/>
            </a:schemeClr>
          </a:solidFill>
          <a:ln/>
        </p:spPr>
      </p:sp>
      <p:sp>
        <p:nvSpPr>
          <p:cNvPr id="35" name="Callout bar"/>
          <p:cNvSpPr/>
          <p:nvPr/>
        </p:nvSpPr>
        <p:spPr>
          <a:xfrm>
            <a:off x="5943600" y="5669280"/>
            <a:ext cx="64008" cy="365760"/>
          </a:xfrm>
          <a:prstGeom prst="rect">
            <a:avLst/>
          </a:prstGeom>
          <a:solidFill>
            <a:schemeClr val="accent2"/>
          </a:solidFill>
          <a:ln/>
        </p:spPr>
      </p:sp>
      <p:sp>
        <p:nvSpPr>
          <p:cNvPr id="36" name="Text 31"/>
          <p:cNvSpPr txBox="1"/>
          <p:nvPr/>
        </p:nvSpPr>
        <p:spPr>
          <a:xfrm>
            <a:off x="6217920" y="5577840"/>
            <a:ext cx="5285232" cy="548640"/>
          </a:xfrm>
          <a:prstGeom prst="rect">
            <a:avLst/>
          </a:prstGeom>
          <a:noFill/>
          <a:ln/>
        </p:spPr>
        <p:txBody>
          <a:bodyPr wrap="square" lIns="0" tIns="0" rIns="0" bIns="0" rtlCol="0" anchor="ctr"/>
          <a:lstStyle/>
          <a:p>
            <a:pPr indent="0" marL="0">
              <a:buNone/>
            </a:pPr>
            <a:r>
              <a:rPr lang="en-US" sz="1200" b="1" dirty="0">
                <a:solidFill>
                  <a:schemeClr val="bg1"/>
                </a:solidFill>
              </a:rPr>
              <a:t>Who helps Kamala when the cuff slips, the controller shows an error, or her knee feels warm?</a:t>
            </a:r>
            <a:endParaRPr lang="en-US" sz="12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EVIDENCE · SwaKnee</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Which claim can this evidence carry?</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Swayogya evidence page (company-reported, n=40 vs 42); Tubach et al., Ann Rheum Dis 2005 (MCII); Lundh et al., Cochrane 2017; Cochrane 2013; Chen 2019; Yang 2020; OARSI 2019</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02952" y="347472"/>
            <a:ext cx="219456" cy="219456"/>
          </a:xfrm>
          <a:prstGeom prst="ellipse">
            <a:avLst/>
          </a:prstGeom>
          <a:solidFill>
            <a:schemeClr val="accent1"/>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bg1"/>
          </a:solidFill>
          <a:ln w="12700">
            <a:solidFill>
              <a:schemeClr val="accent5"/>
            </a:solidFill>
            <a:prstDash val="solid"/>
          </a:ln>
        </p:spPr>
      </p:sp>
      <p:sp>
        <p:nvSpPr>
          <p:cNvPr id="8" name="Progress Permission"/>
          <p:cNvSpPr/>
          <p:nvPr/>
        </p:nvSpPr>
        <p:spPr>
          <a:xfrm>
            <a:off x="10680192" y="393192"/>
            <a:ext cx="128016" cy="128016"/>
          </a:xfrm>
          <a:prstGeom prst="ellipse">
            <a:avLst/>
          </a:prstGeom>
          <a:solidFill>
            <a:schemeClr val="bg1"/>
          </a:solidFill>
          <a:ln w="12700">
            <a:solidFill>
              <a:schemeClr val="accent5"/>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graphicFrame>
        <p:nvGraphicFramePr>
          <p:cNvPr id="12" name="Chart 0" descr=""/>
          <p:cNvGraphicFramePr/>
          <p:nvPr/>
        </p:nvGraphicFramePr>
        <p:xfrm>
          <a:off x="548640" y="1572768"/>
          <a:ext cx="4480560" cy="2514600"/>
        </p:xfrm>
        <a:graphic xmlns:a="http://schemas.openxmlformats.org/drawingml/2006/main">
          <a:graphicData uri="http://schemas.openxmlformats.org/drawingml/2006/chart">
            <c:chart xmlns:c="http://schemas.openxmlformats.org/drawingml/2006/chart" r:id="rId1"/>
          </a:graphicData>
        </a:graphic>
      </p:graphicFrame>
      <p:sp>
        <p:nvSpPr>
          <p:cNvPr id="13" name="Callout"/>
          <p:cNvSpPr/>
          <p:nvPr/>
        </p:nvSpPr>
        <p:spPr>
          <a:xfrm>
            <a:off x="548640" y="4224528"/>
            <a:ext cx="4480560" cy="749808"/>
          </a:xfrm>
          <a:prstGeom prst="roundRect">
            <a:avLst>
              <a:gd name="adj" fmla="val 9756"/>
            </a:avLst>
          </a:prstGeom>
          <a:solidFill>
            <a:schemeClr val="accent4">
              <a:alpha val="12000"/>
            </a:schemeClr>
          </a:solidFill>
          <a:ln/>
        </p:spPr>
      </p:sp>
      <p:sp>
        <p:nvSpPr>
          <p:cNvPr id="14" name="Callout bar"/>
          <p:cNvSpPr/>
          <p:nvPr/>
        </p:nvSpPr>
        <p:spPr>
          <a:xfrm>
            <a:off x="548640" y="4315968"/>
            <a:ext cx="64008" cy="566928"/>
          </a:xfrm>
          <a:prstGeom prst="rect">
            <a:avLst/>
          </a:prstGeom>
          <a:solidFill>
            <a:schemeClr val="accent4"/>
          </a:solidFill>
          <a:ln/>
        </p:spPr>
      </p:sp>
      <p:sp>
        <p:nvSpPr>
          <p:cNvPr id="15" name="Text 11"/>
          <p:cNvSpPr txBox="1"/>
          <p:nvPr/>
        </p:nvSpPr>
        <p:spPr>
          <a:xfrm>
            <a:off x="822960" y="4224528"/>
            <a:ext cx="4069080" cy="749808"/>
          </a:xfrm>
          <a:prstGeom prst="rect">
            <a:avLst/>
          </a:prstGeom>
          <a:noFill/>
          <a:ln/>
        </p:spPr>
        <p:txBody>
          <a:bodyPr wrap="square" lIns="0" tIns="0" rIns="0" bIns="0" rtlCol="0" anchor="ctr"/>
          <a:lstStyle/>
          <a:p>
            <a:pPr indent="0" marL="0">
              <a:buNone/>
            </a:pPr>
            <a:r>
              <a:rPr lang="en-US" sz="1000" b="1" dirty="0">
                <a:solidFill>
                  <a:schemeClr val="tx1"/>
                </a:solidFill>
              </a:rPr>
              <a:t>Patient's yardstick (MCII, knee OA): </a:t>
            </a:r>
            <a:pPr indent="0" marL="0">
              <a:buNone/>
            </a:pPr>
            <a:r>
              <a:rPr lang="en-US" sz="1000" dirty="0">
                <a:solidFill>
                  <a:schemeClr val="tx1"/>
                </a:solidFill>
              </a:rPr>
              <a:t>−19.9 mm, or −40.8%, on a 100 mm pain scale before a person calls the change important (Tubach 2005). An average fall of 32% does not say how many people reached it.</a:t>
            </a:r>
            <a:endParaRPr lang="en-US" sz="1000" dirty="0"/>
          </a:p>
        </p:txBody>
      </p:sp>
      <p:sp>
        <p:nvSpPr>
          <p:cNvPr id="16" name="Sponsorship note"/>
          <p:cNvSpPr/>
          <p:nvPr/>
        </p:nvSpPr>
        <p:spPr>
          <a:xfrm>
            <a:off x="548640" y="5102352"/>
            <a:ext cx="4480560" cy="502920"/>
          </a:xfrm>
          <a:prstGeom prst="roundRect">
            <a:avLst>
              <a:gd name="adj" fmla="val 25455"/>
            </a:avLst>
          </a:prstGeom>
          <a:solidFill>
            <a:schemeClr val="bg2"/>
          </a:solidFill>
          <a:ln/>
        </p:spPr>
      </p:sp>
      <p:sp>
        <p:nvSpPr>
          <p:cNvPr id="17" name="Icon disc LuScale"/>
          <p:cNvSpPr/>
          <p:nvPr/>
        </p:nvSpPr>
        <p:spPr>
          <a:xfrm>
            <a:off x="658368" y="5175504"/>
            <a:ext cx="347472" cy="347472"/>
          </a:xfrm>
          <a:prstGeom prst="ellipse">
            <a:avLst/>
          </a:prstGeom>
          <a:solidFill>
            <a:schemeClr val="accent5"/>
          </a:solidFill>
          <a:ln/>
        </p:spPr>
      </p:sp>
      <p:pic>
        <p:nvPicPr>
          <p:cNvPr id="18" name="Image 0" descr="Scale icon">    </p:cNvPr>
          <p:cNvPicPr>
            <a:picLocks noChangeAspect="1"/>
          </p:cNvPicPr>
          <p:nvPr/>
        </p:nvPicPr>
        <p:blipFill>
          <a:blip r:embed="rId2"/>
          <a:stretch>
            <a:fillRect/>
          </a:stretch>
        </p:blipFill>
        <p:spPr>
          <a:xfrm>
            <a:off x="734812" y="5251948"/>
            <a:ext cx="194584" cy="194584"/>
          </a:xfrm>
          <a:prstGeom prst="rect">
            <a:avLst/>
          </a:prstGeom>
        </p:spPr>
      </p:pic>
      <p:sp>
        <p:nvSpPr>
          <p:cNvPr id="19" name="Text 14"/>
          <p:cNvSpPr txBox="1"/>
          <p:nvPr/>
        </p:nvSpPr>
        <p:spPr>
          <a:xfrm>
            <a:off x="1097280" y="5102352"/>
            <a:ext cx="3840480" cy="502920"/>
          </a:xfrm>
          <a:prstGeom prst="rect">
            <a:avLst/>
          </a:prstGeom>
          <a:noFill/>
          <a:ln/>
        </p:spPr>
        <p:txBody>
          <a:bodyPr wrap="square" lIns="0" tIns="0" rIns="0" bIns="0" rtlCol="0" anchor="ctr"/>
          <a:lstStyle/>
          <a:p>
            <a:pPr indent="0" marL="0">
              <a:buNone/>
            </a:pPr>
            <a:r>
              <a:rPr lang="en-US" sz="950" dirty="0">
                <a:solidFill>
                  <a:schemeClr val="tx2"/>
                </a:solidFill>
              </a:rPr>
              <a:t>Industry-sponsored drug and device studies reach favourable conclusions more often: RR 1.34 (Lundh et al., Cochrane 2017).</a:t>
            </a:r>
            <a:endParaRPr lang="en-US" sz="950" dirty="0"/>
          </a:p>
        </p:txBody>
      </p:sp>
      <p:sp>
        <p:nvSpPr>
          <p:cNvPr id="20" name="Callout"/>
          <p:cNvSpPr/>
          <p:nvPr/>
        </p:nvSpPr>
        <p:spPr>
          <a:xfrm>
            <a:off x="548640" y="5715000"/>
            <a:ext cx="4480560" cy="457200"/>
          </a:xfrm>
          <a:prstGeom prst="roundRect">
            <a:avLst>
              <a:gd name="adj" fmla="val 16000"/>
            </a:avLst>
          </a:prstGeom>
          <a:solidFill>
            <a:schemeClr val="accent2">
              <a:alpha val="12000"/>
            </a:schemeClr>
          </a:solidFill>
          <a:ln/>
        </p:spPr>
      </p:sp>
      <p:sp>
        <p:nvSpPr>
          <p:cNvPr id="21" name="Callout bar"/>
          <p:cNvSpPr/>
          <p:nvPr/>
        </p:nvSpPr>
        <p:spPr>
          <a:xfrm>
            <a:off x="548640" y="5806440"/>
            <a:ext cx="64008" cy="274320"/>
          </a:xfrm>
          <a:prstGeom prst="rect">
            <a:avLst/>
          </a:prstGeom>
          <a:solidFill>
            <a:schemeClr val="accent2"/>
          </a:solidFill>
          <a:ln/>
        </p:spPr>
      </p:sp>
      <p:sp>
        <p:nvSpPr>
          <p:cNvPr id="22" name="Text 17"/>
          <p:cNvSpPr txBox="1"/>
          <p:nvPr/>
        </p:nvSpPr>
        <p:spPr>
          <a:xfrm>
            <a:off x="822960" y="5715000"/>
            <a:ext cx="4069080" cy="457200"/>
          </a:xfrm>
          <a:prstGeom prst="rect">
            <a:avLst/>
          </a:prstGeom>
          <a:noFill/>
          <a:ln/>
        </p:spPr>
        <p:txBody>
          <a:bodyPr wrap="square" lIns="0" tIns="0" rIns="0" bIns="0" rtlCol="0" anchor="ctr"/>
          <a:lstStyle/>
          <a:p>
            <a:pPr indent="0" marL="0">
              <a:buNone/>
            </a:pPr>
            <a:r>
              <a:rPr lang="en-US" sz="1150" b="1" dirty="0">
                <a:solidFill>
                  <a:schemeClr val="tx1"/>
                </a:solidFill>
              </a:rPr>
              <a:t>One of you defends claim 1; another challenges claim 3.</a:t>
            </a:r>
            <a:endParaRPr lang="en-US" sz="1150" dirty="0"/>
          </a:p>
        </p:txBody>
      </p:sp>
      <p:sp>
        <p:nvSpPr>
          <p:cNvPr id="23" name="Claim 1"/>
          <p:cNvSpPr/>
          <p:nvPr/>
        </p:nvSpPr>
        <p:spPr>
          <a:xfrm>
            <a:off x="5303520" y="1600200"/>
            <a:ext cx="6336792" cy="777240"/>
          </a:xfrm>
          <a:prstGeom prst="roundRect">
            <a:avLst>
              <a:gd name="adj" fmla="val 16471"/>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24" name="Badge 1"/>
          <p:cNvSpPr/>
          <p:nvPr/>
        </p:nvSpPr>
        <p:spPr>
          <a:xfrm>
            <a:off x="5440680" y="1760220"/>
            <a:ext cx="457200" cy="457200"/>
          </a:xfrm>
          <a:prstGeom prst="ellipse">
            <a:avLst/>
          </a:prstGeom>
          <a:solidFill>
            <a:schemeClr val="accent2"/>
          </a:solidFill>
          <a:ln/>
        </p:spPr>
      </p:sp>
      <p:sp>
        <p:nvSpPr>
          <p:cNvPr id="25" name="Text 20"/>
          <p:cNvSpPr txBox="1"/>
          <p:nvPr/>
        </p:nvSpPr>
        <p:spPr>
          <a:xfrm>
            <a:off x="5440680" y="1760220"/>
            <a:ext cx="457200" cy="457200"/>
          </a:xfrm>
          <a:prstGeom prst="rect">
            <a:avLst/>
          </a:prstGeom>
          <a:noFill/>
          <a:ln/>
        </p:spPr>
        <p:txBody>
          <a:bodyPr wrap="square" lIns="0" tIns="0" rIns="0" bIns="0" rtlCol="0" anchor="ctr"/>
          <a:lstStyle/>
          <a:p>
            <a:pPr algn="ctr" indent="0" marL="0">
              <a:buNone/>
            </a:pPr>
            <a:r>
              <a:rPr lang="en-US" sz="1500" b="1" dirty="0">
                <a:solidFill>
                  <a:schemeClr val="tx2"/>
                </a:solidFill>
              </a:rPr>
              <a:t>1</a:t>
            </a:r>
            <a:endParaRPr lang="en-US" sz="1500" dirty="0"/>
          </a:p>
        </p:txBody>
      </p:sp>
      <p:sp>
        <p:nvSpPr>
          <p:cNvPr id="26" name="Text 21"/>
          <p:cNvSpPr txBox="1"/>
          <p:nvPr/>
        </p:nvSpPr>
        <p:spPr>
          <a:xfrm>
            <a:off x="6016752" y="1600200"/>
            <a:ext cx="2423160" cy="777240"/>
          </a:xfrm>
          <a:prstGeom prst="rect">
            <a:avLst/>
          </a:prstGeom>
          <a:noFill/>
          <a:ln/>
        </p:spPr>
        <p:txBody>
          <a:bodyPr wrap="square" lIns="0" tIns="0" rIns="0" bIns="0" rtlCol="0" anchor="ctr"/>
          <a:lstStyle/>
          <a:p>
            <a:pPr indent="0" marL="0">
              <a:buNone/>
            </a:pPr>
            <a:r>
              <a:rPr lang="en-US" sz="1250" b="1" i="1" dirty="0">
                <a:solidFill>
                  <a:schemeClr val="tx1"/>
                </a:solidFill>
              </a:rPr>
              <a:t>“Less pain on average in one 45-day company study”</a:t>
            </a:r>
            <a:endParaRPr lang="en-US" sz="1250" dirty="0"/>
          </a:p>
        </p:txBody>
      </p:sp>
      <p:sp>
        <p:nvSpPr>
          <p:cNvPr id="27" name="Arrow"/>
          <p:cNvSpPr/>
          <p:nvPr/>
        </p:nvSpPr>
        <p:spPr>
          <a:xfrm>
            <a:off x="8503920" y="1988820"/>
            <a:ext cx="274320" cy="0"/>
          </a:xfrm>
          <a:prstGeom prst="line">
            <a:avLst/>
          </a:prstGeom>
          <a:noFill/>
          <a:ln w="19050">
            <a:solidFill>
              <a:schemeClr val="accent5"/>
            </a:solidFill>
            <a:prstDash val="solid"/>
            <a:tailEnd type="triangle"/>
          </a:ln>
        </p:spPr>
      </p:sp>
      <p:sp>
        <p:nvSpPr>
          <p:cNvPr id="28" name="Pill Reported (company)"/>
          <p:cNvSpPr/>
          <p:nvPr/>
        </p:nvSpPr>
        <p:spPr>
          <a:xfrm>
            <a:off x="8869680" y="1833372"/>
            <a:ext cx="1463040" cy="310896"/>
          </a:xfrm>
          <a:prstGeom prst="roundRect">
            <a:avLst>
              <a:gd name="adj" fmla="val 50000"/>
            </a:avLst>
          </a:prstGeom>
          <a:solidFill>
            <a:schemeClr val="bg1"/>
          </a:solidFill>
          <a:ln w="15875">
            <a:solidFill>
              <a:schemeClr val="accent1"/>
            </a:solidFill>
            <a:prstDash val="solid"/>
          </a:ln>
        </p:spPr>
      </p:sp>
      <p:sp>
        <p:nvSpPr>
          <p:cNvPr id="29" name="Text 24"/>
          <p:cNvSpPr txBox="1"/>
          <p:nvPr/>
        </p:nvSpPr>
        <p:spPr>
          <a:xfrm>
            <a:off x="8869680" y="1833372"/>
            <a:ext cx="1463040" cy="310896"/>
          </a:xfrm>
          <a:prstGeom prst="rect">
            <a:avLst/>
          </a:prstGeom>
          <a:noFill/>
          <a:ln/>
        </p:spPr>
        <p:txBody>
          <a:bodyPr wrap="square" lIns="0" tIns="0" rIns="0" bIns="0" rtlCol="0" anchor="ctr"/>
          <a:lstStyle/>
          <a:p>
            <a:pPr algn="ctr" indent="0" marL="0">
              <a:buNone/>
            </a:pPr>
            <a:r>
              <a:rPr lang="en-US" sz="1100" b="1" dirty="0">
                <a:solidFill>
                  <a:schemeClr val="accent1"/>
                </a:solidFill>
              </a:rPr>
              <a:t>Reported (company)</a:t>
            </a:r>
            <a:endParaRPr lang="en-US" sz="1100" dirty="0"/>
          </a:p>
        </p:txBody>
      </p:sp>
      <p:sp>
        <p:nvSpPr>
          <p:cNvPr id="30" name="Text 25"/>
          <p:cNvSpPr txBox="1"/>
          <p:nvPr/>
        </p:nvSpPr>
        <p:spPr>
          <a:xfrm>
            <a:off x="10424160" y="1600200"/>
            <a:ext cx="1143000" cy="777240"/>
          </a:xfrm>
          <a:prstGeom prst="rect">
            <a:avLst/>
          </a:prstGeom>
          <a:noFill/>
          <a:ln/>
        </p:spPr>
        <p:txBody>
          <a:bodyPr wrap="square" lIns="0" tIns="0" rIns="0" bIns="0" rtlCol="0" anchor="ctr"/>
          <a:lstStyle/>
          <a:p>
            <a:pPr indent="0" marL="0">
              <a:buNone/>
            </a:pPr>
            <a:r>
              <a:rPr lang="en-US" sz="900" dirty="0">
                <a:solidFill>
                  <a:schemeClr val="tx2"/>
                </a:solidFill>
              </a:rPr>
              <a:t>Acceptable if labelled company-reported, not peer-reviewed</a:t>
            </a:r>
            <a:endParaRPr lang="en-US" sz="900" dirty="0"/>
          </a:p>
        </p:txBody>
      </p:sp>
      <p:sp>
        <p:nvSpPr>
          <p:cNvPr id="31" name="Claim 2"/>
          <p:cNvSpPr/>
          <p:nvPr/>
        </p:nvSpPr>
        <p:spPr>
          <a:xfrm>
            <a:off x="5303520" y="2487168"/>
            <a:ext cx="6336792" cy="777240"/>
          </a:xfrm>
          <a:prstGeom prst="roundRect">
            <a:avLst>
              <a:gd name="adj" fmla="val 16471"/>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32" name="Badge 2"/>
          <p:cNvSpPr/>
          <p:nvPr/>
        </p:nvSpPr>
        <p:spPr>
          <a:xfrm>
            <a:off x="5440680" y="2647188"/>
            <a:ext cx="457200" cy="457200"/>
          </a:xfrm>
          <a:prstGeom prst="ellipse">
            <a:avLst/>
          </a:prstGeom>
          <a:solidFill>
            <a:schemeClr val="accent2"/>
          </a:solidFill>
          <a:ln/>
        </p:spPr>
      </p:sp>
      <p:sp>
        <p:nvSpPr>
          <p:cNvPr id="33" name="Text 28"/>
          <p:cNvSpPr txBox="1"/>
          <p:nvPr/>
        </p:nvSpPr>
        <p:spPr>
          <a:xfrm>
            <a:off x="5440680" y="2647188"/>
            <a:ext cx="457200" cy="457200"/>
          </a:xfrm>
          <a:prstGeom prst="rect">
            <a:avLst/>
          </a:prstGeom>
          <a:noFill/>
          <a:ln/>
        </p:spPr>
        <p:txBody>
          <a:bodyPr wrap="square" lIns="0" tIns="0" rIns="0" bIns="0" rtlCol="0" anchor="ctr"/>
          <a:lstStyle/>
          <a:p>
            <a:pPr algn="ctr" indent="0" marL="0">
              <a:buNone/>
            </a:pPr>
            <a:r>
              <a:rPr lang="en-US" sz="1500" b="1" dirty="0">
                <a:solidFill>
                  <a:schemeClr val="tx2"/>
                </a:solidFill>
              </a:rPr>
              <a:t>2</a:t>
            </a:r>
            <a:endParaRPr lang="en-US" sz="1500" dirty="0"/>
          </a:p>
        </p:txBody>
      </p:sp>
      <p:sp>
        <p:nvSpPr>
          <p:cNvPr id="34" name="Text 29"/>
          <p:cNvSpPr txBox="1"/>
          <p:nvPr/>
        </p:nvSpPr>
        <p:spPr>
          <a:xfrm>
            <a:off x="6016752" y="2487168"/>
            <a:ext cx="2423160" cy="777240"/>
          </a:xfrm>
          <a:prstGeom prst="rect">
            <a:avLst/>
          </a:prstGeom>
          <a:noFill/>
          <a:ln/>
        </p:spPr>
        <p:txBody>
          <a:bodyPr wrap="square" lIns="0" tIns="0" rIns="0" bIns="0" rtlCol="0" anchor="ctr"/>
          <a:lstStyle/>
          <a:p>
            <a:pPr indent="0" marL="0">
              <a:buNone/>
            </a:pPr>
            <a:r>
              <a:rPr lang="en-US" sz="1250" b="1" i="1" dirty="0">
                <a:solidFill>
                  <a:schemeClr val="tx1"/>
                </a:solidFill>
              </a:rPr>
              <a:t>“Clinically proven”</a:t>
            </a:r>
            <a:endParaRPr lang="en-US" sz="1250" dirty="0"/>
          </a:p>
        </p:txBody>
      </p:sp>
      <p:sp>
        <p:nvSpPr>
          <p:cNvPr id="35" name="Arrow"/>
          <p:cNvSpPr/>
          <p:nvPr/>
        </p:nvSpPr>
        <p:spPr>
          <a:xfrm>
            <a:off x="8503920" y="2875788"/>
            <a:ext cx="274320" cy="0"/>
          </a:xfrm>
          <a:prstGeom prst="line">
            <a:avLst/>
          </a:prstGeom>
          <a:noFill/>
          <a:ln w="19050">
            <a:solidFill>
              <a:schemeClr val="accent5"/>
            </a:solidFill>
            <a:prstDash val="solid"/>
            <a:tailEnd type="triangle"/>
          </a:ln>
        </p:spPr>
      </p:sp>
      <p:sp>
        <p:nvSpPr>
          <p:cNvPr id="36" name="Pill Not established"/>
          <p:cNvSpPr/>
          <p:nvPr/>
        </p:nvSpPr>
        <p:spPr>
          <a:xfrm>
            <a:off x="8869680" y="2720340"/>
            <a:ext cx="1463040" cy="310896"/>
          </a:xfrm>
          <a:prstGeom prst="roundRect">
            <a:avLst>
              <a:gd name="adj" fmla="val 50000"/>
            </a:avLst>
          </a:prstGeom>
          <a:solidFill>
            <a:schemeClr val="bg1"/>
          </a:solidFill>
          <a:ln w="15875">
            <a:solidFill>
              <a:schemeClr val="accent3"/>
            </a:solidFill>
            <a:prstDash val="solid"/>
          </a:ln>
        </p:spPr>
      </p:sp>
      <p:sp>
        <p:nvSpPr>
          <p:cNvPr id="37" name="Text 32"/>
          <p:cNvSpPr txBox="1"/>
          <p:nvPr/>
        </p:nvSpPr>
        <p:spPr>
          <a:xfrm>
            <a:off x="8869680" y="2720340"/>
            <a:ext cx="1463040" cy="310896"/>
          </a:xfrm>
          <a:prstGeom prst="rect">
            <a:avLst/>
          </a:prstGeom>
          <a:noFill/>
          <a:ln/>
        </p:spPr>
        <p:txBody>
          <a:bodyPr wrap="square" lIns="0" tIns="0" rIns="0" bIns="0" rtlCol="0" anchor="ctr"/>
          <a:lstStyle/>
          <a:p>
            <a:pPr algn="ctr" indent="0" marL="0">
              <a:buNone/>
            </a:pPr>
            <a:r>
              <a:rPr lang="en-US" sz="1100" b="1" dirty="0">
                <a:solidFill>
                  <a:schemeClr val="accent3"/>
                </a:solidFill>
              </a:rPr>
              <a:t>Not established</a:t>
            </a:r>
            <a:endParaRPr lang="en-US" sz="1100" dirty="0"/>
          </a:p>
        </p:txBody>
      </p:sp>
      <p:sp>
        <p:nvSpPr>
          <p:cNvPr id="38" name="Text 33"/>
          <p:cNvSpPr txBox="1"/>
          <p:nvPr/>
        </p:nvSpPr>
        <p:spPr>
          <a:xfrm>
            <a:off x="10424160" y="2487168"/>
            <a:ext cx="1143000" cy="777240"/>
          </a:xfrm>
          <a:prstGeom prst="rect">
            <a:avLst/>
          </a:prstGeom>
          <a:noFill/>
          <a:ln/>
        </p:spPr>
        <p:txBody>
          <a:bodyPr wrap="square" lIns="0" tIns="0" rIns="0" bIns="0" rtlCol="0" anchor="ctr"/>
          <a:lstStyle/>
          <a:p>
            <a:pPr indent="0" marL="0">
              <a:buNone/>
            </a:pPr>
            <a:r>
              <a:rPr lang="en-US" sz="900" dirty="0">
                <a:solidFill>
                  <a:schemeClr val="tx2"/>
                </a:solidFill>
              </a:rPr>
              <a:t>Needs independent, registered, sham-controlled trials with consistent results</a:t>
            </a:r>
            <a:endParaRPr lang="en-US" sz="900" dirty="0"/>
          </a:p>
        </p:txBody>
      </p:sp>
      <p:sp>
        <p:nvSpPr>
          <p:cNvPr id="39" name="Claim 3"/>
          <p:cNvSpPr/>
          <p:nvPr/>
        </p:nvSpPr>
        <p:spPr>
          <a:xfrm>
            <a:off x="5303520" y="3374136"/>
            <a:ext cx="6336792" cy="777240"/>
          </a:xfrm>
          <a:prstGeom prst="roundRect">
            <a:avLst>
              <a:gd name="adj" fmla="val 16471"/>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40" name="Badge 3"/>
          <p:cNvSpPr/>
          <p:nvPr/>
        </p:nvSpPr>
        <p:spPr>
          <a:xfrm>
            <a:off x="5440680" y="3534156"/>
            <a:ext cx="457200" cy="457200"/>
          </a:xfrm>
          <a:prstGeom prst="ellipse">
            <a:avLst/>
          </a:prstGeom>
          <a:solidFill>
            <a:schemeClr val="accent2"/>
          </a:solidFill>
          <a:ln/>
        </p:spPr>
      </p:sp>
      <p:sp>
        <p:nvSpPr>
          <p:cNvPr id="41" name="Text 36"/>
          <p:cNvSpPr txBox="1"/>
          <p:nvPr/>
        </p:nvSpPr>
        <p:spPr>
          <a:xfrm>
            <a:off x="5440680" y="3534156"/>
            <a:ext cx="457200" cy="457200"/>
          </a:xfrm>
          <a:prstGeom prst="rect">
            <a:avLst/>
          </a:prstGeom>
          <a:noFill/>
          <a:ln/>
        </p:spPr>
        <p:txBody>
          <a:bodyPr wrap="square" lIns="0" tIns="0" rIns="0" bIns="0" rtlCol="0" anchor="ctr"/>
          <a:lstStyle/>
          <a:p>
            <a:pPr algn="ctr" indent="0" marL="0">
              <a:buNone/>
            </a:pPr>
            <a:r>
              <a:rPr lang="en-US" sz="1500" b="1" dirty="0">
                <a:solidFill>
                  <a:schemeClr val="tx2"/>
                </a:solidFill>
              </a:rPr>
              <a:t>3</a:t>
            </a:r>
            <a:endParaRPr lang="en-US" sz="1500" dirty="0"/>
          </a:p>
        </p:txBody>
      </p:sp>
      <p:sp>
        <p:nvSpPr>
          <p:cNvPr id="42" name="Text 37"/>
          <p:cNvSpPr txBox="1"/>
          <p:nvPr/>
        </p:nvSpPr>
        <p:spPr>
          <a:xfrm>
            <a:off x="6016752" y="3374136"/>
            <a:ext cx="2423160" cy="777240"/>
          </a:xfrm>
          <a:prstGeom prst="rect">
            <a:avLst/>
          </a:prstGeom>
          <a:noFill/>
          <a:ln/>
        </p:spPr>
        <p:txBody>
          <a:bodyPr wrap="square" lIns="0" tIns="0" rIns="0" bIns="0" rtlCol="0" anchor="ctr"/>
          <a:lstStyle/>
          <a:p>
            <a:pPr indent="0" marL="0">
              <a:buNone/>
            </a:pPr>
            <a:r>
              <a:rPr lang="en-US" sz="1250" b="1" i="1" dirty="0">
                <a:solidFill>
                  <a:schemeClr val="tx1"/>
                </a:solidFill>
              </a:rPr>
              <a:t>“Regrows cartilage”</a:t>
            </a:r>
            <a:endParaRPr lang="en-US" sz="1250" dirty="0"/>
          </a:p>
        </p:txBody>
      </p:sp>
      <p:sp>
        <p:nvSpPr>
          <p:cNvPr id="43" name="Arrow"/>
          <p:cNvSpPr/>
          <p:nvPr/>
        </p:nvSpPr>
        <p:spPr>
          <a:xfrm>
            <a:off x="8503920" y="3762756"/>
            <a:ext cx="274320" cy="0"/>
          </a:xfrm>
          <a:prstGeom prst="line">
            <a:avLst/>
          </a:prstGeom>
          <a:noFill/>
          <a:ln w="19050">
            <a:solidFill>
              <a:schemeClr val="accent5"/>
            </a:solidFill>
            <a:prstDash val="solid"/>
            <a:tailEnd type="triangle"/>
          </a:ln>
        </p:spPr>
      </p:sp>
      <p:sp>
        <p:nvSpPr>
          <p:cNvPr id="44" name="Pill Not measured"/>
          <p:cNvSpPr/>
          <p:nvPr/>
        </p:nvSpPr>
        <p:spPr>
          <a:xfrm>
            <a:off x="8869680" y="3607308"/>
            <a:ext cx="1463040" cy="310896"/>
          </a:xfrm>
          <a:prstGeom prst="roundRect">
            <a:avLst>
              <a:gd name="adj" fmla="val 50000"/>
            </a:avLst>
          </a:prstGeom>
          <a:solidFill>
            <a:schemeClr val="bg1"/>
          </a:solidFill>
          <a:ln w="15875">
            <a:solidFill>
              <a:schemeClr val="accent3"/>
            </a:solidFill>
            <a:prstDash val="solid"/>
          </a:ln>
        </p:spPr>
      </p:sp>
      <p:sp>
        <p:nvSpPr>
          <p:cNvPr id="45" name="Text 40"/>
          <p:cNvSpPr txBox="1"/>
          <p:nvPr/>
        </p:nvSpPr>
        <p:spPr>
          <a:xfrm>
            <a:off x="8869680" y="3607308"/>
            <a:ext cx="1463040" cy="310896"/>
          </a:xfrm>
          <a:prstGeom prst="rect">
            <a:avLst/>
          </a:prstGeom>
          <a:noFill/>
          <a:ln/>
        </p:spPr>
        <p:txBody>
          <a:bodyPr wrap="square" lIns="0" tIns="0" rIns="0" bIns="0" rtlCol="0" anchor="ctr"/>
          <a:lstStyle/>
          <a:p>
            <a:pPr algn="ctr" indent="0" marL="0">
              <a:buNone/>
            </a:pPr>
            <a:r>
              <a:rPr lang="en-US" sz="1100" b="1" dirty="0">
                <a:solidFill>
                  <a:schemeClr val="accent3"/>
                </a:solidFill>
              </a:rPr>
              <a:t>Not measured</a:t>
            </a:r>
            <a:endParaRPr lang="en-US" sz="1100" dirty="0"/>
          </a:p>
        </p:txBody>
      </p:sp>
      <p:sp>
        <p:nvSpPr>
          <p:cNvPr id="46" name="Text 41"/>
          <p:cNvSpPr txBox="1"/>
          <p:nvPr/>
        </p:nvSpPr>
        <p:spPr>
          <a:xfrm>
            <a:off x="10424160" y="3374136"/>
            <a:ext cx="1143000" cy="777240"/>
          </a:xfrm>
          <a:prstGeom prst="rect">
            <a:avLst/>
          </a:prstGeom>
          <a:noFill/>
          <a:ln/>
        </p:spPr>
        <p:txBody>
          <a:bodyPr wrap="square" lIns="0" tIns="0" rIns="0" bIns="0" rtlCol="0" anchor="ctr"/>
          <a:lstStyle/>
          <a:p>
            <a:pPr indent="0" marL="0">
              <a:buNone/>
            </a:pPr>
            <a:r>
              <a:rPr lang="en-US" sz="900" dirty="0">
                <a:solidFill>
                  <a:schemeClr val="tx2"/>
                </a:solidFill>
              </a:rPr>
              <a:t>No structural outcome measured; no human evidence of regeneration found</a:t>
            </a:r>
            <a:endParaRPr lang="en-US" sz="900" dirty="0"/>
          </a:p>
        </p:txBody>
      </p:sp>
      <p:sp>
        <p:nvSpPr>
          <p:cNvPr id="47" name="Not reported card"/>
          <p:cNvSpPr/>
          <p:nvPr/>
        </p:nvSpPr>
        <p:spPr>
          <a:xfrm>
            <a:off x="5303520" y="4297680"/>
            <a:ext cx="6336792" cy="1874520"/>
          </a:xfrm>
          <a:prstGeom prst="roundRect">
            <a:avLst>
              <a:gd name="adj" fmla="val 6829"/>
            </a:avLst>
          </a:prstGeom>
          <a:solidFill>
            <a:schemeClr val="bg2"/>
          </a:solidFill>
          <a:ln/>
        </p:spPr>
      </p:sp>
      <p:sp>
        <p:nvSpPr>
          <p:cNvPr id="48" name="Icon disc LuFileQuestion"/>
          <p:cNvSpPr/>
          <p:nvPr/>
        </p:nvSpPr>
        <p:spPr>
          <a:xfrm>
            <a:off x="5440680" y="4434840"/>
            <a:ext cx="384048" cy="384048"/>
          </a:xfrm>
          <a:prstGeom prst="ellipse">
            <a:avLst/>
          </a:prstGeom>
          <a:solidFill>
            <a:schemeClr val="accent3"/>
          </a:solidFill>
          <a:ln/>
        </p:spPr>
      </p:sp>
      <p:pic>
        <p:nvPicPr>
          <p:cNvPr id="49" name="Image 1" descr="FileQuestion icon">    </p:cNvPr>
          <p:cNvPicPr>
            <a:picLocks noChangeAspect="1"/>
          </p:cNvPicPr>
          <p:nvPr/>
        </p:nvPicPr>
        <p:blipFill>
          <a:blip r:embed="rId3"/>
          <a:stretch>
            <a:fillRect/>
          </a:stretch>
        </p:blipFill>
        <p:spPr>
          <a:xfrm>
            <a:off x="5525171" y="4519331"/>
            <a:ext cx="215067" cy="215067"/>
          </a:xfrm>
          <a:prstGeom prst="rect">
            <a:avLst/>
          </a:prstGeom>
        </p:spPr>
      </p:pic>
      <p:sp>
        <p:nvSpPr>
          <p:cNvPr id="50" name="Text 44"/>
          <p:cNvSpPr txBox="1"/>
          <p:nvPr/>
        </p:nvSpPr>
        <p:spPr>
          <a:xfrm>
            <a:off x="5943600" y="4434840"/>
            <a:ext cx="5486400" cy="384048"/>
          </a:xfrm>
          <a:prstGeom prst="rect">
            <a:avLst/>
          </a:prstGeom>
          <a:noFill/>
          <a:ln/>
        </p:spPr>
        <p:txBody>
          <a:bodyPr wrap="square" lIns="0" tIns="0" rIns="0" bIns="0" rtlCol="0" anchor="ctr"/>
          <a:lstStyle/>
          <a:p>
            <a:pPr indent="0" marL="0">
              <a:buNone/>
            </a:pPr>
            <a:r>
              <a:rPr lang="en-US" sz="1250" b="1" dirty="0">
                <a:solidFill>
                  <a:schemeClr val="tx1"/>
                </a:solidFill>
              </a:rPr>
              <a:t>What the public summary does not report</a:t>
            </a:r>
            <a:endParaRPr lang="en-US" sz="1250" dirty="0"/>
          </a:p>
        </p:txBody>
      </p:sp>
      <p:sp>
        <p:nvSpPr>
          <p:cNvPr id="51" name="Text 45"/>
          <p:cNvSpPr txBox="1"/>
          <p:nvPr/>
        </p:nvSpPr>
        <p:spPr>
          <a:xfrm>
            <a:off x="5440680" y="4892040"/>
            <a:ext cx="2926080" cy="1188720"/>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2"/>
                </a:solidFill>
              </a:rPr>
              <a:t>How groups were allocated</a:t>
            </a:r>
            <a:endParaRPr lang="en-US" sz="1050" dirty="0"/>
          </a:p>
          <a:p>
            <a:pPr marL="127000" indent="-127000">
              <a:spcAft>
                <a:spcPts val="300"/>
              </a:spcAft>
              <a:buSzPct val="100000"/>
              <a:buChar char="•"/>
            </a:pPr>
            <a:r>
              <a:rPr lang="en-US" sz="1050" dirty="0">
                <a:solidFill>
                  <a:schemeClr val="tx2"/>
                </a:solidFill>
              </a:rPr>
              <a:t>Blinding or a sham control</a:t>
            </a:r>
            <a:endParaRPr lang="en-US" sz="1050" dirty="0"/>
          </a:p>
          <a:p>
            <a:pPr marL="127000" indent="-127000">
              <a:spcAft>
                <a:spcPts val="300"/>
              </a:spcAft>
              <a:buSzPct val="100000"/>
              <a:buChar char="•"/>
            </a:pPr>
            <a:r>
              <a:rPr lang="en-US" sz="1050" dirty="0">
                <a:solidFill>
                  <a:schemeClr val="tx2"/>
                </a:solidFill>
              </a:rPr>
              <a:t>Prospective CTRI registration</a:t>
            </a:r>
            <a:endParaRPr lang="en-US" sz="1050" dirty="0"/>
          </a:p>
          <a:p>
            <a:pPr marL="127000" indent="-127000">
              <a:spcAft>
                <a:spcPts val="300"/>
              </a:spcAft>
              <a:buSzPct val="100000"/>
              <a:buChar char="•"/>
            </a:pPr>
            <a:r>
              <a:rPr lang="en-US" sz="1050" dirty="0">
                <a:solidFill>
                  <a:schemeClr val="tx2"/>
                </a:solidFill>
              </a:rPr>
              <a:t>How missing data were handled</a:t>
            </a:r>
            <a:endParaRPr lang="en-US" sz="1050" dirty="0"/>
          </a:p>
        </p:txBody>
      </p:sp>
      <p:sp>
        <p:nvSpPr>
          <p:cNvPr id="52" name="Text 46"/>
          <p:cNvSpPr txBox="1"/>
          <p:nvPr/>
        </p:nvSpPr>
        <p:spPr>
          <a:xfrm>
            <a:off x="8503920" y="4892040"/>
            <a:ext cx="3017520" cy="1188720"/>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2"/>
                </a:solidFill>
              </a:rPr>
              <a:t>Between-group difference with its confidence interval</a:t>
            </a:r>
            <a:endParaRPr lang="en-US" sz="1050" dirty="0"/>
          </a:p>
          <a:p>
            <a:pPr marL="127000" indent="-127000">
              <a:spcAft>
                <a:spcPts val="300"/>
              </a:spcAft>
              <a:buSzPct val="100000"/>
              <a:buChar char="•"/>
            </a:pPr>
            <a:r>
              <a:rPr lang="en-US" sz="1050" dirty="0">
                <a:solidFill>
                  <a:schemeClr val="tx2"/>
                </a:solidFill>
              </a:rPr>
              <a:t>Adverse events</a:t>
            </a:r>
            <a:endParaRPr lang="en-US" sz="1050" dirty="0"/>
          </a:p>
          <a:p>
            <a:pPr marL="127000" indent="-127000">
              <a:spcAft>
                <a:spcPts val="300"/>
              </a:spcAft>
              <a:buSzPct val="100000"/>
              <a:buChar char="•"/>
            </a:pPr>
            <a:r>
              <a:rPr lang="en-US" sz="1050" dirty="0">
                <a:solidFill>
                  <a:schemeClr val="tx2"/>
                </a:solidFill>
              </a:rPr>
              <a:t>Durability beyond 45 days</a:t>
            </a:r>
            <a:endParaRPr lang="en-US" sz="1050" dirty="0"/>
          </a:p>
          <a:p>
            <a:pPr marL="127000" indent="-127000">
              <a:spcAft>
                <a:spcPts val="300"/>
              </a:spcAft>
              <a:buSzPct val="100000"/>
              <a:buChar char="•"/>
            </a:pPr>
            <a:r>
              <a:rPr lang="en-US" sz="1050" dirty="0">
                <a:solidFill>
                  <a:schemeClr val="tx2"/>
                </a:solidFill>
              </a:rPr>
              <a:t>Device and firmware version studied</a:t>
            </a:r>
            <a:endParaRPr lang="en-US" sz="10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EVIDENCE · INDEPENDENT</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What independent evidence says about cueing and PEMF</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Bächlin 2010; Silva de Lima 2017; Nieuwboer 2007 (RESCUE); Ginis 2018; Li et al., Cochrane 2013; Chen 2019; Yang 2020; Markovic 2022; OARSI 2019; NICE NG226 (2022)</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02952" y="347472"/>
            <a:ext cx="219456" cy="219456"/>
          </a:xfrm>
          <a:prstGeom prst="ellipse">
            <a:avLst/>
          </a:prstGeom>
          <a:solidFill>
            <a:schemeClr val="accent1"/>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tx2"/>
          </a:solidFill>
          <a:ln w="12700">
            <a:solidFill>
              <a:schemeClr val="accent6"/>
            </a:solidFill>
            <a:prstDash val="solid"/>
          </a:ln>
        </p:spPr>
      </p:sp>
      <p:sp>
        <p:nvSpPr>
          <p:cNvPr id="8" name="Progress Permission"/>
          <p:cNvSpPr/>
          <p:nvPr/>
        </p:nvSpPr>
        <p:spPr>
          <a:xfrm>
            <a:off x="10680192" y="393192"/>
            <a:ext cx="128016" cy="128016"/>
          </a:xfrm>
          <a:prstGeom prst="ellipse">
            <a:avLst/>
          </a:prstGeom>
          <a:solidFill>
            <a:schemeClr val="tx2"/>
          </a:solidFill>
          <a:ln w="12700">
            <a:solidFill>
              <a:schemeClr val="accent6"/>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sp>
        <p:nvSpPr>
          <p:cNvPr id="12" name="Column head FoGO domain · detecting and cueing freezing of gait"/>
          <p:cNvSpPr/>
          <p:nvPr/>
        </p:nvSpPr>
        <p:spPr>
          <a:xfrm>
            <a:off x="548640" y="1600200"/>
            <a:ext cx="5440680" cy="457200"/>
          </a:xfrm>
          <a:prstGeom prst="roundRect">
            <a:avLst>
              <a:gd name="adj" fmla="val 20000"/>
            </a:avLst>
          </a:prstGeom>
          <a:solidFill>
            <a:schemeClr val="accent1"/>
          </a:solidFill>
          <a:ln/>
        </p:spPr>
      </p:sp>
      <p:sp>
        <p:nvSpPr>
          <p:cNvPr id="13" name="Icon disc LuFootprints"/>
          <p:cNvSpPr/>
          <p:nvPr/>
        </p:nvSpPr>
        <p:spPr>
          <a:xfrm>
            <a:off x="640080" y="1673352"/>
            <a:ext cx="310896" cy="310896"/>
          </a:xfrm>
          <a:prstGeom prst="ellipse">
            <a:avLst/>
          </a:prstGeom>
          <a:solidFill>
            <a:schemeClr val="bg1">
              <a:alpha val="20000"/>
            </a:schemeClr>
          </a:solidFill>
          <a:ln/>
        </p:spPr>
      </p:sp>
      <p:pic>
        <p:nvPicPr>
          <p:cNvPr id="14" name="Image 0" descr="Footprints icon">    </p:cNvPr>
          <p:cNvPicPr>
            <a:picLocks noChangeAspect="1"/>
          </p:cNvPicPr>
          <p:nvPr/>
        </p:nvPicPr>
        <p:blipFill>
          <a:blip r:embed="rId1"/>
          <a:stretch>
            <a:fillRect/>
          </a:stretch>
        </p:blipFill>
        <p:spPr>
          <a:xfrm>
            <a:off x="708477" y="1741749"/>
            <a:ext cx="174102" cy="174102"/>
          </a:xfrm>
          <a:prstGeom prst="rect">
            <a:avLst/>
          </a:prstGeom>
        </p:spPr>
      </p:pic>
      <p:sp>
        <p:nvSpPr>
          <p:cNvPr id="15" name="Text 11"/>
          <p:cNvSpPr txBox="1"/>
          <p:nvPr/>
        </p:nvSpPr>
        <p:spPr>
          <a:xfrm>
            <a:off x="1051560" y="1600200"/>
            <a:ext cx="4846320" cy="457200"/>
          </a:xfrm>
          <a:prstGeom prst="rect">
            <a:avLst/>
          </a:prstGeom>
          <a:noFill/>
          <a:ln/>
        </p:spPr>
        <p:txBody>
          <a:bodyPr wrap="square" lIns="0" tIns="0" rIns="0" bIns="0" rtlCol="0" anchor="ctr"/>
          <a:lstStyle/>
          <a:p>
            <a:pPr indent="0" marL="0">
              <a:buNone/>
            </a:pPr>
            <a:r>
              <a:rPr lang="en-US" sz="1250" b="1" dirty="0">
                <a:solidFill>
                  <a:schemeClr val="bg1"/>
                </a:solidFill>
              </a:rPr>
              <a:t>FoGO domain · detecting and cueing freezing of gait</a:t>
            </a:r>
            <a:endParaRPr lang="en-US" sz="1250" dirty="0"/>
          </a:p>
        </p:txBody>
      </p:sp>
      <p:sp>
        <p:nvSpPr>
          <p:cNvPr id="16" name="Icon disc LuDatabase"/>
          <p:cNvSpPr/>
          <p:nvPr/>
        </p:nvSpPr>
        <p:spPr>
          <a:xfrm>
            <a:off x="621792" y="2359152"/>
            <a:ext cx="365760" cy="365760"/>
          </a:xfrm>
          <a:prstGeom prst="ellipse">
            <a:avLst/>
          </a:prstGeom>
          <a:solidFill>
            <a:schemeClr val="accent6"/>
          </a:solidFill>
          <a:ln/>
        </p:spPr>
      </p:sp>
      <p:pic>
        <p:nvPicPr>
          <p:cNvPr id="17" name="Image 1" descr="Database icon">    </p:cNvPr>
          <p:cNvPicPr>
            <a:picLocks noChangeAspect="1"/>
          </p:cNvPicPr>
          <p:nvPr/>
        </p:nvPicPr>
        <p:blipFill>
          <a:blip r:embed="rId2"/>
          <a:stretch>
            <a:fillRect/>
          </a:stretch>
        </p:blipFill>
        <p:spPr>
          <a:xfrm>
            <a:off x="702259" y="2439619"/>
            <a:ext cx="204826" cy="204826"/>
          </a:xfrm>
          <a:prstGeom prst="rect">
            <a:avLst/>
          </a:prstGeom>
        </p:spPr>
      </p:pic>
      <p:sp>
        <p:nvSpPr>
          <p:cNvPr id="18" name="Text 13"/>
          <p:cNvSpPr txBox="1"/>
          <p:nvPr/>
        </p:nvSpPr>
        <p:spPr>
          <a:xfrm>
            <a:off x="1097280" y="2176272"/>
            <a:ext cx="3474720" cy="731520"/>
          </a:xfrm>
          <a:prstGeom prst="rect">
            <a:avLst/>
          </a:prstGeom>
          <a:noFill/>
          <a:ln/>
        </p:spPr>
        <p:txBody>
          <a:bodyPr wrap="square" lIns="0" tIns="0" rIns="0" bIns="0" rtlCol="0" anchor="ctr"/>
          <a:lstStyle/>
          <a:p>
            <a:pPr indent="0" marL="0">
              <a:buNone/>
            </a:pPr>
            <a:r>
              <a:rPr lang="en-US" sz="1050" b="1" dirty="0">
                <a:solidFill>
                  <a:schemeClr val="bg1"/>
                </a:solidFill>
              </a:rPr>
              <a:t>Daphnet benchmark (Bächlin 2010): </a:t>
            </a:r>
            <a:pPr indent="0" marL="0">
              <a:buNone/>
            </a:pPr>
            <a:r>
              <a:rPr lang="en-US" sz="1050" dirty="0">
                <a:solidFill>
                  <a:schemeClr val="bg1"/>
                </a:solidFill>
              </a:rPr>
              <a:t>10 patients in a laboratory, 8 froze, 237 video-labelled freezes</a:t>
            </a:r>
            <a:endParaRPr lang="en-US" sz="1050" dirty="0"/>
          </a:p>
        </p:txBody>
      </p:sp>
      <p:sp>
        <p:nvSpPr>
          <p:cNvPr id="19" name="Pill Benchmark, n = 10"/>
          <p:cNvSpPr/>
          <p:nvPr/>
        </p:nvSpPr>
        <p:spPr>
          <a:xfrm>
            <a:off x="4663440" y="2404872"/>
            <a:ext cx="1325880" cy="274320"/>
          </a:xfrm>
          <a:prstGeom prst="roundRect">
            <a:avLst>
              <a:gd name="adj" fmla="val 50000"/>
            </a:avLst>
          </a:prstGeom>
          <a:solidFill>
            <a:schemeClr val="accent4"/>
          </a:solidFill>
          <a:ln w="15875">
            <a:solidFill>
              <a:schemeClr val="accent4"/>
            </a:solidFill>
            <a:prstDash val="solid"/>
          </a:ln>
        </p:spPr>
      </p:sp>
      <p:sp>
        <p:nvSpPr>
          <p:cNvPr id="20" name="Text 15"/>
          <p:cNvSpPr txBox="1"/>
          <p:nvPr/>
        </p:nvSpPr>
        <p:spPr>
          <a:xfrm>
            <a:off x="4663440" y="2404872"/>
            <a:ext cx="1325880" cy="274320"/>
          </a:xfrm>
          <a:prstGeom prst="rect">
            <a:avLst/>
          </a:prstGeom>
          <a:noFill/>
          <a:ln/>
        </p:spPr>
        <p:txBody>
          <a:bodyPr wrap="square" lIns="0" tIns="0" rIns="0" bIns="0" rtlCol="0" anchor="ctr"/>
          <a:lstStyle/>
          <a:p>
            <a:pPr algn="ctr" indent="0" marL="0">
              <a:buNone/>
            </a:pPr>
            <a:r>
              <a:rPr lang="en-US" sz="900" b="1" dirty="0">
                <a:solidFill>
                  <a:schemeClr val="bg1"/>
                </a:solidFill>
              </a:rPr>
              <a:t>Benchmark, n = 10</a:t>
            </a:r>
            <a:endParaRPr lang="en-US" sz="900" dirty="0"/>
          </a:p>
        </p:txBody>
      </p:sp>
      <p:sp>
        <p:nvSpPr>
          <p:cNvPr id="21" name="Rule"/>
          <p:cNvSpPr/>
          <p:nvPr/>
        </p:nvSpPr>
        <p:spPr>
          <a:xfrm>
            <a:off x="548640" y="2907792"/>
            <a:ext cx="5440680" cy="0"/>
          </a:xfrm>
          <a:prstGeom prst="line">
            <a:avLst/>
          </a:prstGeom>
          <a:noFill/>
          <a:ln w="6350">
            <a:solidFill>
              <a:schemeClr val="accent6"/>
            </a:solidFill>
            <a:prstDash val="solid"/>
          </a:ln>
        </p:spPr>
      </p:sp>
      <p:sp>
        <p:nvSpPr>
          <p:cNvPr id="22" name="Icon disc LuSearch"/>
          <p:cNvSpPr/>
          <p:nvPr/>
        </p:nvSpPr>
        <p:spPr>
          <a:xfrm>
            <a:off x="621792" y="3090672"/>
            <a:ext cx="365760" cy="365760"/>
          </a:xfrm>
          <a:prstGeom prst="ellipse">
            <a:avLst/>
          </a:prstGeom>
          <a:solidFill>
            <a:schemeClr val="accent6"/>
          </a:solidFill>
          <a:ln/>
        </p:spPr>
      </p:sp>
      <p:pic>
        <p:nvPicPr>
          <p:cNvPr id="23" name="Image 2" descr="Search icon">    </p:cNvPr>
          <p:cNvPicPr>
            <a:picLocks noChangeAspect="1"/>
          </p:cNvPicPr>
          <p:nvPr/>
        </p:nvPicPr>
        <p:blipFill>
          <a:blip r:embed="rId3"/>
          <a:stretch>
            <a:fillRect/>
          </a:stretch>
        </p:blipFill>
        <p:spPr>
          <a:xfrm>
            <a:off x="702259" y="3171139"/>
            <a:ext cx="204826" cy="204826"/>
          </a:xfrm>
          <a:prstGeom prst="rect">
            <a:avLst/>
          </a:prstGeom>
        </p:spPr>
      </p:pic>
      <p:sp>
        <p:nvSpPr>
          <p:cNvPr id="24" name="Text 18"/>
          <p:cNvSpPr txBox="1"/>
          <p:nvPr/>
        </p:nvSpPr>
        <p:spPr>
          <a:xfrm>
            <a:off x="1097280" y="2907792"/>
            <a:ext cx="3474720" cy="731520"/>
          </a:xfrm>
          <a:prstGeom prst="rect">
            <a:avLst/>
          </a:prstGeom>
          <a:noFill/>
          <a:ln/>
        </p:spPr>
        <p:txBody>
          <a:bodyPr wrap="square" lIns="0" tIns="0" rIns="0" bIns="0" rtlCol="0" anchor="ctr"/>
          <a:lstStyle/>
          <a:p>
            <a:pPr indent="0" marL="0">
              <a:buNone/>
            </a:pPr>
            <a:r>
              <a:rPr lang="en-US" sz="1050" b="1" dirty="0">
                <a:solidFill>
                  <a:schemeClr val="bg1"/>
                </a:solidFill>
              </a:rPr>
              <a:t>Silva de Lima 2017, systematic review: </a:t>
            </a:r>
            <a:pPr indent="0" marL="0">
              <a:buNone/>
            </a:pPr>
            <a:r>
              <a:rPr lang="en-US" sz="1050" dirty="0">
                <a:solidFill>
                  <a:schemeClr val="bg1"/>
                </a:solidFill>
              </a:rPr>
              <a:t>sensitivity 73–100%, specificity 67–100%, mostly laboratory studies</a:t>
            </a:r>
            <a:endParaRPr lang="en-US" sz="1050" dirty="0"/>
          </a:p>
        </p:txBody>
      </p:sp>
      <p:sp>
        <p:nvSpPr>
          <p:cNvPr id="25" name="Pill Lab-dominant"/>
          <p:cNvSpPr/>
          <p:nvPr/>
        </p:nvSpPr>
        <p:spPr>
          <a:xfrm>
            <a:off x="4663440" y="3136392"/>
            <a:ext cx="1325880" cy="274320"/>
          </a:xfrm>
          <a:prstGeom prst="roundRect">
            <a:avLst>
              <a:gd name="adj" fmla="val 50000"/>
            </a:avLst>
          </a:prstGeom>
          <a:solidFill>
            <a:schemeClr val="accent2"/>
          </a:solidFill>
          <a:ln w="15875">
            <a:solidFill>
              <a:schemeClr val="accent2"/>
            </a:solidFill>
            <a:prstDash val="solid"/>
          </a:ln>
        </p:spPr>
      </p:sp>
      <p:sp>
        <p:nvSpPr>
          <p:cNvPr id="26" name="Text 20"/>
          <p:cNvSpPr txBox="1"/>
          <p:nvPr/>
        </p:nvSpPr>
        <p:spPr>
          <a:xfrm>
            <a:off x="4663440" y="3136392"/>
            <a:ext cx="1325880" cy="274320"/>
          </a:xfrm>
          <a:prstGeom prst="rect">
            <a:avLst/>
          </a:prstGeom>
          <a:noFill/>
          <a:ln/>
        </p:spPr>
        <p:txBody>
          <a:bodyPr wrap="square" lIns="0" tIns="0" rIns="0" bIns="0" rtlCol="0" anchor="ctr"/>
          <a:lstStyle/>
          <a:p>
            <a:pPr algn="ctr" indent="0" marL="0">
              <a:buNone/>
            </a:pPr>
            <a:r>
              <a:rPr lang="en-US" sz="900" b="1" dirty="0">
                <a:solidFill>
                  <a:schemeClr val="bg1"/>
                </a:solidFill>
              </a:rPr>
              <a:t>Lab-dominant</a:t>
            </a:r>
            <a:endParaRPr lang="en-US" sz="900" dirty="0"/>
          </a:p>
        </p:txBody>
      </p:sp>
      <p:sp>
        <p:nvSpPr>
          <p:cNvPr id="27" name="Rule"/>
          <p:cNvSpPr/>
          <p:nvPr/>
        </p:nvSpPr>
        <p:spPr>
          <a:xfrm>
            <a:off x="548640" y="3639312"/>
            <a:ext cx="5440680" cy="0"/>
          </a:xfrm>
          <a:prstGeom prst="line">
            <a:avLst/>
          </a:prstGeom>
          <a:noFill/>
          <a:ln w="6350">
            <a:solidFill>
              <a:schemeClr val="accent6"/>
            </a:solidFill>
            <a:prstDash val="solid"/>
          </a:ln>
        </p:spPr>
      </p:sp>
      <p:sp>
        <p:nvSpPr>
          <p:cNvPr id="28" name="Icon disc LuHouse"/>
          <p:cNvSpPr/>
          <p:nvPr/>
        </p:nvSpPr>
        <p:spPr>
          <a:xfrm>
            <a:off x="621792" y="3822192"/>
            <a:ext cx="365760" cy="365760"/>
          </a:xfrm>
          <a:prstGeom prst="ellipse">
            <a:avLst/>
          </a:prstGeom>
          <a:solidFill>
            <a:schemeClr val="accent6"/>
          </a:solidFill>
          <a:ln/>
        </p:spPr>
      </p:sp>
      <p:pic>
        <p:nvPicPr>
          <p:cNvPr id="29" name="Image 3" descr="House icon">    </p:cNvPr>
          <p:cNvPicPr>
            <a:picLocks noChangeAspect="1"/>
          </p:cNvPicPr>
          <p:nvPr/>
        </p:nvPicPr>
        <p:blipFill>
          <a:blip r:embed="rId4"/>
          <a:stretch>
            <a:fillRect/>
          </a:stretch>
        </p:blipFill>
        <p:spPr>
          <a:xfrm>
            <a:off x="702259" y="3902659"/>
            <a:ext cx="204826" cy="204826"/>
          </a:xfrm>
          <a:prstGeom prst="rect">
            <a:avLst/>
          </a:prstGeom>
        </p:spPr>
      </p:pic>
      <p:sp>
        <p:nvSpPr>
          <p:cNvPr id="30" name="Text 23"/>
          <p:cNvSpPr txBox="1"/>
          <p:nvPr/>
        </p:nvSpPr>
        <p:spPr>
          <a:xfrm>
            <a:off x="1097280" y="3639312"/>
            <a:ext cx="3474720" cy="731520"/>
          </a:xfrm>
          <a:prstGeom prst="rect">
            <a:avLst/>
          </a:prstGeom>
          <a:noFill/>
          <a:ln/>
        </p:spPr>
        <p:txBody>
          <a:bodyPr wrap="square" lIns="0" tIns="0" rIns="0" bIns="0" rtlCol="0" anchor="ctr"/>
          <a:lstStyle/>
          <a:p>
            <a:pPr indent="0" marL="0">
              <a:buNone/>
            </a:pPr>
            <a:r>
              <a:rPr lang="en-US" sz="1050" b="1" dirty="0">
                <a:solidFill>
                  <a:schemeClr val="bg1"/>
                </a:solidFill>
              </a:rPr>
              <a:t>RESCUE trial (n = 153, home cueing): </a:t>
            </a:r>
            <a:pPr indent="0" marL="0">
              <a:buNone/>
            </a:pPr>
            <a:r>
              <a:rPr lang="en-US" sz="1050" dirty="0">
                <a:solidFill>
                  <a:schemeClr val="bg1"/>
                </a:solidFill>
              </a:rPr>
              <a:t>small gait gains and lower freezing severity in freezers; fall counts not measured</a:t>
            </a:r>
            <a:endParaRPr lang="en-US" sz="1050" dirty="0"/>
          </a:p>
        </p:txBody>
      </p:sp>
      <p:sp>
        <p:nvSpPr>
          <p:cNvPr id="31" name="Pill Falls not measured"/>
          <p:cNvSpPr/>
          <p:nvPr/>
        </p:nvSpPr>
        <p:spPr>
          <a:xfrm>
            <a:off x="4663440" y="3867912"/>
            <a:ext cx="1325880" cy="274320"/>
          </a:xfrm>
          <a:prstGeom prst="roundRect">
            <a:avLst>
              <a:gd name="adj" fmla="val 50000"/>
            </a:avLst>
          </a:prstGeom>
          <a:solidFill>
            <a:schemeClr val="accent2"/>
          </a:solidFill>
          <a:ln w="15875">
            <a:solidFill>
              <a:schemeClr val="accent2"/>
            </a:solidFill>
            <a:prstDash val="solid"/>
          </a:ln>
        </p:spPr>
      </p:sp>
      <p:sp>
        <p:nvSpPr>
          <p:cNvPr id="32" name="Text 25"/>
          <p:cNvSpPr txBox="1"/>
          <p:nvPr/>
        </p:nvSpPr>
        <p:spPr>
          <a:xfrm>
            <a:off x="4663440" y="3867912"/>
            <a:ext cx="1325880" cy="274320"/>
          </a:xfrm>
          <a:prstGeom prst="rect">
            <a:avLst/>
          </a:prstGeom>
          <a:noFill/>
          <a:ln/>
        </p:spPr>
        <p:txBody>
          <a:bodyPr wrap="square" lIns="0" tIns="0" rIns="0" bIns="0" rtlCol="0" anchor="ctr"/>
          <a:lstStyle/>
          <a:p>
            <a:pPr algn="ctr" indent="0" marL="0">
              <a:buNone/>
            </a:pPr>
            <a:r>
              <a:rPr lang="en-US" sz="900" b="1" dirty="0">
                <a:solidFill>
                  <a:schemeClr val="bg1"/>
                </a:solidFill>
              </a:rPr>
              <a:t>Falls not measured</a:t>
            </a:r>
            <a:endParaRPr lang="en-US" sz="900" dirty="0"/>
          </a:p>
        </p:txBody>
      </p:sp>
      <p:sp>
        <p:nvSpPr>
          <p:cNvPr id="33" name="Rule"/>
          <p:cNvSpPr/>
          <p:nvPr/>
        </p:nvSpPr>
        <p:spPr>
          <a:xfrm>
            <a:off x="548640" y="4370832"/>
            <a:ext cx="5440680" cy="0"/>
          </a:xfrm>
          <a:prstGeom prst="line">
            <a:avLst/>
          </a:prstGeom>
          <a:noFill/>
          <a:ln w="6350">
            <a:solidFill>
              <a:schemeClr val="accent6"/>
            </a:solidFill>
            <a:prstDash val="solid"/>
          </a:ln>
        </p:spPr>
      </p:sp>
      <p:sp>
        <p:nvSpPr>
          <p:cNvPr id="34" name="Icon disc LuBookOpen"/>
          <p:cNvSpPr/>
          <p:nvPr/>
        </p:nvSpPr>
        <p:spPr>
          <a:xfrm>
            <a:off x="621792" y="4553712"/>
            <a:ext cx="365760" cy="365760"/>
          </a:xfrm>
          <a:prstGeom prst="ellipse">
            <a:avLst/>
          </a:prstGeom>
          <a:solidFill>
            <a:schemeClr val="accent6"/>
          </a:solidFill>
          <a:ln/>
        </p:spPr>
      </p:sp>
      <p:pic>
        <p:nvPicPr>
          <p:cNvPr id="35" name="Image 4" descr="BookOpen icon">    </p:cNvPr>
          <p:cNvPicPr>
            <a:picLocks noChangeAspect="1"/>
          </p:cNvPicPr>
          <p:nvPr/>
        </p:nvPicPr>
        <p:blipFill>
          <a:blip r:embed="rId5"/>
          <a:stretch>
            <a:fillRect/>
          </a:stretch>
        </p:blipFill>
        <p:spPr>
          <a:xfrm>
            <a:off x="702259" y="4634179"/>
            <a:ext cx="204826" cy="204826"/>
          </a:xfrm>
          <a:prstGeom prst="rect">
            <a:avLst/>
          </a:prstGeom>
        </p:spPr>
      </p:pic>
      <p:sp>
        <p:nvSpPr>
          <p:cNvPr id="36" name="Text 28"/>
          <p:cNvSpPr txBox="1"/>
          <p:nvPr/>
        </p:nvSpPr>
        <p:spPr>
          <a:xfrm>
            <a:off x="1097280" y="4370832"/>
            <a:ext cx="3474720" cy="731520"/>
          </a:xfrm>
          <a:prstGeom prst="rect">
            <a:avLst/>
          </a:prstGeom>
          <a:noFill/>
          <a:ln/>
        </p:spPr>
        <p:txBody>
          <a:bodyPr wrap="square" lIns="0" tIns="0" rIns="0" bIns="0" rtlCol="0" anchor="ctr"/>
          <a:lstStyle/>
          <a:p>
            <a:pPr indent="0" marL="0">
              <a:buNone/>
            </a:pPr>
            <a:r>
              <a:rPr lang="en-US" sz="1050" b="1" dirty="0">
                <a:solidFill>
                  <a:schemeClr val="bg1"/>
                </a:solidFill>
              </a:rPr>
              <a:t>Ginis 2018 narrative review: </a:t>
            </a:r>
            <a:pPr indent="0" marL="0">
              <a:buNone/>
            </a:pPr>
            <a:r>
              <a:rPr lang="en-US" sz="1050" dirty="0">
                <a:solidFill>
                  <a:schemeClr val="bg1"/>
                </a:solidFill>
              </a:rPr>
              <a:t>no trial found showing fewer falls from cueing, continuous or on-demand</a:t>
            </a:r>
            <a:endParaRPr lang="en-US" sz="1050" dirty="0"/>
          </a:p>
        </p:txBody>
      </p:sp>
      <p:sp>
        <p:nvSpPr>
          <p:cNvPr id="37" name="Pill Fewer falls: not shown"/>
          <p:cNvSpPr/>
          <p:nvPr/>
        </p:nvSpPr>
        <p:spPr>
          <a:xfrm>
            <a:off x="4663440" y="4599432"/>
            <a:ext cx="1325880" cy="274320"/>
          </a:xfrm>
          <a:prstGeom prst="roundRect">
            <a:avLst>
              <a:gd name="adj" fmla="val 50000"/>
            </a:avLst>
          </a:prstGeom>
          <a:solidFill>
            <a:schemeClr val="accent3"/>
          </a:solidFill>
          <a:ln w="15875">
            <a:solidFill>
              <a:schemeClr val="accent3"/>
            </a:solidFill>
            <a:prstDash val="solid"/>
          </a:ln>
        </p:spPr>
      </p:sp>
      <p:sp>
        <p:nvSpPr>
          <p:cNvPr id="38" name="Text 30"/>
          <p:cNvSpPr txBox="1"/>
          <p:nvPr/>
        </p:nvSpPr>
        <p:spPr>
          <a:xfrm>
            <a:off x="4663440" y="4599432"/>
            <a:ext cx="1325880" cy="274320"/>
          </a:xfrm>
          <a:prstGeom prst="rect">
            <a:avLst/>
          </a:prstGeom>
          <a:noFill/>
          <a:ln/>
        </p:spPr>
        <p:txBody>
          <a:bodyPr wrap="square" lIns="0" tIns="0" rIns="0" bIns="0" rtlCol="0" anchor="ctr"/>
          <a:lstStyle/>
          <a:p>
            <a:pPr algn="ctr" indent="0" marL="0">
              <a:buNone/>
            </a:pPr>
            <a:r>
              <a:rPr lang="en-US" sz="900" b="1" dirty="0">
                <a:solidFill>
                  <a:schemeClr val="bg1"/>
                </a:solidFill>
              </a:rPr>
              <a:t>Fewer falls: not shown</a:t>
            </a:r>
            <a:endParaRPr lang="en-US" sz="900" dirty="0"/>
          </a:p>
        </p:txBody>
      </p:sp>
      <p:sp>
        <p:nvSpPr>
          <p:cNvPr id="39" name="Rule"/>
          <p:cNvSpPr/>
          <p:nvPr/>
        </p:nvSpPr>
        <p:spPr>
          <a:xfrm>
            <a:off x="548640" y="5102352"/>
            <a:ext cx="5440680" cy="0"/>
          </a:xfrm>
          <a:prstGeom prst="line">
            <a:avLst/>
          </a:prstGeom>
          <a:noFill/>
          <a:ln w="6350">
            <a:solidFill>
              <a:schemeClr val="accent6"/>
            </a:solidFill>
            <a:prstDash val="solid"/>
          </a:ln>
        </p:spPr>
      </p:sp>
      <p:sp>
        <p:nvSpPr>
          <p:cNvPr id="40" name="Icon disc LuWatch"/>
          <p:cNvSpPr/>
          <p:nvPr/>
        </p:nvSpPr>
        <p:spPr>
          <a:xfrm>
            <a:off x="621792" y="5285232"/>
            <a:ext cx="365760" cy="365760"/>
          </a:xfrm>
          <a:prstGeom prst="ellipse">
            <a:avLst/>
          </a:prstGeom>
          <a:solidFill>
            <a:schemeClr val="accent6"/>
          </a:solidFill>
          <a:ln/>
        </p:spPr>
      </p:sp>
      <p:pic>
        <p:nvPicPr>
          <p:cNvPr id="41" name="Image 5" descr="Watch icon">    </p:cNvPr>
          <p:cNvPicPr>
            <a:picLocks noChangeAspect="1"/>
          </p:cNvPicPr>
          <p:nvPr/>
        </p:nvPicPr>
        <p:blipFill>
          <a:blip r:embed="rId6"/>
          <a:stretch>
            <a:fillRect/>
          </a:stretch>
        </p:blipFill>
        <p:spPr>
          <a:xfrm>
            <a:off x="702259" y="5365699"/>
            <a:ext cx="204826" cy="204826"/>
          </a:xfrm>
          <a:prstGeom prst="rect">
            <a:avLst/>
          </a:prstGeom>
        </p:spPr>
      </p:pic>
      <p:sp>
        <p:nvSpPr>
          <p:cNvPr id="42" name="Text 33"/>
          <p:cNvSpPr txBox="1"/>
          <p:nvPr/>
        </p:nvSpPr>
        <p:spPr>
          <a:xfrm>
            <a:off x="1097280" y="5102352"/>
            <a:ext cx="3474720" cy="731520"/>
          </a:xfrm>
          <a:prstGeom prst="rect">
            <a:avLst/>
          </a:prstGeom>
          <a:noFill/>
          <a:ln/>
        </p:spPr>
        <p:txBody>
          <a:bodyPr wrap="square" lIns="0" tIns="0" rIns="0" bIns="0" rtlCol="0" anchor="ctr"/>
          <a:lstStyle/>
          <a:p>
            <a:pPr indent="0" marL="0">
              <a:buNone/>
            </a:pPr>
            <a:r>
              <a:rPr lang="en-US" sz="1050" b="1" dirty="0">
                <a:solidFill>
                  <a:schemeClr val="bg1"/>
                </a:solidFill>
              </a:rPr>
              <a:t>FoGO: </a:t>
            </a:r>
            <a:pPr indent="0" marL="0">
              <a:buNone/>
            </a:pPr>
            <a:r>
              <a:rPr lang="en-US" sz="1050" dirty="0">
                <a:solidFill>
                  <a:schemeClr val="bg1"/>
                </a:solidFill>
              </a:rPr>
              <a:t>project-reported F1 on public datasets; prospective study planned, not done</a:t>
            </a:r>
            <a:endParaRPr lang="en-US" sz="1050" dirty="0"/>
          </a:p>
        </p:txBody>
      </p:sp>
      <p:sp>
        <p:nvSpPr>
          <p:cNvPr id="43" name="Pill Reported, preliminary"/>
          <p:cNvSpPr/>
          <p:nvPr/>
        </p:nvSpPr>
        <p:spPr>
          <a:xfrm>
            <a:off x="4663440" y="5330952"/>
            <a:ext cx="1325880" cy="274320"/>
          </a:xfrm>
          <a:prstGeom prst="roundRect">
            <a:avLst>
              <a:gd name="adj" fmla="val 50000"/>
            </a:avLst>
          </a:prstGeom>
          <a:solidFill>
            <a:schemeClr val="accent1"/>
          </a:solidFill>
          <a:ln w="15875">
            <a:solidFill>
              <a:schemeClr val="accent1"/>
            </a:solidFill>
            <a:prstDash val="solid"/>
          </a:ln>
        </p:spPr>
      </p:sp>
      <p:sp>
        <p:nvSpPr>
          <p:cNvPr id="44" name="Text 35"/>
          <p:cNvSpPr txBox="1"/>
          <p:nvPr/>
        </p:nvSpPr>
        <p:spPr>
          <a:xfrm>
            <a:off x="4663440" y="5330952"/>
            <a:ext cx="1325880" cy="274320"/>
          </a:xfrm>
          <a:prstGeom prst="rect">
            <a:avLst/>
          </a:prstGeom>
          <a:noFill/>
          <a:ln/>
        </p:spPr>
        <p:txBody>
          <a:bodyPr wrap="square" lIns="0" tIns="0" rIns="0" bIns="0" rtlCol="0" anchor="ctr"/>
          <a:lstStyle/>
          <a:p>
            <a:pPr algn="ctr" indent="0" marL="0">
              <a:buNone/>
            </a:pPr>
            <a:r>
              <a:rPr lang="en-US" sz="900" b="1" dirty="0">
                <a:solidFill>
                  <a:schemeClr val="bg1"/>
                </a:solidFill>
              </a:rPr>
              <a:t>Reported, preliminary</a:t>
            </a:r>
            <a:endParaRPr lang="en-US" sz="900" dirty="0"/>
          </a:p>
        </p:txBody>
      </p:sp>
      <p:sp>
        <p:nvSpPr>
          <p:cNvPr id="45" name="Column head SwaKnee domain · PEMF for knee osteoarthritis"/>
          <p:cNvSpPr/>
          <p:nvPr/>
        </p:nvSpPr>
        <p:spPr>
          <a:xfrm>
            <a:off x="6199632" y="1600200"/>
            <a:ext cx="5440680" cy="457200"/>
          </a:xfrm>
          <a:prstGeom prst="roundRect">
            <a:avLst>
              <a:gd name="adj" fmla="val 20000"/>
            </a:avLst>
          </a:prstGeom>
          <a:solidFill>
            <a:schemeClr val="accent4"/>
          </a:solidFill>
          <a:ln/>
        </p:spPr>
      </p:sp>
      <p:sp>
        <p:nvSpPr>
          <p:cNvPr id="46" name="Icon disc LuMagnet"/>
          <p:cNvSpPr/>
          <p:nvPr/>
        </p:nvSpPr>
        <p:spPr>
          <a:xfrm>
            <a:off x="6291072" y="1673352"/>
            <a:ext cx="310896" cy="310896"/>
          </a:xfrm>
          <a:prstGeom prst="ellipse">
            <a:avLst/>
          </a:prstGeom>
          <a:solidFill>
            <a:schemeClr val="bg1">
              <a:alpha val="20000"/>
            </a:schemeClr>
          </a:solidFill>
          <a:ln/>
        </p:spPr>
      </p:sp>
      <p:pic>
        <p:nvPicPr>
          <p:cNvPr id="47" name="Image 6" descr="Magnet icon">    </p:cNvPr>
          <p:cNvPicPr>
            <a:picLocks noChangeAspect="1"/>
          </p:cNvPicPr>
          <p:nvPr/>
        </p:nvPicPr>
        <p:blipFill>
          <a:blip r:embed="rId7"/>
          <a:stretch>
            <a:fillRect/>
          </a:stretch>
        </p:blipFill>
        <p:spPr>
          <a:xfrm>
            <a:off x="6359469" y="1741749"/>
            <a:ext cx="174102" cy="174102"/>
          </a:xfrm>
          <a:prstGeom prst="rect">
            <a:avLst/>
          </a:prstGeom>
        </p:spPr>
      </p:pic>
      <p:sp>
        <p:nvSpPr>
          <p:cNvPr id="48" name="Text 38"/>
          <p:cNvSpPr txBox="1"/>
          <p:nvPr/>
        </p:nvSpPr>
        <p:spPr>
          <a:xfrm>
            <a:off x="6702552" y="1600200"/>
            <a:ext cx="4846320" cy="457200"/>
          </a:xfrm>
          <a:prstGeom prst="rect">
            <a:avLst/>
          </a:prstGeom>
          <a:noFill/>
          <a:ln/>
        </p:spPr>
        <p:txBody>
          <a:bodyPr wrap="square" lIns="0" tIns="0" rIns="0" bIns="0" rtlCol="0" anchor="ctr"/>
          <a:lstStyle/>
          <a:p>
            <a:pPr indent="0" marL="0">
              <a:buNone/>
            </a:pPr>
            <a:r>
              <a:rPr lang="en-US" sz="1250" b="1" dirty="0">
                <a:solidFill>
                  <a:schemeClr val="bg1"/>
                </a:solidFill>
              </a:rPr>
              <a:t>SwaKnee domain · PEMF for knee osteoarthritis</a:t>
            </a:r>
            <a:endParaRPr lang="en-US" sz="1250" dirty="0"/>
          </a:p>
        </p:txBody>
      </p:sp>
      <p:sp>
        <p:nvSpPr>
          <p:cNvPr id="49" name="Icon disc LuBookMarked"/>
          <p:cNvSpPr/>
          <p:nvPr/>
        </p:nvSpPr>
        <p:spPr>
          <a:xfrm>
            <a:off x="6272784" y="2359152"/>
            <a:ext cx="365760" cy="365760"/>
          </a:xfrm>
          <a:prstGeom prst="ellipse">
            <a:avLst/>
          </a:prstGeom>
          <a:solidFill>
            <a:schemeClr val="accent6"/>
          </a:solidFill>
          <a:ln/>
        </p:spPr>
      </p:sp>
      <p:pic>
        <p:nvPicPr>
          <p:cNvPr id="50" name="Image 7" descr="BookMarked icon">    </p:cNvPr>
          <p:cNvPicPr>
            <a:picLocks noChangeAspect="1"/>
          </p:cNvPicPr>
          <p:nvPr/>
        </p:nvPicPr>
        <p:blipFill>
          <a:blip r:embed="rId8"/>
          <a:stretch>
            <a:fillRect/>
          </a:stretch>
        </p:blipFill>
        <p:spPr>
          <a:xfrm>
            <a:off x="6353251" y="2439619"/>
            <a:ext cx="204826" cy="204826"/>
          </a:xfrm>
          <a:prstGeom prst="rect">
            <a:avLst/>
          </a:prstGeom>
        </p:spPr>
      </p:pic>
      <p:sp>
        <p:nvSpPr>
          <p:cNvPr id="51" name="Text 40"/>
          <p:cNvSpPr txBox="1"/>
          <p:nvPr/>
        </p:nvSpPr>
        <p:spPr>
          <a:xfrm>
            <a:off x="6748272" y="2176272"/>
            <a:ext cx="3474720" cy="731520"/>
          </a:xfrm>
          <a:prstGeom prst="rect">
            <a:avLst/>
          </a:prstGeom>
          <a:noFill/>
          <a:ln/>
        </p:spPr>
        <p:txBody>
          <a:bodyPr wrap="square" lIns="0" tIns="0" rIns="0" bIns="0" rtlCol="0" anchor="ctr"/>
          <a:lstStyle/>
          <a:p>
            <a:pPr indent="0" marL="0">
              <a:buNone/>
            </a:pPr>
            <a:r>
              <a:rPr lang="en-US" sz="1050" b="1" dirty="0">
                <a:solidFill>
                  <a:schemeClr val="bg1"/>
                </a:solidFill>
              </a:rPr>
              <a:t>Cochrane 2013 (9 trials, 636 adults, all OA sites and field types): </a:t>
            </a:r>
            <a:pPr indent="0" marL="0">
              <a:buNone/>
            </a:pPr>
            <a:r>
              <a:rPr lang="en-US" sz="1050" dirty="0">
                <a:solidFill>
                  <a:schemeClr val="bg1"/>
                </a:solidFill>
              </a:rPr>
              <a:t>pain probably improves ≈15/100 more than sham; function uncertain</a:t>
            </a:r>
            <a:endParaRPr lang="en-US" sz="1050" dirty="0"/>
          </a:p>
        </p:txBody>
      </p:sp>
      <p:sp>
        <p:nvSpPr>
          <p:cNvPr id="52" name="Pill Moderate: pain only"/>
          <p:cNvSpPr/>
          <p:nvPr/>
        </p:nvSpPr>
        <p:spPr>
          <a:xfrm>
            <a:off x="10314432" y="2404872"/>
            <a:ext cx="1325880" cy="274320"/>
          </a:xfrm>
          <a:prstGeom prst="roundRect">
            <a:avLst>
              <a:gd name="adj" fmla="val 50000"/>
            </a:avLst>
          </a:prstGeom>
          <a:solidFill>
            <a:schemeClr val="accent1"/>
          </a:solidFill>
          <a:ln w="15875">
            <a:solidFill>
              <a:schemeClr val="accent1"/>
            </a:solidFill>
            <a:prstDash val="solid"/>
          </a:ln>
        </p:spPr>
      </p:sp>
      <p:sp>
        <p:nvSpPr>
          <p:cNvPr id="53" name="Text 42"/>
          <p:cNvSpPr txBox="1"/>
          <p:nvPr/>
        </p:nvSpPr>
        <p:spPr>
          <a:xfrm>
            <a:off x="10314432" y="2404872"/>
            <a:ext cx="1325880" cy="274320"/>
          </a:xfrm>
          <a:prstGeom prst="rect">
            <a:avLst/>
          </a:prstGeom>
          <a:noFill/>
          <a:ln/>
        </p:spPr>
        <p:txBody>
          <a:bodyPr wrap="square" lIns="0" tIns="0" rIns="0" bIns="0" rtlCol="0" anchor="ctr"/>
          <a:lstStyle/>
          <a:p>
            <a:pPr algn="ctr" indent="0" marL="0">
              <a:buNone/>
            </a:pPr>
            <a:r>
              <a:rPr lang="en-US" sz="900" b="1" dirty="0">
                <a:solidFill>
                  <a:schemeClr val="bg1"/>
                </a:solidFill>
              </a:rPr>
              <a:t>Moderate: pain only</a:t>
            </a:r>
            <a:endParaRPr lang="en-US" sz="900" dirty="0"/>
          </a:p>
        </p:txBody>
      </p:sp>
      <p:sp>
        <p:nvSpPr>
          <p:cNvPr id="54" name="Rule"/>
          <p:cNvSpPr/>
          <p:nvPr/>
        </p:nvSpPr>
        <p:spPr>
          <a:xfrm>
            <a:off x="6199632" y="2907792"/>
            <a:ext cx="5440680" cy="0"/>
          </a:xfrm>
          <a:prstGeom prst="line">
            <a:avLst/>
          </a:prstGeom>
          <a:noFill/>
          <a:ln w="6350">
            <a:solidFill>
              <a:schemeClr val="accent6"/>
            </a:solidFill>
            <a:prstDash val="solid"/>
          </a:ln>
        </p:spPr>
      </p:sp>
      <p:sp>
        <p:nvSpPr>
          <p:cNvPr id="55" name="Icon disc LuScale"/>
          <p:cNvSpPr/>
          <p:nvPr/>
        </p:nvSpPr>
        <p:spPr>
          <a:xfrm>
            <a:off x="6272784" y="3090672"/>
            <a:ext cx="365760" cy="365760"/>
          </a:xfrm>
          <a:prstGeom prst="ellipse">
            <a:avLst/>
          </a:prstGeom>
          <a:solidFill>
            <a:schemeClr val="accent6"/>
          </a:solidFill>
          <a:ln/>
        </p:spPr>
      </p:sp>
      <p:pic>
        <p:nvPicPr>
          <p:cNvPr id="56" name="Image 8" descr="Scale icon">    </p:cNvPr>
          <p:cNvPicPr>
            <a:picLocks noChangeAspect="1"/>
          </p:cNvPicPr>
          <p:nvPr/>
        </p:nvPicPr>
        <p:blipFill>
          <a:blip r:embed="rId9"/>
          <a:stretch>
            <a:fillRect/>
          </a:stretch>
        </p:blipFill>
        <p:spPr>
          <a:xfrm>
            <a:off x="6353251" y="3171139"/>
            <a:ext cx="204826" cy="204826"/>
          </a:xfrm>
          <a:prstGeom prst="rect">
            <a:avLst/>
          </a:prstGeom>
        </p:spPr>
      </p:pic>
      <p:sp>
        <p:nvSpPr>
          <p:cNvPr id="57" name="Text 45"/>
          <p:cNvSpPr txBox="1"/>
          <p:nvPr/>
        </p:nvSpPr>
        <p:spPr>
          <a:xfrm>
            <a:off x="6748272" y="2907792"/>
            <a:ext cx="3474720" cy="731520"/>
          </a:xfrm>
          <a:prstGeom prst="rect">
            <a:avLst/>
          </a:prstGeom>
          <a:noFill/>
          <a:ln/>
        </p:spPr>
        <p:txBody>
          <a:bodyPr wrap="square" lIns="0" tIns="0" rIns="0" bIns="0" rtlCol="0" anchor="ctr"/>
          <a:lstStyle/>
          <a:p>
            <a:pPr indent="0" marL="0">
              <a:buNone/>
            </a:pPr>
            <a:r>
              <a:rPr lang="en-US" sz="1050" b="1" dirty="0">
                <a:solidFill>
                  <a:schemeClr val="bg1"/>
                </a:solidFill>
              </a:rPr>
              <a:t>Chen 2019 (knee, 8 RCTs): </a:t>
            </a:r>
            <a:pPr indent="0" marL="0">
              <a:buNone/>
            </a:pPr>
            <a:r>
              <a:rPr lang="en-US" sz="1050" dirty="0">
                <a:solidFill>
                  <a:schemeClr val="bg1"/>
                </a:solidFill>
              </a:rPr>
              <a:t>no pain advantage vs placebo. </a:t>
            </a:r>
            <a:pPr indent="0" marL="0">
              <a:buNone/>
            </a:pPr>
            <a:r>
              <a:rPr lang="en-US" sz="1050" b="1" dirty="0">
                <a:solidFill>
                  <a:schemeClr val="bg1"/>
                </a:solidFill>
              </a:rPr>
              <a:t>Yang 2020 (all sites, 16 RCTs): </a:t>
            </a:r>
            <a:pPr indent="0" marL="0">
              <a:buNone/>
            </a:pPr>
            <a:r>
              <a:rPr lang="en-US" sz="1050" dirty="0">
                <a:solidFill>
                  <a:schemeClr val="bg1"/>
                </a:solidFill>
              </a:rPr>
              <a:t>an advantage</a:t>
            </a:r>
            <a:endParaRPr lang="en-US" sz="1050" dirty="0"/>
          </a:p>
        </p:txBody>
      </p:sp>
      <p:sp>
        <p:nvSpPr>
          <p:cNvPr id="58" name="Pill Reviews disagree"/>
          <p:cNvSpPr/>
          <p:nvPr/>
        </p:nvSpPr>
        <p:spPr>
          <a:xfrm>
            <a:off x="10314432" y="3136392"/>
            <a:ext cx="1325880" cy="274320"/>
          </a:xfrm>
          <a:prstGeom prst="roundRect">
            <a:avLst>
              <a:gd name="adj" fmla="val 50000"/>
            </a:avLst>
          </a:prstGeom>
          <a:solidFill>
            <a:schemeClr val="accent2"/>
          </a:solidFill>
          <a:ln w="15875">
            <a:solidFill>
              <a:schemeClr val="accent2"/>
            </a:solidFill>
            <a:prstDash val="solid"/>
          </a:ln>
        </p:spPr>
      </p:sp>
      <p:sp>
        <p:nvSpPr>
          <p:cNvPr id="59" name="Text 47"/>
          <p:cNvSpPr txBox="1"/>
          <p:nvPr/>
        </p:nvSpPr>
        <p:spPr>
          <a:xfrm>
            <a:off x="10314432" y="3136392"/>
            <a:ext cx="1325880" cy="274320"/>
          </a:xfrm>
          <a:prstGeom prst="rect">
            <a:avLst/>
          </a:prstGeom>
          <a:noFill/>
          <a:ln/>
        </p:spPr>
        <p:txBody>
          <a:bodyPr wrap="square" lIns="0" tIns="0" rIns="0" bIns="0" rtlCol="0" anchor="ctr"/>
          <a:lstStyle/>
          <a:p>
            <a:pPr algn="ctr" indent="0" marL="0">
              <a:buNone/>
            </a:pPr>
            <a:r>
              <a:rPr lang="en-US" sz="900" b="1" dirty="0">
                <a:solidFill>
                  <a:schemeClr val="bg1"/>
                </a:solidFill>
              </a:rPr>
              <a:t>Reviews disagree</a:t>
            </a:r>
            <a:endParaRPr lang="en-US" sz="900" dirty="0"/>
          </a:p>
        </p:txBody>
      </p:sp>
      <p:sp>
        <p:nvSpPr>
          <p:cNvPr id="60" name="Rule"/>
          <p:cNvSpPr/>
          <p:nvPr/>
        </p:nvSpPr>
        <p:spPr>
          <a:xfrm>
            <a:off x="6199632" y="3639312"/>
            <a:ext cx="5440680" cy="0"/>
          </a:xfrm>
          <a:prstGeom prst="line">
            <a:avLst/>
          </a:prstGeom>
          <a:noFill/>
          <a:ln w="6350">
            <a:solidFill>
              <a:schemeClr val="accent6"/>
            </a:solidFill>
            <a:prstDash val="solid"/>
          </a:ln>
        </p:spPr>
      </p:sp>
      <p:sp>
        <p:nvSpPr>
          <p:cNvPr id="61" name="Icon disc LuGavel"/>
          <p:cNvSpPr/>
          <p:nvPr/>
        </p:nvSpPr>
        <p:spPr>
          <a:xfrm>
            <a:off x="6272784" y="3822192"/>
            <a:ext cx="365760" cy="365760"/>
          </a:xfrm>
          <a:prstGeom prst="ellipse">
            <a:avLst/>
          </a:prstGeom>
          <a:solidFill>
            <a:schemeClr val="accent6"/>
          </a:solidFill>
          <a:ln/>
        </p:spPr>
      </p:sp>
      <p:pic>
        <p:nvPicPr>
          <p:cNvPr id="62" name="Image 9" descr="Gavel icon">    </p:cNvPr>
          <p:cNvPicPr>
            <a:picLocks noChangeAspect="1"/>
          </p:cNvPicPr>
          <p:nvPr/>
        </p:nvPicPr>
        <p:blipFill>
          <a:blip r:embed="rId10"/>
          <a:stretch>
            <a:fillRect/>
          </a:stretch>
        </p:blipFill>
        <p:spPr>
          <a:xfrm>
            <a:off x="6353251" y="3902659"/>
            <a:ext cx="204826" cy="204826"/>
          </a:xfrm>
          <a:prstGeom prst="rect">
            <a:avLst/>
          </a:prstGeom>
        </p:spPr>
      </p:pic>
      <p:sp>
        <p:nvSpPr>
          <p:cNvPr id="63" name="Text 50"/>
          <p:cNvSpPr txBox="1"/>
          <p:nvPr/>
        </p:nvSpPr>
        <p:spPr>
          <a:xfrm>
            <a:off x="6748272" y="3639312"/>
            <a:ext cx="3474720" cy="731520"/>
          </a:xfrm>
          <a:prstGeom prst="rect">
            <a:avLst/>
          </a:prstGeom>
          <a:noFill/>
          <a:ln/>
        </p:spPr>
        <p:txBody>
          <a:bodyPr wrap="square" lIns="0" tIns="0" rIns="0" bIns="0" rtlCol="0" anchor="ctr"/>
          <a:lstStyle/>
          <a:p>
            <a:pPr indent="0" marL="0">
              <a:buNone/>
            </a:pPr>
            <a:r>
              <a:rPr lang="en-US" sz="1050" b="1" dirty="0">
                <a:solidFill>
                  <a:schemeClr val="bg1"/>
                </a:solidFill>
              </a:rPr>
              <a:t>OARSI 2019 guideline: </a:t>
            </a:r>
            <a:pPr indent="0" marL="0">
              <a:buNone/>
            </a:pPr>
            <a:r>
              <a:rPr lang="en-US" sz="1050" dirty="0">
                <a:solidFill>
                  <a:schemeClr val="bg1"/>
                </a:solidFill>
              </a:rPr>
              <a:t>electromagnetic therapy strongly recommended against (low-quality evidence)</a:t>
            </a:r>
            <a:endParaRPr lang="en-US" sz="1050" dirty="0"/>
          </a:p>
        </p:txBody>
      </p:sp>
      <p:sp>
        <p:nvSpPr>
          <p:cNvPr id="64" name="Pill Strongly against"/>
          <p:cNvSpPr/>
          <p:nvPr/>
        </p:nvSpPr>
        <p:spPr>
          <a:xfrm>
            <a:off x="10314432" y="3867912"/>
            <a:ext cx="1325880" cy="274320"/>
          </a:xfrm>
          <a:prstGeom prst="roundRect">
            <a:avLst>
              <a:gd name="adj" fmla="val 50000"/>
            </a:avLst>
          </a:prstGeom>
          <a:solidFill>
            <a:schemeClr val="accent3"/>
          </a:solidFill>
          <a:ln w="15875">
            <a:solidFill>
              <a:schemeClr val="accent3"/>
            </a:solidFill>
            <a:prstDash val="solid"/>
          </a:ln>
        </p:spPr>
      </p:sp>
      <p:sp>
        <p:nvSpPr>
          <p:cNvPr id="65" name="Text 52"/>
          <p:cNvSpPr txBox="1"/>
          <p:nvPr/>
        </p:nvSpPr>
        <p:spPr>
          <a:xfrm>
            <a:off x="10314432" y="3867912"/>
            <a:ext cx="1325880" cy="274320"/>
          </a:xfrm>
          <a:prstGeom prst="rect">
            <a:avLst/>
          </a:prstGeom>
          <a:noFill/>
          <a:ln/>
        </p:spPr>
        <p:txBody>
          <a:bodyPr wrap="square" lIns="0" tIns="0" rIns="0" bIns="0" rtlCol="0" anchor="ctr"/>
          <a:lstStyle/>
          <a:p>
            <a:pPr algn="ctr" indent="0" marL="0">
              <a:buNone/>
            </a:pPr>
            <a:r>
              <a:rPr lang="en-US" sz="900" b="1" dirty="0">
                <a:solidFill>
                  <a:schemeClr val="bg1"/>
                </a:solidFill>
              </a:rPr>
              <a:t>Strongly against</a:t>
            </a:r>
            <a:endParaRPr lang="en-US" sz="900" dirty="0"/>
          </a:p>
        </p:txBody>
      </p:sp>
      <p:sp>
        <p:nvSpPr>
          <p:cNvPr id="66" name="Rule"/>
          <p:cNvSpPr/>
          <p:nvPr/>
        </p:nvSpPr>
        <p:spPr>
          <a:xfrm>
            <a:off x="6199632" y="4370832"/>
            <a:ext cx="5440680" cy="0"/>
          </a:xfrm>
          <a:prstGeom prst="line">
            <a:avLst/>
          </a:prstGeom>
          <a:noFill/>
          <a:ln w="6350">
            <a:solidFill>
              <a:schemeClr val="accent6"/>
            </a:solidFill>
            <a:prstDash val="solid"/>
          </a:ln>
        </p:spPr>
      </p:sp>
      <p:sp>
        <p:nvSpPr>
          <p:cNvPr id="67" name="Icon disc LuLandmark"/>
          <p:cNvSpPr/>
          <p:nvPr/>
        </p:nvSpPr>
        <p:spPr>
          <a:xfrm>
            <a:off x="6272784" y="4553712"/>
            <a:ext cx="365760" cy="365760"/>
          </a:xfrm>
          <a:prstGeom prst="ellipse">
            <a:avLst/>
          </a:prstGeom>
          <a:solidFill>
            <a:schemeClr val="accent6"/>
          </a:solidFill>
          <a:ln/>
        </p:spPr>
      </p:sp>
      <p:pic>
        <p:nvPicPr>
          <p:cNvPr id="68" name="Image 10" descr="Landmark icon">    </p:cNvPr>
          <p:cNvPicPr>
            <a:picLocks noChangeAspect="1"/>
          </p:cNvPicPr>
          <p:nvPr/>
        </p:nvPicPr>
        <p:blipFill>
          <a:blip r:embed="rId11"/>
          <a:stretch>
            <a:fillRect/>
          </a:stretch>
        </p:blipFill>
        <p:spPr>
          <a:xfrm>
            <a:off x="6353251" y="4634179"/>
            <a:ext cx="204826" cy="204826"/>
          </a:xfrm>
          <a:prstGeom prst="rect">
            <a:avLst/>
          </a:prstGeom>
        </p:spPr>
      </p:pic>
      <p:sp>
        <p:nvSpPr>
          <p:cNvPr id="69" name="Text 55"/>
          <p:cNvSpPr txBox="1"/>
          <p:nvPr/>
        </p:nvSpPr>
        <p:spPr>
          <a:xfrm>
            <a:off x="6748272" y="4370832"/>
            <a:ext cx="3474720" cy="731520"/>
          </a:xfrm>
          <a:prstGeom prst="rect">
            <a:avLst/>
          </a:prstGeom>
          <a:noFill/>
          <a:ln/>
        </p:spPr>
        <p:txBody>
          <a:bodyPr wrap="square" lIns="0" tIns="0" rIns="0" bIns="0" rtlCol="0" anchor="ctr"/>
          <a:lstStyle/>
          <a:p>
            <a:pPr indent="0" marL="0">
              <a:buNone/>
            </a:pPr>
            <a:r>
              <a:rPr lang="en-US" sz="1050" b="1" dirty="0">
                <a:solidFill>
                  <a:schemeClr val="bg1"/>
                </a:solidFill>
              </a:rPr>
              <a:t>NICE NG226 (2022): </a:t>
            </a:r>
            <a:pPr indent="0" marL="0">
              <a:buNone/>
            </a:pPr>
            <a:r>
              <a:rPr lang="en-US" sz="1050" dirty="0">
                <a:solidFill>
                  <a:schemeClr val="bg1"/>
                </a:solidFill>
              </a:rPr>
              <a:t>do not offer listed electrotherapies, insufficient evidence of benefit (list does not name PEMF)</a:t>
            </a:r>
            <a:endParaRPr lang="en-US" sz="1050" dirty="0"/>
          </a:p>
        </p:txBody>
      </p:sp>
      <p:sp>
        <p:nvSpPr>
          <p:cNvPr id="70" name="Pill Insufficient evidence"/>
          <p:cNvSpPr/>
          <p:nvPr/>
        </p:nvSpPr>
        <p:spPr>
          <a:xfrm>
            <a:off x="10314432" y="4599432"/>
            <a:ext cx="1325880" cy="274320"/>
          </a:xfrm>
          <a:prstGeom prst="roundRect">
            <a:avLst>
              <a:gd name="adj" fmla="val 50000"/>
            </a:avLst>
          </a:prstGeom>
          <a:solidFill>
            <a:schemeClr val="accent3"/>
          </a:solidFill>
          <a:ln w="15875">
            <a:solidFill>
              <a:schemeClr val="accent3"/>
            </a:solidFill>
            <a:prstDash val="solid"/>
          </a:ln>
        </p:spPr>
      </p:sp>
      <p:sp>
        <p:nvSpPr>
          <p:cNvPr id="71" name="Text 57"/>
          <p:cNvSpPr txBox="1"/>
          <p:nvPr/>
        </p:nvSpPr>
        <p:spPr>
          <a:xfrm>
            <a:off x="10314432" y="4599432"/>
            <a:ext cx="1325880" cy="274320"/>
          </a:xfrm>
          <a:prstGeom prst="rect">
            <a:avLst/>
          </a:prstGeom>
          <a:noFill/>
          <a:ln/>
        </p:spPr>
        <p:txBody>
          <a:bodyPr wrap="square" lIns="0" tIns="0" rIns="0" bIns="0" rtlCol="0" anchor="ctr"/>
          <a:lstStyle/>
          <a:p>
            <a:pPr algn="ctr" indent="0" marL="0">
              <a:buNone/>
            </a:pPr>
            <a:r>
              <a:rPr lang="en-US" sz="900" b="1" dirty="0">
                <a:solidFill>
                  <a:schemeClr val="bg1"/>
                </a:solidFill>
              </a:rPr>
              <a:t>Insufficient evidence</a:t>
            </a:r>
            <a:endParaRPr lang="en-US" sz="900" dirty="0"/>
          </a:p>
        </p:txBody>
      </p:sp>
      <p:sp>
        <p:nvSpPr>
          <p:cNvPr id="72" name="Rule"/>
          <p:cNvSpPr/>
          <p:nvPr/>
        </p:nvSpPr>
        <p:spPr>
          <a:xfrm>
            <a:off x="6199632" y="5102352"/>
            <a:ext cx="5440680" cy="0"/>
          </a:xfrm>
          <a:prstGeom prst="line">
            <a:avLst/>
          </a:prstGeom>
          <a:noFill/>
          <a:ln w="6350">
            <a:solidFill>
              <a:schemeClr val="accent6"/>
            </a:solidFill>
            <a:prstDash val="solid"/>
          </a:ln>
        </p:spPr>
      </p:sp>
      <p:sp>
        <p:nvSpPr>
          <p:cNvPr id="73" name="Icon disc LuBone"/>
          <p:cNvSpPr/>
          <p:nvPr/>
        </p:nvSpPr>
        <p:spPr>
          <a:xfrm>
            <a:off x="6272784" y="5285232"/>
            <a:ext cx="365760" cy="365760"/>
          </a:xfrm>
          <a:prstGeom prst="ellipse">
            <a:avLst/>
          </a:prstGeom>
          <a:solidFill>
            <a:schemeClr val="accent6"/>
          </a:solidFill>
          <a:ln/>
        </p:spPr>
      </p:sp>
      <p:pic>
        <p:nvPicPr>
          <p:cNvPr id="74" name="Image 11" descr="Bone icon">    </p:cNvPr>
          <p:cNvPicPr>
            <a:picLocks noChangeAspect="1"/>
          </p:cNvPicPr>
          <p:nvPr/>
        </p:nvPicPr>
        <p:blipFill>
          <a:blip r:embed="rId12"/>
          <a:stretch>
            <a:fillRect/>
          </a:stretch>
        </p:blipFill>
        <p:spPr>
          <a:xfrm>
            <a:off x="6353251" y="5365699"/>
            <a:ext cx="204826" cy="204826"/>
          </a:xfrm>
          <a:prstGeom prst="rect">
            <a:avLst/>
          </a:prstGeom>
        </p:spPr>
      </p:pic>
      <p:sp>
        <p:nvSpPr>
          <p:cNvPr id="75" name="Text 60"/>
          <p:cNvSpPr txBox="1"/>
          <p:nvPr/>
        </p:nvSpPr>
        <p:spPr>
          <a:xfrm>
            <a:off x="6748272" y="5102352"/>
            <a:ext cx="3474720" cy="731520"/>
          </a:xfrm>
          <a:prstGeom prst="rect">
            <a:avLst/>
          </a:prstGeom>
          <a:noFill/>
          <a:ln/>
        </p:spPr>
        <p:txBody>
          <a:bodyPr wrap="square" lIns="0" tIns="0" rIns="0" bIns="0" rtlCol="0" anchor="ctr"/>
          <a:lstStyle/>
          <a:p>
            <a:pPr indent="0" marL="0">
              <a:buNone/>
            </a:pPr>
            <a:r>
              <a:rPr lang="en-US" sz="1050" b="1" dirty="0">
                <a:solidFill>
                  <a:schemeClr val="bg1"/>
                </a:solidFill>
              </a:rPr>
              <a:t>Cartilage regrowth: </a:t>
            </a:r>
            <a:pPr indent="0" marL="0">
              <a:buNone/>
            </a:pPr>
            <a:r>
              <a:rPr lang="en-US" sz="1050" dirty="0">
                <a:solidFill>
                  <a:schemeClr val="bg1"/>
                </a:solidFill>
              </a:rPr>
              <a:t>no human evidence found in any review; pooled outcomes are pain, stiffness, function</a:t>
            </a:r>
            <a:endParaRPr lang="en-US" sz="1050" dirty="0"/>
          </a:p>
        </p:txBody>
      </p:sp>
      <p:sp>
        <p:nvSpPr>
          <p:cNvPr id="76" name="Pill Not established"/>
          <p:cNvSpPr/>
          <p:nvPr/>
        </p:nvSpPr>
        <p:spPr>
          <a:xfrm>
            <a:off x="10314432" y="5330952"/>
            <a:ext cx="1325880" cy="274320"/>
          </a:xfrm>
          <a:prstGeom prst="roundRect">
            <a:avLst>
              <a:gd name="adj" fmla="val 50000"/>
            </a:avLst>
          </a:prstGeom>
          <a:solidFill>
            <a:schemeClr val="accent3"/>
          </a:solidFill>
          <a:ln w="15875">
            <a:solidFill>
              <a:schemeClr val="accent3"/>
            </a:solidFill>
            <a:prstDash val="solid"/>
          </a:ln>
        </p:spPr>
      </p:sp>
      <p:sp>
        <p:nvSpPr>
          <p:cNvPr id="77" name="Text 62"/>
          <p:cNvSpPr txBox="1"/>
          <p:nvPr/>
        </p:nvSpPr>
        <p:spPr>
          <a:xfrm>
            <a:off x="10314432" y="5330952"/>
            <a:ext cx="1325880" cy="274320"/>
          </a:xfrm>
          <a:prstGeom prst="rect">
            <a:avLst/>
          </a:prstGeom>
          <a:noFill/>
          <a:ln/>
        </p:spPr>
        <p:txBody>
          <a:bodyPr wrap="square" lIns="0" tIns="0" rIns="0" bIns="0" rtlCol="0" anchor="ctr"/>
          <a:lstStyle/>
          <a:p>
            <a:pPr algn="ctr" indent="0" marL="0">
              <a:buNone/>
            </a:pPr>
            <a:r>
              <a:rPr lang="en-US" sz="900" b="1" dirty="0">
                <a:solidFill>
                  <a:schemeClr val="bg1"/>
                </a:solidFill>
              </a:rPr>
              <a:t>Not established</a:t>
            </a:r>
            <a:endParaRPr lang="en-US" sz="900" dirty="0"/>
          </a:p>
        </p:txBody>
      </p:sp>
      <p:sp>
        <p:nvSpPr>
          <p:cNvPr id="78" name="Text 63"/>
          <p:cNvSpPr txBox="1"/>
          <p:nvPr/>
        </p:nvSpPr>
        <p:spPr>
          <a:xfrm>
            <a:off x="548640" y="5897880"/>
            <a:ext cx="11091672" cy="292608"/>
          </a:xfrm>
          <a:prstGeom prst="rect">
            <a:avLst/>
          </a:prstGeom>
          <a:noFill/>
          <a:ln/>
        </p:spPr>
        <p:txBody>
          <a:bodyPr wrap="square" lIns="0" tIns="0" rIns="0" bIns="0" rtlCol="0" anchor="t"/>
          <a:lstStyle/>
          <a:p>
            <a:pPr indent="0" marL="0">
              <a:buNone/>
            </a:pPr>
            <a:r>
              <a:rPr lang="en-US" sz="950" i="1" dirty="0">
                <a:solidFill>
                  <a:schemeClr val="accent6"/>
                </a:solidFill>
              </a:rPr>
              <a:t>“Not found” in our searches is not proof of absence. Cochrane 2013 pooled all osteoarthritis sites and field types; NICE NG226's list does not name PEMF explicitly.</a:t>
            </a: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EVIDENCE · EQUITY</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An average can hide a patient</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Sjoding et al., NEJM 2020; US FDA pulse-oximeter draft guidance, 7 Jan 2025; MRCT Center diversity guidance (2020); Stanford Biodesign health equity</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02952" y="347472"/>
            <a:ext cx="219456" cy="219456"/>
          </a:xfrm>
          <a:prstGeom prst="ellipse">
            <a:avLst/>
          </a:prstGeom>
          <a:solidFill>
            <a:schemeClr val="accent1"/>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bg1"/>
          </a:solidFill>
          <a:ln w="12700">
            <a:solidFill>
              <a:schemeClr val="accent5"/>
            </a:solidFill>
            <a:prstDash val="solid"/>
          </a:ln>
        </p:spPr>
      </p:sp>
      <p:sp>
        <p:nvSpPr>
          <p:cNvPr id="8" name="Progress Permission"/>
          <p:cNvSpPr/>
          <p:nvPr/>
        </p:nvSpPr>
        <p:spPr>
          <a:xfrm>
            <a:off x="10680192" y="393192"/>
            <a:ext cx="128016" cy="128016"/>
          </a:xfrm>
          <a:prstGeom prst="ellipse">
            <a:avLst/>
          </a:prstGeom>
          <a:solidFill>
            <a:schemeClr val="bg1"/>
          </a:solidFill>
          <a:ln w="12700">
            <a:solidFill>
              <a:schemeClr val="accent5"/>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graphicFrame>
        <p:nvGraphicFramePr>
          <p:cNvPr id="12" name="Chart 0" descr=""/>
          <p:cNvGraphicFramePr/>
          <p:nvPr/>
        </p:nvGraphicFramePr>
        <p:xfrm>
          <a:off x="548640" y="1572768"/>
          <a:ext cx="4754880" cy="2514600"/>
        </p:xfrm>
        <a:graphic xmlns:a="http://schemas.openxmlformats.org/drawingml/2006/main">
          <a:graphicData uri="http://schemas.openxmlformats.org/drawingml/2006/chart">
            <c:chart xmlns:c="http://schemas.openxmlformats.org/drawingml/2006/chart" r:id="rId1"/>
          </a:graphicData>
        </a:graphic>
      </p:graphicFrame>
      <p:sp>
        <p:nvSpPr>
          <p:cNvPr id="13" name="Sjoding detail"/>
          <p:cNvSpPr/>
          <p:nvPr/>
        </p:nvSpPr>
        <p:spPr>
          <a:xfrm>
            <a:off x="548640" y="4206240"/>
            <a:ext cx="4754880" cy="868680"/>
          </a:xfrm>
          <a:prstGeom prst="roundRect">
            <a:avLst>
              <a:gd name="adj" fmla="val 14737"/>
            </a:avLst>
          </a:prstGeom>
          <a:solidFill>
            <a:schemeClr val="bg2"/>
          </a:solidFill>
          <a:ln/>
        </p:spPr>
      </p:sp>
      <p:sp>
        <p:nvSpPr>
          <p:cNvPr id="14" name="Text 10"/>
          <p:cNvSpPr txBox="1"/>
          <p:nvPr/>
        </p:nvSpPr>
        <p:spPr>
          <a:xfrm>
            <a:off x="685800" y="4251960"/>
            <a:ext cx="4480560" cy="777240"/>
          </a:xfrm>
          <a:prstGeom prst="rect">
            <a:avLst/>
          </a:prstGeom>
          <a:noFill/>
          <a:ln/>
        </p:spPr>
        <p:txBody>
          <a:bodyPr wrap="square" lIns="0" tIns="0" rIns="0" bIns="0" rtlCol="0" anchor="ctr"/>
          <a:lstStyle/>
          <a:p>
            <a:pPr indent="0" marL="0">
              <a:buNone/>
            </a:pPr>
            <a:r>
              <a:rPr lang="en-US" sz="950" b="1" dirty="0">
                <a:solidFill>
                  <a:schemeClr val="tx2"/>
                </a:solidFill>
              </a:rPr>
              <a:t>Sjoding et al., NEJM 2020. </a:t>
            </a:r>
            <a:pPr indent="0" marL="0">
              <a:buNone/>
            </a:pPr>
            <a:r>
              <a:rPr lang="en-US" sz="950" dirty="0">
                <a:solidFill>
                  <a:schemeClr val="tx2"/>
                </a:solidFill>
              </a:rPr>
              <a:t>88 of 749 vs 99 of 2,778 paired measurements (95% CI 8.5–16.0 vs 2.7–4.7), University of Michigan cohort. Observational; race recorded, pigmentation not measured. It shows a device that looked accurate on average missing dangerous hypoxaemia three times as often in one group; it does not justify a race-based correction.</a:t>
            </a:r>
            <a:endParaRPr lang="en-US" sz="950" dirty="0"/>
          </a:p>
        </p:txBody>
      </p:sp>
      <p:sp>
        <p:nvSpPr>
          <p:cNvPr id="15" name="FDA response"/>
          <p:cNvSpPr/>
          <p:nvPr/>
        </p:nvSpPr>
        <p:spPr>
          <a:xfrm>
            <a:off x="548640" y="5212080"/>
            <a:ext cx="4754880" cy="960120"/>
          </a:xfrm>
          <a:prstGeom prst="roundRect">
            <a:avLst>
              <a:gd name="adj" fmla="val 13333"/>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16" name="Icon disc LuFlag"/>
          <p:cNvSpPr/>
          <p:nvPr/>
        </p:nvSpPr>
        <p:spPr>
          <a:xfrm>
            <a:off x="685800" y="5376672"/>
            <a:ext cx="384048" cy="384048"/>
          </a:xfrm>
          <a:prstGeom prst="ellipse">
            <a:avLst/>
          </a:prstGeom>
          <a:solidFill>
            <a:schemeClr val="accent4"/>
          </a:solidFill>
          <a:ln/>
        </p:spPr>
      </p:sp>
      <p:pic>
        <p:nvPicPr>
          <p:cNvPr id="17" name="Image 0" descr="Flag icon">    </p:cNvPr>
          <p:cNvPicPr>
            <a:picLocks noChangeAspect="1"/>
          </p:cNvPicPr>
          <p:nvPr/>
        </p:nvPicPr>
        <p:blipFill>
          <a:blip r:embed="rId2"/>
          <a:stretch>
            <a:fillRect/>
          </a:stretch>
        </p:blipFill>
        <p:spPr>
          <a:xfrm>
            <a:off x="770291" y="5461163"/>
            <a:ext cx="215067" cy="215067"/>
          </a:xfrm>
          <a:prstGeom prst="rect">
            <a:avLst/>
          </a:prstGeom>
        </p:spPr>
      </p:pic>
      <p:sp>
        <p:nvSpPr>
          <p:cNvPr id="18" name="Pill Regulator response"/>
          <p:cNvSpPr/>
          <p:nvPr/>
        </p:nvSpPr>
        <p:spPr>
          <a:xfrm>
            <a:off x="3703320" y="5285232"/>
            <a:ext cx="1463040" cy="237744"/>
          </a:xfrm>
          <a:prstGeom prst="roundRect">
            <a:avLst>
              <a:gd name="adj" fmla="val 50000"/>
            </a:avLst>
          </a:prstGeom>
          <a:solidFill>
            <a:schemeClr val="accent4"/>
          </a:solidFill>
          <a:ln w="15875">
            <a:solidFill>
              <a:schemeClr val="accent4"/>
            </a:solidFill>
            <a:prstDash val="solid"/>
          </a:ln>
        </p:spPr>
      </p:sp>
      <p:sp>
        <p:nvSpPr>
          <p:cNvPr id="19" name="Text 14"/>
          <p:cNvSpPr txBox="1"/>
          <p:nvPr/>
        </p:nvSpPr>
        <p:spPr>
          <a:xfrm>
            <a:off x="3703320" y="5285232"/>
            <a:ext cx="1463040" cy="237744"/>
          </a:xfrm>
          <a:prstGeom prst="rect">
            <a:avLst/>
          </a:prstGeom>
          <a:noFill/>
          <a:ln/>
        </p:spPr>
        <p:txBody>
          <a:bodyPr wrap="square" lIns="0" tIns="0" rIns="0" bIns="0" rtlCol="0" anchor="ctr"/>
          <a:lstStyle/>
          <a:p>
            <a:pPr algn="ctr" indent="0" marL="0">
              <a:buNone/>
            </a:pPr>
            <a:r>
              <a:rPr lang="en-US" sz="900" b="1" dirty="0">
                <a:solidFill>
                  <a:schemeClr val="bg1"/>
                </a:solidFill>
              </a:rPr>
              <a:t>Regulator response</a:t>
            </a:r>
            <a:endParaRPr lang="en-US" sz="900" dirty="0"/>
          </a:p>
        </p:txBody>
      </p:sp>
      <p:sp>
        <p:nvSpPr>
          <p:cNvPr id="20" name="Text 15"/>
          <p:cNvSpPr txBox="1"/>
          <p:nvPr/>
        </p:nvSpPr>
        <p:spPr>
          <a:xfrm>
            <a:off x="1188720" y="5532120"/>
            <a:ext cx="4023360" cy="594360"/>
          </a:xfrm>
          <a:prstGeom prst="rect">
            <a:avLst/>
          </a:prstGeom>
          <a:noFill/>
          <a:ln/>
        </p:spPr>
        <p:txBody>
          <a:bodyPr wrap="square" lIns="0" tIns="0" rIns="0" bIns="0" rtlCol="0" anchor="ctr"/>
          <a:lstStyle/>
          <a:p>
            <a:pPr indent="0" marL="0">
              <a:buNone/>
            </a:pPr>
            <a:r>
              <a:rPr lang="en-US" sz="1000" b="1" dirty="0">
                <a:solidFill>
                  <a:schemeClr val="tx1"/>
                </a:solidFill>
              </a:rPr>
              <a:t>US FDA draft guidance, 7 Jan 2025: </a:t>
            </a:r>
            <a:pPr indent="0" marL="0">
              <a:buNone/>
            </a:pPr>
            <a:r>
              <a:rPr lang="en-US" sz="1000" dirty="0">
                <a:solidFill>
                  <a:schemeClr val="tx1"/>
                </a:solidFill>
              </a:rPr>
              <a:t>clinical testing of pulse oximeters across a diverse range of skin tones, assessed on the Monk Skin Tone scale.</a:t>
            </a:r>
            <a:endParaRPr lang="en-US" sz="1000" dirty="0"/>
          </a:p>
        </p:txBody>
      </p:sp>
      <p:sp>
        <p:nvSpPr>
          <p:cNvPr id="21" name="Text 16"/>
          <p:cNvSpPr txBox="1"/>
          <p:nvPr/>
        </p:nvSpPr>
        <p:spPr>
          <a:xfrm>
            <a:off x="5577840" y="1572768"/>
            <a:ext cx="6062472" cy="320040"/>
          </a:xfrm>
          <a:prstGeom prst="rect">
            <a:avLst/>
          </a:prstGeom>
          <a:noFill/>
          <a:ln/>
        </p:spPr>
        <p:txBody>
          <a:bodyPr wrap="square" lIns="0" tIns="0" rIns="0" bIns="0" rtlCol="0" anchor="t"/>
          <a:lstStyle/>
          <a:p>
            <a:pPr indent="0" marL="0">
              <a:buNone/>
            </a:pPr>
            <a:r>
              <a:rPr lang="en-US" sz="1400" b="1" dirty="0">
                <a:solidFill>
                  <a:schemeClr val="tx1"/>
                </a:solidFill>
              </a:rPr>
              <a:t>Who is missing from our data?</a:t>
            </a:r>
            <a:endParaRPr lang="en-US" sz="1400" dirty="0"/>
          </a:p>
        </p:txBody>
      </p:sp>
      <p:sp>
        <p:nvSpPr>
          <p:cNvPr id="22" name="Card Ramesh · FoGO"/>
          <p:cNvSpPr/>
          <p:nvPr/>
        </p:nvSpPr>
        <p:spPr>
          <a:xfrm>
            <a:off x="5577840" y="1965960"/>
            <a:ext cx="2939796" cy="2651760"/>
          </a:xfrm>
          <a:prstGeom prst="roundRect">
            <a:avLst>
              <a:gd name="adj" fmla="val 4138"/>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23" name="Icon disc LuFootprints"/>
          <p:cNvSpPr/>
          <p:nvPr/>
        </p:nvSpPr>
        <p:spPr>
          <a:xfrm>
            <a:off x="5760720" y="2148840"/>
            <a:ext cx="438912" cy="438912"/>
          </a:xfrm>
          <a:prstGeom prst="ellipse">
            <a:avLst/>
          </a:prstGeom>
          <a:solidFill>
            <a:schemeClr val="accent1">
              <a:alpha val="15000"/>
            </a:schemeClr>
          </a:solidFill>
          <a:ln/>
        </p:spPr>
      </p:sp>
      <p:pic>
        <p:nvPicPr>
          <p:cNvPr id="24" name="Image 1" descr="Footprints icon">    </p:cNvPr>
          <p:cNvPicPr>
            <a:picLocks noChangeAspect="1"/>
          </p:cNvPicPr>
          <p:nvPr/>
        </p:nvPicPr>
        <p:blipFill>
          <a:blip r:embed="rId3"/>
          <a:stretch>
            <a:fillRect/>
          </a:stretch>
        </p:blipFill>
        <p:spPr>
          <a:xfrm>
            <a:off x="5857281" y="2245401"/>
            <a:ext cx="245791" cy="245791"/>
          </a:xfrm>
          <a:prstGeom prst="rect">
            <a:avLst/>
          </a:prstGeom>
        </p:spPr>
      </p:pic>
      <p:sp>
        <p:nvSpPr>
          <p:cNvPr id="25" name="Text 19"/>
          <p:cNvSpPr txBox="1"/>
          <p:nvPr/>
        </p:nvSpPr>
        <p:spPr>
          <a:xfrm>
            <a:off x="6336792" y="2148840"/>
            <a:ext cx="1997964" cy="438912"/>
          </a:xfrm>
          <a:prstGeom prst="rect">
            <a:avLst/>
          </a:prstGeom>
          <a:noFill/>
          <a:ln/>
        </p:spPr>
        <p:txBody>
          <a:bodyPr wrap="square" lIns="0" tIns="0" rIns="0" bIns="0" rtlCol="0" anchor="ctr"/>
          <a:lstStyle/>
          <a:p>
            <a:pPr indent="0" marL="0">
              <a:buNone/>
            </a:pPr>
            <a:r>
              <a:rPr lang="en-US" sz="1250" b="1" dirty="0">
                <a:solidFill>
                  <a:schemeClr val="tx1"/>
                </a:solidFill>
              </a:rPr>
              <a:t>Ramesh · FoGO</a:t>
            </a:r>
            <a:endParaRPr lang="en-US" sz="1250" dirty="0"/>
          </a:p>
        </p:txBody>
      </p:sp>
      <p:sp>
        <p:nvSpPr>
          <p:cNvPr id="26" name="Text 20"/>
          <p:cNvSpPr txBox="1"/>
          <p:nvPr/>
        </p:nvSpPr>
        <p:spPr>
          <a:xfrm>
            <a:off x="5760720" y="2697480"/>
            <a:ext cx="2574036" cy="1755648"/>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2"/>
                </a:solidFill>
              </a:rPr>
              <a:t>People using walking aids</a:t>
            </a:r>
            <a:endParaRPr lang="en-US" sz="1050" dirty="0"/>
          </a:p>
          <a:p>
            <a:pPr marL="127000" indent="-127000">
              <a:spcAft>
                <a:spcPts val="300"/>
              </a:spcAft>
              <a:buSzPct val="100000"/>
              <a:buChar char="•"/>
            </a:pPr>
            <a:r>
              <a:rPr lang="en-US" sz="1050" dirty="0">
                <a:solidFill>
                  <a:schemeClr val="tx2"/>
                </a:solidFill>
              </a:rPr>
              <a:t>Cognitive fluctuation</a:t>
            </a:r>
            <a:endParaRPr lang="en-US" sz="1050" dirty="0"/>
          </a:p>
          <a:p>
            <a:pPr marL="127000" indent="-127000">
              <a:spcAft>
                <a:spcPts val="300"/>
              </a:spcAft>
              <a:buSzPct val="100000"/>
              <a:buChar char="•"/>
            </a:pPr>
            <a:r>
              <a:rPr lang="en-US" sz="1050" dirty="0">
                <a:solidFill>
                  <a:schemeClr val="tx2"/>
                </a:solidFill>
              </a:rPr>
              <a:t>Crowded homes, floor-level living</a:t>
            </a:r>
            <a:endParaRPr lang="en-US" sz="1050" dirty="0"/>
          </a:p>
          <a:p>
            <a:pPr marL="127000" indent="-127000">
              <a:spcAft>
                <a:spcPts val="300"/>
              </a:spcAft>
              <a:buSzPct val="100000"/>
              <a:buChar char="•"/>
            </a:pPr>
            <a:r>
              <a:rPr lang="en-US" sz="1050" dirty="0">
                <a:solidFill>
                  <a:schemeClr val="tx2"/>
                </a:solidFill>
              </a:rPr>
              <a:t>Saris or dhotis over the sensor</a:t>
            </a:r>
            <a:endParaRPr lang="en-US" sz="1050" dirty="0"/>
          </a:p>
          <a:p>
            <a:pPr marL="127000" indent="-127000">
              <a:spcAft>
                <a:spcPts val="300"/>
              </a:spcAft>
              <a:buSzPct val="100000"/>
              <a:buChar char="•"/>
            </a:pPr>
            <a:r>
              <a:rPr lang="en-US" sz="1050" dirty="0">
                <a:solidFill>
                  <a:schemeClr val="tx2"/>
                </a:solidFill>
              </a:rPr>
              <a:t>Public datasets with few or no Indian participants</a:t>
            </a:r>
            <a:endParaRPr lang="en-US" sz="1050" dirty="0"/>
          </a:p>
        </p:txBody>
      </p:sp>
      <p:sp>
        <p:nvSpPr>
          <p:cNvPr id="27" name="Card Kamala · SwaKnee"/>
          <p:cNvSpPr/>
          <p:nvPr/>
        </p:nvSpPr>
        <p:spPr>
          <a:xfrm>
            <a:off x="8700516" y="1965960"/>
            <a:ext cx="2939796" cy="2651760"/>
          </a:xfrm>
          <a:prstGeom prst="roundRect">
            <a:avLst>
              <a:gd name="adj" fmla="val 4138"/>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28" name="Icon disc LuPersonStanding"/>
          <p:cNvSpPr/>
          <p:nvPr/>
        </p:nvSpPr>
        <p:spPr>
          <a:xfrm>
            <a:off x="8883396" y="2148840"/>
            <a:ext cx="438912" cy="438912"/>
          </a:xfrm>
          <a:prstGeom prst="ellipse">
            <a:avLst/>
          </a:prstGeom>
          <a:solidFill>
            <a:schemeClr val="accent2">
              <a:alpha val="15000"/>
            </a:schemeClr>
          </a:solidFill>
          <a:ln/>
        </p:spPr>
      </p:sp>
      <p:pic>
        <p:nvPicPr>
          <p:cNvPr id="29" name="Image 2" descr="PersonStanding icon">    </p:cNvPr>
          <p:cNvPicPr>
            <a:picLocks noChangeAspect="1"/>
          </p:cNvPicPr>
          <p:nvPr/>
        </p:nvPicPr>
        <p:blipFill>
          <a:blip r:embed="rId4"/>
          <a:stretch>
            <a:fillRect/>
          </a:stretch>
        </p:blipFill>
        <p:spPr>
          <a:xfrm>
            <a:off x="8979957" y="2245401"/>
            <a:ext cx="245791" cy="245791"/>
          </a:xfrm>
          <a:prstGeom prst="rect">
            <a:avLst/>
          </a:prstGeom>
        </p:spPr>
      </p:pic>
      <p:sp>
        <p:nvSpPr>
          <p:cNvPr id="30" name="Text 23"/>
          <p:cNvSpPr txBox="1"/>
          <p:nvPr/>
        </p:nvSpPr>
        <p:spPr>
          <a:xfrm>
            <a:off x="9459468" y="2148840"/>
            <a:ext cx="1997964" cy="438912"/>
          </a:xfrm>
          <a:prstGeom prst="rect">
            <a:avLst/>
          </a:prstGeom>
          <a:noFill/>
          <a:ln/>
        </p:spPr>
        <p:txBody>
          <a:bodyPr wrap="square" lIns="0" tIns="0" rIns="0" bIns="0" rtlCol="0" anchor="ctr"/>
          <a:lstStyle/>
          <a:p>
            <a:pPr indent="0" marL="0">
              <a:buNone/>
            </a:pPr>
            <a:r>
              <a:rPr lang="en-US" sz="1250" b="1" dirty="0">
                <a:solidFill>
                  <a:schemeClr val="tx1"/>
                </a:solidFill>
              </a:rPr>
              <a:t>Kamala · SwaKnee</a:t>
            </a:r>
            <a:endParaRPr lang="en-US" sz="1250" dirty="0"/>
          </a:p>
        </p:txBody>
      </p:sp>
      <p:sp>
        <p:nvSpPr>
          <p:cNvPr id="31" name="Text 24"/>
          <p:cNvSpPr txBox="1"/>
          <p:nvPr/>
        </p:nvSpPr>
        <p:spPr>
          <a:xfrm>
            <a:off x="8883396" y="2697480"/>
            <a:ext cx="2574036" cy="1755648"/>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2"/>
                </a:solidFill>
              </a:rPr>
              <a:t>Women</a:t>
            </a:r>
            <a:endParaRPr lang="en-US" sz="1050" dirty="0"/>
          </a:p>
          <a:p>
            <a:pPr marL="127000" indent="-127000">
              <a:spcAft>
                <a:spcPts val="300"/>
              </a:spcAft>
              <a:buSzPct val="100000"/>
              <a:buChar char="•"/>
            </a:pPr>
            <a:r>
              <a:rPr lang="en-US" sz="1050" dirty="0">
                <a:solidFill>
                  <a:schemeClr val="tx2"/>
                </a:solidFill>
              </a:rPr>
              <a:t>People with obesity</a:t>
            </a:r>
            <a:endParaRPr lang="en-US" sz="1050" dirty="0"/>
          </a:p>
          <a:p>
            <a:pPr marL="127000" indent="-127000">
              <a:spcAft>
                <a:spcPts val="300"/>
              </a:spcAft>
              <a:buSzPct val="100000"/>
              <a:buChar char="•"/>
            </a:pPr>
            <a:r>
              <a:rPr lang="en-US" sz="1050" dirty="0">
                <a:solidFill>
                  <a:schemeClr val="tx2"/>
                </a:solidFill>
              </a:rPr>
              <a:t>Manual and agricultural workers</a:t>
            </a:r>
            <a:endParaRPr lang="en-US" sz="1050" dirty="0"/>
          </a:p>
          <a:p>
            <a:pPr marL="127000" indent="-127000">
              <a:spcAft>
                <a:spcPts val="300"/>
              </a:spcAft>
              <a:buSzPct val="100000"/>
              <a:buChar char="•"/>
            </a:pPr>
            <a:r>
              <a:rPr lang="en-US" sz="1050" dirty="0">
                <a:solidFill>
                  <a:schemeClr val="tx2"/>
                </a:solidFill>
              </a:rPr>
              <a:t>People with other illnesses and medicines</a:t>
            </a:r>
            <a:endParaRPr lang="en-US" sz="1050" dirty="0"/>
          </a:p>
          <a:p>
            <a:pPr marL="127000" indent="-127000">
              <a:spcAft>
                <a:spcPts val="300"/>
              </a:spcAft>
              <a:buSzPct val="100000"/>
              <a:buChar char="•"/>
            </a:pPr>
            <a:r>
              <a:rPr lang="en-US" sz="1050" dirty="0">
                <a:solidFill>
                  <a:schemeClr val="tx2"/>
                </a:solidFill>
              </a:rPr>
              <a:t>Rural users far from follow-up</a:t>
            </a:r>
            <a:endParaRPr lang="en-US" sz="1050" dirty="0"/>
          </a:p>
        </p:txBody>
      </p:sp>
      <p:sp>
        <p:nvSpPr>
          <p:cNvPr id="32" name="Diversity guidance"/>
          <p:cNvSpPr/>
          <p:nvPr/>
        </p:nvSpPr>
        <p:spPr>
          <a:xfrm>
            <a:off x="5577840" y="4754880"/>
            <a:ext cx="6062472" cy="777240"/>
          </a:xfrm>
          <a:prstGeom prst="roundRect">
            <a:avLst>
              <a:gd name="adj" fmla="val 16471"/>
            </a:avLst>
          </a:prstGeom>
          <a:solidFill>
            <a:schemeClr val="bg2"/>
          </a:solidFill>
          <a:ln/>
        </p:spPr>
      </p:sp>
      <p:sp>
        <p:nvSpPr>
          <p:cNvPr id="33" name="Icon disc LuUsers"/>
          <p:cNvSpPr/>
          <p:nvPr/>
        </p:nvSpPr>
        <p:spPr>
          <a:xfrm>
            <a:off x="5715000" y="4901184"/>
            <a:ext cx="384048" cy="384048"/>
          </a:xfrm>
          <a:prstGeom prst="ellipse">
            <a:avLst/>
          </a:prstGeom>
          <a:solidFill>
            <a:schemeClr val="accent1"/>
          </a:solidFill>
          <a:ln/>
        </p:spPr>
      </p:sp>
      <p:pic>
        <p:nvPicPr>
          <p:cNvPr id="34" name="Image 3" descr="Users icon">    </p:cNvPr>
          <p:cNvPicPr>
            <a:picLocks noChangeAspect="1"/>
          </p:cNvPicPr>
          <p:nvPr/>
        </p:nvPicPr>
        <p:blipFill>
          <a:blip r:embed="rId5"/>
          <a:stretch>
            <a:fillRect/>
          </a:stretch>
        </p:blipFill>
        <p:spPr>
          <a:xfrm>
            <a:off x="5799491" y="4985675"/>
            <a:ext cx="215067" cy="215067"/>
          </a:xfrm>
          <a:prstGeom prst="rect">
            <a:avLst/>
          </a:prstGeom>
        </p:spPr>
      </p:pic>
      <p:sp>
        <p:nvSpPr>
          <p:cNvPr id="35" name="Text 27"/>
          <p:cNvSpPr txBox="1"/>
          <p:nvPr/>
        </p:nvSpPr>
        <p:spPr>
          <a:xfrm>
            <a:off x="6217920" y="4800600"/>
            <a:ext cx="5285232" cy="685800"/>
          </a:xfrm>
          <a:prstGeom prst="rect">
            <a:avLst/>
          </a:prstGeom>
          <a:noFill/>
          <a:ln/>
        </p:spPr>
        <p:txBody>
          <a:bodyPr wrap="square" lIns="0" tIns="0" rIns="0" bIns="0" rtlCol="0" anchor="ctr"/>
          <a:lstStyle/>
          <a:p>
            <a:pPr indent="0" marL="0">
              <a:buNone/>
            </a:pPr>
            <a:r>
              <a:rPr lang="en-US" sz="950" b="1" dirty="0">
                <a:solidFill>
                  <a:schemeClr val="tx2"/>
                </a:solidFill>
              </a:rPr>
              <a:t>MRCT Center diversity guidance (2020): </a:t>
            </a:r>
            <a:pPr indent="0" marL="0">
              <a:buNone/>
            </a:pPr>
            <a:r>
              <a:rPr lang="en-US" sz="950" dirty="0">
                <a:solidFill>
                  <a:schemeClr val="tx2"/>
                </a:solidFill>
              </a:rPr>
              <a:t>diversity includes comorbidities, concurrent medicines and environment; report subgroups. </a:t>
            </a:r>
            <a:pPr indent="0" marL="0">
              <a:buNone/>
            </a:pPr>
            <a:r>
              <a:rPr lang="en-US" sz="950" b="1" dirty="0">
                <a:solidFill>
                  <a:schemeClr val="tx2"/>
                </a:solidFill>
              </a:rPr>
              <a:t>Stanford Biodesign health equity: </a:t>
            </a:r>
            <a:pPr indent="0" marL="0">
              <a:buNone/>
            </a:pPr>
            <a:r>
              <a:rPr lang="en-US" sz="950" dirty="0">
                <a:solidFill>
                  <a:schemeClr val="tx2"/>
                </a:solidFill>
              </a:rPr>
              <a:t>equity is decided at identify, invent and implement.</a:t>
            </a:r>
            <a:endParaRPr lang="en-US" sz="950" dirty="0"/>
          </a:p>
        </p:txBody>
      </p:sp>
      <p:sp>
        <p:nvSpPr>
          <p:cNvPr id="36" name="Callout"/>
          <p:cNvSpPr/>
          <p:nvPr/>
        </p:nvSpPr>
        <p:spPr>
          <a:xfrm>
            <a:off x="5577840" y="5669280"/>
            <a:ext cx="6062472" cy="502920"/>
          </a:xfrm>
          <a:prstGeom prst="roundRect">
            <a:avLst>
              <a:gd name="adj" fmla="val 14545"/>
            </a:avLst>
          </a:prstGeom>
          <a:solidFill>
            <a:schemeClr val="accent2">
              <a:alpha val="12000"/>
            </a:schemeClr>
          </a:solidFill>
          <a:ln/>
        </p:spPr>
      </p:sp>
      <p:sp>
        <p:nvSpPr>
          <p:cNvPr id="37" name="Callout bar"/>
          <p:cNvSpPr/>
          <p:nvPr/>
        </p:nvSpPr>
        <p:spPr>
          <a:xfrm>
            <a:off x="5577840" y="5760720"/>
            <a:ext cx="64008" cy="320040"/>
          </a:xfrm>
          <a:prstGeom prst="rect">
            <a:avLst/>
          </a:prstGeom>
          <a:solidFill>
            <a:schemeClr val="accent2"/>
          </a:solidFill>
          <a:ln/>
        </p:spPr>
      </p:sp>
      <p:sp>
        <p:nvSpPr>
          <p:cNvPr id="38" name="Text 30"/>
          <p:cNvSpPr txBox="1"/>
          <p:nvPr/>
        </p:nvSpPr>
        <p:spPr>
          <a:xfrm>
            <a:off x="5852160" y="5669280"/>
            <a:ext cx="5650992" cy="502920"/>
          </a:xfrm>
          <a:prstGeom prst="rect">
            <a:avLst/>
          </a:prstGeom>
          <a:noFill/>
          <a:ln/>
        </p:spPr>
        <p:txBody>
          <a:bodyPr wrap="square" lIns="0" tIns="0" rIns="0" bIns="0" rtlCol="0" anchor="ctr"/>
          <a:lstStyle/>
          <a:p>
            <a:pPr indent="0" marL="0">
              <a:buNone/>
            </a:pPr>
            <a:r>
              <a:rPr lang="en-US" sz="1200" b="1" dirty="0">
                <a:solidFill>
                  <a:schemeClr val="tx1"/>
                </a:solidFill>
              </a:rPr>
              <a:t>Take two answers for each patient. Who would our data miss?</a:t>
            </a:r>
            <a:endParaRPr lang="en-US" sz="12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103120"/>
            <a:ext cx="7315200" cy="292608"/>
          </a:xfrm>
          <a:prstGeom prst="rect">
            <a:avLst/>
          </a:prstGeom>
          <a:noFill/>
          <a:ln/>
        </p:spPr>
        <p:txBody>
          <a:bodyPr wrap="square" lIns="0" tIns="0" rIns="0" bIns="0" rtlCol="0" anchor="t"/>
          <a:lstStyle/>
          <a:p>
            <a:pPr algn="l" indent="0" marL="0">
              <a:buNone/>
            </a:pPr>
            <a:r>
              <a:rPr lang="en-US" sz="1300" b="1" spc="300" kern="0" dirty="0">
                <a:solidFill>
                  <a:schemeClr val="accent2"/>
                </a:solidFill>
              </a:rPr>
              <a:t>PART 2 · PEOPLE</a:t>
            </a:r>
            <a:endParaRPr lang="en-US" sz="1300" dirty="0"/>
          </a:p>
        </p:txBody>
      </p:sp>
      <p:sp>
        <p:nvSpPr>
          <p:cNvPr id="3" name="Text 0"/>
          <p:cNvSpPr/>
          <p:nvPr>
            <p:ph idx="101" type="title" hasCustomPrompt="1"/>
          </p:nvPr>
        </p:nvSpPr>
        <p:spPr>
          <a:xfrm>
            <a:off x="548640" y="2468880"/>
            <a:ext cx="7498080" cy="1463040"/>
          </a:xfrm>
          <a:prstGeom prst="rect">
            <a:avLst/>
          </a:prstGeom>
          <a:noFill/>
          <a:ln/>
        </p:spPr>
        <p:txBody>
          <a:bodyPr wrap="square" lIns="0" tIns="0" rIns="0" bIns="0" rtlCol="0" anchor="t"/>
          <a:lstStyle/>
          <a:p>
            <a:pPr algn="l" indent="0" marL="0">
              <a:buNone/>
            </a:pPr>
            <a:r>
              <a:rPr lang="en-US" sz="4200" b="1" dirty="0">
                <a:solidFill>
                  <a:schemeClr val="bg1"/>
                </a:solidFill>
              </a:rPr>
              <a:t>Can they say no, and who gains if they say yes?</a:t>
            </a:r>
            <a:endParaRPr lang="en-US" sz="4200" dirty="0"/>
          </a:p>
        </p:txBody>
      </p:sp>
      <p:sp>
        <p:nvSpPr>
          <p:cNvPr id="5" name="Text 0"/>
          <p:cNvSpPr/>
          <p:nvPr>
            <p:ph idx="102" type="body" hasCustomPrompt="1"/>
          </p:nvPr>
        </p:nvSpPr>
        <p:spPr>
          <a:xfrm>
            <a:off x="548640" y="3977640"/>
            <a:ext cx="6949440" cy="914400"/>
          </a:xfrm>
          <a:prstGeom prst="rect">
            <a:avLst/>
          </a:prstGeom>
          <a:noFill/>
          <a:ln/>
        </p:spPr>
        <p:txBody>
          <a:bodyPr wrap="square" lIns="0" tIns="0" rIns="0" bIns="0" rtlCol="0" anchor="t"/>
          <a:lstStyle/>
          <a:p>
            <a:pPr algn="l" indent="0" marL="0">
              <a:buNone/>
            </a:pPr>
            <a:r>
              <a:rPr lang="en-US" sz="1700" dirty="0">
                <a:solidFill>
                  <a:schemeClr val="accent6"/>
                </a:solidFill>
              </a:rPr>
              <a:t>Consent that is free and understood, and interests that are declared and managed: the people side of translation, under Indian rules.</a:t>
            </a:r>
            <a:endParaRPr lang="en-US" sz="1700" dirty="0"/>
          </a:p>
        </p:txBody>
      </p:sp>
      <p:sp>
        <p:nvSpPr>
          <p:cNvPr id="6" name="Text 3"/>
          <p:cNvSpPr txBox="1"/>
          <p:nvPr/>
        </p:nvSpPr>
        <p:spPr>
          <a:xfrm>
            <a:off x="502920" y="502920"/>
            <a:ext cx="3657600" cy="1463040"/>
          </a:xfrm>
          <a:prstGeom prst="rect">
            <a:avLst/>
          </a:prstGeom>
          <a:noFill/>
          <a:ln/>
        </p:spPr>
        <p:txBody>
          <a:bodyPr wrap="square" lIns="0" tIns="0" rIns="0" bIns="0" rtlCol="0" anchor="t"/>
          <a:lstStyle/>
          <a:p>
            <a:pPr indent="0" marL="0">
              <a:buNone/>
            </a:pPr>
            <a:r>
              <a:rPr lang="en-US" sz="9600" b="1" dirty="0">
                <a:solidFill>
                  <a:schemeClr val="accent6">
                    <a:alpha val="30000"/>
                  </a:schemeClr>
                </a:solidFill>
                <a:latin typeface="Cambria" pitchFamily="34" charset="0"/>
                <a:ea typeface="Cambria" pitchFamily="34" charset="-122"/>
                <a:cs typeface="Cambria" pitchFamily="34" charset="-120"/>
              </a:rPr>
              <a:t>02</a:t>
            </a:r>
            <a:endParaRPr lang="en-US" sz="9600" dirty="0"/>
          </a:p>
        </p:txBody>
      </p:sp>
      <p:sp>
        <p:nvSpPr>
          <p:cNvPr id="7" name="Icon disc LuHand"/>
          <p:cNvSpPr/>
          <p:nvPr/>
        </p:nvSpPr>
        <p:spPr>
          <a:xfrm>
            <a:off x="548640" y="5074920"/>
            <a:ext cx="329184" cy="329184"/>
          </a:xfrm>
          <a:prstGeom prst="ellipse">
            <a:avLst/>
          </a:prstGeom>
          <a:solidFill>
            <a:schemeClr val="accent2"/>
          </a:solidFill>
          <a:ln/>
        </p:spPr>
      </p:sp>
      <p:pic>
        <p:nvPicPr>
          <p:cNvPr id="8" name="Image 0" descr="Hand icon">    </p:cNvPr>
          <p:cNvPicPr>
            <a:picLocks noChangeAspect="1"/>
          </p:cNvPicPr>
          <p:nvPr/>
        </p:nvPicPr>
        <p:blipFill>
          <a:blip r:embed="rId1"/>
          <a:stretch>
            <a:fillRect/>
          </a:stretch>
        </p:blipFill>
        <p:spPr>
          <a:xfrm>
            <a:off x="621060" y="5147340"/>
            <a:ext cx="184343" cy="184343"/>
          </a:xfrm>
          <a:prstGeom prst="rect">
            <a:avLst/>
          </a:prstGeom>
        </p:spPr>
      </p:pic>
      <p:sp>
        <p:nvSpPr>
          <p:cNvPr id="9" name="Text 5"/>
          <p:cNvSpPr txBox="1"/>
          <p:nvPr/>
        </p:nvSpPr>
        <p:spPr>
          <a:xfrm>
            <a:off x="1005840" y="5074920"/>
            <a:ext cx="6858000" cy="329184"/>
          </a:xfrm>
          <a:prstGeom prst="rect">
            <a:avLst/>
          </a:prstGeom>
          <a:noFill/>
          <a:ln/>
        </p:spPr>
        <p:txBody>
          <a:bodyPr wrap="square" lIns="0" tIns="0" rIns="0" bIns="0" rtlCol="0" anchor="ctr"/>
          <a:lstStyle/>
          <a:p>
            <a:pPr indent="0" marL="0">
              <a:buNone/>
            </a:pPr>
            <a:r>
              <a:rPr lang="en-US" sz="1300" dirty="0">
                <a:solidFill>
                  <a:schemeClr val="bg1"/>
                </a:solidFill>
              </a:rPr>
              <a:t>Decision 2 of 5: Ramesh's neurologist is also the inventor</a:t>
            </a:r>
            <a:endParaRPr lang="en-US" sz="1300" dirty="0"/>
          </a:p>
        </p:txBody>
      </p:sp>
      <p:sp>
        <p:nvSpPr>
          <p:cNvPr id="10" name="Icon disc LuListChecks"/>
          <p:cNvSpPr/>
          <p:nvPr/>
        </p:nvSpPr>
        <p:spPr>
          <a:xfrm>
            <a:off x="548640" y="5532120"/>
            <a:ext cx="329184" cy="329184"/>
          </a:xfrm>
          <a:prstGeom prst="ellipse">
            <a:avLst/>
          </a:prstGeom>
          <a:solidFill>
            <a:schemeClr val="accent2"/>
          </a:solidFill>
          <a:ln/>
        </p:spPr>
      </p:sp>
      <p:pic>
        <p:nvPicPr>
          <p:cNvPr id="11" name="Image 1" descr="ListChecks icon">    </p:cNvPr>
          <p:cNvPicPr>
            <a:picLocks noChangeAspect="1"/>
          </p:cNvPicPr>
          <p:nvPr/>
        </p:nvPicPr>
        <p:blipFill>
          <a:blip r:embed="rId2"/>
          <a:stretch>
            <a:fillRect/>
          </a:stretch>
        </p:blipFill>
        <p:spPr>
          <a:xfrm>
            <a:off x="621060" y="5604540"/>
            <a:ext cx="184343" cy="184343"/>
          </a:xfrm>
          <a:prstGeom prst="rect">
            <a:avLst/>
          </a:prstGeom>
        </p:spPr>
      </p:pic>
      <p:sp>
        <p:nvSpPr>
          <p:cNvPr id="12" name="Text 7"/>
          <p:cNvSpPr txBox="1"/>
          <p:nvPr/>
        </p:nvSpPr>
        <p:spPr>
          <a:xfrm>
            <a:off x="1005840" y="5532120"/>
            <a:ext cx="6858000" cy="329184"/>
          </a:xfrm>
          <a:prstGeom prst="rect">
            <a:avLst/>
          </a:prstGeom>
          <a:noFill/>
          <a:ln/>
        </p:spPr>
        <p:txBody>
          <a:bodyPr wrap="square" lIns="0" tIns="0" rIns="0" bIns="0" rtlCol="0" anchor="ctr"/>
          <a:lstStyle/>
          <a:p>
            <a:pPr indent="0" marL="0">
              <a:buNone/>
            </a:pPr>
            <a:r>
              <a:rPr lang="en-US" sz="1300" dirty="0">
                <a:solidFill>
                  <a:schemeClr val="bg1"/>
                </a:solidFill>
              </a:rPr>
              <a:t>What valid consent requires in India: ICMR 2017, NDCT 2019, Helsinki 2024</a:t>
            </a:r>
            <a:endParaRPr lang="en-US" sz="1300" dirty="0"/>
          </a:p>
        </p:txBody>
      </p:sp>
      <p:sp>
        <p:nvSpPr>
          <p:cNvPr id="13" name="Icon disc LuScale"/>
          <p:cNvSpPr/>
          <p:nvPr/>
        </p:nvSpPr>
        <p:spPr>
          <a:xfrm>
            <a:off x="548640" y="5989320"/>
            <a:ext cx="329184" cy="329184"/>
          </a:xfrm>
          <a:prstGeom prst="ellipse">
            <a:avLst/>
          </a:prstGeom>
          <a:solidFill>
            <a:schemeClr val="accent2"/>
          </a:solidFill>
          <a:ln/>
        </p:spPr>
      </p:sp>
      <p:pic>
        <p:nvPicPr>
          <p:cNvPr id="14" name="Image 2" descr="Scale icon">    </p:cNvPr>
          <p:cNvPicPr>
            <a:picLocks noChangeAspect="1"/>
          </p:cNvPicPr>
          <p:nvPr/>
        </p:nvPicPr>
        <p:blipFill>
          <a:blip r:embed="rId3"/>
          <a:stretch>
            <a:fillRect/>
          </a:stretch>
        </p:blipFill>
        <p:spPr>
          <a:xfrm>
            <a:off x="621060" y="6061740"/>
            <a:ext cx="184343" cy="184343"/>
          </a:xfrm>
          <a:prstGeom prst="rect">
            <a:avLst/>
          </a:prstGeom>
        </p:spPr>
      </p:pic>
      <p:sp>
        <p:nvSpPr>
          <p:cNvPr id="15" name="Text 9"/>
          <p:cNvSpPr txBox="1"/>
          <p:nvPr/>
        </p:nvSpPr>
        <p:spPr>
          <a:xfrm>
            <a:off x="1005840" y="5989320"/>
            <a:ext cx="6858000" cy="329184"/>
          </a:xfrm>
          <a:prstGeom prst="rect">
            <a:avLst/>
          </a:prstGeom>
          <a:noFill/>
          <a:ln/>
        </p:spPr>
        <p:txBody>
          <a:bodyPr wrap="square" lIns="0" tIns="0" rIns="0" bIns="0" rtlCol="0" anchor="ctr"/>
          <a:lstStyle/>
          <a:p>
            <a:pPr indent="0" marL="0">
              <a:buNone/>
            </a:pPr>
            <a:r>
              <a:rPr lang="en-US" sz="1300" dirty="0">
                <a:solidFill>
                  <a:schemeClr val="bg1"/>
                </a:solidFill>
              </a:rPr>
              <a:t>Conflicts of interest: disclose, then manage; the rules in India and abroad</a:t>
            </a:r>
            <a:endParaRPr lang="en-US" sz="1300" dirty="0"/>
          </a:p>
        </p:txBody>
      </p:sp>
      <p:sp>
        <p:nvSpPr>
          <p:cNvPr id="16" name="Participant questions panel"/>
          <p:cNvSpPr/>
          <p:nvPr/>
        </p:nvSpPr>
        <p:spPr>
          <a:xfrm>
            <a:off x="8138160" y="1371600"/>
            <a:ext cx="3520440" cy="4114800"/>
          </a:xfrm>
          <a:prstGeom prst="roundRect">
            <a:avLst>
              <a:gd name="adj" fmla="val 3636"/>
            </a:avLst>
          </a:prstGeom>
          <a:solidFill>
            <a:schemeClr val="bg1">
              <a:alpha val="10000"/>
            </a:schemeClr>
          </a:solidFill>
          <a:ln w="12700">
            <a:solidFill>
              <a:schemeClr val="accent6"/>
            </a:solidFill>
            <a:prstDash val="solid"/>
          </a:ln>
        </p:spPr>
      </p:sp>
      <p:sp>
        <p:nvSpPr>
          <p:cNvPr id="17" name="Text 11"/>
          <p:cNvSpPr txBox="1"/>
          <p:nvPr/>
        </p:nvSpPr>
        <p:spPr>
          <a:xfrm>
            <a:off x="8366760" y="1572768"/>
            <a:ext cx="3063240" cy="274320"/>
          </a:xfrm>
          <a:prstGeom prst="rect">
            <a:avLst/>
          </a:prstGeom>
          <a:noFill/>
          <a:ln/>
        </p:spPr>
        <p:txBody>
          <a:bodyPr wrap="square" lIns="0" tIns="0" rIns="0" bIns="0" rtlCol="0" anchor="t"/>
          <a:lstStyle/>
          <a:p>
            <a:pPr indent="0" marL="0">
              <a:buNone/>
            </a:pPr>
            <a:r>
              <a:rPr lang="en-US" sz="1000" b="1" spc="150" kern="0" dirty="0">
                <a:solidFill>
                  <a:schemeClr val="accent2"/>
                </a:solidFill>
              </a:rPr>
              <a:t>WHAT A PARTICIPANT WOULD ASK</a:t>
            </a:r>
            <a:endParaRPr lang="en-US" sz="1000" dirty="0"/>
          </a:p>
        </p:txBody>
      </p:sp>
      <p:sp>
        <p:nvSpPr>
          <p:cNvPr id="18" name="Icon disc LuHand"/>
          <p:cNvSpPr/>
          <p:nvPr/>
        </p:nvSpPr>
        <p:spPr>
          <a:xfrm>
            <a:off x="8366760" y="2048256"/>
            <a:ext cx="457200" cy="457200"/>
          </a:xfrm>
          <a:prstGeom prst="ellipse">
            <a:avLst/>
          </a:prstGeom>
          <a:solidFill>
            <a:schemeClr val="accent2"/>
          </a:solidFill>
          <a:ln/>
        </p:spPr>
      </p:sp>
      <p:pic>
        <p:nvPicPr>
          <p:cNvPr id="19" name="Image 3" descr="Hand icon">    </p:cNvPr>
          <p:cNvPicPr>
            <a:picLocks noChangeAspect="1"/>
          </p:cNvPicPr>
          <p:nvPr/>
        </p:nvPicPr>
        <p:blipFill>
          <a:blip r:embed="rId4"/>
          <a:stretch>
            <a:fillRect/>
          </a:stretch>
        </p:blipFill>
        <p:spPr>
          <a:xfrm>
            <a:off x="8467344" y="2148840"/>
            <a:ext cx="256032" cy="256032"/>
          </a:xfrm>
          <a:prstGeom prst="rect">
            <a:avLst/>
          </a:prstGeom>
        </p:spPr>
      </p:pic>
      <p:sp>
        <p:nvSpPr>
          <p:cNvPr id="20" name="Text 13"/>
          <p:cNvSpPr txBox="1"/>
          <p:nvPr/>
        </p:nvSpPr>
        <p:spPr>
          <a:xfrm>
            <a:off x="8961120" y="1993392"/>
            <a:ext cx="2468880" cy="105156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rPr>
              <a:t>“Can I freely say no?”</a:t>
            </a:r>
            <a:endParaRPr lang="en-US" sz="1300" dirty="0"/>
          </a:p>
          <a:p>
            <a:pPr indent="0" marL="0">
              <a:spcAft>
                <a:spcPts val="200"/>
              </a:spcAft>
              <a:buNone/>
            </a:pPr>
            <a:r>
              <a:rPr lang="en-US" sz="1000" dirty="0">
                <a:solidFill>
                  <a:schemeClr val="accent6"/>
                </a:solidFill>
              </a:rPr>
              <a:t>Helsinki 2024, para 27: in a dependent relationship, consent must be sought by someone independent of it</a:t>
            </a:r>
            <a:endParaRPr lang="en-US" sz="1300" dirty="0"/>
          </a:p>
        </p:txBody>
      </p:sp>
      <p:sp>
        <p:nvSpPr>
          <p:cNvPr id="21" name="Icon disc LuLanguages"/>
          <p:cNvSpPr/>
          <p:nvPr/>
        </p:nvSpPr>
        <p:spPr>
          <a:xfrm>
            <a:off x="8366760" y="3163824"/>
            <a:ext cx="457200" cy="457200"/>
          </a:xfrm>
          <a:prstGeom prst="ellipse">
            <a:avLst/>
          </a:prstGeom>
          <a:solidFill>
            <a:schemeClr val="accent2"/>
          </a:solidFill>
          <a:ln/>
        </p:spPr>
      </p:sp>
      <p:pic>
        <p:nvPicPr>
          <p:cNvPr id="22" name="Image 4" descr="Languages icon">    </p:cNvPr>
          <p:cNvPicPr>
            <a:picLocks noChangeAspect="1"/>
          </p:cNvPicPr>
          <p:nvPr/>
        </p:nvPicPr>
        <p:blipFill>
          <a:blip r:embed="rId5"/>
          <a:stretch>
            <a:fillRect/>
          </a:stretch>
        </p:blipFill>
        <p:spPr>
          <a:xfrm>
            <a:off x="8467344" y="3264408"/>
            <a:ext cx="256032" cy="256032"/>
          </a:xfrm>
          <a:prstGeom prst="rect">
            <a:avLst/>
          </a:prstGeom>
        </p:spPr>
      </p:pic>
      <p:sp>
        <p:nvSpPr>
          <p:cNvPr id="23" name="Text 15"/>
          <p:cNvSpPr txBox="1"/>
          <p:nvPr/>
        </p:nvSpPr>
        <p:spPr>
          <a:xfrm>
            <a:off x="8961120" y="3108960"/>
            <a:ext cx="2468880" cy="105156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rPr>
              <a:t>“Do I understand what I am agreeing to?”</a:t>
            </a:r>
            <a:endParaRPr lang="en-US" sz="1300" dirty="0"/>
          </a:p>
          <a:p>
            <a:pPr indent="0" marL="0">
              <a:spcAft>
                <a:spcPts val="200"/>
              </a:spcAft>
              <a:buNone/>
            </a:pPr>
            <a:r>
              <a:rPr lang="en-US" sz="1000" dirty="0">
                <a:solidFill>
                  <a:schemeClr val="accent6"/>
                </a:solidFill>
              </a:rPr>
              <a:t>ICMR 2017, s. 5: a language the participant understands; an impartial witness if they cannot read</a:t>
            </a:r>
            <a:endParaRPr lang="en-US" sz="1300" dirty="0"/>
          </a:p>
        </p:txBody>
      </p:sp>
      <p:sp>
        <p:nvSpPr>
          <p:cNvPr id="24" name="Icon disc LuScale"/>
          <p:cNvSpPr/>
          <p:nvPr/>
        </p:nvSpPr>
        <p:spPr>
          <a:xfrm>
            <a:off x="8366760" y="4279392"/>
            <a:ext cx="457200" cy="457200"/>
          </a:xfrm>
          <a:prstGeom prst="ellipse">
            <a:avLst/>
          </a:prstGeom>
          <a:solidFill>
            <a:schemeClr val="accent2"/>
          </a:solidFill>
          <a:ln/>
        </p:spPr>
      </p:sp>
      <p:pic>
        <p:nvPicPr>
          <p:cNvPr id="25" name="Image 5" descr="Scale icon">    </p:cNvPr>
          <p:cNvPicPr>
            <a:picLocks noChangeAspect="1"/>
          </p:cNvPicPr>
          <p:nvPr/>
        </p:nvPicPr>
        <p:blipFill>
          <a:blip r:embed="rId6"/>
          <a:stretch>
            <a:fillRect/>
          </a:stretch>
        </p:blipFill>
        <p:spPr>
          <a:xfrm>
            <a:off x="8467344" y="4379976"/>
            <a:ext cx="256032" cy="256032"/>
          </a:xfrm>
          <a:prstGeom prst="rect">
            <a:avLst/>
          </a:prstGeom>
        </p:spPr>
      </p:pic>
      <p:sp>
        <p:nvSpPr>
          <p:cNvPr id="26" name="Text 17"/>
          <p:cNvSpPr txBox="1"/>
          <p:nvPr/>
        </p:nvSpPr>
        <p:spPr>
          <a:xfrm>
            <a:off x="8961120" y="4224528"/>
            <a:ext cx="2468880" cy="105156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rPr>
              <a:t>“Who gains if I say yes?”</a:t>
            </a:r>
            <a:endParaRPr lang="en-US" sz="1300" dirty="0"/>
          </a:p>
          <a:p>
            <a:pPr indent="0" marL="0">
              <a:spcAft>
                <a:spcPts val="200"/>
              </a:spcAft>
              <a:buNone/>
            </a:pPr>
            <a:r>
              <a:rPr lang="en-US" sz="1000" dirty="0">
                <a:solidFill>
                  <a:schemeClr val="accent6"/>
                </a:solidFill>
              </a:rPr>
              <a:t>ICMR 2017: interests disclosed to the ethics committee; IMC 2002 cl. 6.8 and UCMPMD 2024 for doctors and companies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WOULD YOU PROCEED? 2/5</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His neurologist is the inventor</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Declaration of Helsinki 2024, para 27; ICMR 2017, ss. 5–6; CIOMS 2016, Guideline 25; 45 CFR 46.116 (comparator); GMC recordings guidance (comparator)</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268712" y="347472"/>
            <a:ext cx="219456" cy="219456"/>
          </a:xfrm>
          <a:prstGeom prst="ellipse">
            <a:avLst/>
          </a:prstGeom>
          <a:solidFill>
            <a:schemeClr val="accent1"/>
          </a:solidFill>
          <a:ln w="12700">
            <a:solidFill>
              <a:schemeClr val="accent1"/>
            </a:solidFill>
            <a:prstDash val="solid"/>
          </a:ln>
        </p:spPr>
      </p:sp>
      <p:sp>
        <p:nvSpPr>
          <p:cNvPr id="8" name="Progress Permission"/>
          <p:cNvSpPr/>
          <p:nvPr/>
        </p:nvSpPr>
        <p:spPr>
          <a:xfrm>
            <a:off x="10680192" y="393192"/>
            <a:ext cx="128016" cy="128016"/>
          </a:xfrm>
          <a:prstGeom prst="ellipse">
            <a:avLst/>
          </a:prstGeom>
          <a:solidFill>
            <a:schemeClr val="tx2"/>
          </a:solidFill>
          <a:ln w="12700">
            <a:solidFill>
              <a:schemeClr val="accent6"/>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sp>
        <p:nvSpPr>
          <p:cNvPr id="12" name="Text 9"/>
          <p:cNvSpPr txBox="1"/>
          <p:nvPr/>
        </p:nvSpPr>
        <p:spPr>
          <a:xfrm>
            <a:off x="548640" y="1572768"/>
            <a:ext cx="5577840" cy="274320"/>
          </a:xfrm>
          <a:prstGeom prst="rect">
            <a:avLst/>
          </a:prstGeom>
          <a:noFill/>
          <a:ln/>
        </p:spPr>
        <p:txBody>
          <a:bodyPr wrap="square" lIns="0" tIns="0" rIns="0" bIns="0" rtlCol="0" anchor="t"/>
          <a:lstStyle/>
          <a:p>
            <a:pPr indent="0" marL="0">
              <a:buNone/>
            </a:pPr>
            <a:r>
              <a:rPr lang="en-US" sz="1050" i="1" dirty="0">
                <a:solidFill>
                  <a:schemeClr val="accent6"/>
                </a:solidFill>
              </a:rPr>
              <a:t>A fictional vignette built on real consent rules; it describes neither project's actual procedure</a:t>
            </a:r>
            <a:endParaRPr lang="en-US" sz="1050" dirty="0"/>
          </a:p>
        </p:txBody>
      </p:sp>
      <p:sp>
        <p:nvSpPr>
          <p:cNvPr id="13" name="Icon disc LuMessageCircleQuestion"/>
          <p:cNvSpPr/>
          <p:nvPr/>
        </p:nvSpPr>
        <p:spPr>
          <a:xfrm>
            <a:off x="548640" y="1965960"/>
            <a:ext cx="566928" cy="566928"/>
          </a:xfrm>
          <a:prstGeom prst="ellipse">
            <a:avLst/>
          </a:prstGeom>
          <a:solidFill>
            <a:schemeClr val="accent6"/>
          </a:solidFill>
          <a:ln/>
        </p:spPr>
      </p:sp>
      <p:pic>
        <p:nvPicPr>
          <p:cNvPr id="14" name="Image 0" descr="MessageCircleQuestion icon">    </p:cNvPr>
          <p:cNvPicPr>
            <a:picLocks noChangeAspect="1"/>
          </p:cNvPicPr>
          <p:nvPr/>
        </p:nvPicPr>
        <p:blipFill>
          <a:blip r:embed="rId1"/>
          <a:stretch>
            <a:fillRect/>
          </a:stretch>
        </p:blipFill>
        <p:spPr>
          <a:xfrm>
            <a:off x="673364" y="2090684"/>
            <a:ext cx="317480" cy="317480"/>
          </a:xfrm>
          <a:prstGeom prst="rect">
            <a:avLst/>
          </a:prstGeom>
        </p:spPr>
      </p:pic>
      <p:sp>
        <p:nvSpPr>
          <p:cNvPr id="15" name="Text 11"/>
          <p:cNvSpPr txBox="1"/>
          <p:nvPr/>
        </p:nvSpPr>
        <p:spPr>
          <a:xfrm>
            <a:off x="1325880" y="1965960"/>
            <a:ext cx="4617720" cy="566928"/>
          </a:xfrm>
          <a:prstGeom prst="rect">
            <a:avLst/>
          </a:prstGeom>
          <a:noFill/>
          <a:ln/>
        </p:spPr>
        <p:txBody>
          <a:bodyPr wrap="square" lIns="0" tIns="0" rIns="0" bIns="0" rtlCol="0" anchor="ctr"/>
          <a:lstStyle/>
          <a:p>
            <a:pPr indent="0" marL="0">
              <a:buNone/>
            </a:pPr>
            <a:r>
              <a:rPr lang="en-US" sz="1800" dirty="0">
                <a:solidFill>
                  <a:schemeClr val="bg1"/>
                </a:solidFill>
              </a:rPr>
              <a:t>“Will saying no change my care?”</a:t>
            </a:r>
            <a:endParaRPr lang="en-US" sz="1800" dirty="0"/>
          </a:p>
        </p:txBody>
      </p:sp>
      <p:sp>
        <p:nvSpPr>
          <p:cNvPr id="16" name="Icon disc LuFileText"/>
          <p:cNvSpPr/>
          <p:nvPr/>
        </p:nvSpPr>
        <p:spPr>
          <a:xfrm>
            <a:off x="548640" y="3081528"/>
            <a:ext cx="566928" cy="566928"/>
          </a:xfrm>
          <a:prstGeom prst="ellipse">
            <a:avLst/>
          </a:prstGeom>
          <a:solidFill>
            <a:schemeClr val="accent6"/>
          </a:solidFill>
          <a:ln/>
        </p:spPr>
      </p:sp>
      <p:pic>
        <p:nvPicPr>
          <p:cNvPr id="17" name="Image 1" descr="FileText icon">    </p:cNvPr>
          <p:cNvPicPr>
            <a:picLocks noChangeAspect="1"/>
          </p:cNvPicPr>
          <p:nvPr/>
        </p:nvPicPr>
        <p:blipFill>
          <a:blip r:embed="rId2"/>
          <a:stretch>
            <a:fillRect/>
          </a:stretch>
        </p:blipFill>
        <p:spPr>
          <a:xfrm>
            <a:off x="673364" y="3206252"/>
            <a:ext cx="317480" cy="317480"/>
          </a:xfrm>
          <a:prstGeom prst="rect">
            <a:avLst/>
          </a:prstGeom>
        </p:spPr>
      </p:pic>
      <p:sp>
        <p:nvSpPr>
          <p:cNvPr id="18" name="Text 13"/>
          <p:cNvSpPr txBox="1"/>
          <p:nvPr/>
        </p:nvSpPr>
        <p:spPr>
          <a:xfrm>
            <a:off x="1325880" y="3081528"/>
            <a:ext cx="4617720" cy="566928"/>
          </a:xfrm>
          <a:prstGeom prst="rect">
            <a:avLst/>
          </a:prstGeom>
          <a:noFill/>
          <a:ln/>
        </p:spPr>
        <p:txBody>
          <a:bodyPr wrap="square" lIns="0" tIns="0" rIns="0" bIns="0" rtlCol="0" anchor="ctr"/>
          <a:lstStyle/>
          <a:p>
            <a:pPr indent="0" marL="0">
              <a:buNone/>
            </a:pPr>
            <a:r>
              <a:rPr lang="en-US" sz="1800" dirty="0">
                <a:solidFill>
                  <a:schemeClr val="bg1"/>
                </a:solidFill>
              </a:rPr>
              <a:t>Consent form: English only</a:t>
            </a:r>
            <a:endParaRPr lang="en-US" sz="1800" dirty="0"/>
          </a:p>
        </p:txBody>
      </p:sp>
      <p:sp>
        <p:nvSpPr>
          <p:cNvPr id="19" name="Icon disc LuMapPin"/>
          <p:cNvSpPr/>
          <p:nvPr/>
        </p:nvSpPr>
        <p:spPr>
          <a:xfrm>
            <a:off x="548640" y="4197096"/>
            <a:ext cx="566928" cy="566928"/>
          </a:xfrm>
          <a:prstGeom prst="ellipse">
            <a:avLst/>
          </a:prstGeom>
          <a:solidFill>
            <a:schemeClr val="accent6"/>
          </a:solidFill>
          <a:ln/>
        </p:spPr>
      </p:sp>
      <p:pic>
        <p:nvPicPr>
          <p:cNvPr id="20" name="Image 2" descr="MapPin icon">    </p:cNvPr>
          <p:cNvPicPr>
            <a:picLocks noChangeAspect="1"/>
          </p:cNvPicPr>
          <p:nvPr/>
        </p:nvPicPr>
        <p:blipFill>
          <a:blip r:embed="rId3"/>
          <a:stretch>
            <a:fillRect/>
          </a:stretch>
        </p:blipFill>
        <p:spPr>
          <a:xfrm>
            <a:off x="673364" y="4321820"/>
            <a:ext cx="317480" cy="317480"/>
          </a:xfrm>
          <a:prstGeom prst="rect">
            <a:avLst/>
          </a:prstGeom>
        </p:spPr>
      </p:pic>
      <p:sp>
        <p:nvSpPr>
          <p:cNvPr id="21" name="Text 15"/>
          <p:cNvSpPr txBox="1"/>
          <p:nvPr/>
        </p:nvSpPr>
        <p:spPr>
          <a:xfrm>
            <a:off x="1325880" y="4197096"/>
            <a:ext cx="4617720" cy="566928"/>
          </a:xfrm>
          <a:prstGeom prst="rect">
            <a:avLst/>
          </a:prstGeom>
          <a:noFill/>
          <a:ln/>
        </p:spPr>
        <p:txBody>
          <a:bodyPr wrap="square" lIns="0" tIns="0" rIns="0" bIns="0" rtlCol="0" anchor="ctr"/>
          <a:lstStyle/>
          <a:p>
            <a:pPr indent="0" marL="0">
              <a:buNone/>
            </a:pPr>
            <a:r>
              <a:rPr lang="en-US" sz="1800" dirty="0">
                <a:solidFill>
                  <a:schemeClr val="bg1"/>
                </a:solidFill>
              </a:rPr>
              <a:t>Only neurologist within 100 km</a:t>
            </a:r>
            <a:endParaRPr lang="en-US" sz="1800" dirty="0"/>
          </a:p>
        </p:txBody>
      </p:sp>
      <p:sp>
        <p:nvSpPr>
          <p:cNvPr id="22" name="Twist strip"/>
          <p:cNvSpPr/>
          <p:nvPr/>
        </p:nvSpPr>
        <p:spPr>
          <a:xfrm>
            <a:off x="548640" y="4983480"/>
            <a:ext cx="5394960" cy="475488"/>
          </a:xfrm>
          <a:prstGeom prst="roundRect">
            <a:avLst>
              <a:gd name="adj" fmla="val 19231"/>
            </a:avLst>
          </a:prstGeom>
          <a:solidFill>
            <a:schemeClr val="bg1">
              <a:alpha val="8000"/>
            </a:schemeClr>
          </a:solidFill>
          <a:ln w="12700">
            <a:solidFill>
              <a:schemeClr val="accent2"/>
            </a:solidFill>
            <a:prstDash val="dash"/>
          </a:ln>
        </p:spPr>
      </p:sp>
      <p:sp>
        <p:nvSpPr>
          <p:cNvPr id="23" name="Icon disc LuVideo"/>
          <p:cNvSpPr/>
          <p:nvPr/>
        </p:nvSpPr>
        <p:spPr>
          <a:xfrm>
            <a:off x="658368" y="5065776"/>
            <a:ext cx="310896" cy="310896"/>
          </a:xfrm>
          <a:prstGeom prst="ellipse">
            <a:avLst/>
          </a:prstGeom>
          <a:solidFill>
            <a:schemeClr val="accent2"/>
          </a:solidFill>
          <a:ln/>
        </p:spPr>
      </p:sp>
      <p:pic>
        <p:nvPicPr>
          <p:cNvPr id="24" name="Image 3" descr="Video icon">    </p:cNvPr>
          <p:cNvPicPr>
            <a:picLocks noChangeAspect="1"/>
          </p:cNvPicPr>
          <p:nvPr/>
        </p:nvPicPr>
        <p:blipFill>
          <a:blip r:embed="rId4"/>
          <a:stretch>
            <a:fillRect/>
          </a:stretch>
        </p:blipFill>
        <p:spPr>
          <a:xfrm>
            <a:off x="726765" y="5134173"/>
            <a:ext cx="174102" cy="174102"/>
          </a:xfrm>
          <a:prstGeom prst="rect">
            <a:avLst/>
          </a:prstGeom>
        </p:spPr>
      </p:pic>
      <p:sp>
        <p:nvSpPr>
          <p:cNvPr id="25" name="Text 18"/>
          <p:cNvSpPr txBox="1"/>
          <p:nvPr/>
        </p:nvSpPr>
        <p:spPr>
          <a:xfrm>
            <a:off x="1078992" y="4983480"/>
            <a:ext cx="4754880" cy="475488"/>
          </a:xfrm>
          <a:prstGeom prst="rect">
            <a:avLst/>
          </a:prstGeom>
          <a:noFill/>
          <a:ln/>
        </p:spPr>
        <p:txBody>
          <a:bodyPr wrap="square" lIns="0" tIns="0" rIns="0" bIns="0" rtlCol="0" anchor="ctr"/>
          <a:lstStyle/>
          <a:p>
            <a:pPr indent="0" marL="0">
              <a:buNone/>
            </a:pPr>
            <a:r>
              <a:rPr lang="en-US" sz="1150" b="1" dirty="0">
                <a:solidFill>
                  <a:schemeClr val="accent2"/>
                </a:solidFill>
              </a:rPr>
              <a:t>Twist, if time allows: </a:t>
            </a:r>
            <a:pPr indent="0" marL="0">
              <a:buNone/>
            </a:pPr>
            <a:r>
              <a:rPr lang="en-US" sz="1150" dirty="0">
                <a:solidFill>
                  <a:schemeClr val="bg1"/>
                </a:solidFill>
              </a:rPr>
              <a:t>the clinic also wants to film him for a talk. Does that change your vote?</a:t>
            </a:r>
            <a:endParaRPr lang="en-US" sz="1150" dirty="0"/>
          </a:p>
        </p:txBody>
      </p:sp>
      <p:sp>
        <p:nvSpPr>
          <p:cNvPr id="26" name="Callout"/>
          <p:cNvSpPr/>
          <p:nvPr/>
        </p:nvSpPr>
        <p:spPr>
          <a:xfrm>
            <a:off x="548640" y="5623560"/>
            <a:ext cx="5394960" cy="548640"/>
          </a:xfrm>
          <a:prstGeom prst="roundRect">
            <a:avLst>
              <a:gd name="adj" fmla="val 13333"/>
            </a:avLst>
          </a:prstGeom>
          <a:solidFill>
            <a:schemeClr val="accent2">
              <a:alpha val="20000"/>
            </a:schemeClr>
          </a:solidFill>
          <a:ln/>
        </p:spPr>
      </p:sp>
      <p:sp>
        <p:nvSpPr>
          <p:cNvPr id="27" name="Callout bar"/>
          <p:cNvSpPr/>
          <p:nvPr/>
        </p:nvSpPr>
        <p:spPr>
          <a:xfrm>
            <a:off x="548640" y="5715000"/>
            <a:ext cx="64008" cy="365760"/>
          </a:xfrm>
          <a:prstGeom prst="rect">
            <a:avLst/>
          </a:prstGeom>
          <a:solidFill>
            <a:schemeClr val="accent2"/>
          </a:solidFill>
          <a:ln/>
        </p:spPr>
      </p:sp>
      <p:sp>
        <p:nvSpPr>
          <p:cNvPr id="28" name="Text 21"/>
          <p:cNvSpPr txBox="1"/>
          <p:nvPr/>
        </p:nvSpPr>
        <p:spPr>
          <a:xfrm>
            <a:off x="822960" y="5623560"/>
            <a:ext cx="4983480" cy="548640"/>
          </a:xfrm>
          <a:prstGeom prst="rect">
            <a:avLst/>
          </a:prstGeom>
          <a:noFill/>
          <a:ln/>
        </p:spPr>
        <p:txBody>
          <a:bodyPr wrap="square" lIns="0" tIns="0" rIns="0" bIns="0" rtlCol="0" anchor="ctr"/>
          <a:lstStyle/>
          <a:p>
            <a:pPr indent="0" marL="0">
              <a:buNone/>
            </a:pPr>
            <a:r>
              <a:rPr lang="en-US" sz="1150" b="1" dirty="0">
                <a:solidFill>
                  <a:schemeClr val="bg1"/>
                </a:solidFill>
              </a:rPr>
              <a:t>Vote A, B or C. Then 60 seconds of role-play: Ramesh, the recruiting neurologist, an observer. Observer: what would make refusal easier?</a:t>
            </a:r>
            <a:endParaRPr lang="en-US" sz="1150" dirty="0"/>
          </a:p>
        </p:txBody>
      </p:sp>
      <p:sp>
        <p:nvSpPr>
          <p:cNvPr id="29" name="Text 22"/>
          <p:cNvSpPr txBox="1"/>
          <p:nvPr/>
        </p:nvSpPr>
        <p:spPr>
          <a:xfrm>
            <a:off x="6400800" y="1572768"/>
            <a:ext cx="5239512" cy="274320"/>
          </a:xfrm>
          <a:prstGeom prst="rect">
            <a:avLst/>
          </a:prstGeom>
          <a:noFill/>
          <a:ln/>
        </p:spPr>
        <p:txBody>
          <a:bodyPr wrap="square" lIns="0" tIns="0" rIns="0" bIns="0" rtlCol="0" anchor="t"/>
          <a:lstStyle/>
          <a:p>
            <a:pPr indent="0" marL="0">
              <a:buNone/>
            </a:pPr>
            <a:r>
              <a:rPr lang="en-US" sz="1200" b="1" dirty="0">
                <a:solidFill>
                  <a:schemeClr val="accent6"/>
                </a:solidFill>
              </a:rPr>
              <a:t>Three options</a:t>
            </a:r>
            <a:endParaRPr lang="en-US" sz="1200" dirty="0"/>
          </a:p>
        </p:txBody>
      </p:sp>
      <p:sp>
        <p:nvSpPr>
          <p:cNvPr id="30" name="Option A"/>
          <p:cNvSpPr/>
          <p:nvPr/>
        </p:nvSpPr>
        <p:spPr>
          <a:xfrm>
            <a:off x="6400800" y="1920240"/>
            <a:ext cx="5239512" cy="1051560"/>
          </a:xfrm>
          <a:prstGeom prst="roundRect">
            <a:avLst>
              <a:gd name="adj" fmla="val 12174"/>
            </a:avLst>
          </a:prstGeom>
          <a:solidFill>
            <a:schemeClr val="bg1">
              <a:alpha val="10000"/>
            </a:schemeClr>
          </a:solidFill>
          <a:ln w="12700">
            <a:solidFill>
              <a:schemeClr val="accent6"/>
            </a:solidFill>
            <a:prstDash val="solid"/>
          </a:ln>
        </p:spPr>
      </p:sp>
      <p:sp>
        <p:nvSpPr>
          <p:cNvPr id="31" name="Badge A"/>
          <p:cNvSpPr/>
          <p:nvPr/>
        </p:nvSpPr>
        <p:spPr>
          <a:xfrm>
            <a:off x="6629400" y="2125980"/>
            <a:ext cx="640080" cy="640080"/>
          </a:xfrm>
          <a:prstGeom prst="ellipse">
            <a:avLst/>
          </a:prstGeom>
          <a:solidFill>
            <a:schemeClr val="accent2"/>
          </a:solidFill>
          <a:ln/>
        </p:spPr>
      </p:sp>
      <p:sp>
        <p:nvSpPr>
          <p:cNvPr id="32" name="Text 25"/>
          <p:cNvSpPr txBox="1"/>
          <p:nvPr/>
        </p:nvSpPr>
        <p:spPr>
          <a:xfrm>
            <a:off x="6629400" y="212598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A</a:t>
            </a:r>
            <a:endParaRPr lang="en-US" sz="2200" dirty="0"/>
          </a:p>
        </p:txBody>
      </p:sp>
      <p:sp>
        <p:nvSpPr>
          <p:cNvPr id="33" name="Text 26"/>
          <p:cNvSpPr txBox="1"/>
          <p:nvPr/>
        </p:nvSpPr>
        <p:spPr>
          <a:xfrm>
            <a:off x="7498080" y="1920240"/>
            <a:ext cx="3959352" cy="1051560"/>
          </a:xfrm>
          <a:prstGeom prst="rect">
            <a:avLst/>
          </a:prstGeom>
          <a:noFill/>
          <a:ln/>
        </p:spPr>
        <p:txBody>
          <a:bodyPr wrap="square" lIns="0" tIns="0" rIns="0" bIns="0" rtlCol="0" anchor="ctr"/>
          <a:lstStyle/>
          <a:p>
            <a:pPr indent="0" marL="0">
              <a:buNone/>
            </a:pPr>
            <a:r>
              <a:rPr lang="en-US" sz="2000" b="1" dirty="0">
                <a:solidFill>
                  <a:schemeClr val="bg1"/>
                </a:solidFill>
              </a:rPr>
              <a:t>Recruit as planned</a:t>
            </a:r>
            <a:endParaRPr lang="en-US" sz="1400" dirty="0"/>
          </a:p>
          <a:p>
            <a:pPr indent="0" marL="0">
              <a:buNone/>
            </a:pPr>
            <a:r>
              <a:rPr lang="en-US" sz="1300" dirty="0">
                <a:solidFill>
                  <a:schemeClr val="accent6"/>
                </a:solidFill>
              </a:rPr>
              <a:t>The neurologist takes consent himself, this week</a:t>
            </a:r>
            <a:endParaRPr lang="en-US" sz="1400" dirty="0"/>
          </a:p>
        </p:txBody>
      </p:sp>
      <p:sp>
        <p:nvSpPr>
          <p:cNvPr id="34" name="Option B"/>
          <p:cNvSpPr/>
          <p:nvPr/>
        </p:nvSpPr>
        <p:spPr>
          <a:xfrm>
            <a:off x="6400800" y="3200400"/>
            <a:ext cx="5239512" cy="1051560"/>
          </a:xfrm>
          <a:prstGeom prst="roundRect">
            <a:avLst>
              <a:gd name="adj" fmla="val 12174"/>
            </a:avLst>
          </a:prstGeom>
          <a:solidFill>
            <a:schemeClr val="bg1">
              <a:alpha val="10000"/>
            </a:schemeClr>
          </a:solidFill>
          <a:ln w="12700">
            <a:solidFill>
              <a:schemeClr val="accent6"/>
            </a:solidFill>
            <a:prstDash val="solid"/>
          </a:ln>
        </p:spPr>
      </p:sp>
      <p:sp>
        <p:nvSpPr>
          <p:cNvPr id="35" name="Badge B"/>
          <p:cNvSpPr/>
          <p:nvPr/>
        </p:nvSpPr>
        <p:spPr>
          <a:xfrm>
            <a:off x="6629400" y="3406140"/>
            <a:ext cx="640080" cy="640080"/>
          </a:xfrm>
          <a:prstGeom prst="ellipse">
            <a:avLst/>
          </a:prstGeom>
          <a:solidFill>
            <a:schemeClr val="accent2"/>
          </a:solidFill>
          <a:ln/>
        </p:spPr>
      </p:sp>
      <p:sp>
        <p:nvSpPr>
          <p:cNvPr id="36" name="Text 29"/>
          <p:cNvSpPr txBox="1"/>
          <p:nvPr/>
        </p:nvSpPr>
        <p:spPr>
          <a:xfrm>
            <a:off x="6629400" y="340614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B</a:t>
            </a:r>
            <a:endParaRPr lang="en-US" sz="2200" dirty="0"/>
          </a:p>
        </p:txBody>
      </p:sp>
      <p:sp>
        <p:nvSpPr>
          <p:cNvPr id="37" name="Text 30"/>
          <p:cNvSpPr txBox="1"/>
          <p:nvPr/>
        </p:nvSpPr>
        <p:spPr>
          <a:xfrm>
            <a:off x="7498080" y="3200400"/>
            <a:ext cx="3959352" cy="1051560"/>
          </a:xfrm>
          <a:prstGeom prst="rect">
            <a:avLst/>
          </a:prstGeom>
          <a:noFill/>
          <a:ln/>
        </p:spPr>
        <p:txBody>
          <a:bodyPr wrap="square" lIns="0" tIns="0" rIns="0" bIns="0" rtlCol="0" anchor="ctr"/>
          <a:lstStyle/>
          <a:p>
            <a:pPr indent="0" marL="0">
              <a:buNone/>
            </a:pPr>
            <a:r>
              <a:rPr lang="en-US" sz="2000" b="1" dirty="0">
                <a:solidFill>
                  <a:schemeClr val="bg1"/>
                </a:solidFill>
              </a:rPr>
              <a:t>Proceed with safeguards</a:t>
            </a:r>
            <a:endParaRPr lang="en-US" sz="1400" dirty="0"/>
          </a:p>
          <a:p>
            <a:pPr indent="0" marL="0">
              <a:buNone/>
            </a:pPr>
            <a:r>
              <a:rPr lang="en-US" sz="1300" dirty="0">
                <a:solidFill>
                  <a:schemeClr val="accent6"/>
                </a:solidFill>
              </a:rPr>
              <a:t>Which ones? Name two</a:t>
            </a:r>
            <a:endParaRPr lang="en-US" sz="1400" dirty="0"/>
          </a:p>
        </p:txBody>
      </p:sp>
      <p:sp>
        <p:nvSpPr>
          <p:cNvPr id="38" name="Option C"/>
          <p:cNvSpPr/>
          <p:nvPr/>
        </p:nvSpPr>
        <p:spPr>
          <a:xfrm>
            <a:off x="6400800" y="4480560"/>
            <a:ext cx="5239512" cy="1051560"/>
          </a:xfrm>
          <a:prstGeom prst="roundRect">
            <a:avLst>
              <a:gd name="adj" fmla="val 12174"/>
            </a:avLst>
          </a:prstGeom>
          <a:solidFill>
            <a:schemeClr val="bg1">
              <a:alpha val="10000"/>
            </a:schemeClr>
          </a:solidFill>
          <a:ln w="12700">
            <a:solidFill>
              <a:schemeClr val="accent6"/>
            </a:solidFill>
            <a:prstDash val="solid"/>
          </a:ln>
        </p:spPr>
      </p:sp>
      <p:sp>
        <p:nvSpPr>
          <p:cNvPr id="39" name="Badge C"/>
          <p:cNvSpPr/>
          <p:nvPr/>
        </p:nvSpPr>
        <p:spPr>
          <a:xfrm>
            <a:off x="6629400" y="4686300"/>
            <a:ext cx="640080" cy="640080"/>
          </a:xfrm>
          <a:prstGeom prst="ellipse">
            <a:avLst/>
          </a:prstGeom>
          <a:solidFill>
            <a:schemeClr val="accent2"/>
          </a:solidFill>
          <a:ln/>
        </p:spPr>
      </p:sp>
      <p:sp>
        <p:nvSpPr>
          <p:cNvPr id="40" name="Text 33"/>
          <p:cNvSpPr txBox="1"/>
          <p:nvPr/>
        </p:nvSpPr>
        <p:spPr>
          <a:xfrm>
            <a:off x="6629400" y="468630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C</a:t>
            </a:r>
            <a:endParaRPr lang="en-US" sz="2200" dirty="0"/>
          </a:p>
        </p:txBody>
      </p:sp>
      <p:sp>
        <p:nvSpPr>
          <p:cNvPr id="41" name="Text 34"/>
          <p:cNvSpPr txBox="1"/>
          <p:nvPr/>
        </p:nvSpPr>
        <p:spPr>
          <a:xfrm>
            <a:off x="7498080" y="4480560"/>
            <a:ext cx="3959352" cy="1051560"/>
          </a:xfrm>
          <a:prstGeom prst="rect">
            <a:avLst/>
          </a:prstGeom>
          <a:noFill/>
          <a:ln/>
        </p:spPr>
        <p:txBody>
          <a:bodyPr wrap="square" lIns="0" tIns="0" rIns="0" bIns="0" rtlCol="0" anchor="ctr"/>
          <a:lstStyle/>
          <a:p>
            <a:pPr indent="0" marL="0">
              <a:buNone/>
            </a:pPr>
            <a:r>
              <a:rPr lang="en-US" sz="2000" b="1" dirty="0">
                <a:solidFill>
                  <a:schemeClr val="bg1"/>
                </a:solidFill>
              </a:rPr>
              <a:t>Not yet</a:t>
            </a:r>
            <a:endParaRPr lang="en-US" sz="1400" dirty="0"/>
          </a:p>
          <a:p>
            <a:pPr indent="0" marL="0">
              <a:buNone/>
            </a:pPr>
            <a:r>
              <a:rPr lang="en-US" sz="1300" dirty="0">
                <a:solidFill>
                  <a:schemeClr val="accent6"/>
                </a:solidFill>
              </a:rPr>
              <a:t>Fix the consent process before anyone is approached</a:t>
            </a:r>
            <a:endParaRPr lang="en-US" sz="1400" dirty="0"/>
          </a:p>
        </p:txBody>
      </p:sp>
      <p:sp>
        <p:nvSpPr>
          <p:cNvPr id="42" name="Pill Independent consent-taker"/>
          <p:cNvSpPr/>
          <p:nvPr/>
        </p:nvSpPr>
        <p:spPr>
          <a:xfrm>
            <a:off x="6400800" y="5715000"/>
            <a:ext cx="1673352" cy="310896"/>
          </a:xfrm>
          <a:prstGeom prst="roundRect">
            <a:avLst>
              <a:gd name="adj" fmla="val 50000"/>
            </a:avLst>
          </a:prstGeom>
          <a:solidFill>
            <a:schemeClr val="tx2"/>
          </a:solidFill>
          <a:ln w="15875">
            <a:solidFill>
              <a:schemeClr val="accent6"/>
            </a:solidFill>
            <a:prstDash val="dash"/>
          </a:ln>
        </p:spPr>
      </p:sp>
      <p:sp>
        <p:nvSpPr>
          <p:cNvPr id="43" name="Text 36"/>
          <p:cNvSpPr txBox="1"/>
          <p:nvPr/>
        </p:nvSpPr>
        <p:spPr>
          <a:xfrm>
            <a:off x="6400800" y="5715000"/>
            <a:ext cx="1673352" cy="310896"/>
          </a:xfrm>
          <a:prstGeom prst="rect">
            <a:avLst/>
          </a:prstGeom>
          <a:noFill/>
          <a:ln/>
        </p:spPr>
        <p:txBody>
          <a:bodyPr wrap="square" lIns="0" tIns="0" rIns="0" bIns="0" rtlCol="0" anchor="ctr"/>
          <a:lstStyle/>
          <a:p>
            <a:pPr algn="ctr" indent="0" marL="0">
              <a:buNone/>
            </a:pPr>
            <a:r>
              <a:rPr lang="en-US" sz="950" b="1" dirty="0">
                <a:solidFill>
                  <a:schemeClr val="accent6"/>
                </a:solidFill>
              </a:rPr>
              <a:t>Independent consent-taker</a:t>
            </a:r>
            <a:endParaRPr lang="en-US" sz="950" dirty="0"/>
          </a:p>
        </p:txBody>
      </p:sp>
      <p:sp>
        <p:nvSpPr>
          <p:cNvPr id="44" name="Pill Odia or Hindi, teach-back"/>
          <p:cNvSpPr/>
          <p:nvPr/>
        </p:nvSpPr>
        <p:spPr>
          <a:xfrm>
            <a:off x="8183880" y="5715000"/>
            <a:ext cx="1673352" cy="310896"/>
          </a:xfrm>
          <a:prstGeom prst="roundRect">
            <a:avLst>
              <a:gd name="adj" fmla="val 50000"/>
            </a:avLst>
          </a:prstGeom>
          <a:solidFill>
            <a:schemeClr val="tx2"/>
          </a:solidFill>
          <a:ln w="15875">
            <a:solidFill>
              <a:schemeClr val="accent6"/>
            </a:solidFill>
            <a:prstDash val="dash"/>
          </a:ln>
        </p:spPr>
      </p:sp>
      <p:sp>
        <p:nvSpPr>
          <p:cNvPr id="45" name="Text 38"/>
          <p:cNvSpPr txBox="1"/>
          <p:nvPr/>
        </p:nvSpPr>
        <p:spPr>
          <a:xfrm>
            <a:off x="8183880" y="5715000"/>
            <a:ext cx="1673352" cy="310896"/>
          </a:xfrm>
          <a:prstGeom prst="rect">
            <a:avLst/>
          </a:prstGeom>
          <a:noFill/>
          <a:ln/>
        </p:spPr>
        <p:txBody>
          <a:bodyPr wrap="square" lIns="0" tIns="0" rIns="0" bIns="0" rtlCol="0" anchor="ctr"/>
          <a:lstStyle/>
          <a:p>
            <a:pPr algn="ctr" indent="0" marL="0">
              <a:buNone/>
            </a:pPr>
            <a:r>
              <a:rPr lang="en-US" sz="950" b="1" dirty="0">
                <a:solidFill>
                  <a:schemeClr val="accent6"/>
                </a:solidFill>
              </a:rPr>
              <a:t>Odia or Hindi, teach-back</a:t>
            </a:r>
            <a:endParaRPr lang="en-US" sz="950" dirty="0"/>
          </a:p>
        </p:txBody>
      </p:sp>
      <p:sp>
        <p:nvSpPr>
          <p:cNvPr id="46" name="Pill Interest disclosed to the EC"/>
          <p:cNvSpPr/>
          <p:nvPr/>
        </p:nvSpPr>
        <p:spPr>
          <a:xfrm>
            <a:off x="9966960" y="5715000"/>
            <a:ext cx="1673352" cy="310896"/>
          </a:xfrm>
          <a:prstGeom prst="roundRect">
            <a:avLst>
              <a:gd name="adj" fmla="val 50000"/>
            </a:avLst>
          </a:prstGeom>
          <a:solidFill>
            <a:schemeClr val="tx2"/>
          </a:solidFill>
          <a:ln w="15875">
            <a:solidFill>
              <a:schemeClr val="accent6"/>
            </a:solidFill>
            <a:prstDash val="dash"/>
          </a:ln>
        </p:spPr>
      </p:sp>
      <p:sp>
        <p:nvSpPr>
          <p:cNvPr id="47" name="Text 40"/>
          <p:cNvSpPr txBox="1"/>
          <p:nvPr/>
        </p:nvSpPr>
        <p:spPr>
          <a:xfrm>
            <a:off x="9966960" y="5715000"/>
            <a:ext cx="1673352" cy="310896"/>
          </a:xfrm>
          <a:prstGeom prst="rect">
            <a:avLst/>
          </a:prstGeom>
          <a:noFill/>
          <a:ln/>
        </p:spPr>
        <p:txBody>
          <a:bodyPr wrap="square" lIns="0" tIns="0" rIns="0" bIns="0" rtlCol="0" anchor="ctr"/>
          <a:lstStyle/>
          <a:p>
            <a:pPr algn="ctr" indent="0" marL="0">
              <a:buNone/>
            </a:pPr>
            <a:r>
              <a:rPr lang="en-US" sz="950" b="1" dirty="0">
                <a:solidFill>
                  <a:schemeClr val="accent6"/>
                </a:solidFill>
              </a:rPr>
              <a:t>Interest disclosed to the EC</a:t>
            </a: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PEOPLE · CONSENT IN INDIA</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What valid consent requires in India</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ICMR 2017, ss. 2, 5, 6, 7.7; NDCT Rules 2019, Rules 7–8; MDR-2017 Chapter VII, Forms MD-22/23; CDSCO MD-22 checklist; Helsinki 2024, para 27; CIOMS 2016, Guideline 9; 45 CFR 46.116 (comparator)</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268712" y="347472"/>
            <a:ext cx="219456" cy="219456"/>
          </a:xfrm>
          <a:prstGeom prst="ellipse">
            <a:avLst/>
          </a:prstGeom>
          <a:solidFill>
            <a:schemeClr val="accent1"/>
          </a:solidFill>
          <a:ln w="12700">
            <a:solidFill>
              <a:schemeClr val="accent1"/>
            </a:solidFill>
            <a:prstDash val="solid"/>
          </a:ln>
        </p:spPr>
      </p:sp>
      <p:sp>
        <p:nvSpPr>
          <p:cNvPr id="8" name="Progress Permission"/>
          <p:cNvSpPr/>
          <p:nvPr/>
        </p:nvSpPr>
        <p:spPr>
          <a:xfrm>
            <a:off x="10680192" y="393192"/>
            <a:ext cx="128016" cy="128016"/>
          </a:xfrm>
          <a:prstGeom prst="ellipse">
            <a:avLst/>
          </a:prstGeom>
          <a:solidFill>
            <a:schemeClr val="bg1"/>
          </a:solidFill>
          <a:ln w="12700">
            <a:solidFill>
              <a:schemeClr val="accent5"/>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Text 9"/>
          <p:cNvSpPr txBox="1"/>
          <p:nvPr/>
        </p:nvSpPr>
        <p:spPr>
          <a:xfrm>
            <a:off x="548640" y="1481328"/>
            <a:ext cx="5989320" cy="256032"/>
          </a:xfrm>
          <a:prstGeom prst="rect">
            <a:avLst/>
          </a:prstGeom>
          <a:noFill/>
          <a:ln/>
        </p:spPr>
        <p:txBody>
          <a:bodyPr wrap="square" lIns="0" tIns="0" rIns="0" bIns="0" rtlCol="0" anchor="t"/>
          <a:lstStyle/>
          <a:p>
            <a:pPr indent="0" marL="0">
              <a:buNone/>
            </a:pPr>
            <a:r>
              <a:rPr lang="en-US" sz="1200" b="1" dirty="0">
                <a:solidFill>
                  <a:schemeClr val="tx2"/>
                </a:solidFill>
              </a:rPr>
              <a:t>Eight requirements of valid consent · ICMR 2017 ss. 5–7 · NDCT Rules 2019</a:t>
            </a:r>
            <a:endParaRPr lang="en-US" sz="1200" dirty="0"/>
          </a:p>
        </p:txBody>
      </p:sp>
      <p:sp>
        <p:nvSpPr>
          <p:cNvPr id="13" name="Rule"/>
          <p:cNvSpPr/>
          <p:nvPr/>
        </p:nvSpPr>
        <p:spPr>
          <a:xfrm>
            <a:off x="795528" y="2103120"/>
            <a:ext cx="0" cy="3744468"/>
          </a:xfrm>
          <a:prstGeom prst="line">
            <a:avLst/>
          </a:prstGeom>
          <a:noFill/>
          <a:ln w="25400">
            <a:solidFill>
              <a:srgbClr val="C9D6D3"/>
            </a:solidFill>
            <a:prstDash val="solid"/>
          </a:ln>
        </p:spPr>
      </p:sp>
      <p:sp>
        <p:nvSpPr>
          <p:cNvPr id="14" name="Badge 1"/>
          <p:cNvSpPr/>
          <p:nvPr/>
        </p:nvSpPr>
        <p:spPr>
          <a:xfrm>
            <a:off x="548640" y="1828800"/>
            <a:ext cx="493776" cy="493776"/>
          </a:xfrm>
          <a:prstGeom prst="ellipse">
            <a:avLst/>
          </a:prstGeom>
          <a:solidFill>
            <a:schemeClr val="accent1"/>
          </a:solidFill>
          <a:ln/>
        </p:spPr>
      </p:sp>
      <p:sp>
        <p:nvSpPr>
          <p:cNvPr id="15" name="Text 12"/>
          <p:cNvSpPr txBox="1"/>
          <p:nvPr/>
        </p:nvSpPr>
        <p:spPr>
          <a:xfrm>
            <a:off x="548640" y="1828800"/>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6" name="Text 13"/>
          <p:cNvSpPr txBox="1"/>
          <p:nvPr/>
        </p:nvSpPr>
        <p:spPr>
          <a:xfrm>
            <a:off x="1234440" y="1810512"/>
            <a:ext cx="5303520" cy="461772"/>
          </a:xfrm>
          <a:prstGeom prst="rect">
            <a:avLst/>
          </a:prstGeom>
          <a:noFill/>
          <a:ln/>
        </p:spPr>
        <p:txBody>
          <a:bodyPr wrap="square" lIns="0" tIns="0" rIns="0" bIns="0" rtlCol="0" anchor="t"/>
          <a:lstStyle/>
          <a:p>
            <a:pPr indent="0" marL="0">
              <a:buNone/>
            </a:pPr>
            <a:r>
              <a:rPr lang="en-US" sz="1150" b="1" dirty="0">
                <a:solidFill>
                  <a:schemeClr val="tx1"/>
                </a:solidFill>
              </a:rPr>
              <a:t>Information, key facts first</a:t>
            </a:r>
            <a:endParaRPr lang="en-US" sz="1150" dirty="0"/>
          </a:p>
          <a:p>
            <a:pPr indent="0" marL="0">
              <a:buNone/>
            </a:pPr>
            <a:r>
              <a:rPr lang="en-US" sz="950" dirty="0">
                <a:solidFill>
                  <a:schemeClr val="tx2"/>
                </a:solidFill>
              </a:rPr>
              <a:t>Purpose, procedures, risks, benefits, alternatives; the US Common Rule (45 CFR 46.116) starts with key information</a:t>
            </a:r>
            <a:endParaRPr lang="en-US" sz="1150" dirty="0"/>
          </a:p>
        </p:txBody>
      </p:sp>
      <p:sp>
        <p:nvSpPr>
          <p:cNvPr id="17" name="Badge 2"/>
          <p:cNvSpPr/>
          <p:nvPr/>
        </p:nvSpPr>
        <p:spPr>
          <a:xfrm>
            <a:off x="548640" y="2363724"/>
            <a:ext cx="493776" cy="493776"/>
          </a:xfrm>
          <a:prstGeom prst="ellipse">
            <a:avLst/>
          </a:prstGeom>
          <a:solidFill>
            <a:schemeClr val="accent1"/>
          </a:solidFill>
          <a:ln/>
        </p:spPr>
      </p:sp>
      <p:sp>
        <p:nvSpPr>
          <p:cNvPr id="18" name="Text 15"/>
          <p:cNvSpPr txBox="1"/>
          <p:nvPr/>
        </p:nvSpPr>
        <p:spPr>
          <a:xfrm>
            <a:off x="548640" y="2363724"/>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9" name="Text 16"/>
          <p:cNvSpPr txBox="1"/>
          <p:nvPr/>
        </p:nvSpPr>
        <p:spPr>
          <a:xfrm>
            <a:off x="1234440" y="2345436"/>
            <a:ext cx="5303520" cy="461772"/>
          </a:xfrm>
          <a:prstGeom prst="rect">
            <a:avLst/>
          </a:prstGeom>
          <a:noFill/>
          <a:ln/>
        </p:spPr>
        <p:txBody>
          <a:bodyPr wrap="square" lIns="0" tIns="0" rIns="0" bIns="0" rtlCol="0" anchor="t"/>
          <a:lstStyle/>
          <a:p>
            <a:pPr indent="0" marL="0">
              <a:buNone/>
            </a:pPr>
            <a:r>
              <a:rPr lang="en-US" sz="1150" b="1" dirty="0">
                <a:solidFill>
                  <a:schemeClr val="tx1"/>
                </a:solidFill>
              </a:rPr>
              <a:t>A language the participant understands</a:t>
            </a:r>
            <a:endParaRPr lang="en-US" sz="1150" dirty="0"/>
          </a:p>
          <a:p>
            <a:pPr indent="0" marL="0">
              <a:buNone/>
            </a:pPr>
            <a:r>
              <a:rPr lang="en-US" sz="950" dirty="0">
                <a:solidFill>
                  <a:schemeClr val="tx2"/>
                </a:solidFill>
              </a:rPr>
              <a:t>Odia or Hindi, not English only; plain words; teach-back (MRCT plain-language glossary)</a:t>
            </a:r>
            <a:endParaRPr lang="en-US" sz="1150" dirty="0"/>
          </a:p>
        </p:txBody>
      </p:sp>
      <p:sp>
        <p:nvSpPr>
          <p:cNvPr id="20" name="Badge 3"/>
          <p:cNvSpPr/>
          <p:nvPr/>
        </p:nvSpPr>
        <p:spPr>
          <a:xfrm>
            <a:off x="548640" y="2898648"/>
            <a:ext cx="493776" cy="493776"/>
          </a:xfrm>
          <a:prstGeom prst="ellipse">
            <a:avLst/>
          </a:prstGeom>
          <a:solidFill>
            <a:schemeClr val="accent1"/>
          </a:solidFill>
          <a:ln/>
        </p:spPr>
      </p:sp>
      <p:sp>
        <p:nvSpPr>
          <p:cNvPr id="21" name="Text 18"/>
          <p:cNvSpPr txBox="1"/>
          <p:nvPr/>
        </p:nvSpPr>
        <p:spPr>
          <a:xfrm>
            <a:off x="548640" y="2898648"/>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2" name="Text 19"/>
          <p:cNvSpPr txBox="1"/>
          <p:nvPr/>
        </p:nvSpPr>
        <p:spPr>
          <a:xfrm>
            <a:off x="1234440" y="2880360"/>
            <a:ext cx="5303520" cy="461772"/>
          </a:xfrm>
          <a:prstGeom prst="rect">
            <a:avLst/>
          </a:prstGeom>
          <a:noFill/>
          <a:ln/>
        </p:spPr>
        <p:txBody>
          <a:bodyPr wrap="square" lIns="0" tIns="0" rIns="0" bIns="0" rtlCol="0" anchor="t"/>
          <a:lstStyle/>
          <a:p>
            <a:pPr indent="0" marL="0">
              <a:buNone/>
            </a:pPr>
            <a:r>
              <a:rPr lang="en-US" sz="1150" b="1" dirty="0">
                <a:solidFill>
                  <a:schemeClr val="tx1"/>
                </a:solidFill>
              </a:rPr>
              <a:t>An impartial witness if the participant cannot read</a:t>
            </a:r>
            <a:endParaRPr lang="en-US" sz="1150" dirty="0"/>
          </a:p>
          <a:p>
            <a:pPr indent="0" marL="0">
              <a:buNone/>
            </a:pPr>
            <a:r>
              <a:rPr lang="en-US" sz="950" dirty="0">
                <a:solidFill>
                  <a:schemeClr val="tx2"/>
                </a:solidFill>
              </a:rPr>
              <a:t>A literate witness unconnected to the research signs with the participant (ICMR 2017, s. 5)</a:t>
            </a:r>
            <a:endParaRPr lang="en-US" sz="1150" dirty="0"/>
          </a:p>
        </p:txBody>
      </p:sp>
      <p:sp>
        <p:nvSpPr>
          <p:cNvPr id="23" name="Badge 4"/>
          <p:cNvSpPr/>
          <p:nvPr/>
        </p:nvSpPr>
        <p:spPr>
          <a:xfrm>
            <a:off x="548640" y="3433572"/>
            <a:ext cx="493776" cy="493776"/>
          </a:xfrm>
          <a:prstGeom prst="ellipse">
            <a:avLst/>
          </a:prstGeom>
          <a:solidFill>
            <a:schemeClr val="accent1"/>
          </a:solidFill>
          <a:ln/>
        </p:spPr>
      </p:sp>
      <p:sp>
        <p:nvSpPr>
          <p:cNvPr id="24" name="Text 21"/>
          <p:cNvSpPr txBox="1"/>
          <p:nvPr/>
        </p:nvSpPr>
        <p:spPr>
          <a:xfrm>
            <a:off x="548640" y="3433572"/>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5" name="Text 22"/>
          <p:cNvSpPr txBox="1"/>
          <p:nvPr/>
        </p:nvSpPr>
        <p:spPr>
          <a:xfrm>
            <a:off x="1234440" y="3415284"/>
            <a:ext cx="5303520" cy="461772"/>
          </a:xfrm>
          <a:prstGeom prst="rect">
            <a:avLst/>
          </a:prstGeom>
          <a:noFill/>
          <a:ln/>
        </p:spPr>
        <p:txBody>
          <a:bodyPr wrap="square" lIns="0" tIns="0" rIns="0" bIns="0" rtlCol="0" anchor="t"/>
          <a:lstStyle/>
          <a:p>
            <a:pPr indent="0" marL="0">
              <a:buNone/>
            </a:pPr>
            <a:r>
              <a:rPr lang="en-US" sz="1150" b="1" dirty="0">
                <a:solidFill>
                  <a:schemeClr val="tx1"/>
                </a:solidFill>
              </a:rPr>
              <a:t>Legally authorised representative where capacity is impaired</a:t>
            </a:r>
            <a:endParaRPr lang="en-US" sz="1150" dirty="0"/>
          </a:p>
          <a:p>
            <a:pPr indent="0" marL="0">
              <a:buNone/>
            </a:pPr>
            <a:r>
              <a:rPr lang="en-US" sz="950" dirty="0">
                <a:solidFill>
                  <a:schemeClr val="tx2"/>
                </a:solidFill>
              </a:rPr>
              <a:t>Fluctuating cognition, older and dependent people: LAR consent plus assent (ICMR 2017, s. 6)</a:t>
            </a:r>
            <a:endParaRPr lang="en-US" sz="1150" dirty="0"/>
          </a:p>
        </p:txBody>
      </p:sp>
      <p:sp>
        <p:nvSpPr>
          <p:cNvPr id="26" name="Badge 5"/>
          <p:cNvSpPr/>
          <p:nvPr/>
        </p:nvSpPr>
        <p:spPr>
          <a:xfrm>
            <a:off x="548640" y="3968496"/>
            <a:ext cx="493776" cy="493776"/>
          </a:xfrm>
          <a:prstGeom prst="ellipse">
            <a:avLst/>
          </a:prstGeom>
          <a:solidFill>
            <a:schemeClr val="accent1"/>
          </a:solidFill>
          <a:ln/>
        </p:spPr>
      </p:sp>
      <p:sp>
        <p:nvSpPr>
          <p:cNvPr id="27" name="Text 24"/>
          <p:cNvSpPr txBox="1"/>
          <p:nvPr/>
        </p:nvSpPr>
        <p:spPr>
          <a:xfrm>
            <a:off x="548640" y="3968496"/>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8" name="Text 25"/>
          <p:cNvSpPr txBox="1"/>
          <p:nvPr/>
        </p:nvSpPr>
        <p:spPr>
          <a:xfrm>
            <a:off x="1234440" y="3950208"/>
            <a:ext cx="5303520" cy="461772"/>
          </a:xfrm>
          <a:prstGeom prst="rect">
            <a:avLst/>
          </a:prstGeom>
          <a:noFill/>
          <a:ln/>
        </p:spPr>
        <p:txBody>
          <a:bodyPr wrap="square" lIns="0" tIns="0" rIns="0" bIns="0" rtlCol="0" anchor="t"/>
          <a:lstStyle/>
          <a:p>
            <a:pPr indent="0" marL="0">
              <a:buNone/>
            </a:pPr>
            <a:r>
              <a:rPr lang="en-US" sz="1150" b="1" dirty="0">
                <a:solidFill>
                  <a:schemeClr val="tx1"/>
                </a:solidFill>
              </a:rPr>
              <a:t>Audio-visual recording where the rules require it</a:t>
            </a:r>
            <a:endParaRPr lang="en-US" sz="1150" dirty="0"/>
          </a:p>
          <a:p>
            <a:pPr indent="0" marL="0">
              <a:buNone/>
            </a:pPr>
            <a:r>
              <a:rPr lang="en-US" sz="950" dirty="0">
                <a:solidFill>
                  <a:schemeClr val="tx2"/>
                </a:solidFill>
              </a:rPr>
              <a:t>NDCT Rules: vulnerable participants in new-drug trials; ICMR allows AV documentation, witness in frame</a:t>
            </a:r>
            <a:endParaRPr lang="en-US" sz="1150" dirty="0"/>
          </a:p>
        </p:txBody>
      </p:sp>
      <p:sp>
        <p:nvSpPr>
          <p:cNvPr id="29" name="Badge 6"/>
          <p:cNvSpPr/>
          <p:nvPr/>
        </p:nvSpPr>
        <p:spPr>
          <a:xfrm>
            <a:off x="548640" y="4503420"/>
            <a:ext cx="493776" cy="493776"/>
          </a:xfrm>
          <a:prstGeom prst="ellipse">
            <a:avLst/>
          </a:prstGeom>
          <a:solidFill>
            <a:schemeClr val="accent1"/>
          </a:solidFill>
          <a:ln/>
        </p:spPr>
      </p:sp>
      <p:sp>
        <p:nvSpPr>
          <p:cNvPr id="30" name="Text 27"/>
          <p:cNvSpPr txBox="1"/>
          <p:nvPr/>
        </p:nvSpPr>
        <p:spPr>
          <a:xfrm>
            <a:off x="548640" y="4503420"/>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31" name="Text 28"/>
          <p:cNvSpPr txBox="1"/>
          <p:nvPr/>
        </p:nvSpPr>
        <p:spPr>
          <a:xfrm>
            <a:off x="1234440" y="4485132"/>
            <a:ext cx="5303520" cy="461772"/>
          </a:xfrm>
          <a:prstGeom prst="rect">
            <a:avLst/>
          </a:prstGeom>
          <a:noFill/>
          <a:ln/>
        </p:spPr>
        <p:txBody>
          <a:bodyPr wrap="square" lIns="0" tIns="0" rIns="0" bIns="0" rtlCol="0" anchor="t"/>
          <a:lstStyle/>
          <a:p>
            <a:pPr indent="0" marL="0">
              <a:buNone/>
            </a:pPr>
            <a:r>
              <a:rPr lang="en-US" sz="1150" b="1" dirty="0">
                <a:solidFill>
                  <a:schemeClr val="tx1"/>
                </a:solidFill>
              </a:rPr>
              <a:t>Re-consent when anything material changes</a:t>
            </a:r>
            <a:endParaRPr lang="en-US" sz="1150" dirty="0"/>
          </a:p>
          <a:p>
            <a:pPr indent="0" marL="0">
              <a:buNone/>
            </a:pPr>
            <a:r>
              <a:rPr lang="en-US" sz="950" dirty="0">
                <a:solidFill>
                  <a:schemeClr val="tx2"/>
                </a:solidFill>
              </a:rPr>
              <a:t>New risks, a new software version or protocol: ethics-committee amendment, then the participant again</a:t>
            </a:r>
            <a:endParaRPr lang="en-US" sz="1150" dirty="0"/>
          </a:p>
        </p:txBody>
      </p:sp>
      <p:sp>
        <p:nvSpPr>
          <p:cNvPr id="32" name="Badge 7"/>
          <p:cNvSpPr/>
          <p:nvPr/>
        </p:nvSpPr>
        <p:spPr>
          <a:xfrm>
            <a:off x="548640" y="5038344"/>
            <a:ext cx="493776" cy="493776"/>
          </a:xfrm>
          <a:prstGeom prst="ellipse">
            <a:avLst/>
          </a:prstGeom>
          <a:solidFill>
            <a:schemeClr val="accent1"/>
          </a:solidFill>
          <a:ln/>
        </p:spPr>
      </p:sp>
      <p:sp>
        <p:nvSpPr>
          <p:cNvPr id="33" name="Text 30"/>
          <p:cNvSpPr txBox="1"/>
          <p:nvPr/>
        </p:nvSpPr>
        <p:spPr>
          <a:xfrm>
            <a:off x="548640" y="5038344"/>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7</a:t>
            </a:r>
            <a:endParaRPr lang="en-US" sz="1500" dirty="0"/>
          </a:p>
        </p:txBody>
      </p:sp>
      <p:sp>
        <p:nvSpPr>
          <p:cNvPr id="34" name="Text 31"/>
          <p:cNvSpPr txBox="1"/>
          <p:nvPr/>
        </p:nvSpPr>
        <p:spPr>
          <a:xfrm>
            <a:off x="1234440" y="5020056"/>
            <a:ext cx="5303520" cy="461772"/>
          </a:xfrm>
          <a:prstGeom prst="rect">
            <a:avLst/>
          </a:prstGeom>
          <a:noFill/>
          <a:ln/>
        </p:spPr>
        <p:txBody>
          <a:bodyPr wrap="square" lIns="0" tIns="0" rIns="0" bIns="0" rtlCol="0" anchor="t"/>
          <a:lstStyle/>
          <a:p>
            <a:pPr indent="0" marL="0">
              <a:buNone/>
            </a:pPr>
            <a:r>
              <a:rPr lang="en-US" sz="1150" b="1" dirty="0">
                <a:solidFill>
                  <a:schemeClr val="tx1"/>
                </a:solidFill>
              </a:rPr>
              <a:t>Withdrawal at any time, without penalty</a:t>
            </a:r>
            <a:endParaRPr lang="en-US" sz="1150" dirty="0"/>
          </a:p>
          <a:p>
            <a:pPr indent="0" marL="0">
              <a:buNone/>
            </a:pPr>
            <a:r>
              <a:rPr lang="en-US" sz="950" dirty="0">
                <a:solidFill>
                  <a:schemeClr val="tx2"/>
                </a:solidFill>
              </a:rPr>
              <a:t>Refusal or withdrawal must not change care (ICMR 2017; CIOMS 2016 Guideline 9)</a:t>
            </a:r>
            <a:endParaRPr lang="en-US" sz="1150" dirty="0"/>
          </a:p>
        </p:txBody>
      </p:sp>
      <p:sp>
        <p:nvSpPr>
          <p:cNvPr id="35" name="Badge 8"/>
          <p:cNvSpPr/>
          <p:nvPr/>
        </p:nvSpPr>
        <p:spPr>
          <a:xfrm>
            <a:off x="548640" y="5573268"/>
            <a:ext cx="493776" cy="493776"/>
          </a:xfrm>
          <a:prstGeom prst="ellipse">
            <a:avLst/>
          </a:prstGeom>
          <a:solidFill>
            <a:schemeClr val="accent1"/>
          </a:solidFill>
          <a:ln/>
        </p:spPr>
      </p:sp>
      <p:sp>
        <p:nvSpPr>
          <p:cNvPr id="36" name="Text 33"/>
          <p:cNvSpPr txBox="1"/>
          <p:nvPr/>
        </p:nvSpPr>
        <p:spPr>
          <a:xfrm>
            <a:off x="548640" y="5573268"/>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8</a:t>
            </a:r>
            <a:endParaRPr lang="en-US" sz="1500" dirty="0"/>
          </a:p>
        </p:txBody>
      </p:sp>
      <p:sp>
        <p:nvSpPr>
          <p:cNvPr id="37" name="Text 34"/>
          <p:cNvSpPr txBox="1"/>
          <p:nvPr/>
        </p:nvSpPr>
        <p:spPr>
          <a:xfrm>
            <a:off x="1234440" y="5554980"/>
            <a:ext cx="5303520" cy="461772"/>
          </a:xfrm>
          <a:prstGeom prst="rect">
            <a:avLst/>
          </a:prstGeom>
          <a:noFill/>
          <a:ln/>
        </p:spPr>
        <p:txBody>
          <a:bodyPr wrap="square" lIns="0" tIns="0" rIns="0" bIns="0" rtlCol="0" anchor="t"/>
          <a:lstStyle/>
          <a:p>
            <a:pPr indent="0" marL="0">
              <a:buNone/>
            </a:pPr>
            <a:r>
              <a:rPr lang="en-US" sz="1150" b="1" dirty="0">
                <a:solidFill>
                  <a:schemeClr val="tx1"/>
                </a:solidFill>
              </a:rPr>
              <a:t>Compensation for research-related injury</a:t>
            </a:r>
            <a:endParaRPr lang="en-US" sz="1150" dirty="0"/>
          </a:p>
          <a:p>
            <a:pPr indent="0" marL="0">
              <a:buNone/>
            </a:pPr>
            <a:r>
              <a:rPr lang="en-US" sz="950" dirty="0">
                <a:solidFill>
                  <a:schemeClr val="tx2"/>
                </a:solidFill>
              </a:rPr>
              <a:t>Free medical management and compensation; insurance is on the CDSCO Form MD-22 checklist</a:t>
            </a:r>
            <a:endParaRPr lang="en-US" sz="1150" dirty="0"/>
          </a:p>
        </p:txBody>
      </p:sp>
      <p:sp>
        <p:nvSpPr>
          <p:cNvPr id="38" name="Gate panel"/>
          <p:cNvSpPr/>
          <p:nvPr/>
        </p:nvSpPr>
        <p:spPr>
          <a:xfrm>
            <a:off x="6812280" y="1481328"/>
            <a:ext cx="4830775" cy="1517904"/>
          </a:xfrm>
          <a:prstGeom prst="roundRect">
            <a:avLst>
              <a:gd name="adj" fmla="val 8434"/>
            </a:avLst>
          </a:prstGeom>
          <a:solidFill>
            <a:schemeClr val="bg2"/>
          </a:solidFill>
          <a:ln/>
        </p:spPr>
      </p:sp>
      <p:sp>
        <p:nvSpPr>
          <p:cNvPr id="39" name="Gate accent"/>
          <p:cNvSpPr/>
          <p:nvPr/>
        </p:nvSpPr>
        <p:spPr>
          <a:xfrm>
            <a:off x="6812280" y="1664208"/>
            <a:ext cx="64008" cy="1152144"/>
          </a:xfrm>
          <a:prstGeom prst="rect">
            <a:avLst/>
          </a:prstGeom>
          <a:solidFill>
            <a:schemeClr val="accent4"/>
          </a:solidFill>
          <a:ln/>
        </p:spPr>
      </p:sp>
      <p:sp>
        <p:nvSpPr>
          <p:cNvPr id="40" name="Text 37"/>
          <p:cNvSpPr txBox="1"/>
          <p:nvPr/>
        </p:nvSpPr>
        <p:spPr>
          <a:xfrm>
            <a:off x="7040880" y="1554480"/>
            <a:ext cx="4465015" cy="256032"/>
          </a:xfrm>
          <a:prstGeom prst="rect">
            <a:avLst/>
          </a:prstGeom>
          <a:noFill/>
          <a:ln/>
        </p:spPr>
        <p:txBody>
          <a:bodyPr wrap="square" lIns="0" tIns="0" rIns="0" bIns="0" rtlCol="0" anchor="t"/>
          <a:lstStyle/>
          <a:p>
            <a:pPr indent="0" marL="0">
              <a:buNone/>
            </a:pPr>
            <a:r>
              <a:rPr lang="en-US" sz="1200" b="1" dirty="0">
                <a:solidFill>
                  <a:schemeClr val="accent4"/>
                </a:solidFill>
              </a:rPr>
              <a:t>Before the first participant is approached</a:t>
            </a:r>
            <a:endParaRPr lang="en-US" sz="1200" dirty="0"/>
          </a:p>
        </p:txBody>
      </p:sp>
      <p:sp>
        <p:nvSpPr>
          <p:cNvPr id="41" name="Icon disc LuBadgeCheck"/>
          <p:cNvSpPr/>
          <p:nvPr/>
        </p:nvSpPr>
        <p:spPr>
          <a:xfrm>
            <a:off x="7040880" y="1865376"/>
            <a:ext cx="292608" cy="292608"/>
          </a:xfrm>
          <a:prstGeom prst="ellipse">
            <a:avLst/>
          </a:prstGeom>
          <a:solidFill>
            <a:schemeClr val="accent4">
              <a:alpha val="20000"/>
            </a:schemeClr>
          </a:solidFill>
          <a:ln/>
        </p:spPr>
      </p:sp>
      <p:pic>
        <p:nvPicPr>
          <p:cNvPr id="42" name="Image 0" descr="BadgeCheck icon">    </p:cNvPr>
          <p:cNvPicPr>
            <a:picLocks noChangeAspect="1"/>
          </p:cNvPicPr>
          <p:nvPr/>
        </p:nvPicPr>
        <p:blipFill>
          <a:blip r:embed="rId1"/>
          <a:stretch>
            <a:fillRect/>
          </a:stretch>
        </p:blipFill>
        <p:spPr>
          <a:xfrm>
            <a:off x="7105254" y="1929750"/>
            <a:ext cx="163860" cy="163860"/>
          </a:xfrm>
          <a:prstGeom prst="rect">
            <a:avLst/>
          </a:prstGeom>
        </p:spPr>
      </p:pic>
      <p:sp>
        <p:nvSpPr>
          <p:cNvPr id="43" name="Text 39"/>
          <p:cNvSpPr txBox="1"/>
          <p:nvPr/>
        </p:nvSpPr>
        <p:spPr>
          <a:xfrm>
            <a:off x="7434072" y="1847088"/>
            <a:ext cx="4053535" cy="347472"/>
          </a:xfrm>
          <a:prstGeom prst="rect">
            <a:avLst/>
          </a:prstGeom>
          <a:noFill/>
          <a:ln/>
        </p:spPr>
        <p:txBody>
          <a:bodyPr wrap="square" lIns="0" tIns="0" rIns="0" bIns="0" rtlCol="0" anchor="ctr"/>
          <a:lstStyle/>
          <a:p>
            <a:pPr indent="0" marL="0">
              <a:buNone/>
            </a:pPr>
            <a:r>
              <a:rPr lang="en-US" sz="1050" b="1" dirty="0">
                <a:solidFill>
                  <a:schemeClr val="tx1"/>
                </a:solidFill>
              </a:rPr>
              <a:t>Ethics committee registered with CDSCO</a:t>
            </a:r>
            <a:pPr indent="0" marL="0">
              <a:buNone/>
            </a:pPr>
            <a:r>
              <a:rPr lang="en-US" sz="950" dirty="0">
                <a:solidFill>
                  <a:schemeClr val="tx2"/>
                </a:solidFill>
              </a:rPr>
              <a:t> · NDCT Rules 2019, Rules 7–8; MDR-2017 refers to the ethics committee in Rule 50</a:t>
            </a:r>
            <a:endParaRPr lang="en-US" sz="1050" dirty="0"/>
          </a:p>
        </p:txBody>
      </p:sp>
      <p:sp>
        <p:nvSpPr>
          <p:cNvPr id="44" name="Icon disc LuFileCheck"/>
          <p:cNvSpPr/>
          <p:nvPr/>
        </p:nvSpPr>
        <p:spPr>
          <a:xfrm>
            <a:off x="7040880" y="2231136"/>
            <a:ext cx="292608" cy="292608"/>
          </a:xfrm>
          <a:prstGeom prst="ellipse">
            <a:avLst/>
          </a:prstGeom>
          <a:solidFill>
            <a:schemeClr val="accent4">
              <a:alpha val="20000"/>
            </a:schemeClr>
          </a:solidFill>
          <a:ln/>
        </p:spPr>
      </p:sp>
      <p:pic>
        <p:nvPicPr>
          <p:cNvPr id="45" name="Image 1" descr="FileCheck icon">    </p:cNvPr>
          <p:cNvPicPr>
            <a:picLocks noChangeAspect="1"/>
          </p:cNvPicPr>
          <p:nvPr/>
        </p:nvPicPr>
        <p:blipFill>
          <a:blip r:embed="rId2"/>
          <a:stretch>
            <a:fillRect/>
          </a:stretch>
        </p:blipFill>
        <p:spPr>
          <a:xfrm>
            <a:off x="7105254" y="2295510"/>
            <a:ext cx="163860" cy="163860"/>
          </a:xfrm>
          <a:prstGeom prst="rect">
            <a:avLst/>
          </a:prstGeom>
        </p:spPr>
      </p:pic>
      <p:sp>
        <p:nvSpPr>
          <p:cNvPr id="46" name="Text 41"/>
          <p:cNvSpPr txBox="1"/>
          <p:nvPr/>
        </p:nvSpPr>
        <p:spPr>
          <a:xfrm>
            <a:off x="7434072" y="2212848"/>
            <a:ext cx="4053535" cy="347472"/>
          </a:xfrm>
          <a:prstGeom prst="rect">
            <a:avLst/>
          </a:prstGeom>
          <a:noFill/>
          <a:ln/>
        </p:spPr>
        <p:txBody>
          <a:bodyPr wrap="square" lIns="0" tIns="0" rIns="0" bIns="0" rtlCol="0" anchor="ctr"/>
          <a:lstStyle/>
          <a:p>
            <a:pPr indent="0" marL="0">
              <a:buNone/>
            </a:pPr>
            <a:r>
              <a:rPr lang="en-US" sz="1050" b="1" dirty="0">
                <a:solidFill>
                  <a:schemeClr val="tx1"/>
                </a:solidFill>
              </a:rPr>
              <a:t>CLA permission, Form MD-22 → MD-23</a:t>
            </a:r>
            <a:pPr indent="0" marL="0">
              <a:buNone/>
            </a:pPr>
            <a:r>
              <a:rPr lang="en-US" sz="950" dirty="0">
                <a:solidFill>
                  <a:schemeClr val="tx2"/>
                </a:solidFill>
              </a:rPr>
              <a:t> · Seventh Schedule: consent form, investigation plan, insurance; start within one year</a:t>
            </a:r>
            <a:endParaRPr lang="en-US" sz="1050" dirty="0"/>
          </a:p>
        </p:txBody>
      </p:sp>
      <p:sp>
        <p:nvSpPr>
          <p:cNvPr id="47" name="Icon disc LuClipboardCheck"/>
          <p:cNvSpPr/>
          <p:nvPr/>
        </p:nvSpPr>
        <p:spPr>
          <a:xfrm>
            <a:off x="7040880" y="2596896"/>
            <a:ext cx="292608" cy="292608"/>
          </a:xfrm>
          <a:prstGeom prst="ellipse">
            <a:avLst/>
          </a:prstGeom>
          <a:solidFill>
            <a:schemeClr val="accent4">
              <a:alpha val="20000"/>
            </a:schemeClr>
          </a:solidFill>
          <a:ln/>
        </p:spPr>
      </p:sp>
      <p:pic>
        <p:nvPicPr>
          <p:cNvPr id="48" name="Image 2" descr="ClipboardCheck icon">    </p:cNvPr>
          <p:cNvPicPr>
            <a:picLocks noChangeAspect="1"/>
          </p:cNvPicPr>
          <p:nvPr/>
        </p:nvPicPr>
        <p:blipFill>
          <a:blip r:embed="rId3"/>
          <a:stretch>
            <a:fillRect/>
          </a:stretch>
        </p:blipFill>
        <p:spPr>
          <a:xfrm>
            <a:off x="7105254" y="2661270"/>
            <a:ext cx="163860" cy="163860"/>
          </a:xfrm>
          <a:prstGeom prst="rect">
            <a:avLst/>
          </a:prstGeom>
        </p:spPr>
      </p:pic>
      <p:sp>
        <p:nvSpPr>
          <p:cNvPr id="49" name="Text 43"/>
          <p:cNvSpPr txBox="1"/>
          <p:nvPr/>
        </p:nvSpPr>
        <p:spPr>
          <a:xfrm>
            <a:off x="7434072" y="2578608"/>
            <a:ext cx="4053535" cy="347472"/>
          </a:xfrm>
          <a:prstGeom prst="rect">
            <a:avLst/>
          </a:prstGeom>
          <a:noFill/>
          <a:ln/>
        </p:spPr>
        <p:txBody>
          <a:bodyPr wrap="square" lIns="0" tIns="0" rIns="0" bIns="0" rtlCol="0" anchor="ctr"/>
          <a:lstStyle/>
          <a:p>
            <a:pPr indent="0" marL="0">
              <a:buNone/>
            </a:pPr>
            <a:r>
              <a:rPr lang="en-US" sz="1050" b="1" dirty="0">
                <a:solidFill>
                  <a:schemeClr val="tx1"/>
                </a:solidFill>
              </a:rPr>
              <a:t>CTRI registration</a:t>
            </a:r>
            <a:pPr indent="0" marL="0">
              <a:buNone/>
            </a:pPr>
            <a:r>
              <a:rPr lang="en-US" sz="950" dirty="0">
                <a:solidFill>
                  <a:schemeClr val="tx2"/>
                </a:solidFill>
              </a:rPr>
              <a:t> · prospectively, before the first participant is enrolled; pre-specified outcomes</a:t>
            </a:r>
            <a:endParaRPr lang="en-US" sz="1050" dirty="0"/>
          </a:p>
        </p:txBody>
      </p:sp>
      <p:sp>
        <p:nvSpPr>
          <p:cNvPr id="50" name="Text 44"/>
          <p:cNvSpPr txBox="1"/>
          <p:nvPr/>
        </p:nvSpPr>
        <p:spPr>
          <a:xfrm>
            <a:off x="6812280" y="3127248"/>
            <a:ext cx="4830775" cy="237744"/>
          </a:xfrm>
          <a:prstGeom prst="rect">
            <a:avLst/>
          </a:prstGeom>
          <a:noFill/>
          <a:ln/>
        </p:spPr>
        <p:txBody>
          <a:bodyPr wrap="square" lIns="0" tIns="0" rIns="0" bIns="0" rtlCol="0" anchor="t"/>
          <a:lstStyle/>
          <a:p>
            <a:pPr indent="0" marL="0">
              <a:buNone/>
            </a:pPr>
            <a:r>
              <a:rPr lang="en-US" sz="1200" b="1" dirty="0">
                <a:solidFill>
                  <a:schemeClr val="tx2"/>
                </a:solidFill>
              </a:rPr>
              <a:t>Three special cases</a:t>
            </a:r>
            <a:endParaRPr lang="en-US" sz="1200" dirty="0"/>
          </a:p>
        </p:txBody>
      </p:sp>
      <p:sp>
        <p:nvSpPr>
          <p:cNvPr id="51" name="Case Dependent relationship · Helsinki 2024, para 27"/>
          <p:cNvSpPr/>
          <p:nvPr/>
        </p:nvSpPr>
        <p:spPr>
          <a:xfrm>
            <a:off x="6812280" y="3419856"/>
            <a:ext cx="4830775" cy="841248"/>
          </a:xfrm>
          <a:prstGeom prst="roundRect">
            <a:avLst>
              <a:gd name="adj" fmla="val 15217"/>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52" name="Case accent"/>
          <p:cNvSpPr/>
          <p:nvPr/>
        </p:nvSpPr>
        <p:spPr>
          <a:xfrm>
            <a:off x="6812280" y="3566160"/>
            <a:ext cx="64008" cy="548640"/>
          </a:xfrm>
          <a:prstGeom prst="rect">
            <a:avLst/>
          </a:prstGeom>
          <a:solidFill>
            <a:schemeClr val="accent3"/>
          </a:solidFill>
          <a:ln/>
        </p:spPr>
      </p:sp>
      <p:sp>
        <p:nvSpPr>
          <p:cNvPr id="53" name="Icon disc LuStethoscope"/>
          <p:cNvSpPr/>
          <p:nvPr/>
        </p:nvSpPr>
        <p:spPr>
          <a:xfrm>
            <a:off x="7013448" y="3493008"/>
            <a:ext cx="310896" cy="310896"/>
          </a:xfrm>
          <a:prstGeom prst="ellipse">
            <a:avLst/>
          </a:prstGeom>
          <a:solidFill>
            <a:schemeClr val="accent3">
              <a:alpha val="20000"/>
            </a:schemeClr>
          </a:solidFill>
          <a:ln/>
        </p:spPr>
      </p:sp>
      <p:pic>
        <p:nvPicPr>
          <p:cNvPr id="54" name="Image 3" descr="Stethoscope icon">    </p:cNvPr>
          <p:cNvPicPr>
            <a:picLocks noChangeAspect="1"/>
          </p:cNvPicPr>
          <p:nvPr/>
        </p:nvPicPr>
        <p:blipFill>
          <a:blip r:embed="rId4"/>
          <a:stretch>
            <a:fillRect/>
          </a:stretch>
        </p:blipFill>
        <p:spPr>
          <a:xfrm>
            <a:off x="7081845" y="3561405"/>
            <a:ext cx="174102" cy="174102"/>
          </a:xfrm>
          <a:prstGeom prst="rect">
            <a:avLst/>
          </a:prstGeom>
        </p:spPr>
      </p:pic>
      <p:sp>
        <p:nvSpPr>
          <p:cNvPr id="55" name="Text 48"/>
          <p:cNvSpPr txBox="1"/>
          <p:nvPr/>
        </p:nvSpPr>
        <p:spPr>
          <a:xfrm>
            <a:off x="7415784" y="3474720"/>
            <a:ext cx="4053535" cy="347472"/>
          </a:xfrm>
          <a:prstGeom prst="rect">
            <a:avLst/>
          </a:prstGeom>
          <a:noFill/>
          <a:ln/>
        </p:spPr>
        <p:txBody>
          <a:bodyPr wrap="square" lIns="0" tIns="0" rIns="0" bIns="0" rtlCol="0" anchor="ctr"/>
          <a:lstStyle/>
          <a:p>
            <a:pPr indent="0" marL="0">
              <a:buNone/>
            </a:pPr>
            <a:r>
              <a:rPr lang="en-US" sz="1100" b="1" dirty="0">
                <a:solidFill>
                  <a:schemeClr val="tx1"/>
                </a:solidFill>
              </a:rPr>
              <a:t>Dependent relationship · Helsinki 2024, para 27</a:t>
            </a:r>
            <a:endParaRPr lang="en-US" sz="1100" dirty="0"/>
          </a:p>
        </p:txBody>
      </p:sp>
      <p:sp>
        <p:nvSpPr>
          <p:cNvPr id="56" name="Text 49"/>
          <p:cNvSpPr txBox="1"/>
          <p:nvPr/>
        </p:nvSpPr>
        <p:spPr>
          <a:xfrm>
            <a:off x="7013448" y="3822192"/>
            <a:ext cx="4465015" cy="420624"/>
          </a:xfrm>
          <a:prstGeom prst="rect">
            <a:avLst/>
          </a:prstGeom>
          <a:noFill/>
          <a:ln/>
        </p:spPr>
        <p:txBody>
          <a:bodyPr wrap="square" lIns="0" tIns="0" rIns="0" bIns="0" rtlCol="0" anchor="t"/>
          <a:lstStyle/>
          <a:p>
            <a:pPr indent="0" marL="0">
              <a:buNone/>
            </a:pPr>
            <a:r>
              <a:rPr lang="en-US" sz="950" dirty="0">
                <a:solidFill>
                  <a:schemeClr val="tx2"/>
                </a:solidFill>
              </a:rPr>
              <a:t>Consent must be sought by an appropriately qualified person independent of that relationship; disclose the inventor's interest (CIOMS 2016, Guideline 25).</a:t>
            </a:r>
            <a:endParaRPr lang="en-US" sz="950" dirty="0"/>
          </a:p>
        </p:txBody>
      </p:sp>
      <p:sp>
        <p:nvSpPr>
          <p:cNvPr id="57" name="Case Vulnerable participants · ICMR 2017, s. 6"/>
          <p:cNvSpPr/>
          <p:nvPr/>
        </p:nvSpPr>
        <p:spPr>
          <a:xfrm>
            <a:off x="6812280" y="4343400"/>
            <a:ext cx="4830775" cy="841248"/>
          </a:xfrm>
          <a:prstGeom prst="roundRect">
            <a:avLst>
              <a:gd name="adj" fmla="val 15217"/>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58" name="Case accent"/>
          <p:cNvSpPr/>
          <p:nvPr/>
        </p:nvSpPr>
        <p:spPr>
          <a:xfrm>
            <a:off x="6812280" y="4489704"/>
            <a:ext cx="64008" cy="548640"/>
          </a:xfrm>
          <a:prstGeom prst="rect">
            <a:avLst/>
          </a:prstGeom>
          <a:solidFill>
            <a:schemeClr val="accent2"/>
          </a:solidFill>
          <a:ln/>
        </p:spPr>
      </p:sp>
      <p:sp>
        <p:nvSpPr>
          <p:cNvPr id="59" name="Icon disc LuShieldAlert"/>
          <p:cNvSpPr/>
          <p:nvPr/>
        </p:nvSpPr>
        <p:spPr>
          <a:xfrm>
            <a:off x="7013448" y="4416552"/>
            <a:ext cx="310896" cy="310896"/>
          </a:xfrm>
          <a:prstGeom prst="ellipse">
            <a:avLst/>
          </a:prstGeom>
          <a:solidFill>
            <a:schemeClr val="accent2">
              <a:alpha val="20000"/>
            </a:schemeClr>
          </a:solidFill>
          <a:ln/>
        </p:spPr>
      </p:sp>
      <p:pic>
        <p:nvPicPr>
          <p:cNvPr id="60" name="Image 4" descr="ShieldAlert icon">    </p:cNvPr>
          <p:cNvPicPr>
            <a:picLocks noChangeAspect="1"/>
          </p:cNvPicPr>
          <p:nvPr/>
        </p:nvPicPr>
        <p:blipFill>
          <a:blip r:embed="rId5"/>
          <a:stretch>
            <a:fillRect/>
          </a:stretch>
        </p:blipFill>
        <p:spPr>
          <a:xfrm>
            <a:off x="7081845" y="4484949"/>
            <a:ext cx="174102" cy="174102"/>
          </a:xfrm>
          <a:prstGeom prst="rect">
            <a:avLst/>
          </a:prstGeom>
        </p:spPr>
      </p:pic>
      <p:sp>
        <p:nvSpPr>
          <p:cNvPr id="61" name="Text 53"/>
          <p:cNvSpPr txBox="1"/>
          <p:nvPr/>
        </p:nvSpPr>
        <p:spPr>
          <a:xfrm>
            <a:off x="7415784" y="4398264"/>
            <a:ext cx="4053535" cy="347472"/>
          </a:xfrm>
          <a:prstGeom prst="rect">
            <a:avLst/>
          </a:prstGeom>
          <a:noFill/>
          <a:ln/>
        </p:spPr>
        <p:txBody>
          <a:bodyPr wrap="square" lIns="0" tIns="0" rIns="0" bIns="0" rtlCol="0" anchor="ctr"/>
          <a:lstStyle/>
          <a:p>
            <a:pPr indent="0" marL="0">
              <a:buNone/>
            </a:pPr>
            <a:r>
              <a:rPr lang="en-US" sz="1100" b="1" dirty="0">
                <a:solidFill>
                  <a:schemeClr val="tx1"/>
                </a:solidFill>
              </a:rPr>
              <a:t>Vulnerable participants · ICMR 2017, s. 6</a:t>
            </a:r>
            <a:endParaRPr lang="en-US" sz="1100" dirty="0"/>
          </a:p>
        </p:txBody>
      </p:sp>
      <p:sp>
        <p:nvSpPr>
          <p:cNvPr id="62" name="Text 54"/>
          <p:cNvSpPr txBox="1"/>
          <p:nvPr/>
        </p:nvSpPr>
        <p:spPr>
          <a:xfrm>
            <a:off x="7013448" y="4745736"/>
            <a:ext cx="4465015" cy="420624"/>
          </a:xfrm>
          <a:prstGeom prst="rect">
            <a:avLst/>
          </a:prstGeom>
          <a:noFill/>
          <a:ln/>
        </p:spPr>
        <p:txBody>
          <a:bodyPr wrap="square" lIns="0" tIns="0" rIns="0" bIns="0" rtlCol="0" anchor="t"/>
          <a:lstStyle/>
          <a:p>
            <a:pPr indent="0" marL="0">
              <a:buNone/>
            </a:pPr>
            <a:r>
              <a:rPr lang="en-US" sz="950" dirty="0">
                <a:solidFill>
                  <a:schemeClr val="tx2"/>
                </a:solidFill>
              </a:rPr>
              <a:t>Fluctuating cognition, old age, poverty or dependence on the clinic: extra ethics-committee scrutiny, LAR consent with assent, caregivers involved.</a:t>
            </a:r>
            <a:endParaRPr lang="en-US" sz="950" dirty="0"/>
          </a:p>
        </p:txBody>
      </p:sp>
      <p:sp>
        <p:nvSpPr>
          <p:cNvPr id="63" name="Case Filming and recordings · separate consent"/>
          <p:cNvSpPr/>
          <p:nvPr/>
        </p:nvSpPr>
        <p:spPr>
          <a:xfrm>
            <a:off x="6812280" y="5266944"/>
            <a:ext cx="4830775" cy="841248"/>
          </a:xfrm>
          <a:prstGeom prst="roundRect">
            <a:avLst>
              <a:gd name="adj" fmla="val 15217"/>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64" name="Case accent"/>
          <p:cNvSpPr/>
          <p:nvPr/>
        </p:nvSpPr>
        <p:spPr>
          <a:xfrm>
            <a:off x="6812280" y="5413248"/>
            <a:ext cx="64008" cy="548640"/>
          </a:xfrm>
          <a:prstGeom prst="rect">
            <a:avLst/>
          </a:prstGeom>
          <a:solidFill>
            <a:schemeClr val="accent4"/>
          </a:solidFill>
          <a:ln/>
        </p:spPr>
      </p:sp>
      <p:sp>
        <p:nvSpPr>
          <p:cNvPr id="65" name="Icon disc LuCamera"/>
          <p:cNvSpPr/>
          <p:nvPr/>
        </p:nvSpPr>
        <p:spPr>
          <a:xfrm>
            <a:off x="7013448" y="5340096"/>
            <a:ext cx="310896" cy="310896"/>
          </a:xfrm>
          <a:prstGeom prst="ellipse">
            <a:avLst/>
          </a:prstGeom>
          <a:solidFill>
            <a:schemeClr val="accent4">
              <a:alpha val="20000"/>
            </a:schemeClr>
          </a:solidFill>
          <a:ln/>
        </p:spPr>
      </p:sp>
      <p:pic>
        <p:nvPicPr>
          <p:cNvPr id="66" name="Image 5" descr="Camera icon">    </p:cNvPr>
          <p:cNvPicPr>
            <a:picLocks noChangeAspect="1"/>
          </p:cNvPicPr>
          <p:nvPr/>
        </p:nvPicPr>
        <p:blipFill>
          <a:blip r:embed="rId6"/>
          <a:stretch>
            <a:fillRect/>
          </a:stretch>
        </p:blipFill>
        <p:spPr>
          <a:xfrm>
            <a:off x="7081845" y="5408493"/>
            <a:ext cx="174102" cy="174102"/>
          </a:xfrm>
          <a:prstGeom prst="rect">
            <a:avLst/>
          </a:prstGeom>
        </p:spPr>
      </p:pic>
      <p:sp>
        <p:nvSpPr>
          <p:cNvPr id="67" name="Text 58"/>
          <p:cNvSpPr txBox="1"/>
          <p:nvPr/>
        </p:nvSpPr>
        <p:spPr>
          <a:xfrm>
            <a:off x="7415784" y="5321808"/>
            <a:ext cx="4053535" cy="347472"/>
          </a:xfrm>
          <a:prstGeom prst="rect">
            <a:avLst/>
          </a:prstGeom>
          <a:noFill/>
          <a:ln/>
        </p:spPr>
        <p:txBody>
          <a:bodyPr wrap="square" lIns="0" tIns="0" rIns="0" bIns="0" rtlCol="0" anchor="ctr"/>
          <a:lstStyle/>
          <a:p>
            <a:pPr indent="0" marL="0">
              <a:buNone/>
            </a:pPr>
            <a:r>
              <a:rPr lang="en-US" sz="1100" b="1" dirty="0">
                <a:solidFill>
                  <a:schemeClr val="tx1"/>
                </a:solidFill>
              </a:rPr>
              <a:t>Filming and recordings · separate consent</a:t>
            </a:r>
            <a:endParaRPr lang="en-US" sz="1100" dirty="0"/>
          </a:p>
        </p:txBody>
      </p:sp>
      <p:sp>
        <p:nvSpPr>
          <p:cNvPr id="68" name="Text 59"/>
          <p:cNvSpPr txBox="1"/>
          <p:nvPr/>
        </p:nvSpPr>
        <p:spPr>
          <a:xfrm>
            <a:off x="7013448" y="5669280"/>
            <a:ext cx="4465015" cy="420624"/>
          </a:xfrm>
          <a:prstGeom prst="rect">
            <a:avLst/>
          </a:prstGeom>
          <a:noFill/>
          <a:ln/>
        </p:spPr>
        <p:txBody>
          <a:bodyPr wrap="square" lIns="0" tIns="0" rIns="0" bIns="0" rtlCol="0" anchor="t"/>
          <a:lstStyle/>
          <a:p>
            <a:pPr indent="0" marL="0">
              <a:buNone/>
            </a:pPr>
            <a:r>
              <a:rPr lang="en-US" sz="950" dirty="0">
                <a:solidFill>
                  <a:schemeClr val="tx2"/>
                </a:solidFill>
              </a:rPr>
              <a:t>Specific, revocable, in writing for public media; a gait video identifies a person; never a condition of care or of study entry (UK GMC as comparator).</a:t>
            </a: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CONFLICTS OF INTEREST</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Disclose, then manage</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Lundh et al., Cochrane 2017; UCMPMD 2024 (amended 30 Apr 2026); IMC 2002, cl. 6.8; ICMR 2017; CMS Open Payments; HMS policy 2010; Cumberlege Review 2020</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268712" y="347472"/>
            <a:ext cx="219456" cy="219456"/>
          </a:xfrm>
          <a:prstGeom prst="ellipse">
            <a:avLst/>
          </a:prstGeom>
          <a:solidFill>
            <a:schemeClr val="accent1"/>
          </a:solidFill>
          <a:ln w="12700">
            <a:solidFill>
              <a:schemeClr val="accent1"/>
            </a:solidFill>
            <a:prstDash val="solid"/>
          </a:ln>
        </p:spPr>
      </p:sp>
      <p:sp>
        <p:nvSpPr>
          <p:cNvPr id="8" name="Progress Permission"/>
          <p:cNvSpPr/>
          <p:nvPr/>
        </p:nvSpPr>
        <p:spPr>
          <a:xfrm>
            <a:off x="10680192" y="393192"/>
            <a:ext cx="128016" cy="128016"/>
          </a:xfrm>
          <a:prstGeom prst="ellipse">
            <a:avLst/>
          </a:prstGeom>
          <a:solidFill>
            <a:schemeClr val="bg1"/>
          </a:solidFill>
          <a:ln w="12700">
            <a:solidFill>
              <a:schemeClr val="accent5"/>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Step Interests"/>
          <p:cNvSpPr/>
          <p:nvPr/>
        </p:nvSpPr>
        <p:spPr>
          <a:xfrm>
            <a:off x="548640" y="1536192"/>
            <a:ext cx="3588410" cy="457200"/>
          </a:xfrm>
          <a:prstGeom prst="homePlate">
            <a:avLst/>
          </a:prstGeom>
          <a:solidFill>
            <a:schemeClr val="accent5"/>
          </a:solidFill>
          <a:ln/>
        </p:spPr>
      </p:sp>
      <p:sp>
        <p:nvSpPr>
          <p:cNvPr id="13" name="Text 10"/>
          <p:cNvSpPr txBox="1"/>
          <p:nvPr/>
        </p:nvSpPr>
        <p:spPr>
          <a:xfrm>
            <a:off x="676656" y="1536192"/>
            <a:ext cx="3222650" cy="457200"/>
          </a:xfrm>
          <a:prstGeom prst="rect">
            <a:avLst/>
          </a:prstGeom>
          <a:noFill/>
          <a:ln/>
        </p:spPr>
        <p:txBody>
          <a:bodyPr wrap="square" lIns="0" tIns="0" rIns="0" bIns="0" rtlCol="0" anchor="ctr"/>
          <a:lstStyle/>
          <a:p>
            <a:pPr indent="0" marL="0">
              <a:buNone/>
            </a:pPr>
            <a:r>
              <a:rPr lang="en-US" sz="1300" b="1" dirty="0">
                <a:solidFill>
                  <a:schemeClr val="bg1"/>
                </a:solidFill>
              </a:rPr>
              <a:t>Interests</a:t>
            </a:r>
            <a:endParaRPr lang="en-US" sz="1300" dirty="0"/>
          </a:p>
        </p:txBody>
      </p:sp>
      <p:sp>
        <p:nvSpPr>
          <p:cNvPr id="14" name="Step Risks"/>
          <p:cNvSpPr/>
          <p:nvPr/>
        </p:nvSpPr>
        <p:spPr>
          <a:xfrm>
            <a:off x="4301642" y="1536192"/>
            <a:ext cx="3588410" cy="457200"/>
          </a:xfrm>
          <a:prstGeom prst="chevron">
            <a:avLst/>
          </a:prstGeom>
          <a:solidFill>
            <a:schemeClr val="accent3"/>
          </a:solidFill>
          <a:ln/>
        </p:spPr>
      </p:sp>
      <p:sp>
        <p:nvSpPr>
          <p:cNvPr id="15" name="Text 12"/>
          <p:cNvSpPr txBox="1"/>
          <p:nvPr/>
        </p:nvSpPr>
        <p:spPr>
          <a:xfrm>
            <a:off x="4630826" y="1536192"/>
            <a:ext cx="3039770" cy="457200"/>
          </a:xfrm>
          <a:prstGeom prst="rect">
            <a:avLst/>
          </a:prstGeom>
          <a:noFill/>
          <a:ln/>
        </p:spPr>
        <p:txBody>
          <a:bodyPr wrap="square" lIns="0" tIns="0" rIns="0" bIns="0" rtlCol="0" anchor="ctr"/>
          <a:lstStyle/>
          <a:p>
            <a:pPr indent="0" marL="0">
              <a:buNone/>
            </a:pPr>
            <a:r>
              <a:rPr lang="en-US" sz="1300" b="1" dirty="0">
                <a:solidFill>
                  <a:schemeClr val="bg1"/>
                </a:solidFill>
              </a:rPr>
              <a:t>Risks</a:t>
            </a:r>
            <a:endParaRPr lang="en-US" sz="1300" dirty="0"/>
          </a:p>
        </p:txBody>
      </p:sp>
      <p:sp>
        <p:nvSpPr>
          <p:cNvPr id="16" name="Step Safeguards"/>
          <p:cNvSpPr/>
          <p:nvPr/>
        </p:nvSpPr>
        <p:spPr>
          <a:xfrm>
            <a:off x="8054645" y="1536192"/>
            <a:ext cx="3588410" cy="457200"/>
          </a:xfrm>
          <a:prstGeom prst="chevron">
            <a:avLst/>
          </a:prstGeom>
          <a:solidFill>
            <a:schemeClr val="accent1"/>
          </a:solidFill>
          <a:ln/>
        </p:spPr>
      </p:sp>
      <p:sp>
        <p:nvSpPr>
          <p:cNvPr id="17" name="Text 14"/>
          <p:cNvSpPr txBox="1"/>
          <p:nvPr/>
        </p:nvSpPr>
        <p:spPr>
          <a:xfrm>
            <a:off x="8383829" y="1536192"/>
            <a:ext cx="3039770" cy="457200"/>
          </a:xfrm>
          <a:prstGeom prst="rect">
            <a:avLst/>
          </a:prstGeom>
          <a:noFill/>
          <a:ln/>
        </p:spPr>
        <p:txBody>
          <a:bodyPr wrap="square" lIns="0" tIns="0" rIns="0" bIns="0" rtlCol="0" anchor="ctr"/>
          <a:lstStyle/>
          <a:p>
            <a:pPr indent="0" marL="0">
              <a:buNone/>
            </a:pPr>
            <a:r>
              <a:rPr lang="en-US" sz="1300" b="1" dirty="0">
                <a:solidFill>
                  <a:schemeClr val="bg1"/>
                </a:solidFill>
              </a:rPr>
              <a:t>Safeguards</a:t>
            </a:r>
            <a:endParaRPr lang="en-US" sz="1300" dirty="0"/>
          </a:p>
        </p:txBody>
      </p:sp>
      <p:sp>
        <p:nvSpPr>
          <p:cNvPr id="18" name="COI column Interests"/>
          <p:cNvSpPr/>
          <p:nvPr/>
        </p:nvSpPr>
        <p:spPr>
          <a:xfrm>
            <a:off x="548640" y="2103120"/>
            <a:ext cx="3588410" cy="2011680"/>
          </a:xfrm>
          <a:prstGeom prst="roundRect">
            <a:avLst>
              <a:gd name="adj" fmla="val 6364"/>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19" name="COI accent Interests"/>
          <p:cNvSpPr/>
          <p:nvPr/>
        </p:nvSpPr>
        <p:spPr>
          <a:xfrm>
            <a:off x="548640" y="2286000"/>
            <a:ext cx="64008" cy="1645920"/>
          </a:xfrm>
          <a:prstGeom prst="rect">
            <a:avLst/>
          </a:prstGeom>
          <a:solidFill>
            <a:schemeClr val="accent5"/>
          </a:solidFill>
          <a:ln/>
        </p:spPr>
      </p:sp>
      <p:sp>
        <p:nvSpPr>
          <p:cNvPr id="20" name="Icon disc LuCoins"/>
          <p:cNvSpPr/>
          <p:nvPr/>
        </p:nvSpPr>
        <p:spPr>
          <a:xfrm>
            <a:off x="777240" y="2340864"/>
            <a:ext cx="347472" cy="347472"/>
          </a:xfrm>
          <a:prstGeom prst="ellipse">
            <a:avLst/>
          </a:prstGeom>
          <a:solidFill>
            <a:schemeClr val="accent5">
              <a:alpha val="20000"/>
            </a:schemeClr>
          </a:solidFill>
          <a:ln/>
        </p:spPr>
      </p:sp>
      <p:pic>
        <p:nvPicPr>
          <p:cNvPr id="21" name="Image 0" descr="Coins icon">    </p:cNvPr>
          <p:cNvPicPr>
            <a:picLocks noChangeAspect="1"/>
          </p:cNvPicPr>
          <p:nvPr/>
        </p:nvPicPr>
        <p:blipFill>
          <a:blip r:embed="rId1"/>
          <a:stretch>
            <a:fillRect/>
          </a:stretch>
        </p:blipFill>
        <p:spPr>
          <a:xfrm>
            <a:off x="853684" y="2417308"/>
            <a:ext cx="194584" cy="194584"/>
          </a:xfrm>
          <a:prstGeom prst="rect">
            <a:avLst/>
          </a:prstGeom>
        </p:spPr>
      </p:pic>
      <p:sp>
        <p:nvSpPr>
          <p:cNvPr id="22" name="Text 18"/>
          <p:cNvSpPr txBox="1"/>
          <p:nvPr/>
        </p:nvSpPr>
        <p:spPr>
          <a:xfrm>
            <a:off x="1234440" y="2267712"/>
            <a:ext cx="2719730" cy="530352"/>
          </a:xfrm>
          <a:prstGeom prst="rect">
            <a:avLst/>
          </a:prstGeom>
          <a:noFill/>
          <a:ln/>
        </p:spPr>
        <p:txBody>
          <a:bodyPr wrap="square" lIns="0" tIns="0" rIns="0" bIns="0" rtlCol="0" anchor="ctr"/>
          <a:lstStyle/>
          <a:p>
            <a:pPr indent="0" marL="0">
              <a:buNone/>
            </a:pPr>
            <a:r>
              <a:rPr lang="en-US" sz="1050" dirty="0">
                <a:solidFill>
                  <a:schemeClr val="tx1"/>
                </a:solidFill>
              </a:rPr>
              <a:t>Equity, royalties or salary from the company that will sell the device</a:t>
            </a:r>
            <a:endParaRPr lang="en-US" sz="1050" dirty="0"/>
          </a:p>
        </p:txBody>
      </p:sp>
      <p:sp>
        <p:nvSpPr>
          <p:cNvPr id="23" name="Icon disc LuBanknote"/>
          <p:cNvSpPr/>
          <p:nvPr/>
        </p:nvSpPr>
        <p:spPr>
          <a:xfrm>
            <a:off x="777240" y="2944368"/>
            <a:ext cx="347472" cy="347472"/>
          </a:xfrm>
          <a:prstGeom prst="ellipse">
            <a:avLst/>
          </a:prstGeom>
          <a:solidFill>
            <a:schemeClr val="accent5">
              <a:alpha val="20000"/>
            </a:schemeClr>
          </a:solidFill>
          <a:ln/>
        </p:spPr>
      </p:sp>
      <p:pic>
        <p:nvPicPr>
          <p:cNvPr id="24" name="Image 1" descr="Banknote icon">    </p:cNvPr>
          <p:cNvPicPr>
            <a:picLocks noChangeAspect="1"/>
          </p:cNvPicPr>
          <p:nvPr/>
        </p:nvPicPr>
        <p:blipFill>
          <a:blip r:embed="rId2"/>
          <a:stretch>
            <a:fillRect/>
          </a:stretch>
        </p:blipFill>
        <p:spPr>
          <a:xfrm>
            <a:off x="853684" y="3020812"/>
            <a:ext cx="194584" cy="194584"/>
          </a:xfrm>
          <a:prstGeom prst="rect">
            <a:avLst/>
          </a:prstGeom>
        </p:spPr>
      </p:pic>
      <p:sp>
        <p:nvSpPr>
          <p:cNvPr id="25" name="Text 20"/>
          <p:cNvSpPr txBox="1"/>
          <p:nvPr/>
        </p:nvSpPr>
        <p:spPr>
          <a:xfrm>
            <a:off x="1234440" y="2871216"/>
            <a:ext cx="2719730" cy="530352"/>
          </a:xfrm>
          <a:prstGeom prst="rect">
            <a:avLst/>
          </a:prstGeom>
          <a:noFill/>
          <a:ln/>
        </p:spPr>
        <p:txBody>
          <a:bodyPr wrap="square" lIns="0" tIns="0" rIns="0" bIns="0" rtlCol="0" anchor="ctr"/>
          <a:lstStyle/>
          <a:p>
            <a:pPr indent="0" marL="0">
              <a:buNone/>
            </a:pPr>
            <a:r>
              <a:rPr lang="en-US" sz="1050" dirty="0">
                <a:solidFill>
                  <a:schemeClr val="tx1"/>
                </a:solidFill>
              </a:rPr>
              <a:t>Grants and institutional reputation: ₹25.5 lakh received; a BIRAC BIG proposal under review</a:t>
            </a:r>
            <a:endParaRPr lang="en-US" sz="1050" dirty="0"/>
          </a:p>
        </p:txBody>
      </p:sp>
      <p:sp>
        <p:nvSpPr>
          <p:cNvPr id="26" name="Icon disc LuAward"/>
          <p:cNvSpPr/>
          <p:nvPr/>
        </p:nvSpPr>
        <p:spPr>
          <a:xfrm>
            <a:off x="777240" y="3547872"/>
            <a:ext cx="347472" cy="347472"/>
          </a:xfrm>
          <a:prstGeom prst="ellipse">
            <a:avLst/>
          </a:prstGeom>
          <a:solidFill>
            <a:schemeClr val="accent5">
              <a:alpha val="20000"/>
            </a:schemeClr>
          </a:solidFill>
          <a:ln/>
        </p:spPr>
      </p:sp>
      <p:pic>
        <p:nvPicPr>
          <p:cNvPr id="27" name="Image 2" descr="Award icon">    </p:cNvPr>
          <p:cNvPicPr>
            <a:picLocks noChangeAspect="1"/>
          </p:cNvPicPr>
          <p:nvPr/>
        </p:nvPicPr>
        <p:blipFill>
          <a:blip r:embed="rId3"/>
          <a:stretch>
            <a:fillRect/>
          </a:stretch>
        </p:blipFill>
        <p:spPr>
          <a:xfrm>
            <a:off x="853684" y="3624316"/>
            <a:ext cx="194584" cy="194584"/>
          </a:xfrm>
          <a:prstGeom prst="rect">
            <a:avLst/>
          </a:prstGeom>
        </p:spPr>
      </p:pic>
      <p:sp>
        <p:nvSpPr>
          <p:cNvPr id="28" name="Text 22"/>
          <p:cNvSpPr txBox="1"/>
          <p:nvPr/>
        </p:nvSpPr>
        <p:spPr>
          <a:xfrm>
            <a:off x="1234440" y="3474720"/>
            <a:ext cx="2719730" cy="530352"/>
          </a:xfrm>
          <a:prstGeom prst="rect">
            <a:avLst/>
          </a:prstGeom>
          <a:noFill/>
          <a:ln/>
        </p:spPr>
        <p:txBody>
          <a:bodyPr wrap="square" lIns="0" tIns="0" rIns="0" bIns="0" rtlCol="0" anchor="ctr"/>
          <a:lstStyle/>
          <a:p>
            <a:pPr indent="0" marL="0">
              <a:buNone/>
            </a:pPr>
            <a:r>
              <a:rPr lang="en-US" sz="1050" dirty="0">
                <a:solidFill>
                  <a:schemeClr val="tx1"/>
                </a:solidFill>
              </a:rPr>
              <a:t>Personal reputation as inventor, clinician and principal investigator</a:t>
            </a:r>
            <a:endParaRPr lang="en-US" sz="1050" dirty="0"/>
          </a:p>
        </p:txBody>
      </p:sp>
      <p:sp>
        <p:nvSpPr>
          <p:cNvPr id="29" name="COI column Risks"/>
          <p:cNvSpPr/>
          <p:nvPr/>
        </p:nvSpPr>
        <p:spPr>
          <a:xfrm>
            <a:off x="4301642" y="2103120"/>
            <a:ext cx="3588410" cy="2011680"/>
          </a:xfrm>
          <a:prstGeom prst="roundRect">
            <a:avLst>
              <a:gd name="adj" fmla="val 6364"/>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30" name="COI accent Risks"/>
          <p:cNvSpPr/>
          <p:nvPr/>
        </p:nvSpPr>
        <p:spPr>
          <a:xfrm>
            <a:off x="4301642" y="2286000"/>
            <a:ext cx="64008" cy="1645920"/>
          </a:xfrm>
          <a:prstGeom prst="rect">
            <a:avLst/>
          </a:prstGeom>
          <a:solidFill>
            <a:schemeClr val="accent3"/>
          </a:solidFill>
          <a:ln/>
        </p:spPr>
      </p:sp>
      <p:sp>
        <p:nvSpPr>
          <p:cNvPr id="31" name="Icon disc LuUsers"/>
          <p:cNvSpPr/>
          <p:nvPr/>
        </p:nvSpPr>
        <p:spPr>
          <a:xfrm>
            <a:off x="4530242" y="2340864"/>
            <a:ext cx="347472" cy="347472"/>
          </a:xfrm>
          <a:prstGeom prst="ellipse">
            <a:avLst/>
          </a:prstGeom>
          <a:solidFill>
            <a:schemeClr val="accent3">
              <a:alpha val="20000"/>
            </a:schemeClr>
          </a:solidFill>
          <a:ln/>
        </p:spPr>
      </p:sp>
      <p:pic>
        <p:nvPicPr>
          <p:cNvPr id="32" name="Image 3" descr="Users icon">    </p:cNvPr>
          <p:cNvPicPr>
            <a:picLocks noChangeAspect="1"/>
          </p:cNvPicPr>
          <p:nvPr/>
        </p:nvPicPr>
        <p:blipFill>
          <a:blip r:embed="rId4"/>
          <a:stretch>
            <a:fillRect/>
          </a:stretch>
        </p:blipFill>
        <p:spPr>
          <a:xfrm>
            <a:off x="4606686" y="2417308"/>
            <a:ext cx="194584" cy="194584"/>
          </a:xfrm>
          <a:prstGeom prst="rect">
            <a:avLst/>
          </a:prstGeom>
        </p:spPr>
      </p:pic>
      <p:sp>
        <p:nvSpPr>
          <p:cNvPr id="33" name="Text 26"/>
          <p:cNvSpPr txBox="1"/>
          <p:nvPr/>
        </p:nvSpPr>
        <p:spPr>
          <a:xfrm>
            <a:off x="4987442" y="2267712"/>
            <a:ext cx="2719730" cy="530352"/>
          </a:xfrm>
          <a:prstGeom prst="rect">
            <a:avLst/>
          </a:prstGeom>
          <a:noFill/>
          <a:ln/>
        </p:spPr>
        <p:txBody>
          <a:bodyPr wrap="square" lIns="0" tIns="0" rIns="0" bIns="0" rtlCol="0" anchor="ctr"/>
          <a:lstStyle/>
          <a:p>
            <a:pPr indent="0" marL="0">
              <a:buNone/>
            </a:pPr>
            <a:r>
              <a:rPr lang="en-US" sz="1050" dirty="0">
                <a:solidFill>
                  <a:schemeClr val="tx1"/>
                </a:solidFill>
              </a:rPr>
              <a:t>Pressure to enrol dependent patients: Ramesh and his only neurologist</a:t>
            </a:r>
            <a:endParaRPr lang="en-US" sz="1050" dirty="0"/>
          </a:p>
        </p:txBody>
      </p:sp>
      <p:sp>
        <p:nvSpPr>
          <p:cNvPr id="34" name="Icon disc LuEye"/>
          <p:cNvSpPr/>
          <p:nvPr/>
        </p:nvSpPr>
        <p:spPr>
          <a:xfrm>
            <a:off x="4530242" y="2944368"/>
            <a:ext cx="347472" cy="347472"/>
          </a:xfrm>
          <a:prstGeom prst="ellipse">
            <a:avLst/>
          </a:prstGeom>
          <a:solidFill>
            <a:schemeClr val="accent3">
              <a:alpha val="20000"/>
            </a:schemeClr>
          </a:solidFill>
          <a:ln/>
        </p:spPr>
      </p:sp>
      <p:pic>
        <p:nvPicPr>
          <p:cNvPr id="35" name="Image 4" descr="Eye icon">    </p:cNvPr>
          <p:cNvPicPr>
            <a:picLocks noChangeAspect="1"/>
          </p:cNvPicPr>
          <p:nvPr/>
        </p:nvPicPr>
        <p:blipFill>
          <a:blip r:embed="rId5"/>
          <a:stretch>
            <a:fillRect/>
          </a:stretch>
        </p:blipFill>
        <p:spPr>
          <a:xfrm>
            <a:off x="4606686" y="3020812"/>
            <a:ext cx="194584" cy="194584"/>
          </a:xfrm>
          <a:prstGeom prst="rect">
            <a:avLst/>
          </a:prstGeom>
        </p:spPr>
      </p:pic>
      <p:sp>
        <p:nvSpPr>
          <p:cNvPr id="36" name="Text 28"/>
          <p:cNvSpPr txBox="1"/>
          <p:nvPr/>
        </p:nvSpPr>
        <p:spPr>
          <a:xfrm>
            <a:off x="4987442" y="2871216"/>
            <a:ext cx="2719730" cy="530352"/>
          </a:xfrm>
          <a:prstGeom prst="rect">
            <a:avLst/>
          </a:prstGeom>
          <a:noFill/>
          <a:ln/>
        </p:spPr>
        <p:txBody>
          <a:bodyPr wrap="square" lIns="0" tIns="0" rIns="0" bIns="0" rtlCol="0" anchor="ctr"/>
          <a:lstStyle/>
          <a:p>
            <a:pPr indent="0" marL="0">
              <a:buNone/>
            </a:pPr>
            <a:r>
              <a:rPr lang="en-US" sz="1050" dirty="0">
                <a:solidFill>
                  <a:schemeClr val="tx1"/>
                </a:solidFill>
              </a:rPr>
              <a:t>Optimistic reading of outcomes; participants assume research is care chosen for them</a:t>
            </a:r>
            <a:endParaRPr lang="en-US" sz="1050" dirty="0"/>
          </a:p>
        </p:txBody>
      </p:sp>
      <p:sp>
        <p:nvSpPr>
          <p:cNvPr id="37" name="Icon disc LuFileX"/>
          <p:cNvSpPr/>
          <p:nvPr/>
        </p:nvSpPr>
        <p:spPr>
          <a:xfrm>
            <a:off x="4530242" y="3547872"/>
            <a:ext cx="347472" cy="347472"/>
          </a:xfrm>
          <a:prstGeom prst="ellipse">
            <a:avLst/>
          </a:prstGeom>
          <a:solidFill>
            <a:schemeClr val="accent3">
              <a:alpha val="20000"/>
            </a:schemeClr>
          </a:solidFill>
          <a:ln/>
        </p:spPr>
      </p:sp>
      <p:pic>
        <p:nvPicPr>
          <p:cNvPr id="38" name="Image 5" descr="FileX icon">    </p:cNvPr>
          <p:cNvPicPr>
            <a:picLocks noChangeAspect="1"/>
          </p:cNvPicPr>
          <p:nvPr/>
        </p:nvPicPr>
        <p:blipFill>
          <a:blip r:embed="rId6"/>
          <a:stretch>
            <a:fillRect/>
          </a:stretch>
        </p:blipFill>
        <p:spPr>
          <a:xfrm>
            <a:off x="4606686" y="3624316"/>
            <a:ext cx="194584" cy="194584"/>
          </a:xfrm>
          <a:prstGeom prst="rect">
            <a:avLst/>
          </a:prstGeom>
        </p:spPr>
      </p:pic>
      <p:sp>
        <p:nvSpPr>
          <p:cNvPr id="39" name="Text 30"/>
          <p:cNvSpPr txBox="1"/>
          <p:nvPr/>
        </p:nvSpPr>
        <p:spPr>
          <a:xfrm>
            <a:off x="4987442" y="3474720"/>
            <a:ext cx="2719730" cy="530352"/>
          </a:xfrm>
          <a:prstGeom prst="rect">
            <a:avLst/>
          </a:prstGeom>
          <a:noFill/>
          <a:ln/>
        </p:spPr>
        <p:txBody>
          <a:bodyPr wrap="square" lIns="0" tIns="0" rIns="0" bIns="0" rtlCol="0" anchor="ctr"/>
          <a:lstStyle/>
          <a:p>
            <a:pPr indent="0" marL="0">
              <a:buNone/>
            </a:pPr>
            <a:r>
              <a:rPr lang="en-US" sz="1050" dirty="0">
                <a:solidFill>
                  <a:schemeClr val="tx1"/>
                </a:solidFill>
              </a:rPr>
              <a:t>Selective reporting: industry-sponsored drug and device studies reach favourable conclusions more often, RR 1.34 (Lundh 2017)</a:t>
            </a:r>
            <a:endParaRPr lang="en-US" sz="1050" dirty="0"/>
          </a:p>
        </p:txBody>
      </p:sp>
      <p:sp>
        <p:nvSpPr>
          <p:cNvPr id="40" name="COI column Safeguards"/>
          <p:cNvSpPr/>
          <p:nvPr/>
        </p:nvSpPr>
        <p:spPr>
          <a:xfrm>
            <a:off x="8054645" y="2103120"/>
            <a:ext cx="3588410" cy="2011680"/>
          </a:xfrm>
          <a:prstGeom prst="roundRect">
            <a:avLst>
              <a:gd name="adj" fmla="val 6364"/>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41" name="COI accent Safeguards"/>
          <p:cNvSpPr/>
          <p:nvPr/>
        </p:nvSpPr>
        <p:spPr>
          <a:xfrm>
            <a:off x="8054645" y="2286000"/>
            <a:ext cx="64008" cy="1645920"/>
          </a:xfrm>
          <a:prstGeom prst="rect">
            <a:avLst/>
          </a:prstGeom>
          <a:solidFill>
            <a:schemeClr val="accent1"/>
          </a:solidFill>
          <a:ln/>
        </p:spPr>
      </p:sp>
      <p:sp>
        <p:nvSpPr>
          <p:cNvPr id="42" name="Icon disc LuUserCheck"/>
          <p:cNvSpPr/>
          <p:nvPr/>
        </p:nvSpPr>
        <p:spPr>
          <a:xfrm>
            <a:off x="8283245" y="2340864"/>
            <a:ext cx="347472" cy="347472"/>
          </a:xfrm>
          <a:prstGeom prst="ellipse">
            <a:avLst/>
          </a:prstGeom>
          <a:solidFill>
            <a:schemeClr val="accent1">
              <a:alpha val="20000"/>
            </a:schemeClr>
          </a:solidFill>
          <a:ln/>
        </p:spPr>
      </p:sp>
      <p:pic>
        <p:nvPicPr>
          <p:cNvPr id="43" name="Image 6" descr="UserCheck icon">    </p:cNvPr>
          <p:cNvPicPr>
            <a:picLocks noChangeAspect="1"/>
          </p:cNvPicPr>
          <p:nvPr/>
        </p:nvPicPr>
        <p:blipFill>
          <a:blip r:embed="rId7"/>
          <a:stretch>
            <a:fillRect/>
          </a:stretch>
        </p:blipFill>
        <p:spPr>
          <a:xfrm>
            <a:off x="8359689" y="2417308"/>
            <a:ext cx="194584" cy="194584"/>
          </a:xfrm>
          <a:prstGeom prst="rect">
            <a:avLst/>
          </a:prstGeom>
        </p:spPr>
      </p:pic>
      <p:sp>
        <p:nvSpPr>
          <p:cNvPr id="44" name="Text 34"/>
          <p:cNvSpPr txBox="1"/>
          <p:nvPr/>
        </p:nvSpPr>
        <p:spPr>
          <a:xfrm>
            <a:off x="8740445" y="2267712"/>
            <a:ext cx="2719730" cy="530352"/>
          </a:xfrm>
          <a:prstGeom prst="rect">
            <a:avLst/>
          </a:prstGeom>
          <a:noFill/>
          <a:ln/>
        </p:spPr>
        <p:txBody>
          <a:bodyPr wrap="square" lIns="0" tIns="0" rIns="0" bIns="0" rtlCol="0" anchor="ctr"/>
          <a:lstStyle/>
          <a:p>
            <a:pPr indent="0" marL="0">
              <a:buNone/>
            </a:pPr>
            <a:r>
              <a:rPr lang="en-US" sz="1050" dirty="0">
                <a:solidFill>
                  <a:schemeClr val="tx1"/>
                </a:solidFill>
              </a:rPr>
              <a:t>Independent consent-taker and independent outcome assessor</a:t>
            </a:r>
            <a:endParaRPr lang="en-US" sz="1050" dirty="0"/>
          </a:p>
        </p:txBody>
      </p:sp>
      <p:sp>
        <p:nvSpPr>
          <p:cNvPr id="45" name="Icon disc LuClipboardList"/>
          <p:cNvSpPr/>
          <p:nvPr/>
        </p:nvSpPr>
        <p:spPr>
          <a:xfrm>
            <a:off x="8283245" y="2944368"/>
            <a:ext cx="347472" cy="347472"/>
          </a:xfrm>
          <a:prstGeom prst="ellipse">
            <a:avLst/>
          </a:prstGeom>
          <a:solidFill>
            <a:schemeClr val="accent1">
              <a:alpha val="20000"/>
            </a:schemeClr>
          </a:solidFill>
          <a:ln/>
        </p:spPr>
      </p:sp>
      <p:pic>
        <p:nvPicPr>
          <p:cNvPr id="46" name="Image 7" descr="ClipboardList icon">    </p:cNvPr>
          <p:cNvPicPr>
            <a:picLocks noChangeAspect="1"/>
          </p:cNvPicPr>
          <p:nvPr/>
        </p:nvPicPr>
        <p:blipFill>
          <a:blip r:embed="rId8"/>
          <a:stretch>
            <a:fillRect/>
          </a:stretch>
        </p:blipFill>
        <p:spPr>
          <a:xfrm>
            <a:off x="8359689" y="3020812"/>
            <a:ext cx="194584" cy="194584"/>
          </a:xfrm>
          <a:prstGeom prst="rect">
            <a:avLst/>
          </a:prstGeom>
        </p:spPr>
      </p:pic>
      <p:sp>
        <p:nvSpPr>
          <p:cNvPr id="47" name="Text 36"/>
          <p:cNvSpPr txBox="1"/>
          <p:nvPr/>
        </p:nvSpPr>
        <p:spPr>
          <a:xfrm>
            <a:off x="8740445" y="2871216"/>
            <a:ext cx="2719730" cy="530352"/>
          </a:xfrm>
          <a:prstGeom prst="rect">
            <a:avLst/>
          </a:prstGeom>
          <a:noFill/>
          <a:ln/>
        </p:spPr>
        <p:txBody>
          <a:bodyPr wrap="square" lIns="0" tIns="0" rIns="0" bIns="0" rtlCol="0" anchor="ctr"/>
          <a:lstStyle/>
          <a:p>
            <a:pPr indent="0" marL="0">
              <a:buNone/>
            </a:pPr>
            <a:r>
              <a:rPr lang="en-US" sz="1050" dirty="0">
                <a:solidFill>
                  <a:schemeClr val="tx1"/>
                </a:solidFill>
              </a:rPr>
              <a:t>Prospective CTRI registration with pre-specified outcomes</a:t>
            </a:r>
            <a:endParaRPr lang="en-US" sz="1050" dirty="0"/>
          </a:p>
        </p:txBody>
      </p:sp>
      <p:sp>
        <p:nvSpPr>
          <p:cNvPr id="48" name="Icon disc LuBookOpen"/>
          <p:cNvSpPr/>
          <p:nvPr/>
        </p:nvSpPr>
        <p:spPr>
          <a:xfrm>
            <a:off x="8283245" y="3547872"/>
            <a:ext cx="347472" cy="347472"/>
          </a:xfrm>
          <a:prstGeom prst="ellipse">
            <a:avLst/>
          </a:prstGeom>
          <a:solidFill>
            <a:schemeClr val="accent1">
              <a:alpha val="20000"/>
            </a:schemeClr>
          </a:solidFill>
          <a:ln/>
        </p:spPr>
      </p:sp>
      <p:pic>
        <p:nvPicPr>
          <p:cNvPr id="49" name="Image 8" descr="BookOpen icon">    </p:cNvPr>
          <p:cNvPicPr>
            <a:picLocks noChangeAspect="1"/>
          </p:cNvPicPr>
          <p:nvPr/>
        </p:nvPicPr>
        <p:blipFill>
          <a:blip r:embed="rId9"/>
          <a:stretch>
            <a:fillRect/>
          </a:stretch>
        </p:blipFill>
        <p:spPr>
          <a:xfrm>
            <a:off x="8359689" y="3624316"/>
            <a:ext cx="194584" cy="194584"/>
          </a:xfrm>
          <a:prstGeom prst="rect">
            <a:avLst/>
          </a:prstGeom>
        </p:spPr>
      </p:pic>
      <p:sp>
        <p:nvSpPr>
          <p:cNvPr id="50" name="Text 38"/>
          <p:cNvSpPr txBox="1"/>
          <p:nvPr/>
        </p:nvSpPr>
        <p:spPr>
          <a:xfrm>
            <a:off x="8740445" y="3474720"/>
            <a:ext cx="2719730" cy="530352"/>
          </a:xfrm>
          <a:prstGeom prst="rect">
            <a:avLst/>
          </a:prstGeom>
          <a:noFill/>
          <a:ln/>
        </p:spPr>
        <p:txBody>
          <a:bodyPr wrap="square" lIns="0" tIns="0" rIns="0" bIns="0" rtlCol="0" anchor="ctr"/>
          <a:lstStyle/>
          <a:p>
            <a:pPr indent="0" marL="0">
              <a:buNone/>
            </a:pPr>
            <a:r>
              <a:rPr lang="en-US" sz="1050" dirty="0">
                <a:solidFill>
                  <a:schemeClr val="tx1"/>
                </a:solidFill>
              </a:rPr>
              <a:t>Publish every result, null and negative included; plain-language summary to participants (MRCT 2017)</a:t>
            </a:r>
            <a:endParaRPr lang="en-US" sz="1050" dirty="0"/>
          </a:p>
        </p:txBody>
      </p:sp>
      <p:sp>
        <p:nvSpPr>
          <p:cNvPr id="51" name="Text 39"/>
          <p:cNvSpPr txBox="1"/>
          <p:nvPr/>
        </p:nvSpPr>
        <p:spPr>
          <a:xfrm>
            <a:off x="548640" y="4315968"/>
            <a:ext cx="5486400" cy="219456"/>
          </a:xfrm>
          <a:prstGeom prst="rect">
            <a:avLst/>
          </a:prstGeom>
          <a:noFill/>
          <a:ln/>
        </p:spPr>
        <p:txBody>
          <a:bodyPr wrap="square" lIns="0" tIns="0" rIns="0" bIns="0" rtlCol="0" anchor="t"/>
          <a:lstStyle/>
          <a:p>
            <a:pPr indent="0" marL="0">
              <a:buNone/>
            </a:pPr>
            <a:r>
              <a:rPr lang="en-US" sz="950" b="1" spc="200" kern="0" dirty="0">
                <a:solidFill>
                  <a:schemeClr val="accent5"/>
                </a:solidFill>
              </a:rPr>
              <a:t>THE RULES, IN INDIA AND ABROAD</a:t>
            </a:r>
            <a:endParaRPr lang="en-US" sz="950" dirty="0"/>
          </a:p>
        </p:txBody>
      </p:sp>
      <p:sp>
        <p:nvSpPr>
          <p:cNvPr id="52" name="Text 40"/>
          <p:cNvSpPr txBox="1"/>
          <p:nvPr/>
        </p:nvSpPr>
        <p:spPr>
          <a:xfrm>
            <a:off x="3657600" y="4315968"/>
            <a:ext cx="7985455" cy="219456"/>
          </a:xfrm>
          <a:prstGeom prst="rect">
            <a:avLst/>
          </a:prstGeom>
          <a:noFill/>
          <a:ln/>
        </p:spPr>
        <p:txBody>
          <a:bodyPr wrap="square" lIns="0" tIns="0" rIns="0" bIns="0" rtlCol="0" anchor="t"/>
          <a:lstStyle/>
          <a:p>
            <a:pPr algn="r" indent="0" marL="0">
              <a:buNone/>
            </a:pPr>
            <a:r>
              <a:rPr lang="en-US" sz="950" i="1" dirty="0">
                <a:solidFill>
                  <a:schemeClr val="accent5"/>
                </a:solidFill>
              </a:rPr>
              <a:t>None of these replaces project-level management: independent consent and assessment, a registered protocol, full publication.</a:t>
            </a:r>
            <a:endParaRPr lang="en-US" sz="950" dirty="0"/>
          </a:p>
        </p:txBody>
      </p:sp>
      <p:sp>
        <p:nvSpPr>
          <p:cNvPr id="53" name="Rules row India"/>
          <p:cNvSpPr/>
          <p:nvPr/>
        </p:nvSpPr>
        <p:spPr>
          <a:xfrm>
            <a:off x="548640" y="4608576"/>
            <a:ext cx="1051560" cy="822960"/>
          </a:xfrm>
          <a:prstGeom prst="roundRect">
            <a:avLst>
              <a:gd name="adj" fmla="val 11111"/>
            </a:avLst>
          </a:prstGeom>
          <a:solidFill>
            <a:schemeClr val="accent1"/>
          </a:solidFill>
          <a:ln/>
        </p:spPr>
      </p:sp>
      <p:pic>
        <p:nvPicPr>
          <p:cNvPr id="54" name="Image 9" descr="IN flag">    </p:cNvPr>
          <p:cNvPicPr>
            <a:picLocks noChangeAspect="1"/>
          </p:cNvPicPr>
          <p:nvPr/>
        </p:nvPicPr>
        <p:blipFill>
          <a:blip r:embed="rId10"/>
          <a:stretch>
            <a:fillRect/>
          </a:stretch>
        </p:blipFill>
        <p:spPr>
          <a:xfrm>
            <a:off x="658368" y="4718304"/>
            <a:ext cx="384048" cy="256032"/>
          </a:xfrm>
          <a:prstGeom prst="rect">
            <a:avLst/>
          </a:prstGeom>
        </p:spPr>
      </p:pic>
      <p:sp>
        <p:nvSpPr>
          <p:cNvPr id="55" name="Text 42"/>
          <p:cNvSpPr txBox="1"/>
          <p:nvPr/>
        </p:nvSpPr>
        <p:spPr>
          <a:xfrm>
            <a:off x="640080" y="5029200"/>
            <a:ext cx="868680" cy="329184"/>
          </a:xfrm>
          <a:prstGeom prst="rect">
            <a:avLst/>
          </a:prstGeom>
          <a:noFill/>
          <a:ln/>
        </p:spPr>
        <p:txBody>
          <a:bodyPr wrap="square" lIns="0" tIns="0" rIns="0" bIns="0" rtlCol="0" anchor="ctr"/>
          <a:lstStyle/>
          <a:p>
            <a:pPr indent="0" marL="0">
              <a:buNone/>
            </a:pPr>
            <a:r>
              <a:rPr lang="en-US" sz="1200" b="1" dirty="0">
                <a:solidFill>
                  <a:schemeClr val="bg1"/>
                </a:solidFill>
              </a:rPr>
              <a:t>India</a:t>
            </a:r>
            <a:endParaRPr lang="en-US" sz="1200" dirty="0"/>
          </a:p>
        </p:txBody>
      </p:sp>
      <p:sp>
        <p:nvSpPr>
          <p:cNvPr id="56" name="Rule UCMPMD 2024 (amended 30 Apr 2026)"/>
          <p:cNvSpPr/>
          <p:nvPr/>
        </p:nvSpPr>
        <p:spPr>
          <a:xfrm>
            <a:off x="1709928" y="4608576"/>
            <a:ext cx="3237890" cy="822960"/>
          </a:xfrm>
          <a:prstGeom prst="roundRect">
            <a:avLst>
              <a:gd name="adj" fmla="val 15556"/>
            </a:avLst>
          </a:prstGeom>
          <a:solidFill>
            <a:schemeClr val="bg2"/>
          </a:solidFill>
          <a:ln/>
        </p:spPr>
      </p:sp>
      <p:sp>
        <p:nvSpPr>
          <p:cNvPr id="57" name="Text 44"/>
          <p:cNvSpPr txBox="1"/>
          <p:nvPr/>
        </p:nvSpPr>
        <p:spPr>
          <a:xfrm>
            <a:off x="1847088" y="4672584"/>
            <a:ext cx="2963570" cy="713232"/>
          </a:xfrm>
          <a:prstGeom prst="rect">
            <a:avLst/>
          </a:prstGeom>
          <a:noFill/>
          <a:ln/>
        </p:spPr>
        <p:txBody>
          <a:bodyPr wrap="square" lIns="0" tIns="0" rIns="0" bIns="0" rtlCol="0" anchor="t"/>
          <a:lstStyle/>
          <a:p>
            <a:pPr indent="0" marL="0">
              <a:spcAft>
                <a:spcPts val="100"/>
              </a:spcAft>
              <a:buNone/>
            </a:pPr>
            <a:r>
              <a:rPr lang="en-US" sz="1050" b="1" dirty="0">
                <a:solidFill>
                  <a:schemeClr val="tx1"/>
                </a:solidFill>
              </a:rPr>
              <a:t>UCMPMD 2024 (amended 30 Apr 2026)</a:t>
            </a:r>
            <a:endParaRPr lang="en-US" sz="1050" dirty="0"/>
          </a:p>
          <a:p>
            <a:pPr indent="0" marL="0">
              <a:spcAft>
                <a:spcPts val="100"/>
              </a:spcAft>
              <a:buNone/>
            </a:pPr>
            <a:r>
              <a:rPr lang="en-US" sz="900" dirty="0">
                <a:solidFill>
                  <a:schemeClr val="tx2"/>
                </a:solidFill>
              </a:rPr>
              <a:t>Voluntary code for device companies (DoP circular, 6 Sep 2024): no gifts, travel or hospitality for health professionals; claims accurate and capable of substantiation; complaints to ECMPMD within 90 days</a:t>
            </a:r>
            <a:endParaRPr lang="en-US" sz="1050" dirty="0"/>
          </a:p>
        </p:txBody>
      </p:sp>
      <p:sp>
        <p:nvSpPr>
          <p:cNvPr id="58" name="Rule IMC 2002 Regulations, clause 6.8"/>
          <p:cNvSpPr/>
          <p:nvPr/>
        </p:nvSpPr>
        <p:spPr>
          <a:xfrm>
            <a:off x="5057546" y="4608576"/>
            <a:ext cx="3237890" cy="822960"/>
          </a:xfrm>
          <a:prstGeom prst="roundRect">
            <a:avLst>
              <a:gd name="adj" fmla="val 15556"/>
            </a:avLst>
          </a:prstGeom>
          <a:solidFill>
            <a:schemeClr val="bg2"/>
          </a:solidFill>
          <a:ln/>
        </p:spPr>
      </p:sp>
      <p:sp>
        <p:nvSpPr>
          <p:cNvPr id="59" name="Text 46"/>
          <p:cNvSpPr txBox="1"/>
          <p:nvPr/>
        </p:nvSpPr>
        <p:spPr>
          <a:xfrm>
            <a:off x="5194706" y="4672584"/>
            <a:ext cx="2963570" cy="713232"/>
          </a:xfrm>
          <a:prstGeom prst="rect">
            <a:avLst/>
          </a:prstGeom>
          <a:noFill/>
          <a:ln/>
        </p:spPr>
        <p:txBody>
          <a:bodyPr wrap="square" lIns="0" tIns="0" rIns="0" bIns="0" rtlCol="0" anchor="t"/>
          <a:lstStyle/>
          <a:p>
            <a:pPr indent="0" marL="0">
              <a:spcAft>
                <a:spcPts val="100"/>
              </a:spcAft>
              <a:buNone/>
            </a:pPr>
            <a:r>
              <a:rPr lang="en-US" sz="1050" b="1" dirty="0">
                <a:solidFill>
                  <a:schemeClr val="tx1"/>
                </a:solidFill>
              </a:rPr>
              <a:t>IMC 2002 Regulations, clause 6.8</a:t>
            </a:r>
            <a:endParaRPr lang="en-US" sz="1050" dirty="0"/>
          </a:p>
          <a:p>
            <a:pPr indent="0" marL="0">
              <a:spcAft>
                <a:spcPts val="100"/>
              </a:spcAft>
              <a:buNone/>
            </a:pPr>
            <a:r>
              <a:rPr lang="en-US" sz="900" dirty="0">
                <a:solidFill>
                  <a:schemeClr val="tx2"/>
                </a:solidFill>
              </a:rPr>
              <a:t>Doctors: no gifts, travel or hospitality from the pharmaceutical and allied health industry (inserted 10 Dec 2009); the NMC 2023 regulations have been in abeyance since 23 Aug 2023</a:t>
            </a:r>
            <a:endParaRPr lang="en-US" sz="1050" dirty="0"/>
          </a:p>
        </p:txBody>
      </p:sp>
      <p:sp>
        <p:nvSpPr>
          <p:cNvPr id="60" name="Rule ICMR 2017 · NDCT Rules 2019"/>
          <p:cNvSpPr/>
          <p:nvPr/>
        </p:nvSpPr>
        <p:spPr>
          <a:xfrm>
            <a:off x="8405165" y="4608576"/>
            <a:ext cx="3237890" cy="822960"/>
          </a:xfrm>
          <a:prstGeom prst="roundRect">
            <a:avLst>
              <a:gd name="adj" fmla="val 15556"/>
            </a:avLst>
          </a:prstGeom>
          <a:solidFill>
            <a:schemeClr val="bg2"/>
          </a:solidFill>
          <a:ln/>
        </p:spPr>
      </p:sp>
      <p:sp>
        <p:nvSpPr>
          <p:cNvPr id="61" name="Text 48"/>
          <p:cNvSpPr txBox="1"/>
          <p:nvPr/>
        </p:nvSpPr>
        <p:spPr>
          <a:xfrm>
            <a:off x="8542325" y="4672584"/>
            <a:ext cx="2963570" cy="713232"/>
          </a:xfrm>
          <a:prstGeom prst="rect">
            <a:avLst/>
          </a:prstGeom>
          <a:noFill/>
          <a:ln/>
        </p:spPr>
        <p:txBody>
          <a:bodyPr wrap="square" lIns="0" tIns="0" rIns="0" bIns="0" rtlCol="0" anchor="t"/>
          <a:lstStyle/>
          <a:p>
            <a:pPr indent="0" marL="0">
              <a:spcAft>
                <a:spcPts val="100"/>
              </a:spcAft>
              <a:buNone/>
            </a:pPr>
            <a:r>
              <a:rPr lang="en-US" sz="1050" b="1" dirty="0">
                <a:solidFill>
                  <a:schemeClr val="tx1"/>
                </a:solidFill>
              </a:rPr>
              <a:t>ICMR 2017 · NDCT Rules 2019</a:t>
            </a:r>
            <a:endParaRPr lang="en-US" sz="1050" dirty="0"/>
          </a:p>
          <a:p>
            <a:pPr indent="0" marL="0">
              <a:spcAft>
                <a:spcPts val="100"/>
              </a:spcAft>
              <a:buNone/>
            </a:pPr>
            <a:r>
              <a:rPr lang="en-US" sz="900" dirty="0">
                <a:solidFill>
                  <a:schemeClr val="tx2"/>
                </a:solidFill>
              </a:rPr>
              <a:t>Interests disclosed to the ethics committee and in the consent conversation; an ethics committee registered with CDSCO reviews the investigation plan</a:t>
            </a:r>
            <a:endParaRPr lang="en-US" sz="1050" dirty="0"/>
          </a:p>
        </p:txBody>
      </p:sp>
      <p:sp>
        <p:nvSpPr>
          <p:cNvPr id="62" name="Rules row Abroad"/>
          <p:cNvSpPr/>
          <p:nvPr/>
        </p:nvSpPr>
        <p:spPr>
          <a:xfrm>
            <a:off x="548640" y="5522976"/>
            <a:ext cx="1051560" cy="822960"/>
          </a:xfrm>
          <a:prstGeom prst="roundRect">
            <a:avLst>
              <a:gd name="adj" fmla="val 11111"/>
            </a:avLst>
          </a:prstGeom>
          <a:solidFill>
            <a:schemeClr val="accent4"/>
          </a:solidFill>
          <a:ln/>
        </p:spPr>
      </p:sp>
      <p:pic>
        <p:nvPicPr>
          <p:cNvPr id="63" name="Image 10" descr="US flag">    </p:cNvPr>
          <p:cNvPicPr>
            <a:picLocks noChangeAspect="1"/>
          </p:cNvPicPr>
          <p:nvPr/>
        </p:nvPicPr>
        <p:blipFill>
          <a:blip r:embed="rId11"/>
          <a:stretch>
            <a:fillRect/>
          </a:stretch>
        </p:blipFill>
        <p:spPr>
          <a:xfrm>
            <a:off x="658368" y="5632704"/>
            <a:ext cx="384048" cy="256032"/>
          </a:xfrm>
          <a:prstGeom prst="rect">
            <a:avLst/>
          </a:prstGeom>
        </p:spPr>
      </p:pic>
      <p:pic>
        <p:nvPicPr>
          <p:cNvPr id="64" name="Image 11" descr="GB flag">    </p:cNvPr>
          <p:cNvPicPr>
            <a:picLocks noChangeAspect="1"/>
          </p:cNvPicPr>
          <p:nvPr/>
        </p:nvPicPr>
        <p:blipFill>
          <a:blip r:embed="rId12"/>
          <a:stretch>
            <a:fillRect/>
          </a:stretch>
        </p:blipFill>
        <p:spPr>
          <a:xfrm>
            <a:off x="1115568" y="5632704"/>
            <a:ext cx="384048" cy="256032"/>
          </a:xfrm>
          <a:prstGeom prst="rect">
            <a:avLst/>
          </a:prstGeom>
        </p:spPr>
      </p:pic>
      <p:sp>
        <p:nvSpPr>
          <p:cNvPr id="65" name="Text 50"/>
          <p:cNvSpPr txBox="1"/>
          <p:nvPr/>
        </p:nvSpPr>
        <p:spPr>
          <a:xfrm>
            <a:off x="640080" y="5943600"/>
            <a:ext cx="868680" cy="329184"/>
          </a:xfrm>
          <a:prstGeom prst="rect">
            <a:avLst/>
          </a:prstGeom>
          <a:noFill/>
          <a:ln/>
        </p:spPr>
        <p:txBody>
          <a:bodyPr wrap="square" lIns="0" tIns="0" rIns="0" bIns="0" rtlCol="0" anchor="ctr"/>
          <a:lstStyle/>
          <a:p>
            <a:pPr indent="0" marL="0">
              <a:buNone/>
            </a:pPr>
            <a:r>
              <a:rPr lang="en-US" sz="1200" b="1" dirty="0">
                <a:solidFill>
                  <a:schemeClr val="bg1"/>
                </a:solidFill>
              </a:rPr>
              <a:t>Abroad</a:t>
            </a:r>
            <a:endParaRPr lang="en-US" sz="1200" dirty="0"/>
          </a:p>
        </p:txBody>
      </p:sp>
      <p:sp>
        <p:nvSpPr>
          <p:cNvPr id="66" name="Rule USA · Open Payments (Sunshine Act)"/>
          <p:cNvSpPr/>
          <p:nvPr/>
        </p:nvSpPr>
        <p:spPr>
          <a:xfrm>
            <a:off x="1709928" y="5522976"/>
            <a:ext cx="3237890" cy="822960"/>
          </a:xfrm>
          <a:prstGeom prst="roundRect">
            <a:avLst>
              <a:gd name="adj" fmla="val 15556"/>
            </a:avLst>
          </a:prstGeom>
          <a:solidFill>
            <a:schemeClr val="bg2"/>
          </a:solidFill>
          <a:ln/>
        </p:spPr>
      </p:sp>
      <p:sp>
        <p:nvSpPr>
          <p:cNvPr id="67" name="Text 52"/>
          <p:cNvSpPr txBox="1"/>
          <p:nvPr/>
        </p:nvSpPr>
        <p:spPr>
          <a:xfrm>
            <a:off x="1847088" y="5586984"/>
            <a:ext cx="2963570" cy="713232"/>
          </a:xfrm>
          <a:prstGeom prst="rect">
            <a:avLst/>
          </a:prstGeom>
          <a:noFill/>
          <a:ln/>
        </p:spPr>
        <p:txBody>
          <a:bodyPr wrap="square" lIns="0" tIns="0" rIns="0" bIns="0" rtlCol="0" anchor="t"/>
          <a:lstStyle/>
          <a:p>
            <a:pPr indent="0" marL="0">
              <a:spcAft>
                <a:spcPts val="100"/>
              </a:spcAft>
              <a:buNone/>
            </a:pPr>
            <a:r>
              <a:rPr lang="en-US" sz="1050" b="1" dirty="0">
                <a:solidFill>
                  <a:schemeClr val="tx1"/>
                </a:solidFill>
              </a:rPr>
              <a:t>USA · Open Payments (Sunshine Act)</a:t>
            </a:r>
            <a:endParaRPr lang="en-US" sz="1050" dirty="0"/>
          </a:p>
          <a:p>
            <a:pPr indent="0" marL="0">
              <a:spcAft>
                <a:spcPts val="100"/>
              </a:spcAft>
              <a:buNone/>
            </a:pPr>
            <a:r>
              <a:rPr lang="en-US" sz="900" dirty="0">
                <a:solidFill>
                  <a:schemeClr val="tx2"/>
                </a:solidFill>
              </a:rPr>
              <a:t>Manufacturers of drugs and devices report consulting fees, travel, research payments, royalties and ownership interests to physicians every year; CMS publishes them</a:t>
            </a:r>
            <a:endParaRPr lang="en-US" sz="1050" dirty="0"/>
          </a:p>
        </p:txBody>
      </p:sp>
      <p:sp>
        <p:nvSpPr>
          <p:cNvPr id="68" name="Rule USA · Harvard Medical School policy, 2010"/>
          <p:cNvSpPr/>
          <p:nvPr/>
        </p:nvSpPr>
        <p:spPr>
          <a:xfrm>
            <a:off x="5057546" y="5522976"/>
            <a:ext cx="3237890" cy="822960"/>
          </a:xfrm>
          <a:prstGeom prst="roundRect">
            <a:avLst>
              <a:gd name="adj" fmla="val 15556"/>
            </a:avLst>
          </a:prstGeom>
          <a:solidFill>
            <a:schemeClr val="bg2"/>
          </a:solidFill>
          <a:ln/>
        </p:spPr>
      </p:sp>
      <p:sp>
        <p:nvSpPr>
          <p:cNvPr id="69" name="Text 54"/>
          <p:cNvSpPr txBox="1"/>
          <p:nvPr/>
        </p:nvSpPr>
        <p:spPr>
          <a:xfrm>
            <a:off x="5194706" y="5586984"/>
            <a:ext cx="2963570" cy="713232"/>
          </a:xfrm>
          <a:prstGeom prst="rect">
            <a:avLst/>
          </a:prstGeom>
          <a:noFill/>
          <a:ln/>
        </p:spPr>
        <p:txBody>
          <a:bodyPr wrap="square" lIns="0" tIns="0" rIns="0" bIns="0" rtlCol="0" anchor="t"/>
          <a:lstStyle/>
          <a:p>
            <a:pPr indent="0" marL="0">
              <a:spcAft>
                <a:spcPts val="100"/>
              </a:spcAft>
              <a:buNone/>
            </a:pPr>
            <a:r>
              <a:rPr lang="en-US" sz="1050" b="1" dirty="0">
                <a:solidFill>
                  <a:schemeClr val="tx1"/>
                </a:solidFill>
              </a:rPr>
              <a:t>USA · Harvard Medical School policy, 2010</a:t>
            </a:r>
            <a:endParaRPr lang="en-US" sz="1050" dirty="0"/>
          </a:p>
          <a:p>
            <a:pPr indent="0" marL="0">
              <a:spcAft>
                <a:spcPts val="100"/>
              </a:spcAft>
              <a:buNone/>
            </a:pPr>
            <a:r>
              <a:rPr lang="en-US" sz="900" dirty="0">
                <a:solidFill>
                  <a:schemeClr val="tx2"/>
                </a:solidFill>
              </a:rPr>
              <a:t>From disclosure to limits: faculty barred from industry speakers' bureaus; the model for ‘disclose, then manage’ in this session</a:t>
            </a:r>
            <a:endParaRPr lang="en-US" sz="1050" dirty="0"/>
          </a:p>
        </p:txBody>
      </p:sp>
      <p:sp>
        <p:nvSpPr>
          <p:cNvPr id="70" name="Rule UK · Cumberlege Review, 2020"/>
          <p:cNvSpPr/>
          <p:nvPr/>
        </p:nvSpPr>
        <p:spPr>
          <a:xfrm>
            <a:off x="8405165" y="5522976"/>
            <a:ext cx="3237890" cy="822960"/>
          </a:xfrm>
          <a:prstGeom prst="roundRect">
            <a:avLst>
              <a:gd name="adj" fmla="val 15556"/>
            </a:avLst>
          </a:prstGeom>
          <a:solidFill>
            <a:schemeClr val="bg2"/>
          </a:solidFill>
          <a:ln/>
        </p:spPr>
      </p:sp>
      <p:sp>
        <p:nvSpPr>
          <p:cNvPr id="71" name="Text 56"/>
          <p:cNvSpPr txBox="1"/>
          <p:nvPr/>
        </p:nvSpPr>
        <p:spPr>
          <a:xfrm>
            <a:off x="8542325" y="5586984"/>
            <a:ext cx="2963570" cy="713232"/>
          </a:xfrm>
          <a:prstGeom prst="rect">
            <a:avLst/>
          </a:prstGeom>
          <a:noFill/>
          <a:ln/>
        </p:spPr>
        <p:txBody>
          <a:bodyPr wrap="square" lIns="0" tIns="0" rIns="0" bIns="0" rtlCol="0" anchor="t"/>
          <a:lstStyle/>
          <a:p>
            <a:pPr indent="0" marL="0">
              <a:spcAft>
                <a:spcPts val="100"/>
              </a:spcAft>
              <a:buNone/>
            </a:pPr>
            <a:r>
              <a:rPr lang="en-US" sz="1050" b="1" dirty="0">
                <a:solidFill>
                  <a:schemeClr val="tx1"/>
                </a:solidFill>
              </a:rPr>
              <a:t>UK · Cumberlege Review, 2020</a:t>
            </a:r>
            <a:endParaRPr lang="en-US" sz="1050" dirty="0"/>
          </a:p>
          <a:p>
            <a:pPr indent="0" marL="0">
              <a:spcAft>
                <a:spcPts val="100"/>
              </a:spcAft>
              <a:buNone/>
            </a:pPr>
            <a:r>
              <a:rPr lang="en-US" sz="900" dirty="0">
                <a:solidFill>
                  <a:schemeClr val="tx2"/>
                </a:solidFill>
              </a:rPr>
              <a:t>First Do No Harm recommended an expanded GMC register of all doctors' financial and non-pecuniary interests, a Patient Safety Commissioner and device registries</a:t>
            </a:r>
            <a:endParaRPr lang="en-US" sz="10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103120"/>
            <a:ext cx="7315200" cy="292608"/>
          </a:xfrm>
          <a:prstGeom prst="rect">
            <a:avLst/>
          </a:prstGeom>
          <a:noFill/>
          <a:ln/>
        </p:spPr>
        <p:txBody>
          <a:bodyPr wrap="square" lIns="0" tIns="0" rIns="0" bIns="0" rtlCol="0" anchor="t"/>
          <a:lstStyle/>
          <a:p>
            <a:pPr algn="l" indent="0" marL="0">
              <a:buNone/>
            </a:pPr>
            <a:r>
              <a:rPr lang="en-US" sz="1300" b="1" spc="300" kern="0" dirty="0">
                <a:solidFill>
                  <a:schemeClr val="accent2"/>
                </a:solidFill>
              </a:rPr>
              <a:t>PART 3 · PERMISSION IN INDIA</a:t>
            </a:r>
            <a:endParaRPr lang="en-US" sz="1300" dirty="0"/>
          </a:p>
        </p:txBody>
      </p:sp>
      <p:sp>
        <p:nvSpPr>
          <p:cNvPr id="3" name="Text 0"/>
          <p:cNvSpPr/>
          <p:nvPr>
            <p:ph idx="101" type="title" hasCustomPrompt="1"/>
          </p:nvPr>
        </p:nvSpPr>
        <p:spPr>
          <a:xfrm>
            <a:off x="548640" y="2468880"/>
            <a:ext cx="7498080" cy="1463040"/>
          </a:xfrm>
          <a:prstGeom prst="rect">
            <a:avLst/>
          </a:prstGeom>
          <a:noFill/>
          <a:ln/>
        </p:spPr>
        <p:txBody>
          <a:bodyPr wrap="square" lIns="0" tIns="0" rIns="0" bIns="0" rtlCol="0" anchor="t"/>
          <a:lstStyle/>
          <a:p>
            <a:pPr algn="l" indent="0" marL="0">
              <a:buNone/>
            </a:pPr>
            <a:r>
              <a:rPr lang="en-US" sz="4200" b="1" dirty="0">
                <a:solidFill>
                  <a:schemeClr val="bg1"/>
                </a:solidFill>
              </a:rPr>
              <a:t>Who allows what, for which device?</a:t>
            </a:r>
            <a:endParaRPr lang="en-US" sz="4200" dirty="0"/>
          </a:p>
        </p:txBody>
      </p:sp>
      <p:sp>
        <p:nvSpPr>
          <p:cNvPr id="5" name="Text 0"/>
          <p:cNvSpPr/>
          <p:nvPr>
            <p:ph idx="102" type="body" hasCustomPrompt="1"/>
          </p:nvPr>
        </p:nvSpPr>
        <p:spPr>
          <a:xfrm>
            <a:off x="548640" y="3977640"/>
            <a:ext cx="6949440" cy="914400"/>
          </a:xfrm>
          <a:prstGeom prst="rect">
            <a:avLst/>
          </a:prstGeom>
          <a:noFill/>
          <a:ln/>
        </p:spPr>
        <p:txBody>
          <a:bodyPr wrap="square" lIns="0" tIns="0" rIns="0" bIns="0" rtlCol="0" anchor="t"/>
          <a:lstStyle/>
          <a:p>
            <a:pPr algn="l" indent="0" marL="0">
              <a:buNone/>
            </a:pPr>
            <a:r>
              <a:rPr lang="en-US" sz="1700" dirty="0">
                <a:solidFill>
                  <a:schemeClr val="accent6"/>
                </a:solidFill>
              </a:rPr>
              <a:t>One Act, one set of Rules, four risk classes. How a wearable like FoGO moves from a test licence to a State manufacturing licence, and what never stops afterwards.</a:t>
            </a:r>
            <a:endParaRPr lang="en-US" sz="1700" dirty="0"/>
          </a:p>
        </p:txBody>
      </p:sp>
      <p:sp>
        <p:nvSpPr>
          <p:cNvPr id="6" name="Text 3"/>
          <p:cNvSpPr txBox="1"/>
          <p:nvPr/>
        </p:nvSpPr>
        <p:spPr>
          <a:xfrm>
            <a:off x="502920" y="502920"/>
            <a:ext cx="3657600" cy="1463040"/>
          </a:xfrm>
          <a:prstGeom prst="rect">
            <a:avLst/>
          </a:prstGeom>
          <a:noFill/>
          <a:ln/>
        </p:spPr>
        <p:txBody>
          <a:bodyPr wrap="square" lIns="0" tIns="0" rIns="0" bIns="0" rtlCol="0" anchor="t"/>
          <a:lstStyle/>
          <a:p>
            <a:pPr indent="0" marL="0">
              <a:buNone/>
            </a:pPr>
            <a:r>
              <a:rPr lang="en-US" sz="9600" b="1" dirty="0">
                <a:solidFill>
                  <a:schemeClr val="accent6">
                    <a:alpha val="30000"/>
                  </a:schemeClr>
                </a:solidFill>
                <a:latin typeface="Cambria" pitchFamily="34" charset="0"/>
                <a:ea typeface="Cambria" pitchFamily="34" charset="-122"/>
                <a:cs typeface="Cambria" pitchFamily="34" charset="-120"/>
              </a:rPr>
              <a:t>03</a:t>
            </a:r>
            <a:endParaRPr lang="en-US" sz="9600" dirty="0"/>
          </a:p>
        </p:txBody>
      </p:sp>
      <p:sp>
        <p:nvSpPr>
          <p:cNvPr id="7" name="Icon disc LuLayers"/>
          <p:cNvSpPr/>
          <p:nvPr/>
        </p:nvSpPr>
        <p:spPr>
          <a:xfrm>
            <a:off x="548640" y="5074920"/>
            <a:ext cx="329184" cy="329184"/>
          </a:xfrm>
          <a:prstGeom prst="ellipse">
            <a:avLst/>
          </a:prstGeom>
          <a:solidFill>
            <a:schemeClr val="accent2"/>
          </a:solidFill>
          <a:ln/>
        </p:spPr>
      </p:sp>
      <p:pic>
        <p:nvPicPr>
          <p:cNvPr id="8" name="Image 0" descr="Layers icon">    </p:cNvPr>
          <p:cNvPicPr>
            <a:picLocks noChangeAspect="1"/>
          </p:cNvPicPr>
          <p:nvPr/>
        </p:nvPicPr>
        <p:blipFill>
          <a:blip r:embed="rId1"/>
          <a:stretch>
            <a:fillRect/>
          </a:stretch>
        </p:blipFill>
        <p:spPr>
          <a:xfrm>
            <a:off x="621060" y="5147340"/>
            <a:ext cx="184343" cy="184343"/>
          </a:xfrm>
          <a:prstGeom prst="rect">
            <a:avLst/>
          </a:prstGeom>
        </p:spPr>
      </p:pic>
      <p:sp>
        <p:nvSpPr>
          <p:cNvPr id="9" name="Text 5"/>
          <p:cNvSpPr txBox="1"/>
          <p:nvPr/>
        </p:nvSpPr>
        <p:spPr>
          <a:xfrm>
            <a:off x="1005840" y="5074920"/>
            <a:ext cx="6858000" cy="329184"/>
          </a:xfrm>
          <a:prstGeom prst="rect">
            <a:avLst/>
          </a:prstGeom>
          <a:noFill/>
          <a:ln/>
        </p:spPr>
        <p:txBody>
          <a:bodyPr wrap="square" lIns="0" tIns="0" rIns="0" bIns="0" rtlCol="0" anchor="ctr"/>
          <a:lstStyle/>
          <a:p>
            <a:pPr indent="0" marL="0">
              <a:buNone/>
            </a:pPr>
            <a:r>
              <a:rPr lang="en-US" sz="1300" dirty="0">
                <a:solidFill>
                  <a:schemeClr val="bg1"/>
                </a:solidFill>
              </a:rPr>
              <a:t>Four risk classes and the First Schedule rules that decide them</a:t>
            </a:r>
            <a:endParaRPr lang="en-US" sz="1300" dirty="0"/>
          </a:p>
        </p:txBody>
      </p:sp>
      <p:sp>
        <p:nvSpPr>
          <p:cNvPr id="10" name="Icon disc LuFileCheck"/>
          <p:cNvSpPr/>
          <p:nvPr/>
        </p:nvSpPr>
        <p:spPr>
          <a:xfrm>
            <a:off x="548640" y="5532120"/>
            <a:ext cx="329184" cy="329184"/>
          </a:xfrm>
          <a:prstGeom prst="ellipse">
            <a:avLst/>
          </a:prstGeom>
          <a:solidFill>
            <a:schemeClr val="accent2"/>
          </a:solidFill>
          <a:ln/>
        </p:spPr>
      </p:sp>
      <p:pic>
        <p:nvPicPr>
          <p:cNvPr id="11" name="Image 1" descr="FileCheck icon">    </p:cNvPr>
          <p:cNvPicPr>
            <a:picLocks noChangeAspect="1"/>
          </p:cNvPicPr>
          <p:nvPr/>
        </p:nvPicPr>
        <p:blipFill>
          <a:blip r:embed="rId2"/>
          <a:stretch>
            <a:fillRect/>
          </a:stretch>
        </p:blipFill>
        <p:spPr>
          <a:xfrm>
            <a:off x="621060" y="5604540"/>
            <a:ext cx="184343" cy="184343"/>
          </a:xfrm>
          <a:prstGeom prst="rect">
            <a:avLst/>
          </a:prstGeom>
        </p:spPr>
      </p:pic>
      <p:sp>
        <p:nvSpPr>
          <p:cNvPr id="12" name="Text 7"/>
          <p:cNvSpPr txBox="1"/>
          <p:nvPr/>
        </p:nvSpPr>
        <p:spPr>
          <a:xfrm>
            <a:off x="1005840" y="5532120"/>
            <a:ext cx="6858000" cy="329184"/>
          </a:xfrm>
          <a:prstGeom prst="rect">
            <a:avLst/>
          </a:prstGeom>
          <a:noFill/>
          <a:ln/>
        </p:spPr>
        <p:txBody>
          <a:bodyPr wrap="square" lIns="0" tIns="0" rIns="0" bIns="0" rtlCol="0" anchor="ctr"/>
          <a:lstStyle/>
          <a:p>
            <a:pPr indent="0" marL="0">
              <a:buNone/>
            </a:pPr>
            <a:r>
              <a:rPr lang="en-US" sz="1300" dirty="0">
                <a:solidFill>
                  <a:schemeClr val="bg1"/>
                </a:solidFill>
              </a:rPr>
              <a:t>Which licence, from which authority, with which form and fee</a:t>
            </a:r>
            <a:endParaRPr lang="en-US" sz="1300" dirty="0"/>
          </a:p>
        </p:txBody>
      </p:sp>
      <p:sp>
        <p:nvSpPr>
          <p:cNvPr id="13" name="Icon disc LuSiren"/>
          <p:cNvSpPr/>
          <p:nvPr/>
        </p:nvSpPr>
        <p:spPr>
          <a:xfrm>
            <a:off x="548640" y="5989320"/>
            <a:ext cx="329184" cy="329184"/>
          </a:xfrm>
          <a:prstGeom prst="ellipse">
            <a:avLst/>
          </a:prstGeom>
          <a:solidFill>
            <a:schemeClr val="accent2"/>
          </a:solidFill>
          <a:ln/>
        </p:spPr>
      </p:sp>
      <p:pic>
        <p:nvPicPr>
          <p:cNvPr id="14" name="Image 2" descr="Siren icon">    </p:cNvPr>
          <p:cNvPicPr>
            <a:picLocks noChangeAspect="1"/>
          </p:cNvPicPr>
          <p:nvPr/>
        </p:nvPicPr>
        <p:blipFill>
          <a:blip r:embed="rId3"/>
          <a:stretch>
            <a:fillRect/>
          </a:stretch>
        </p:blipFill>
        <p:spPr>
          <a:xfrm>
            <a:off x="621060" y="6061740"/>
            <a:ext cx="184343" cy="184343"/>
          </a:xfrm>
          <a:prstGeom prst="rect">
            <a:avLst/>
          </a:prstGeom>
        </p:spPr>
      </p:pic>
      <p:sp>
        <p:nvSpPr>
          <p:cNvPr id="15" name="Text 9"/>
          <p:cNvSpPr txBox="1"/>
          <p:nvPr/>
        </p:nvSpPr>
        <p:spPr>
          <a:xfrm>
            <a:off x="1005840" y="5989320"/>
            <a:ext cx="6858000" cy="329184"/>
          </a:xfrm>
          <a:prstGeom prst="rect">
            <a:avLst/>
          </a:prstGeom>
          <a:noFill/>
          <a:ln/>
        </p:spPr>
        <p:txBody>
          <a:bodyPr wrap="square" lIns="0" tIns="0" rIns="0" bIns="0" rtlCol="0" anchor="ctr"/>
          <a:lstStyle/>
          <a:p>
            <a:pPr indent="0" marL="0">
              <a:buNone/>
            </a:pPr>
            <a:r>
              <a:rPr lang="en-US" sz="1300" dirty="0">
                <a:solidFill>
                  <a:schemeClr val="bg1"/>
                </a:solidFill>
              </a:rPr>
              <a:t>What a licence holder must keep doing: PSURs, MvPI reports, change control</a:t>
            </a:r>
            <a:endParaRPr lang="en-US" sz="1300" dirty="0"/>
          </a:p>
        </p:txBody>
      </p:sp>
      <p:pic>
        <p:nvPicPr>
          <p:cNvPr id="16" name="Image 3" descr="FoGO ankle module under IEC 60601-1-2 EMC pre-compliance testing, July 2026">    </p:cNvPr>
          <p:cNvPicPr>
            <a:picLocks noChangeAspect="1"/>
          </p:cNvPicPr>
          <p:nvPr/>
        </p:nvPicPr>
        <p:blipFill>
          <a:blip r:embed="rId4"/>
          <a:stretch>
            <a:fillRect/>
          </a:stretch>
        </p:blipFill>
        <p:spPr>
          <a:xfrm>
            <a:off x="8138160" y="1371600"/>
            <a:ext cx="3520440" cy="4114800"/>
          </a:xfrm>
          <a:prstGeom prst="rect">
            <a:avLst/>
          </a:prstGeom>
        </p:spPr>
      </p:pic>
      <p:sp>
        <p:nvSpPr>
          <p:cNvPr id="17" name="Text 10"/>
          <p:cNvSpPr txBox="1"/>
          <p:nvPr/>
        </p:nvSpPr>
        <p:spPr>
          <a:xfrm>
            <a:off x="8138160" y="5541264"/>
            <a:ext cx="3520440" cy="274320"/>
          </a:xfrm>
          <a:prstGeom prst="rect">
            <a:avLst/>
          </a:prstGeom>
          <a:noFill/>
          <a:ln/>
        </p:spPr>
        <p:txBody>
          <a:bodyPr wrap="square" lIns="0" tIns="0" rIns="0" bIns="0" rtlCol="0" anchor="t"/>
          <a:lstStyle/>
          <a:p>
            <a:pPr indent="0" marL="0">
              <a:buNone/>
            </a:pPr>
            <a:r>
              <a:rPr lang="en-US" sz="950" i="1" dirty="0">
                <a:solidFill>
                  <a:schemeClr val="accent6"/>
                </a:solidFill>
              </a:rPr>
              <a:t>FoGO ankle module under IEC 60601-1-2 EMC pre-compliance testing, July 2026</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INDIA · THE SYSTEM</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India's regulatory architecture</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D&amp;C Act 1940 s.3(b); MDR-2017 Rules 4, 13, 19, 87A; S.O. 648(E) 11 Feb 2020; CDSCO FAQ 2018; IPC MvPI; BIS IS 23485; NPPA/DPCO 2013</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Tier Act"/>
          <p:cNvSpPr/>
          <p:nvPr/>
        </p:nvSpPr>
        <p:spPr>
          <a:xfrm>
            <a:off x="548640" y="1572768"/>
            <a:ext cx="11094415" cy="438912"/>
          </a:xfrm>
          <a:prstGeom prst="roundRect">
            <a:avLst>
              <a:gd name="adj" fmla="val 20833"/>
            </a:avLst>
          </a:prstGeom>
          <a:solidFill>
            <a:schemeClr val="tx2"/>
          </a:solidFill>
          <a:ln/>
        </p:spPr>
      </p:sp>
      <p:sp>
        <p:nvSpPr>
          <p:cNvPr id="13" name="Text 10"/>
          <p:cNvSpPr txBox="1"/>
          <p:nvPr/>
        </p:nvSpPr>
        <p:spPr>
          <a:xfrm>
            <a:off x="658368" y="1572768"/>
            <a:ext cx="10874959" cy="438912"/>
          </a:xfrm>
          <a:prstGeom prst="rect">
            <a:avLst/>
          </a:prstGeom>
          <a:noFill/>
          <a:ln/>
        </p:spPr>
        <p:txBody>
          <a:bodyPr wrap="square" lIns="0" tIns="0" rIns="0" bIns="0" rtlCol="0" anchor="ctr"/>
          <a:lstStyle/>
          <a:p>
            <a:pPr algn="ctr" indent="0" marL="0">
              <a:buNone/>
            </a:pPr>
            <a:r>
              <a:rPr lang="en-US" sz="1250" b="1" dirty="0">
                <a:solidFill>
                  <a:schemeClr val="bg1"/>
                </a:solidFill>
              </a:rPr>
              <a:t>Drugs and Cosmetics Act, 1940  ·  s.3(b): a medical device is regulated as a 'drug'  ·  all devices notified from 1 Apr 2020 (S.O. 648(E))</a:t>
            </a:r>
            <a:endParaRPr lang="en-US" sz="1250" dirty="0"/>
          </a:p>
        </p:txBody>
      </p:sp>
      <p:sp>
        <p:nvSpPr>
          <p:cNvPr id="14" name="Connector"/>
          <p:cNvSpPr/>
          <p:nvPr/>
        </p:nvSpPr>
        <p:spPr>
          <a:xfrm>
            <a:off x="6095848" y="2011680"/>
            <a:ext cx="0" cy="128016"/>
          </a:xfrm>
          <a:prstGeom prst="line">
            <a:avLst/>
          </a:prstGeom>
          <a:noFill/>
          <a:ln w="25400">
            <a:solidFill>
              <a:schemeClr val="accent5"/>
            </a:solidFill>
            <a:prstDash val="solid"/>
          </a:ln>
        </p:spPr>
      </p:sp>
      <p:sp>
        <p:nvSpPr>
          <p:cNvPr id="15" name="Tier Rules"/>
          <p:cNvSpPr/>
          <p:nvPr/>
        </p:nvSpPr>
        <p:spPr>
          <a:xfrm>
            <a:off x="548640" y="2139696"/>
            <a:ext cx="11094415" cy="438912"/>
          </a:xfrm>
          <a:prstGeom prst="roundRect">
            <a:avLst>
              <a:gd name="adj" fmla="val 20833"/>
            </a:avLst>
          </a:prstGeom>
          <a:solidFill>
            <a:schemeClr val="accent4"/>
          </a:solidFill>
          <a:ln/>
        </p:spPr>
      </p:sp>
      <p:sp>
        <p:nvSpPr>
          <p:cNvPr id="16" name="Text 13"/>
          <p:cNvSpPr txBox="1"/>
          <p:nvPr/>
        </p:nvSpPr>
        <p:spPr>
          <a:xfrm>
            <a:off x="658368" y="2139696"/>
            <a:ext cx="10874959" cy="438912"/>
          </a:xfrm>
          <a:prstGeom prst="rect">
            <a:avLst/>
          </a:prstGeom>
          <a:noFill/>
          <a:ln/>
        </p:spPr>
        <p:txBody>
          <a:bodyPr wrap="square" lIns="0" tIns="0" rIns="0" bIns="0" rtlCol="0" anchor="ctr"/>
          <a:lstStyle/>
          <a:p>
            <a:pPr algn="ctr" indent="0" marL="0">
              <a:buNone/>
            </a:pPr>
            <a:r>
              <a:rPr lang="en-US" sz="1250" b="1" dirty="0">
                <a:solidFill>
                  <a:schemeClr val="bg1"/>
                </a:solidFill>
              </a:rPr>
              <a:t>Medical Devices Rules, 2017  ·  G.S.R. 78(E), 31 Jan 2017  ·  in force 1 Jan 2018  ·  Rule 4: Class A, B, C, D by the First Schedule</a:t>
            </a:r>
            <a:endParaRPr lang="en-US" sz="1250" dirty="0"/>
          </a:p>
        </p:txBody>
      </p:sp>
      <p:sp>
        <p:nvSpPr>
          <p:cNvPr id="17" name="Connector"/>
          <p:cNvSpPr/>
          <p:nvPr/>
        </p:nvSpPr>
        <p:spPr>
          <a:xfrm>
            <a:off x="6095848" y="2578608"/>
            <a:ext cx="0" cy="109728"/>
          </a:xfrm>
          <a:prstGeom prst="line">
            <a:avLst/>
          </a:prstGeom>
          <a:noFill/>
          <a:ln w="25400">
            <a:solidFill>
              <a:schemeClr val="accent5"/>
            </a:solidFill>
            <a:prstDash val="solid"/>
          </a:ln>
        </p:spPr>
      </p:sp>
      <p:sp>
        <p:nvSpPr>
          <p:cNvPr id="18" name="Connector"/>
          <p:cNvSpPr/>
          <p:nvPr/>
        </p:nvSpPr>
        <p:spPr>
          <a:xfrm>
            <a:off x="3269666" y="2688336"/>
            <a:ext cx="5652364" cy="0"/>
          </a:xfrm>
          <a:prstGeom prst="line">
            <a:avLst/>
          </a:prstGeom>
          <a:noFill/>
          <a:ln w="25400">
            <a:solidFill>
              <a:schemeClr val="accent5"/>
            </a:solidFill>
            <a:prstDash val="solid"/>
          </a:ln>
        </p:spPr>
      </p:sp>
      <p:sp>
        <p:nvSpPr>
          <p:cNvPr id="19" name="Connector"/>
          <p:cNvSpPr/>
          <p:nvPr/>
        </p:nvSpPr>
        <p:spPr>
          <a:xfrm>
            <a:off x="3269666" y="2688336"/>
            <a:ext cx="0" cy="91440"/>
          </a:xfrm>
          <a:prstGeom prst="line">
            <a:avLst/>
          </a:prstGeom>
          <a:noFill/>
          <a:ln w="25400">
            <a:solidFill>
              <a:schemeClr val="accent5"/>
            </a:solidFill>
            <a:prstDash val="solid"/>
          </a:ln>
        </p:spPr>
      </p:sp>
      <p:sp>
        <p:nvSpPr>
          <p:cNvPr id="20" name="Connector"/>
          <p:cNvSpPr/>
          <p:nvPr/>
        </p:nvSpPr>
        <p:spPr>
          <a:xfrm>
            <a:off x="8922029" y="2688336"/>
            <a:ext cx="0" cy="91440"/>
          </a:xfrm>
          <a:prstGeom prst="line">
            <a:avLst/>
          </a:prstGeom>
          <a:noFill/>
          <a:ln w="25400">
            <a:solidFill>
              <a:schemeClr val="accent5"/>
            </a:solidFill>
            <a:prstDash val="solid"/>
          </a:ln>
        </p:spPr>
      </p:sp>
      <p:sp>
        <p:nvSpPr>
          <p:cNvPr id="21" name="Authority Central Licensing Authority"/>
          <p:cNvSpPr/>
          <p:nvPr/>
        </p:nvSpPr>
        <p:spPr>
          <a:xfrm>
            <a:off x="548640" y="2779776"/>
            <a:ext cx="5442052" cy="1371600"/>
          </a:xfrm>
          <a:prstGeom prst="roundRect">
            <a:avLst>
              <a:gd name="adj" fmla="val 9333"/>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22" name="Authority accent"/>
          <p:cNvSpPr/>
          <p:nvPr/>
        </p:nvSpPr>
        <p:spPr>
          <a:xfrm>
            <a:off x="548640" y="2962656"/>
            <a:ext cx="64008" cy="1005840"/>
          </a:xfrm>
          <a:prstGeom prst="rect">
            <a:avLst/>
          </a:prstGeom>
          <a:solidFill>
            <a:schemeClr val="accent4"/>
          </a:solidFill>
          <a:ln/>
        </p:spPr>
      </p:sp>
      <p:sp>
        <p:nvSpPr>
          <p:cNvPr id="23" name="Icon disc LuLandmark"/>
          <p:cNvSpPr/>
          <p:nvPr/>
        </p:nvSpPr>
        <p:spPr>
          <a:xfrm>
            <a:off x="749808" y="2889504"/>
            <a:ext cx="402336" cy="402336"/>
          </a:xfrm>
          <a:prstGeom prst="ellipse">
            <a:avLst/>
          </a:prstGeom>
          <a:solidFill>
            <a:schemeClr val="accent4">
              <a:alpha val="15000"/>
            </a:schemeClr>
          </a:solidFill>
          <a:ln/>
        </p:spPr>
      </p:sp>
      <p:pic>
        <p:nvPicPr>
          <p:cNvPr id="24" name="Image 0" descr="Landmark icon">    </p:cNvPr>
          <p:cNvPicPr>
            <a:picLocks noChangeAspect="1"/>
          </p:cNvPicPr>
          <p:nvPr/>
        </p:nvPicPr>
        <p:blipFill>
          <a:blip r:embed="rId1"/>
          <a:stretch>
            <a:fillRect/>
          </a:stretch>
        </p:blipFill>
        <p:spPr>
          <a:xfrm>
            <a:off x="838322" y="2978018"/>
            <a:ext cx="225308" cy="225308"/>
          </a:xfrm>
          <a:prstGeom prst="rect">
            <a:avLst/>
          </a:prstGeom>
        </p:spPr>
      </p:pic>
      <p:sp>
        <p:nvSpPr>
          <p:cNvPr id="25" name="Text 21"/>
          <p:cNvSpPr txBox="1"/>
          <p:nvPr/>
        </p:nvSpPr>
        <p:spPr>
          <a:xfrm>
            <a:off x="1261872" y="2834640"/>
            <a:ext cx="4573372" cy="512064"/>
          </a:xfrm>
          <a:prstGeom prst="rect">
            <a:avLst/>
          </a:prstGeom>
          <a:noFill/>
          <a:ln/>
        </p:spPr>
        <p:txBody>
          <a:bodyPr wrap="square" lIns="0" tIns="0" rIns="0" bIns="0" rtlCol="0" anchor="ctr"/>
          <a:lstStyle/>
          <a:p>
            <a:pPr indent="0" marL="0">
              <a:buNone/>
            </a:pPr>
            <a:r>
              <a:rPr lang="en-US" sz="1350" b="1" dirty="0">
                <a:solidFill>
                  <a:schemeClr val="tx1"/>
                </a:solidFill>
              </a:rPr>
              <a:t>Central Licensing Authority</a:t>
            </a:r>
            <a:endParaRPr lang="en-US" sz="1400" dirty="0"/>
          </a:p>
          <a:p>
            <a:pPr indent="0" marL="0">
              <a:buNone/>
            </a:pPr>
            <a:r>
              <a:rPr lang="en-US" sz="950" dirty="0">
                <a:solidFill>
                  <a:schemeClr val="accent5"/>
                </a:solidFill>
              </a:rPr>
              <a:t>CDSCO, headed by the DCGI, New Delhi; Medical Device and Diagnostics Division</a:t>
            </a:r>
            <a:endParaRPr lang="en-US" sz="1400" dirty="0"/>
          </a:p>
        </p:txBody>
      </p:sp>
      <p:sp>
        <p:nvSpPr>
          <p:cNvPr id="26" name="Text 22"/>
          <p:cNvSpPr txBox="1"/>
          <p:nvPr/>
        </p:nvSpPr>
        <p:spPr>
          <a:xfrm>
            <a:off x="749808" y="3401568"/>
            <a:ext cx="5076292" cy="731520"/>
          </a:xfrm>
          <a:prstGeom prst="rect">
            <a:avLst/>
          </a:prstGeom>
          <a:noFill/>
          <a:ln/>
        </p:spPr>
        <p:txBody>
          <a:bodyPr wrap="square" lIns="0" tIns="0" rIns="0" bIns="0" rtlCol="0" anchor="t"/>
          <a:lstStyle/>
          <a:p>
            <a:pPr marL="127000" indent="-127000">
              <a:spcAft>
                <a:spcPts val="100"/>
              </a:spcAft>
              <a:buSzPct val="100000"/>
              <a:buChar char="•"/>
            </a:pPr>
            <a:r>
              <a:rPr lang="en-US" sz="1000" dirty="0">
                <a:solidFill>
                  <a:schemeClr val="tx2"/>
                </a:solidFill>
              </a:rPr>
              <a:t>Manufacture Class C and D: MD-7 → MD-9</a:t>
            </a:r>
            <a:endParaRPr lang="en-US" sz="1000" dirty="0"/>
          </a:p>
          <a:p>
            <a:pPr marL="127000" indent="-127000">
              <a:spcAft>
                <a:spcPts val="100"/>
              </a:spcAft>
              <a:buSzPct val="100000"/>
              <a:buChar char="•"/>
            </a:pPr>
            <a:r>
              <a:rPr lang="en-US" sz="1000" dirty="0">
                <a:solidFill>
                  <a:schemeClr val="tx2"/>
                </a:solidFill>
              </a:rPr>
              <a:t>Import, every class: MD-14 → MD-15</a:t>
            </a:r>
            <a:endParaRPr lang="en-US" sz="1000" dirty="0"/>
          </a:p>
          <a:p>
            <a:pPr marL="127000" indent="-127000">
              <a:spcAft>
                <a:spcPts val="100"/>
              </a:spcAft>
              <a:buSzPct val="100000"/>
              <a:buChar char="•"/>
            </a:pPr>
            <a:r>
              <a:rPr lang="en-US" sz="1000" dirty="0">
                <a:solidFill>
                  <a:schemeClr val="tx2"/>
                </a:solidFill>
              </a:rPr>
              <a:t>Test licences MD-12 → MD-13; clinical investigation MD-22 → MD-23</a:t>
            </a:r>
            <a:endParaRPr lang="en-US" sz="1000" dirty="0"/>
          </a:p>
          <a:p>
            <a:pPr marL="127000" indent="-127000">
              <a:spcAft>
                <a:spcPts val="100"/>
              </a:spcAft>
              <a:buSzPct val="100000"/>
              <a:buChar char="•"/>
            </a:pPr>
            <a:r>
              <a:rPr lang="en-US" sz="1000" dirty="0">
                <a:solidFill>
                  <a:schemeClr val="tx2"/>
                </a:solidFill>
              </a:rPr>
              <a:t>No predicate in India: MD-26 → MD-27 (Rule 63); Medical Device Officers inspect C/D sites</a:t>
            </a:r>
            <a:endParaRPr lang="en-US" sz="1000" dirty="0"/>
          </a:p>
        </p:txBody>
      </p:sp>
      <p:sp>
        <p:nvSpPr>
          <p:cNvPr id="27" name="Authority State Licensing Authority"/>
          <p:cNvSpPr/>
          <p:nvPr/>
        </p:nvSpPr>
        <p:spPr>
          <a:xfrm>
            <a:off x="6201004" y="2779776"/>
            <a:ext cx="5442052" cy="1371600"/>
          </a:xfrm>
          <a:prstGeom prst="roundRect">
            <a:avLst>
              <a:gd name="adj" fmla="val 9333"/>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28" name="Authority accent"/>
          <p:cNvSpPr/>
          <p:nvPr/>
        </p:nvSpPr>
        <p:spPr>
          <a:xfrm>
            <a:off x="6201004" y="2962656"/>
            <a:ext cx="64008" cy="1005840"/>
          </a:xfrm>
          <a:prstGeom prst="rect">
            <a:avLst/>
          </a:prstGeom>
          <a:solidFill>
            <a:schemeClr val="accent1"/>
          </a:solidFill>
          <a:ln/>
        </p:spPr>
      </p:sp>
      <p:sp>
        <p:nvSpPr>
          <p:cNvPr id="29" name="Icon disc LuBuilding2"/>
          <p:cNvSpPr/>
          <p:nvPr/>
        </p:nvSpPr>
        <p:spPr>
          <a:xfrm>
            <a:off x="6402172" y="2889504"/>
            <a:ext cx="402336" cy="402336"/>
          </a:xfrm>
          <a:prstGeom prst="ellipse">
            <a:avLst/>
          </a:prstGeom>
          <a:solidFill>
            <a:schemeClr val="accent1">
              <a:alpha val="15000"/>
            </a:schemeClr>
          </a:solidFill>
          <a:ln/>
        </p:spPr>
      </p:sp>
      <p:pic>
        <p:nvPicPr>
          <p:cNvPr id="30" name="Image 1" descr="Building2 icon">    </p:cNvPr>
          <p:cNvPicPr>
            <a:picLocks noChangeAspect="1"/>
          </p:cNvPicPr>
          <p:nvPr/>
        </p:nvPicPr>
        <p:blipFill>
          <a:blip r:embed="rId2"/>
          <a:stretch>
            <a:fillRect/>
          </a:stretch>
        </p:blipFill>
        <p:spPr>
          <a:xfrm>
            <a:off x="6490686" y="2978018"/>
            <a:ext cx="225308" cy="225308"/>
          </a:xfrm>
          <a:prstGeom prst="rect">
            <a:avLst/>
          </a:prstGeom>
        </p:spPr>
      </p:pic>
      <p:sp>
        <p:nvSpPr>
          <p:cNvPr id="31" name="Text 26"/>
          <p:cNvSpPr txBox="1"/>
          <p:nvPr/>
        </p:nvSpPr>
        <p:spPr>
          <a:xfrm>
            <a:off x="6914236" y="2834640"/>
            <a:ext cx="4573372" cy="512064"/>
          </a:xfrm>
          <a:prstGeom prst="rect">
            <a:avLst/>
          </a:prstGeom>
          <a:noFill/>
          <a:ln/>
        </p:spPr>
        <p:txBody>
          <a:bodyPr wrap="square" lIns="0" tIns="0" rIns="0" bIns="0" rtlCol="0" anchor="ctr"/>
          <a:lstStyle/>
          <a:p>
            <a:pPr indent="0" marL="0">
              <a:buNone/>
            </a:pPr>
            <a:r>
              <a:rPr lang="en-US" sz="1350" b="1" dirty="0">
                <a:solidFill>
                  <a:schemeClr val="tx1"/>
                </a:solidFill>
              </a:rPr>
              <a:t>State Licensing Authority</a:t>
            </a:r>
            <a:endParaRPr lang="en-US" sz="1400" dirty="0"/>
          </a:p>
          <a:p>
            <a:pPr indent="0" marL="0">
              <a:buNone/>
            </a:pPr>
            <a:r>
              <a:rPr lang="en-US" sz="950" dirty="0">
                <a:solidFill>
                  <a:schemeClr val="accent5"/>
                </a:solidFill>
              </a:rPr>
              <a:t>State or UT Drugs Controller, one per State</a:t>
            </a:r>
            <a:endParaRPr lang="en-US" sz="1400" dirty="0"/>
          </a:p>
        </p:txBody>
      </p:sp>
      <p:sp>
        <p:nvSpPr>
          <p:cNvPr id="32" name="Text 27"/>
          <p:cNvSpPr txBox="1"/>
          <p:nvPr/>
        </p:nvSpPr>
        <p:spPr>
          <a:xfrm>
            <a:off x="6402172" y="3401568"/>
            <a:ext cx="5076292" cy="731520"/>
          </a:xfrm>
          <a:prstGeom prst="rect">
            <a:avLst/>
          </a:prstGeom>
          <a:noFill/>
          <a:ln/>
        </p:spPr>
        <p:txBody>
          <a:bodyPr wrap="square" lIns="0" tIns="0" rIns="0" bIns="0" rtlCol="0" anchor="t"/>
          <a:lstStyle/>
          <a:p>
            <a:pPr marL="127000" indent="-127000">
              <a:spcAft>
                <a:spcPts val="100"/>
              </a:spcAft>
              <a:buSzPct val="100000"/>
              <a:buChar char="•"/>
            </a:pPr>
            <a:r>
              <a:rPr lang="en-US" sz="1000" dirty="0">
                <a:solidFill>
                  <a:schemeClr val="tx2"/>
                </a:solidFill>
              </a:rPr>
              <a:t>Manufacture Class A and B: MD-3 → MD-5 (loan licence MD-4 → MD-6)</a:t>
            </a:r>
            <a:endParaRPr lang="en-US" sz="1000" dirty="0"/>
          </a:p>
          <a:p>
            <a:pPr marL="127000" indent="-127000">
              <a:spcAft>
                <a:spcPts val="100"/>
              </a:spcAft>
              <a:buSzPct val="100000"/>
              <a:buChar char="•"/>
            </a:pPr>
            <a:r>
              <a:rPr lang="en-US" sz="1000" dirty="0">
                <a:solidFill>
                  <a:schemeClr val="tx2"/>
                </a:solidFill>
              </a:rPr>
              <a:t>Relies on a registered notified body's QMS audit of the site (Rule 13)</a:t>
            </a:r>
            <a:endParaRPr lang="en-US" sz="1000" dirty="0"/>
          </a:p>
          <a:p>
            <a:pPr marL="127000" indent="-127000">
              <a:spcAft>
                <a:spcPts val="100"/>
              </a:spcAft>
              <a:buSzPct val="100000"/>
              <a:buChar char="•"/>
            </a:pPr>
            <a:r>
              <a:rPr lang="en-US" sz="1000" dirty="0">
                <a:solidFill>
                  <a:schemeClr val="tx2"/>
                </a:solidFill>
              </a:rPr>
              <a:t>Sale, stocking, distribution: MD-41 → MD-42 (Rule 87A, since 30 Sep 2022)</a:t>
            </a:r>
            <a:endParaRPr lang="en-US" sz="1000" dirty="0"/>
          </a:p>
          <a:p>
            <a:pPr marL="127000" indent="-127000">
              <a:spcAft>
                <a:spcPts val="100"/>
              </a:spcAft>
              <a:buSzPct val="100000"/>
              <a:buChar char="•"/>
            </a:pPr>
            <a:r>
              <a:rPr lang="en-US" sz="1000" dirty="0">
                <a:solidFill>
                  <a:schemeClr val="tx2"/>
                </a:solidFill>
              </a:rPr>
              <a:t>Class A non-sterile, non-measuring: online registration instead of a licence (G.S.R. 777(E), 2022)</a:t>
            </a:r>
            <a:endParaRPr lang="en-US" sz="1000" dirty="0"/>
          </a:p>
        </p:txBody>
      </p:sp>
      <p:sp>
        <p:nvSpPr>
          <p:cNvPr id="33" name="Text 28"/>
          <p:cNvSpPr txBox="1"/>
          <p:nvPr/>
        </p:nvSpPr>
        <p:spPr>
          <a:xfrm>
            <a:off x="548640" y="4261104"/>
            <a:ext cx="5486400" cy="201168"/>
          </a:xfrm>
          <a:prstGeom prst="rect">
            <a:avLst/>
          </a:prstGeom>
          <a:noFill/>
          <a:ln/>
        </p:spPr>
        <p:txBody>
          <a:bodyPr wrap="square" lIns="0" tIns="0" rIns="0" bIns="0" rtlCol="0" anchor="t"/>
          <a:lstStyle/>
          <a:p>
            <a:pPr indent="0" marL="0">
              <a:buNone/>
            </a:pPr>
            <a:r>
              <a:rPr lang="en-US" sz="950" b="1" spc="150" kern="0" dirty="0">
                <a:solidFill>
                  <a:schemeClr val="accent5"/>
                </a:solidFill>
              </a:rPr>
              <a:t>WHO ELSE IS IN THE ROOM</a:t>
            </a:r>
            <a:endParaRPr lang="en-US" sz="950" dirty="0"/>
          </a:p>
        </p:txBody>
      </p:sp>
      <p:sp>
        <p:nvSpPr>
          <p:cNvPr id="34" name="Card Notified bodies"/>
          <p:cNvSpPr/>
          <p:nvPr/>
        </p:nvSpPr>
        <p:spPr>
          <a:xfrm>
            <a:off x="548640" y="4480560"/>
            <a:ext cx="1734769" cy="1737360"/>
          </a:xfrm>
          <a:prstGeom prst="roundRect">
            <a:avLst>
              <a:gd name="adj" fmla="val 6325"/>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35" name="Icon disc LuShieldCheck"/>
          <p:cNvSpPr/>
          <p:nvPr/>
        </p:nvSpPr>
        <p:spPr>
          <a:xfrm>
            <a:off x="731520" y="4663440"/>
            <a:ext cx="365760" cy="365760"/>
          </a:xfrm>
          <a:prstGeom prst="ellipse">
            <a:avLst/>
          </a:prstGeom>
          <a:solidFill>
            <a:schemeClr val="accent4">
              <a:alpha val="15000"/>
            </a:schemeClr>
          </a:solidFill>
          <a:ln/>
        </p:spPr>
      </p:sp>
      <p:pic>
        <p:nvPicPr>
          <p:cNvPr id="36" name="Image 2" descr="ShieldCheck icon">    </p:cNvPr>
          <p:cNvPicPr>
            <a:picLocks noChangeAspect="1"/>
          </p:cNvPicPr>
          <p:nvPr/>
        </p:nvPicPr>
        <p:blipFill>
          <a:blip r:embed="rId3"/>
          <a:stretch>
            <a:fillRect/>
          </a:stretch>
        </p:blipFill>
        <p:spPr>
          <a:xfrm>
            <a:off x="811987" y="4743907"/>
            <a:ext cx="204826" cy="204826"/>
          </a:xfrm>
          <a:prstGeom prst="rect">
            <a:avLst/>
          </a:prstGeom>
        </p:spPr>
      </p:pic>
      <p:sp>
        <p:nvSpPr>
          <p:cNvPr id="37" name="Text 31"/>
          <p:cNvSpPr txBox="1"/>
          <p:nvPr/>
        </p:nvSpPr>
        <p:spPr>
          <a:xfrm>
            <a:off x="1234440" y="4663440"/>
            <a:ext cx="866089" cy="365760"/>
          </a:xfrm>
          <a:prstGeom prst="rect">
            <a:avLst/>
          </a:prstGeom>
          <a:noFill/>
          <a:ln/>
        </p:spPr>
        <p:txBody>
          <a:bodyPr wrap="square" lIns="0" tIns="0" rIns="0" bIns="0" rtlCol="0" anchor="ctr"/>
          <a:lstStyle/>
          <a:p>
            <a:pPr indent="0" marL="0">
              <a:buNone/>
            </a:pPr>
            <a:r>
              <a:rPr lang="en-US" sz="1100" b="1" dirty="0">
                <a:solidFill>
                  <a:schemeClr val="tx1"/>
                </a:solidFill>
              </a:rPr>
              <a:t>Notified bodies</a:t>
            </a:r>
            <a:endParaRPr lang="en-US" sz="1100" dirty="0"/>
          </a:p>
        </p:txBody>
      </p:sp>
      <p:sp>
        <p:nvSpPr>
          <p:cNvPr id="38" name="Text 32"/>
          <p:cNvSpPr txBox="1"/>
          <p:nvPr/>
        </p:nvSpPr>
        <p:spPr>
          <a:xfrm>
            <a:off x="731520" y="5138928"/>
            <a:ext cx="1369009" cy="91440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tx2"/>
                </a:solidFill>
              </a:rPr>
              <a:t>Audit Class A/B sites for the Fifth Schedule QMS (Rule 13)</a:t>
            </a:r>
            <a:endParaRPr lang="en-US" sz="950" dirty="0"/>
          </a:p>
          <a:p>
            <a:pPr marL="127000" indent="-127000">
              <a:spcAft>
                <a:spcPts val="300"/>
              </a:spcAft>
              <a:buSzPct val="100000"/>
              <a:buChar char="•"/>
            </a:pPr>
            <a:r>
              <a:rPr lang="en-US" sz="950" dirty="0">
                <a:solidFill>
                  <a:schemeClr val="tx2"/>
                </a:solidFill>
              </a:rPr>
              <a:t>NABCB-accredited; e.g. TUV Rheinland, Intertek</a:t>
            </a:r>
            <a:endParaRPr lang="en-US" sz="950" dirty="0"/>
          </a:p>
        </p:txBody>
      </p:sp>
      <p:sp>
        <p:nvSpPr>
          <p:cNvPr id="39" name="Card Testing labs"/>
          <p:cNvSpPr/>
          <p:nvPr/>
        </p:nvSpPr>
        <p:spPr>
          <a:xfrm>
            <a:off x="2420569" y="4480560"/>
            <a:ext cx="1734769" cy="1737360"/>
          </a:xfrm>
          <a:prstGeom prst="roundRect">
            <a:avLst>
              <a:gd name="adj" fmla="val 6325"/>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40" name="Icon disc LuFlaskConical"/>
          <p:cNvSpPr/>
          <p:nvPr/>
        </p:nvSpPr>
        <p:spPr>
          <a:xfrm>
            <a:off x="2603449" y="4663440"/>
            <a:ext cx="365760" cy="365760"/>
          </a:xfrm>
          <a:prstGeom prst="ellipse">
            <a:avLst/>
          </a:prstGeom>
          <a:solidFill>
            <a:schemeClr val="accent4">
              <a:alpha val="15000"/>
            </a:schemeClr>
          </a:solidFill>
          <a:ln/>
        </p:spPr>
      </p:sp>
      <p:pic>
        <p:nvPicPr>
          <p:cNvPr id="41" name="Image 3" descr="FlaskConical icon">    </p:cNvPr>
          <p:cNvPicPr>
            <a:picLocks noChangeAspect="1"/>
          </p:cNvPicPr>
          <p:nvPr/>
        </p:nvPicPr>
        <p:blipFill>
          <a:blip r:embed="rId4"/>
          <a:stretch>
            <a:fillRect/>
          </a:stretch>
        </p:blipFill>
        <p:spPr>
          <a:xfrm>
            <a:off x="2683916" y="4743907"/>
            <a:ext cx="204826" cy="204826"/>
          </a:xfrm>
          <a:prstGeom prst="rect">
            <a:avLst/>
          </a:prstGeom>
        </p:spPr>
      </p:pic>
      <p:sp>
        <p:nvSpPr>
          <p:cNvPr id="42" name="Text 35"/>
          <p:cNvSpPr txBox="1"/>
          <p:nvPr/>
        </p:nvSpPr>
        <p:spPr>
          <a:xfrm>
            <a:off x="3106369" y="4663440"/>
            <a:ext cx="866089" cy="365760"/>
          </a:xfrm>
          <a:prstGeom prst="rect">
            <a:avLst/>
          </a:prstGeom>
          <a:noFill/>
          <a:ln/>
        </p:spPr>
        <p:txBody>
          <a:bodyPr wrap="square" lIns="0" tIns="0" rIns="0" bIns="0" rtlCol="0" anchor="ctr"/>
          <a:lstStyle/>
          <a:p>
            <a:pPr indent="0" marL="0">
              <a:buNone/>
            </a:pPr>
            <a:r>
              <a:rPr lang="en-US" sz="1100" b="1" dirty="0">
                <a:solidFill>
                  <a:schemeClr val="tx1"/>
                </a:solidFill>
              </a:rPr>
              <a:t>Testing labs</a:t>
            </a:r>
            <a:endParaRPr lang="en-US" sz="1100" dirty="0"/>
          </a:p>
        </p:txBody>
      </p:sp>
      <p:sp>
        <p:nvSpPr>
          <p:cNvPr id="43" name="Text 36"/>
          <p:cNvSpPr txBox="1"/>
          <p:nvPr/>
        </p:nvSpPr>
        <p:spPr>
          <a:xfrm>
            <a:off x="2603449" y="5138928"/>
            <a:ext cx="1369009" cy="91440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tx2"/>
                </a:solidFill>
              </a:rPr>
              <a:t>Rule 19 Central Medical Device Testing Labs; NABL labs</a:t>
            </a:r>
            <a:endParaRPr lang="en-US" sz="950" dirty="0"/>
          </a:p>
          <a:p>
            <a:pPr marL="127000" indent="-127000">
              <a:spcAft>
                <a:spcPts val="300"/>
              </a:spcAft>
              <a:buSzPct val="100000"/>
              <a:buChar char="•"/>
            </a:pPr>
            <a:r>
              <a:rPr lang="en-US" sz="950" dirty="0">
                <a:solidFill>
                  <a:schemeClr val="tx2"/>
                </a:solidFill>
              </a:rPr>
              <a:t>AMTZ: EMC, electrical safety, biomaterials</a:t>
            </a:r>
            <a:endParaRPr lang="en-US" sz="950" dirty="0"/>
          </a:p>
        </p:txBody>
      </p:sp>
      <p:sp>
        <p:nvSpPr>
          <p:cNvPr id="44" name="Card Ethics committees · CTRI"/>
          <p:cNvSpPr/>
          <p:nvPr/>
        </p:nvSpPr>
        <p:spPr>
          <a:xfrm>
            <a:off x="4292498" y="4480560"/>
            <a:ext cx="1734769" cy="1737360"/>
          </a:xfrm>
          <a:prstGeom prst="roundRect">
            <a:avLst>
              <a:gd name="adj" fmla="val 6325"/>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45" name="Icon disc LuUsers"/>
          <p:cNvSpPr/>
          <p:nvPr/>
        </p:nvSpPr>
        <p:spPr>
          <a:xfrm>
            <a:off x="4475378" y="4663440"/>
            <a:ext cx="365760" cy="365760"/>
          </a:xfrm>
          <a:prstGeom prst="ellipse">
            <a:avLst/>
          </a:prstGeom>
          <a:solidFill>
            <a:schemeClr val="accent2">
              <a:alpha val="15000"/>
            </a:schemeClr>
          </a:solidFill>
          <a:ln/>
        </p:spPr>
      </p:sp>
      <p:pic>
        <p:nvPicPr>
          <p:cNvPr id="46" name="Image 4" descr="Users icon">    </p:cNvPr>
          <p:cNvPicPr>
            <a:picLocks noChangeAspect="1"/>
          </p:cNvPicPr>
          <p:nvPr/>
        </p:nvPicPr>
        <p:blipFill>
          <a:blip r:embed="rId5"/>
          <a:stretch>
            <a:fillRect/>
          </a:stretch>
        </p:blipFill>
        <p:spPr>
          <a:xfrm>
            <a:off x="4555846" y="4743907"/>
            <a:ext cx="204826" cy="204826"/>
          </a:xfrm>
          <a:prstGeom prst="rect">
            <a:avLst/>
          </a:prstGeom>
        </p:spPr>
      </p:pic>
      <p:sp>
        <p:nvSpPr>
          <p:cNvPr id="47" name="Text 39"/>
          <p:cNvSpPr txBox="1"/>
          <p:nvPr/>
        </p:nvSpPr>
        <p:spPr>
          <a:xfrm>
            <a:off x="4978298" y="4663440"/>
            <a:ext cx="866089" cy="365760"/>
          </a:xfrm>
          <a:prstGeom prst="rect">
            <a:avLst/>
          </a:prstGeom>
          <a:noFill/>
          <a:ln/>
        </p:spPr>
        <p:txBody>
          <a:bodyPr wrap="square" lIns="0" tIns="0" rIns="0" bIns="0" rtlCol="0" anchor="ctr"/>
          <a:lstStyle/>
          <a:p>
            <a:pPr indent="0" marL="0">
              <a:buNone/>
            </a:pPr>
            <a:r>
              <a:rPr lang="en-US" sz="1100" b="1" dirty="0">
                <a:solidFill>
                  <a:schemeClr val="tx1"/>
                </a:solidFill>
              </a:rPr>
              <a:t>Ethics committees · CTRI</a:t>
            </a:r>
            <a:endParaRPr lang="en-US" sz="1100" dirty="0"/>
          </a:p>
        </p:txBody>
      </p:sp>
      <p:sp>
        <p:nvSpPr>
          <p:cNvPr id="48" name="Text 40"/>
          <p:cNvSpPr txBox="1"/>
          <p:nvPr/>
        </p:nvSpPr>
        <p:spPr>
          <a:xfrm>
            <a:off x="4475378" y="5138928"/>
            <a:ext cx="1369009" cy="91440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tx2"/>
                </a:solidFill>
              </a:rPr>
              <a:t>EC registered with CDSCO approves the study</a:t>
            </a:r>
            <a:endParaRPr lang="en-US" sz="950" dirty="0"/>
          </a:p>
          <a:p>
            <a:pPr marL="127000" indent="-127000">
              <a:spcAft>
                <a:spcPts val="300"/>
              </a:spcAft>
              <a:buSzPct val="100000"/>
              <a:buChar char="•"/>
            </a:pPr>
            <a:r>
              <a:rPr lang="en-US" sz="950" dirty="0">
                <a:solidFill>
                  <a:schemeClr val="tx2"/>
                </a:solidFill>
              </a:rPr>
              <a:t>CTRI registration before the first participant</a:t>
            </a:r>
            <a:endParaRPr lang="en-US" sz="950" dirty="0"/>
          </a:p>
        </p:txBody>
      </p:sp>
      <p:sp>
        <p:nvSpPr>
          <p:cNvPr id="49" name="Card MvPI · IPC Ghaziabad"/>
          <p:cNvSpPr/>
          <p:nvPr/>
        </p:nvSpPr>
        <p:spPr>
          <a:xfrm>
            <a:off x="6164428" y="4480560"/>
            <a:ext cx="1734769" cy="1737360"/>
          </a:xfrm>
          <a:prstGeom prst="roundRect">
            <a:avLst>
              <a:gd name="adj" fmla="val 6325"/>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50" name="Icon disc LuSiren"/>
          <p:cNvSpPr/>
          <p:nvPr/>
        </p:nvSpPr>
        <p:spPr>
          <a:xfrm>
            <a:off x="6347308" y="4663440"/>
            <a:ext cx="365760" cy="365760"/>
          </a:xfrm>
          <a:prstGeom prst="ellipse">
            <a:avLst/>
          </a:prstGeom>
          <a:solidFill>
            <a:schemeClr val="accent3">
              <a:alpha val="15000"/>
            </a:schemeClr>
          </a:solidFill>
          <a:ln/>
        </p:spPr>
      </p:sp>
      <p:pic>
        <p:nvPicPr>
          <p:cNvPr id="51" name="Image 5" descr="Siren icon">    </p:cNvPr>
          <p:cNvPicPr>
            <a:picLocks noChangeAspect="1"/>
          </p:cNvPicPr>
          <p:nvPr/>
        </p:nvPicPr>
        <p:blipFill>
          <a:blip r:embed="rId6"/>
          <a:stretch>
            <a:fillRect/>
          </a:stretch>
        </p:blipFill>
        <p:spPr>
          <a:xfrm>
            <a:off x="6427775" y="4743907"/>
            <a:ext cx="204826" cy="204826"/>
          </a:xfrm>
          <a:prstGeom prst="rect">
            <a:avLst/>
          </a:prstGeom>
        </p:spPr>
      </p:pic>
      <p:sp>
        <p:nvSpPr>
          <p:cNvPr id="52" name="Text 43"/>
          <p:cNvSpPr txBox="1"/>
          <p:nvPr/>
        </p:nvSpPr>
        <p:spPr>
          <a:xfrm>
            <a:off x="6850228" y="4663440"/>
            <a:ext cx="866089" cy="365760"/>
          </a:xfrm>
          <a:prstGeom prst="rect">
            <a:avLst/>
          </a:prstGeom>
          <a:noFill/>
          <a:ln/>
        </p:spPr>
        <p:txBody>
          <a:bodyPr wrap="square" lIns="0" tIns="0" rIns="0" bIns="0" rtlCol="0" anchor="ctr"/>
          <a:lstStyle/>
          <a:p>
            <a:pPr indent="0" marL="0">
              <a:buNone/>
            </a:pPr>
            <a:r>
              <a:rPr lang="en-US" sz="1100" b="1" dirty="0">
                <a:solidFill>
                  <a:schemeClr val="tx1"/>
                </a:solidFill>
              </a:rPr>
              <a:t>MvPI · IPC Ghaziabad</a:t>
            </a:r>
            <a:endParaRPr lang="en-US" sz="1100" dirty="0"/>
          </a:p>
        </p:txBody>
      </p:sp>
      <p:sp>
        <p:nvSpPr>
          <p:cNvPr id="53" name="Text 44"/>
          <p:cNvSpPr txBox="1"/>
          <p:nvPr/>
        </p:nvSpPr>
        <p:spPr>
          <a:xfrm>
            <a:off x="6347308" y="5138928"/>
            <a:ext cx="1369009" cy="91440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tx2"/>
                </a:solidFill>
              </a:rPr>
              <a:t>Device adverse-event reports since 6 Jul 2015</a:t>
            </a:r>
            <a:endParaRPr lang="en-US" sz="950" dirty="0"/>
          </a:p>
          <a:p>
            <a:pPr marL="127000" indent="-127000">
              <a:spcAft>
                <a:spcPts val="300"/>
              </a:spcAft>
              <a:buSzPct val="100000"/>
              <a:buChar char="•"/>
            </a:pPr>
            <a:r>
              <a:rPr lang="en-US" sz="950" dirty="0">
                <a:solidFill>
                  <a:schemeClr val="tx2"/>
                </a:solidFill>
              </a:rPr>
              <a:t>MDAE form; helpline 1800 180 3024</a:t>
            </a:r>
            <a:endParaRPr lang="en-US" sz="950" dirty="0"/>
          </a:p>
        </p:txBody>
      </p:sp>
      <p:sp>
        <p:nvSpPr>
          <p:cNvPr id="54" name="Card BIS"/>
          <p:cNvSpPr/>
          <p:nvPr/>
        </p:nvSpPr>
        <p:spPr>
          <a:xfrm>
            <a:off x="8036357" y="4480560"/>
            <a:ext cx="1734769" cy="1737360"/>
          </a:xfrm>
          <a:prstGeom prst="roundRect">
            <a:avLst>
              <a:gd name="adj" fmla="val 6325"/>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55" name="Icon disc LuRuler"/>
          <p:cNvSpPr/>
          <p:nvPr/>
        </p:nvSpPr>
        <p:spPr>
          <a:xfrm>
            <a:off x="8219237" y="4663440"/>
            <a:ext cx="365760" cy="365760"/>
          </a:xfrm>
          <a:prstGeom prst="ellipse">
            <a:avLst/>
          </a:prstGeom>
          <a:solidFill>
            <a:schemeClr val="accent1">
              <a:alpha val="15000"/>
            </a:schemeClr>
          </a:solidFill>
          <a:ln/>
        </p:spPr>
      </p:sp>
      <p:pic>
        <p:nvPicPr>
          <p:cNvPr id="56" name="Image 6" descr="Ruler icon">    </p:cNvPr>
          <p:cNvPicPr>
            <a:picLocks noChangeAspect="1"/>
          </p:cNvPicPr>
          <p:nvPr/>
        </p:nvPicPr>
        <p:blipFill>
          <a:blip r:embed="rId7"/>
          <a:stretch>
            <a:fillRect/>
          </a:stretch>
        </p:blipFill>
        <p:spPr>
          <a:xfrm>
            <a:off x="8299704" y="4743907"/>
            <a:ext cx="204826" cy="204826"/>
          </a:xfrm>
          <a:prstGeom prst="rect">
            <a:avLst/>
          </a:prstGeom>
        </p:spPr>
      </p:pic>
      <p:sp>
        <p:nvSpPr>
          <p:cNvPr id="57" name="Text 47"/>
          <p:cNvSpPr txBox="1"/>
          <p:nvPr/>
        </p:nvSpPr>
        <p:spPr>
          <a:xfrm>
            <a:off x="8722157" y="4663440"/>
            <a:ext cx="866089" cy="365760"/>
          </a:xfrm>
          <a:prstGeom prst="rect">
            <a:avLst/>
          </a:prstGeom>
          <a:noFill/>
          <a:ln/>
        </p:spPr>
        <p:txBody>
          <a:bodyPr wrap="square" lIns="0" tIns="0" rIns="0" bIns="0" rtlCol="0" anchor="ctr"/>
          <a:lstStyle/>
          <a:p>
            <a:pPr indent="0" marL="0">
              <a:buNone/>
            </a:pPr>
            <a:r>
              <a:rPr lang="en-US" sz="1100" b="1" dirty="0">
                <a:solidFill>
                  <a:schemeClr val="tx1"/>
                </a:solidFill>
              </a:rPr>
              <a:t>BIS</a:t>
            </a:r>
            <a:endParaRPr lang="en-US" sz="1100" dirty="0"/>
          </a:p>
        </p:txBody>
      </p:sp>
      <p:sp>
        <p:nvSpPr>
          <p:cNvPr id="58" name="Text 48"/>
          <p:cNvSpPr txBox="1"/>
          <p:nvPr/>
        </p:nvSpPr>
        <p:spPr>
          <a:xfrm>
            <a:off x="8219237" y="5138928"/>
            <a:ext cx="1369009" cy="91440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tx2"/>
                </a:solidFill>
              </a:rPr>
              <a:t>IS 23485 = ISO 13485 + Essential Principles</a:t>
            </a:r>
            <a:endParaRPr lang="en-US" sz="950" dirty="0"/>
          </a:p>
          <a:p>
            <a:pPr marL="127000" indent="-127000">
              <a:spcAft>
                <a:spcPts val="300"/>
              </a:spcAft>
              <a:buSzPct val="100000"/>
              <a:buChar char="•"/>
            </a:pPr>
            <a:r>
              <a:rPr lang="en-US" sz="950" dirty="0">
                <a:solidFill>
                  <a:schemeClr val="tx2"/>
                </a:solidFill>
              </a:rPr>
              <a:t>~1,200 device standards; 214 critical devices</a:t>
            </a:r>
            <a:endParaRPr lang="en-US" sz="950" dirty="0"/>
          </a:p>
        </p:txBody>
      </p:sp>
      <p:sp>
        <p:nvSpPr>
          <p:cNvPr id="59" name="Card NPPA"/>
          <p:cNvSpPr/>
          <p:nvPr/>
        </p:nvSpPr>
        <p:spPr>
          <a:xfrm>
            <a:off x="9908286" y="4480560"/>
            <a:ext cx="1734769" cy="1737360"/>
          </a:xfrm>
          <a:prstGeom prst="roundRect">
            <a:avLst>
              <a:gd name="adj" fmla="val 6325"/>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60" name="Icon disc LuIndianRupee"/>
          <p:cNvSpPr/>
          <p:nvPr/>
        </p:nvSpPr>
        <p:spPr>
          <a:xfrm>
            <a:off x="10091166" y="4663440"/>
            <a:ext cx="365760" cy="365760"/>
          </a:xfrm>
          <a:prstGeom prst="ellipse">
            <a:avLst/>
          </a:prstGeom>
          <a:solidFill>
            <a:schemeClr val="accent1">
              <a:alpha val="15000"/>
            </a:schemeClr>
          </a:solidFill>
          <a:ln/>
        </p:spPr>
      </p:sp>
      <p:pic>
        <p:nvPicPr>
          <p:cNvPr id="61" name="Image 7" descr="IndianRupee icon">    </p:cNvPr>
          <p:cNvPicPr>
            <a:picLocks noChangeAspect="1"/>
          </p:cNvPicPr>
          <p:nvPr/>
        </p:nvPicPr>
        <p:blipFill>
          <a:blip r:embed="rId8"/>
          <a:stretch>
            <a:fillRect/>
          </a:stretch>
        </p:blipFill>
        <p:spPr>
          <a:xfrm>
            <a:off x="10171633" y="4743907"/>
            <a:ext cx="204826" cy="204826"/>
          </a:xfrm>
          <a:prstGeom prst="rect">
            <a:avLst/>
          </a:prstGeom>
        </p:spPr>
      </p:pic>
      <p:sp>
        <p:nvSpPr>
          <p:cNvPr id="62" name="Text 51"/>
          <p:cNvSpPr txBox="1"/>
          <p:nvPr/>
        </p:nvSpPr>
        <p:spPr>
          <a:xfrm>
            <a:off x="10594086" y="4663440"/>
            <a:ext cx="866089" cy="365760"/>
          </a:xfrm>
          <a:prstGeom prst="rect">
            <a:avLst/>
          </a:prstGeom>
          <a:noFill/>
          <a:ln/>
        </p:spPr>
        <p:txBody>
          <a:bodyPr wrap="square" lIns="0" tIns="0" rIns="0" bIns="0" rtlCol="0" anchor="ctr"/>
          <a:lstStyle/>
          <a:p>
            <a:pPr indent="0" marL="0">
              <a:buNone/>
            </a:pPr>
            <a:r>
              <a:rPr lang="en-US" sz="1100" b="1" dirty="0">
                <a:solidFill>
                  <a:schemeClr val="tx1"/>
                </a:solidFill>
              </a:rPr>
              <a:t>NPPA</a:t>
            </a:r>
            <a:endParaRPr lang="en-US" sz="1100" dirty="0"/>
          </a:p>
        </p:txBody>
      </p:sp>
      <p:sp>
        <p:nvSpPr>
          <p:cNvPr id="63" name="Text 52"/>
          <p:cNvSpPr txBox="1"/>
          <p:nvPr/>
        </p:nvSpPr>
        <p:spPr>
          <a:xfrm>
            <a:off x="10091166" y="5138928"/>
            <a:ext cx="1369009" cy="91440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tx2"/>
                </a:solidFill>
              </a:rPr>
              <a:t>DPCO 2013 ceiling prices: stents, knee implants</a:t>
            </a:r>
            <a:endParaRPr lang="en-US" sz="950" dirty="0"/>
          </a:p>
          <a:p>
            <a:pPr marL="127000" indent="-127000">
              <a:spcAft>
                <a:spcPts val="300"/>
              </a:spcAft>
              <a:buSzPct val="100000"/>
              <a:buChar char="•"/>
            </a:pPr>
            <a:r>
              <a:rPr lang="en-US" sz="950" dirty="0">
                <a:solidFill>
                  <a:schemeClr val="tx2"/>
                </a:solidFill>
              </a:rPr>
              <a:t>Trade-margin caps on five home devices (2021)</a:t>
            </a: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INDIA · HOW WE GOT HERE</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From a handful of notified devices to all of them</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MDR-2017 (G.S.R. 78(E)); S.O. 648(E) and G.S.R. 102(E) 11 Feb 2020; G.S.R. 754(E), 777(E) 2022; CDSCO order 12 Oct 2023; Cabinet 26 Apr 2023; CDSCO MDSW guidance 21 Jul 2026; G.S.R. 743(E), 744(E) 14 Aug 2026; draft G.S.R. 515(E)</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sp>
        <p:nvSpPr>
          <p:cNvPr id="12" name="Timeline"/>
          <p:cNvSpPr/>
          <p:nvPr/>
        </p:nvSpPr>
        <p:spPr>
          <a:xfrm>
            <a:off x="548640" y="3017520"/>
            <a:ext cx="11094415" cy="0"/>
          </a:xfrm>
          <a:prstGeom prst="line">
            <a:avLst/>
          </a:prstGeom>
          <a:noFill/>
          <a:ln w="31750">
            <a:solidFill>
              <a:schemeClr val="accent6"/>
            </a:solidFill>
            <a:prstDash val="solid"/>
          </a:ln>
        </p:spPr>
      </p:sp>
      <p:sp>
        <p:nvSpPr>
          <p:cNvPr id="13" name="Milestone 1940"/>
          <p:cNvSpPr/>
          <p:nvPr/>
        </p:nvSpPr>
        <p:spPr>
          <a:xfrm>
            <a:off x="1371600" y="2926080"/>
            <a:ext cx="182880" cy="182880"/>
          </a:xfrm>
          <a:prstGeom prst="ellipse">
            <a:avLst/>
          </a:prstGeom>
          <a:solidFill>
            <a:schemeClr val="accent1"/>
          </a:solidFill>
          <a:ln w="25400">
            <a:solidFill>
              <a:schemeClr val="tx2"/>
            </a:solidFill>
            <a:prstDash val="solid"/>
          </a:ln>
        </p:spPr>
      </p:sp>
      <p:sp>
        <p:nvSpPr>
          <p:cNvPr id="14" name="Pill 1940"/>
          <p:cNvSpPr/>
          <p:nvPr/>
        </p:nvSpPr>
        <p:spPr>
          <a:xfrm>
            <a:off x="1005840" y="2514600"/>
            <a:ext cx="914400" cy="256032"/>
          </a:xfrm>
          <a:prstGeom prst="roundRect">
            <a:avLst>
              <a:gd name="adj" fmla="val 50000"/>
            </a:avLst>
          </a:prstGeom>
          <a:solidFill>
            <a:schemeClr val="accent1"/>
          </a:solidFill>
          <a:ln w="15875">
            <a:solidFill>
              <a:schemeClr val="accent1"/>
            </a:solidFill>
            <a:prstDash val="solid"/>
          </a:ln>
        </p:spPr>
      </p:sp>
      <p:sp>
        <p:nvSpPr>
          <p:cNvPr id="15" name="Text 12"/>
          <p:cNvSpPr txBox="1"/>
          <p:nvPr/>
        </p:nvSpPr>
        <p:spPr>
          <a:xfrm>
            <a:off x="1005840" y="251460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1940</a:t>
            </a:r>
            <a:endParaRPr lang="en-US" sz="1000" dirty="0"/>
          </a:p>
        </p:txBody>
      </p:sp>
      <p:sp>
        <p:nvSpPr>
          <p:cNvPr id="16" name="Text 13"/>
          <p:cNvSpPr txBox="1"/>
          <p:nvPr/>
        </p:nvSpPr>
        <p:spPr>
          <a:xfrm>
            <a:off x="485003" y="1463040"/>
            <a:ext cx="1956074" cy="960120"/>
          </a:xfrm>
          <a:prstGeom prst="rect">
            <a:avLst/>
          </a:prstGeom>
          <a:noFill/>
          <a:ln/>
        </p:spPr>
        <p:txBody>
          <a:bodyPr wrap="square" lIns="0" tIns="0" rIns="0" bIns="0" rtlCol="0" anchor="b"/>
          <a:lstStyle/>
          <a:p>
            <a:pPr algn="ctr" indent="0" marL="0">
              <a:buNone/>
            </a:pPr>
            <a:r>
              <a:rPr lang="en-US" sz="1100" b="1" dirty="0">
                <a:solidFill>
                  <a:schemeClr val="bg1"/>
                </a:solidFill>
              </a:rPr>
              <a:t>Drugs &amp; Cosmetics Act</a:t>
            </a:r>
            <a:endParaRPr lang="en-US" sz="1100" dirty="0"/>
          </a:p>
          <a:p>
            <a:pPr algn="ctr" indent="0" marL="0">
              <a:buNone/>
            </a:pPr>
            <a:r>
              <a:rPr lang="en-US" sz="1000" dirty="0">
                <a:solidFill>
                  <a:schemeClr val="accent6"/>
                </a:solidFill>
              </a:rPr>
              <a:t>Devices regulated as 'drugs' under s.3(b)</a:t>
            </a:r>
            <a:endParaRPr lang="en-US" sz="1100" dirty="0"/>
          </a:p>
        </p:txBody>
      </p:sp>
      <p:sp>
        <p:nvSpPr>
          <p:cNvPr id="17" name="Milestone 2005"/>
          <p:cNvSpPr/>
          <p:nvPr/>
        </p:nvSpPr>
        <p:spPr>
          <a:xfrm>
            <a:off x="2401113" y="2926080"/>
            <a:ext cx="182880" cy="182880"/>
          </a:xfrm>
          <a:prstGeom prst="ellipse">
            <a:avLst/>
          </a:prstGeom>
          <a:solidFill>
            <a:schemeClr val="accent1"/>
          </a:solidFill>
          <a:ln w="25400">
            <a:solidFill>
              <a:schemeClr val="tx2"/>
            </a:solidFill>
            <a:prstDash val="solid"/>
          </a:ln>
        </p:spPr>
      </p:sp>
      <p:sp>
        <p:nvSpPr>
          <p:cNvPr id="18" name="Pill 2005"/>
          <p:cNvSpPr/>
          <p:nvPr/>
        </p:nvSpPr>
        <p:spPr>
          <a:xfrm>
            <a:off x="2035353" y="3246120"/>
            <a:ext cx="914400" cy="256032"/>
          </a:xfrm>
          <a:prstGeom prst="roundRect">
            <a:avLst>
              <a:gd name="adj" fmla="val 50000"/>
            </a:avLst>
          </a:prstGeom>
          <a:solidFill>
            <a:schemeClr val="accent1"/>
          </a:solidFill>
          <a:ln w="15875">
            <a:solidFill>
              <a:schemeClr val="accent1"/>
            </a:solidFill>
            <a:prstDash val="solid"/>
          </a:ln>
        </p:spPr>
      </p:sp>
      <p:sp>
        <p:nvSpPr>
          <p:cNvPr id="19" name="Text 16"/>
          <p:cNvSpPr txBox="1"/>
          <p:nvPr/>
        </p:nvSpPr>
        <p:spPr>
          <a:xfrm>
            <a:off x="2035353" y="324612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2005</a:t>
            </a:r>
            <a:endParaRPr lang="en-US" sz="1000" dirty="0"/>
          </a:p>
        </p:txBody>
      </p:sp>
      <p:sp>
        <p:nvSpPr>
          <p:cNvPr id="20" name="Text 17"/>
          <p:cNvSpPr txBox="1"/>
          <p:nvPr/>
        </p:nvSpPr>
        <p:spPr>
          <a:xfrm>
            <a:off x="1514516" y="3584448"/>
            <a:ext cx="1956074" cy="960120"/>
          </a:xfrm>
          <a:prstGeom prst="rect">
            <a:avLst/>
          </a:prstGeom>
          <a:noFill/>
          <a:ln/>
        </p:spPr>
        <p:txBody>
          <a:bodyPr wrap="square" lIns="0" tIns="0" rIns="0" bIns="0" rtlCol="0" anchor="t"/>
          <a:lstStyle/>
          <a:p>
            <a:pPr algn="ctr" indent="0" marL="0">
              <a:buNone/>
            </a:pPr>
            <a:r>
              <a:rPr lang="en-US" sz="1100" b="1" dirty="0">
                <a:solidFill>
                  <a:schemeClr val="bg1"/>
                </a:solidFill>
              </a:rPr>
              <a:t>First device notifications</a:t>
            </a:r>
            <a:endParaRPr lang="en-US" sz="1100" dirty="0"/>
          </a:p>
          <a:p>
            <a:pPr algn="ctr" indent="0" marL="0">
              <a:buNone/>
            </a:pPr>
            <a:r>
              <a:rPr lang="en-US" sz="1000" dirty="0">
                <a:solidFill>
                  <a:schemeClr val="accent6"/>
                </a:solidFill>
              </a:rPr>
              <a:t>37 categories regulated by early 2020</a:t>
            </a:r>
            <a:endParaRPr lang="en-US" sz="1100" dirty="0"/>
          </a:p>
        </p:txBody>
      </p:sp>
      <p:sp>
        <p:nvSpPr>
          <p:cNvPr id="21" name="Milestone 31 Jan 2017"/>
          <p:cNvSpPr/>
          <p:nvPr/>
        </p:nvSpPr>
        <p:spPr>
          <a:xfrm>
            <a:off x="3384906" y="2880360"/>
            <a:ext cx="274320" cy="274320"/>
          </a:xfrm>
          <a:prstGeom prst="ellipse">
            <a:avLst/>
          </a:prstGeom>
          <a:solidFill>
            <a:schemeClr val="accent2"/>
          </a:solidFill>
          <a:ln w="25400">
            <a:solidFill>
              <a:schemeClr val="tx2"/>
            </a:solidFill>
            <a:prstDash val="solid"/>
          </a:ln>
        </p:spPr>
      </p:sp>
      <p:sp>
        <p:nvSpPr>
          <p:cNvPr id="22" name="Pill 31 Jan 2017"/>
          <p:cNvSpPr/>
          <p:nvPr/>
        </p:nvSpPr>
        <p:spPr>
          <a:xfrm>
            <a:off x="3064866" y="2514600"/>
            <a:ext cx="914400" cy="256032"/>
          </a:xfrm>
          <a:prstGeom prst="roundRect">
            <a:avLst>
              <a:gd name="adj" fmla="val 50000"/>
            </a:avLst>
          </a:prstGeom>
          <a:solidFill>
            <a:schemeClr val="accent2"/>
          </a:solidFill>
          <a:ln w="15875">
            <a:solidFill>
              <a:schemeClr val="accent2"/>
            </a:solidFill>
            <a:prstDash val="solid"/>
          </a:ln>
        </p:spPr>
      </p:sp>
      <p:sp>
        <p:nvSpPr>
          <p:cNvPr id="23" name="Text 20"/>
          <p:cNvSpPr txBox="1"/>
          <p:nvPr/>
        </p:nvSpPr>
        <p:spPr>
          <a:xfrm>
            <a:off x="3064866" y="251460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31 Jan 2017</a:t>
            </a:r>
            <a:endParaRPr lang="en-US" sz="1000" dirty="0"/>
          </a:p>
        </p:txBody>
      </p:sp>
      <p:sp>
        <p:nvSpPr>
          <p:cNvPr id="24" name="Text 21"/>
          <p:cNvSpPr txBox="1"/>
          <p:nvPr/>
        </p:nvSpPr>
        <p:spPr>
          <a:xfrm>
            <a:off x="2544028" y="1463040"/>
            <a:ext cx="1956074" cy="960120"/>
          </a:xfrm>
          <a:prstGeom prst="rect">
            <a:avLst/>
          </a:prstGeom>
          <a:noFill/>
          <a:ln/>
        </p:spPr>
        <p:txBody>
          <a:bodyPr wrap="square" lIns="0" tIns="0" rIns="0" bIns="0" rtlCol="0" anchor="b"/>
          <a:lstStyle/>
          <a:p>
            <a:pPr algn="ctr" indent="0" marL="0">
              <a:buNone/>
            </a:pPr>
            <a:r>
              <a:rPr lang="en-US" sz="1100" b="1" dirty="0">
                <a:solidFill>
                  <a:schemeClr val="bg1"/>
                </a:solidFill>
              </a:rPr>
              <a:t>MDR-2017 notified</a:t>
            </a:r>
            <a:endParaRPr lang="en-US" sz="1100" dirty="0"/>
          </a:p>
          <a:p>
            <a:pPr algn="ctr" indent="0" marL="0">
              <a:buNone/>
            </a:pPr>
            <a:r>
              <a:rPr lang="en-US" sz="1000" dirty="0">
                <a:solidFill>
                  <a:schemeClr val="accent6"/>
                </a:solidFill>
              </a:rPr>
              <a:t>G.S.R. 78(E); four risk classes, GHTF-style rules</a:t>
            </a:r>
            <a:endParaRPr lang="en-US" sz="1100" dirty="0"/>
          </a:p>
        </p:txBody>
      </p:sp>
      <p:sp>
        <p:nvSpPr>
          <p:cNvPr id="25" name="Milestone 1 Jan 2018"/>
          <p:cNvSpPr/>
          <p:nvPr/>
        </p:nvSpPr>
        <p:spPr>
          <a:xfrm>
            <a:off x="4460138" y="2926080"/>
            <a:ext cx="182880" cy="182880"/>
          </a:xfrm>
          <a:prstGeom prst="ellipse">
            <a:avLst/>
          </a:prstGeom>
          <a:solidFill>
            <a:schemeClr val="accent1"/>
          </a:solidFill>
          <a:ln w="25400">
            <a:solidFill>
              <a:schemeClr val="tx2"/>
            </a:solidFill>
            <a:prstDash val="solid"/>
          </a:ln>
        </p:spPr>
      </p:sp>
      <p:sp>
        <p:nvSpPr>
          <p:cNvPr id="26" name="Pill 1 Jan 2018"/>
          <p:cNvSpPr/>
          <p:nvPr/>
        </p:nvSpPr>
        <p:spPr>
          <a:xfrm>
            <a:off x="4094378" y="3246120"/>
            <a:ext cx="914400" cy="256032"/>
          </a:xfrm>
          <a:prstGeom prst="roundRect">
            <a:avLst>
              <a:gd name="adj" fmla="val 50000"/>
            </a:avLst>
          </a:prstGeom>
          <a:solidFill>
            <a:schemeClr val="accent1"/>
          </a:solidFill>
          <a:ln w="15875">
            <a:solidFill>
              <a:schemeClr val="accent1"/>
            </a:solidFill>
            <a:prstDash val="solid"/>
          </a:ln>
        </p:spPr>
      </p:sp>
      <p:sp>
        <p:nvSpPr>
          <p:cNvPr id="27" name="Text 24"/>
          <p:cNvSpPr txBox="1"/>
          <p:nvPr/>
        </p:nvSpPr>
        <p:spPr>
          <a:xfrm>
            <a:off x="4094378" y="324612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1 Jan 2018</a:t>
            </a:r>
            <a:endParaRPr lang="en-US" sz="1000" dirty="0"/>
          </a:p>
        </p:txBody>
      </p:sp>
      <p:sp>
        <p:nvSpPr>
          <p:cNvPr id="28" name="Text 25"/>
          <p:cNvSpPr txBox="1"/>
          <p:nvPr/>
        </p:nvSpPr>
        <p:spPr>
          <a:xfrm>
            <a:off x="3573541" y="3584448"/>
            <a:ext cx="1956074" cy="960120"/>
          </a:xfrm>
          <a:prstGeom prst="rect">
            <a:avLst/>
          </a:prstGeom>
          <a:noFill/>
          <a:ln/>
        </p:spPr>
        <p:txBody>
          <a:bodyPr wrap="square" lIns="0" tIns="0" rIns="0" bIns="0" rtlCol="0" anchor="t"/>
          <a:lstStyle/>
          <a:p>
            <a:pPr algn="ctr" indent="0" marL="0">
              <a:buNone/>
            </a:pPr>
            <a:r>
              <a:rPr lang="en-US" sz="1100" b="1" dirty="0">
                <a:solidFill>
                  <a:schemeClr val="bg1"/>
                </a:solidFill>
              </a:rPr>
              <a:t>Rules in force</a:t>
            </a:r>
            <a:endParaRPr lang="en-US" sz="1100" dirty="0"/>
          </a:p>
          <a:p>
            <a:pPr algn="ctr" indent="0" marL="0">
              <a:buNone/>
            </a:pPr>
            <a:r>
              <a:rPr lang="en-US" sz="1000" dirty="0">
                <a:solidFill>
                  <a:schemeClr val="accent6"/>
                </a:solidFill>
              </a:rPr>
              <a:t>First notified bodies registered May 2018</a:t>
            </a:r>
            <a:endParaRPr lang="en-US" sz="1100" dirty="0"/>
          </a:p>
        </p:txBody>
      </p:sp>
      <p:sp>
        <p:nvSpPr>
          <p:cNvPr id="29" name="Milestone 1 Apr 2020"/>
          <p:cNvSpPr/>
          <p:nvPr/>
        </p:nvSpPr>
        <p:spPr>
          <a:xfrm>
            <a:off x="5489651" y="2926080"/>
            <a:ext cx="182880" cy="182880"/>
          </a:xfrm>
          <a:prstGeom prst="ellipse">
            <a:avLst/>
          </a:prstGeom>
          <a:solidFill>
            <a:schemeClr val="accent1"/>
          </a:solidFill>
          <a:ln w="25400">
            <a:solidFill>
              <a:schemeClr val="tx2"/>
            </a:solidFill>
            <a:prstDash val="solid"/>
          </a:ln>
        </p:spPr>
      </p:sp>
      <p:sp>
        <p:nvSpPr>
          <p:cNvPr id="30" name="Pill 1 Apr 2020"/>
          <p:cNvSpPr/>
          <p:nvPr/>
        </p:nvSpPr>
        <p:spPr>
          <a:xfrm>
            <a:off x="5123891" y="2514600"/>
            <a:ext cx="914400" cy="256032"/>
          </a:xfrm>
          <a:prstGeom prst="roundRect">
            <a:avLst>
              <a:gd name="adj" fmla="val 50000"/>
            </a:avLst>
          </a:prstGeom>
          <a:solidFill>
            <a:schemeClr val="accent1"/>
          </a:solidFill>
          <a:ln w="15875">
            <a:solidFill>
              <a:schemeClr val="accent1"/>
            </a:solidFill>
            <a:prstDash val="solid"/>
          </a:ln>
        </p:spPr>
      </p:sp>
      <p:sp>
        <p:nvSpPr>
          <p:cNvPr id="31" name="Text 28"/>
          <p:cNvSpPr txBox="1"/>
          <p:nvPr/>
        </p:nvSpPr>
        <p:spPr>
          <a:xfrm>
            <a:off x="5123891" y="251460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1 Apr 2020</a:t>
            </a:r>
            <a:endParaRPr lang="en-US" sz="1000" dirty="0"/>
          </a:p>
        </p:txBody>
      </p:sp>
      <p:sp>
        <p:nvSpPr>
          <p:cNvPr id="32" name="Text 29"/>
          <p:cNvSpPr txBox="1"/>
          <p:nvPr/>
        </p:nvSpPr>
        <p:spPr>
          <a:xfrm>
            <a:off x="4603054" y="1463040"/>
            <a:ext cx="1956074" cy="960120"/>
          </a:xfrm>
          <a:prstGeom prst="rect">
            <a:avLst/>
          </a:prstGeom>
          <a:noFill/>
          <a:ln/>
        </p:spPr>
        <p:txBody>
          <a:bodyPr wrap="square" lIns="0" tIns="0" rIns="0" bIns="0" rtlCol="0" anchor="b"/>
          <a:lstStyle/>
          <a:p>
            <a:pPr algn="ctr" indent="0" marL="0">
              <a:buNone/>
            </a:pPr>
            <a:r>
              <a:rPr lang="en-US" sz="1100" b="1" dirty="0">
                <a:solidFill>
                  <a:schemeClr val="bg1"/>
                </a:solidFill>
              </a:rPr>
              <a:t>All devices regulated</a:t>
            </a:r>
            <a:endParaRPr lang="en-US" sz="1100" dirty="0"/>
          </a:p>
          <a:p>
            <a:pPr algn="ctr" indent="0" marL="0">
              <a:buNone/>
            </a:pPr>
            <a:r>
              <a:rPr lang="en-US" sz="1000" dirty="0">
                <a:solidFill>
                  <a:schemeClr val="accent6"/>
                </a:solidFill>
              </a:rPr>
              <a:t>S.O. 648(E); Chapter IIIA registration opens</a:t>
            </a:r>
            <a:endParaRPr lang="en-US" sz="1100" dirty="0"/>
          </a:p>
        </p:txBody>
      </p:sp>
      <p:sp>
        <p:nvSpPr>
          <p:cNvPr id="33" name="Milestone 1 Oct 2021"/>
          <p:cNvSpPr/>
          <p:nvPr/>
        </p:nvSpPr>
        <p:spPr>
          <a:xfrm>
            <a:off x="6519164" y="2926080"/>
            <a:ext cx="182880" cy="182880"/>
          </a:xfrm>
          <a:prstGeom prst="ellipse">
            <a:avLst/>
          </a:prstGeom>
          <a:solidFill>
            <a:schemeClr val="accent1"/>
          </a:solidFill>
          <a:ln w="25400">
            <a:solidFill>
              <a:schemeClr val="tx2"/>
            </a:solidFill>
            <a:prstDash val="solid"/>
          </a:ln>
        </p:spPr>
      </p:sp>
      <p:sp>
        <p:nvSpPr>
          <p:cNvPr id="34" name="Pill 1 Oct 2021"/>
          <p:cNvSpPr/>
          <p:nvPr/>
        </p:nvSpPr>
        <p:spPr>
          <a:xfrm>
            <a:off x="6153404" y="3246120"/>
            <a:ext cx="914400" cy="256032"/>
          </a:xfrm>
          <a:prstGeom prst="roundRect">
            <a:avLst>
              <a:gd name="adj" fmla="val 50000"/>
            </a:avLst>
          </a:prstGeom>
          <a:solidFill>
            <a:schemeClr val="accent1"/>
          </a:solidFill>
          <a:ln w="15875">
            <a:solidFill>
              <a:schemeClr val="accent1"/>
            </a:solidFill>
            <a:prstDash val="solid"/>
          </a:ln>
        </p:spPr>
      </p:sp>
      <p:sp>
        <p:nvSpPr>
          <p:cNvPr id="35" name="Text 32"/>
          <p:cNvSpPr txBox="1"/>
          <p:nvPr/>
        </p:nvSpPr>
        <p:spPr>
          <a:xfrm>
            <a:off x="6153404" y="324612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1 Oct 2021</a:t>
            </a:r>
            <a:endParaRPr lang="en-US" sz="1000" dirty="0"/>
          </a:p>
        </p:txBody>
      </p:sp>
      <p:sp>
        <p:nvSpPr>
          <p:cNvPr id="36" name="Text 33"/>
          <p:cNvSpPr txBox="1"/>
          <p:nvPr/>
        </p:nvSpPr>
        <p:spPr>
          <a:xfrm>
            <a:off x="5632567" y="3584448"/>
            <a:ext cx="1956074" cy="960120"/>
          </a:xfrm>
          <a:prstGeom prst="rect">
            <a:avLst/>
          </a:prstGeom>
          <a:noFill/>
          <a:ln/>
        </p:spPr>
        <p:txBody>
          <a:bodyPr wrap="square" lIns="0" tIns="0" rIns="0" bIns="0" rtlCol="0" anchor="t"/>
          <a:lstStyle/>
          <a:p>
            <a:pPr algn="ctr" indent="0" marL="0">
              <a:buNone/>
            </a:pPr>
            <a:r>
              <a:rPr lang="en-US" sz="1100" b="1" dirty="0">
                <a:solidFill>
                  <a:schemeClr val="bg1"/>
                </a:solidFill>
              </a:rPr>
              <a:t>Registration mandatory</a:t>
            </a:r>
            <a:endParaRPr lang="en-US" sz="1100" dirty="0"/>
          </a:p>
          <a:p>
            <a:pPr algn="ctr" indent="0" marL="0">
              <a:buNone/>
            </a:pPr>
            <a:r>
              <a:rPr lang="en-US" sz="1000" dirty="0">
                <a:solidFill>
                  <a:schemeClr val="accent6"/>
                </a:solidFill>
              </a:rPr>
              <a:t>18-month voluntary window closes</a:t>
            </a:r>
            <a:endParaRPr lang="en-US" sz="1100" dirty="0"/>
          </a:p>
        </p:txBody>
      </p:sp>
      <p:sp>
        <p:nvSpPr>
          <p:cNvPr id="37" name="Milestone 1 Oct 2022"/>
          <p:cNvSpPr/>
          <p:nvPr/>
        </p:nvSpPr>
        <p:spPr>
          <a:xfrm>
            <a:off x="7548677" y="2926080"/>
            <a:ext cx="182880" cy="182880"/>
          </a:xfrm>
          <a:prstGeom prst="ellipse">
            <a:avLst/>
          </a:prstGeom>
          <a:solidFill>
            <a:schemeClr val="accent1"/>
          </a:solidFill>
          <a:ln w="25400">
            <a:solidFill>
              <a:schemeClr val="tx2"/>
            </a:solidFill>
            <a:prstDash val="solid"/>
          </a:ln>
        </p:spPr>
      </p:sp>
      <p:sp>
        <p:nvSpPr>
          <p:cNvPr id="38" name="Pill 1 Oct 2022"/>
          <p:cNvSpPr/>
          <p:nvPr/>
        </p:nvSpPr>
        <p:spPr>
          <a:xfrm>
            <a:off x="7182917" y="2514600"/>
            <a:ext cx="914400" cy="256032"/>
          </a:xfrm>
          <a:prstGeom prst="roundRect">
            <a:avLst>
              <a:gd name="adj" fmla="val 50000"/>
            </a:avLst>
          </a:prstGeom>
          <a:solidFill>
            <a:schemeClr val="accent1"/>
          </a:solidFill>
          <a:ln w="15875">
            <a:solidFill>
              <a:schemeClr val="accent1"/>
            </a:solidFill>
            <a:prstDash val="solid"/>
          </a:ln>
        </p:spPr>
      </p:sp>
      <p:sp>
        <p:nvSpPr>
          <p:cNvPr id="39" name="Text 36"/>
          <p:cNvSpPr txBox="1"/>
          <p:nvPr/>
        </p:nvSpPr>
        <p:spPr>
          <a:xfrm>
            <a:off x="7182917" y="251460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1 Oct 2022</a:t>
            </a:r>
            <a:endParaRPr lang="en-US" sz="1000" dirty="0"/>
          </a:p>
        </p:txBody>
      </p:sp>
      <p:sp>
        <p:nvSpPr>
          <p:cNvPr id="40" name="Text 37"/>
          <p:cNvSpPr txBox="1"/>
          <p:nvPr/>
        </p:nvSpPr>
        <p:spPr>
          <a:xfrm>
            <a:off x="6662080" y="1463040"/>
            <a:ext cx="1956074" cy="960120"/>
          </a:xfrm>
          <a:prstGeom prst="rect">
            <a:avLst/>
          </a:prstGeom>
          <a:noFill/>
          <a:ln/>
        </p:spPr>
        <p:txBody>
          <a:bodyPr wrap="square" lIns="0" tIns="0" rIns="0" bIns="0" rtlCol="0" anchor="b"/>
          <a:lstStyle/>
          <a:p>
            <a:pPr algn="ctr" indent="0" marL="0">
              <a:buNone/>
            </a:pPr>
            <a:r>
              <a:rPr lang="en-US" sz="1100" b="1" dirty="0">
                <a:solidFill>
                  <a:schemeClr val="bg1"/>
                </a:solidFill>
              </a:rPr>
              <a:t>Class A/B licence due</a:t>
            </a:r>
            <a:endParaRPr lang="en-US" sz="1100" dirty="0"/>
          </a:p>
          <a:p>
            <a:pPr algn="ctr" indent="0" marL="0">
              <a:buNone/>
            </a:pPr>
            <a:r>
              <a:rPr lang="en-US" sz="1000" dirty="0">
                <a:solidFill>
                  <a:schemeClr val="accent6"/>
                </a:solidFill>
              </a:rPr>
              <a:t>Sale registration MD-41/42 from 30 Sep 2022</a:t>
            </a:r>
            <a:endParaRPr lang="en-US" sz="1100" dirty="0"/>
          </a:p>
        </p:txBody>
      </p:sp>
      <p:sp>
        <p:nvSpPr>
          <p:cNvPr id="41" name="Milestone 26 Apr 2023"/>
          <p:cNvSpPr/>
          <p:nvPr/>
        </p:nvSpPr>
        <p:spPr>
          <a:xfrm>
            <a:off x="8578190" y="2926080"/>
            <a:ext cx="182880" cy="182880"/>
          </a:xfrm>
          <a:prstGeom prst="ellipse">
            <a:avLst/>
          </a:prstGeom>
          <a:solidFill>
            <a:schemeClr val="accent1"/>
          </a:solidFill>
          <a:ln w="25400">
            <a:solidFill>
              <a:schemeClr val="tx2"/>
            </a:solidFill>
            <a:prstDash val="solid"/>
          </a:ln>
        </p:spPr>
      </p:sp>
      <p:sp>
        <p:nvSpPr>
          <p:cNvPr id="42" name="Pill 26 Apr 2023"/>
          <p:cNvSpPr/>
          <p:nvPr/>
        </p:nvSpPr>
        <p:spPr>
          <a:xfrm>
            <a:off x="8212430" y="3246120"/>
            <a:ext cx="914400" cy="256032"/>
          </a:xfrm>
          <a:prstGeom prst="roundRect">
            <a:avLst>
              <a:gd name="adj" fmla="val 50000"/>
            </a:avLst>
          </a:prstGeom>
          <a:solidFill>
            <a:schemeClr val="accent1"/>
          </a:solidFill>
          <a:ln w="15875">
            <a:solidFill>
              <a:schemeClr val="accent1"/>
            </a:solidFill>
            <a:prstDash val="solid"/>
          </a:ln>
        </p:spPr>
      </p:sp>
      <p:sp>
        <p:nvSpPr>
          <p:cNvPr id="43" name="Text 40"/>
          <p:cNvSpPr txBox="1"/>
          <p:nvPr/>
        </p:nvSpPr>
        <p:spPr>
          <a:xfrm>
            <a:off x="8212430" y="324612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26 Apr 2023</a:t>
            </a:r>
            <a:endParaRPr lang="en-US" sz="1000" dirty="0"/>
          </a:p>
        </p:txBody>
      </p:sp>
      <p:sp>
        <p:nvSpPr>
          <p:cNvPr id="44" name="Text 41"/>
          <p:cNvSpPr txBox="1"/>
          <p:nvPr/>
        </p:nvSpPr>
        <p:spPr>
          <a:xfrm>
            <a:off x="7691592" y="3584448"/>
            <a:ext cx="1956074" cy="960120"/>
          </a:xfrm>
          <a:prstGeom prst="rect">
            <a:avLst/>
          </a:prstGeom>
          <a:noFill/>
          <a:ln/>
        </p:spPr>
        <p:txBody>
          <a:bodyPr wrap="square" lIns="0" tIns="0" rIns="0" bIns="0" rtlCol="0" anchor="t"/>
          <a:lstStyle/>
          <a:p>
            <a:pPr algn="ctr" indent="0" marL="0">
              <a:buNone/>
            </a:pPr>
            <a:r>
              <a:rPr lang="en-US" sz="1100" b="1" dirty="0">
                <a:solidFill>
                  <a:schemeClr val="bg1"/>
                </a:solidFill>
              </a:rPr>
              <a:t>NMDP 2023</a:t>
            </a:r>
            <a:endParaRPr lang="en-US" sz="1100" dirty="0"/>
          </a:p>
          <a:p>
            <a:pPr algn="ctr" indent="0" marL="0">
              <a:buNone/>
            </a:pPr>
            <a:r>
              <a:rPr lang="en-US" sz="1000" dirty="0">
                <a:solidFill>
                  <a:schemeClr val="accent6"/>
                </a:solidFill>
              </a:rPr>
              <a:t>Cabinet: US$ 50 bn sector by 2030</a:t>
            </a:r>
            <a:endParaRPr lang="en-US" sz="1100" dirty="0"/>
          </a:p>
        </p:txBody>
      </p:sp>
      <p:sp>
        <p:nvSpPr>
          <p:cNvPr id="45" name="Milestone 1 Oct 2023"/>
          <p:cNvSpPr/>
          <p:nvPr/>
        </p:nvSpPr>
        <p:spPr>
          <a:xfrm>
            <a:off x="9607702" y="2926080"/>
            <a:ext cx="182880" cy="182880"/>
          </a:xfrm>
          <a:prstGeom prst="ellipse">
            <a:avLst/>
          </a:prstGeom>
          <a:solidFill>
            <a:schemeClr val="accent1"/>
          </a:solidFill>
          <a:ln w="25400">
            <a:solidFill>
              <a:schemeClr val="tx2"/>
            </a:solidFill>
            <a:prstDash val="solid"/>
          </a:ln>
        </p:spPr>
      </p:sp>
      <p:sp>
        <p:nvSpPr>
          <p:cNvPr id="46" name="Pill 1 Oct 2023"/>
          <p:cNvSpPr/>
          <p:nvPr/>
        </p:nvSpPr>
        <p:spPr>
          <a:xfrm>
            <a:off x="9241942" y="2514600"/>
            <a:ext cx="914400" cy="256032"/>
          </a:xfrm>
          <a:prstGeom prst="roundRect">
            <a:avLst>
              <a:gd name="adj" fmla="val 50000"/>
            </a:avLst>
          </a:prstGeom>
          <a:solidFill>
            <a:schemeClr val="accent1"/>
          </a:solidFill>
          <a:ln w="15875">
            <a:solidFill>
              <a:schemeClr val="accent1"/>
            </a:solidFill>
            <a:prstDash val="solid"/>
          </a:ln>
        </p:spPr>
      </p:sp>
      <p:sp>
        <p:nvSpPr>
          <p:cNvPr id="47" name="Text 44"/>
          <p:cNvSpPr txBox="1"/>
          <p:nvPr/>
        </p:nvSpPr>
        <p:spPr>
          <a:xfrm>
            <a:off x="9241942" y="251460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1 Oct 2023</a:t>
            </a:r>
            <a:endParaRPr lang="en-US" sz="1000" dirty="0"/>
          </a:p>
        </p:txBody>
      </p:sp>
      <p:sp>
        <p:nvSpPr>
          <p:cNvPr id="48" name="Text 45"/>
          <p:cNvSpPr txBox="1"/>
          <p:nvPr/>
        </p:nvSpPr>
        <p:spPr>
          <a:xfrm>
            <a:off x="8721105" y="1463040"/>
            <a:ext cx="1956074" cy="960120"/>
          </a:xfrm>
          <a:prstGeom prst="rect">
            <a:avLst/>
          </a:prstGeom>
          <a:noFill/>
          <a:ln/>
        </p:spPr>
        <p:txBody>
          <a:bodyPr wrap="square" lIns="0" tIns="0" rIns="0" bIns="0" rtlCol="0" anchor="b"/>
          <a:lstStyle/>
          <a:p>
            <a:pPr algn="ctr" indent="0" marL="0">
              <a:buNone/>
            </a:pPr>
            <a:r>
              <a:rPr lang="en-US" sz="1100" b="1" dirty="0">
                <a:solidFill>
                  <a:schemeClr val="bg1"/>
                </a:solidFill>
              </a:rPr>
              <a:t>Class C/D licence due</a:t>
            </a:r>
            <a:endParaRPr lang="en-US" sz="1100" dirty="0"/>
          </a:p>
          <a:p>
            <a:pPr algn="ctr" indent="0" marL="0">
              <a:buNone/>
            </a:pPr>
            <a:r>
              <a:rPr lang="en-US" sz="1000" dirty="0">
                <a:solidFill>
                  <a:schemeClr val="accent6"/>
                </a:solidFill>
              </a:rPr>
              <a:t>Phase-in complete; 6-month transition order</a:t>
            </a:r>
            <a:endParaRPr lang="en-US" sz="1100" dirty="0"/>
          </a:p>
        </p:txBody>
      </p:sp>
      <p:sp>
        <p:nvSpPr>
          <p:cNvPr id="49" name="Milestone 2026"/>
          <p:cNvSpPr/>
          <p:nvPr/>
        </p:nvSpPr>
        <p:spPr>
          <a:xfrm>
            <a:off x="10637215" y="2926080"/>
            <a:ext cx="182880" cy="182880"/>
          </a:xfrm>
          <a:prstGeom prst="ellipse">
            <a:avLst/>
          </a:prstGeom>
          <a:solidFill>
            <a:schemeClr val="accent2"/>
          </a:solidFill>
          <a:ln w="25400">
            <a:solidFill>
              <a:schemeClr val="tx2"/>
            </a:solidFill>
            <a:prstDash val="solid"/>
          </a:ln>
        </p:spPr>
      </p:sp>
      <p:sp>
        <p:nvSpPr>
          <p:cNvPr id="50" name="Pill 2026"/>
          <p:cNvSpPr/>
          <p:nvPr/>
        </p:nvSpPr>
        <p:spPr>
          <a:xfrm>
            <a:off x="10271455" y="3246120"/>
            <a:ext cx="914400" cy="256032"/>
          </a:xfrm>
          <a:prstGeom prst="roundRect">
            <a:avLst>
              <a:gd name="adj" fmla="val 50000"/>
            </a:avLst>
          </a:prstGeom>
          <a:solidFill>
            <a:schemeClr val="accent2"/>
          </a:solidFill>
          <a:ln w="15875">
            <a:solidFill>
              <a:schemeClr val="accent2"/>
            </a:solidFill>
            <a:prstDash val="solid"/>
          </a:ln>
        </p:spPr>
      </p:sp>
      <p:sp>
        <p:nvSpPr>
          <p:cNvPr id="51" name="Text 48"/>
          <p:cNvSpPr txBox="1"/>
          <p:nvPr/>
        </p:nvSpPr>
        <p:spPr>
          <a:xfrm>
            <a:off x="10271455" y="324612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2026</a:t>
            </a:r>
            <a:endParaRPr lang="en-US" sz="1000" dirty="0"/>
          </a:p>
        </p:txBody>
      </p:sp>
      <p:sp>
        <p:nvSpPr>
          <p:cNvPr id="52" name="Text 49"/>
          <p:cNvSpPr txBox="1"/>
          <p:nvPr/>
        </p:nvSpPr>
        <p:spPr>
          <a:xfrm>
            <a:off x="9750618" y="3584448"/>
            <a:ext cx="1956074" cy="960120"/>
          </a:xfrm>
          <a:prstGeom prst="rect">
            <a:avLst/>
          </a:prstGeom>
          <a:noFill/>
          <a:ln/>
        </p:spPr>
        <p:txBody>
          <a:bodyPr wrap="square" lIns="0" tIns="0" rIns="0" bIns="0" rtlCol="0" anchor="t"/>
          <a:lstStyle/>
          <a:p>
            <a:pPr algn="ctr" indent="0" marL="0">
              <a:buNone/>
            </a:pPr>
            <a:r>
              <a:rPr lang="en-US" sz="1100" b="1" dirty="0">
                <a:solidFill>
                  <a:schemeClr val="bg1"/>
                </a:solidFill>
              </a:rPr>
              <a:t>Software guidance</a:t>
            </a:r>
            <a:endParaRPr lang="en-US" sz="1100" dirty="0"/>
          </a:p>
          <a:p>
            <a:pPr algn="ctr" indent="0" marL="0">
              <a:buNone/>
            </a:pPr>
            <a:r>
              <a:rPr lang="en-US" sz="1000" dirty="0">
                <a:solidFill>
                  <a:schemeClr val="accent6"/>
                </a:solidFill>
              </a:rPr>
              <a:t>MDSW 21 Jul; amendments 14 Aug; draft timelines</a:t>
            </a:r>
            <a:endParaRPr lang="en-US" sz="1100" dirty="0"/>
          </a:p>
        </p:txBody>
      </p:sp>
      <p:sp>
        <p:nvSpPr>
          <p:cNvPr id="53" name="Text 50"/>
          <p:cNvSpPr txBox="1"/>
          <p:nvPr/>
        </p:nvSpPr>
        <p:spPr>
          <a:xfrm>
            <a:off x="548640" y="4617720"/>
            <a:ext cx="7315200" cy="201168"/>
          </a:xfrm>
          <a:prstGeom prst="rect">
            <a:avLst/>
          </a:prstGeom>
          <a:noFill/>
          <a:ln/>
        </p:spPr>
        <p:txBody>
          <a:bodyPr wrap="square" lIns="0" tIns="0" rIns="0" bIns="0" rtlCol="0" anchor="t"/>
          <a:lstStyle/>
          <a:p>
            <a:pPr indent="0" marL="0">
              <a:buNone/>
            </a:pPr>
            <a:r>
              <a:rPr lang="en-US" sz="950" b="1" spc="150" kern="0" dirty="0">
                <a:solidFill>
                  <a:schemeClr val="accent2"/>
                </a:solidFill>
              </a:rPr>
              <a:t>2026: THREE DOCUMENTS TO READ BEFORE YOU FILE</a:t>
            </a:r>
            <a:endParaRPr lang="en-US" sz="950" dirty="0"/>
          </a:p>
        </p:txBody>
      </p:sp>
      <p:sp>
        <p:nvSpPr>
          <p:cNvPr id="54" name="Card MDSW guidance"/>
          <p:cNvSpPr/>
          <p:nvPr/>
        </p:nvSpPr>
        <p:spPr>
          <a:xfrm>
            <a:off x="548640" y="4846320"/>
            <a:ext cx="2636444" cy="1371600"/>
          </a:xfrm>
          <a:prstGeom prst="roundRect">
            <a:avLst>
              <a:gd name="adj" fmla="val 8000"/>
            </a:avLst>
          </a:prstGeom>
          <a:solidFill>
            <a:schemeClr val="bg1">
              <a:alpha val="10000"/>
            </a:schemeClr>
          </a:solidFill>
          <a:ln w="9525">
            <a:solidFill>
              <a:schemeClr val="accent6"/>
            </a:solidFill>
            <a:prstDash val="solid"/>
          </a:ln>
        </p:spPr>
      </p:sp>
      <p:sp>
        <p:nvSpPr>
          <p:cNvPr id="55" name="Pill 21 Jul 2026"/>
          <p:cNvSpPr/>
          <p:nvPr/>
        </p:nvSpPr>
        <p:spPr>
          <a:xfrm>
            <a:off x="1950644" y="5029200"/>
            <a:ext cx="1051560" cy="237744"/>
          </a:xfrm>
          <a:prstGeom prst="roundRect">
            <a:avLst>
              <a:gd name="adj" fmla="val 50000"/>
            </a:avLst>
          </a:prstGeom>
          <a:solidFill>
            <a:schemeClr val="accent2"/>
          </a:solidFill>
          <a:ln w="15875">
            <a:solidFill>
              <a:schemeClr val="accent2"/>
            </a:solidFill>
            <a:prstDash val="solid"/>
          </a:ln>
        </p:spPr>
      </p:sp>
      <p:sp>
        <p:nvSpPr>
          <p:cNvPr id="56" name="Text 53"/>
          <p:cNvSpPr txBox="1"/>
          <p:nvPr/>
        </p:nvSpPr>
        <p:spPr>
          <a:xfrm>
            <a:off x="1950644" y="5029200"/>
            <a:ext cx="1051560" cy="237744"/>
          </a:xfrm>
          <a:prstGeom prst="rect">
            <a:avLst/>
          </a:prstGeom>
          <a:noFill/>
          <a:ln/>
        </p:spPr>
        <p:txBody>
          <a:bodyPr wrap="square" lIns="0" tIns="0" rIns="0" bIns="0" rtlCol="0" anchor="ctr"/>
          <a:lstStyle/>
          <a:p>
            <a:pPr algn="ctr" indent="0" marL="0">
              <a:buNone/>
            </a:pPr>
            <a:r>
              <a:rPr lang="en-US" sz="900" b="1" dirty="0">
                <a:solidFill>
                  <a:schemeClr val="bg1"/>
                </a:solidFill>
              </a:rPr>
              <a:t>21 Jul 2026</a:t>
            </a:r>
            <a:endParaRPr lang="en-US" sz="900" dirty="0"/>
          </a:p>
        </p:txBody>
      </p:sp>
      <p:sp>
        <p:nvSpPr>
          <p:cNvPr id="57" name="Text 54"/>
          <p:cNvSpPr txBox="1"/>
          <p:nvPr/>
        </p:nvSpPr>
        <p:spPr>
          <a:xfrm>
            <a:off x="731520" y="5029200"/>
            <a:ext cx="1173404" cy="274320"/>
          </a:xfrm>
          <a:prstGeom prst="rect">
            <a:avLst/>
          </a:prstGeom>
          <a:noFill/>
          <a:ln/>
        </p:spPr>
        <p:txBody>
          <a:bodyPr wrap="square" lIns="0" tIns="0" rIns="0" bIns="0" rtlCol="0" anchor="ctr"/>
          <a:lstStyle/>
          <a:p>
            <a:pPr indent="0" marL="0">
              <a:buNone/>
            </a:pPr>
            <a:r>
              <a:rPr lang="en-US" sz="1200" b="1" dirty="0">
                <a:solidFill>
                  <a:schemeClr val="bg1"/>
                </a:solidFill>
              </a:rPr>
              <a:t>MDSW guidance</a:t>
            </a:r>
            <a:endParaRPr lang="en-US" sz="1200" dirty="0"/>
          </a:p>
        </p:txBody>
      </p:sp>
      <p:sp>
        <p:nvSpPr>
          <p:cNvPr id="58" name="Text 55"/>
          <p:cNvSpPr txBox="1"/>
          <p:nvPr/>
        </p:nvSpPr>
        <p:spPr>
          <a:xfrm>
            <a:off x="731520" y="5413248"/>
            <a:ext cx="2270684" cy="640080"/>
          </a:xfrm>
          <a:prstGeom prst="rect">
            <a:avLst/>
          </a:prstGeom>
          <a:noFill/>
          <a:ln/>
        </p:spPr>
        <p:txBody>
          <a:bodyPr wrap="square" lIns="0" tIns="0" rIns="0" bIns="0" rtlCol="0" anchor="t"/>
          <a:lstStyle/>
          <a:p>
            <a:pPr indent="0" marL="0">
              <a:spcAft>
                <a:spcPts val="300"/>
              </a:spcAft>
              <a:buNone/>
            </a:pPr>
            <a:r>
              <a:rPr lang="en-US" sz="1000" dirty="0">
                <a:solidFill>
                  <a:schemeClr val="accent6"/>
                </a:solidFill>
              </a:rPr>
              <a:t>CDSCO/MD/GD/MDSW/01/2026, 62 pages: SaMD, AI/ML, cybersecurity, change control, post-market</a:t>
            </a:r>
            <a:endParaRPr lang="en-US" sz="1000" dirty="0"/>
          </a:p>
        </p:txBody>
      </p:sp>
      <p:sp>
        <p:nvSpPr>
          <p:cNvPr id="59" name="Card G.S.R. 743(E)"/>
          <p:cNvSpPr/>
          <p:nvPr/>
        </p:nvSpPr>
        <p:spPr>
          <a:xfrm>
            <a:off x="3367964" y="4846320"/>
            <a:ext cx="2636444" cy="1371600"/>
          </a:xfrm>
          <a:prstGeom prst="roundRect">
            <a:avLst>
              <a:gd name="adj" fmla="val 8000"/>
            </a:avLst>
          </a:prstGeom>
          <a:solidFill>
            <a:schemeClr val="bg1">
              <a:alpha val="10000"/>
            </a:schemeClr>
          </a:solidFill>
          <a:ln w="9525">
            <a:solidFill>
              <a:schemeClr val="accent6"/>
            </a:solidFill>
            <a:prstDash val="solid"/>
          </a:ln>
        </p:spPr>
      </p:sp>
      <p:sp>
        <p:nvSpPr>
          <p:cNvPr id="60" name="Pill 14 Aug 2026"/>
          <p:cNvSpPr/>
          <p:nvPr/>
        </p:nvSpPr>
        <p:spPr>
          <a:xfrm>
            <a:off x="4769968" y="5029200"/>
            <a:ext cx="1051560" cy="237744"/>
          </a:xfrm>
          <a:prstGeom prst="roundRect">
            <a:avLst>
              <a:gd name="adj" fmla="val 50000"/>
            </a:avLst>
          </a:prstGeom>
          <a:solidFill>
            <a:schemeClr val="accent1"/>
          </a:solidFill>
          <a:ln w="15875">
            <a:solidFill>
              <a:schemeClr val="accent1"/>
            </a:solidFill>
            <a:prstDash val="solid"/>
          </a:ln>
        </p:spPr>
      </p:sp>
      <p:sp>
        <p:nvSpPr>
          <p:cNvPr id="61" name="Text 58"/>
          <p:cNvSpPr txBox="1"/>
          <p:nvPr/>
        </p:nvSpPr>
        <p:spPr>
          <a:xfrm>
            <a:off x="4769968" y="5029200"/>
            <a:ext cx="1051560" cy="237744"/>
          </a:xfrm>
          <a:prstGeom prst="rect">
            <a:avLst/>
          </a:prstGeom>
          <a:noFill/>
          <a:ln/>
        </p:spPr>
        <p:txBody>
          <a:bodyPr wrap="square" lIns="0" tIns="0" rIns="0" bIns="0" rtlCol="0" anchor="ctr"/>
          <a:lstStyle/>
          <a:p>
            <a:pPr algn="ctr" indent="0" marL="0">
              <a:buNone/>
            </a:pPr>
            <a:r>
              <a:rPr lang="en-US" sz="900" b="1" dirty="0">
                <a:solidFill>
                  <a:schemeClr val="bg1"/>
                </a:solidFill>
              </a:rPr>
              <a:t>14 Aug 2026</a:t>
            </a:r>
            <a:endParaRPr lang="en-US" sz="900" dirty="0"/>
          </a:p>
        </p:txBody>
      </p:sp>
      <p:sp>
        <p:nvSpPr>
          <p:cNvPr id="62" name="Text 59"/>
          <p:cNvSpPr txBox="1"/>
          <p:nvPr/>
        </p:nvSpPr>
        <p:spPr>
          <a:xfrm>
            <a:off x="3550844" y="5029200"/>
            <a:ext cx="1173404" cy="274320"/>
          </a:xfrm>
          <a:prstGeom prst="rect">
            <a:avLst/>
          </a:prstGeom>
          <a:noFill/>
          <a:ln/>
        </p:spPr>
        <p:txBody>
          <a:bodyPr wrap="square" lIns="0" tIns="0" rIns="0" bIns="0" rtlCol="0" anchor="ctr"/>
          <a:lstStyle/>
          <a:p>
            <a:pPr indent="0" marL="0">
              <a:buNone/>
            </a:pPr>
            <a:r>
              <a:rPr lang="en-US" sz="1200" b="1" dirty="0">
                <a:solidFill>
                  <a:schemeClr val="bg1"/>
                </a:solidFill>
              </a:rPr>
              <a:t>G.S.R. 743(E)</a:t>
            </a:r>
            <a:endParaRPr lang="en-US" sz="1200" dirty="0"/>
          </a:p>
        </p:txBody>
      </p:sp>
      <p:sp>
        <p:nvSpPr>
          <p:cNvPr id="63" name="Text 60"/>
          <p:cNvSpPr txBox="1"/>
          <p:nvPr/>
        </p:nvSpPr>
        <p:spPr>
          <a:xfrm>
            <a:off x="3550844" y="5413248"/>
            <a:ext cx="2270684" cy="640080"/>
          </a:xfrm>
          <a:prstGeom prst="rect">
            <a:avLst/>
          </a:prstGeom>
          <a:noFill/>
          <a:ln/>
        </p:spPr>
        <p:txBody>
          <a:bodyPr wrap="square" lIns="0" tIns="0" rIns="0" bIns="0" rtlCol="0" anchor="t"/>
          <a:lstStyle/>
          <a:p>
            <a:pPr indent="0" marL="0">
              <a:spcAft>
                <a:spcPts val="300"/>
              </a:spcAft>
              <a:buNone/>
            </a:pPr>
            <a:r>
              <a:rPr lang="en-US" sz="1000" dirty="0">
                <a:solidFill>
                  <a:schemeClr val="accent6"/>
                </a:solidFill>
              </a:rPr>
              <a:t>Sterilisation-site licence number on labels from 14 Feb 2027; Ninth Schedule testing fees</a:t>
            </a:r>
            <a:endParaRPr lang="en-US" sz="1000" dirty="0"/>
          </a:p>
        </p:txBody>
      </p:sp>
      <p:sp>
        <p:nvSpPr>
          <p:cNvPr id="64" name="Card G.S.R. 744(E)"/>
          <p:cNvSpPr/>
          <p:nvPr/>
        </p:nvSpPr>
        <p:spPr>
          <a:xfrm>
            <a:off x="6187288" y="4846320"/>
            <a:ext cx="2636444" cy="1371600"/>
          </a:xfrm>
          <a:prstGeom prst="roundRect">
            <a:avLst>
              <a:gd name="adj" fmla="val 8000"/>
            </a:avLst>
          </a:prstGeom>
          <a:solidFill>
            <a:schemeClr val="bg1">
              <a:alpha val="10000"/>
            </a:schemeClr>
          </a:solidFill>
          <a:ln w="9525">
            <a:solidFill>
              <a:schemeClr val="accent6"/>
            </a:solidFill>
            <a:prstDash val="solid"/>
          </a:ln>
        </p:spPr>
      </p:sp>
      <p:sp>
        <p:nvSpPr>
          <p:cNvPr id="65" name="Pill 14 Aug 2026"/>
          <p:cNvSpPr/>
          <p:nvPr/>
        </p:nvSpPr>
        <p:spPr>
          <a:xfrm>
            <a:off x="7589291" y="5029200"/>
            <a:ext cx="1051560" cy="237744"/>
          </a:xfrm>
          <a:prstGeom prst="roundRect">
            <a:avLst>
              <a:gd name="adj" fmla="val 50000"/>
            </a:avLst>
          </a:prstGeom>
          <a:solidFill>
            <a:schemeClr val="accent1"/>
          </a:solidFill>
          <a:ln w="15875">
            <a:solidFill>
              <a:schemeClr val="accent1"/>
            </a:solidFill>
            <a:prstDash val="solid"/>
          </a:ln>
        </p:spPr>
      </p:sp>
      <p:sp>
        <p:nvSpPr>
          <p:cNvPr id="66" name="Text 63"/>
          <p:cNvSpPr txBox="1"/>
          <p:nvPr/>
        </p:nvSpPr>
        <p:spPr>
          <a:xfrm>
            <a:off x="7589291" y="5029200"/>
            <a:ext cx="1051560" cy="237744"/>
          </a:xfrm>
          <a:prstGeom prst="rect">
            <a:avLst/>
          </a:prstGeom>
          <a:noFill/>
          <a:ln/>
        </p:spPr>
        <p:txBody>
          <a:bodyPr wrap="square" lIns="0" tIns="0" rIns="0" bIns="0" rtlCol="0" anchor="ctr"/>
          <a:lstStyle/>
          <a:p>
            <a:pPr algn="ctr" indent="0" marL="0">
              <a:buNone/>
            </a:pPr>
            <a:r>
              <a:rPr lang="en-US" sz="900" b="1" dirty="0">
                <a:solidFill>
                  <a:schemeClr val="bg1"/>
                </a:solidFill>
              </a:rPr>
              <a:t>14 Aug 2026</a:t>
            </a:r>
            <a:endParaRPr lang="en-US" sz="900" dirty="0"/>
          </a:p>
        </p:txBody>
      </p:sp>
      <p:sp>
        <p:nvSpPr>
          <p:cNvPr id="67" name="Text 64"/>
          <p:cNvSpPr txBox="1"/>
          <p:nvPr/>
        </p:nvSpPr>
        <p:spPr>
          <a:xfrm>
            <a:off x="6370168" y="5029200"/>
            <a:ext cx="1173404" cy="274320"/>
          </a:xfrm>
          <a:prstGeom prst="rect">
            <a:avLst/>
          </a:prstGeom>
          <a:noFill/>
          <a:ln/>
        </p:spPr>
        <p:txBody>
          <a:bodyPr wrap="square" lIns="0" tIns="0" rIns="0" bIns="0" rtlCol="0" anchor="ctr"/>
          <a:lstStyle/>
          <a:p>
            <a:pPr indent="0" marL="0">
              <a:buNone/>
            </a:pPr>
            <a:r>
              <a:rPr lang="en-US" sz="1200" b="1" dirty="0">
                <a:solidFill>
                  <a:schemeClr val="bg1"/>
                </a:solidFill>
              </a:rPr>
              <a:t>G.S.R. 744(E)</a:t>
            </a:r>
            <a:endParaRPr lang="en-US" sz="1200" dirty="0"/>
          </a:p>
        </p:txBody>
      </p:sp>
      <p:sp>
        <p:nvSpPr>
          <p:cNvPr id="68" name="Text 65"/>
          <p:cNvSpPr txBox="1"/>
          <p:nvPr/>
        </p:nvSpPr>
        <p:spPr>
          <a:xfrm>
            <a:off x="6370168" y="5413248"/>
            <a:ext cx="2270684" cy="640080"/>
          </a:xfrm>
          <a:prstGeom prst="rect">
            <a:avLst/>
          </a:prstGeom>
          <a:noFill/>
          <a:ln/>
        </p:spPr>
        <p:txBody>
          <a:bodyPr wrap="square" lIns="0" tIns="0" rIns="0" bIns="0" rtlCol="0" anchor="t"/>
          <a:lstStyle/>
          <a:p>
            <a:pPr indent="0" marL="0">
              <a:spcAft>
                <a:spcPts val="300"/>
              </a:spcAft>
              <a:buNone/>
            </a:pPr>
            <a:r>
              <a:rPr lang="en-US" sz="1000" dirty="0">
                <a:solidFill>
                  <a:schemeClr val="accent6"/>
                </a:solidFill>
              </a:rPr>
              <a:t>EU approvals added to the Rule 63 trial waiver; Class A QMS self-certification revised</a:t>
            </a:r>
            <a:endParaRPr lang="en-US" sz="1000" dirty="0"/>
          </a:p>
        </p:txBody>
      </p:sp>
      <p:sp>
        <p:nvSpPr>
          <p:cNvPr id="69" name="Card Draft G.S.R. 515(E)"/>
          <p:cNvSpPr/>
          <p:nvPr/>
        </p:nvSpPr>
        <p:spPr>
          <a:xfrm>
            <a:off x="9006611" y="4846320"/>
            <a:ext cx="2636444" cy="1371600"/>
          </a:xfrm>
          <a:prstGeom prst="roundRect">
            <a:avLst>
              <a:gd name="adj" fmla="val 8000"/>
            </a:avLst>
          </a:prstGeom>
          <a:solidFill>
            <a:schemeClr val="bg1">
              <a:alpha val="10000"/>
            </a:schemeClr>
          </a:solidFill>
          <a:ln w="9525">
            <a:solidFill>
              <a:schemeClr val="accent6"/>
            </a:solidFill>
            <a:prstDash val="solid"/>
          </a:ln>
        </p:spPr>
      </p:sp>
      <p:sp>
        <p:nvSpPr>
          <p:cNvPr id="70" name="Pill 23 Jun 2026"/>
          <p:cNvSpPr/>
          <p:nvPr/>
        </p:nvSpPr>
        <p:spPr>
          <a:xfrm>
            <a:off x="10408615" y="5029200"/>
            <a:ext cx="1051560" cy="237744"/>
          </a:xfrm>
          <a:prstGeom prst="roundRect">
            <a:avLst>
              <a:gd name="adj" fmla="val 50000"/>
            </a:avLst>
          </a:prstGeom>
          <a:solidFill>
            <a:schemeClr val="accent3"/>
          </a:solidFill>
          <a:ln w="15875">
            <a:solidFill>
              <a:schemeClr val="accent3"/>
            </a:solidFill>
            <a:prstDash val="solid"/>
          </a:ln>
        </p:spPr>
      </p:sp>
      <p:sp>
        <p:nvSpPr>
          <p:cNvPr id="71" name="Text 68"/>
          <p:cNvSpPr txBox="1"/>
          <p:nvPr/>
        </p:nvSpPr>
        <p:spPr>
          <a:xfrm>
            <a:off x="10408615" y="5029200"/>
            <a:ext cx="1051560" cy="237744"/>
          </a:xfrm>
          <a:prstGeom prst="rect">
            <a:avLst/>
          </a:prstGeom>
          <a:noFill/>
          <a:ln/>
        </p:spPr>
        <p:txBody>
          <a:bodyPr wrap="square" lIns="0" tIns="0" rIns="0" bIns="0" rtlCol="0" anchor="ctr"/>
          <a:lstStyle/>
          <a:p>
            <a:pPr algn="ctr" indent="0" marL="0">
              <a:buNone/>
            </a:pPr>
            <a:r>
              <a:rPr lang="en-US" sz="900" b="1" dirty="0">
                <a:solidFill>
                  <a:schemeClr val="bg1"/>
                </a:solidFill>
              </a:rPr>
              <a:t>23 Jun 2026</a:t>
            </a:r>
            <a:endParaRPr lang="en-US" sz="900" dirty="0"/>
          </a:p>
        </p:txBody>
      </p:sp>
      <p:sp>
        <p:nvSpPr>
          <p:cNvPr id="72" name="Text 69"/>
          <p:cNvSpPr txBox="1"/>
          <p:nvPr/>
        </p:nvSpPr>
        <p:spPr>
          <a:xfrm>
            <a:off x="9189491" y="5029200"/>
            <a:ext cx="1173404" cy="274320"/>
          </a:xfrm>
          <a:prstGeom prst="rect">
            <a:avLst/>
          </a:prstGeom>
          <a:noFill/>
          <a:ln/>
        </p:spPr>
        <p:txBody>
          <a:bodyPr wrap="square" lIns="0" tIns="0" rIns="0" bIns="0" rtlCol="0" anchor="ctr"/>
          <a:lstStyle/>
          <a:p>
            <a:pPr indent="0" marL="0">
              <a:buNone/>
            </a:pPr>
            <a:r>
              <a:rPr lang="en-US" sz="1200" b="1" dirty="0">
                <a:solidFill>
                  <a:schemeClr val="bg1"/>
                </a:solidFill>
              </a:rPr>
              <a:t>Draft G.S.R. 515(E)</a:t>
            </a:r>
            <a:endParaRPr lang="en-US" sz="1200" dirty="0"/>
          </a:p>
        </p:txBody>
      </p:sp>
      <p:sp>
        <p:nvSpPr>
          <p:cNvPr id="73" name="Text 70"/>
          <p:cNvSpPr txBox="1"/>
          <p:nvPr/>
        </p:nvSpPr>
        <p:spPr>
          <a:xfrm>
            <a:off x="9189491" y="5413248"/>
            <a:ext cx="2270684" cy="640080"/>
          </a:xfrm>
          <a:prstGeom prst="rect">
            <a:avLst/>
          </a:prstGeom>
          <a:noFill/>
          <a:ln/>
        </p:spPr>
        <p:txBody>
          <a:bodyPr wrap="square" lIns="0" tIns="0" rIns="0" bIns="0" rtlCol="0" anchor="t"/>
          <a:lstStyle/>
          <a:p>
            <a:pPr indent="0" marL="0">
              <a:spcAft>
                <a:spcPts val="300"/>
              </a:spcAft>
              <a:buNone/>
            </a:pPr>
            <a:r>
              <a:rPr lang="en-US" sz="1000" dirty="0">
                <a:solidFill>
                  <a:schemeClr val="accent6"/>
                </a:solidFill>
              </a:rPr>
              <a:t>Licence timelines: Class B 140 → 115 days; C/D 105 → 90 days. Not final on 7 Oct 2026</a:t>
            </a:r>
            <a:endParaRPr lang="en-US" sz="10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INDIA · RISK CLASSES</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Four risk classes decide the route</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MDR-2017 Rule 4 and First Schedule; CDSCO classification notices 3 Sep 2020, Class A list 2025, merged list 15 Oct 2025; CDSCO rehabilitation list (via Morulaa); consultancy examples (RegisterKaro, Corpseed, Agile Regulatory); FoGO project material</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Class A"/>
          <p:cNvSpPr/>
          <p:nvPr/>
        </p:nvSpPr>
        <p:spPr>
          <a:xfrm>
            <a:off x="548640" y="3405226"/>
            <a:ext cx="1629918" cy="2492654"/>
          </a:xfrm>
          <a:prstGeom prst="rect">
            <a:avLst/>
          </a:prstGeom>
          <a:solidFill>
            <a:srgbClr val="3C9D6A"/>
          </a:solidFill>
          <a:ln/>
        </p:spPr>
      </p:sp>
      <p:sp>
        <p:nvSpPr>
          <p:cNvPr id="13" name="Text 10"/>
          <p:cNvSpPr txBox="1"/>
          <p:nvPr/>
        </p:nvSpPr>
        <p:spPr>
          <a:xfrm>
            <a:off x="685800" y="3514954"/>
            <a:ext cx="1428750" cy="411480"/>
          </a:xfrm>
          <a:prstGeom prst="rect">
            <a:avLst/>
          </a:prstGeom>
          <a:noFill/>
          <a:ln/>
        </p:spPr>
        <p:txBody>
          <a:bodyPr wrap="square" lIns="0" tIns="0" rIns="0" bIns="0" rtlCol="0" anchor="t"/>
          <a:lstStyle/>
          <a:p>
            <a:pPr indent="0" marL="0">
              <a:buNone/>
            </a:pPr>
            <a:r>
              <a:rPr lang="en-US" sz="2000" b="1" dirty="0">
                <a:solidFill>
                  <a:schemeClr val="bg1"/>
                </a:solidFill>
              </a:rPr>
              <a:t>Class A</a:t>
            </a:r>
            <a:endParaRPr lang="en-US" sz="2000" dirty="0"/>
          </a:p>
        </p:txBody>
      </p:sp>
      <p:sp>
        <p:nvSpPr>
          <p:cNvPr id="14" name="Text 11"/>
          <p:cNvSpPr txBox="1"/>
          <p:nvPr/>
        </p:nvSpPr>
        <p:spPr>
          <a:xfrm>
            <a:off x="685800" y="3908146"/>
            <a:ext cx="1428750" cy="320040"/>
          </a:xfrm>
          <a:prstGeom prst="rect">
            <a:avLst/>
          </a:prstGeom>
          <a:noFill/>
          <a:ln/>
        </p:spPr>
        <p:txBody>
          <a:bodyPr wrap="square" lIns="0" tIns="0" rIns="0" bIns="0" rtlCol="0" anchor="t"/>
          <a:lstStyle/>
          <a:p>
            <a:pPr indent="0" marL="0">
              <a:buNone/>
            </a:pPr>
            <a:r>
              <a:rPr lang="en-US" sz="1100" i="1" dirty="0">
                <a:solidFill>
                  <a:schemeClr val="bg1"/>
                </a:solidFill>
              </a:rPr>
              <a:t>Low risk</a:t>
            </a:r>
            <a:endParaRPr lang="en-US" sz="1100" dirty="0"/>
          </a:p>
        </p:txBody>
      </p:sp>
      <p:sp>
        <p:nvSpPr>
          <p:cNvPr id="15" name="Text 12"/>
          <p:cNvSpPr txBox="1"/>
          <p:nvPr/>
        </p:nvSpPr>
        <p:spPr>
          <a:xfrm>
            <a:off x="640080" y="4273906"/>
            <a:ext cx="1428750" cy="1166774"/>
          </a:xfrm>
          <a:prstGeom prst="rect">
            <a:avLst/>
          </a:prstGeom>
          <a:noFill/>
          <a:ln/>
        </p:spPr>
        <p:txBody>
          <a:bodyPr wrap="square" lIns="0" tIns="0" rIns="0" bIns="0" rtlCol="0" anchor="t"/>
          <a:lstStyle/>
          <a:p>
            <a:pPr marL="127000" indent="-127000">
              <a:spcAft>
                <a:spcPts val="200"/>
              </a:spcAft>
              <a:buSzPct val="100000"/>
              <a:buChar char="•"/>
            </a:pPr>
            <a:r>
              <a:rPr lang="en-US" sz="1050" dirty="0">
                <a:solidFill>
                  <a:schemeClr val="bg1"/>
                </a:solidFill>
              </a:rPr>
              <a:t>Dressings, bandages</a:t>
            </a:r>
            <a:endParaRPr lang="en-US" sz="1050" dirty="0"/>
          </a:p>
          <a:p>
            <a:pPr marL="127000" indent="-127000">
              <a:spcAft>
                <a:spcPts val="200"/>
              </a:spcAft>
              <a:buSzPct val="100000"/>
              <a:buChar char="•"/>
            </a:pPr>
            <a:r>
              <a:rPr lang="en-US" sz="1050" dirty="0">
                <a:solidFill>
                  <a:schemeClr val="bg1"/>
                </a:solidFill>
              </a:rPr>
              <a:t>Non-sterile exam gloves</a:t>
            </a:r>
            <a:endParaRPr lang="en-US" sz="1050" dirty="0"/>
          </a:p>
          <a:p>
            <a:pPr marL="127000" indent="-127000">
              <a:spcAft>
                <a:spcPts val="200"/>
              </a:spcAft>
              <a:buSzPct val="100000"/>
              <a:buChar char="•"/>
            </a:pPr>
            <a:r>
              <a:rPr lang="en-US" sz="1050" dirty="0">
                <a:solidFill>
                  <a:schemeClr val="bg1"/>
                </a:solidFill>
              </a:rPr>
              <a:t>Clinical thermometer</a:t>
            </a:r>
            <a:endParaRPr lang="en-US" sz="1050" dirty="0"/>
          </a:p>
          <a:p>
            <a:pPr marL="127000" indent="-127000">
              <a:spcAft>
                <a:spcPts val="200"/>
              </a:spcAft>
              <a:buSzPct val="100000"/>
              <a:buChar char="•"/>
            </a:pPr>
            <a:r>
              <a:rPr lang="en-US" sz="1050" dirty="0">
                <a:solidFill>
                  <a:schemeClr val="bg1"/>
                </a:solidFill>
              </a:rPr>
              <a:t>Deep-tissue EM stimulator (CDSCO rehab list)</a:t>
            </a:r>
            <a:endParaRPr lang="en-US" sz="1050" dirty="0"/>
          </a:p>
        </p:txBody>
      </p:sp>
      <p:sp>
        <p:nvSpPr>
          <p:cNvPr id="16" name="Text 13"/>
          <p:cNvSpPr txBox="1"/>
          <p:nvPr/>
        </p:nvSpPr>
        <p:spPr>
          <a:xfrm>
            <a:off x="685800" y="5440680"/>
            <a:ext cx="1428750" cy="384048"/>
          </a:xfrm>
          <a:prstGeom prst="rect">
            <a:avLst/>
          </a:prstGeom>
          <a:noFill/>
          <a:ln/>
        </p:spPr>
        <p:txBody>
          <a:bodyPr wrap="square" lIns="0" tIns="0" rIns="0" bIns="0" rtlCol="0" anchor="b"/>
          <a:lstStyle/>
          <a:p>
            <a:pPr indent="0" marL="0">
              <a:buNone/>
            </a:pPr>
            <a:r>
              <a:rPr lang="en-US" sz="1000" b="1" dirty="0">
                <a:solidFill>
                  <a:schemeClr val="bg1"/>
                </a:solidFill>
              </a:rPr>
              <a:t>State · MD-5 (NSNM: register only)</a:t>
            </a:r>
            <a:endParaRPr lang="en-US" sz="1000" dirty="0"/>
          </a:p>
        </p:txBody>
      </p:sp>
      <p:sp>
        <p:nvSpPr>
          <p:cNvPr id="17" name="Class B"/>
          <p:cNvSpPr/>
          <p:nvPr/>
        </p:nvSpPr>
        <p:spPr>
          <a:xfrm>
            <a:off x="2251710" y="2803550"/>
            <a:ext cx="1629918" cy="3094330"/>
          </a:xfrm>
          <a:prstGeom prst="rect">
            <a:avLst/>
          </a:prstGeom>
          <a:solidFill>
            <a:srgbClr val="0F7C74"/>
          </a:solidFill>
          <a:ln/>
        </p:spPr>
      </p:sp>
      <p:sp>
        <p:nvSpPr>
          <p:cNvPr id="18" name="Text 15"/>
          <p:cNvSpPr txBox="1"/>
          <p:nvPr/>
        </p:nvSpPr>
        <p:spPr>
          <a:xfrm>
            <a:off x="2388870" y="2913278"/>
            <a:ext cx="1428750" cy="411480"/>
          </a:xfrm>
          <a:prstGeom prst="rect">
            <a:avLst/>
          </a:prstGeom>
          <a:noFill/>
          <a:ln/>
        </p:spPr>
        <p:txBody>
          <a:bodyPr wrap="square" lIns="0" tIns="0" rIns="0" bIns="0" rtlCol="0" anchor="t"/>
          <a:lstStyle/>
          <a:p>
            <a:pPr indent="0" marL="0">
              <a:buNone/>
            </a:pPr>
            <a:r>
              <a:rPr lang="en-US" sz="2000" b="1" dirty="0">
                <a:solidFill>
                  <a:schemeClr val="bg1"/>
                </a:solidFill>
              </a:rPr>
              <a:t>Class B</a:t>
            </a:r>
            <a:endParaRPr lang="en-US" sz="2000" dirty="0"/>
          </a:p>
        </p:txBody>
      </p:sp>
      <p:sp>
        <p:nvSpPr>
          <p:cNvPr id="19" name="Text 16"/>
          <p:cNvSpPr txBox="1"/>
          <p:nvPr/>
        </p:nvSpPr>
        <p:spPr>
          <a:xfrm>
            <a:off x="2388870" y="3306470"/>
            <a:ext cx="1428750" cy="320040"/>
          </a:xfrm>
          <a:prstGeom prst="rect">
            <a:avLst/>
          </a:prstGeom>
          <a:noFill/>
          <a:ln/>
        </p:spPr>
        <p:txBody>
          <a:bodyPr wrap="square" lIns="0" tIns="0" rIns="0" bIns="0" rtlCol="0" anchor="t"/>
          <a:lstStyle/>
          <a:p>
            <a:pPr indent="0" marL="0">
              <a:buNone/>
            </a:pPr>
            <a:r>
              <a:rPr lang="en-US" sz="1100" i="1" dirty="0">
                <a:solidFill>
                  <a:schemeClr val="bg1"/>
                </a:solidFill>
              </a:rPr>
              <a:t>Low-moderate risk</a:t>
            </a:r>
            <a:endParaRPr lang="en-US" sz="1100" dirty="0"/>
          </a:p>
        </p:txBody>
      </p:sp>
      <p:sp>
        <p:nvSpPr>
          <p:cNvPr id="20" name="Text 17"/>
          <p:cNvSpPr txBox="1"/>
          <p:nvPr/>
        </p:nvSpPr>
        <p:spPr>
          <a:xfrm>
            <a:off x="2343150" y="3672230"/>
            <a:ext cx="1428750" cy="1768450"/>
          </a:xfrm>
          <a:prstGeom prst="rect">
            <a:avLst/>
          </a:prstGeom>
          <a:noFill/>
          <a:ln/>
        </p:spPr>
        <p:txBody>
          <a:bodyPr wrap="square" lIns="0" tIns="0" rIns="0" bIns="0" rtlCol="0" anchor="t"/>
          <a:lstStyle/>
          <a:p>
            <a:pPr marL="127000" indent="-127000">
              <a:spcAft>
                <a:spcPts val="200"/>
              </a:spcAft>
              <a:buSzPct val="100000"/>
              <a:buChar char="•"/>
            </a:pPr>
            <a:r>
              <a:rPr lang="en-US" sz="1050" dirty="0">
                <a:solidFill>
                  <a:schemeClr val="bg1"/>
                </a:solidFill>
              </a:rPr>
              <a:t>Hypodermic needles, syringes</a:t>
            </a:r>
            <a:endParaRPr lang="en-US" sz="1050" dirty="0"/>
          </a:p>
          <a:p>
            <a:pPr marL="127000" indent="-127000">
              <a:spcAft>
                <a:spcPts val="200"/>
              </a:spcAft>
              <a:buSzPct val="100000"/>
              <a:buChar char="•"/>
            </a:pPr>
            <a:r>
              <a:rPr lang="en-US" sz="1050" dirty="0">
                <a:solidFill>
                  <a:schemeClr val="bg1"/>
                </a:solidFill>
              </a:rPr>
              <a:t>BP monitors (non-invasive)</a:t>
            </a:r>
            <a:endParaRPr lang="en-US" sz="1050" dirty="0"/>
          </a:p>
          <a:p>
            <a:pPr marL="127000" indent="-127000">
              <a:spcAft>
                <a:spcPts val="200"/>
              </a:spcAft>
              <a:buSzPct val="100000"/>
              <a:buChar char="•"/>
            </a:pPr>
            <a:r>
              <a:rPr lang="en-US" sz="1050" dirty="0">
                <a:solidFill>
                  <a:schemeClr val="bg1"/>
                </a:solidFill>
              </a:rPr>
              <a:t>Hearing aids</a:t>
            </a:r>
            <a:endParaRPr lang="en-US" sz="1050" dirty="0"/>
          </a:p>
          <a:p>
            <a:pPr marL="127000" indent="-127000">
              <a:spcAft>
                <a:spcPts val="200"/>
              </a:spcAft>
              <a:buSzPct val="100000"/>
              <a:buChar char="•"/>
            </a:pPr>
            <a:r>
              <a:rPr lang="en-US" sz="1050" dirty="0">
                <a:solidFill>
                  <a:schemeClr val="bg1"/>
                </a:solidFill>
              </a:rPr>
              <a:t>TENS systems (CDSCO list)</a:t>
            </a:r>
            <a:endParaRPr lang="en-US" sz="1050" dirty="0"/>
          </a:p>
          <a:p>
            <a:pPr marL="127000" indent="-127000">
              <a:spcAft>
                <a:spcPts val="200"/>
              </a:spcAft>
              <a:buSzPct val="100000"/>
              <a:buChar char="•"/>
            </a:pPr>
            <a:r>
              <a:rPr lang="en-US" sz="1050" dirty="0">
                <a:solidFill>
                  <a:schemeClr val="bg1"/>
                </a:solidFill>
              </a:rPr>
              <a:t>FoGO · Class B (proposed)</a:t>
            </a:r>
            <a:endParaRPr lang="en-US" sz="1050" dirty="0"/>
          </a:p>
        </p:txBody>
      </p:sp>
      <p:sp>
        <p:nvSpPr>
          <p:cNvPr id="21" name="Text 18"/>
          <p:cNvSpPr txBox="1"/>
          <p:nvPr/>
        </p:nvSpPr>
        <p:spPr>
          <a:xfrm>
            <a:off x="2388870" y="5440680"/>
            <a:ext cx="1428750" cy="384048"/>
          </a:xfrm>
          <a:prstGeom prst="rect">
            <a:avLst/>
          </a:prstGeom>
          <a:noFill/>
          <a:ln/>
        </p:spPr>
        <p:txBody>
          <a:bodyPr wrap="square" lIns="0" tIns="0" rIns="0" bIns="0" rtlCol="0" anchor="b"/>
          <a:lstStyle/>
          <a:p>
            <a:pPr indent="0" marL="0">
              <a:buNone/>
            </a:pPr>
            <a:r>
              <a:rPr lang="en-US" sz="1000" b="1" dirty="0">
                <a:solidFill>
                  <a:schemeClr val="bg1"/>
                </a:solidFill>
              </a:rPr>
              <a:t>State · MD-3 → MD-5</a:t>
            </a:r>
            <a:endParaRPr lang="en-US" sz="1000" dirty="0"/>
          </a:p>
        </p:txBody>
      </p:sp>
      <p:sp>
        <p:nvSpPr>
          <p:cNvPr id="22" name="Class C"/>
          <p:cNvSpPr/>
          <p:nvPr/>
        </p:nvSpPr>
        <p:spPr>
          <a:xfrm>
            <a:off x="3954780" y="2201875"/>
            <a:ext cx="1629918" cy="3696005"/>
          </a:xfrm>
          <a:prstGeom prst="rect">
            <a:avLst/>
          </a:prstGeom>
          <a:solidFill>
            <a:srgbClr val="E0962A"/>
          </a:solidFill>
          <a:ln/>
        </p:spPr>
      </p:sp>
      <p:sp>
        <p:nvSpPr>
          <p:cNvPr id="23" name="Text 20"/>
          <p:cNvSpPr txBox="1"/>
          <p:nvPr/>
        </p:nvSpPr>
        <p:spPr>
          <a:xfrm>
            <a:off x="4091940" y="2311603"/>
            <a:ext cx="1428750" cy="411480"/>
          </a:xfrm>
          <a:prstGeom prst="rect">
            <a:avLst/>
          </a:prstGeom>
          <a:noFill/>
          <a:ln/>
        </p:spPr>
        <p:txBody>
          <a:bodyPr wrap="square" lIns="0" tIns="0" rIns="0" bIns="0" rtlCol="0" anchor="t"/>
          <a:lstStyle/>
          <a:p>
            <a:pPr indent="0" marL="0">
              <a:buNone/>
            </a:pPr>
            <a:r>
              <a:rPr lang="en-US" sz="2000" b="1" dirty="0">
                <a:solidFill>
                  <a:schemeClr val="bg1"/>
                </a:solidFill>
              </a:rPr>
              <a:t>Class C</a:t>
            </a:r>
            <a:endParaRPr lang="en-US" sz="2000" dirty="0"/>
          </a:p>
        </p:txBody>
      </p:sp>
      <p:sp>
        <p:nvSpPr>
          <p:cNvPr id="24" name="Text 21"/>
          <p:cNvSpPr txBox="1"/>
          <p:nvPr/>
        </p:nvSpPr>
        <p:spPr>
          <a:xfrm>
            <a:off x="4091940" y="2704795"/>
            <a:ext cx="1428750" cy="320040"/>
          </a:xfrm>
          <a:prstGeom prst="rect">
            <a:avLst/>
          </a:prstGeom>
          <a:noFill/>
          <a:ln/>
        </p:spPr>
        <p:txBody>
          <a:bodyPr wrap="square" lIns="0" tIns="0" rIns="0" bIns="0" rtlCol="0" anchor="t"/>
          <a:lstStyle/>
          <a:p>
            <a:pPr indent="0" marL="0">
              <a:buNone/>
            </a:pPr>
            <a:r>
              <a:rPr lang="en-US" sz="1100" i="1" dirty="0">
                <a:solidFill>
                  <a:schemeClr val="bg1"/>
                </a:solidFill>
              </a:rPr>
              <a:t>Moderate-high risk</a:t>
            </a:r>
            <a:endParaRPr lang="en-US" sz="1100" dirty="0"/>
          </a:p>
        </p:txBody>
      </p:sp>
      <p:sp>
        <p:nvSpPr>
          <p:cNvPr id="25" name="Text 22"/>
          <p:cNvSpPr txBox="1"/>
          <p:nvPr/>
        </p:nvSpPr>
        <p:spPr>
          <a:xfrm>
            <a:off x="4046220" y="3070555"/>
            <a:ext cx="1428750" cy="2370125"/>
          </a:xfrm>
          <a:prstGeom prst="rect">
            <a:avLst/>
          </a:prstGeom>
          <a:noFill/>
          <a:ln/>
        </p:spPr>
        <p:txBody>
          <a:bodyPr wrap="square" lIns="0" tIns="0" rIns="0" bIns="0" rtlCol="0" anchor="t"/>
          <a:lstStyle/>
          <a:p>
            <a:pPr marL="127000" indent="-127000">
              <a:spcAft>
                <a:spcPts val="200"/>
              </a:spcAft>
              <a:buSzPct val="100000"/>
              <a:buChar char="•"/>
            </a:pPr>
            <a:r>
              <a:rPr lang="en-US" sz="1050" dirty="0">
                <a:solidFill>
                  <a:schemeClr val="bg1"/>
                </a:solidFill>
              </a:rPr>
              <a:t>Infusion pumps</a:t>
            </a:r>
            <a:endParaRPr lang="en-US" sz="1050" dirty="0"/>
          </a:p>
          <a:p>
            <a:pPr marL="127000" indent="-127000">
              <a:spcAft>
                <a:spcPts val="200"/>
              </a:spcAft>
              <a:buSzPct val="100000"/>
              <a:buChar char="•"/>
            </a:pPr>
            <a:r>
              <a:rPr lang="en-US" sz="1050" dirty="0">
                <a:solidFill>
                  <a:schemeClr val="bg1"/>
                </a:solidFill>
              </a:rPr>
              <a:t>X-ray, MRI systems</a:t>
            </a:r>
            <a:endParaRPr lang="en-US" sz="1050" dirty="0"/>
          </a:p>
          <a:p>
            <a:pPr marL="127000" indent="-127000">
              <a:spcAft>
                <a:spcPts val="200"/>
              </a:spcAft>
              <a:buSzPct val="100000"/>
              <a:buChar char="•"/>
            </a:pPr>
            <a:r>
              <a:rPr lang="en-US" sz="1050" dirty="0">
                <a:solidFill>
                  <a:schemeClr val="bg1"/>
                </a:solidFill>
              </a:rPr>
              <a:t>Lung ventilators</a:t>
            </a:r>
            <a:endParaRPr lang="en-US" sz="1050" dirty="0"/>
          </a:p>
          <a:p>
            <a:pPr marL="127000" indent="-127000">
              <a:spcAft>
                <a:spcPts val="200"/>
              </a:spcAft>
              <a:buSzPct val="100000"/>
              <a:buChar char="•"/>
            </a:pPr>
            <a:r>
              <a:rPr lang="en-US" sz="1050" dirty="0">
                <a:solidFill>
                  <a:schemeClr val="bg1"/>
                </a:solidFill>
              </a:rPr>
              <a:t>Haemodialysis machines</a:t>
            </a:r>
            <a:endParaRPr lang="en-US" sz="1050" dirty="0"/>
          </a:p>
          <a:p>
            <a:pPr marL="127000" indent="-127000">
              <a:spcAft>
                <a:spcPts val="200"/>
              </a:spcAft>
              <a:buSzPct val="100000"/>
              <a:buChar char="•"/>
            </a:pPr>
            <a:r>
              <a:rPr lang="en-US" sz="1050" dirty="0">
                <a:solidFill>
                  <a:schemeClr val="bg1"/>
                </a:solidFill>
              </a:rPr>
              <a:t>Orthopaedic implants (joints: C or D, verify)</a:t>
            </a:r>
            <a:endParaRPr lang="en-US" sz="1050" dirty="0"/>
          </a:p>
        </p:txBody>
      </p:sp>
      <p:sp>
        <p:nvSpPr>
          <p:cNvPr id="26" name="Text 23"/>
          <p:cNvSpPr txBox="1"/>
          <p:nvPr/>
        </p:nvSpPr>
        <p:spPr>
          <a:xfrm>
            <a:off x="4091940" y="5440680"/>
            <a:ext cx="1428750" cy="384048"/>
          </a:xfrm>
          <a:prstGeom prst="rect">
            <a:avLst/>
          </a:prstGeom>
          <a:noFill/>
          <a:ln/>
        </p:spPr>
        <p:txBody>
          <a:bodyPr wrap="square" lIns="0" tIns="0" rIns="0" bIns="0" rtlCol="0" anchor="b"/>
          <a:lstStyle/>
          <a:p>
            <a:pPr indent="0" marL="0">
              <a:buNone/>
            </a:pPr>
            <a:r>
              <a:rPr lang="en-US" sz="1000" b="1" dirty="0">
                <a:solidFill>
                  <a:schemeClr val="bg1"/>
                </a:solidFill>
              </a:rPr>
              <a:t>Central · MD-7 → MD-9</a:t>
            </a:r>
            <a:endParaRPr lang="en-US" sz="1000" dirty="0"/>
          </a:p>
        </p:txBody>
      </p:sp>
      <p:sp>
        <p:nvSpPr>
          <p:cNvPr id="27" name="Class D"/>
          <p:cNvSpPr/>
          <p:nvPr/>
        </p:nvSpPr>
        <p:spPr>
          <a:xfrm>
            <a:off x="5657850" y="1600200"/>
            <a:ext cx="1629918" cy="4297680"/>
          </a:xfrm>
          <a:prstGeom prst="rect">
            <a:avLst/>
          </a:prstGeom>
          <a:solidFill>
            <a:srgbClr val="C2453A"/>
          </a:solidFill>
          <a:ln/>
        </p:spPr>
      </p:sp>
      <p:sp>
        <p:nvSpPr>
          <p:cNvPr id="28" name="Text 25"/>
          <p:cNvSpPr txBox="1"/>
          <p:nvPr/>
        </p:nvSpPr>
        <p:spPr>
          <a:xfrm>
            <a:off x="5795010" y="1709928"/>
            <a:ext cx="1428750" cy="411480"/>
          </a:xfrm>
          <a:prstGeom prst="rect">
            <a:avLst/>
          </a:prstGeom>
          <a:noFill/>
          <a:ln/>
        </p:spPr>
        <p:txBody>
          <a:bodyPr wrap="square" lIns="0" tIns="0" rIns="0" bIns="0" rtlCol="0" anchor="t"/>
          <a:lstStyle/>
          <a:p>
            <a:pPr indent="0" marL="0">
              <a:buNone/>
            </a:pPr>
            <a:r>
              <a:rPr lang="en-US" sz="2000" b="1" dirty="0">
                <a:solidFill>
                  <a:schemeClr val="bg1"/>
                </a:solidFill>
              </a:rPr>
              <a:t>Class D</a:t>
            </a:r>
            <a:endParaRPr lang="en-US" sz="2000" dirty="0"/>
          </a:p>
        </p:txBody>
      </p:sp>
      <p:sp>
        <p:nvSpPr>
          <p:cNvPr id="29" name="Text 26"/>
          <p:cNvSpPr txBox="1"/>
          <p:nvPr/>
        </p:nvSpPr>
        <p:spPr>
          <a:xfrm>
            <a:off x="5795010" y="2103120"/>
            <a:ext cx="1428750" cy="320040"/>
          </a:xfrm>
          <a:prstGeom prst="rect">
            <a:avLst/>
          </a:prstGeom>
          <a:noFill/>
          <a:ln/>
        </p:spPr>
        <p:txBody>
          <a:bodyPr wrap="square" lIns="0" tIns="0" rIns="0" bIns="0" rtlCol="0" anchor="t"/>
          <a:lstStyle/>
          <a:p>
            <a:pPr indent="0" marL="0">
              <a:buNone/>
            </a:pPr>
            <a:r>
              <a:rPr lang="en-US" sz="1100" i="1" dirty="0">
                <a:solidFill>
                  <a:schemeClr val="bg1"/>
                </a:solidFill>
              </a:rPr>
              <a:t>High risk</a:t>
            </a:r>
            <a:endParaRPr lang="en-US" sz="1100" dirty="0"/>
          </a:p>
        </p:txBody>
      </p:sp>
      <p:sp>
        <p:nvSpPr>
          <p:cNvPr id="30" name="Text 27"/>
          <p:cNvSpPr txBox="1"/>
          <p:nvPr/>
        </p:nvSpPr>
        <p:spPr>
          <a:xfrm>
            <a:off x="5749290" y="2468880"/>
            <a:ext cx="1428750" cy="2971800"/>
          </a:xfrm>
          <a:prstGeom prst="rect">
            <a:avLst/>
          </a:prstGeom>
          <a:noFill/>
          <a:ln/>
        </p:spPr>
        <p:txBody>
          <a:bodyPr wrap="square" lIns="0" tIns="0" rIns="0" bIns="0" rtlCol="0" anchor="t"/>
          <a:lstStyle/>
          <a:p>
            <a:pPr marL="127000" indent="-127000">
              <a:spcAft>
                <a:spcPts val="200"/>
              </a:spcAft>
              <a:buSzPct val="100000"/>
              <a:buChar char="•"/>
            </a:pPr>
            <a:r>
              <a:rPr lang="en-US" sz="1050" dirty="0">
                <a:solidFill>
                  <a:schemeClr val="bg1"/>
                </a:solidFill>
              </a:rPr>
              <a:t>Heart valves</a:t>
            </a:r>
            <a:endParaRPr lang="en-US" sz="1050" dirty="0"/>
          </a:p>
          <a:p>
            <a:pPr marL="127000" indent="-127000">
              <a:spcAft>
                <a:spcPts val="200"/>
              </a:spcAft>
              <a:buSzPct val="100000"/>
              <a:buChar char="•"/>
            </a:pPr>
            <a:r>
              <a:rPr lang="en-US" sz="1050" dirty="0">
                <a:solidFill>
                  <a:schemeClr val="bg1"/>
                </a:solidFill>
              </a:rPr>
              <a:t>Implantable pacemakers</a:t>
            </a:r>
            <a:endParaRPr lang="en-US" sz="1050" dirty="0"/>
          </a:p>
          <a:p>
            <a:pPr marL="127000" indent="-127000">
              <a:spcAft>
                <a:spcPts val="200"/>
              </a:spcAft>
              <a:buSzPct val="100000"/>
              <a:buChar char="•"/>
            </a:pPr>
            <a:r>
              <a:rPr lang="en-US" sz="1050" dirty="0">
                <a:solidFill>
                  <a:schemeClr val="bg1"/>
                </a:solidFill>
              </a:rPr>
              <a:t>Coronary, drug-eluting stents</a:t>
            </a:r>
            <a:endParaRPr lang="en-US" sz="1050" dirty="0"/>
          </a:p>
          <a:p>
            <a:pPr marL="127000" indent="-127000">
              <a:spcAft>
                <a:spcPts val="200"/>
              </a:spcAft>
              <a:buSzPct val="100000"/>
              <a:buChar char="•"/>
            </a:pPr>
            <a:r>
              <a:rPr lang="en-US" sz="1050" dirty="0">
                <a:solidFill>
                  <a:schemeClr val="bg1"/>
                </a:solidFill>
              </a:rPr>
              <a:t>Intra-uterine devices</a:t>
            </a:r>
            <a:endParaRPr lang="en-US" sz="1050" dirty="0"/>
          </a:p>
          <a:p>
            <a:pPr marL="127000" indent="-127000">
              <a:spcAft>
                <a:spcPts val="200"/>
              </a:spcAft>
              <a:buSzPct val="100000"/>
              <a:buChar char="•"/>
            </a:pPr>
            <a:r>
              <a:rPr lang="en-US" sz="1050" dirty="0">
                <a:solidFill>
                  <a:schemeClr val="bg1"/>
                </a:solidFill>
              </a:rPr>
              <a:t>Contact with CNS or central circulation</a:t>
            </a:r>
            <a:endParaRPr lang="en-US" sz="1050" dirty="0"/>
          </a:p>
        </p:txBody>
      </p:sp>
      <p:sp>
        <p:nvSpPr>
          <p:cNvPr id="31" name="Text 28"/>
          <p:cNvSpPr txBox="1"/>
          <p:nvPr/>
        </p:nvSpPr>
        <p:spPr>
          <a:xfrm>
            <a:off x="5795010" y="5440680"/>
            <a:ext cx="1428750" cy="384048"/>
          </a:xfrm>
          <a:prstGeom prst="rect">
            <a:avLst/>
          </a:prstGeom>
          <a:noFill/>
          <a:ln/>
        </p:spPr>
        <p:txBody>
          <a:bodyPr wrap="square" lIns="0" tIns="0" rIns="0" bIns="0" rtlCol="0" anchor="b"/>
          <a:lstStyle/>
          <a:p>
            <a:pPr indent="0" marL="0">
              <a:buNone/>
            </a:pPr>
            <a:r>
              <a:rPr lang="en-US" sz="1000" b="1" dirty="0">
                <a:solidFill>
                  <a:schemeClr val="bg1"/>
                </a:solidFill>
              </a:rPr>
              <a:t>Central · MD-7 → MD-9</a:t>
            </a:r>
            <a:endParaRPr lang="en-US" sz="1000" dirty="0"/>
          </a:p>
        </p:txBody>
      </p:sp>
      <p:sp>
        <p:nvSpPr>
          <p:cNvPr id="32" name="Risk arrow"/>
          <p:cNvSpPr/>
          <p:nvPr/>
        </p:nvSpPr>
        <p:spPr>
          <a:xfrm>
            <a:off x="548640" y="6007608"/>
            <a:ext cx="6812280" cy="256032"/>
          </a:xfrm>
          <a:prstGeom prst="rightArrow">
            <a:avLst/>
          </a:prstGeom>
          <a:solidFill>
            <a:srgbClr val="D5DFDD"/>
          </a:solidFill>
          <a:ln/>
        </p:spPr>
      </p:sp>
      <p:sp>
        <p:nvSpPr>
          <p:cNvPr id="33" name="Text 30"/>
          <p:cNvSpPr txBox="1"/>
          <p:nvPr/>
        </p:nvSpPr>
        <p:spPr>
          <a:xfrm>
            <a:off x="731520" y="6007608"/>
            <a:ext cx="6263640" cy="256032"/>
          </a:xfrm>
          <a:prstGeom prst="rect">
            <a:avLst/>
          </a:prstGeom>
          <a:noFill/>
          <a:ln/>
        </p:spPr>
        <p:txBody>
          <a:bodyPr wrap="square" lIns="0" tIns="0" rIns="0" bIns="0" rtlCol="0" anchor="ctr"/>
          <a:lstStyle/>
          <a:p>
            <a:pPr indent="0" marL="0">
              <a:buNone/>
            </a:pPr>
            <a:r>
              <a:rPr lang="en-US" sz="1050" b="1" dirty="0">
                <a:solidFill>
                  <a:schemeClr val="tx1"/>
                </a:solidFill>
              </a:rPr>
              <a:t>Increasing risk   →   more evidence, higher authority, closer scrutiny</a:t>
            </a:r>
            <a:endParaRPr lang="en-US" sz="1050" dirty="0"/>
          </a:p>
        </p:txBody>
      </p:sp>
      <p:sp>
        <p:nvSpPr>
          <p:cNvPr id="34" name="Text 31"/>
          <p:cNvSpPr txBox="1"/>
          <p:nvPr/>
        </p:nvSpPr>
        <p:spPr>
          <a:xfrm>
            <a:off x="7635240" y="1572768"/>
            <a:ext cx="4007815" cy="201168"/>
          </a:xfrm>
          <a:prstGeom prst="rect">
            <a:avLst/>
          </a:prstGeom>
          <a:noFill/>
          <a:ln/>
        </p:spPr>
        <p:txBody>
          <a:bodyPr wrap="square" lIns="0" tIns="0" rIns="0" bIns="0" rtlCol="0" anchor="t"/>
          <a:lstStyle/>
          <a:p>
            <a:pPr indent="0" marL="0">
              <a:buNone/>
            </a:pPr>
            <a:r>
              <a:rPr lang="en-US" sz="950" b="1" spc="150" kern="0" dirty="0">
                <a:solidFill>
                  <a:schemeClr val="accent5"/>
                </a:solidFill>
              </a:rPr>
              <a:t>FIRST SCHEDULE, PART I: FOUR RULE FAMILIES</a:t>
            </a:r>
            <a:endParaRPr lang="en-US" sz="950" dirty="0"/>
          </a:p>
        </p:txBody>
      </p:sp>
      <p:sp>
        <p:nvSpPr>
          <p:cNvPr id="35" name="Rule"/>
          <p:cNvSpPr/>
          <p:nvPr/>
        </p:nvSpPr>
        <p:spPr>
          <a:xfrm>
            <a:off x="7882128" y="2103120"/>
            <a:ext cx="0" cy="2029968"/>
          </a:xfrm>
          <a:prstGeom prst="line">
            <a:avLst/>
          </a:prstGeom>
          <a:noFill/>
          <a:ln w="25400">
            <a:solidFill>
              <a:srgbClr val="C9D6D3"/>
            </a:solidFill>
            <a:prstDash val="solid"/>
          </a:ln>
        </p:spPr>
      </p:sp>
      <p:sp>
        <p:nvSpPr>
          <p:cNvPr id="36" name="Badge 1"/>
          <p:cNvSpPr/>
          <p:nvPr/>
        </p:nvSpPr>
        <p:spPr>
          <a:xfrm>
            <a:off x="7635240" y="1828800"/>
            <a:ext cx="493776" cy="493776"/>
          </a:xfrm>
          <a:prstGeom prst="ellipse">
            <a:avLst/>
          </a:prstGeom>
          <a:solidFill>
            <a:schemeClr val="accent4"/>
          </a:solidFill>
          <a:ln/>
        </p:spPr>
      </p:sp>
      <p:sp>
        <p:nvSpPr>
          <p:cNvPr id="37" name="Text 34"/>
          <p:cNvSpPr txBox="1"/>
          <p:nvPr/>
        </p:nvSpPr>
        <p:spPr>
          <a:xfrm>
            <a:off x="7635240" y="1828800"/>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38" name="Text 35"/>
          <p:cNvSpPr txBox="1"/>
          <p:nvPr/>
        </p:nvSpPr>
        <p:spPr>
          <a:xfrm>
            <a:off x="8321040" y="1810512"/>
            <a:ext cx="3322015" cy="603504"/>
          </a:xfrm>
          <a:prstGeom prst="rect">
            <a:avLst/>
          </a:prstGeom>
          <a:noFill/>
          <a:ln/>
        </p:spPr>
        <p:txBody>
          <a:bodyPr wrap="square" lIns="0" tIns="0" rIns="0" bIns="0" rtlCol="0" anchor="t"/>
          <a:lstStyle/>
          <a:p>
            <a:pPr indent="0" marL="0">
              <a:buNone/>
            </a:pPr>
            <a:r>
              <a:rPr lang="en-US" sz="1200" b="1" dirty="0">
                <a:solidFill>
                  <a:schemeClr val="tx1"/>
                </a:solidFill>
              </a:rPr>
              <a:t>Non-invasive</a:t>
            </a:r>
            <a:endParaRPr lang="en-US" sz="1200" dirty="0"/>
          </a:p>
          <a:p>
            <a:pPr indent="0" marL="0">
              <a:buNone/>
            </a:pPr>
            <a:r>
              <a:rPr lang="en-US" sz="1000" dirty="0">
                <a:solidFill>
                  <a:schemeClr val="tx2"/>
                </a:solidFill>
              </a:rPr>
              <a:t>Intact skin only → A; channels or stores blood or body fluids → B</a:t>
            </a:r>
            <a:endParaRPr lang="en-US" sz="1200" dirty="0"/>
          </a:p>
        </p:txBody>
      </p:sp>
      <p:sp>
        <p:nvSpPr>
          <p:cNvPr id="39" name="Badge 2"/>
          <p:cNvSpPr/>
          <p:nvPr/>
        </p:nvSpPr>
        <p:spPr>
          <a:xfrm>
            <a:off x="7635240" y="2505456"/>
            <a:ext cx="493776" cy="493776"/>
          </a:xfrm>
          <a:prstGeom prst="ellipse">
            <a:avLst/>
          </a:prstGeom>
          <a:solidFill>
            <a:schemeClr val="accent4"/>
          </a:solidFill>
          <a:ln/>
        </p:spPr>
      </p:sp>
      <p:sp>
        <p:nvSpPr>
          <p:cNvPr id="40" name="Text 37"/>
          <p:cNvSpPr txBox="1"/>
          <p:nvPr/>
        </p:nvSpPr>
        <p:spPr>
          <a:xfrm>
            <a:off x="7635240" y="2505456"/>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41" name="Text 38"/>
          <p:cNvSpPr txBox="1"/>
          <p:nvPr/>
        </p:nvSpPr>
        <p:spPr>
          <a:xfrm>
            <a:off x="8321040" y="2487168"/>
            <a:ext cx="3322015" cy="603504"/>
          </a:xfrm>
          <a:prstGeom prst="rect">
            <a:avLst/>
          </a:prstGeom>
          <a:noFill/>
          <a:ln/>
        </p:spPr>
        <p:txBody>
          <a:bodyPr wrap="square" lIns="0" tIns="0" rIns="0" bIns="0" rtlCol="0" anchor="t"/>
          <a:lstStyle/>
          <a:p>
            <a:pPr indent="0" marL="0">
              <a:buNone/>
            </a:pPr>
            <a:r>
              <a:rPr lang="en-US" sz="1200" b="1" dirty="0">
                <a:solidFill>
                  <a:schemeClr val="tx1"/>
                </a:solidFill>
              </a:rPr>
              <a:t>Invasive</a:t>
            </a:r>
            <a:endParaRPr lang="en-US" sz="1200" dirty="0"/>
          </a:p>
          <a:p>
            <a:pPr indent="0" marL="0">
              <a:buNone/>
            </a:pPr>
            <a:r>
              <a:rPr lang="en-US" sz="1000" dirty="0">
                <a:solidFill>
                  <a:schemeClr val="tx2"/>
                </a:solidFill>
              </a:rPr>
              <a:t>Body orifice vs surgical; transient, short-term, long-term; implants → C or D</a:t>
            </a:r>
            <a:endParaRPr lang="en-US" sz="1200" dirty="0"/>
          </a:p>
        </p:txBody>
      </p:sp>
      <p:sp>
        <p:nvSpPr>
          <p:cNvPr id="42" name="Badge 3"/>
          <p:cNvSpPr/>
          <p:nvPr/>
        </p:nvSpPr>
        <p:spPr>
          <a:xfrm>
            <a:off x="7635240" y="3182112"/>
            <a:ext cx="493776" cy="493776"/>
          </a:xfrm>
          <a:prstGeom prst="ellipse">
            <a:avLst/>
          </a:prstGeom>
          <a:solidFill>
            <a:schemeClr val="accent4"/>
          </a:solidFill>
          <a:ln/>
        </p:spPr>
      </p:sp>
      <p:sp>
        <p:nvSpPr>
          <p:cNvPr id="43" name="Text 40"/>
          <p:cNvSpPr txBox="1"/>
          <p:nvPr/>
        </p:nvSpPr>
        <p:spPr>
          <a:xfrm>
            <a:off x="7635240" y="3182112"/>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44" name="Text 41"/>
          <p:cNvSpPr txBox="1"/>
          <p:nvPr/>
        </p:nvSpPr>
        <p:spPr>
          <a:xfrm>
            <a:off x="8321040" y="3163824"/>
            <a:ext cx="3322015" cy="603504"/>
          </a:xfrm>
          <a:prstGeom prst="rect">
            <a:avLst/>
          </a:prstGeom>
          <a:noFill/>
          <a:ln/>
        </p:spPr>
        <p:txBody>
          <a:bodyPr wrap="square" lIns="0" tIns="0" rIns="0" bIns="0" rtlCol="0" anchor="t"/>
          <a:lstStyle/>
          <a:p>
            <a:pPr indent="0" marL="0">
              <a:buNone/>
            </a:pPr>
            <a:r>
              <a:rPr lang="en-US" sz="1200" b="1" dirty="0">
                <a:solidFill>
                  <a:schemeClr val="tx1"/>
                </a:solidFill>
              </a:rPr>
              <a:t>Active</a:t>
            </a:r>
            <a:endParaRPr lang="en-US" sz="1200" dirty="0"/>
          </a:p>
          <a:p>
            <a:pPr indent="0" marL="0">
              <a:buNone/>
            </a:pPr>
            <a:r>
              <a:rPr lang="en-US" sz="1000" dirty="0">
                <a:solidFill>
                  <a:schemeClr val="tx2"/>
                </a:solidFill>
              </a:rPr>
              <a:t>Therapeutic energy → B; hazardous energy or monitoring vital processes → C</a:t>
            </a:r>
            <a:endParaRPr lang="en-US" sz="1200" dirty="0"/>
          </a:p>
        </p:txBody>
      </p:sp>
      <p:sp>
        <p:nvSpPr>
          <p:cNvPr id="45" name="Badge 4"/>
          <p:cNvSpPr/>
          <p:nvPr/>
        </p:nvSpPr>
        <p:spPr>
          <a:xfrm>
            <a:off x="7635240" y="3858768"/>
            <a:ext cx="493776" cy="493776"/>
          </a:xfrm>
          <a:prstGeom prst="ellipse">
            <a:avLst/>
          </a:prstGeom>
          <a:solidFill>
            <a:schemeClr val="accent4"/>
          </a:solidFill>
          <a:ln/>
        </p:spPr>
      </p:sp>
      <p:sp>
        <p:nvSpPr>
          <p:cNvPr id="46" name="Text 43"/>
          <p:cNvSpPr txBox="1"/>
          <p:nvPr/>
        </p:nvSpPr>
        <p:spPr>
          <a:xfrm>
            <a:off x="7635240" y="3858768"/>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47" name="Text 44"/>
          <p:cNvSpPr txBox="1"/>
          <p:nvPr/>
        </p:nvSpPr>
        <p:spPr>
          <a:xfrm>
            <a:off x="8321040" y="3840480"/>
            <a:ext cx="3322015" cy="603504"/>
          </a:xfrm>
          <a:prstGeom prst="rect">
            <a:avLst/>
          </a:prstGeom>
          <a:noFill/>
          <a:ln/>
        </p:spPr>
        <p:txBody>
          <a:bodyPr wrap="square" lIns="0" tIns="0" rIns="0" bIns="0" rtlCol="0" anchor="t"/>
          <a:lstStyle/>
          <a:p>
            <a:pPr indent="0" marL="0">
              <a:buNone/>
            </a:pPr>
            <a:r>
              <a:rPr lang="en-US" sz="1200" b="1" dirty="0">
                <a:solidFill>
                  <a:schemeClr val="tx1"/>
                </a:solidFill>
              </a:rPr>
              <a:t>Special rules</a:t>
            </a:r>
            <a:endParaRPr lang="en-US" sz="1200" dirty="0"/>
          </a:p>
          <a:p>
            <a:pPr indent="0" marL="0">
              <a:buNone/>
            </a:pPr>
            <a:r>
              <a:rPr lang="en-US" sz="1000" dirty="0">
                <a:solidFill>
                  <a:schemeClr val="tx2"/>
                </a:solidFill>
              </a:rPr>
              <a:t>Medicinal substance → D; non-viable animal tissue → D; IVDs under Part II</a:t>
            </a:r>
            <a:endParaRPr lang="en-US" sz="1200" dirty="0"/>
          </a:p>
        </p:txBody>
      </p:sp>
      <p:sp>
        <p:nvSpPr>
          <p:cNvPr id="48" name="Where our devices sit"/>
          <p:cNvSpPr/>
          <p:nvPr/>
        </p:nvSpPr>
        <p:spPr>
          <a:xfrm>
            <a:off x="7635240" y="4572000"/>
            <a:ext cx="4007815" cy="1417320"/>
          </a:xfrm>
          <a:prstGeom prst="roundRect">
            <a:avLst>
              <a:gd name="adj" fmla="val 9032"/>
            </a:avLst>
          </a:prstGeom>
          <a:solidFill>
            <a:schemeClr val="bg2"/>
          </a:solidFill>
          <a:ln/>
        </p:spPr>
      </p:sp>
      <p:sp>
        <p:nvSpPr>
          <p:cNvPr id="49" name="Text 46"/>
          <p:cNvSpPr txBox="1"/>
          <p:nvPr/>
        </p:nvSpPr>
        <p:spPr>
          <a:xfrm>
            <a:off x="7818120" y="4645152"/>
            <a:ext cx="3642055" cy="201168"/>
          </a:xfrm>
          <a:prstGeom prst="rect">
            <a:avLst/>
          </a:prstGeom>
          <a:noFill/>
          <a:ln/>
        </p:spPr>
        <p:txBody>
          <a:bodyPr wrap="square" lIns="0" tIns="0" rIns="0" bIns="0" rtlCol="0" anchor="t"/>
          <a:lstStyle/>
          <a:p>
            <a:pPr indent="0" marL="0">
              <a:buNone/>
            </a:pPr>
            <a:r>
              <a:rPr lang="en-US" sz="950" b="1" spc="150" kern="0" dirty="0">
                <a:solidFill>
                  <a:schemeClr val="accent5"/>
                </a:solidFill>
              </a:rPr>
              <a:t>WHERE OUR TWO DEVICES WOULD SIT</a:t>
            </a:r>
            <a:endParaRPr lang="en-US" sz="950" dirty="0"/>
          </a:p>
        </p:txBody>
      </p:sp>
      <p:sp>
        <p:nvSpPr>
          <p:cNvPr id="50" name="Pill Class B (proposed)"/>
          <p:cNvSpPr/>
          <p:nvPr/>
        </p:nvSpPr>
        <p:spPr>
          <a:xfrm>
            <a:off x="7818120" y="4901184"/>
            <a:ext cx="1417320" cy="274320"/>
          </a:xfrm>
          <a:prstGeom prst="roundRect">
            <a:avLst>
              <a:gd name="adj" fmla="val 50000"/>
            </a:avLst>
          </a:prstGeom>
          <a:solidFill>
            <a:srgbClr val="0F7C74"/>
          </a:solidFill>
          <a:ln w="15875">
            <a:solidFill>
              <a:srgbClr val="0F7C74"/>
            </a:solidFill>
            <a:prstDash val="solid"/>
          </a:ln>
        </p:spPr>
      </p:sp>
      <p:sp>
        <p:nvSpPr>
          <p:cNvPr id="51" name="Text 48"/>
          <p:cNvSpPr txBox="1"/>
          <p:nvPr/>
        </p:nvSpPr>
        <p:spPr>
          <a:xfrm>
            <a:off x="7818120" y="4901184"/>
            <a:ext cx="1417320" cy="274320"/>
          </a:xfrm>
          <a:prstGeom prst="rect">
            <a:avLst/>
          </a:prstGeom>
          <a:noFill/>
          <a:ln/>
        </p:spPr>
        <p:txBody>
          <a:bodyPr wrap="square" lIns="0" tIns="0" rIns="0" bIns="0" rtlCol="0" anchor="ctr"/>
          <a:lstStyle/>
          <a:p>
            <a:pPr algn="ctr" indent="0" marL="0">
              <a:buNone/>
            </a:pPr>
            <a:r>
              <a:rPr lang="en-US" sz="950" b="1" dirty="0">
                <a:solidFill>
                  <a:schemeClr val="bg1"/>
                </a:solidFill>
              </a:rPr>
              <a:t>Class B (proposed)</a:t>
            </a:r>
            <a:endParaRPr lang="en-US" sz="950" dirty="0"/>
          </a:p>
        </p:txBody>
      </p:sp>
      <p:sp>
        <p:nvSpPr>
          <p:cNvPr id="52" name="Text 49"/>
          <p:cNvSpPr txBox="1"/>
          <p:nvPr/>
        </p:nvSpPr>
        <p:spPr>
          <a:xfrm>
            <a:off x="9326880" y="4873752"/>
            <a:ext cx="2133295" cy="457200"/>
          </a:xfrm>
          <a:prstGeom prst="rect">
            <a:avLst/>
          </a:prstGeom>
          <a:noFill/>
          <a:ln/>
        </p:spPr>
        <p:txBody>
          <a:bodyPr wrap="square" lIns="0" tIns="0" rIns="0" bIns="0" rtlCol="0" anchor="t"/>
          <a:lstStyle/>
          <a:p>
            <a:pPr indent="0" marL="0">
              <a:buNone/>
            </a:pPr>
            <a:r>
              <a:rPr lang="en-US" sz="950" dirty="0">
                <a:solidFill>
                  <a:schemeClr val="tx2"/>
                </a:solidFill>
              </a:rPr>
              <a:t>FoGO: active wearable plus app that cues. The developer's proposal, not a CDSCO classification.</a:t>
            </a:r>
            <a:endParaRPr lang="en-US" sz="950" dirty="0"/>
          </a:p>
        </p:txBody>
      </p:sp>
      <p:sp>
        <p:nvSpPr>
          <p:cNvPr id="53" name="Pill Class to be confirmed"/>
          <p:cNvSpPr/>
          <p:nvPr/>
        </p:nvSpPr>
        <p:spPr>
          <a:xfrm>
            <a:off x="7818120" y="5431536"/>
            <a:ext cx="1417320" cy="274320"/>
          </a:xfrm>
          <a:prstGeom prst="roundRect">
            <a:avLst>
              <a:gd name="adj" fmla="val 50000"/>
            </a:avLst>
          </a:prstGeom>
          <a:solidFill>
            <a:schemeClr val="bg1"/>
          </a:solidFill>
          <a:ln w="15875">
            <a:solidFill>
              <a:schemeClr val="accent2"/>
            </a:solidFill>
            <a:prstDash val="dash"/>
          </a:ln>
        </p:spPr>
      </p:sp>
      <p:sp>
        <p:nvSpPr>
          <p:cNvPr id="54" name="Text 51"/>
          <p:cNvSpPr txBox="1"/>
          <p:nvPr/>
        </p:nvSpPr>
        <p:spPr>
          <a:xfrm>
            <a:off x="7818120" y="5431536"/>
            <a:ext cx="1417320" cy="274320"/>
          </a:xfrm>
          <a:prstGeom prst="rect">
            <a:avLst/>
          </a:prstGeom>
          <a:noFill/>
          <a:ln/>
        </p:spPr>
        <p:txBody>
          <a:bodyPr wrap="square" lIns="0" tIns="0" rIns="0" bIns="0" rtlCol="0" anchor="ctr"/>
          <a:lstStyle/>
          <a:p>
            <a:pPr algn="ctr" indent="0" marL="0">
              <a:buNone/>
            </a:pPr>
            <a:r>
              <a:rPr lang="en-US" sz="950" b="1" dirty="0">
                <a:solidFill>
                  <a:schemeClr val="accent2"/>
                </a:solidFill>
              </a:rPr>
              <a:t>Class to be confirmed</a:t>
            </a:r>
            <a:endParaRPr lang="en-US" sz="950" dirty="0"/>
          </a:p>
        </p:txBody>
      </p:sp>
      <p:sp>
        <p:nvSpPr>
          <p:cNvPr id="55" name="Text 52"/>
          <p:cNvSpPr txBox="1"/>
          <p:nvPr/>
        </p:nvSpPr>
        <p:spPr>
          <a:xfrm>
            <a:off x="9326880" y="5394960"/>
            <a:ext cx="2133295" cy="566928"/>
          </a:xfrm>
          <a:prstGeom prst="rect">
            <a:avLst/>
          </a:prstGeom>
          <a:noFill/>
          <a:ln/>
        </p:spPr>
        <p:txBody>
          <a:bodyPr wrap="square" lIns="0" tIns="0" rIns="0" bIns="0" rtlCol="0" anchor="t"/>
          <a:lstStyle/>
          <a:p>
            <a:pPr indent="0" marL="0">
              <a:buNone/>
            </a:pPr>
            <a:r>
              <a:rPr lang="en-US" sz="950" dirty="0">
                <a:solidFill>
                  <a:schemeClr val="tx2"/>
                </a:solidFill>
              </a:rPr>
              <a:t>SwaKnee: CDSCO's rehabilitation list puts 'deep-tissue electromagnetic stimulation' in Class A; the active-therapeutic rule suggests B.</a:t>
            </a: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INDIA · WHICH LICENCE</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Which licence, from which authority, with which form</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MDR-2017 and CDSCO regulatory pathway; Forms MD-3/5, 7/9, 12/13, 14/15, 22/23, 26/27, 41/42; Second Schedule fees (CDSCO fee help-file); G.S.R. 777(E) and 754(E) 2022; FoGO project material</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graphicFrame>
        <p:nvGraphicFramePr>
          <p:cNvPr id="29" name="Matrix"/>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148840"/>
                <a:gridCol w="2514600"/>
                <a:gridCol w="2240280"/>
                <a:gridCol w="1920240"/>
                <a:gridCol w="2267712"/>
              </a:tblGrid>
              <a:tr h="420624">
                <a:tc>
                  <a:txBody>
                    <a:bodyPr/>
                    <a:lstStyle/>
                    <a:p>
                      <a:pPr indent="0" marL="0">
                        <a:buNone/>
                      </a:pPr>
                      <a:r>
                        <a:rPr lang="en-US" sz="1100" b="1" dirty="0">
                          <a:solidFill>
                            <a:srgbClr val="FFFFFF"/>
                          </a:solidFill>
                        </a:rPr>
                        <a:t>Activity</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100" b="1" dirty="0">
                          <a:solidFill>
                            <a:srgbClr val="FFFFFF"/>
                          </a:solidFill>
                        </a:rPr>
                        <a:t>Class A · non-sterile, non-measuring</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100" b="1" dirty="0">
                          <a:solidFill>
                            <a:srgbClr val="FFFFFF"/>
                          </a:solidFill>
                        </a:rPr>
                        <a:t>Class A sterile or measuring · Class B</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100" b="1" dirty="0">
                          <a:solidFill>
                            <a:srgbClr val="FFFFFF"/>
                          </a:solidFill>
                        </a:rPr>
                        <a:t>Class C · Class D</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100" b="1" dirty="0">
                          <a:solidFill>
                            <a:srgbClr val="FFFFFF"/>
                          </a:solidFill>
                        </a:rPr>
                        <a:t>Who decides</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r>
              <a:tr h="420624">
                <a:tc>
                  <a:txBody>
                    <a:bodyPr/>
                    <a:lstStyle/>
                    <a:p>
                      <a:pPr indent="0" marL="0">
                        <a:buNone/>
                      </a:pPr>
                      <a:r>
                        <a:rPr lang="en-US" sz="1050" b="1" dirty="0">
                          <a:solidFill>
                            <a:srgbClr val="0E3B3D"/>
                          </a:solidFill>
                        </a:rPr>
                        <a:t>Manufacture</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050" dirty="0">
                          <a:solidFill>
                            <a:srgbClr val="17262B"/>
                          </a:solidFill>
                        </a:rPr>
                        <a:t>Online registration + Essential Principles self-certification (G.S.R. 777(E), 14 Oct 2022)</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c>
                  <a:txBody>
                    <a:bodyPr/>
                    <a:lstStyle/>
                    <a:p>
                      <a:pPr indent="0" marL="0">
                        <a:buNone/>
                      </a:pPr>
                      <a:r>
                        <a:rPr lang="en-US" sz="1050" dirty="0">
                          <a:solidFill>
                            <a:srgbClr val="17262B"/>
                          </a:solidFill>
                        </a:rPr>
                        <a:t>MD-3 → MD-5</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c>
                  <a:txBody>
                    <a:bodyPr/>
                    <a:lstStyle/>
                    <a:p>
                      <a:pPr indent="0" marL="0">
                        <a:buNone/>
                      </a:pPr>
                      <a:r>
                        <a:rPr lang="en-US" sz="1050" dirty="0">
                          <a:solidFill>
                            <a:srgbClr val="17262B"/>
                          </a:solidFill>
                        </a:rPr>
                        <a:t>MD-7 → MD-9</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1050" dirty="0">
                          <a:solidFill>
                            <a:srgbClr val="17262B"/>
                          </a:solidFill>
                        </a:rPr>
                        <a:t>State (A/B) · Central (C/D)</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r>
              <a:tr h="420624">
                <a:tc>
                  <a:txBody>
                    <a:bodyPr/>
                    <a:lstStyle/>
                    <a:p>
                      <a:pPr indent="0" marL="0">
                        <a:buNone/>
                      </a:pPr>
                      <a:r>
                        <a:rPr lang="en-US" sz="1050" b="1" dirty="0">
                          <a:solidFill>
                            <a:srgbClr val="0E3B3D"/>
                          </a:solidFill>
                        </a:rPr>
                        <a:t>Loan licence</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rPr>
                        <a:t>—</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c>
                  <a:txBody>
                    <a:bodyPr/>
                    <a:lstStyle/>
                    <a:p>
                      <a:pPr indent="0" marL="0">
                        <a:buNone/>
                      </a:pPr>
                      <a:r>
                        <a:rPr lang="en-US" sz="1050" dirty="0">
                          <a:solidFill>
                            <a:srgbClr val="17262B"/>
                          </a:solidFill>
                        </a:rPr>
                        <a:t>MD-4 → MD-6</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c>
                  <a:txBody>
                    <a:bodyPr/>
                    <a:lstStyle/>
                    <a:p>
                      <a:pPr indent="0" marL="0">
                        <a:buNone/>
                      </a:pPr>
                      <a:r>
                        <a:rPr lang="en-US" sz="1050" dirty="0">
                          <a:solidFill>
                            <a:srgbClr val="17262B"/>
                          </a:solidFill>
                        </a:rPr>
                        <a:t>MD-8 → MD-10</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1050" dirty="0">
                          <a:solidFill>
                            <a:srgbClr val="17262B"/>
                          </a:solidFill>
                        </a:rPr>
                        <a:t>State (A/B) · Central (C/D)</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r>
              <a:tr h="420624">
                <a:tc>
                  <a:txBody>
                    <a:bodyPr/>
                    <a:lstStyle/>
                    <a:p>
                      <a:pPr indent="0" marL="0">
                        <a:buNone/>
                      </a:pPr>
                      <a:r>
                        <a:rPr lang="en-US" sz="1050" b="1" dirty="0">
                          <a:solidFill>
                            <a:srgbClr val="0E3B3D"/>
                          </a:solidFill>
                        </a:rPr>
                        <a:t>Import</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050" dirty="0">
                          <a:solidFill>
                            <a:srgbClr val="17262B"/>
                          </a:solidFill>
                        </a:rPr>
                        <a:t>MD-14 → MD-15</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1050" dirty="0">
                          <a:solidFill>
                            <a:srgbClr val="17262B"/>
                          </a:solidFill>
                        </a:rPr>
                        <a:t>MD-14 → MD-15</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1050" dirty="0">
                          <a:solidFill>
                            <a:srgbClr val="17262B"/>
                          </a:solidFill>
                        </a:rPr>
                        <a:t>MD-14 → MD-15</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1050" dirty="0">
                          <a:solidFill>
                            <a:srgbClr val="17262B"/>
                          </a:solidFill>
                        </a:rPr>
                        <a:t>Central, every class</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r>
              <a:tr h="420624">
                <a:tc>
                  <a:txBody>
                    <a:bodyPr/>
                    <a:lstStyle/>
                    <a:p>
                      <a:pPr indent="0" marL="0">
                        <a:buNone/>
                      </a:pPr>
                      <a:r>
                        <a:rPr lang="en-US" sz="1050" b="1" dirty="0">
                          <a:solidFill>
                            <a:srgbClr val="0E3B3D"/>
                          </a:solidFill>
                        </a:rPr>
                        <a:t>Test licence: make or import for study, demo, training</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rPr>
                        <a:t>MD-12 → MD-13  ·  MD-16 → MD-17</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1050" dirty="0">
                          <a:solidFill>
                            <a:srgbClr val="17262B"/>
                          </a:solidFill>
                        </a:rPr>
                        <a:t>MD-12 → MD-13  ·  MD-16 → MD-17</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1050" dirty="0">
                          <a:solidFill>
                            <a:srgbClr val="17262B"/>
                          </a:solidFill>
                        </a:rPr>
                        <a:t>MD-12 → MD-13  ·  MD-16 → MD-17</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1050" dirty="0">
                          <a:solidFill>
                            <a:srgbClr val="17262B"/>
                          </a:solidFill>
                        </a:rPr>
                        <a:t>Central</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r>
              <a:tr h="420624">
                <a:tc>
                  <a:txBody>
                    <a:bodyPr/>
                    <a:lstStyle/>
                    <a:p>
                      <a:pPr indent="0" marL="0">
                        <a:buNone/>
                      </a:pPr>
                      <a:r>
                        <a:rPr lang="en-US" sz="1050" b="1" dirty="0">
                          <a:solidFill>
                            <a:srgbClr val="0E3B3D"/>
                          </a:solidFill>
                        </a:rPr>
                        <a:t>Clinical investigation</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050" dirty="0">
                          <a:solidFill>
                            <a:srgbClr val="17262B"/>
                          </a:solidFill>
                        </a:rPr>
                        <a:t>MD-22 → MD-23</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1050" dirty="0">
                          <a:solidFill>
                            <a:srgbClr val="17262B"/>
                          </a:solidFill>
                        </a:rPr>
                        <a:t>MD-22 → MD-23</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1050" dirty="0">
                          <a:solidFill>
                            <a:srgbClr val="17262B"/>
                          </a:solidFill>
                        </a:rPr>
                        <a:t>MD-22 → MD-23</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1050" dirty="0">
                          <a:solidFill>
                            <a:srgbClr val="17262B"/>
                          </a:solidFill>
                        </a:rPr>
                        <a:t>Central + registered ethics committee</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r>
              <a:tr h="420624">
                <a:tc>
                  <a:txBody>
                    <a:bodyPr/>
                    <a:lstStyle/>
                    <a:p>
                      <a:pPr indent="0" marL="0">
                        <a:buNone/>
                      </a:pPr>
                      <a:r>
                        <a:rPr lang="en-US" sz="1050" b="1" dirty="0">
                          <a:solidFill>
                            <a:srgbClr val="0E3B3D"/>
                          </a:solidFill>
                        </a:rPr>
                        <a:t>No predicate in India (Rule 63)</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rPr>
                        <a:t>MD-26 → MD-27</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1050" dirty="0">
                          <a:solidFill>
                            <a:srgbClr val="17262B"/>
                          </a:solidFill>
                        </a:rPr>
                        <a:t>MD-26 → MD-27</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1050" dirty="0">
                          <a:solidFill>
                            <a:srgbClr val="17262B"/>
                          </a:solidFill>
                        </a:rPr>
                        <a:t>MD-26 → MD-27</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1050" dirty="0">
                          <a:solidFill>
                            <a:srgbClr val="17262B"/>
                          </a:solidFill>
                        </a:rPr>
                        <a:t>Central</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r>
              <a:tr h="420624">
                <a:tc>
                  <a:txBody>
                    <a:bodyPr/>
                    <a:lstStyle/>
                    <a:p>
                      <a:pPr indent="0" marL="0">
                        <a:buNone/>
                      </a:pPr>
                      <a:r>
                        <a:rPr lang="en-US" sz="1050" b="1" dirty="0">
                          <a:solidFill>
                            <a:srgbClr val="0E3B3D"/>
                          </a:solidFill>
                        </a:rPr>
                        <a:t>Sale, stocking, distribution</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050" dirty="0">
                          <a:solidFill>
                            <a:srgbClr val="17262B"/>
                          </a:solidFill>
                        </a:rPr>
                        <a:t>MD-41 → MD-42 (Rule 87A)</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c>
                  <a:txBody>
                    <a:bodyPr/>
                    <a:lstStyle/>
                    <a:p>
                      <a:pPr indent="0" marL="0">
                        <a:buNone/>
                      </a:pPr>
                      <a:r>
                        <a:rPr lang="en-US" sz="1050" dirty="0">
                          <a:solidFill>
                            <a:srgbClr val="17262B"/>
                          </a:solidFill>
                        </a:rPr>
                        <a:t>MD-41 → MD-42 (Rule 87A)</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c>
                  <a:txBody>
                    <a:bodyPr/>
                    <a:lstStyle/>
                    <a:p>
                      <a:pPr indent="0" marL="0">
                        <a:buNone/>
                      </a:pPr>
                      <a:r>
                        <a:rPr lang="en-US" sz="1050" dirty="0">
                          <a:solidFill>
                            <a:srgbClr val="17262B"/>
                          </a:solidFill>
                        </a:rPr>
                        <a:t>MD-41 → MD-42 (Rule 87A)</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c>
                  <a:txBody>
                    <a:bodyPr/>
                    <a:lstStyle/>
                    <a:p>
                      <a:pPr indent="0" marL="0">
                        <a:buNone/>
                      </a:pPr>
                      <a:r>
                        <a:rPr lang="en-US" sz="1050" dirty="0">
                          <a:solidFill>
                            <a:srgbClr val="17262B"/>
                          </a:solidFill>
                        </a:rPr>
                        <a:t>State</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r>
            </a:tbl>
          </a:graphicData>
        </a:graphic>
      </p:graphicFrame>
      <p:sp>
        <p:nvSpPr>
          <p:cNvPr id="13" name="Pill A/B licence: ₹5,000/site + ₹500/device"/>
          <p:cNvSpPr/>
          <p:nvPr/>
        </p:nvSpPr>
        <p:spPr>
          <a:xfrm>
            <a:off x="548640" y="5138928"/>
            <a:ext cx="2148840" cy="292608"/>
          </a:xfrm>
          <a:prstGeom prst="roundRect">
            <a:avLst>
              <a:gd name="adj" fmla="val 50000"/>
            </a:avLst>
          </a:prstGeom>
          <a:solidFill>
            <a:schemeClr val="accent1"/>
          </a:solidFill>
          <a:ln w="15875">
            <a:solidFill>
              <a:schemeClr val="accent1"/>
            </a:solidFill>
            <a:prstDash val="solid"/>
          </a:ln>
        </p:spPr>
      </p:sp>
      <p:sp>
        <p:nvSpPr>
          <p:cNvPr id="14" name="Text 10"/>
          <p:cNvSpPr txBox="1"/>
          <p:nvPr/>
        </p:nvSpPr>
        <p:spPr>
          <a:xfrm>
            <a:off x="548640" y="5138928"/>
            <a:ext cx="2148840" cy="292608"/>
          </a:xfrm>
          <a:prstGeom prst="rect">
            <a:avLst/>
          </a:prstGeom>
          <a:noFill/>
          <a:ln/>
        </p:spPr>
        <p:txBody>
          <a:bodyPr wrap="square" lIns="0" tIns="0" rIns="0" bIns="0" rtlCol="0" anchor="ctr"/>
          <a:lstStyle/>
          <a:p>
            <a:pPr algn="ctr" indent="0" marL="0">
              <a:buNone/>
            </a:pPr>
            <a:r>
              <a:rPr lang="en-US" sz="950" b="1" dirty="0">
                <a:solidFill>
                  <a:schemeClr val="bg1"/>
                </a:solidFill>
              </a:rPr>
              <a:t>A/B licence: ₹5,000/site + ₹500/device</a:t>
            </a:r>
            <a:endParaRPr lang="en-US" sz="950" dirty="0"/>
          </a:p>
        </p:txBody>
      </p:sp>
      <p:sp>
        <p:nvSpPr>
          <p:cNvPr id="15" name="Pill C/D licence: ₹50,000/site + ₹1,000/device"/>
          <p:cNvSpPr/>
          <p:nvPr/>
        </p:nvSpPr>
        <p:spPr>
          <a:xfrm>
            <a:off x="2852928" y="5138928"/>
            <a:ext cx="2331720" cy="292608"/>
          </a:xfrm>
          <a:prstGeom prst="roundRect">
            <a:avLst>
              <a:gd name="adj" fmla="val 50000"/>
            </a:avLst>
          </a:prstGeom>
          <a:solidFill>
            <a:schemeClr val="accent4"/>
          </a:solidFill>
          <a:ln w="15875">
            <a:solidFill>
              <a:schemeClr val="accent4"/>
            </a:solidFill>
            <a:prstDash val="solid"/>
          </a:ln>
        </p:spPr>
      </p:sp>
      <p:sp>
        <p:nvSpPr>
          <p:cNvPr id="16" name="Text 12"/>
          <p:cNvSpPr txBox="1"/>
          <p:nvPr/>
        </p:nvSpPr>
        <p:spPr>
          <a:xfrm>
            <a:off x="2852928" y="5138928"/>
            <a:ext cx="2331720" cy="292608"/>
          </a:xfrm>
          <a:prstGeom prst="rect">
            <a:avLst/>
          </a:prstGeom>
          <a:noFill/>
          <a:ln/>
        </p:spPr>
        <p:txBody>
          <a:bodyPr wrap="square" lIns="0" tIns="0" rIns="0" bIns="0" rtlCol="0" anchor="ctr"/>
          <a:lstStyle/>
          <a:p>
            <a:pPr algn="ctr" indent="0" marL="0">
              <a:buNone/>
            </a:pPr>
            <a:r>
              <a:rPr lang="en-US" sz="950" b="1" dirty="0">
                <a:solidFill>
                  <a:schemeClr val="bg1"/>
                </a:solidFill>
              </a:rPr>
              <a:t>C/D licence: ₹50,000/site + ₹1,000/device</a:t>
            </a:r>
            <a:endParaRPr lang="en-US" sz="950" dirty="0"/>
          </a:p>
        </p:txBody>
      </p:sp>
      <p:sp>
        <p:nvSpPr>
          <p:cNvPr id="17" name="Pill Import: US$1,000–3,000/site + $50–1,500/device"/>
          <p:cNvSpPr/>
          <p:nvPr/>
        </p:nvSpPr>
        <p:spPr>
          <a:xfrm>
            <a:off x="5340096" y="5138928"/>
            <a:ext cx="2834640" cy="292608"/>
          </a:xfrm>
          <a:prstGeom prst="roundRect">
            <a:avLst>
              <a:gd name="adj" fmla="val 50000"/>
            </a:avLst>
          </a:prstGeom>
          <a:solidFill>
            <a:schemeClr val="accent4"/>
          </a:solidFill>
          <a:ln w="15875">
            <a:solidFill>
              <a:schemeClr val="accent4"/>
            </a:solidFill>
            <a:prstDash val="solid"/>
          </a:ln>
        </p:spPr>
      </p:sp>
      <p:sp>
        <p:nvSpPr>
          <p:cNvPr id="18" name="Text 14"/>
          <p:cNvSpPr txBox="1"/>
          <p:nvPr/>
        </p:nvSpPr>
        <p:spPr>
          <a:xfrm>
            <a:off x="5340096" y="5138928"/>
            <a:ext cx="2834640" cy="292608"/>
          </a:xfrm>
          <a:prstGeom prst="rect">
            <a:avLst/>
          </a:prstGeom>
          <a:noFill/>
          <a:ln/>
        </p:spPr>
        <p:txBody>
          <a:bodyPr wrap="square" lIns="0" tIns="0" rIns="0" bIns="0" rtlCol="0" anchor="ctr"/>
          <a:lstStyle/>
          <a:p>
            <a:pPr algn="ctr" indent="0" marL="0">
              <a:buNone/>
            </a:pPr>
            <a:r>
              <a:rPr lang="en-US" sz="950" b="1" dirty="0">
                <a:solidFill>
                  <a:schemeClr val="bg1"/>
                </a:solidFill>
              </a:rPr>
              <a:t>Import: US$1,000–3,000/site + $50–1,500/device</a:t>
            </a:r>
            <a:endParaRPr lang="en-US" sz="950" dirty="0"/>
          </a:p>
        </p:txBody>
      </p:sp>
      <p:sp>
        <p:nvSpPr>
          <p:cNvPr id="19" name="Pill MD-13: ₹500/device"/>
          <p:cNvSpPr/>
          <p:nvPr/>
        </p:nvSpPr>
        <p:spPr>
          <a:xfrm>
            <a:off x="8330184" y="5138928"/>
            <a:ext cx="1463040" cy="292608"/>
          </a:xfrm>
          <a:prstGeom prst="roundRect">
            <a:avLst>
              <a:gd name="adj" fmla="val 50000"/>
            </a:avLst>
          </a:prstGeom>
          <a:solidFill>
            <a:schemeClr val="accent4"/>
          </a:solidFill>
          <a:ln w="15875">
            <a:solidFill>
              <a:schemeClr val="accent4"/>
            </a:solidFill>
            <a:prstDash val="solid"/>
          </a:ln>
        </p:spPr>
      </p:sp>
      <p:sp>
        <p:nvSpPr>
          <p:cNvPr id="20" name="Text 16"/>
          <p:cNvSpPr txBox="1"/>
          <p:nvPr/>
        </p:nvSpPr>
        <p:spPr>
          <a:xfrm>
            <a:off x="8330184" y="5138928"/>
            <a:ext cx="1463040" cy="292608"/>
          </a:xfrm>
          <a:prstGeom prst="rect">
            <a:avLst/>
          </a:prstGeom>
          <a:noFill/>
          <a:ln/>
        </p:spPr>
        <p:txBody>
          <a:bodyPr wrap="square" lIns="0" tIns="0" rIns="0" bIns="0" rtlCol="0" anchor="ctr"/>
          <a:lstStyle/>
          <a:p>
            <a:pPr algn="ctr" indent="0" marL="0">
              <a:buNone/>
            </a:pPr>
            <a:r>
              <a:rPr lang="en-US" sz="950" b="1" dirty="0">
                <a:solidFill>
                  <a:schemeClr val="bg1"/>
                </a:solidFill>
              </a:rPr>
              <a:t>MD-13: ₹500/device</a:t>
            </a:r>
            <a:endParaRPr lang="en-US" sz="950" dirty="0"/>
          </a:p>
        </p:txBody>
      </p:sp>
      <p:sp>
        <p:nvSpPr>
          <p:cNvPr id="21" name="Pill MD-41/42: ₹3,000"/>
          <p:cNvSpPr/>
          <p:nvPr/>
        </p:nvSpPr>
        <p:spPr>
          <a:xfrm>
            <a:off x="9948672" y="5138928"/>
            <a:ext cx="1691640" cy="292608"/>
          </a:xfrm>
          <a:prstGeom prst="roundRect">
            <a:avLst>
              <a:gd name="adj" fmla="val 50000"/>
            </a:avLst>
          </a:prstGeom>
          <a:solidFill>
            <a:schemeClr val="accent1"/>
          </a:solidFill>
          <a:ln w="15875">
            <a:solidFill>
              <a:schemeClr val="accent1"/>
            </a:solidFill>
            <a:prstDash val="solid"/>
          </a:ln>
        </p:spPr>
      </p:sp>
      <p:sp>
        <p:nvSpPr>
          <p:cNvPr id="22" name="Text 18"/>
          <p:cNvSpPr txBox="1"/>
          <p:nvPr/>
        </p:nvSpPr>
        <p:spPr>
          <a:xfrm>
            <a:off x="9948672" y="5138928"/>
            <a:ext cx="1691640" cy="292608"/>
          </a:xfrm>
          <a:prstGeom prst="rect">
            <a:avLst/>
          </a:prstGeom>
          <a:noFill/>
          <a:ln/>
        </p:spPr>
        <p:txBody>
          <a:bodyPr wrap="square" lIns="0" tIns="0" rIns="0" bIns="0" rtlCol="0" anchor="ctr"/>
          <a:lstStyle/>
          <a:p>
            <a:pPr algn="ctr" indent="0" marL="0">
              <a:buNone/>
            </a:pPr>
            <a:r>
              <a:rPr lang="en-US" sz="950" b="1" dirty="0">
                <a:solidFill>
                  <a:schemeClr val="bg1"/>
                </a:solidFill>
              </a:rPr>
              <a:t>MD-41/42: ₹3,000</a:t>
            </a:r>
            <a:endParaRPr lang="en-US" sz="950" dirty="0"/>
          </a:p>
        </p:txBody>
      </p:sp>
      <p:sp>
        <p:nvSpPr>
          <p:cNvPr id="23" name="Callout"/>
          <p:cNvSpPr/>
          <p:nvPr/>
        </p:nvSpPr>
        <p:spPr>
          <a:xfrm>
            <a:off x="548640" y="5596128"/>
            <a:ext cx="11094415" cy="566928"/>
          </a:xfrm>
          <a:prstGeom prst="roundRect">
            <a:avLst>
              <a:gd name="adj" fmla="val 12903"/>
            </a:avLst>
          </a:prstGeom>
          <a:solidFill>
            <a:schemeClr val="accent2">
              <a:alpha val="12000"/>
            </a:schemeClr>
          </a:solidFill>
          <a:ln/>
        </p:spPr>
      </p:sp>
      <p:sp>
        <p:nvSpPr>
          <p:cNvPr id="24" name="Callout bar"/>
          <p:cNvSpPr/>
          <p:nvPr/>
        </p:nvSpPr>
        <p:spPr>
          <a:xfrm>
            <a:off x="548640" y="5687568"/>
            <a:ext cx="64008" cy="384048"/>
          </a:xfrm>
          <a:prstGeom prst="rect">
            <a:avLst/>
          </a:prstGeom>
          <a:solidFill>
            <a:schemeClr val="accent2"/>
          </a:solidFill>
          <a:ln/>
        </p:spPr>
      </p:sp>
      <p:sp>
        <p:nvSpPr>
          <p:cNvPr id="25" name="Text 21"/>
          <p:cNvSpPr txBox="1"/>
          <p:nvPr/>
        </p:nvSpPr>
        <p:spPr>
          <a:xfrm>
            <a:off x="822960" y="5596128"/>
            <a:ext cx="10682935" cy="566928"/>
          </a:xfrm>
          <a:prstGeom prst="rect">
            <a:avLst/>
          </a:prstGeom>
          <a:noFill/>
          <a:ln/>
        </p:spPr>
        <p:txBody>
          <a:bodyPr wrap="square" lIns="0" tIns="0" rIns="0" bIns="0" rtlCol="0" anchor="ctr"/>
          <a:lstStyle/>
          <a:p>
            <a:pPr indent="0" marL="0">
              <a:buNone/>
            </a:pPr>
            <a:r>
              <a:rPr lang="en-US" sz="1100" b="1" dirty="0">
                <a:solidFill>
                  <a:schemeClr val="tx1"/>
                </a:solidFill>
              </a:rPr>
              <a:t>Teal = State Licensing Authority · Indigo = Central (CDSCO).  </a:t>
            </a:r>
            <a:pPr indent="0" marL="0">
              <a:buNone/>
            </a:pPr>
            <a:r>
              <a:rPr lang="en-US" sz="1100" b="1" dirty="0">
                <a:solidFill>
                  <a:schemeClr val="tx1"/>
                </a:solidFill>
              </a:rPr>
              <a:t>Licences are perpetual: pay the retention fee (same amount) every 5 years; late fee 2% a month; a manufacturing licence lapses after 180 days unpaid. Clinical-investigation fee: see the Second Schedule (verify).</a:t>
            </a:r>
            <a:endParaRPr lang="en-US" sz="11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INDIA · GETTING A LICENCE</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The route to a manufacturing licence</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MDR-2017 Rules 20–23, 26, 43A and Fifth Schedule; BIS IS 23485; CDSCO fee help-file; draft G.S.R. 515(E) 23 Jun 2026; CDSCO retention-fee notices; Standing Committee on Health 170th report (16 Mar 2025); consultancy estimates (Corpseed, IncorpX)</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sp>
        <p:nvSpPr>
          <p:cNvPr id="12" name="Step 1 · Build the QMS"/>
          <p:cNvSpPr/>
          <p:nvPr/>
        </p:nvSpPr>
        <p:spPr>
          <a:xfrm>
            <a:off x="548640" y="1691640"/>
            <a:ext cx="2160361" cy="640080"/>
          </a:xfrm>
          <a:prstGeom prst="homePlate">
            <a:avLst/>
          </a:prstGeom>
          <a:solidFill>
            <a:schemeClr val="accent1"/>
          </a:solidFill>
          <a:ln/>
        </p:spPr>
      </p:sp>
      <p:sp>
        <p:nvSpPr>
          <p:cNvPr id="13" name="Text 10"/>
          <p:cNvSpPr txBox="1"/>
          <p:nvPr/>
        </p:nvSpPr>
        <p:spPr>
          <a:xfrm>
            <a:off x="676656" y="1691640"/>
            <a:ext cx="1794601" cy="640080"/>
          </a:xfrm>
          <a:prstGeom prst="rect">
            <a:avLst/>
          </a:prstGeom>
          <a:noFill/>
          <a:ln/>
        </p:spPr>
        <p:txBody>
          <a:bodyPr wrap="square" lIns="0" tIns="0" rIns="0" bIns="0" rtlCol="0" anchor="ctr"/>
          <a:lstStyle/>
          <a:p>
            <a:pPr indent="0" marL="0">
              <a:buNone/>
            </a:pPr>
            <a:r>
              <a:rPr lang="en-US" sz="1200" b="1" dirty="0">
                <a:solidFill>
                  <a:schemeClr val="bg1"/>
                </a:solidFill>
              </a:rPr>
              <a:t>1 · Build the QMS</a:t>
            </a:r>
            <a:endParaRPr lang="en-US" sz="1200" dirty="0"/>
          </a:p>
        </p:txBody>
      </p:sp>
      <p:sp>
        <p:nvSpPr>
          <p:cNvPr id="14" name="Text 11"/>
          <p:cNvSpPr txBox="1"/>
          <p:nvPr/>
        </p:nvSpPr>
        <p:spPr>
          <a:xfrm>
            <a:off x="594360" y="2441448"/>
            <a:ext cx="2023201" cy="1508760"/>
          </a:xfrm>
          <a:prstGeom prst="rect">
            <a:avLst/>
          </a:prstGeom>
          <a:noFill/>
          <a:ln/>
        </p:spPr>
        <p:txBody>
          <a:bodyPr wrap="square" lIns="0" tIns="0" rIns="0" bIns="0" rtlCol="0" anchor="t"/>
          <a:lstStyle/>
          <a:p>
            <a:pPr indent="0" marL="0">
              <a:spcAft>
                <a:spcPts val="200"/>
              </a:spcAft>
              <a:buNone/>
            </a:pPr>
            <a:r>
              <a:rPr lang="en-US" sz="1050" dirty="0">
                <a:solidFill>
                  <a:schemeClr val="accent6"/>
                </a:solidFill>
              </a:rPr>
              <a:t>Fifth Schedule (ISO 13485-aligned; BIS IS 23485 bundles QMS and Essential Principles). A certificate is not a legal precondition, but auditors expect alignment. Start-ups: 3–6 months, ₹3–8 lakh (consultancy estimate).</a:t>
            </a:r>
            <a:endParaRPr lang="en-US" sz="1050" dirty="0"/>
          </a:p>
        </p:txBody>
      </p:sp>
      <p:sp>
        <p:nvSpPr>
          <p:cNvPr id="15" name="Step 2 · Apply online"/>
          <p:cNvSpPr/>
          <p:nvPr/>
        </p:nvSpPr>
        <p:spPr>
          <a:xfrm>
            <a:off x="2782153" y="1691640"/>
            <a:ext cx="2160361" cy="640080"/>
          </a:xfrm>
          <a:prstGeom prst="chevron">
            <a:avLst/>
          </a:prstGeom>
          <a:solidFill>
            <a:schemeClr val="accent4"/>
          </a:solidFill>
          <a:ln/>
        </p:spPr>
      </p:sp>
      <p:sp>
        <p:nvSpPr>
          <p:cNvPr id="16" name="Text 13"/>
          <p:cNvSpPr txBox="1"/>
          <p:nvPr/>
        </p:nvSpPr>
        <p:spPr>
          <a:xfrm>
            <a:off x="3111337" y="1691640"/>
            <a:ext cx="1611721" cy="640080"/>
          </a:xfrm>
          <a:prstGeom prst="rect">
            <a:avLst/>
          </a:prstGeom>
          <a:noFill/>
          <a:ln/>
        </p:spPr>
        <p:txBody>
          <a:bodyPr wrap="square" lIns="0" tIns="0" rIns="0" bIns="0" rtlCol="0" anchor="ctr"/>
          <a:lstStyle/>
          <a:p>
            <a:pPr indent="0" marL="0">
              <a:buNone/>
            </a:pPr>
            <a:r>
              <a:rPr lang="en-US" sz="1200" b="1" dirty="0">
                <a:solidFill>
                  <a:schemeClr val="bg1"/>
                </a:solidFill>
              </a:rPr>
              <a:t>2 · Apply online</a:t>
            </a:r>
            <a:endParaRPr lang="en-US" sz="1200" dirty="0"/>
          </a:p>
        </p:txBody>
      </p:sp>
      <p:sp>
        <p:nvSpPr>
          <p:cNvPr id="17" name="Text 14"/>
          <p:cNvSpPr txBox="1"/>
          <p:nvPr/>
        </p:nvSpPr>
        <p:spPr>
          <a:xfrm>
            <a:off x="2827873" y="2441448"/>
            <a:ext cx="2023201" cy="1508760"/>
          </a:xfrm>
          <a:prstGeom prst="rect">
            <a:avLst/>
          </a:prstGeom>
          <a:noFill/>
          <a:ln/>
        </p:spPr>
        <p:txBody>
          <a:bodyPr wrap="square" lIns="0" tIns="0" rIns="0" bIns="0" rtlCol="0" anchor="t"/>
          <a:lstStyle/>
          <a:p>
            <a:pPr indent="0" marL="0">
              <a:spcAft>
                <a:spcPts val="200"/>
              </a:spcAft>
              <a:buNone/>
            </a:pPr>
            <a:r>
              <a:rPr lang="en-US" sz="1050" dirty="0">
                <a:solidFill>
                  <a:schemeClr val="accent6"/>
                </a:solidFill>
              </a:rPr>
              <a:t>cdscomdonline.gov.in: Form MD-3 (Class A/B, to the State) or MD-7 (Class C/D, to CDSCO) with site and device details and the Essential Principles checklist.</a:t>
            </a:r>
            <a:endParaRPr lang="en-US" sz="1050" dirty="0"/>
          </a:p>
        </p:txBody>
      </p:sp>
      <p:sp>
        <p:nvSpPr>
          <p:cNvPr id="18" name="Step 3 · Audit or inspection"/>
          <p:cNvSpPr/>
          <p:nvPr/>
        </p:nvSpPr>
        <p:spPr>
          <a:xfrm>
            <a:off x="5015667" y="1691640"/>
            <a:ext cx="2160361" cy="640080"/>
          </a:xfrm>
          <a:prstGeom prst="chevron">
            <a:avLst/>
          </a:prstGeom>
          <a:solidFill>
            <a:schemeClr val="accent4"/>
          </a:solidFill>
          <a:ln/>
        </p:spPr>
      </p:sp>
      <p:sp>
        <p:nvSpPr>
          <p:cNvPr id="19" name="Text 16"/>
          <p:cNvSpPr txBox="1"/>
          <p:nvPr/>
        </p:nvSpPr>
        <p:spPr>
          <a:xfrm>
            <a:off x="5344851" y="1691640"/>
            <a:ext cx="1611721" cy="640080"/>
          </a:xfrm>
          <a:prstGeom prst="rect">
            <a:avLst/>
          </a:prstGeom>
          <a:noFill/>
          <a:ln/>
        </p:spPr>
        <p:txBody>
          <a:bodyPr wrap="square" lIns="0" tIns="0" rIns="0" bIns="0" rtlCol="0" anchor="ctr"/>
          <a:lstStyle/>
          <a:p>
            <a:pPr indent="0" marL="0">
              <a:buNone/>
            </a:pPr>
            <a:r>
              <a:rPr lang="en-US" sz="1200" b="1" dirty="0">
                <a:solidFill>
                  <a:schemeClr val="bg1"/>
                </a:solidFill>
              </a:rPr>
              <a:t>3 · Audit or inspection</a:t>
            </a:r>
            <a:endParaRPr lang="en-US" sz="1200" dirty="0"/>
          </a:p>
        </p:txBody>
      </p:sp>
      <p:sp>
        <p:nvSpPr>
          <p:cNvPr id="20" name="Text 17"/>
          <p:cNvSpPr txBox="1"/>
          <p:nvPr/>
        </p:nvSpPr>
        <p:spPr>
          <a:xfrm>
            <a:off x="5061387" y="2441448"/>
            <a:ext cx="2023201" cy="1508760"/>
          </a:xfrm>
          <a:prstGeom prst="rect">
            <a:avLst/>
          </a:prstGeom>
          <a:noFill/>
          <a:ln/>
        </p:spPr>
        <p:txBody>
          <a:bodyPr wrap="square" lIns="0" tIns="0" rIns="0" bIns="0" rtlCol="0" anchor="t"/>
          <a:lstStyle/>
          <a:p>
            <a:pPr indent="0" marL="0">
              <a:spcAft>
                <a:spcPts val="200"/>
              </a:spcAft>
              <a:buNone/>
            </a:pPr>
            <a:r>
              <a:rPr lang="en-US" sz="1050" dirty="0">
                <a:solidFill>
                  <a:schemeClr val="accent6"/>
                </a:solidFill>
              </a:rPr>
              <a:t>A: licence on documents within 45 days; notified-body audit within 120 days after. B: notified-body audit within 90 days, before grant. C/D: CDSCO Medical Device Officers inspect within 60 days (Rule 23(1)).</a:t>
            </a:r>
            <a:endParaRPr lang="en-US" sz="1050" dirty="0"/>
          </a:p>
        </p:txBody>
      </p:sp>
      <p:sp>
        <p:nvSpPr>
          <p:cNvPr id="21" name="Step 4 · Licence"/>
          <p:cNvSpPr/>
          <p:nvPr/>
        </p:nvSpPr>
        <p:spPr>
          <a:xfrm>
            <a:off x="7249180" y="1691640"/>
            <a:ext cx="2160361" cy="640080"/>
          </a:xfrm>
          <a:prstGeom prst="chevron">
            <a:avLst/>
          </a:prstGeom>
          <a:solidFill>
            <a:schemeClr val="accent2"/>
          </a:solidFill>
          <a:ln/>
        </p:spPr>
      </p:sp>
      <p:sp>
        <p:nvSpPr>
          <p:cNvPr id="22" name="Text 19"/>
          <p:cNvSpPr txBox="1"/>
          <p:nvPr/>
        </p:nvSpPr>
        <p:spPr>
          <a:xfrm>
            <a:off x="7578364" y="1691640"/>
            <a:ext cx="1611721" cy="640080"/>
          </a:xfrm>
          <a:prstGeom prst="rect">
            <a:avLst/>
          </a:prstGeom>
          <a:noFill/>
          <a:ln/>
        </p:spPr>
        <p:txBody>
          <a:bodyPr wrap="square" lIns="0" tIns="0" rIns="0" bIns="0" rtlCol="0" anchor="ctr"/>
          <a:lstStyle/>
          <a:p>
            <a:pPr indent="0" marL="0">
              <a:buNone/>
            </a:pPr>
            <a:r>
              <a:rPr lang="en-US" sz="1200" b="1" dirty="0">
                <a:solidFill>
                  <a:schemeClr val="bg1"/>
                </a:solidFill>
              </a:rPr>
              <a:t>4 · Licence</a:t>
            </a:r>
            <a:endParaRPr lang="en-US" sz="1200" dirty="0"/>
          </a:p>
        </p:txBody>
      </p:sp>
      <p:sp>
        <p:nvSpPr>
          <p:cNvPr id="23" name="Text 20"/>
          <p:cNvSpPr txBox="1"/>
          <p:nvPr/>
        </p:nvSpPr>
        <p:spPr>
          <a:xfrm>
            <a:off x="7294900" y="2441448"/>
            <a:ext cx="2023201" cy="1508760"/>
          </a:xfrm>
          <a:prstGeom prst="rect">
            <a:avLst/>
          </a:prstGeom>
          <a:noFill/>
          <a:ln/>
        </p:spPr>
        <p:txBody>
          <a:bodyPr wrap="square" lIns="0" tIns="0" rIns="0" bIns="0" rtlCol="0" anchor="t"/>
          <a:lstStyle/>
          <a:p>
            <a:pPr indent="0" marL="0">
              <a:spcAft>
                <a:spcPts val="200"/>
              </a:spcAft>
              <a:buNone/>
            </a:pPr>
            <a:r>
              <a:rPr lang="en-US" sz="1050" dirty="0">
                <a:solidFill>
                  <a:schemeClr val="accent6"/>
                </a:solidFill>
              </a:rPr>
              <a:t>MD-5 (State, A/B) or MD-9 (Central, C/D). C/D decision within 45 days of the inspection report (Rule 21(4)). Perpetual: no renewal application.</a:t>
            </a:r>
            <a:endParaRPr lang="en-US" sz="1050" dirty="0"/>
          </a:p>
        </p:txBody>
      </p:sp>
      <p:sp>
        <p:nvSpPr>
          <p:cNvPr id="24" name="Step 5 · Keep it"/>
          <p:cNvSpPr/>
          <p:nvPr/>
        </p:nvSpPr>
        <p:spPr>
          <a:xfrm>
            <a:off x="9482694" y="1691640"/>
            <a:ext cx="2160361" cy="640080"/>
          </a:xfrm>
          <a:prstGeom prst="chevron">
            <a:avLst/>
          </a:prstGeom>
          <a:solidFill>
            <a:schemeClr val="accent1"/>
          </a:solidFill>
          <a:ln/>
        </p:spPr>
      </p:sp>
      <p:sp>
        <p:nvSpPr>
          <p:cNvPr id="25" name="Text 22"/>
          <p:cNvSpPr txBox="1"/>
          <p:nvPr/>
        </p:nvSpPr>
        <p:spPr>
          <a:xfrm>
            <a:off x="9811878" y="1691640"/>
            <a:ext cx="1611721" cy="640080"/>
          </a:xfrm>
          <a:prstGeom prst="rect">
            <a:avLst/>
          </a:prstGeom>
          <a:noFill/>
          <a:ln/>
        </p:spPr>
        <p:txBody>
          <a:bodyPr wrap="square" lIns="0" tIns="0" rIns="0" bIns="0" rtlCol="0" anchor="ctr"/>
          <a:lstStyle/>
          <a:p>
            <a:pPr indent="0" marL="0">
              <a:buNone/>
            </a:pPr>
            <a:r>
              <a:rPr lang="en-US" sz="1200" b="1" dirty="0">
                <a:solidFill>
                  <a:schemeClr val="bg1"/>
                </a:solidFill>
              </a:rPr>
              <a:t>5 · Keep it</a:t>
            </a:r>
            <a:endParaRPr lang="en-US" sz="1200" dirty="0"/>
          </a:p>
        </p:txBody>
      </p:sp>
      <p:sp>
        <p:nvSpPr>
          <p:cNvPr id="26" name="Text 23"/>
          <p:cNvSpPr txBox="1"/>
          <p:nvPr/>
        </p:nvSpPr>
        <p:spPr>
          <a:xfrm>
            <a:off x="9528414" y="2441448"/>
            <a:ext cx="2023201" cy="1508760"/>
          </a:xfrm>
          <a:prstGeom prst="rect">
            <a:avLst/>
          </a:prstGeom>
          <a:noFill/>
          <a:ln/>
        </p:spPr>
        <p:txBody>
          <a:bodyPr wrap="square" lIns="0" tIns="0" rIns="0" bIns="0" rtlCol="0" anchor="t"/>
          <a:lstStyle/>
          <a:p>
            <a:pPr indent="0" marL="0">
              <a:spcAft>
                <a:spcPts val="200"/>
              </a:spcAft>
              <a:buNone/>
            </a:pPr>
            <a:r>
              <a:rPr lang="en-US" sz="1050" dirty="0">
                <a:solidFill>
                  <a:schemeClr val="accent6"/>
                </a:solidFill>
              </a:rPr>
              <a:t>Retention fee every 5 years (same amount); 2% a month late fee; deemed cancelled after 180 days unpaid. Rule 43A: suspension or cancellation after show-cause.</a:t>
            </a:r>
            <a:endParaRPr lang="en-US" sz="1050" dirty="0"/>
          </a:p>
        </p:txBody>
      </p:sp>
      <p:sp>
        <p:nvSpPr>
          <p:cNvPr id="27" name="Stat Class A/B licence fee"/>
          <p:cNvSpPr/>
          <p:nvPr/>
        </p:nvSpPr>
        <p:spPr>
          <a:xfrm>
            <a:off x="548640" y="4114800"/>
            <a:ext cx="2622728" cy="1481328"/>
          </a:xfrm>
          <a:prstGeom prst="roundRect">
            <a:avLst>
              <a:gd name="adj" fmla="val 7407"/>
            </a:avLst>
          </a:prstGeom>
          <a:solidFill>
            <a:schemeClr val="bg1">
              <a:alpha val="10000"/>
            </a:schemeClr>
          </a:solidFill>
          <a:ln w="12700">
            <a:solidFill>
              <a:schemeClr val="accent6"/>
            </a:solidFill>
            <a:prstDash val="solid"/>
          </a:ln>
        </p:spPr>
      </p:sp>
      <p:sp>
        <p:nvSpPr>
          <p:cNvPr id="28" name="Stat accent"/>
          <p:cNvSpPr/>
          <p:nvPr/>
        </p:nvSpPr>
        <p:spPr>
          <a:xfrm>
            <a:off x="548640" y="4343400"/>
            <a:ext cx="64008" cy="1024128"/>
          </a:xfrm>
          <a:prstGeom prst="rect">
            <a:avLst/>
          </a:prstGeom>
          <a:solidFill>
            <a:schemeClr val="accent1"/>
          </a:solidFill>
          <a:ln/>
        </p:spPr>
      </p:sp>
      <p:sp>
        <p:nvSpPr>
          <p:cNvPr id="29" name="Icon disc LuIndianRupee"/>
          <p:cNvSpPr/>
          <p:nvPr/>
        </p:nvSpPr>
        <p:spPr>
          <a:xfrm>
            <a:off x="2604440" y="4297680"/>
            <a:ext cx="402336" cy="402336"/>
          </a:xfrm>
          <a:prstGeom prst="ellipse">
            <a:avLst/>
          </a:prstGeom>
          <a:solidFill>
            <a:schemeClr val="accent1"/>
          </a:solidFill>
          <a:ln/>
        </p:spPr>
      </p:sp>
      <p:pic>
        <p:nvPicPr>
          <p:cNvPr id="30" name="Image 0" descr="IndianRupee icon">    </p:cNvPr>
          <p:cNvPicPr>
            <a:picLocks noChangeAspect="1"/>
          </p:cNvPicPr>
          <p:nvPr/>
        </p:nvPicPr>
        <p:blipFill>
          <a:blip r:embed="rId1"/>
          <a:stretch>
            <a:fillRect/>
          </a:stretch>
        </p:blipFill>
        <p:spPr>
          <a:xfrm>
            <a:off x="2692954" y="4386194"/>
            <a:ext cx="225308" cy="225308"/>
          </a:xfrm>
          <a:prstGeom prst="rect">
            <a:avLst/>
          </a:prstGeom>
        </p:spPr>
      </p:pic>
      <p:sp>
        <p:nvSpPr>
          <p:cNvPr id="31" name="Text 27"/>
          <p:cNvSpPr txBox="1"/>
          <p:nvPr/>
        </p:nvSpPr>
        <p:spPr>
          <a:xfrm>
            <a:off x="777240" y="4251960"/>
            <a:ext cx="1754048" cy="685800"/>
          </a:xfrm>
          <a:prstGeom prst="rect">
            <a:avLst/>
          </a:prstGeom>
          <a:noFill/>
          <a:ln/>
        </p:spPr>
        <p:txBody>
          <a:bodyPr wrap="square" lIns="0" tIns="0" rIns="0" bIns="0" rtlCol="0" anchor="ctr"/>
          <a:lstStyle/>
          <a:p>
            <a:pPr indent="0" marL="0">
              <a:buNone/>
            </a:pPr>
            <a:r>
              <a:rPr lang="en-US" sz="1488" b="1" dirty="0">
                <a:solidFill>
                  <a:schemeClr val="bg1"/>
                </a:solidFill>
              </a:rPr>
              <a:t>₹5,000 + ₹500</a:t>
            </a:r>
            <a:endParaRPr lang="en-US" sz="1488" dirty="0"/>
          </a:p>
        </p:txBody>
      </p:sp>
      <p:sp>
        <p:nvSpPr>
          <p:cNvPr id="32" name="Text 28"/>
          <p:cNvSpPr txBox="1"/>
          <p:nvPr/>
        </p:nvSpPr>
        <p:spPr>
          <a:xfrm>
            <a:off x="777240" y="4937760"/>
            <a:ext cx="2256968" cy="292608"/>
          </a:xfrm>
          <a:prstGeom prst="rect">
            <a:avLst/>
          </a:prstGeom>
          <a:noFill/>
          <a:ln/>
        </p:spPr>
        <p:txBody>
          <a:bodyPr wrap="square" lIns="0" tIns="0" rIns="0" bIns="0" rtlCol="0" anchor="t"/>
          <a:lstStyle/>
          <a:p>
            <a:pPr indent="0" marL="0">
              <a:buNone/>
            </a:pPr>
            <a:r>
              <a:rPr lang="en-US" sz="1200" b="1" dirty="0">
                <a:solidFill>
                  <a:schemeClr val="accent6"/>
                </a:solidFill>
              </a:rPr>
              <a:t>Class A/B licence fee</a:t>
            </a:r>
            <a:endParaRPr lang="en-US" sz="1200" dirty="0"/>
          </a:p>
        </p:txBody>
      </p:sp>
      <p:sp>
        <p:nvSpPr>
          <p:cNvPr id="33" name="Text 29"/>
          <p:cNvSpPr txBox="1"/>
          <p:nvPr/>
        </p:nvSpPr>
        <p:spPr>
          <a:xfrm>
            <a:off x="777240" y="5212080"/>
            <a:ext cx="2256968" cy="338328"/>
          </a:xfrm>
          <a:prstGeom prst="rect">
            <a:avLst/>
          </a:prstGeom>
          <a:noFill/>
          <a:ln/>
        </p:spPr>
        <p:txBody>
          <a:bodyPr wrap="square" lIns="0" tIns="0" rIns="0" bIns="0" rtlCol="0" anchor="t"/>
          <a:lstStyle/>
          <a:p>
            <a:pPr indent="0" marL="0">
              <a:buNone/>
            </a:pPr>
            <a:r>
              <a:rPr lang="en-US" sz="950" dirty="0">
                <a:solidFill>
                  <a:schemeClr val="accent6"/>
                </a:solidFill>
              </a:rPr>
              <a:t>per site + per distinct device; the same again at each 5-year retention</a:t>
            </a:r>
            <a:endParaRPr lang="en-US" sz="950" dirty="0"/>
          </a:p>
        </p:txBody>
      </p:sp>
      <p:sp>
        <p:nvSpPr>
          <p:cNvPr id="34" name="Stat Class C/D licence fee"/>
          <p:cNvSpPr/>
          <p:nvPr/>
        </p:nvSpPr>
        <p:spPr>
          <a:xfrm>
            <a:off x="3372536" y="4114800"/>
            <a:ext cx="2622728" cy="1481328"/>
          </a:xfrm>
          <a:prstGeom prst="roundRect">
            <a:avLst>
              <a:gd name="adj" fmla="val 7407"/>
            </a:avLst>
          </a:prstGeom>
          <a:solidFill>
            <a:schemeClr val="bg1">
              <a:alpha val="10000"/>
            </a:schemeClr>
          </a:solidFill>
          <a:ln w="12700">
            <a:solidFill>
              <a:schemeClr val="accent6"/>
            </a:solidFill>
            <a:prstDash val="solid"/>
          </a:ln>
        </p:spPr>
      </p:sp>
      <p:sp>
        <p:nvSpPr>
          <p:cNvPr id="35" name="Stat accent"/>
          <p:cNvSpPr/>
          <p:nvPr/>
        </p:nvSpPr>
        <p:spPr>
          <a:xfrm>
            <a:off x="3372536" y="4343400"/>
            <a:ext cx="64008" cy="1024128"/>
          </a:xfrm>
          <a:prstGeom prst="rect">
            <a:avLst/>
          </a:prstGeom>
          <a:solidFill>
            <a:schemeClr val="accent4"/>
          </a:solidFill>
          <a:ln/>
        </p:spPr>
      </p:sp>
      <p:sp>
        <p:nvSpPr>
          <p:cNvPr id="36" name="Icon disc LuIndianRupee"/>
          <p:cNvSpPr/>
          <p:nvPr/>
        </p:nvSpPr>
        <p:spPr>
          <a:xfrm>
            <a:off x="5428336" y="4297680"/>
            <a:ext cx="402336" cy="402336"/>
          </a:xfrm>
          <a:prstGeom prst="ellipse">
            <a:avLst/>
          </a:prstGeom>
          <a:solidFill>
            <a:schemeClr val="accent4"/>
          </a:solidFill>
          <a:ln/>
        </p:spPr>
      </p:sp>
      <p:pic>
        <p:nvPicPr>
          <p:cNvPr id="37" name="Image 1" descr="IndianRupee icon">    </p:cNvPr>
          <p:cNvPicPr>
            <a:picLocks noChangeAspect="1"/>
          </p:cNvPicPr>
          <p:nvPr/>
        </p:nvPicPr>
        <p:blipFill>
          <a:blip r:embed="rId2"/>
          <a:stretch>
            <a:fillRect/>
          </a:stretch>
        </p:blipFill>
        <p:spPr>
          <a:xfrm>
            <a:off x="5516850" y="4386194"/>
            <a:ext cx="225308" cy="225308"/>
          </a:xfrm>
          <a:prstGeom prst="rect">
            <a:avLst/>
          </a:prstGeom>
        </p:spPr>
      </p:pic>
      <p:sp>
        <p:nvSpPr>
          <p:cNvPr id="38" name="Text 33"/>
          <p:cNvSpPr txBox="1"/>
          <p:nvPr/>
        </p:nvSpPr>
        <p:spPr>
          <a:xfrm>
            <a:off x="3601136" y="4251960"/>
            <a:ext cx="1754048" cy="685800"/>
          </a:xfrm>
          <a:prstGeom prst="rect">
            <a:avLst/>
          </a:prstGeom>
          <a:noFill/>
          <a:ln/>
        </p:spPr>
        <p:txBody>
          <a:bodyPr wrap="square" lIns="0" tIns="0" rIns="0" bIns="0" rtlCol="0" anchor="ctr"/>
          <a:lstStyle/>
          <a:p>
            <a:pPr indent="0" marL="0">
              <a:buNone/>
            </a:pPr>
            <a:r>
              <a:rPr lang="en-US" sz="1488" b="1" dirty="0">
                <a:solidFill>
                  <a:schemeClr val="bg1"/>
                </a:solidFill>
              </a:rPr>
              <a:t>₹50,000 + ₹1,000</a:t>
            </a:r>
            <a:endParaRPr lang="en-US" sz="1488" dirty="0"/>
          </a:p>
        </p:txBody>
      </p:sp>
      <p:sp>
        <p:nvSpPr>
          <p:cNvPr id="39" name="Text 34"/>
          <p:cNvSpPr txBox="1"/>
          <p:nvPr/>
        </p:nvSpPr>
        <p:spPr>
          <a:xfrm>
            <a:off x="3601136" y="4937760"/>
            <a:ext cx="2256968" cy="292608"/>
          </a:xfrm>
          <a:prstGeom prst="rect">
            <a:avLst/>
          </a:prstGeom>
          <a:noFill/>
          <a:ln/>
        </p:spPr>
        <p:txBody>
          <a:bodyPr wrap="square" lIns="0" tIns="0" rIns="0" bIns="0" rtlCol="0" anchor="t"/>
          <a:lstStyle/>
          <a:p>
            <a:pPr indent="0" marL="0">
              <a:buNone/>
            </a:pPr>
            <a:r>
              <a:rPr lang="en-US" sz="1200" b="1" dirty="0">
                <a:solidFill>
                  <a:schemeClr val="accent6"/>
                </a:solidFill>
              </a:rPr>
              <a:t>Class C/D licence fee</a:t>
            </a:r>
            <a:endParaRPr lang="en-US" sz="1200" dirty="0"/>
          </a:p>
        </p:txBody>
      </p:sp>
      <p:sp>
        <p:nvSpPr>
          <p:cNvPr id="40" name="Text 35"/>
          <p:cNvSpPr txBox="1"/>
          <p:nvPr/>
        </p:nvSpPr>
        <p:spPr>
          <a:xfrm>
            <a:off x="3601136" y="5212080"/>
            <a:ext cx="2256968" cy="338328"/>
          </a:xfrm>
          <a:prstGeom prst="rect">
            <a:avLst/>
          </a:prstGeom>
          <a:noFill/>
          <a:ln/>
        </p:spPr>
        <p:txBody>
          <a:bodyPr wrap="square" lIns="0" tIns="0" rIns="0" bIns="0" rtlCol="0" anchor="t"/>
          <a:lstStyle/>
          <a:p>
            <a:pPr indent="0" marL="0">
              <a:buNone/>
            </a:pPr>
            <a:r>
              <a:rPr lang="en-US" sz="950" dirty="0">
                <a:solidFill>
                  <a:schemeClr val="accent6"/>
                </a:solidFill>
              </a:rPr>
              <a:t>per site + per device; CDSCO inspection, not a notified-body audit</a:t>
            </a:r>
            <a:endParaRPr lang="en-US" sz="950" dirty="0"/>
          </a:p>
        </p:txBody>
      </p:sp>
      <p:sp>
        <p:nvSpPr>
          <p:cNvPr id="41" name="Stat Typical MD-5 journey"/>
          <p:cNvSpPr/>
          <p:nvPr/>
        </p:nvSpPr>
        <p:spPr>
          <a:xfrm>
            <a:off x="6196432" y="4114800"/>
            <a:ext cx="2622728" cy="1481328"/>
          </a:xfrm>
          <a:prstGeom prst="roundRect">
            <a:avLst>
              <a:gd name="adj" fmla="val 7407"/>
            </a:avLst>
          </a:prstGeom>
          <a:solidFill>
            <a:schemeClr val="bg1">
              <a:alpha val="10000"/>
            </a:schemeClr>
          </a:solidFill>
          <a:ln w="12700">
            <a:solidFill>
              <a:schemeClr val="accent6"/>
            </a:solidFill>
            <a:prstDash val="solid"/>
          </a:ln>
        </p:spPr>
      </p:sp>
      <p:sp>
        <p:nvSpPr>
          <p:cNvPr id="42" name="Stat accent"/>
          <p:cNvSpPr/>
          <p:nvPr/>
        </p:nvSpPr>
        <p:spPr>
          <a:xfrm>
            <a:off x="6196432" y="4343400"/>
            <a:ext cx="64008" cy="1024128"/>
          </a:xfrm>
          <a:prstGeom prst="rect">
            <a:avLst/>
          </a:prstGeom>
          <a:solidFill>
            <a:schemeClr val="accent2"/>
          </a:solidFill>
          <a:ln/>
        </p:spPr>
      </p:sp>
      <p:sp>
        <p:nvSpPr>
          <p:cNvPr id="43" name="Icon disc LuTimer"/>
          <p:cNvSpPr/>
          <p:nvPr/>
        </p:nvSpPr>
        <p:spPr>
          <a:xfrm>
            <a:off x="8252231" y="4297680"/>
            <a:ext cx="402336" cy="402336"/>
          </a:xfrm>
          <a:prstGeom prst="ellipse">
            <a:avLst/>
          </a:prstGeom>
          <a:solidFill>
            <a:schemeClr val="accent2"/>
          </a:solidFill>
          <a:ln/>
        </p:spPr>
      </p:sp>
      <p:pic>
        <p:nvPicPr>
          <p:cNvPr id="44" name="Image 2" descr="Timer icon">    </p:cNvPr>
          <p:cNvPicPr>
            <a:picLocks noChangeAspect="1"/>
          </p:cNvPicPr>
          <p:nvPr/>
        </p:nvPicPr>
        <p:blipFill>
          <a:blip r:embed="rId3"/>
          <a:stretch>
            <a:fillRect/>
          </a:stretch>
        </p:blipFill>
        <p:spPr>
          <a:xfrm>
            <a:off x="8340745" y="4386194"/>
            <a:ext cx="225308" cy="225308"/>
          </a:xfrm>
          <a:prstGeom prst="rect">
            <a:avLst/>
          </a:prstGeom>
        </p:spPr>
      </p:pic>
      <p:sp>
        <p:nvSpPr>
          <p:cNvPr id="45" name="Text 39"/>
          <p:cNvSpPr txBox="1"/>
          <p:nvPr/>
        </p:nvSpPr>
        <p:spPr>
          <a:xfrm>
            <a:off x="6425032" y="4251960"/>
            <a:ext cx="1754048" cy="685800"/>
          </a:xfrm>
          <a:prstGeom prst="rect">
            <a:avLst/>
          </a:prstGeom>
          <a:noFill/>
          <a:ln/>
        </p:spPr>
        <p:txBody>
          <a:bodyPr wrap="square" lIns="0" tIns="0" rIns="0" bIns="0" rtlCol="0" anchor="ctr"/>
          <a:lstStyle/>
          <a:p>
            <a:pPr indent="0" marL="0">
              <a:buNone/>
            </a:pPr>
            <a:r>
              <a:rPr lang="en-US" sz="1920" b="1" dirty="0">
                <a:solidFill>
                  <a:schemeClr val="bg1"/>
                </a:solidFill>
              </a:rPr>
              <a:t>4–5 months</a:t>
            </a:r>
            <a:endParaRPr lang="en-US" sz="1920" dirty="0"/>
          </a:p>
        </p:txBody>
      </p:sp>
      <p:sp>
        <p:nvSpPr>
          <p:cNvPr id="46" name="Text 40"/>
          <p:cNvSpPr txBox="1"/>
          <p:nvPr/>
        </p:nvSpPr>
        <p:spPr>
          <a:xfrm>
            <a:off x="6425032" y="4937760"/>
            <a:ext cx="2256968" cy="292608"/>
          </a:xfrm>
          <a:prstGeom prst="rect">
            <a:avLst/>
          </a:prstGeom>
          <a:noFill/>
          <a:ln/>
        </p:spPr>
        <p:txBody>
          <a:bodyPr wrap="square" lIns="0" tIns="0" rIns="0" bIns="0" rtlCol="0" anchor="t"/>
          <a:lstStyle/>
          <a:p>
            <a:pPr indent="0" marL="0">
              <a:buNone/>
            </a:pPr>
            <a:r>
              <a:rPr lang="en-US" sz="1200" b="1" dirty="0">
                <a:solidFill>
                  <a:schemeClr val="accent6"/>
                </a:solidFill>
              </a:rPr>
              <a:t>Typical MD-5 journey</a:t>
            </a:r>
            <a:endParaRPr lang="en-US" sz="1200" dirty="0"/>
          </a:p>
        </p:txBody>
      </p:sp>
      <p:sp>
        <p:nvSpPr>
          <p:cNvPr id="47" name="Text 41"/>
          <p:cNvSpPr txBox="1"/>
          <p:nvPr/>
        </p:nvSpPr>
        <p:spPr>
          <a:xfrm>
            <a:off x="6425032" y="5212080"/>
            <a:ext cx="2256968" cy="338328"/>
          </a:xfrm>
          <a:prstGeom prst="rect">
            <a:avLst/>
          </a:prstGeom>
          <a:noFill/>
          <a:ln/>
        </p:spPr>
        <p:txBody>
          <a:bodyPr wrap="square" lIns="0" tIns="0" rIns="0" bIns="0" rtlCol="0" anchor="t"/>
          <a:lstStyle/>
          <a:p>
            <a:pPr indent="0" marL="0">
              <a:buNone/>
            </a:pPr>
            <a:r>
              <a:rPr lang="en-US" sz="950" dirty="0">
                <a:solidFill>
                  <a:schemeClr val="accent6"/>
                </a:solidFill>
              </a:rPr>
              <a:t>consultancy estimate including the notified-body audit</a:t>
            </a:r>
            <a:endParaRPr lang="en-US" sz="950" dirty="0"/>
          </a:p>
        </p:txBody>
      </p:sp>
      <p:sp>
        <p:nvSpPr>
          <p:cNvPr id="48" name="Stat Class B cap, draft 2026"/>
          <p:cNvSpPr/>
          <p:nvPr/>
        </p:nvSpPr>
        <p:spPr>
          <a:xfrm>
            <a:off x="9020327" y="4114800"/>
            <a:ext cx="2622728" cy="1481328"/>
          </a:xfrm>
          <a:prstGeom prst="roundRect">
            <a:avLst>
              <a:gd name="adj" fmla="val 7407"/>
            </a:avLst>
          </a:prstGeom>
          <a:solidFill>
            <a:schemeClr val="bg1">
              <a:alpha val="10000"/>
            </a:schemeClr>
          </a:solidFill>
          <a:ln w="12700">
            <a:solidFill>
              <a:schemeClr val="accent6"/>
            </a:solidFill>
            <a:prstDash val="solid"/>
          </a:ln>
        </p:spPr>
      </p:sp>
      <p:sp>
        <p:nvSpPr>
          <p:cNvPr id="49" name="Stat accent"/>
          <p:cNvSpPr/>
          <p:nvPr/>
        </p:nvSpPr>
        <p:spPr>
          <a:xfrm>
            <a:off x="9020327" y="4343400"/>
            <a:ext cx="64008" cy="1024128"/>
          </a:xfrm>
          <a:prstGeom prst="rect">
            <a:avLst/>
          </a:prstGeom>
          <a:solidFill>
            <a:schemeClr val="accent2"/>
          </a:solidFill>
          <a:ln/>
        </p:spPr>
      </p:sp>
      <p:sp>
        <p:nvSpPr>
          <p:cNvPr id="50" name="Icon disc LuHourglass"/>
          <p:cNvSpPr/>
          <p:nvPr/>
        </p:nvSpPr>
        <p:spPr>
          <a:xfrm>
            <a:off x="11076127" y="4297680"/>
            <a:ext cx="402336" cy="402336"/>
          </a:xfrm>
          <a:prstGeom prst="ellipse">
            <a:avLst/>
          </a:prstGeom>
          <a:solidFill>
            <a:schemeClr val="accent2"/>
          </a:solidFill>
          <a:ln/>
        </p:spPr>
      </p:sp>
      <p:pic>
        <p:nvPicPr>
          <p:cNvPr id="51" name="Image 3" descr="Hourglass icon">    </p:cNvPr>
          <p:cNvPicPr>
            <a:picLocks noChangeAspect="1"/>
          </p:cNvPicPr>
          <p:nvPr/>
        </p:nvPicPr>
        <p:blipFill>
          <a:blip r:embed="rId4"/>
          <a:stretch>
            <a:fillRect/>
          </a:stretch>
        </p:blipFill>
        <p:spPr>
          <a:xfrm>
            <a:off x="11164641" y="4386194"/>
            <a:ext cx="225308" cy="225308"/>
          </a:xfrm>
          <a:prstGeom prst="rect">
            <a:avLst/>
          </a:prstGeom>
        </p:spPr>
      </p:pic>
      <p:sp>
        <p:nvSpPr>
          <p:cNvPr id="52" name="Text 45"/>
          <p:cNvSpPr txBox="1"/>
          <p:nvPr/>
        </p:nvSpPr>
        <p:spPr>
          <a:xfrm>
            <a:off x="9248927" y="4251960"/>
            <a:ext cx="1754048" cy="685800"/>
          </a:xfrm>
          <a:prstGeom prst="rect">
            <a:avLst/>
          </a:prstGeom>
          <a:noFill/>
          <a:ln/>
        </p:spPr>
        <p:txBody>
          <a:bodyPr wrap="square" lIns="0" tIns="0" rIns="0" bIns="0" rtlCol="0" anchor="ctr"/>
          <a:lstStyle/>
          <a:p>
            <a:pPr indent="0" marL="0">
              <a:buNone/>
            </a:pPr>
            <a:r>
              <a:rPr lang="en-US" sz="1488" b="1" dirty="0">
                <a:solidFill>
                  <a:schemeClr val="bg1"/>
                </a:solidFill>
              </a:rPr>
              <a:t>140 → 115 days</a:t>
            </a:r>
            <a:endParaRPr lang="en-US" sz="1488" dirty="0"/>
          </a:p>
        </p:txBody>
      </p:sp>
      <p:sp>
        <p:nvSpPr>
          <p:cNvPr id="53" name="Text 46"/>
          <p:cNvSpPr txBox="1"/>
          <p:nvPr/>
        </p:nvSpPr>
        <p:spPr>
          <a:xfrm>
            <a:off x="9248927" y="4937760"/>
            <a:ext cx="2256968" cy="292608"/>
          </a:xfrm>
          <a:prstGeom prst="rect">
            <a:avLst/>
          </a:prstGeom>
          <a:noFill/>
          <a:ln/>
        </p:spPr>
        <p:txBody>
          <a:bodyPr wrap="square" lIns="0" tIns="0" rIns="0" bIns="0" rtlCol="0" anchor="t"/>
          <a:lstStyle/>
          <a:p>
            <a:pPr indent="0" marL="0">
              <a:buNone/>
            </a:pPr>
            <a:r>
              <a:rPr lang="en-US" sz="1200" b="1" dirty="0">
                <a:solidFill>
                  <a:schemeClr val="accent6"/>
                </a:solidFill>
              </a:rPr>
              <a:t>Class B cap, draft 2026</a:t>
            </a:r>
            <a:endParaRPr lang="en-US" sz="1200" dirty="0"/>
          </a:p>
        </p:txBody>
      </p:sp>
      <p:sp>
        <p:nvSpPr>
          <p:cNvPr id="54" name="Text 47"/>
          <p:cNvSpPr txBox="1"/>
          <p:nvPr/>
        </p:nvSpPr>
        <p:spPr>
          <a:xfrm>
            <a:off x="9248927" y="5212080"/>
            <a:ext cx="2256968" cy="338328"/>
          </a:xfrm>
          <a:prstGeom prst="rect">
            <a:avLst/>
          </a:prstGeom>
          <a:noFill/>
          <a:ln/>
        </p:spPr>
        <p:txBody>
          <a:bodyPr wrap="square" lIns="0" tIns="0" rIns="0" bIns="0" rtlCol="0" anchor="t"/>
          <a:lstStyle/>
          <a:p>
            <a:pPr indent="0" marL="0">
              <a:buNone/>
            </a:pPr>
            <a:r>
              <a:rPr lang="en-US" sz="950" dirty="0">
                <a:solidFill>
                  <a:schemeClr val="accent6"/>
                </a:solidFill>
              </a:rPr>
              <a:t>G.S.R. 515(E), 23 Jun 2026; C/D 105 → 90 days; not final</a:t>
            </a:r>
            <a:endParaRPr lang="en-US" sz="950" dirty="0"/>
          </a:p>
        </p:txBody>
      </p:sp>
      <p:sp>
        <p:nvSpPr>
          <p:cNvPr id="55" name="Callout"/>
          <p:cNvSpPr/>
          <p:nvPr/>
        </p:nvSpPr>
        <p:spPr>
          <a:xfrm>
            <a:off x="548640" y="5733288"/>
            <a:ext cx="11094415" cy="457200"/>
          </a:xfrm>
          <a:prstGeom prst="roundRect">
            <a:avLst>
              <a:gd name="adj" fmla="val 16000"/>
            </a:avLst>
          </a:prstGeom>
          <a:solidFill>
            <a:schemeClr val="accent2">
              <a:alpha val="20000"/>
            </a:schemeClr>
          </a:solidFill>
          <a:ln/>
        </p:spPr>
      </p:sp>
      <p:sp>
        <p:nvSpPr>
          <p:cNvPr id="56" name="Callout bar"/>
          <p:cNvSpPr/>
          <p:nvPr/>
        </p:nvSpPr>
        <p:spPr>
          <a:xfrm>
            <a:off x="548640" y="5824728"/>
            <a:ext cx="64008" cy="274320"/>
          </a:xfrm>
          <a:prstGeom prst="rect">
            <a:avLst/>
          </a:prstGeom>
          <a:solidFill>
            <a:schemeClr val="accent2"/>
          </a:solidFill>
          <a:ln/>
        </p:spPr>
      </p:sp>
      <p:sp>
        <p:nvSpPr>
          <p:cNvPr id="57" name="Text 50"/>
          <p:cNvSpPr txBox="1"/>
          <p:nvPr/>
        </p:nvSpPr>
        <p:spPr>
          <a:xfrm>
            <a:off x="822960" y="5733288"/>
            <a:ext cx="10682935" cy="457200"/>
          </a:xfrm>
          <a:prstGeom prst="rect">
            <a:avLst/>
          </a:prstGeom>
          <a:noFill/>
          <a:ln/>
        </p:spPr>
        <p:txBody>
          <a:bodyPr wrap="square" lIns="0" tIns="0" rIns="0" bIns="0" rtlCol="0" anchor="ctr"/>
          <a:lstStyle/>
          <a:p>
            <a:pPr indent="0" marL="0">
              <a:buNone/>
            </a:pPr>
            <a:r>
              <a:rPr lang="en-US" sz="1200" b="1" dirty="0">
                <a:solidFill>
                  <a:schemeClr val="bg1"/>
                </a:solidFill>
              </a:rPr>
              <a:t>Class A is granted on self-certification and audited after; Class B is audited before grant; Class C and D are inspected by CDSCO. Higher class, closer scrutiny.</a:t>
            </a:r>
            <a:endParaRPr lang="en-US" sz="12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INDIA · IMPORT AND REGISTRATION</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Importing, registering and relying on foreign approvals</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MDR-2017 Rules 34–38, 63 and Second Schedule; Form MD-14; G.S.R. 777(E) 14 Oct 2022; G.S.R. 744(E) 14 Aug 2026; Standing Committee on Health (Mar 2024); Medical Buyer FY24 imports</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Import route"/>
          <p:cNvSpPr/>
          <p:nvPr/>
        </p:nvSpPr>
        <p:spPr>
          <a:xfrm>
            <a:off x="548640" y="1572768"/>
            <a:ext cx="5532120" cy="4114800"/>
          </a:xfrm>
          <a:prstGeom prst="roundRect">
            <a:avLst>
              <a:gd name="adj" fmla="val 3111"/>
            </a:avLst>
          </a:prstGeom>
          <a:solidFill>
            <a:schemeClr val="bg2"/>
          </a:solidFill>
          <a:ln/>
        </p:spPr>
      </p:sp>
      <p:sp>
        <p:nvSpPr>
          <p:cNvPr id="13" name="Icon disc LuShip"/>
          <p:cNvSpPr/>
          <p:nvPr/>
        </p:nvSpPr>
        <p:spPr>
          <a:xfrm>
            <a:off x="731520" y="1737360"/>
            <a:ext cx="402336" cy="402336"/>
          </a:xfrm>
          <a:prstGeom prst="ellipse">
            <a:avLst/>
          </a:prstGeom>
          <a:solidFill>
            <a:schemeClr val="accent4"/>
          </a:solidFill>
          <a:ln/>
        </p:spPr>
      </p:sp>
      <p:pic>
        <p:nvPicPr>
          <p:cNvPr id="14" name="Image 0" descr="Ship icon">    </p:cNvPr>
          <p:cNvPicPr>
            <a:picLocks noChangeAspect="1"/>
          </p:cNvPicPr>
          <p:nvPr/>
        </p:nvPicPr>
        <p:blipFill>
          <a:blip r:embed="rId1"/>
          <a:stretch>
            <a:fillRect/>
          </a:stretch>
        </p:blipFill>
        <p:spPr>
          <a:xfrm>
            <a:off x="820034" y="1825874"/>
            <a:ext cx="225308" cy="225308"/>
          </a:xfrm>
          <a:prstGeom prst="rect">
            <a:avLst/>
          </a:prstGeom>
        </p:spPr>
      </p:pic>
      <p:sp>
        <p:nvSpPr>
          <p:cNvPr id="15" name="Text 11"/>
          <p:cNvSpPr txBox="1"/>
          <p:nvPr/>
        </p:nvSpPr>
        <p:spPr>
          <a:xfrm>
            <a:off x="1261872" y="1700784"/>
            <a:ext cx="4617720" cy="475488"/>
          </a:xfrm>
          <a:prstGeom prst="rect">
            <a:avLst/>
          </a:prstGeom>
          <a:noFill/>
          <a:ln/>
        </p:spPr>
        <p:txBody>
          <a:bodyPr wrap="square" lIns="0" tIns="0" rIns="0" bIns="0" rtlCol="0" anchor="ctr"/>
          <a:lstStyle/>
          <a:p>
            <a:pPr indent="0" marL="0">
              <a:buNone/>
            </a:pPr>
            <a:r>
              <a:rPr lang="en-US" sz="1300" b="1" dirty="0">
                <a:solidFill>
                  <a:schemeClr val="tx1"/>
                </a:solidFill>
              </a:rPr>
              <a:t>Import: Central Licensing Authority, every class</a:t>
            </a:r>
            <a:endParaRPr lang="en-US" sz="1400" dirty="0"/>
          </a:p>
          <a:p>
            <a:pPr indent="0" marL="0">
              <a:buNone/>
            </a:pPr>
            <a:r>
              <a:rPr lang="en-US" sz="950" dirty="0">
                <a:solidFill>
                  <a:schemeClr val="accent5"/>
                </a:solidFill>
              </a:rPr>
              <a:t>Rules 34–36, MDR-2017 · Form MD-14 → licence MD-15</a:t>
            </a:r>
            <a:endParaRPr lang="en-US" sz="1400" dirty="0"/>
          </a:p>
        </p:txBody>
      </p:sp>
      <p:sp>
        <p:nvSpPr>
          <p:cNvPr id="16" name="Rule"/>
          <p:cNvSpPr/>
          <p:nvPr/>
        </p:nvSpPr>
        <p:spPr>
          <a:xfrm>
            <a:off x="1024128" y="2606040"/>
            <a:ext cx="0" cy="2706624"/>
          </a:xfrm>
          <a:prstGeom prst="line">
            <a:avLst/>
          </a:prstGeom>
          <a:noFill/>
          <a:ln w="25400">
            <a:solidFill>
              <a:srgbClr val="C9D6D3"/>
            </a:solidFill>
            <a:prstDash val="solid"/>
          </a:ln>
        </p:spPr>
      </p:sp>
      <p:sp>
        <p:nvSpPr>
          <p:cNvPr id="17" name="Badge 1"/>
          <p:cNvSpPr/>
          <p:nvPr/>
        </p:nvSpPr>
        <p:spPr>
          <a:xfrm>
            <a:off x="777240" y="2331720"/>
            <a:ext cx="493776" cy="493776"/>
          </a:xfrm>
          <a:prstGeom prst="ellipse">
            <a:avLst/>
          </a:prstGeom>
          <a:solidFill>
            <a:schemeClr val="accent4"/>
          </a:solidFill>
          <a:ln/>
        </p:spPr>
      </p:sp>
      <p:sp>
        <p:nvSpPr>
          <p:cNvPr id="18" name="Text 14"/>
          <p:cNvSpPr txBox="1"/>
          <p:nvPr/>
        </p:nvSpPr>
        <p:spPr>
          <a:xfrm>
            <a:off x="777240" y="2331720"/>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9" name="Text 15"/>
          <p:cNvSpPr txBox="1"/>
          <p:nvPr/>
        </p:nvSpPr>
        <p:spPr>
          <a:xfrm>
            <a:off x="1463040" y="2313432"/>
            <a:ext cx="4434840" cy="603504"/>
          </a:xfrm>
          <a:prstGeom prst="rect">
            <a:avLst/>
          </a:prstGeom>
          <a:noFill/>
          <a:ln/>
        </p:spPr>
        <p:txBody>
          <a:bodyPr wrap="square" lIns="0" tIns="0" rIns="0" bIns="0" rtlCol="0" anchor="t"/>
          <a:lstStyle/>
          <a:p>
            <a:pPr indent="0" marL="0">
              <a:buNone/>
            </a:pPr>
            <a:r>
              <a:rPr lang="en-US" sz="1150" b="1" dirty="0">
                <a:solidFill>
                  <a:schemeClr val="tx1"/>
                </a:solidFill>
              </a:rPr>
              <a:t>Appoint an Indian authorised agent</a:t>
            </a:r>
            <a:endParaRPr lang="en-US" sz="1150" dirty="0"/>
          </a:p>
          <a:p>
            <a:pPr indent="0" marL="0">
              <a:buNone/>
            </a:pPr>
            <a:r>
              <a:rPr lang="en-US" sz="950" dirty="0">
                <a:solidFill>
                  <a:schemeClr val="tx2"/>
                </a:solidFill>
              </a:rPr>
              <a:t>The agent or importer files on the Medical Device online system (cdscomdonline.gov.in)</a:t>
            </a:r>
            <a:endParaRPr lang="en-US" sz="1150" dirty="0"/>
          </a:p>
        </p:txBody>
      </p:sp>
      <p:sp>
        <p:nvSpPr>
          <p:cNvPr id="20" name="Badge 2"/>
          <p:cNvSpPr/>
          <p:nvPr/>
        </p:nvSpPr>
        <p:spPr>
          <a:xfrm>
            <a:off x="777240" y="3008376"/>
            <a:ext cx="493776" cy="493776"/>
          </a:xfrm>
          <a:prstGeom prst="ellipse">
            <a:avLst/>
          </a:prstGeom>
          <a:solidFill>
            <a:schemeClr val="accent4"/>
          </a:solidFill>
          <a:ln/>
        </p:spPr>
      </p:sp>
      <p:sp>
        <p:nvSpPr>
          <p:cNvPr id="21" name="Text 17"/>
          <p:cNvSpPr txBox="1"/>
          <p:nvPr/>
        </p:nvSpPr>
        <p:spPr>
          <a:xfrm>
            <a:off x="777240" y="3008376"/>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2" name="Text 18"/>
          <p:cNvSpPr txBox="1"/>
          <p:nvPr/>
        </p:nvSpPr>
        <p:spPr>
          <a:xfrm>
            <a:off x="1463040" y="2990088"/>
            <a:ext cx="4434840" cy="603504"/>
          </a:xfrm>
          <a:prstGeom prst="rect">
            <a:avLst/>
          </a:prstGeom>
          <a:noFill/>
          <a:ln/>
        </p:spPr>
        <p:txBody>
          <a:bodyPr wrap="square" lIns="0" tIns="0" rIns="0" bIns="0" rtlCol="0" anchor="t"/>
          <a:lstStyle/>
          <a:p>
            <a:pPr indent="0" marL="0">
              <a:buNone/>
            </a:pPr>
            <a:r>
              <a:rPr lang="en-US" sz="1150" b="1" dirty="0">
                <a:solidFill>
                  <a:schemeClr val="tx1"/>
                </a:solidFill>
              </a:rPr>
              <a:t>Apply in Form MD-14 to CDSCO</a:t>
            </a:r>
            <a:endParaRPr lang="en-US" sz="1150" dirty="0"/>
          </a:p>
          <a:p>
            <a:pPr indent="0" marL="0">
              <a:buNone/>
            </a:pPr>
            <a:r>
              <a:rPr lang="en-US" sz="950" dirty="0">
                <a:solidFill>
                  <a:schemeClr val="tx2"/>
                </a:solidFill>
              </a:rPr>
              <a:t>One route for Class A to D; the overseas site may be inspected</a:t>
            </a:r>
            <a:endParaRPr lang="en-US" sz="1150" dirty="0"/>
          </a:p>
        </p:txBody>
      </p:sp>
      <p:sp>
        <p:nvSpPr>
          <p:cNvPr id="23" name="Badge 3"/>
          <p:cNvSpPr/>
          <p:nvPr/>
        </p:nvSpPr>
        <p:spPr>
          <a:xfrm>
            <a:off x="777240" y="3685032"/>
            <a:ext cx="493776" cy="493776"/>
          </a:xfrm>
          <a:prstGeom prst="ellipse">
            <a:avLst/>
          </a:prstGeom>
          <a:solidFill>
            <a:schemeClr val="accent4"/>
          </a:solidFill>
          <a:ln/>
        </p:spPr>
      </p:sp>
      <p:sp>
        <p:nvSpPr>
          <p:cNvPr id="24" name="Text 20"/>
          <p:cNvSpPr txBox="1"/>
          <p:nvPr/>
        </p:nvSpPr>
        <p:spPr>
          <a:xfrm>
            <a:off x="777240" y="3685032"/>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5" name="Text 21"/>
          <p:cNvSpPr txBox="1"/>
          <p:nvPr/>
        </p:nvSpPr>
        <p:spPr>
          <a:xfrm>
            <a:off x="1463040" y="3666744"/>
            <a:ext cx="4434840" cy="603504"/>
          </a:xfrm>
          <a:prstGeom prst="rect">
            <a:avLst/>
          </a:prstGeom>
          <a:noFill/>
          <a:ln/>
        </p:spPr>
        <p:txBody>
          <a:bodyPr wrap="square" lIns="0" tIns="0" rIns="0" bIns="0" rtlCol="0" anchor="t"/>
          <a:lstStyle/>
          <a:p>
            <a:pPr indent="0" marL="0">
              <a:buNone/>
            </a:pPr>
            <a:r>
              <a:rPr lang="en-US" sz="1150" b="1" dirty="0">
                <a:solidFill>
                  <a:schemeClr val="tx1"/>
                </a:solidFill>
              </a:rPr>
              <a:t>Pay Second Schedule fees in US dollars</a:t>
            </a:r>
            <a:endParaRPr lang="en-US" sz="1150" dirty="0"/>
          </a:p>
          <a:p>
            <a:pPr indent="0" marL="0">
              <a:buNone/>
            </a:pPr>
            <a:r>
              <a:rPr lang="en-US" sz="950" dirty="0">
                <a:solidFill>
                  <a:schemeClr val="tx2"/>
                </a:solidFill>
              </a:rPr>
              <a:t>A: $1,000/site + $50/device · B: $2,000 + $1,000 · C/D: $3,000 + $1,500</a:t>
            </a:r>
            <a:endParaRPr lang="en-US" sz="1150" dirty="0"/>
          </a:p>
        </p:txBody>
      </p:sp>
      <p:sp>
        <p:nvSpPr>
          <p:cNvPr id="26" name="Badge 4"/>
          <p:cNvSpPr/>
          <p:nvPr/>
        </p:nvSpPr>
        <p:spPr>
          <a:xfrm>
            <a:off x="777240" y="4361688"/>
            <a:ext cx="493776" cy="493776"/>
          </a:xfrm>
          <a:prstGeom prst="ellipse">
            <a:avLst/>
          </a:prstGeom>
          <a:solidFill>
            <a:schemeClr val="accent4"/>
          </a:solidFill>
          <a:ln/>
        </p:spPr>
      </p:sp>
      <p:sp>
        <p:nvSpPr>
          <p:cNvPr id="27" name="Text 23"/>
          <p:cNvSpPr txBox="1"/>
          <p:nvPr/>
        </p:nvSpPr>
        <p:spPr>
          <a:xfrm>
            <a:off x="777240" y="4361688"/>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8" name="Text 24"/>
          <p:cNvSpPr txBox="1"/>
          <p:nvPr/>
        </p:nvSpPr>
        <p:spPr>
          <a:xfrm>
            <a:off x="1463040" y="4343400"/>
            <a:ext cx="4434840" cy="603504"/>
          </a:xfrm>
          <a:prstGeom prst="rect">
            <a:avLst/>
          </a:prstGeom>
          <a:noFill/>
          <a:ln/>
        </p:spPr>
        <p:txBody>
          <a:bodyPr wrap="square" lIns="0" tIns="0" rIns="0" bIns="0" rtlCol="0" anchor="t"/>
          <a:lstStyle/>
          <a:p>
            <a:pPr indent="0" marL="0">
              <a:buNone/>
            </a:pPr>
            <a:r>
              <a:rPr lang="en-US" sz="1150" b="1" dirty="0">
                <a:solidFill>
                  <a:schemeClr val="tx1"/>
                </a:solidFill>
              </a:rPr>
              <a:t>Decision within 9 months</a:t>
            </a:r>
            <a:endParaRPr lang="en-US" sz="1150" dirty="0"/>
          </a:p>
          <a:p>
            <a:pPr indent="0" marL="0">
              <a:buNone/>
            </a:pPr>
            <a:r>
              <a:rPr lang="en-US" sz="950" dirty="0">
                <a:solidFill>
                  <a:schemeClr val="tx2"/>
                </a:solidFill>
              </a:rPr>
              <a:t>Practitioners quote 6–9 months; MD-15 is perpetual with a 5-yearly retention fee (90-day grace)</a:t>
            </a:r>
            <a:endParaRPr lang="en-US" sz="1150" dirty="0"/>
          </a:p>
        </p:txBody>
      </p:sp>
      <p:sp>
        <p:nvSpPr>
          <p:cNvPr id="29" name="Badge 5"/>
          <p:cNvSpPr/>
          <p:nvPr/>
        </p:nvSpPr>
        <p:spPr>
          <a:xfrm>
            <a:off x="777240" y="5038344"/>
            <a:ext cx="493776" cy="493776"/>
          </a:xfrm>
          <a:prstGeom prst="ellipse">
            <a:avLst/>
          </a:prstGeom>
          <a:solidFill>
            <a:schemeClr val="accent4"/>
          </a:solidFill>
          <a:ln/>
        </p:spPr>
      </p:sp>
      <p:sp>
        <p:nvSpPr>
          <p:cNvPr id="30" name="Text 26"/>
          <p:cNvSpPr txBox="1"/>
          <p:nvPr/>
        </p:nvSpPr>
        <p:spPr>
          <a:xfrm>
            <a:off x="777240" y="5038344"/>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31" name="Text 27"/>
          <p:cNvSpPr txBox="1"/>
          <p:nvPr/>
        </p:nvSpPr>
        <p:spPr>
          <a:xfrm>
            <a:off x="1463040" y="5020056"/>
            <a:ext cx="4434840" cy="603504"/>
          </a:xfrm>
          <a:prstGeom prst="rect">
            <a:avLst/>
          </a:prstGeom>
          <a:noFill/>
          <a:ln/>
        </p:spPr>
        <p:txBody>
          <a:bodyPr wrap="square" lIns="0" tIns="0" rIns="0" bIns="0" rtlCol="0" anchor="t"/>
          <a:lstStyle/>
          <a:p>
            <a:pPr indent="0" marL="0">
              <a:buNone/>
            </a:pPr>
            <a:r>
              <a:rPr lang="en-US" sz="1150" b="1" dirty="0">
                <a:solidFill>
                  <a:schemeClr val="tx1"/>
                </a:solidFill>
              </a:rPr>
              <a:t>Report what happens abroad</a:t>
            </a:r>
            <a:endParaRPr lang="en-US" sz="1150" dirty="0"/>
          </a:p>
          <a:p>
            <a:pPr indent="0" marL="0">
              <a:buNone/>
            </a:pPr>
            <a:r>
              <a:rPr lang="en-US" sz="950" dirty="0">
                <a:solidFill>
                  <a:schemeClr val="tx2"/>
                </a:solidFill>
              </a:rPr>
              <a:t>Rule 38: withdrawal, restriction or cancellation elsewhere → CDSCO within 15 days. Test imports: MD-16 → MD-17, $100/device</a:t>
            </a:r>
            <a:endParaRPr lang="en-US" sz="1150" dirty="0"/>
          </a:p>
        </p:txBody>
      </p:sp>
      <p:sp>
        <p:nvSpPr>
          <p:cNvPr id="32" name="Class A registration"/>
          <p:cNvSpPr/>
          <p:nvPr/>
        </p:nvSpPr>
        <p:spPr>
          <a:xfrm>
            <a:off x="6355080" y="1572768"/>
            <a:ext cx="5287975" cy="1920240"/>
          </a:xfrm>
          <a:prstGeom prst="roundRect">
            <a:avLst>
              <a:gd name="adj" fmla="val 6667"/>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33" name="Icon disc LuClipboardCheck"/>
          <p:cNvSpPr/>
          <p:nvPr/>
        </p:nvSpPr>
        <p:spPr>
          <a:xfrm>
            <a:off x="6537960" y="1737360"/>
            <a:ext cx="402336" cy="402336"/>
          </a:xfrm>
          <a:prstGeom prst="ellipse">
            <a:avLst/>
          </a:prstGeom>
          <a:solidFill>
            <a:schemeClr val="accent1">
              <a:alpha val="15000"/>
            </a:schemeClr>
          </a:solidFill>
          <a:ln/>
        </p:spPr>
      </p:sp>
      <p:pic>
        <p:nvPicPr>
          <p:cNvPr id="34" name="Image 1" descr="ClipboardCheck icon">    </p:cNvPr>
          <p:cNvPicPr>
            <a:picLocks noChangeAspect="1"/>
          </p:cNvPicPr>
          <p:nvPr/>
        </p:nvPicPr>
        <p:blipFill>
          <a:blip r:embed="rId2"/>
          <a:stretch>
            <a:fillRect/>
          </a:stretch>
        </p:blipFill>
        <p:spPr>
          <a:xfrm>
            <a:off x="6626474" y="1825874"/>
            <a:ext cx="225308" cy="225308"/>
          </a:xfrm>
          <a:prstGeom prst="rect">
            <a:avLst/>
          </a:prstGeom>
        </p:spPr>
      </p:pic>
      <p:sp>
        <p:nvSpPr>
          <p:cNvPr id="35" name="Text 30"/>
          <p:cNvSpPr txBox="1"/>
          <p:nvPr/>
        </p:nvSpPr>
        <p:spPr>
          <a:xfrm>
            <a:off x="7068312" y="1700784"/>
            <a:ext cx="4373575" cy="475488"/>
          </a:xfrm>
          <a:prstGeom prst="rect">
            <a:avLst/>
          </a:prstGeom>
          <a:noFill/>
          <a:ln/>
        </p:spPr>
        <p:txBody>
          <a:bodyPr wrap="square" lIns="0" tIns="0" rIns="0" bIns="0" rtlCol="0" anchor="ctr"/>
          <a:lstStyle/>
          <a:p>
            <a:pPr indent="0" marL="0">
              <a:buNone/>
            </a:pPr>
            <a:r>
              <a:rPr lang="en-US" sz="1250" b="1" dirty="0">
                <a:solidFill>
                  <a:schemeClr val="tx1"/>
                </a:solidFill>
              </a:rPr>
              <a:t>Class A non-sterile, non-measuring: register, don't license</a:t>
            </a:r>
            <a:endParaRPr lang="en-US" sz="1400" dirty="0"/>
          </a:p>
          <a:p>
            <a:pPr indent="0" marL="0">
              <a:buNone/>
            </a:pPr>
            <a:r>
              <a:rPr lang="en-US" sz="950" dirty="0">
                <a:solidFill>
                  <a:schemeClr val="accent5"/>
                </a:solidFill>
              </a:rPr>
              <a:t>G.S.R. 777(E), 14 Oct 2022 (Sixth Amendment)</a:t>
            </a:r>
            <a:endParaRPr lang="en-US" sz="1400" dirty="0"/>
          </a:p>
        </p:txBody>
      </p:sp>
      <p:sp>
        <p:nvSpPr>
          <p:cNvPr id="36" name="Text 31"/>
          <p:cNvSpPr txBox="1"/>
          <p:nvPr/>
        </p:nvSpPr>
        <p:spPr>
          <a:xfrm>
            <a:off x="6537960" y="2240280"/>
            <a:ext cx="4922215" cy="1188720"/>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chemeClr val="tx2"/>
                </a:solidFill>
              </a:rPr>
              <a:t>Upload on the online system: site name and address; device details; an undertaking that the device is Class A, non-sterile, non-measuring; a self-certified Essential Principles checklist</a:t>
            </a:r>
            <a:endParaRPr lang="en-US" sz="950" dirty="0"/>
          </a:p>
          <a:p>
            <a:pPr marL="127000" indent="-127000">
              <a:spcAft>
                <a:spcPts val="200"/>
              </a:spcAft>
              <a:buSzPct val="100000"/>
              <a:buChar char="•"/>
            </a:pPr>
            <a:r>
              <a:rPr lang="en-US" sz="950" dirty="0">
                <a:solidFill>
                  <a:schemeClr val="tx2"/>
                </a:solidFill>
              </a:rPr>
              <a:t>Registration number goes on the label; 'Reg. No.' wording proposed in the Dec 2025 draft</a:t>
            </a:r>
            <a:endParaRPr lang="en-US" sz="950" dirty="0"/>
          </a:p>
          <a:p>
            <a:pPr marL="127000" indent="-127000">
              <a:spcAft>
                <a:spcPts val="200"/>
              </a:spcAft>
              <a:buSzPct val="100000"/>
              <a:buChar char="•"/>
            </a:pPr>
            <a:r>
              <a:rPr lang="en-US" sz="950" dirty="0">
                <a:solidFill>
                  <a:schemeClr val="tx2"/>
                </a:solidFill>
              </a:rPr>
              <a:t>QMS self-certification revised by G.S.R. 744(E), Aug 2026. Sterile or measuring Class A still needs MD-5</a:t>
            </a:r>
            <a:endParaRPr lang="en-US" sz="950" dirty="0"/>
          </a:p>
        </p:txBody>
      </p:sp>
      <p:sp>
        <p:nvSpPr>
          <p:cNvPr id="37" name="Reliance"/>
          <p:cNvSpPr/>
          <p:nvPr/>
        </p:nvSpPr>
        <p:spPr>
          <a:xfrm>
            <a:off x="6355080" y="3657600"/>
            <a:ext cx="5287975" cy="2029968"/>
          </a:xfrm>
          <a:prstGeom prst="roundRect">
            <a:avLst>
              <a:gd name="adj" fmla="val 6306"/>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38" name="Icon disc LuGlobe"/>
          <p:cNvSpPr/>
          <p:nvPr/>
        </p:nvSpPr>
        <p:spPr>
          <a:xfrm>
            <a:off x="6537960" y="3822192"/>
            <a:ext cx="402336" cy="402336"/>
          </a:xfrm>
          <a:prstGeom prst="ellipse">
            <a:avLst/>
          </a:prstGeom>
          <a:solidFill>
            <a:schemeClr val="accent2">
              <a:alpha val="15000"/>
            </a:schemeClr>
          </a:solidFill>
          <a:ln/>
        </p:spPr>
      </p:sp>
      <p:pic>
        <p:nvPicPr>
          <p:cNvPr id="39" name="Image 2" descr="Globe icon">    </p:cNvPr>
          <p:cNvPicPr>
            <a:picLocks noChangeAspect="1"/>
          </p:cNvPicPr>
          <p:nvPr/>
        </p:nvPicPr>
        <p:blipFill>
          <a:blip r:embed="rId3"/>
          <a:stretch>
            <a:fillRect/>
          </a:stretch>
        </p:blipFill>
        <p:spPr>
          <a:xfrm>
            <a:off x="6626474" y="3910706"/>
            <a:ext cx="225308" cy="225308"/>
          </a:xfrm>
          <a:prstGeom prst="rect">
            <a:avLst/>
          </a:prstGeom>
        </p:spPr>
      </p:pic>
      <p:sp>
        <p:nvSpPr>
          <p:cNvPr id="40" name="Text 34"/>
          <p:cNvSpPr txBox="1"/>
          <p:nvPr/>
        </p:nvSpPr>
        <p:spPr>
          <a:xfrm>
            <a:off x="7068312" y="3785616"/>
            <a:ext cx="4373575" cy="475488"/>
          </a:xfrm>
          <a:prstGeom prst="rect">
            <a:avLst/>
          </a:prstGeom>
          <a:noFill/>
          <a:ln/>
        </p:spPr>
        <p:txBody>
          <a:bodyPr wrap="square" lIns="0" tIns="0" rIns="0" bIns="0" rtlCol="0" anchor="ctr"/>
          <a:lstStyle/>
          <a:p>
            <a:pPr indent="0" marL="0">
              <a:buNone/>
            </a:pPr>
            <a:r>
              <a:rPr lang="en-US" sz="1250" b="1" dirty="0">
                <a:solidFill>
                  <a:schemeClr val="tx1"/>
                </a:solidFill>
              </a:rPr>
              <a:t>Reliance: no predicate in India, approved abroad</a:t>
            </a:r>
            <a:endParaRPr lang="en-US" sz="1400" dirty="0"/>
          </a:p>
          <a:p>
            <a:pPr indent="0" marL="0">
              <a:buNone/>
            </a:pPr>
            <a:r>
              <a:rPr lang="en-US" sz="950" dirty="0">
                <a:solidFill>
                  <a:schemeClr val="accent5"/>
                </a:solidFill>
              </a:rPr>
              <a:t>Rule 63, Chapter VIII · Form MD-26 → permission MD-27</a:t>
            </a:r>
            <a:endParaRPr lang="en-US" sz="1400" dirty="0"/>
          </a:p>
        </p:txBody>
      </p:sp>
      <p:sp>
        <p:nvSpPr>
          <p:cNvPr id="41" name="Text 35"/>
          <p:cNvSpPr txBox="1"/>
          <p:nvPr/>
        </p:nvSpPr>
        <p:spPr>
          <a:xfrm>
            <a:off x="6537960" y="4315968"/>
            <a:ext cx="4922215" cy="960120"/>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chemeClr val="tx2"/>
                </a:solidFill>
              </a:rPr>
              <a:t>CDSCO may waive the local clinical investigation if the device is approved in the US, UK, Australia, Canada, Japan or, since 14 Aug 2026 (G.S.R. 744(E)), the EU</a:t>
            </a:r>
            <a:endParaRPr lang="en-US" sz="950" dirty="0"/>
          </a:p>
          <a:p>
            <a:pPr marL="127000" indent="-127000">
              <a:spcAft>
                <a:spcPts val="200"/>
              </a:spcAft>
              <a:buSzPct val="100000"/>
              <a:buChar char="•"/>
            </a:pPr>
            <a:r>
              <a:rPr lang="en-US" sz="950" dirty="0">
                <a:solidFill>
                  <a:schemeClr val="tx2"/>
                </a:solidFill>
              </a:rPr>
              <a:t>Conditions: marketed there for at least 2 years; CDSCO satisfied with safety, performance and post-market data</a:t>
            </a:r>
            <a:endParaRPr lang="en-US" sz="950" dirty="0"/>
          </a:p>
          <a:p>
            <a:pPr marL="127000" indent="-127000">
              <a:spcAft>
                <a:spcPts val="200"/>
              </a:spcAft>
              <a:buSzPct val="100000"/>
              <a:buChar char="•"/>
            </a:pPr>
            <a:r>
              <a:rPr lang="en-US" sz="950" dirty="0">
                <a:solidFill>
                  <a:schemeClr val="tx2"/>
                </a:solidFill>
              </a:rPr>
              <a:t>A post-marketing clinical investigation in India is still required</a:t>
            </a:r>
            <a:endParaRPr lang="en-US" sz="950" dirty="0"/>
          </a:p>
        </p:txBody>
      </p:sp>
      <p:pic>
        <p:nvPicPr>
          <p:cNvPr id="42" name="Image 3" descr="US flag">    </p:cNvPr>
          <p:cNvPicPr>
            <a:picLocks noChangeAspect="1"/>
          </p:cNvPicPr>
          <p:nvPr/>
        </p:nvPicPr>
        <p:blipFill>
          <a:blip r:embed="rId4"/>
          <a:stretch>
            <a:fillRect/>
          </a:stretch>
        </p:blipFill>
        <p:spPr>
          <a:xfrm>
            <a:off x="6583680" y="5266944"/>
            <a:ext cx="457200" cy="304800"/>
          </a:xfrm>
          <a:prstGeom prst="rect">
            <a:avLst/>
          </a:prstGeom>
        </p:spPr>
      </p:pic>
      <p:pic>
        <p:nvPicPr>
          <p:cNvPr id="43" name="Image 4" descr="GB flag">    </p:cNvPr>
          <p:cNvPicPr>
            <a:picLocks noChangeAspect="1"/>
          </p:cNvPicPr>
          <p:nvPr/>
        </p:nvPicPr>
        <p:blipFill>
          <a:blip r:embed="rId5"/>
          <a:stretch>
            <a:fillRect/>
          </a:stretch>
        </p:blipFill>
        <p:spPr>
          <a:xfrm>
            <a:off x="7150608" y="5266944"/>
            <a:ext cx="457200" cy="304800"/>
          </a:xfrm>
          <a:prstGeom prst="rect">
            <a:avLst/>
          </a:prstGeom>
        </p:spPr>
      </p:pic>
      <p:pic>
        <p:nvPicPr>
          <p:cNvPr id="44" name="Image 5" descr="AU flag">    </p:cNvPr>
          <p:cNvPicPr>
            <a:picLocks noChangeAspect="1"/>
          </p:cNvPicPr>
          <p:nvPr/>
        </p:nvPicPr>
        <p:blipFill>
          <a:blip r:embed="rId6"/>
          <a:stretch>
            <a:fillRect/>
          </a:stretch>
        </p:blipFill>
        <p:spPr>
          <a:xfrm>
            <a:off x="7717536" y="5266944"/>
            <a:ext cx="457200" cy="304800"/>
          </a:xfrm>
          <a:prstGeom prst="rect">
            <a:avLst/>
          </a:prstGeom>
        </p:spPr>
      </p:pic>
      <p:pic>
        <p:nvPicPr>
          <p:cNvPr id="45" name="Image 6" descr="CA flag">    </p:cNvPr>
          <p:cNvPicPr>
            <a:picLocks noChangeAspect="1"/>
          </p:cNvPicPr>
          <p:nvPr/>
        </p:nvPicPr>
        <p:blipFill>
          <a:blip r:embed="rId7"/>
          <a:stretch>
            <a:fillRect/>
          </a:stretch>
        </p:blipFill>
        <p:spPr>
          <a:xfrm>
            <a:off x="8284464" y="5266944"/>
            <a:ext cx="457200" cy="304800"/>
          </a:xfrm>
          <a:prstGeom prst="rect">
            <a:avLst/>
          </a:prstGeom>
        </p:spPr>
      </p:pic>
      <p:pic>
        <p:nvPicPr>
          <p:cNvPr id="46" name="Image 7" descr="JP flag">    </p:cNvPr>
          <p:cNvPicPr>
            <a:picLocks noChangeAspect="1"/>
          </p:cNvPicPr>
          <p:nvPr/>
        </p:nvPicPr>
        <p:blipFill>
          <a:blip r:embed="rId8"/>
          <a:stretch>
            <a:fillRect/>
          </a:stretch>
        </p:blipFill>
        <p:spPr>
          <a:xfrm>
            <a:off x="8851392" y="5266944"/>
            <a:ext cx="457200" cy="304800"/>
          </a:xfrm>
          <a:prstGeom prst="rect">
            <a:avLst/>
          </a:prstGeom>
        </p:spPr>
      </p:pic>
      <p:pic>
        <p:nvPicPr>
          <p:cNvPr id="47" name="Image 8" descr="EU flag">    </p:cNvPr>
          <p:cNvPicPr>
            <a:picLocks noChangeAspect="1"/>
          </p:cNvPicPr>
          <p:nvPr/>
        </p:nvPicPr>
        <p:blipFill>
          <a:blip r:embed="rId9"/>
          <a:stretch>
            <a:fillRect/>
          </a:stretch>
        </p:blipFill>
        <p:spPr>
          <a:xfrm>
            <a:off x="9418320" y="5266944"/>
            <a:ext cx="457200" cy="304800"/>
          </a:xfrm>
          <a:prstGeom prst="rect">
            <a:avLst/>
          </a:prstGeom>
        </p:spPr>
      </p:pic>
      <p:sp>
        <p:nvSpPr>
          <p:cNvPr id="48" name="Text 36"/>
          <p:cNvSpPr txBox="1"/>
          <p:nvPr/>
        </p:nvSpPr>
        <p:spPr>
          <a:xfrm>
            <a:off x="10058400" y="5266944"/>
            <a:ext cx="1447495" cy="310896"/>
          </a:xfrm>
          <a:prstGeom prst="rect">
            <a:avLst/>
          </a:prstGeom>
          <a:noFill/>
          <a:ln/>
        </p:spPr>
        <p:txBody>
          <a:bodyPr wrap="square" lIns="0" tIns="0" rIns="0" bIns="0" rtlCol="0" anchor="ctr"/>
          <a:lstStyle/>
          <a:p>
            <a:pPr indent="0" marL="0">
              <a:buNone/>
            </a:pPr>
            <a:r>
              <a:rPr lang="en-US" sz="900" i="1" dirty="0">
                <a:solidFill>
                  <a:schemeClr val="accent5"/>
                </a:solidFill>
              </a:rPr>
              <a:t>recognised regulators</a:t>
            </a:r>
            <a:endParaRPr lang="en-US" sz="900" dirty="0"/>
          </a:p>
        </p:txBody>
      </p:sp>
      <p:sp>
        <p:nvSpPr>
          <p:cNvPr id="49" name="Callout"/>
          <p:cNvSpPr/>
          <p:nvPr/>
        </p:nvSpPr>
        <p:spPr>
          <a:xfrm>
            <a:off x="548640" y="5824728"/>
            <a:ext cx="11094415" cy="438912"/>
          </a:xfrm>
          <a:prstGeom prst="roundRect">
            <a:avLst>
              <a:gd name="adj" fmla="val 16667"/>
            </a:avLst>
          </a:prstGeom>
          <a:solidFill>
            <a:schemeClr val="accent2">
              <a:alpha val="12000"/>
            </a:schemeClr>
          </a:solidFill>
          <a:ln/>
        </p:spPr>
      </p:sp>
      <p:sp>
        <p:nvSpPr>
          <p:cNvPr id="50" name="Callout bar"/>
          <p:cNvSpPr/>
          <p:nvPr/>
        </p:nvSpPr>
        <p:spPr>
          <a:xfrm>
            <a:off x="548640" y="5916168"/>
            <a:ext cx="64008" cy="256032"/>
          </a:xfrm>
          <a:prstGeom prst="rect">
            <a:avLst/>
          </a:prstGeom>
          <a:solidFill>
            <a:schemeClr val="accent2"/>
          </a:solidFill>
          <a:ln/>
        </p:spPr>
      </p:sp>
      <p:sp>
        <p:nvSpPr>
          <p:cNvPr id="51" name="Text 39"/>
          <p:cNvSpPr txBox="1"/>
          <p:nvPr/>
        </p:nvSpPr>
        <p:spPr>
          <a:xfrm>
            <a:off x="822960" y="5824728"/>
            <a:ext cx="10682935" cy="438912"/>
          </a:xfrm>
          <a:prstGeom prst="rect">
            <a:avLst/>
          </a:prstGeom>
          <a:noFill/>
          <a:ln/>
        </p:spPr>
        <p:txBody>
          <a:bodyPr wrap="square" lIns="0" tIns="0" rIns="0" bIns="0" rtlCol="0" anchor="ctr"/>
          <a:lstStyle/>
          <a:p>
            <a:pPr indent="0" marL="0">
              <a:buNone/>
            </a:pPr>
            <a:r>
              <a:rPr lang="en-US" sz="1150" b="1" dirty="0">
                <a:solidFill>
                  <a:schemeClr val="tx1"/>
                </a:solidFill>
              </a:rPr>
              <a:t>About 70% of what India uses is imported (Parliamentary Standing Committee, Mar 2024). Every importer is a licence holder with the same post-market duties as a manufacturer.</a:t>
            </a:r>
            <a:endParaRPr lang="en-US" sz="11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INDIA · WHAT A LICENCE HOLDER MUST DO</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Eight duties that never stop</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MDR-2017 Rules 6, 7, 38, 43A, 44, 46 and Fifth Schedule; G.S.R. 743(E) 14 Aug 2026; G.S.R. 918(E) 31 Dec 2021; BIS IS 23485; CDSCO MDSW guidance 21 Jul 2026; CDSCO circular 15 May 2024</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sp>
        <p:nvSpPr>
          <p:cNvPr id="12" name="Duty Essential Principles"/>
          <p:cNvSpPr/>
          <p:nvPr/>
        </p:nvSpPr>
        <p:spPr>
          <a:xfrm>
            <a:off x="548640" y="1572768"/>
            <a:ext cx="3588410" cy="1429512"/>
          </a:xfrm>
          <a:prstGeom prst="roundRect">
            <a:avLst>
              <a:gd name="adj" fmla="val 7676"/>
            </a:avLst>
          </a:prstGeom>
          <a:solidFill>
            <a:schemeClr val="bg1">
              <a:alpha val="10000"/>
            </a:schemeClr>
          </a:solidFill>
          <a:ln w="9525">
            <a:solidFill>
              <a:schemeClr val="accent6"/>
            </a:solidFill>
            <a:prstDash val="solid"/>
          </a:ln>
        </p:spPr>
      </p:sp>
      <p:sp>
        <p:nvSpPr>
          <p:cNvPr id="13" name="Icon disc LuShieldCheck"/>
          <p:cNvSpPr/>
          <p:nvPr/>
        </p:nvSpPr>
        <p:spPr>
          <a:xfrm>
            <a:off x="731520" y="1737360"/>
            <a:ext cx="457200" cy="457200"/>
          </a:xfrm>
          <a:prstGeom prst="ellipse">
            <a:avLst/>
          </a:prstGeom>
          <a:solidFill>
            <a:schemeClr val="accent1"/>
          </a:solidFill>
          <a:ln/>
        </p:spPr>
      </p:sp>
      <p:pic>
        <p:nvPicPr>
          <p:cNvPr id="14" name="Image 0" descr="ShieldCheck icon">    </p:cNvPr>
          <p:cNvPicPr>
            <a:picLocks noChangeAspect="1"/>
          </p:cNvPicPr>
          <p:nvPr/>
        </p:nvPicPr>
        <p:blipFill>
          <a:blip r:embed="rId1"/>
          <a:stretch>
            <a:fillRect/>
          </a:stretch>
        </p:blipFill>
        <p:spPr>
          <a:xfrm>
            <a:off x="832104" y="1837944"/>
            <a:ext cx="256032" cy="256032"/>
          </a:xfrm>
          <a:prstGeom prst="rect">
            <a:avLst/>
          </a:prstGeom>
        </p:spPr>
      </p:pic>
      <p:sp>
        <p:nvSpPr>
          <p:cNvPr id="15" name="Text 11"/>
          <p:cNvSpPr txBox="1"/>
          <p:nvPr/>
        </p:nvSpPr>
        <p:spPr>
          <a:xfrm>
            <a:off x="1298448" y="1700784"/>
            <a:ext cx="2674010" cy="548640"/>
          </a:xfrm>
          <a:prstGeom prst="rect">
            <a:avLst/>
          </a:prstGeom>
          <a:noFill/>
          <a:ln/>
        </p:spPr>
        <p:txBody>
          <a:bodyPr wrap="square" lIns="0" tIns="0" rIns="0" bIns="0" rtlCol="0" anchor="ctr"/>
          <a:lstStyle/>
          <a:p>
            <a:pPr indent="0" marL="0">
              <a:buNone/>
            </a:pPr>
            <a:r>
              <a:rPr lang="en-US" sz="1300" b="1" dirty="0">
                <a:solidFill>
                  <a:schemeClr val="bg1"/>
                </a:solidFill>
              </a:rPr>
              <a:t>Essential Principles</a:t>
            </a:r>
            <a:endParaRPr lang="en-US" sz="1400" dirty="0"/>
          </a:p>
          <a:p>
            <a:pPr indent="0" marL="0">
              <a:buNone/>
            </a:pPr>
            <a:r>
              <a:rPr lang="en-US" sz="950" b="1" dirty="0">
                <a:solidFill>
                  <a:schemeClr val="accent2"/>
                </a:solidFill>
              </a:rPr>
              <a:t>Rule 6 · EP checklist</a:t>
            </a:r>
            <a:endParaRPr lang="en-US" sz="1400" dirty="0"/>
          </a:p>
        </p:txBody>
      </p:sp>
      <p:sp>
        <p:nvSpPr>
          <p:cNvPr id="16" name="Text 12"/>
          <p:cNvSpPr txBox="1"/>
          <p:nvPr/>
        </p:nvSpPr>
        <p:spPr>
          <a:xfrm>
            <a:off x="731520" y="2322576"/>
            <a:ext cx="3222650" cy="606552"/>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chemeClr val="accent6"/>
                </a:solidFill>
              </a:rPr>
              <a:t>Checklist filed with every application</a:t>
            </a:r>
            <a:endParaRPr lang="en-US" sz="1000" dirty="0"/>
          </a:p>
          <a:p>
            <a:pPr marL="127000" indent="-127000">
              <a:spcAft>
                <a:spcPts val="200"/>
              </a:spcAft>
              <a:buSzPct val="100000"/>
              <a:buChar char="•"/>
            </a:pPr>
            <a:r>
              <a:rPr lang="en-US" sz="1000" dirty="0">
                <a:solidFill>
                  <a:schemeClr val="accent6"/>
                </a:solidFill>
              </a:rPr>
              <a:t>Class A non-sterile, non-measuring: self-certified</a:t>
            </a:r>
            <a:endParaRPr lang="en-US" sz="1000" dirty="0"/>
          </a:p>
        </p:txBody>
      </p:sp>
      <p:sp>
        <p:nvSpPr>
          <p:cNvPr id="17" name="Duty Quality management system"/>
          <p:cNvSpPr/>
          <p:nvPr/>
        </p:nvSpPr>
        <p:spPr>
          <a:xfrm>
            <a:off x="4301642" y="1572768"/>
            <a:ext cx="3588410" cy="1429512"/>
          </a:xfrm>
          <a:prstGeom prst="roundRect">
            <a:avLst>
              <a:gd name="adj" fmla="val 7676"/>
            </a:avLst>
          </a:prstGeom>
          <a:solidFill>
            <a:schemeClr val="bg1">
              <a:alpha val="10000"/>
            </a:schemeClr>
          </a:solidFill>
          <a:ln w="9525">
            <a:solidFill>
              <a:schemeClr val="accent6"/>
            </a:solidFill>
            <a:prstDash val="solid"/>
          </a:ln>
        </p:spPr>
      </p:sp>
      <p:sp>
        <p:nvSpPr>
          <p:cNvPr id="18" name="Icon disc LuClipboardCheck"/>
          <p:cNvSpPr/>
          <p:nvPr/>
        </p:nvSpPr>
        <p:spPr>
          <a:xfrm>
            <a:off x="4484522" y="1737360"/>
            <a:ext cx="457200" cy="457200"/>
          </a:xfrm>
          <a:prstGeom prst="ellipse">
            <a:avLst/>
          </a:prstGeom>
          <a:solidFill>
            <a:schemeClr val="accent1"/>
          </a:solidFill>
          <a:ln/>
        </p:spPr>
      </p:sp>
      <p:pic>
        <p:nvPicPr>
          <p:cNvPr id="19" name="Image 1" descr="ClipboardCheck icon">    </p:cNvPr>
          <p:cNvPicPr>
            <a:picLocks noChangeAspect="1"/>
          </p:cNvPicPr>
          <p:nvPr/>
        </p:nvPicPr>
        <p:blipFill>
          <a:blip r:embed="rId2"/>
          <a:stretch>
            <a:fillRect/>
          </a:stretch>
        </p:blipFill>
        <p:spPr>
          <a:xfrm>
            <a:off x="4585106" y="1837944"/>
            <a:ext cx="256032" cy="256032"/>
          </a:xfrm>
          <a:prstGeom prst="rect">
            <a:avLst/>
          </a:prstGeom>
        </p:spPr>
      </p:pic>
      <p:sp>
        <p:nvSpPr>
          <p:cNvPr id="20" name="Text 15"/>
          <p:cNvSpPr txBox="1"/>
          <p:nvPr/>
        </p:nvSpPr>
        <p:spPr>
          <a:xfrm>
            <a:off x="5051450" y="1700784"/>
            <a:ext cx="2674010" cy="548640"/>
          </a:xfrm>
          <a:prstGeom prst="rect">
            <a:avLst/>
          </a:prstGeom>
          <a:noFill/>
          <a:ln/>
        </p:spPr>
        <p:txBody>
          <a:bodyPr wrap="square" lIns="0" tIns="0" rIns="0" bIns="0" rtlCol="0" anchor="ctr"/>
          <a:lstStyle/>
          <a:p>
            <a:pPr indent="0" marL="0">
              <a:buNone/>
            </a:pPr>
            <a:r>
              <a:rPr lang="en-US" sz="1300" b="1" dirty="0">
                <a:solidFill>
                  <a:schemeClr val="bg1"/>
                </a:solidFill>
              </a:rPr>
              <a:t>Quality management system</a:t>
            </a:r>
            <a:endParaRPr lang="en-US" sz="1400" dirty="0"/>
          </a:p>
          <a:p>
            <a:pPr indent="0" marL="0">
              <a:buNone/>
            </a:pPr>
            <a:r>
              <a:rPr lang="en-US" sz="950" b="1" dirty="0">
                <a:solidFill>
                  <a:schemeClr val="accent2"/>
                </a:solidFill>
              </a:rPr>
              <a:t>Fifth Schedule · IS 23485</a:t>
            </a:r>
            <a:endParaRPr lang="en-US" sz="1400" dirty="0"/>
          </a:p>
        </p:txBody>
      </p:sp>
      <p:sp>
        <p:nvSpPr>
          <p:cNvPr id="21" name="Text 16"/>
          <p:cNvSpPr txBox="1"/>
          <p:nvPr/>
        </p:nvSpPr>
        <p:spPr>
          <a:xfrm>
            <a:off x="4484522" y="2322576"/>
            <a:ext cx="3222650" cy="606552"/>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chemeClr val="accent6"/>
                </a:solidFill>
              </a:rPr>
              <a:t>ISO 13485-aligned manual, procedures, records</a:t>
            </a:r>
            <a:endParaRPr lang="en-US" sz="1000" dirty="0"/>
          </a:p>
          <a:p>
            <a:pPr marL="127000" indent="-127000">
              <a:spcAft>
                <a:spcPts val="200"/>
              </a:spcAft>
              <a:buSzPct val="100000"/>
              <a:buChar char="•"/>
            </a:pPr>
            <a:r>
              <a:rPr lang="en-US" sz="1000" dirty="0">
                <a:solidFill>
                  <a:schemeClr val="accent6"/>
                </a:solidFill>
              </a:rPr>
              <a:t>Notified-body audit (A/B) or CDSCO inspection (C/D)</a:t>
            </a:r>
            <a:endParaRPr lang="en-US" sz="1000" dirty="0"/>
          </a:p>
        </p:txBody>
      </p:sp>
      <p:sp>
        <p:nvSpPr>
          <p:cNvPr id="22" name="Duty Labelling"/>
          <p:cNvSpPr/>
          <p:nvPr/>
        </p:nvSpPr>
        <p:spPr>
          <a:xfrm>
            <a:off x="8054645" y="1572768"/>
            <a:ext cx="3588410" cy="1429512"/>
          </a:xfrm>
          <a:prstGeom prst="roundRect">
            <a:avLst>
              <a:gd name="adj" fmla="val 7676"/>
            </a:avLst>
          </a:prstGeom>
          <a:solidFill>
            <a:schemeClr val="bg1">
              <a:alpha val="10000"/>
            </a:schemeClr>
          </a:solidFill>
          <a:ln w="9525">
            <a:solidFill>
              <a:schemeClr val="accent6"/>
            </a:solidFill>
            <a:prstDash val="solid"/>
          </a:ln>
        </p:spPr>
      </p:sp>
      <p:sp>
        <p:nvSpPr>
          <p:cNvPr id="23" name="Icon disc LuTag"/>
          <p:cNvSpPr/>
          <p:nvPr/>
        </p:nvSpPr>
        <p:spPr>
          <a:xfrm>
            <a:off x="8237525" y="1737360"/>
            <a:ext cx="457200" cy="457200"/>
          </a:xfrm>
          <a:prstGeom prst="ellipse">
            <a:avLst/>
          </a:prstGeom>
          <a:solidFill>
            <a:schemeClr val="accent1"/>
          </a:solidFill>
          <a:ln/>
        </p:spPr>
      </p:sp>
      <p:pic>
        <p:nvPicPr>
          <p:cNvPr id="24" name="Image 2" descr="Tag icon">    </p:cNvPr>
          <p:cNvPicPr>
            <a:picLocks noChangeAspect="1"/>
          </p:cNvPicPr>
          <p:nvPr/>
        </p:nvPicPr>
        <p:blipFill>
          <a:blip r:embed="rId3"/>
          <a:stretch>
            <a:fillRect/>
          </a:stretch>
        </p:blipFill>
        <p:spPr>
          <a:xfrm>
            <a:off x="8338109" y="1837944"/>
            <a:ext cx="256032" cy="256032"/>
          </a:xfrm>
          <a:prstGeom prst="rect">
            <a:avLst/>
          </a:prstGeom>
        </p:spPr>
      </p:pic>
      <p:sp>
        <p:nvSpPr>
          <p:cNvPr id="25" name="Text 19"/>
          <p:cNvSpPr txBox="1"/>
          <p:nvPr/>
        </p:nvSpPr>
        <p:spPr>
          <a:xfrm>
            <a:off x="8804453" y="1700784"/>
            <a:ext cx="2674010" cy="548640"/>
          </a:xfrm>
          <a:prstGeom prst="rect">
            <a:avLst/>
          </a:prstGeom>
          <a:noFill/>
          <a:ln/>
        </p:spPr>
        <p:txBody>
          <a:bodyPr wrap="square" lIns="0" tIns="0" rIns="0" bIns="0" rtlCol="0" anchor="ctr"/>
          <a:lstStyle/>
          <a:p>
            <a:pPr indent="0" marL="0">
              <a:buNone/>
            </a:pPr>
            <a:r>
              <a:rPr lang="en-US" sz="1300" b="1" dirty="0">
                <a:solidFill>
                  <a:schemeClr val="bg1"/>
                </a:solidFill>
              </a:rPr>
              <a:t>Labelling</a:t>
            </a:r>
            <a:endParaRPr lang="en-US" sz="1400" dirty="0"/>
          </a:p>
          <a:p>
            <a:pPr indent="0" marL="0">
              <a:buNone/>
            </a:pPr>
            <a:r>
              <a:rPr lang="en-US" sz="950" b="1" dirty="0">
                <a:solidFill>
                  <a:schemeClr val="accent2"/>
                </a:solidFill>
              </a:rPr>
              <a:t>Rule 44 · Fourth Schedule</a:t>
            </a:r>
            <a:endParaRPr lang="en-US" sz="1400" dirty="0"/>
          </a:p>
        </p:txBody>
      </p:sp>
      <p:sp>
        <p:nvSpPr>
          <p:cNvPr id="26" name="Text 20"/>
          <p:cNvSpPr txBox="1"/>
          <p:nvPr/>
        </p:nvSpPr>
        <p:spPr>
          <a:xfrm>
            <a:off x="8237525" y="2322576"/>
            <a:ext cx="3222650" cy="606552"/>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chemeClr val="accent6"/>
                </a:solidFill>
              </a:rPr>
              <a:t>Name, manufacturer, net quantity, month and year of manufacture and expiry, licence number</a:t>
            </a:r>
            <a:endParaRPr lang="en-US" sz="1000" dirty="0"/>
          </a:p>
          <a:p>
            <a:pPr marL="127000" indent="-127000">
              <a:spcAft>
                <a:spcPts val="200"/>
              </a:spcAft>
              <a:buSzPct val="100000"/>
              <a:buChar char="•"/>
            </a:pPr>
            <a:r>
              <a:rPr lang="en-US" sz="1000" dirty="0">
                <a:solidFill>
                  <a:schemeClr val="accent6"/>
                </a:solidFill>
              </a:rPr>
              <a:t>From 14 Feb 2027: sterilisation-site licence number (S.M.L.)</a:t>
            </a:r>
            <a:endParaRPr lang="en-US" sz="1000" dirty="0"/>
          </a:p>
        </p:txBody>
      </p:sp>
      <p:sp>
        <p:nvSpPr>
          <p:cNvPr id="27" name="Duty Unique Device Identification"/>
          <p:cNvSpPr/>
          <p:nvPr/>
        </p:nvSpPr>
        <p:spPr>
          <a:xfrm>
            <a:off x="548640" y="3166872"/>
            <a:ext cx="3588410" cy="1429512"/>
          </a:xfrm>
          <a:prstGeom prst="roundRect">
            <a:avLst>
              <a:gd name="adj" fmla="val 7676"/>
            </a:avLst>
          </a:prstGeom>
          <a:solidFill>
            <a:schemeClr val="bg1">
              <a:alpha val="10000"/>
            </a:schemeClr>
          </a:solidFill>
          <a:ln w="9525">
            <a:solidFill>
              <a:schemeClr val="accent6"/>
            </a:solidFill>
            <a:prstDash val="solid"/>
          </a:ln>
        </p:spPr>
      </p:sp>
      <p:sp>
        <p:nvSpPr>
          <p:cNvPr id="28" name="Icon disc LuBarcode"/>
          <p:cNvSpPr/>
          <p:nvPr/>
        </p:nvSpPr>
        <p:spPr>
          <a:xfrm>
            <a:off x="731520" y="3331464"/>
            <a:ext cx="457200" cy="457200"/>
          </a:xfrm>
          <a:prstGeom prst="ellipse">
            <a:avLst/>
          </a:prstGeom>
          <a:solidFill>
            <a:schemeClr val="accent1"/>
          </a:solidFill>
          <a:ln/>
        </p:spPr>
      </p:sp>
      <p:pic>
        <p:nvPicPr>
          <p:cNvPr id="29" name="Image 3" descr="Barcode icon">    </p:cNvPr>
          <p:cNvPicPr>
            <a:picLocks noChangeAspect="1"/>
          </p:cNvPicPr>
          <p:nvPr/>
        </p:nvPicPr>
        <p:blipFill>
          <a:blip r:embed="rId4"/>
          <a:stretch>
            <a:fillRect/>
          </a:stretch>
        </p:blipFill>
        <p:spPr>
          <a:xfrm>
            <a:off x="832104" y="3432048"/>
            <a:ext cx="256032" cy="256032"/>
          </a:xfrm>
          <a:prstGeom prst="rect">
            <a:avLst/>
          </a:prstGeom>
        </p:spPr>
      </p:pic>
      <p:sp>
        <p:nvSpPr>
          <p:cNvPr id="30" name="Text 23"/>
          <p:cNvSpPr txBox="1"/>
          <p:nvPr/>
        </p:nvSpPr>
        <p:spPr>
          <a:xfrm>
            <a:off x="1298448" y="3294888"/>
            <a:ext cx="2674010" cy="548640"/>
          </a:xfrm>
          <a:prstGeom prst="rect">
            <a:avLst/>
          </a:prstGeom>
          <a:noFill/>
          <a:ln/>
        </p:spPr>
        <p:txBody>
          <a:bodyPr wrap="square" lIns="0" tIns="0" rIns="0" bIns="0" rtlCol="0" anchor="ctr"/>
          <a:lstStyle/>
          <a:p>
            <a:pPr indent="0" marL="0">
              <a:buNone/>
            </a:pPr>
            <a:r>
              <a:rPr lang="en-US" sz="1300" b="1" dirty="0">
                <a:solidFill>
                  <a:schemeClr val="bg1"/>
                </a:solidFill>
              </a:rPr>
              <a:t>Unique Device Identification</a:t>
            </a:r>
            <a:endParaRPr lang="en-US" sz="1400" dirty="0"/>
          </a:p>
          <a:p>
            <a:pPr indent="0" marL="0">
              <a:buNone/>
            </a:pPr>
            <a:r>
              <a:rPr lang="en-US" sz="950" b="1" dirty="0">
                <a:solidFill>
                  <a:schemeClr val="accent2"/>
                </a:solidFill>
              </a:rPr>
              <a:t>Rule 46 · date deferred</a:t>
            </a:r>
            <a:endParaRPr lang="en-US" sz="1400" dirty="0"/>
          </a:p>
        </p:txBody>
      </p:sp>
      <p:sp>
        <p:nvSpPr>
          <p:cNvPr id="31" name="Text 24"/>
          <p:cNvSpPr txBox="1"/>
          <p:nvPr/>
        </p:nvSpPr>
        <p:spPr>
          <a:xfrm>
            <a:off x="731520" y="3916680"/>
            <a:ext cx="3222650" cy="606552"/>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chemeClr val="accent6"/>
                </a:solidFill>
              </a:rPr>
              <a:t>Fixed start date removed by G.S.R. 918(E), 31 Dec 2021</a:t>
            </a:r>
            <a:endParaRPr lang="en-US" sz="1000" dirty="0"/>
          </a:p>
          <a:p>
            <a:pPr marL="127000" indent="-127000">
              <a:spcAft>
                <a:spcPts val="200"/>
              </a:spcAft>
              <a:buSzPct val="100000"/>
              <a:buChar char="•"/>
            </a:pPr>
            <a:r>
              <a:rPr lang="en-US" sz="1000" dirty="0">
                <a:solidFill>
                  <a:schemeClr val="accent6"/>
                </a:solidFill>
              </a:rPr>
              <a:t>No date fixed in 2026: plan the UDI anyway</a:t>
            </a:r>
            <a:endParaRPr lang="en-US" sz="1000" dirty="0"/>
          </a:p>
        </p:txBody>
      </p:sp>
      <p:sp>
        <p:nvSpPr>
          <p:cNvPr id="32" name="Licence card"/>
          <p:cNvSpPr/>
          <p:nvPr/>
        </p:nvSpPr>
        <p:spPr>
          <a:xfrm>
            <a:off x="4301642" y="3166872"/>
            <a:ext cx="3588410" cy="1429512"/>
          </a:xfrm>
          <a:prstGeom prst="roundRect">
            <a:avLst>
              <a:gd name="adj" fmla="val 8955"/>
            </a:avLst>
          </a:prstGeom>
          <a:solidFill>
            <a:schemeClr val="accent2"/>
          </a:solidFill>
          <a:ln/>
        </p:spPr>
      </p:sp>
      <p:sp>
        <p:nvSpPr>
          <p:cNvPr id="33" name="Icon disc LuBadgeCheck"/>
          <p:cNvSpPr/>
          <p:nvPr/>
        </p:nvSpPr>
        <p:spPr>
          <a:xfrm>
            <a:off x="4484522" y="3331464"/>
            <a:ext cx="457200" cy="457200"/>
          </a:xfrm>
          <a:prstGeom prst="ellipse">
            <a:avLst/>
          </a:prstGeom>
          <a:solidFill>
            <a:schemeClr val="tx2"/>
          </a:solidFill>
          <a:ln/>
        </p:spPr>
      </p:sp>
      <p:pic>
        <p:nvPicPr>
          <p:cNvPr id="34" name="Image 4" descr="BadgeCheck icon">    </p:cNvPr>
          <p:cNvPicPr>
            <a:picLocks noChangeAspect="1"/>
          </p:cNvPicPr>
          <p:nvPr/>
        </p:nvPicPr>
        <p:blipFill>
          <a:blip r:embed="rId5"/>
          <a:stretch>
            <a:fillRect/>
          </a:stretch>
        </p:blipFill>
        <p:spPr>
          <a:xfrm>
            <a:off x="4585106" y="3432048"/>
            <a:ext cx="256032" cy="256032"/>
          </a:xfrm>
          <a:prstGeom prst="rect">
            <a:avLst/>
          </a:prstGeom>
        </p:spPr>
      </p:pic>
      <p:sp>
        <p:nvSpPr>
          <p:cNvPr id="35" name="Text 27"/>
          <p:cNvSpPr txBox="1"/>
          <p:nvPr/>
        </p:nvSpPr>
        <p:spPr>
          <a:xfrm>
            <a:off x="5051450" y="3294888"/>
            <a:ext cx="2674010" cy="548640"/>
          </a:xfrm>
          <a:prstGeom prst="rect">
            <a:avLst/>
          </a:prstGeom>
          <a:noFill/>
          <a:ln/>
        </p:spPr>
        <p:txBody>
          <a:bodyPr wrap="square" lIns="0" tIns="0" rIns="0" bIns="0" rtlCol="0" anchor="ctr"/>
          <a:lstStyle/>
          <a:p>
            <a:pPr indent="0" marL="0">
              <a:buNone/>
            </a:pPr>
            <a:r>
              <a:rPr lang="en-US" sz="1400" b="1" dirty="0">
                <a:solidFill>
                  <a:schemeClr val="tx2"/>
                </a:solidFill>
              </a:rPr>
              <a:t>Your licence</a:t>
            </a:r>
            <a:endParaRPr lang="en-US" sz="1400" dirty="0"/>
          </a:p>
          <a:p>
            <a:pPr indent="0" marL="0">
              <a:buNone/>
            </a:pPr>
            <a:r>
              <a:rPr lang="en-US" sz="950" b="1" dirty="0">
                <a:solidFill>
                  <a:schemeClr val="tx2"/>
                </a:solidFill>
              </a:rPr>
              <a:t>MD-5 or MD-9 · perpetual</a:t>
            </a:r>
            <a:endParaRPr lang="en-US" sz="1400" dirty="0"/>
          </a:p>
        </p:txBody>
      </p:sp>
      <p:sp>
        <p:nvSpPr>
          <p:cNvPr id="36" name="Text 28"/>
          <p:cNvSpPr txBox="1"/>
          <p:nvPr/>
        </p:nvSpPr>
        <p:spPr>
          <a:xfrm>
            <a:off x="4484522" y="3916680"/>
            <a:ext cx="3222650" cy="606552"/>
          </a:xfrm>
          <a:prstGeom prst="rect">
            <a:avLst/>
          </a:prstGeom>
          <a:noFill/>
          <a:ln/>
        </p:spPr>
        <p:txBody>
          <a:bodyPr wrap="square" lIns="0" tIns="0" rIns="0" bIns="0" rtlCol="0" anchor="t"/>
          <a:lstStyle/>
          <a:p>
            <a:pPr marL="127000" indent="-127000">
              <a:spcAft>
                <a:spcPts val="200"/>
              </a:spcAft>
              <a:buSzPct val="100000"/>
              <a:buChar char="•"/>
            </a:pPr>
            <a:r>
              <a:rPr lang="en-US" sz="1050" dirty="0">
                <a:solidFill>
                  <a:schemeClr val="tx2"/>
                </a:solidFill>
              </a:rPr>
              <a:t>Retention fee every 5 years, same amount</a:t>
            </a:r>
            <a:endParaRPr lang="en-US" sz="1050" dirty="0"/>
          </a:p>
          <a:p>
            <a:pPr marL="127000" indent="-127000">
              <a:spcAft>
                <a:spcPts val="200"/>
              </a:spcAft>
              <a:buSzPct val="100000"/>
              <a:buChar char="•"/>
            </a:pPr>
            <a:r>
              <a:rPr lang="en-US" sz="1050" dirty="0">
                <a:solidFill>
                  <a:schemeClr val="tx2"/>
                </a:solidFill>
              </a:rPr>
              <a:t>Rule 43A: suspension or cancellation after show-cause for non-compliance</a:t>
            </a:r>
            <a:endParaRPr lang="en-US" sz="1050" dirty="0"/>
          </a:p>
        </p:txBody>
      </p:sp>
      <p:sp>
        <p:nvSpPr>
          <p:cNvPr id="37" name="Duty Standards"/>
          <p:cNvSpPr/>
          <p:nvPr/>
        </p:nvSpPr>
        <p:spPr>
          <a:xfrm>
            <a:off x="8054645" y="3166872"/>
            <a:ext cx="3588410" cy="1429512"/>
          </a:xfrm>
          <a:prstGeom prst="roundRect">
            <a:avLst>
              <a:gd name="adj" fmla="val 7676"/>
            </a:avLst>
          </a:prstGeom>
          <a:solidFill>
            <a:schemeClr val="bg1">
              <a:alpha val="10000"/>
            </a:schemeClr>
          </a:solidFill>
          <a:ln w="9525">
            <a:solidFill>
              <a:schemeClr val="accent6"/>
            </a:solidFill>
            <a:prstDash val="solid"/>
          </a:ln>
        </p:spPr>
      </p:sp>
      <p:sp>
        <p:nvSpPr>
          <p:cNvPr id="38" name="Icon disc LuRuler"/>
          <p:cNvSpPr/>
          <p:nvPr/>
        </p:nvSpPr>
        <p:spPr>
          <a:xfrm>
            <a:off x="8237525" y="3331464"/>
            <a:ext cx="457200" cy="457200"/>
          </a:xfrm>
          <a:prstGeom prst="ellipse">
            <a:avLst/>
          </a:prstGeom>
          <a:solidFill>
            <a:schemeClr val="accent1"/>
          </a:solidFill>
          <a:ln/>
        </p:spPr>
      </p:sp>
      <p:pic>
        <p:nvPicPr>
          <p:cNvPr id="39" name="Image 5" descr="Ruler icon">    </p:cNvPr>
          <p:cNvPicPr>
            <a:picLocks noChangeAspect="1"/>
          </p:cNvPicPr>
          <p:nvPr/>
        </p:nvPicPr>
        <p:blipFill>
          <a:blip r:embed="rId6"/>
          <a:stretch>
            <a:fillRect/>
          </a:stretch>
        </p:blipFill>
        <p:spPr>
          <a:xfrm>
            <a:off x="8338109" y="3432048"/>
            <a:ext cx="256032" cy="256032"/>
          </a:xfrm>
          <a:prstGeom prst="rect">
            <a:avLst/>
          </a:prstGeom>
        </p:spPr>
      </p:pic>
      <p:sp>
        <p:nvSpPr>
          <p:cNvPr id="40" name="Text 31"/>
          <p:cNvSpPr txBox="1"/>
          <p:nvPr/>
        </p:nvSpPr>
        <p:spPr>
          <a:xfrm>
            <a:off x="8804453" y="3294888"/>
            <a:ext cx="2674010" cy="548640"/>
          </a:xfrm>
          <a:prstGeom prst="rect">
            <a:avLst/>
          </a:prstGeom>
          <a:noFill/>
          <a:ln/>
        </p:spPr>
        <p:txBody>
          <a:bodyPr wrap="square" lIns="0" tIns="0" rIns="0" bIns="0" rtlCol="0" anchor="ctr"/>
          <a:lstStyle/>
          <a:p>
            <a:pPr indent="0" marL="0">
              <a:buNone/>
            </a:pPr>
            <a:r>
              <a:rPr lang="en-US" sz="1300" b="1" dirty="0">
                <a:solidFill>
                  <a:schemeClr val="bg1"/>
                </a:solidFill>
              </a:rPr>
              <a:t>Standards</a:t>
            </a:r>
            <a:endParaRPr lang="en-US" sz="1400" dirty="0"/>
          </a:p>
          <a:p>
            <a:pPr indent="0" marL="0">
              <a:buNone/>
            </a:pPr>
            <a:r>
              <a:rPr lang="en-US" sz="950" b="1" dirty="0">
                <a:solidFill>
                  <a:schemeClr val="accent2"/>
                </a:solidFill>
              </a:rPr>
              <a:t>Rule 7 · BIS, then ISO/IEC</a:t>
            </a:r>
            <a:endParaRPr lang="en-US" sz="1400" dirty="0"/>
          </a:p>
        </p:txBody>
      </p:sp>
      <p:sp>
        <p:nvSpPr>
          <p:cNvPr id="41" name="Text 32"/>
          <p:cNvSpPr txBox="1"/>
          <p:nvPr/>
        </p:nvSpPr>
        <p:spPr>
          <a:xfrm>
            <a:off x="8237525" y="3916680"/>
            <a:ext cx="3222650" cy="606552"/>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chemeClr val="accent6"/>
                </a:solidFill>
              </a:rPr>
              <a:t>BIS: ~1,200 device standards; 214 critical devices prioritised</a:t>
            </a:r>
            <a:endParaRPr lang="en-US" sz="1000" dirty="0"/>
          </a:p>
          <a:p>
            <a:pPr marL="127000" indent="-127000">
              <a:spcAft>
                <a:spcPts val="200"/>
              </a:spcAft>
              <a:buSzPct val="100000"/>
              <a:buChar char="•"/>
            </a:pPr>
            <a:r>
              <a:rPr lang="en-US" sz="1000" dirty="0">
                <a:solidFill>
                  <a:schemeClr val="accent6"/>
                </a:solidFill>
              </a:rPr>
              <a:t>Testing fees now in a Ninth Schedule (G.S.R. 743(E))</a:t>
            </a:r>
            <a:endParaRPr lang="en-US" sz="1000" dirty="0"/>
          </a:p>
        </p:txBody>
      </p:sp>
      <p:sp>
        <p:nvSpPr>
          <p:cNvPr id="42" name="Duty Records and traceability"/>
          <p:cNvSpPr/>
          <p:nvPr/>
        </p:nvSpPr>
        <p:spPr>
          <a:xfrm>
            <a:off x="548640" y="4760976"/>
            <a:ext cx="3588410" cy="1429512"/>
          </a:xfrm>
          <a:prstGeom prst="roundRect">
            <a:avLst>
              <a:gd name="adj" fmla="val 7676"/>
            </a:avLst>
          </a:prstGeom>
          <a:solidFill>
            <a:schemeClr val="bg1">
              <a:alpha val="10000"/>
            </a:schemeClr>
          </a:solidFill>
          <a:ln w="9525">
            <a:solidFill>
              <a:schemeClr val="accent6"/>
            </a:solidFill>
            <a:prstDash val="solid"/>
          </a:ln>
        </p:spPr>
      </p:sp>
      <p:sp>
        <p:nvSpPr>
          <p:cNvPr id="43" name="Icon disc LuArchive"/>
          <p:cNvSpPr/>
          <p:nvPr/>
        </p:nvSpPr>
        <p:spPr>
          <a:xfrm>
            <a:off x="731520" y="4925568"/>
            <a:ext cx="457200" cy="457200"/>
          </a:xfrm>
          <a:prstGeom prst="ellipse">
            <a:avLst/>
          </a:prstGeom>
          <a:solidFill>
            <a:schemeClr val="accent1"/>
          </a:solidFill>
          <a:ln/>
        </p:spPr>
      </p:sp>
      <p:pic>
        <p:nvPicPr>
          <p:cNvPr id="44" name="Image 6" descr="Archive icon">    </p:cNvPr>
          <p:cNvPicPr>
            <a:picLocks noChangeAspect="1"/>
          </p:cNvPicPr>
          <p:nvPr/>
        </p:nvPicPr>
        <p:blipFill>
          <a:blip r:embed="rId7"/>
          <a:stretch>
            <a:fillRect/>
          </a:stretch>
        </p:blipFill>
        <p:spPr>
          <a:xfrm>
            <a:off x="832104" y="5026152"/>
            <a:ext cx="256032" cy="256032"/>
          </a:xfrm>
          <a:prstGeom prst="rect">
            <a:avLst/>
          </a:prstGeom>
        </p:spPr>
      </p:pic>
      <p:sp>
        <p:nvSpPr>
          <p:cNvPr id="45" name="Text 35"/>
          <p:cNvSpPr txBox="1"/>
          <p:nvPr/>
        </p:nvSpPr>
        <p:spPr>
          <a:xfrm>
            <a:off x="1298448" y="4888992"/>
            <a:ext cx="2674010" cy="548640"/>
          </a:xfrm>
          <a:prstGeom prst="rect">
            <a:avLst/>
          </a:prstGeom>
          <a:noFill/>
          <a:ln/>
        </p:spPr>
        <p:txBody>
          <a:bodyPr wrap="square" lIns="0" tIns="0" rIns="0" bIns="0" rtlCol="0" anchor="ctr"/>
          <a:lstStyle/>
          <a:p>
            <a:pPr indent="0" marL="0">
              <a:buNone/>
            </a:pPr>
            <a:r>
              <a:rPr lang="en-US" sz="1300" b="1" dirty="0">
                <a:solidFill>
                  <a:schemeClr val="bg1"/>
                </a:solidFill>
              </a:rPr>
              <a:t>Records and traceability</a:t>
            </a:r>
            <a:endParaRPr lang="en-US" sz="1400" dirty="0"/>
          </a:p>
          <a:p>
            <a:pPr indent="0" marL="0">
              <a:buNone/>
            </a:pPr>
            <a:r>
              <a:rPr lang="en-US" sz="950" b="1" dirty="0">
                <a:solidFill>
                  <a:schemeClr val="accent2"/>
                </a:solidFill>
              </a:rPr>
              <a:t>Chapter IIIA · Rule 87A</a:t>
            </a:r>
            <a:endParaRPr lang="en-US" sz="1400" dirty="0"/>
          </a:p>
        </p:txBody>
      </p:sp>
      <p:sp>
        <p:nvSpPr>
          <p:cNvPr id="46" name="Text 36"/>
          <p:cNvSpPr txBox="1"/>
          <p:nvPr/>
        </p:nvSpPr>
        <p:spPr>
          <a:xfrm>
            <a:off x="731520" y="5510784"/>
            <a:ext cx="3222650" cy="606552"/>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chemeClr val="accent6"/>
                </a:solidFill>
              </a:rPr>
              <a:t>Batch or serial number and software version for every unit</a:t>
            </a:r>
            <a:endParaRPr lang="en-US" sz="1000" dirty="0"/>
          </a:p>
          <a:p>
            <a:pPr marL="127000" indent="-127000">
              <a:spcAft>
                <a:spcPts val="200"/>
              </a:spcAft>
              <a:buSzPct val="100000"/>
              <a:buChar char="•"/>
            </a:pPr>
            <a:r>
              <a:rPr lang="en-US" sz="1000" dirty="0">
                <a:solidFill>
                  <a:schemeClr val="accent6"/>
                </a:solidFill>
              </a:rPr>
              <a:t>Registration number on the label; sellers hold MD-42</a:t>
            </a:r>
            <a:endParaRPr lang="en-US" sz="1000" dirty="0"/>
          </a:p>
        </p:txBody>
      </p:sp>
      <p:sp>
        <p:nvSpPr>
          <p:cNvPr id="47" name="Duty Change control"/>
          <p:cNvSpPr/>
          <p:nvPr/>
        </p:nvSpPr>
        <p:spPr>
          <a:xfrm>
            <a:off x="4301642" y="4760976"/>
            <a:ext cx="3588410" cy="1429512"/>
          </a:xfrm>
          <a:prstGeom prst="roundRect">
            <a:avLst>
              <a:gd name="adj" fmla="val 7676"/>
            </a:avLst>
          </a:prstGeom>
          <a:solidFill>
            <a:schemeClr val="bg1">
              <a:alpha val="10000"/>
            </a:schemeClr>
          </a:solidFill>
          <a:ln w="9525">
            <a:solidFill>
              <a:schemeClr val="accent6"/>
            </a:solidFill>
            <a:prstDash val="solid"/>
          </a:ln>
        </p:spPr>
      </p:sp>
      <p:sp>
        <p:nvSpPr>
          <p:cNvPr id="48" name="Icon disc LuRefreshCw"/>
          <p:cNvSpPr/>
          <p:nvPr/>
        </p:nvSpPr>
        <p:spPr>
          <a:xfrm>
            <a:off x="4484522" y="4925568"/>
            <a:ext cx="457200" cy="457200"/>
          </a:xfrm>
          <a:prstGeom prst="ellipse">
            <a:avLst/>
          </a:prstGeom>
          <a:solidFill>
            <a:schemeClr val="accent1"/>
          </a:solidFill>
          <a:ln/>
        </p:spPr>
      </p:sp>
      <p:pic>
        <p:nvPicPr>
          <p:cNvPr id="49" name="Image 7" descr="RefreshCw icon">    </p:cNvPr>
          <p:cNvPicPr>
            <a:picLocks noChangeAspect="1"/>
          </p:cNvPicPr>
          <p:nvPr/>
        </p:nvPicPr>
        <p:blipFill>
          <a:blip r:embed="rId8"/>
          <a:stretch>
            <a:fillRect/>
          </a:stretch>
        </p:blipFill>
        <p:spPr>
          <a:xfrm>
            <a:off x="4585106" y="5026152"/>
            <a:ext cx="256032" cy="256032"/>
          </a:xfrm>
          <a:prstGeom prst="rect">
            <a:avLst/>
          </a:prstGeom>
        </p:spPr>
      </p:pic>
      <p:sp>
        <p:nvSpPr>
          <p:cNvPr id="50" name="Text 39"/>
          <p:cNvSpPr txBox="1"/>
          <p:nvPr/>
        </p:nvSpPr>
        <p:spPr>
          <a:xfrm>
            <a:off x="5051450" y="4888992"/>
            <a:ext cx="2674010" cy="548640"/>
          </a:xfrm>
          <a:prstGeom prst="rect">
            <a:avLst/>
          </a:prstGeom>
          <a:noFill/>
          <a:ln/>
        </p:spPr>
        <p:txBody>
          <a:bodyPr wrap="square" lIns="0" tIns="0" rIns="0" bIns="0" rtlCol="0" anchor="ctr"/>
          <a:lstStyle/>
          <a:p>
            <a:pPr indent="0" marL="0">
              <a:buNone/>
            </a:pPr>
            <a:r>
              <a:rPr lang="en-US" sz="1300" b="1" dirty="0">
                <a:solidFill>
                  <a:schemeClr val="bg1"/>
                </a:solidFill>
              </a:rPr>
              <a:t>Change control</a:t>
            </a:r>
            <a:endParaRPr lang="en-US" sz="1400" dirty="0"/>
          </a:p>
          <a:p>
            <a:pPr indent="0" marL="0">
              <a:buNone/>
            </a:pPr>
            <a:r>
              <a:rPr lang="en-US" sz="950" b="1" dirty="0">
                <a:solidFill>
                  <a:schemeClr val="accent2"/>
                </a:solidFill>
              </a:rPr>
              <a:t>MDSW guidance, 21 Jul 2026</a:t>
            </a:r>
            <a:endParaRPr lang="en-US" sz="1400" dirty="0"/>
          </a:p>
        </p:txBody>
      </p:sp>
      <p:sp>
        <p:nvSpPr>
          <p:cNvPr id="51" name="Text 40"/>
          <p:cNvSpPr txBox="1"/>
          <p:nvPr/>
        </p:nvSpPr>
        <p:spPr>
          <a:xfrm>
            <a:off x="4484522" y="5510784"/>
            <a:ext cx="3222650" cy="606552"/>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chemeClr val="accent6"/>
                </a:solidFill>
              </a:rPr>
              <a:t>Version control, validation, documented change management</a:t>
            </a:r>
            <a:endParaRPr lang="en-US" sz="1000" dirty="0"/>
          </a:p>
          <a:p>
            <a:pPr marL="127000" indent="-127000">
              <a:spcAft>
                <a:spcPts val="200"/>
              </a:spcAft>
              <a:buSzPct val="100000"/>
              <a:buChar char="•"/>
            </a:pPr>
            <a:r>
              <a:rPr lang="en-US" sz="1000" dirty="0">
                <a:solidFill>
                  <a:schemeClr val="accent6"/>
                </a:solidFill>
              </a:rPr>
              <a:t>Major change: prior approval; minor: notification (verify)</a:t>
            </a:r>
            <a:endParaRPr lang="en-US" sz="1000" dirty="0"/>
          </a:p>
        </p:txBody>
      </p:sp>
      <p:sp>
        <p:nvSpPr>
          <p:cNvPr id="52" name="Duty Vigilance"/>
          <p:cNvSpPr/>
          <p:nvPr/>
        </p:nvSpPr>
        <p:spPr>
          <a:xfrm>
            <a:off x="8054645" y="4760976"/>
            <a:ext cx="3588410" cy="1429512"/>
          </a:xfrm>
          <a:prstGeom prst="roundRect">
            <a:avLst>
              <a:gd name="adj" fmla="val 7676"/>
            </a:avLst>
          </a:prstGeom>
          <a:solidFill>
            <a:schemeClr val="bg1">
              <a:alpha val="10000"/>
            </a:schemeClr>
          </a:solidFill>
          <a:ln w="9525">
            <a:solidFill>
              <a:schemeClr val="accent6"/>
            </a:solidFill>
            <a:prstDash val="solid"/>
          </a:ln>
        </p:spPr>
      </p:sp>
      <p:sp>
        <p:nvSpPr>
          <p:cNvPr id="53" name="Icon disc LuSiren"/>
          <p:cNvSpPr/>
          <p:nvPr/>
        </p:nvSpPr>
        <p:spPr>
          <a:xfrm>
            <a:off x="8237525" y="4925568"/>
            <a:ext cx="457200" cy="457200"/>
          </a:xfrm>
          <a:prstGeom prst="ellipse">
            <a:avLst/>
          </a:prstGeom>
          <a:solidFill>
            <a:schemeClr val="accent1"/>
          </a:solidFill>
          <a:ln/>
        </p:spPr>
      </p:sp>
      <p:pic>
        <p:nvPicPr>
          <p:cNvPr id="54" name="Image 8" descr="Siren icon">    </p:cNvPr>
          <p:cNvPicPr>
            <a:picLocks noChangeAspect="1"/>
          </p:cNvPicPr>
          <p:nvPr/>
        </p:nvPicPr>
        <p:blipFill>
          <a:blip r:embed="rId9"/>
          <a:stretch>
            <a:fillRect/>
          </a:stretch>
        </p:blipFill>
        <p:spPr>
          <a:xfrm>
            <a:off x="8338109" y="5026152"/>
            <a:ext cx="256032" cy="256032"/>
          </a:xfrm>
          <a:prstGeom prst="rect">
            <a:avLst/>
          </a:prstGeom>
        </p:spPr>
      </p:pic>
      <p:sp>
        <p:nvSpPr>
          <p:cNvPr id="55" name="Text 43"/>
          <p:cNvSpPr txBox="1"/>
          <p:nvPr/>
        </p:nvSpPr>
        <p:spPr>
          <a:xfrm>
            <a:off x="8804453" y="4888992"/>
            <a:ext cx="2674010" cy="548640"/>
          </a:xfrm>
          <a:prstGeom prst="rect">
            <a:avLst/>
          </a:prstGeom>
          <a:noFill/>
          <a:ln/>
        </p:spPr>
        <p:txBody>
          <a:bodyPr wrap="square" lIns="0" tIns="0" rIns="0" bIns="0" rtlCol="0" anchor="ctr"/>
          <a:lstStyle/>
          <a:p>
            <a:pPr indent="0" marL="0">
              <a:buNone/>
            </a:pPr>
            <a:r>
              <a:rPr lang="en-US" sz="1300" b="1" dirty="0">
                <a:solidFill>
                  <a:schemeClr val="bg1"/>
                </a:solidFill>
              </a:rPr>
              <a:t>Vigilance</a:t>
            </a:r>
            <a:endParaRPr lang="en-US" sz="1400" dirty="0"/>
          </a:p>
          <a:p>
            <a:pPr indent="0" marL="0">
              <a:buNone/>
            </a:pPr>
            <a:r>
              <a:rPr lang="en-US" sz="950" b="1" dirty="0">
                <a:solidFill>
                  <a:schemeClr val="accent2"/>
                </a:solidFill>
              </a:rPr>
              <a:t>Rule 38 · MvPI circular 15 May 2024</a:t>
            </a:r>
            <a:endParaRPr lang="en-US" sz="1400" dirty="0"/>
          </a:p>
        </p:txBody>
      </p:sp>
      <p:sp>
        <p:nvSpPr>
          <p:cNvPr id="56" name="Text 44"/>
          <p:cNvSpPr txBox="1"/>
          <p:nvPr/>
        </p:nvSpPr>
        <p:spPr>
          <a:xfrm>
            <a:off x="8237525" y="5510784"/>
            <a:ext cx="3222650" cy="606552"/>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chemeClr val="accent6"/>
                </a:solidFill>
              </a:rPr>
              <a:t>Serious adverse events: report within 15 days</a:t>
            </a:r>
            <a:endParaRPr lang="en-US" sz="1000" dirty="0"/>
          </a:p>
          <a:p>
            <a:pPr marL="127000" indent="-127000">
              <a:spcAft>
                <a:spcPts val="200"/>
              </a:spcAft>
              <a:buSzPct val="100000"/>
              <a:buChar char="•"/>
            </a:pPr>
            <a:r>
              <a:rPr lang="en-US" sz="1000" dirty="0">
                <a:solidFill>
                  <a:schemeClr val="accent6"/>
                </a:solidFill>
              </a:rPr>
              <a:t>Action abroad → CDSCO within 15 days; MDAE form to MvPI</a:t>
            </a:r>
            <a:endParaRPr lang="en-US" sz="10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INDIA · TESTING IN PEOPLE</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Clinical investigation under MDR-2017</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MDR-2017 Chapter VII, Rules 50–63 and Seventh Schedule; CDSCO Form MD-22 and checklist; NDCT Rules 2019; ICMR 2017; ISO 14155:2026; G.S.R. 744(E) 14 Aug 2026</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Lane Sponsor / investigator"/>
          <p:cNvSpPr/>
          <p:nvPr/>
        </p:nvSpPr>
        <p:spPr>
          <a:xfrm>
            <a:off x="548640" y="1572768"/>
            <a:ext cx="7589520" cy="914400"/>
          </a:xfrm>
          <a:prstGeom prst="rect">
            <a:avLst/>
          </a:prstGeom>
          <a:solidFill>
            <a:schemeClr val="bg2"/>
          </a:solidFill>
          <a:ln w="6350">
            <a:solidFill>
              <a:srgbClr val="E3EAE8"/>
            </a:solidFill>
            <a:prstDash val="solid"/>
          </a:ln>
        </p:spPr>
      </p:sp>
      <p:sp>
        <p:nvSpPr>
          <p:cNvPr id="13" name="Lane accent"/>
          <p:cNvSpPr/>
          <p:nvPr/>
        </p:nvSpPr>
        <p:spPr>
          <a:xfrm>
            <a:off x="548640" y="1572768"/>
            <a:ext cx="64008" cy="914400"/>
          </a:xfrm>
          <a:prstGeom prst="rect">
            <a:avLst/>
          </a:prstGeom>
          <a:solidFill>
            <a:schemeClr val="accent1"/>
          </a:solidFill>
          <a:ln/>
        </p:spPr>
      </p:sp>
      <p:sp>
        <p:nvSpPr>
          <p:cNvPr id="14" name="Icon disc LuBuilding2"/>
          <p:cNvSpPr/>
          <p:nvPr/>
        </p:nvSpPr>
        <p:spPr>
          <a:xfrm>
            <a:off x="713232" y="1682496"/>
            <a:ext cx="310896" cy="310896"/>
          </a:xfrm>
          <a:prstGeom prst="ellipse">
            <a:avLst/>
          </a:prstGeom>
          <a:solidFill>
            <a:schemeClr val="accent1"/>
          </a:solidFill>
          <a:ln/>
        </p:spPr>
      </p:sp>
      <p:pic>
        <p:nvPicPr>
          <p:cNvPr id="15" name="Image 0" descr="Building2 icon">    </p:cNvPr>
          <p:cNvPicPr>
            <a:picLocks noChangeAspect="1"/>
          </p:cNvPicPr>
          <p:nvPr/>
        </p:nvPicPr>
        <p:blipFill>
          <a:blip r:embed="rId1"/>
          <a:stretch>
            <a:fillRect/>
          </a:stretch>
        </p:blipFill>
        <p:spPr>
          <a:xfrm>
            <a:off x="781629" y="1750893"/>
            <a:ext cx="174102" cy="174102"/>
          </a:xfrm>
          <a:prstGeom prst="rect">
            <a:avLst/>
          </a:prstGeom>
        </p:spPr>
      </p:pic>
      <p:sp>
        <p:nvSpPr>
          <p:cNvPr id="16" name="Text 12"/>
          <p:cNvSpPr txBox="1"/>
          <p:nvPr/>
        </p:nvSpPr>
        <p:spPr>
          <a:xfrm>
            <a:off x="694944" y="2029968"/>
            <a:ext cx="914400" cy="420624"/>
          </a:xfrm>
          <a:prstGeom prst="rect">
            <a:avLst/>
          </a:prstGeom>
          <a:noFill/>
          <a:ln/>
        </p:spPr>
        <p:txBody>
          <a:bodyPr wrap="square" lIns="0" tIns="0" rIns="0" bIns="0" rtlCol="0" anchor="t"/>
          <a:lstStyle/>
          <a:p>
            <a:pPr indent="0" marL="0">
              <a:buNone/>
            </a:pPr>
            <a:r>
              <a:rPr lang="en-US" sz="950" b="1" dirty="0">
                <a:solidFill>
                  <a:schemeClr val="tx1"/>
                </a:solidFill>
              </a:rPr>
              <a:t>Sponsor / investigator</a:t>
            </a:r>
            <a:endParaRPr lang="en-US" sz="950" dirty="0"/>
          </a:p>
        </p:txBody>
      </p:sp>
      <p:sp>
        <p:nvSpPr>
          <p:cNvPr id="17" name="Lane Ethics committee"/>
          <p:cNvSpPr/>
          <p:nvPr/>
        </p:nvSpPr>
        <p:spPr>
          <a:xfrm>
            <a:off x="548640" y="2487168"/>
            <a:ext cx="7589520" cy="914400"/>
          </a:xfrm>
          <a:prstGeom prst="rect">
            <a:avLst/>
          </a:prstGeom>
          <a:solidFill>
            <a:srgbClr val="F6F9F8"/>
          </a:solidFill>
          <a:ln w="6350">
            <a:solidFill>
              <a:srgbClr val="E3EAE8"/>
            </a:solidFill>
            <a:prstDash val="solid"/>
          </a:ln>
        </p:spPr>
      </p:sp>
      <p:sp>
        <p:nvSpPr>
          <p:cNvPr id="18" name="Lane accent"/>
          <p:cNvSpPr/>
          <p:nvPr/>
        </p:nvSpPr>
        <p:spPr>
          <a:xfrm>
            <a:off x="548640" y="2487168"/>
            <a:ext cx="64008" cy="914400"/>
          </a:xfrm>
          <a:prstGeom prst="rect">
            <a:avLst/>
          </a:prstGeom>
          <a:solidFill>
            <a:schemeClr val="accent2"/>
          </a:solidFill>
          <a:ln/>
        </p:spPr>
      </p:sp>
      <p:sp>
        <p:nvSpPr>
          <p:cNvPr id="19" name="Icon disc LuUsers"/>
          <p:cNvSpPr/>
          <p:nvPr/>
        </p:nvSpPr>
        <p:spPr>
          <a:xfrm>
            <a:off x="713232" y="2596896"/>
            <a:ext cx="310896" cy="310896"/>
          </a:xfrm>
          <a:prstGeom prst="ellipse">
            <a:avLst/>
          </a:prstGeom>
          <a:solidFill>
            <a:schemeClr val="accent2"/>
          </a:solidFill>
          <a:ln/>
        </p:spPr>
      </p:sp>
      <p:pic>
        <p:nvPicPr>
          <p:cNvPr id="20" name="Image 1" descr="Users icon">    </p:cNvPr>
          <p:cNvPicPr>
            <a:picLocks noChangeAspect="1"/>
          </p:cNvPicPr>
          <p:nvPr/>
        </p:nvPicPr>
        <p:blipFill>
          <a:blip r:embed="rId2"/>
          <a:stretch>
            <a:fillRect/>
          </a:stretch>
        </p:blipFill>
        <p:spPr>
          <a:xfrm>
            <a:off x="781629" y="2665293"/>
            <a:ext cx="174102" cy="174102"/>
          </a:xfrm>
          <a:prstGeom prst="rect">
            <a:avLst/>
          </a:prstGeom>
        </p:spPr>
      </p:pic>
      <p:sp>
        <p:nvSpPr>
          <p:cNvPr id="21" name="Text 16"/>
          <p:cNvSpPr txBox="1"/>
          <p:nvPr/>
        </p:nvSpPr>
        <p:spPr>
          <a:xfrm>
            <a:off x="694944" y="2944368"/>
            <a:ext cx="914400" cy="420624"/>
          </a:xfrm>
          <a:prstGeom prst="rect">
            <a:avLst/>
          </a:prstGeom>
          <a:noFill/>
          <a:ln/>
        </p:spPr>
        <p:txBody>
          <a:bodyPr wrap="square" lIns="0" tIns="0" rIns="0" bIns="0" rtlCol="0" anchor="t"/>
          <a:lstStyle/>
          <a:p>
            <a:pPr indent="0" marL="0">
              <a:buNone/>
            </a:pPr>
            <a:r>
              <a:rPr lang="en-US" sz="950" b="1" dirty="0">
                <a:solidFill>
                  <a:schemeClr val="tx1"/>
                </a:solidFill>
              </a:rPr>
              <a:t>Ethics committee</a:t>
            </a:r>
            <a:endParaRPr lang="en-US" sz="950" dirty="0"/>
          </a:p>
        </p:txBody>
      </p:sp>
      <p:sp>
        <p:nvSpPr>
          <p:cNvPr id="22" name="Lane CDSCO (CLA)"/>
          <p:cNvSpPr/>
          <p:nvPr/>
        </p:nvSpPr>
        <p:spPr>
          <a:xfrm>
            <a:off x="548640" y="3401568"/>
            <a:ext cx="7589520" cy="914400"/>
          </a:xfrm>
          <a:prstGeom prst="rect">
            <a:avLst/>
          </a:prstGeom>
          <a:solidFill>
            <a:schemeClr val="bg2"/>
          </a:solidFill>
          <a:ln w="6350">
            <a:solidFill>
              <a:srgbClr val="E3EAE8"/>
            </a:solidFill>
            <a:prstDash val="solid"/>
          </a:ln>
        </p:spPr>
      </p:sp>
      <p:sp>
        <p:nvSpPr>
          <p:cNvPr id="23" name="Lane accent"/>
          <p:cNvSpPr/>
          <p:nvPr/>
        </p:nvSpPr>
        <p:spPr>
          <a:xfrm>
            <a:off x="548640" y="3401568"/>
            <a:ext cx="64008" cy="914400"/>
          </a:xfrm>
          <a:prstGeom prst="rect">
            <a:avLst/>
          </a:prstGeom>
          <a:solidFill>
            <a:schemeClr val="accent4"/>
          </a:solidFill>
          <a:ln/>
        </p:spPr>
      </p:sp>
      <p:sp>
        <p:nvSpPr>
          <p:cNvPr id="24" name="Icon disc LuLandmark"/>
          <p:cNvSpPr/>
          <p:nvPr/>
        </p:nvSpPr>
        <p:spPr>
          <a:xfrm>
            <a:off x="713232" y="3511296"/>
            <a:ext cx="310896" cy="310896"/>
          </a:xfrm>
          <a:prstGeom prst="ellipse">
            <a:avLst/>
          </a:prstGeom>
          <a:solidFill>
            <a:schemeClr val="accent4"/>
          </a:solidFill>
          <a:ln/>
        </p:spPr>
      </p:sp>
      <p:pic>
        <p:nvPicPr>
          <p:cNvPr id="25" name="Image 2" descr="Landmark icon">    </p:cNvPr>
          <p:cNvPicPr>
            <a:picLocks noChangeAspect="1"/>
          </p:cNvPicPr>
          <p:nvPr/>
        </p:nvPicPr>
        <p:blipFill>
          <a:blip r:embed="rId3"/>
          <a:stretch>
            <a:fillRect/>
          </a:stretch>
        </p:blipFill>
        <p:spPr>
          <a:xfrm>
            <a:off x="781629" y="3579693"/>
            <a:ext cx="174102" cy="174102"/>
          </a:xfrm>
          <a:prstGeom prst="rect">
            <a:avLst/>
          </a:prstGeom>
        </p:spPr>
      </p:pic>
      <p:sp>
        <p:nvSpPr>
          <p:cNvPr id="26" name="Text 20"/>
          <p:cNvSpPr txBox="1"/>
          <p:nvPr/>
        </p:nvSpPr>
        <p:spPr>
          <a:xfrm>
            <a:off x="694944" y="3858768"/>
            <a:ext cx="914400" cy="420624"/>
          </a:xfrm>
          <a:prstGeom prst="rect">
            <a:avLst/>
          </a:prstGeom>
          <a:noFill/>
          <a:ln/>
        </p:spPr>
        <p:txBody>
          <a:bodyPr wrap="square" lIns="0" tIns="0" rIns="0" bIns="0" rtlCol="0" anchor="t"/>
          <a:lstStyle/>
          <a:p>
            <a:pPr indent="0" marL="0">
              <a:buNone/>
            </a:pPr>
            <a:r>
              <a:rPr lang="en-US" sz="950" b="1" dirty="0">
                <a:solidFill>
                  <a:schemeClr val="tx1"/>
                </a:solidFill>
              </a:rPr>
              <a:t>CDSCO (CLA)</a:t>
            </a:r>
            <a:endParaRPr lang="en-US" sz="950" dirty="0"/>
          </a:p>
        </p:txBody>
      </p:sp>
      <p:sp>
        <p:nvSpPr>
          <p:cNvPr id="27" name="Lane CTRI"/>
          <p:cNvSpPr/>
          <p:nvPr/>
        </p:nvSpPr>
        <p:spPr>
          <a:xfrm>
            <a:off x="548640" y="4315968"/>
            <a:ext cx="7589520" cy="914400"/>
          </a:xfrm>
          <a:prstGeom prst="rect">
            <a:avLst/>
          </a:prstGeom>
          <a:solidFill>
            <a:srgbClr val="F6F9F8"/>
          </a:solidFill>
          <a:ln w="6350">
            <a:solidFill>
              <a:srgbClr val="E3EAE8"/>
            </a:solidFill>
            <a:prstDash val="solid"/>
          </a:ln>
        </p:spPr>
      </p:sp>
      <p:sp>
        <p:nvSpPr>
          <p:cNvPr id="28" name="Lane accent"/>
          <p:cNvSpPr/>
          <p:nvPr/>
        </p:nvSpPr>
        <p:spPr>
          <a:xfrm>
            <a:off x="548640" y="4315968"/>
            <a:ext cx="64008" cy="914400"/>
          </a:xfrm>
          <a:prstGeom prst="rect">
            <a:avLst/>
          </a:prstGeom>
          <a:solidFill>
            <a:schemeClr val="accent3"/>
          </a:solidFill>
          <a:ln/>
        </p:spPr>
      </p:sp>
      <p:sp>
        <p:nvSpPr>
          <p:cNvPr id="29" name="Icon disc LuDatabase"/>
          <p:cNvSpPr/>
          <p:nvPr/>
        </p:nvSpPr>
        <p:spPr>
          <a:xfrm>
            <a:off x="713232" y="4425696"/>
            <a:ext cx="310896" cy="310896"/>
          </a:xfrm>
          <a:prstGeom prst="ellipse">
            <a:avLst/>
          </a:prstGeom>
          <a:solidFill>
            <a:schemeClr val="accent3"/>
          </a:solidFill>
          <a:ln/>
        </p:spPr>
      </p:sp>
      <p:pic>
        <p:nvPicPr>
          <p:cNvPr id="30" name="Image 3" descr="Database icon">    </p:cNvPr>
          <p:cNvPicPr>
            <a:picLocks noChangeAspect="1"/>
          </p:cNvPicPr>
          <p:nvPr/>
        </p:nvPicPr>
        <p:blipFill>
          <a:blip r:embed="rId4"/>
          <a:stretch>
            <a:fillRect/>
          </a:stretch>
        </p:blipFill>
        <p:spPr>
          <a:xfrm>
            <a:off x="781629" y="4494093"/>
            <a:ext cx="174102" cy="174102"/>
          </a:xfrm>
          <a:prstGeom prst="rect">
            <a:avLst/>
          </a:prstGeom>
        </p:spPr>
      </p:pic>
      <p:sp>
        <p:nvSpPr>
          <p:cNvPr id="31" name="Text 24"/>
          <p:cNvSpPr txBox="1"/>
          <p:nvPr/>
        </p:nvSpPr>
        <p:spPr>
          <a:xfrm>
            <a:off x="694944" y="4773168"/>
            <a:ext cx="914400" cy="420624"/>
          </a:xfrm>
          <a:prstGeom prst="rect">
            <a:avLst/>
          </a:prstGeom>
          <a:noFill/>
          <a:ln/>
        </p:spPr>
        <p:txBody>
          <a:bodyPr wrap="square" lIns="0" tIns="0" rIns="0" bIns="0" rtlCol="0" anchor="t"/>
          <a:lstStyle/>
          <a:p>
            <a:pPr indent="0" marL="0">
              <a:buNone/>
            </a:pPr>
            <a:r>
              <a:rPr lang="en-US" sz="950" b="1" dirty="0">
                <a:solidFill>
                  <a:schemeClr val="tx1"/>
                </a:solidFill>
              </a:rPr>
              <a:t>CTRI</a:t>
            </a:r>
            <a:endParaRPr lang="en-US" sz="950" dirty="0"/>
          </a:p>
        </p:txBody>
      </p:sp>
      <p:sp>
        <p:nvSpPr>
          <p:cNvPr id="32" name="Step 1"/>
          <p:cNvSpPr/>
          <p:nvPr/>
        </p:nvSpPr>
        <p:spPr>
          <a:xfrm>
            <a:off x="1755648" y="1664208"/>
            <a:ext cx="1035101" cy="731520"/>
          </a:xfrm>
          <a:prstGeom prst="roundRect">
            <a:avLst>
              <a:gd name="adj" fmla="val 10000"/>
            </a:avLst>
          </a:prstGeom>
          <a:solidFill>
            <a:schemeClr val="bg1"/>
          </a:solidFill>
          <a:ln w="19050">
            <a:solidFill>
              <a:schemeClr val="accent1"/>
            </a:solidFill>
            <a:prstDash val="solid"/>
          </a:ln>
        </p:spPr>
      </p:sp>
      <p:sp>
        <p:nvSpPr>
          <p:cNvPr id="33" name="Text 26"/>
          <p:cNvSpPr txBox="1"/>
          <p:nvPr/>
        </p:nvSpPr>
        <p:spPr>
          <a:xfrm>
            <a:off x="1828800" y="1700784"/>
            <a:ext cx="888797" cy="658368"/>
          </a:xfrm>
          <a:prstGeom prst="rect">
            <a:avLst/>
          </a:prstGeom>
          <a:noFill/>
          <a:ln/>
        </p:spPr>
        <p:txBody>
          <a:bodyPr wrap="square" lIns="0" tIns="0" rIns="0" bIns="0" rtlCol="0" anchor="ctr"/>
          <a:lstStyle/>
          <a:p>
            <a:pPr indent="0" marL="0">
              <a:buNone/>
            </a:pPr>
            <a:r>
              <a:rPr lang="en-US" sz="900" dirty="0">
                <a:solidFill>
                  <a:schemeClr val="tx1"/>
                </a:solidFill>
              </a:rPr>
              <a:t>1 · Study units under MD-13; Seventh Schedule dossier</a:t>
            </a:r>
            <a:endParaRPr lang="en-US" sz="900" dirty="0"/>
          </a:p>
        </p:txBody>
      </p:sp>
      <p:sp>
        <p:nvSpPr>
          <p:cNvPr id="34" name="Step 2"/>
          <p:cNvSpPr/>
          <p:nvPr/>
        </p:nvSpPr>
        <p:spPr>
          <a:xfrm>
            <a:off x="3065069" y="2578608"/>
            <a:ext cx="1035101" cy="731520"/>
          </a:xfrm>
          <a:prstGeom prst="roundRect">
            <a:avLst>
              <a:gd name="adj" fmla="val 10000"/>
            </a:avLst>
          </a:prstGeom>
          <a:solidFill>
            <a:schemeClr val="bg1"/>
          </a:solidFill>
          <a:ln w="19050">
            <a:solidFill>
              <a:schemeClr val="accent2"/>
            </a:solidFill>
            <a:prstDash val="solid"/>
          </a:ln>
        </p:spPr>
      </p:sp>
      <p:sp>
        <p:nvSpPr>
          <p:cNvPr id="35" name="Text 28"/>
          <p:cNvSpPr txBox="1"/>
          <p:nvPr/>
        </p:nvSpPr>
        <p:spPr>
          <a:xfrm>
            <a:off x="3138221" y="2615184"/>
            <a:ext cx="888797" cy="658368"/>
          </a:xfrm>
          <a:prstGeom prst="rect">
            <a:avLst/>
          </a:prstGeom>
          <a:noFill/>
          <a:ln/>
        </p:spPr>
        <p:txBody>
          <a:bodyPr wrap="square" lIns="0" tIns="0" rIns="0" bIns="0" rtlCol="0" anchor="ctr"/>
          <a:lstStyle/>
          <a:p>
            <a:pPr indent="0" marL="0">
              <a:buNone/>
            </a:pPr>
            <a:r>
              <a:rPr lang="en-US" sz="900" dirty="0">
                <a:solidFill>
                  <a:schemeClr val="tx1"/>
                </a:solidFill>
              </a:rPr>
              <a:t>2 · Registered ethics committee approves protocol, consent</a:t>
            </a:r>
            <a:endParaRPr lang="en-US" sz="900" dirty="0"/>
          </a:p>
        </p:txBody>
      </p:sp>
      <p:sp>
        <p:nvSpPr>
          <p:cNvPr id="36" name="Step 3"/>
          <p:cNvSpPr/>
          <p:nvPr/>
        </p:nvSpPr>
        <p:spPr>
          <a:xfrm>
            <a:off x="4374490" y="3493008"/>
            <a:ext cx="1035101" cy="731520"/>
          </a:xfrm>
          <a:prstGeom prst="roundRect">
            <a:avLst>
              <a:gd name="adj" fmla="val 10000"/>
            </a:avLst>
          </a:prstGeom>
          <a:solidFill>
            <a:schemeClr val="bg1"/>
          </a:solidFill>
          <a:ln w="19050">
            <a:solidFill>
              <a:schemeClr val="accent4"/>
            </a:solidFill>
            <a:prstDash val="solid"/>
          </a:ln>
        </p:spPr>
      </p:sp>
      <p:sp>
        <p:nvSpPr>
          <p:cNvPr id="37" name="Text 30"/>
          <p:cNvSpPr txBox="1"/>
          <p:nvPr/>
        </p:nvSpPr>
        <p:spPr>
          <a:xfrm>
            <a:off x="4447642" y="3529584"/>
            <a:ext cx="888797" cy="658368"/>
          </a:xfrm>
          <a:prstGeom prst="rect">
            <a:avLst/>
          </a:prstGeom>
          <a:noFill/>
          <a:ln/>
        </p:spPr>
        <p:txBody>
          <a:bodyPr wrap="square" lIns="0" tIns="0" rIns="0" bIns="0" rtlCol="0" anchor="ctr"/>
          <a:lstStyle/>
          <a:p>
            <a:pPr indent="0" marL="0">
              <a:buNone/>
            </a:pPr>
            <a:r>
              <a:rPr lang="en-US" sz="900" dirty="0">
                <a:solidFill>
                  <a:schemeClr val="tx1"/>
                </a:solidFill>
              </a:rPr>
              <a:t>3 · Form MD-22 reviewed → permission MD-23</a:t>
            </a:r>
            <a:endParaRPr lang="en-US" sz="900" dirty="0"/>
          </a:p>
        </p:txBody>
      </p:sp>
      <p:sp>
        <p:nvSpPr>
          <p:cNvPr id="38" name="Step 4"/>
          <p:cNvSpPr/>
          <p:nvPr/>
        </p:nvSpPr>
        <p:spPr>
          <a:xfrm>
            <a:off x="5683910" y="4407408"/>
            <a:ext cx="1035101" cy="731520"/>
          </a:xfrm>
          <a:prstGeom prst="roundRect">
            <a:avLst>
              <a:gd name="adj" fmla="val 10000"/>
            </a:avLst>
          </a:prstGeom>
          <a:solidFill>
            <a:schemeClr val="bg1"/>
          </a:solidFill>
          <a:ln w="19050">
            <a:solidFill>
              <a:schemeClr val="accent3"/>
            </a:solidFill>
            <a:prstDash val="solid"/>
          </a:ln>
        </p:spPr>
      </p:sp>
      <p:sp>
        <p:nvSpPr>
          <p:cNvPr id="39" name="Text 32"/>
          <p:cNvSpPr txBox="1"/>
          <p:nvPr/>
        </p:nvSpPr>
        <p:spPr>
          <a:xfrm>
            <a:off x="5757062" y="4443984"/>
            <a:ext cx="888797" cy="658368"/>
          </a:xfrm>
          <a:prstGeom prst="rect">
            <a:avLst/>
          </a:prstGeom>
          <a:noFill/>
          <a:ln/>
        </p:spPr>
        <p:txBody>
          <a:bodyPr wrap="square" lIns="0" tIns="0" rIns="0" bIns="0" rtlCol="0" anchor="ctr"/>
          <a:lstStyle/>
          <a:p>
            <a:pPr indent="0" marL="0">
              <a:buNone/>
            </a:pPr>
            <a:r>
              <a:rPr lang="en-US" sz="900" dirty="0">
                <a:solidFill>
                  <a:schemeClr val="tx1"/>
                </a:solidFill>
              </a:rPr>
              <a:t>4 · Register before the first participant</a:t>
            </a:r>
            <a:endParaRPr lang="en-US" sz="900" dirty="0"/>
          </a:p>
        </p:txBody>
      </p:sp>
      <p:sp>
        <p:nvSpPr>
          <p:cNvPr id="40" name="Step 5"/>
          <p:cNvSpPr/>
          <p:nvPr/>
        </p:nvSpPr>
        <p:spPr>
          <a:xfrm>
            <a:off x="6993331" y="1664208"/>
            <a:ext cx="1035101" cy="731520"/>
          </a:xfrm>
          <a:prstGeom prst="roundRect">
            <a:avLst>
              <a:gd name="adj" fmla="val 10000"/>
            </a:avLst>
          </a:prstGeom>
          <a:solidFill>
            <a:schemeClr val="bg1"/>
          </a:solidFill>
          <a:ln w="19050">
            <a:solidFill>
              <a:schemeClr val="accent1"/>
            </a:solidFill>
            <a:prstDash val="solid"/>
          </a:ln>
        </p:spPr>
      </p:sp>
      <p:sp>
        <p:nvSpPr>
          <p:cNvPr id="41" name="Text 34"/>
          <p:cNvSpPr txBox="1"/>
          <p:nvPr/>
        </p:nvSpPr>
        <p:spPr>
          <a:xfrm>
            <a:off x="7066483" y="1700784"/>
            <a:ext cx="888797" cy="658368"/>
          </a:xfrm>
          <a:prstGeom prst="rect">
            <a:avLst/>
          </a:prstGeom>
          <a:noFill/>
          <a:ln/>
        </p:spPr>
        <p:txBody>
          <a:bodyPr wrap="square" lIns="0" tIns="0" rIns="0" bIns="0" rtlCol="0" anchor="ctr"/>
          <a:lstStyle/>
          <a:p>
            <a:pPr indent="0" marL="0">
              <a:buNone/>
            </a:pPr>
            <a:r>
              <a:rPr lang="en-US" sz="900" dirty="0">
                <a:solidFill>
                  <a:schemeClr val="tx1"/>
                </a:solidFill>
              </a:rPr>
              <a:t>5 · Pilot → pivotal; SAEs, compensation, final report</a:t>
            </a:r>
            <a:endParaRPr lang="en-US" sz="900" dirty="0"/>
          </a:p>
        </p:txBody>
      </p:sp>
      <p:sp>
        <p:nvSpPr>
          <p:cNvPr id="42" name="Connector"/>
          <p:cNvSpPr/>
          <p:nvPr/>
        </p:nvSpPr>
        <p:spPr>
          <a:xfrm>
            <a:off x="2790749" y="2029968"/>
            <a:ext cx="137160" cy="0"/>
          </a:xfrm>
          <a:prstGeom prst="line">
            <a:avLst/>
          </a:prstGeom>
          <a:noFill/>
          <a:ln w="19050">
            <a:solidFill>
              <a:schemeClr val="accent5"/>
            </a:solidFill>
            <a:prstDash val="solid"/>
          </a:ln>
        </p:spPr>
      </p:sp>
      <p:sp>
        <p:nvSpPr>
          <p:cNvPr id="43" name="Connector"/>
          <p:cNvSpPr/>
          <p:nvPr/>
        </p:nvSpPr>
        <p:spPr>
          <a:xfrm>
            <a:off x="2927909" y="2029968"/>
            <a:ext cx="0" cy="914400"/>
          </a:xfrm>
          <a:prstGeom prst="line">
            <a:avLst/>
          </a:prstGeom>
          <a:noFill/>
          <a:ln w="19050">
            <a:solidFill>
              <a:schemeClr val="accent5"/>
            </a:solidFill>
            <a:prstDash val="solid"/>
          </a:ln>
        </p:spPr>
      </p:sp>
      <p:sp>
        <p:nvSpPr>
          <p:cNvPr id="44" name="Connector"/>
          <p:cNvSpPr/>
          <p:nvPr/>
        </p:nvSpPr>
        <p:spPr>
          <a:xfrm>
            <a:off x="2927909" y="2944368"/>
            <a:ext cx="137160" cy="0"/>
          </a:xfrm>
          <a:prstGeom prst="line">
            <a:avLst/>
          </a:prstGeom>
          <a:noFill/>
          <a:ln w="19050">
            <a:solidFill>
              <a:schemeClr val="accent5"/>
            </a:solidFill>
            <a:prstDash val="solid"/>
            <a:tailEnd type="triangle"/>
          </a:ln>
        </p:spPr>
      </p:sp>
      <p:sp>
        <p:nvSpPr>
          <p:cNvPr id="45" name="Connector"/>
          <p:cNvSpPr/>
          <p:nvPr/>
        </p:nvSpPr>
        <p:spPr>
          <a:xfrm>
            <a:off x="4100170" y="2944368"/>
            <a:ext cx="137160" cy="0"/>
          </a:xfrm>
          <a:prstGeom prst="line">
            <a:avLst/>
          </a:prstGeom>
          <a:noFill/>
          <a:ln w="19050">
            <a:solidFill>
              <a:schemeClr val="accent5"/>
            </a:solidFill>
            <a:prstDash val="solid"/>
          </a:ln>
        </p:spPr>
      </p:sp>
      <p:sp>
        <p:nvSpPr>
          <p:cNvPr id="46" name="Connector"/>
          <p:cNvSpPr/>
          <p:nvPr/>
        </p:nvSpPr>
        <p:spPr>
          <a:xfrm>
            <a:off x="4237330" y="2944368"/>
            <a:ext cx="0" cy="914400"/>
          </a:xfrm>
          <a:prstGeom prst="line">
            <a:avLst/>
          </a:prstGeom>
          <a:noFill/>
          <a:ln w="19050">
            <a:solidFill>
              <a:schemeClr val="accent5"/>
            </a:solidFill>
            <a:prstDash val="solid"/>
          </a:ln>
        </p:spPr>
      </p:sp>
      <p:sp>
        <p:nvSpPr>
          <p:cNvPr id="47" name="Connector"/>
          <p:cNvSpPr/>
          <p:nvPr/>
        </p:nvSpPr>
        <p:spPr>
          <a:xfrm>
            <a:off x="4237330" y="3858768"/>
            <a:ext cx="137160" cy="0"/>
          </a:xfrm>
          <a:prstGeom prst="line">
            <a:avLst/>
          </a:prstGeom>
          <a:noFill/>
          <a:ln w="19050">
            <a:solidFill>
              <a:schemeClr val="accent5"/>
            </a:solidFill>
            <a:prstDash val="solid"/>
            <a:tailEnd type="triangle"/>
          </a:ln>
        </p:spPr>
      </p:sp>
      <p:sp>
        <p:nvSpPr>
          <p:cNvPr id="48" name="Connector"/>
          <p:cNvSpPr/>
          <p:nvPr/>
        </p:nvSpPr>
        <p:spPr>
          <a:xfrm>
            <a:off x="5409590" y="3858768"/>
            <a:ext cx="137160" cy="0"/>
          </a:xfrm>
          <a:prstGeom prst="line">
            <a:avLst/>
          </a:prstGeom>
          <a:noFill/>
          <a:ln w="19050">
            <a:solidFill>
              <a:schemeClr val="accent5"/>
            </a:solidFill>
            <a:prstDash val="solid"/>
          </a:ln>
        </p:spPr>
      </p:sp>
      <p:sp>
        <p:nvSpPr>
          <p:cNvPr id="49" name="Connector"/>
          <p:cNvSpPr/>
          <p:nvPr/>
        </p:nvSpPr>
        <p:spPr>
          <a:xfrm>
            <a:off x="5546750" y="3858768"/>
            <a:ext cx="0" cy="914400"/>
          </a:xfrm>
          <a:prstGeom prst="line">
            <a:avLst/>
          </a:prstGeom>
          <a:noFill/>
          <a:ln w="19050">
            <a:solidFill>
              <a:schemeClr val="accent5"/>
            </a:solidFill>
            <a:prstDash val="solid"/>
          </a:ln>
        </p:spPr>
      </p:sp>
      <p:sp>
        <p:nvSpPr>
          <p:cNvPr id="50" name="Connector"/>
          <p:cNvSpPr/>
          <p:nvPr/>
        </p:nvSpPr>
        <p:spPr>
          <a:xfrm>
            <a:off x="5546750" y="4773168"/>
            <a:ext cx="137160" cy="0"/>
          </a:xfrm>
          <a:prstGeom prst="line">
            <a:avLst/>
          </a:prstGeom>
          <a:noFill/>
          <a:ln w="19050">
            <a:solidFill>
              <a:schemeClr val="accent5"/>
            </a:solidFill>
            <a:prstDash val="solid"/>
            <a:tailEnd type="triangle"/>
          </a:ln>
        </p:spPr>
      </p:sp>
      <p:sp>
        <p:nvSpPr>
          <p:cNvPr id="51" name="Connector"/>
          <p:cNvSpPr/>
          <p:nvPr/>
        </p:nvSpPr>
        <p:spPr>
          <a:xfrm>
            <a:off x="6719011" y="4773168"/>
            <a:ext cx="137160" cy="0"/>
          </a:xfrm>
          <a:prstGeom prst="line">
            <a:avLst/>
          </a:prstGeom>
          <a:noFill/>
          <a:ln w="19050">
            <a:solidFill>
              <a:schemeClr val="accent5"/>
            </a:solidFill>
            <a:prstDash val="solid"/>
          </a:ln>
        </p:spPr>
      </p:sp>
      <p:sp>
        <p:nvSpPr>
          <p:cNvPr id="52" name="Connector"/>
          <p:cNvSpPr/>
          <p:nvPr/>
        </p:nvSpPr>
        <p:spPr>
          <a:xfrm>
            <a:off x="6856171" y="2029968"/>
            <a:ext cx="0" cy="2743200"/>
          </a:xfrm>
          <a:prstGeom prst="line">
            <a:avLst/>
          </a:prstGeom>
          <a:noFill/>
          <a:ln w="19050">
            <a:solidFill>
              <a:schemeClr val="accent5"/>
            </a:solidFill>
            <a:prstDash val="solid"/>
          </a:ln>
        </p:spPr>
      </p:sp>
      <p:sp>
        <p:nvSpPr>
          <p:cNvPr id="53" name="Connector"/>
          <p:cNvSpPr/>
          <p:nvPr/>
        </p:nvSpPr>
        <p:spPr>
          <a:xfrm>
            <a:off x="6856171" y="2029968"/>
            <a:ext cx="137160" cy="0"/>
          </a:xfrm>
          <a:prstGeom prst="line">
            <a:avLst/>
          </a:prstGeom>
          <a:noFill/>
          <a:ln w="19050">
            <a:solidFill>
              <a:schemeClr val="accent5"/>
            </a:solidFill>
            <a:prstDash val="solid"/>
            <a:tailEnd type="triangle"/>
          </a:ln>
        </p:spPr>
      </p:sp>
      <p:sp>
        <p:nvSpPr>
          <p:cNvPr id="54" name="Seventh Schedule"/>
          <p:cNvSpPr/>
          <p:nvPr/>
        </p:nvSpPr>
        <p:spPr>
          <a:xfrm>
            <a:off x="8412480" y="1572768"/>
            <a:ext cx="3230575" cy="2194560"/>
          </a:xfrm>
          <a:prstGeom prst="roundRect">
            <a:avLst>
              <a:gd name="adj" fmla="val 5833"/>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55" name="Icon disc LuListChecks"/>
          <p:cNvSpPr/>
          <p:nvPr/>
        </p:nvSpPr>
        <p:spPr>
          <a:xfrm>
            <a:off x="8577072" y="1719072"/>
            <a:ext cx="365760" cy="365760"/>
          </a:xfrm>
          <a:prstGeom prst="ellipse">
            <a:avLst/>
          </a:prstGeom>
          <a:solidFill>
            <a:schemeClr val="accent4">
              <a:alpha val="15000"/>
            </a:schemeClr>
          </a:solidFill>
          <a:ln/>
        </p:spPr>
      </p:sp>
      <p:pic>
        <p:nvPicPr>
          <p:cNvPr id="56" name="Image 4" descr="ListChecks icon">    </p:cNvPr>
          <p:cNvPicPr>
            <a:picLocks noChangeAspect="1"/>
          </p:cNvPicPr>
          <p:nvPr/>
        </p:nvPicPr>
        <p:blipFill>
          <a:blip r:embed="rId5"/>
          <a:stretch>
            <a:fillRect/>
          </a:stretch>
        </p:blipFill>
        <p:spPr>
          <a:xfrm>
            <a:off x="8657539" y="1799539"/>
            <a:ext cx="204826" cy="204826"/>
          </a:xfrm>
          <a:prstGeom prst="rect">
            <a:avLst/>
          </a:prstGeom>
        </p:spPr>
      </p:pic>
      <p:sp>
        <p:nvSpPr>
          <p:cNvPr id="57" name="Text 49"/>
          <p:cNvSpPr txBox="1"/>
          <p:nvPr/>
        </p:nvSpPr>
        <p:spPr>
          <a:xfrm>
            <a:off x="9052560" y="1682496"/>
            <a:ext cx="2453335" cy="438912"/>
          </a:xfrm>
          <a:prstGeom prst="rect">
            <a:avLst/>
          </a:prstGeom>
          <a:noFill/>
          <a:ln/>
        </p:spPr>
        <p:txBody>
          <a:bodyPr wrap="square" lIns="0" tIns="0" rIns="0" bIns="0" rtlCol="0" anchor="ctr"/>
          <a:lstStyle/>
          <a:p>
            <a:pPr indent="0" marL="0">
              <a:buNone/>
            </a:pPr>
            <a:r>
              <a:rPr lang="en-US" sz="1200" b="1" dirty="0">
                <a:solidFill>
                  <a:schemeClr val="tx1"/>
                </a:solidFill>
              </a:rPr>
              <a:t>Seventh Schedule dossier</a:t>
            </a:r>
            <a:endParaRPr lang="en-US" sz="1400" dirty="0"/>
          </a:p>
          <a:p>
            <a:pPr indent="0" marL="0">
              <a:buNone/>
            </a:pPr>
            <a:r>
              <a:rPr lang="en-US" sz="900" dirty="0">
                <a:solidFill>
                  <a:schemeClr val="accent5"/>
                </a:solidFill>
              </a:rPr>
              <a:t>Filed with Form MD-22 (CDSCO checklist)</a:t>
            </a:r>
            <a:endParaRPr lang="en-US" sz="1400" dirty="0"/>
          </a:p>
        </p:txBody>
      </p:sp>
      <p:sp>
        <p:nvSpPr>
          <p:cNvPr id="58" name="Text 50"/>
          <p:cNvSpPr txBox="1"/>
          <p:nvPr/>
        </p:nvSpPr>
        <p:spPr>
          <a:xfrm>
            <a:off x="8577072" y="2176272"/>
            <a:ext cx="2901391" cy="1554480"/>
          </a:xfrm>
          <a:prstGeom prst="rect">
            <a:avLst/>
          </a:prstGeom>
          <a:noFill/>
          <a:ln/>
        </p:spPr>
        <p:txBody>
          <a:bodyPr wrap="square" lIns="0" tIns="0" rIns="0" bIns="0" rtlCol="0" anchor="t"/>
          <a:lstStyle/>
          <a:p>
            <a:pPr marL="127000" indent="-127000">
              <a:spcAft>
                <a:spcPts val="50"/>
              </a:spcAft>
              <a:buSzPct val="100000"/>
              <a:buChar char="•"/>
            </a:pPr>
            <a:r>
              <a:rPr lang="en-US" sz="950" dirty="0">
                <a:solidFill>
                  <a:schemeClr val="tx2"/>
                </a:solidFill>
              </a:rPr>
              <a:t>Clinical investigation plan</a:t>
            </a:r>
            <a:endParaRPr lang="en-US" sz="950" dirty="0"/>
          </a:p>
          <a:p>
            <a:pPr marL="127000" indent="-127000">
              <a:spcAft>
                <a:spcPts val="50"/>
              </a:spcAft>
              <a:buSzPct val="100000"/>
              <a:buChar char="•"/>
            </a:pPr>
            <a:r>
              <a:rPr lang="en-US" sz="950" dirty="0">
                <a:solidFill>
                  <a:schemeClr val="tx2"/>
                </a:solidFill>
              </a:rPr>
              <a:t>Investigator's brochure</a:t>
            </a:r>
            <a:endParaRPr lang="en-US" sz="950" dirty="0"/>
          </a:p>
          <a:p>
            <a:pPr marL="127000" indent="-127000">
              <a:spcAft>
                <a:spcPts val="50"/>
              </a:spcAft>
              <a:buSzPct val="100000"/>
              <a:buChar char="•"/>
            </a:pPr>
            <a:r>
              <a:rPr lang="en-US" sz="950" dirty="0">
                <a:solidFill>
                  <a:schemeClr val="tx2"/>
                </a:solidFill>
              </a:rPr>
              <a:t>Design-control documents</a:t>
            </a:r>
            <a:endParaRPr lang="en-US" sz="950" dirty="0"/>
          </a:p>
          <a:p>
            <a:pPr marL="127000" indent="-127000">
              <a:spcAft>
                <a:spcPts val="50"/>
              </a:spcAft>
              <a:buSzPct val="100000"/>
              <a:buChar char="•"/>
            </a:pPr>
            <a:r>
              <a:rPr lang="en-US" sz="950" dirty="0">
                <a:solidFill>
                  <a:schemeClr val="tx2"/>
                </a:solidFill>
              </a:rPr>
              <a:t>Design verification and validation report</a:t>
            </a:r>
            <a:endParaRPr lang="en-US" sz="950" dirty="0"/>
          </a:p>
          <a:p>
            <a:pPr marL="127000" indent="-127000">
              <a:spcAft>
                <a:spcPts val="50"/>
              </a:spcAft>
              <a:buSzPct val="100000"/>
              <a:buChar char="•"/>
            </a:pPr>
            <a:r>
              <a:rPr lang="en-US" sz="950" dirty="0">
                <a:solidFill>
                  <a:schemeClr val="tx2"/>
                </a:solidFill>
              </a:rPr>
              <a:t>Essential Principles checklist</a:t>
            </a:r>
            <a:endParaRPr lang="en-US" sz="950" dirty="0"/>
          </a:p>
          <a:p>
            <a:pPr marL="127000" indent="-127000">
              <a:spcAft>
                <a:spcPts val="50"/>
              </a:spcAft>
              <a:buSzPct val="100000"/>
              <a:buChar char="•"/>
            </a:pPr>
            <a:r>
              <a:rPr lang="en-US" sz="950" dirty="0">
                <a:solidFill>
                  <a:schemeClr val="tx2"/>
                </a:solidFill>
              </a:rPr>
              <a:t>Informed consent form</a:t>
            </a:r>
            <a:endParaRPr lang="en-US" sz="950" dirty="0"/>
          </a:p>
          <a:p>
            <a:pPr marL="127000" indent="-127000">
              <a:spcAft>
                <a:spcPts val="50"/>
              </a:spcAft>
              <a:buSzPct val="100000"/>
              <a:buChar char="•"/>
            </a:pPr>
            <a:r>
              <a:rPr lang="en-US" sz="950" dirty="0">
                <a:solidFill>
                  <a:schemeClr val="tx2"/>
                </a:solidFill>
              </a:rPr>
              <a:t>Investigator undertaking</a:t>
            </a:r>
            <a:endParaRPr lang="en-US" sz="950" dirty="0"/>
          </a:p>
          <a:p>
            <a:pPr marL="127000" indent="-127000">
              <a:spcAft>
                <a:spcPts val="50"/>
              </a:spcAft>
              <a:buSzPct val="100000"/>
              <a:buChar char="•"/>
            </a:pPr>
            <a:r>
              <a:rPr lang="en-US" sz="950" dirty="0">
                <a:solidFill>
                  <a:schemeClr val="tx2"/>
                </a:solidFill>
              </a:rPr>
              <a:t>Ethics committee approval</a:t>
            </a:r>
            <a:endParaRPr lang="en-US" sz="950" dirty="0"/>
          </a:p>
          <a:p>
            <a:pPr marL="127000" indent="-127000">
              <a:spcAft>
                <a:spcPts val="50"/>
              </a:spcAft>
              <a:buSzPct val="100000"/>
              <a:buChar char="•"/>
            </a:pPr>
            <a:r>
              <a:rPr lang="en-US" sz="950" dirty="0">
                <a:solidFill>
                  <a:schemeClr val="tx2"/>
                </a:solidFill>
              </a:rPr>
              <a:t>Pilot, pivotal or post-marketing study?</a:t>
            </a:r>
            <a:endParaRPr lang="en-US" sz="950" dirty="0"/>
          </a:p>
        </p:txBody>
      </p:sp>
      <p:sp>
        <p:nvSpPr>
          <p:cNvPr id="59" name="Exemptions"/>
          <p:cNvSpPr/>
          <p:nvPr/>
        </p:nvSpPr>
        <p:spPr>
          <a:xfrm>
            <a:off x="8412480" y="3886200"/>
            <a:ext cx="3230575" cy="1463040"/>
          </a:xfrm>
          <a:prstGeom prst="roundRect">
            <a:avLst>
              <a:gd name="adj" fmla="val 8750"/>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60" name="Icon disc LuGlobe"/>
          <p:cNvSpPr/>
          <p:nvPr/>
        </p:nvSpPr>
        <p:spPr>
          <a:xfrm>
            <a:off x="8577072" y="4023360"/>
            <a:ext cx="365760" cy="365760"/>
          </a:xfrm>
          <a:prstGeom prst="ellipse">
            <a:avLst/>
          </a:prstGeom>
          <a:solidFill>
            <a:schemeClr val="accent2">
              <a:alpha val="15000"/>
            </a:schemeClr>
          </a:solidFill>
          <a:ln/>
        </p:spPr>
      </p:sp>
      <p:pic>
        <p:nvPicPr>
          <p:cNvPr id="61" name="Image 5" descr="Globe icon">    </p:cNvPr>
          <p:cNvPicPr>
            <a:picLocks noChangeAspect="1"/>
          </p:cNvPicPr>
          <p:nvPr/>
        </p:nvPicPr>
        <p:blipFill>
          <a:blip r:embed="rId6"/>
          <a:stretch>
            <a:fillRect/>
          </a:stretch>
        </p:blipFill>
        <p:spPr>
          <a:xfrm>
            <a:off x="8657539" y="4103827"/>
            <a:ext cx="204826" cy="204826"/>
          </a:xfrm>
          <a:prstGeom prst="rect">
            <a:avLst/>
          </a:prstGeom>
        </p:spPr>
      </p:pic>
      <p:sp>
        <p:nvSpPr>
          <p:cNvPr id="62" name="Text 53"/>
          <p:cNvSpPr txBox="1"/>
          <p:nvPr/>
        </p:nvSpPr>
        <p:spPr>
          <a:xfrm>
            <a:off x="9052560" y="4005072"/>
            <a:ext cx="2453335" cy="402336"/>
          </a:xfrm>
          <a:prstGeom prst="rect">
            <a:avLst/>
          </a:prstGeom>
          <a:noFill/>
          <a:ln/>
        </p:spPr>
        <p:txBody>
          <a:bodyPr wrap="square" lIns="0" tIns="0" rIns="0" bIns="0" rtlCol="0" anchor="ctr"/>
          <a:lstStyle/>
          <a:p>
            <a:pPr indent="0" marL="0">
              <a:buNone/>
            </a:pPr>
            <a:r>
              <a:rPr lang="en-US" sz="1200" b="1" dirty="0">
                <a:solidFill>
                  <a:schemeClr val="tx1"/>
                </a:solidFill>
              </a:rPr>
              <a:t>Exemptions and shortcuts</a:t>
            </a:r>
            <a:endParaRPr lang="en-US" sz="1200" dirty="0"/>
          </a:p>
        </p:txBody>
      </p:sp>
      <p:sp>
        <p:nvSpPr>
          <p:cNvPr id="63" name="Text 54"/>
          <p:cNvSpPr txBox="1"/>
          <p:nvPr/>
        </p:nvSpPr>
        <p:spPr>
          <a:xfrm>
            <a:off x="8577072" y="4425696"/>
            <a:ext cx="2901391" cy="896112"/>
          </a:xfrm>
          <a:prstGeom prst="rect">
            <a:avLst/>
          </a:prstGeom>
          <a:noFill/>
          <a:ln/>
        </p:spPr>
        <p:txBody>
          <a:bodyPr wrap="square" lIns="0" tIns="0" rIns="0" bIns="0" rtlCol="0" anchor="t"/>
          <a:lstStyle/>
          <a:p>
            <a:pPr marL="127000" indent="-127000">
              <a:spcAft>
                <a:spcPts val="200"/>
              </a:spcAft>
              <a:buSzPct val="100000"/>
              <a:buChar char="•"/>
            </a:pPr>
            <a:r>
              <a:rPr lang="en-US" sz="900" dirty="0">
                <a:solidFill>
                  <a:schemeClr val="tx2"/>
                </a:solidFill>
              </a:rPr>
              <a:t>Rule 63 proviso: approved in the US, UK, Australia, Canada, Japan or (since Aug 2026) the EU, marketed ≥ 2 years → local study may be waived; post-marketing study still due</a:t>
            </a:r>
            <a:endParaRPr lang="en-US" sz="900" dirty="0"/>
          </a:p>
          <a:p>
            <a:pPr marL="127000" indent="-127000">
              <a:spcAft>
                <a:spcPts val="200"/>
              </a:spcAft>
              <a:buSzPct val="100000"/>
              <a:buChar char="•"/>
            </a:pPr>
            <a:r>
              <a:rPr lang="en-US" sz="900" dirty="0">
                <a:solidFill>
                  <a:schemeClr val="tx2"/>
                </a:solidFill>
              </a:rPr>
              <a:t>Academic study of a licensed device: ethics approval; data not for marketing (verify the Rule text)</a:t>
            </a:r>
            <a:endParaRPr lang="en-US" sz="900" dirty="0"/>
          </a:p>
        </p:txBody>
      </p:sp>
      <p:sp>
        <p:nvSpPr>
          <p:cNvPr id="64" name="Callout"/>
          <p:cNvSpPr/>
          <p:nvPr/>
        </p:nvSpPr>
        <p:spPr>
          <a:xfrm>
            <a:off x="548640" y="5440680"/>
            <a:ext cx="11094415" cy="594360"/>
          </a:xfrm>
          <a:prstGeom prst="roundRect">
            <a:avLst>
              <a:gd name="adj" fmla="val 12308"/>
            </a:avLst>
          </a:prstGeom>
          <a:solidFill>
            <a:schemeClr val="accent2">
              <a:alpha val="12000"/>
            </a:schemeClr>
          </a:solidFill>
          <a:ln/>
        </p:spPr>
      </p:sp>
      <p:sp>
        <p:nvSpPr>
          <p:cNvPr id="65" name="Callout bar"/>
          <p:cNvSpPr/>
          <p:nvPr/>
        </p:nvSpPr>
        <p:spPr>
          <a:xfrm>
            <a:off x="548640" y="5532120"/>
            <a:ext cx="64008" cy="411480"/>
          </a:xfrm>
          <a:prstGeom prst="rect">
            <a:avLst/>
          </a:prstGeom>
          <a:solidFill>
            <a:schemeClr val="accent2"/>
          </a:solidFill>
          <a:ln/>
        </p:spPr>
      </p:sp>
      <p:sp>
        <p:nvSpPr>
          <p:cNvPr id="66" name="Text 57"/>
          <p:cNvSpPr txBox="1"/>
          <p:nvPr/>
        </p:nvSpPr>
        <p:spPr>
          <a:xfrm>
            <a:off x="822960" y="5440680"/>
            <a:ext cx="10682935" cy="594360"/>
          </a:xfrm>
          <a:prstGeom prst="rect">
            <a:avLst/>
          </a:prstGeom>
          <a:noFill/>
          <a:ln/>
        </p:spPr>
        <p:txBody>
          <a:bodyPr wrap="square" lIns="0" tIns="0" rIns="0" bIns="0" rtlCol="0" anchor="ctr"/>
          <a:lstStyle/>
          <a:p>
            <a:pPr indent="0" marL="0">
              <a:buNone/>
            </a:pPr>
            <a:r>
              <a:rPr lang="en-US" sz="1100" b="1" dirty="0">
                <a:solidFill>
                  <a:schemeClr val="tx1"/>
                </a:solidFill>
              </a:rPr>
              <a:t>Before the first participant: ethics approval, MD-23 permission, CTRI registration, insurance and compensation arrangements. Pilot = exploratory first-in-human; pivotal = confirmatory. Fee waived for government institutions (Rule 51(2)).</a:t>
            </a:r>
            <a:endParaRPr lang="en-US" sz="11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INDIA · SOFTWARE AND AI</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When the software is the device</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CDSCO Guidance on Medical Device Software, CDSCO/MD/GD/MDSW/01/2026 (21 Jul 2026); Freyr SaMD reading; US FDA PCCP guidance (Dec 2024); ISO 14971:2019; DPDP Rules 2025; FoGO project material</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sp>
        <p:nvSpPr>
          <p:cNvPr id="12" name="Text 9"/>
          <p:cNvSpPr txBox="1"/>
          <p:nvPr/>
        </p:nvSpPr>
        <p:spPr>
          <a:xfrm>
            <a:off x="1810512" y="1572768"/>
            <a:ext cx="4864608" cy="237744"/>
          </a:xfrm>
          <a:prstGeom prst="rect">
            <a:avLst/>
          </a:prstGeom>
          <a:noFill/>
          <a:ln/>
        </p:spPr>
        <p:txBody>
          <a:bodyPr wrap="square" lIns="0" tIns="0" rIns="0" bIns="0" rtlCol="0" anchor="ctr"/>
          <a:lstStyle/>
          <a:p>
            <a:pPr algn="ctr" indent="0" marL="0">
              <a:buNone/>
            </a:pPr>
            <a:r>
              <a:rPr lang="en-US" sz="1000" b="1" dirty="0">
                <a:solidFill>
                  <a:schemeClr val="accent6"/>
                </a:solidFill>
              </a:rPr>
              <a:t>Significance of the information for the clinical decision  →</a:t>
            </a:r>
            <a:endParaRPr lang="en-US" sz="1000" dirty="0"/>
          </a:p>
        </p:txBody>
      </p:sp>
      <p:sp>
        <p:nvSpPr>
          <p:cNvPr id="13" name="Grid column Inform clinical management"/>
          <p:cNvSpPr/>
          <p:nvPr/>
        </p:nvSpPr>
        <p:spPr>
          <a:xfrm>
            <a:off x="1810512" y="1847088"/>
            <a:ext cx="1572768" cy="329184"/>
          </a:xfrm>
          <a:prstGeom prst="roundRect">
            <a:avLst>
              <a:gd name="adj" fmla="val 27778"/>
            </a:avLst>
          </a:prstGeom>
          <a:solidFill>
            <a:schemeClr val="tx2"/>
          </a:solidFill>
          <a:ln w="6350">
            <a:solidFill>
              <a:schemeClr val="accent6"/>
            </a:solidFill>
            <a:prstDash val="solid"/>
          </a:ln>
        </p:spPr>
      </p:sp>
      <p:sp>
        <p:nvSpPr>
          <p:cNvPr id="14" name="Text 11"/>
          <p:cNvSpPr txBox="1"/>
          <p:nvPr/>
        </p:nvSpPr>
        <p:spPr>
          <a:xfrm>
            <a:off x="1920240" y="1847088"/>
            <a:ext cx="1353312" cy="329184"/>
          </a:xfrm>
          <a:prstGeom prst="rect">
            <a:avLst/>
          </a:prstGeom>
          <a:noFill/>
          <a:ln/>
        </p:spPr>
        <p:txBody>
          <a:bodyPr wrap="square" lIns="0" tIns="0" rIns="0" bIns="0" rtlCol="0" anchor="ctr"/>
          <a:lstStyle/>
          <a:p>
            <a:pPr algn="ctr" indent="0" marL="0">
              <a:buNone/>
            </a:pPr>
            <a:r>
              <a:rPr lang="en-US" sz="950" b="1" dirty="0">
                <a:solidFill>
                  <a:schemeClr val="bg1"/>
                </a:solidFill>
              </a:rPr>
              <a:t>Inform clinical management</a:t>
            </a:r>
            <a:endParaRPr lang="en-US" sz="950" dirty="0"/>
          </a:p>
        </p:txBody>
      </p:sp>
      <p:sp>
        <p:nvSpPr>
          <p:cNvPr id="15" name="Grid column Drive clinical management"/>
          <p:cNvSpPr/>
          <p:nvPr/>
        </p:nvSpPr>
        <p:spPr>
          <a:xfrm>
            <a:off x="3456432" y="1847088"/>
            <a:ext cx="1572768" cy="329184"/>
          </a:xfrm>
          <a:prstGeom prst="roundRect">
            <a:avLst>
              <a:gd name="adj" fmla="val 27778"/>
            </a:avLst>
          </a:prstGeom>
          <a:solidFill>
            <a:schemeClr val="tx2"/>
          </a:solidFill>
          <a:ln w="6350">
            <a:solidFill>
              <a:schemeClr val="accent6"/>
            </a:solidFill>
            <a:prstDash val="solid"/>
          </a:ln>
        </p:spPr>
      </p:sp>
      <p:sp>
        <p:nvSpPr>
          <p:cNvPr id="16" name="Text 13"/>
          <p:cNvSpPr txBox="1"/>
          <p:nvPr/>
        </p:nvSpPr>
        <p:spPr>
          <a:xfrm>
            <a:off x="3566160" y="1847088"/>
            <a:ext cx="1353312" cy="329184"/>
          </a:xfrm>
          <a:prstGeom prst="rect">
            <a:avLst/>
          </a:prstGeom>
          <a:noFill/>
          <a:ln/>
        </p:spPr>
        <p:txBody>
          <a:bodyPr wrap="square" lIns="0" tIns="0" rIns="0" bIns="0" rtlCol="0" anchor="ctr"/>
          <a:lstStyle/>
          <a:p>
            <a:pPr algn="ctr" indent="0" marL="0">
              <a:buNone/>
            </a:pPr>
            <a:r>
              <a:rPr lang="en-US" sz="950" b="1" dirty="0">
                <a:solidFill>
                  <a:schemeClr val="bg1"/>
                </a:solidFill>
              </a:rPr>
              <a:t>Drive clinical management</a:t>
            </a:r>
            <a:endParaRPr lang="en-US" sz="950" dirty="0"/>
          </a:p>
        </p:txBody>
      </p:sp>
      <p:sp>
        <p:nvSpPr>
          <p:cNvPr id="17" name="Grid column Treat or diagnose"/>
          <p:cNvSpPr/>
          <p:nvPr/>
        </p:nvSpPr>
        <p:spPr>
          <a:xfrm>
            <a:off x="5102352" y="1847088"/>
            <a:ext cx="1572768" cy="329184"/>
          </a:xfrm>
          <a:prstGeom prst="roundRect">
            <a:avLst>
              <a:gd name="adj" fmla="val 27778"/>
            </a:avLst>
          </a:prstGeom>
          <a:solidFill>
            <a:schemeClr val="tx2"/>
          </a:solidFill>
          <a:ln w="6350">
            <a:solidFill>
              <a:schemeClr val="accent6"/>
            </a:solidFill>
            <a:prstDash val="solid"/>
          </a:ln>
        </p:spPr>
      </p:sp>
      <p:sp>
        <p:nvSpPr>
          <p:cNvPr id="18" name="Text 15"/>
          <p:cNvSpPr txBox="1"/>
          <p:nvPr/>
        </p:nvSpPr>
        <p:spPr>
          <a:xfrm>
            <a:off x="5212080" y="1847088"/>
            <a:ext cx="1353312" cy="329184"/>
          </a:xfrm>
          <a:prstGeom prst="rect">
            <a:avLst/>
          </a:prstGeom>
          <a:noFill/>
          <a:ln/>
        </p:spPr>
        <p:txBody>
          <a:bodyPr wrap="square" lIns="0" tIns="0" rIns="0" bIns="0" rtlCol="0" anchor="ctr"/>
          <a:lstStyle/>
          <a:p>
            <a:pPr algn="ctr" indent="0" marL="0">
              <a:buNone/>
            </a:pPr>
            <a:r>
              <a:rPr lang="en-US" sz="950" b="1" dirty="0">
                <a:solidFill>
                  <a:schemeClr val="bg1"/>
                </a:solidFill>
              </a:rPr>
              <a:t>Treat or diagnose</a:t>
            </a:r>
            <a:endParaRPr lang="en-US" sz="950" dirty="0"/>
          </a:p>
        </p:txBody>
      </p:sp>
      <p:sp>
        <p:nvSpPr>
          <p:cNvPr id="19" name="Text 16"/>
          <p:cNvSpPr txBox="1"/>
          <p:nvPr/>
        </p:nvSpPr>
        <p:spPr>
          <a:xfrm>
            <a:off x="548640" y="1847088"/>
            <a:ext cx="1188720" cy="329184"/>
          </a:xfrm>
          <a:prstGeom prst="rect">
            <a:avLst/>
          </a:prstGeom>
          <a:noFill/>
          <a:ln/>
        </p:spPr>
        <p:txBody>
          <a:bodyPr wrap="square" lIns="0" tIns="0" rIns="0" bIns="0" rtlCol="0" anchor="ctr"/>
          <a:lstStyle/>
          <a:p>
            <a:pPr indent="0" marL="0">
              <a:buNone/>
            </a:pPr>
            <a:r>
              <a:rPr lang="en-US" sz="900" b="1" dirty="0">
                <a:solidFill>
                  <a:schemeClr val="accent6"/>
                </a:solidFill>
              </a:rPr>
              <a:t>Severity of the healthcare situation  ↓</a:t>
            </a:r>
            <a:endParaRPr lang="en-US" sz="900" dirty="0"/>
          </a:p>
        </p:txBody>
      </p:sp>
      <p:sp>
        <p:nvSpPr>
          <p:cNvPr id="20" name="Grid row Non-serious"/>
          <p:cNvSpPr/>
          <p:nvPr/>
        </p:nvSpPr>
        <p:spPr>
          <a:xfrm>
            <a:off x="548640" y="2231136"/>
            <a:ext cx="1188720" cy="786384"/>
          </a:xfrm>
          <a:prstGeom prst="roundRect">
            <a:avLst>
              <a:gd name="adj" fmla="val 11628"/>
            </a:avLst>
          </a:prstGeom>
          <a:solidFill>
            <a:schemeClr val="tx2"/>
          </a:solidFill>
          <a:ln w="6350">
            <a:solidFill>
              <a:schemeClr val="accent6"/>
            </a:solidFill>
            <a:prstDash val="solid"/>
          </a:ln>
        </p:spPr>
      </p:sp>
      <p:sp>
        <p:nvSpPr>
          <p:cNvPr id="21" name="Text 18"/>
          <p:cNvSpPr txBox="1"/>
          <p:nvPr/>
        </p:nvSpPr>
        <p:spPr>
          <a:xfrm>
            <a:off x="658368" y="2231136"/>
            <a:ext cx="969264" cy="786384"/>
          </a:xfrm>
          <a:prstGeom prst="rect">
            <a:avLst/>
          </a:prstGeom>
          <a:noFill/>
          <a:ln/>
        </p:spPr>
        <p:txBody>
          <a:bodyPr wrap="square" lIns="0" tIns="0" rIns="0" bIns="0" rtlCol="0" anchor="ctr"/>
          <a:lstStyle/>
          <a:p>
            <a:pPr algn="l" indent="0" marL="0">
              <a:buNone/>
            </a:pPr>
            <a:r>
              <a:rPr lang="en-US" sz="1000" b="1" dirty="0">
                <a:solidFill>
                  <a:schemeClr val="bg1"/>
                </a:solidFill>
              </a:rPr>
              <a:t>Non-serious</a:t>
            </a:r>
            <a:endParaRPr lang="en-US" sz="1000" dirty="0"/>
          </a:p>
        </p:txBody>
      </p:sp>
      <p:sp>
        <p:nvSpPr>
          <p:cNvPr id="22" name="Grid cell 00"/>
          <p:cNvSpPr/>
          <p:nvPr/>
        </p:nvSpPr>
        <p:spPr>
          <a:xfrm>
            <a:off x="1810512" y="2231136"/>
            <a:ext cx="1572768" cy="786384"/>
          </a:xfrm>
          <a:prstGeom prst="roundRect">
            <a:avLst>
              <a:gd name="adj" fmla="val 6977"/>
            </a:avLst>
          </a:prstGeom>
          <a:solidFill>
            <a:schemeClr val="accent3">
              <a:alpha val="12000"/>
            </a:schemeClr>
          </a:solidFill>
          <a:ln w="6350">
            <a:solidFill>
              <a:schemeClr val="accent6"/>
            </a:solidFill>
            <a:prstDash val="solid"/>
          </a:ln>
        </p:spPr>
      </p:sp>
      <p:sp>
        <p:nvSpPr>
          <p:cNvPr id="23" name="Grid cell 01"/>
          <p:cNvSpPr/>
          <p:nvPr/>
        </p:nvSpPr>
        <p:spPr>
          <a:xfrm>
            <a:off x="3456432" y="2231136"/>
            <a:ext cx="1572768" cy="786384"/>
          </a:xfrm>
          <a:prstGeom prst="roundRect">
            <a:avLst>
              <a:gd name="adj" fmla="val 6977"/>
            </a:avLst>
          </a:prstGeom>
          <a:solidFill>
            <a:schemeClr val="accent3">
              <a:alpha val="22000"/>
            </a:schemeClr>
          </a:solidFill>
          <a:ln w="6350">
            <a:solidFill>
              <a:schemeClr val="accent6"/>
            </a:solidFill>
            <a:prstDash val="solid"/>
          </a:ln>
        </p:spPr>
      </p:sp>
      <p:sp>
        <p:nvSpPr>
          <p:cNvPr id="24" name="Grid cell 02"/>
          <p:cNvSpPr/>
          <p:nvPr/>
        </p:nvSpPr>
        <p:spPr>
          <a:xfrm>
            <a:off x="5102352" y="2231136"/>
            <a:ext cx="1572768" cy="786384"/>
          </a:xfrm>
          <a:prstGeom prst="roundRect">
            <a:avLst>
              <a:gd name="adj" fmla="val 6977"/>
            </a:avLst>
          </a:prstGeom>
          <a:solidFill>
            <a:schemeClr val="accent3">
              <a:alpha val="34000"/>
            </a:schemeClr>
          </a:solidFill>
          <a:ln w="6350">
            <a:solidFill>
              <a:schemeClr val="accent6"/>
            </a:solidFill>
            <a:prstDash val="solid"/>
          </a:ln>
        </p:spPr>
      </p:sp>
      <p:sp>
        <p:nvSpPr>
          <p:cNvPr id="25" name="Grid row Serious"/>
          <p:cNvSpPr/>
          <p:nvPr/>
        </p:nvSpPr>
        <p:spPr>
          <a:xfrm>
            <a:off x="548640" y="3090672"/>
            <a:ext cx="1188720" cy="786384"/>
          </a:xfrm>
          <a:prstGeom prst="roundRect">
            <a:avLst>
              <a:gd name="adj" fmla="val 11628"/>
            </a:avLst>
          </a:prstGeom>
          <a:solidFill>
            <a:schemeClr val="tx2"/>
          </a:solidFill>
          <a:ln w="6350">
            <a:solidFill>
              <a:schemeClr val="accent6"/>
            </a:solidFill>
            <a:prstDash val="solid"/>
          </a:ln>
        </p:spPr>
      </p:sp>
      <p:sp>
        <p:nvSpPr>
          <p:cNvPr id="26" name="Text 23"/>
          <p:cNvSpPr txBox="1"/>
          <p:nvPr/>
        </p:nvSpPr>
        <p:spPr>
          <a:xfrm>
            <a:off x="658368" y="3090672"/>
            <a:ext cx="969264" cy="786384"/>
          </a:xfrm>
          <a:prstGeom prst="rect">
            <a:avLst/>
          </a:prstGeom>
          <a:noFill/>
          <a:ln/>
        </p:spPr>
        <p:txBody>
          <a:bodyPr wrap="square" lIns="0" tIns="0" rIns="0" bIns="0" rtlCol="0" anchor="ctr"/>
          <a:lstStyle/>
          <a:p>
            <a:pPr algn="l" indent="0" marL="0">
              <a:buNone/>
            </a:pPr>
            <a:r>
              <a:rPr lang="en-US" sz="1000" b="1" dirty="0">
                <a:solidFill>
                  <a:schemeClr val="bg1"/>
                </a:solidFill>
              </a:rPr>
              <a:t>Serious</a:t>
            </a:r>
            <a:endParaRPr lang="en-US" sz="1000" dirty="0"/>
          </a:p>
        </p:txBody>
      </p:sp>
      <p:sp>
        <p:nvSpPr>
          <p:cNvPr id="27" name="Grid cell 10"/>
          <p:cNvSpPr/>
          <p:nvPr/>
        </p:nvSpPr>
        <p:spPr>
          <a:xfrm>
            <a:off x="1810512" y="3090672"/>
            <a:ext cx="1572768" cy="786384"/>
          </a:xfrm>
          <a:prstGeom prst="roundRect">
            <a:avLst>
              <a:gd name="adj" fmla="val 6977"/>
            </a:avLst>
          </a:prstGeom>
          <a:solidFill>
            <a:schemeClr val="accent3">
              <a:alpha val="22000"/>
            </a:schemeClr>
          </a:solidFill>
          <a:ln w="6350">
            <a:solidFill>
              <a:schemeClr val="accent6"/>
            </a:solidFill>
            <a:prstDash val="solid"/>
          </a:ln>
        </p:spPr>
      </p:sp>
      <p:sp>
        <p:nvSpPr>
          <p:cNvPr id="28" name="Grid cell 11"/>
          <p:cNvSpPr/>
          <p:nvPr/>
        </p:nvSpPr>
        <p:spPr>
          <a:xfrm>
            <a:off x="3456432" y="3090672"/>
            <a:ext cx="1572768" cy="786384"/>
          </a:xfrm>
          <a:prstGeom prst="roundRect">
            <a:avLst>
              <a:gd name="adj" fmla="val 6977"/>
            </a:avLst>
          </a:prstGeom>
          <a:solidFill>
            <a:schemeClr val="accent3">
              <a:alpha val="34000"/>
            </a:schemeClr>
          </a:solidFill>
          <a:ln w="6350">
            <a:solidFill>
              <a:schemeClr val="accent6"/>
            </a:solidFill>
            <a:prstDash val="solid"/>
          </a:ln>
        </p:spPr>
      </p:sp>
      <p:sp>
        <p:nvSpPr>
          <p:cNvPr id="29" name="Grid cell 12"/>
          <p:cNvSpPr/>
          <p:nvPr/>
        </p:nvSpPr>
        <p:spPr>
          <a:xfrm>
            <a:off x="5102352" y="3090672"/>
            <a:ext cx="1572768" cy="786384"/>
          </a:xfrm>
          <a:prstGeom prst="roundRect">
            <a:avLst>
              <a:gd name="adj" fmla="val 6977"/>
            </a:avLst>
          </a:prstGeom>
          <a:solidFill>
            <a:schemeClr val="accent3">
              <a:alpha val="48000"/>
            </a:schemeClr>
          </a:solidFill>
          <a:ln w="6350">
            <a:solidFill>
              <a:schemeClr val="accent6"/>
            </a:solidFill>
            <a:prstDash val="solid"/>
          </a:ln>
        </p:spPr>
      </p:sp>
      <p:sp>
        <p:nvSpPr>
          <p:cNvPr id="30" name="Grid row Critical"/>
          <p:cNvSpPr/>
          <p:nvPr/>
        </p:nvSpPr>
        <p:spPr>
          <a:xfrm>
            <a:off x="548640" y="3950208"/>
            <a:ext cx="1188720" cy="786384"/>
          </a:xfrm>
          <a:prstGeom prst="roundRect">
            <a:avLst>
              <a:gd name="adj" fmla="val 11628"/>
            </a:avLst>
          </a:prstGeom>
          <a:solidFill>
            <a:schemeClr val="tx2"/>
          </a:solidFill>
          <a:ln w="6350">
            <a:solidFill>
              <a:schemeClr val="accent6"/>
            </a:solidFill>
            <a:prstDash val="solid"/>
          </a:ln>
        </p:spPr>
      </p:sp>
      <p:sp>
        <p:nvSpPr>
          <p:cNvPr id="31" name="Text 28"/>
          <p:cNvSpPr txBox="1"/>
          <p:nvPr/>
        </p:nvSpPr>
        <p:spPr>
          <a:xfrm>
            <a:off x="658368" y="3950208"/>
            <a:ext cx="969264" cy="786384"/>
          </a:xfrm>
          <a:prstGeom prst="rect">
            <a:avLst/>
          </a:prstGeom>
          <a:noFill/>
          <a:ln/>
        </p:spPr>
        <p:txBody>
          <a:bodyPr wrap="square" lIns="0" tIns="0" rIns="0" bIns="0" rtlCol="0" anchor="ctr"/>
          <a:lstStyle/>
          <a:p>
            <a:pPr algn="l" indent="0" marL="0">
              <a:buNone/>
            </a:pPr>
            <a:r>
              <a:rPr lang="en-US" sz="1000" b="1" dirty="0">
                <a:solidFill>
                  <a:schemeClr val="bg1"/>
                </a:solidFill>
              </a:rPr>
              <a:t>Critical</a:t>
            </a:r>
            <a:endParaRPr lang="en-US" sz="1000" dirty="0"/>
          </a:p>
        </p:txBody>
      </p:sp>
      <p:sp>
        <p:nvSpPr>
          <p:cNvPr id="32" name="Grid cell 20"/>
          <p:cNvSpPr/>
          <p:nvPr/>
        </p:nvSpPr>
        <p:spPr>
          <a:xfrm>
            <a:off x="1810512" y="3950208"/>
            <a:ext cx="1572768" cy="786384"/>
          </a:xfrm>
          <a:prstGeom prst="roundRect">
            <a:avLst>
              <a:gd name="adj" fmla="val 6977"/>
            </a:avLst>
          </a:prstGeom>
          <a:solidFill>
            <a:schemeClr val="accent3">
              <a:alpha val="34000"/>
            </a:schemeClr>
          </a:solidFill>
          <a:ln w="6350">
            <a:solidFill>
              <a:schemeClr val="accent6"/>
            </a:solidFill>
            <a:prstDash val="solid"/>
          </a:ln>
        </p:spPr>
      </p:sp>
      <p:sp>
        <p:nvSpPr>
          <p:cNvPr id="33" name="Grid cell 21"/>
          <p:cNvSpPr/>
          <p:nvPr/>
        </p:nvSpPr>
        <p:spPr>
          <a:xfrm>
            <a:off x="3456432" y="3950208"/>
            <a:ext cx="1572768" cy="786384"/>
          </a:xfrm>
          <a:prstGeom prst="roundRect">
            <a:avLst>
              <a:gd name="adj" fmla="val 6977"/>
            </a:avLst>
          </a:prstGeom>
          <a:solidFill>
            <a:schemeClr val="accent3">
              <a:alpha val="48000"/>
            </a:schemeClr>
          </a:solidFill>
          <a:ln w="6350">
            <a:solidFill>
              <a:schemeClr val="accent6"/>
            </a:solidFill>
            <a:prstDash val="solid"/>
          </a:ln>
        </p:spPr>
      </p:sp>
      <p:sp>
        <p:nvSpPr>
          <p:cNvPr id="34" name="Grid cell 22"/>
          <p:cNvSpPr/>
          <p:nvPr/>
        </p:nvSpPr>
        <p:spPr>
          <a:xfrm>
            <a:off x="5102352" y="3950208"/>
            <a:ext cx="1572768" cy="786384"/>
          </a:xfrm>
          <a:prstGeom prst="roundRect">
            <a:avLst>
              <a:gd name="adj" fmla="val 6977"/>
            </a:avLst>
          </a:prstGeom>
          <a:solidFill>
            <a:schemeClr val="accent3">
              <a:alpha val="64000"/>
            </a:schemeClr>
          </a:solidFill>
          <a:ln w="6350">
            <a:solidFill>
              <a:schemeClr val="accent6"/>
            </a:solidFill>
            <a:prstDash val="solid"/>
          </a:ln>
        </p:spPr>
      </p:sp>
      <p:sp>
        <p:nvSpPr>
          <p:cNvPr id="35" name="Text 32"/>
          <p:cNvSpPr txBox="1"/>
          <p:nvPr/>
        </p:nvSpPr>
        <p:spPr>
          <a:xfrm>
            <a:off x="1810512" y="2231136"/>
            <a:ext cx="1572768" cy="786384"/>
          </a:xfrm>
          <a:prstGeom prst="rect">
            <a:avLst/>
          </a:prstGeom>
          <a:noFill/>
          <a:ln/>
        </p:spPr>
        <p:txBody>
          <a:bodyPr wrap="square" lIns="0" tIns="0" rIns="0" bIns="0" rtlCol="0" anchor="ctr"/>
          <a:lstStyle/>
          <a:p>
            <a:pPr algn="ctr" indent="0" marL="0">
              <a:buNone/>
            </a:pPr>
            <a:r>
              <a:rPr lang="en-US" sz="900" i="1" dirty="0">
                <a:solidFill>
                  <a:schemeClr val="bg1"/>
                </a:solidFill>
              </a:rPr>
              <a:t>lowest risk</a:t>
            </a:r>
            <a:endParaRPr lang="en-US" sz="900" dirty="0"/>
          </a:p>
        </p:txBody>
      </p:sp>
      <p:sp>
        <p:nvSpPr>
          <p:cNvPr id="36" name="Text 33"/>
          <p:cNvSpPr txBox="1"/>
          <p:nvPr/>
        </p:nvSpPr>
        <p:spPr>
          <a:xfrm>
            <a:off x="5102352" y="3950208"/>
            <a:ext cx="1572768" cy="786384"/>
          </a:xfrm>
          <a:prstGeom prst="rect">
            <a:avLst/>
          </a:prstGeom>
          <a:noFill/>
          <a:ln/>
        </p:spPr>
        <p:txBody>
          <a:bodyPr wrap="square" lIns="0" tIns="0" rIns="0" bIns="0" rtlCol="0" anchor="ctr"/>
          <a:lstStyle/>
          <a:p>
            <a:pPr algn="ctr" indent="0" marL="0">
              <a:buNone/>
            </a:pPr>
            <a:r>
              <a:rPr lang="en-US" sz="900" i="1" dirty="0">
                <a:solidFill>
                  <a:schemeClr val="bg1"/>
                </a:solidFill>
              </a:rPr>
              <a:t>highest risk</a:t>
            </a:r>
            <a:endParaRPr lang="en-US" sz="900" dirty="0"/>
          </a:p>
        </p:txBody>
      </p:sp>
      <p:sp>
        <p:nvSpPr>
          <p:cNvPr id="37" name="Pill FoGO app · B (proposed)"/>
          <p:cNvSpPr/>
          <p:nvPr/>
        </p:nvSpPr>
        <p:spPr>
          <a:xfrm>
            <a:off x="3547872" y="3328416"/>
            <a:ext cx="1389888" cy="292608"/>
          </a:xfrm>
          <a:prstGeom prst="roundRect">
            <a:avLst>
              <a:gd name="adj" fmla="val 50000"/>
            </a:avLst>
          </a:prstGeom>
          <a:solidFill>
            <a:schemeClr val="tx2"/>
          </a:solidFill>
          <a:ln w="15875">
            <a:solidFill>
              <a:schemeClr val="accent2"/>
            </a:solidFill>
            <a:prstDash val="dash"/>
          </a:ln>
        </p:spPr>
      </p:sp>
      <p:sp>
        <p:nvSpPr>
          <p:cNvPr id="38" name="Text 35"/>
          <p:cNvSpPr txBox="1"/>
          <p:nvPr/>
        </p:nvSpPr>
        <p:spPr>
          <a:xfrm>
            <a:off x="3547872" y="3328416"/>
            <a:ext cx="1389888" cy="292608"/>
          </a:xfrm>
          <a:prstGeom prst="rect">
            <a:avLst/>
          </a:prstGeom>
          <a:noFill/>
          <a:ln/>
        </p:spPr>
        <p:txBody>
          <a:bodyPr wrap="square" lIns="0" tIns="0" rIns="0" bIns="0" rtlCol="0" anchor="ctr"/>
          <a:lstStyle/>
          <a:p>
            <a:pPr algn="ctr" indent="0" marL="0">
              <a:buNone/>
            </a:pPr>
            <a:r>
              <a:rPr lang="en-US" sz="900" b="1" dirty="0">
                <a:solidFill>
                  <a:schemeClr val="bg1"/>
                </a:solidFill>
              </a:rPr>
              <a:t>FoGO app · B (proposed)</a:t>
            </a:r>
            <a:endParaRPr lang="en-US" sz="900" dirty="0"/>
          </a:p>
        </p:txBody>
      </p:sp>
      <p:sp>
        <p:nvSpPr>
          <p:cNvPr id="39" name="Text 36"/>
          <p:cNvSpPr txBox="1"/>
          <p:nvPr/>
        </p:nvSpPr>
        <p:spPr>
          <a:xfrm>
            <a:off x="548640" y="4809744"/>
            <a:ext cx="6126480" cy="365760"/>
          </a:xfrm>
          <a:prstGeom prst="rect">
            <a:avLst/>
          </a:prstGeom>
          <a:noFill/>
          <a:ln/>
        </p:spPr>
        <p:txBody>
          <a:bodyPr wrap="square" lIns="0" tIns="0" rIns="0" bIns="0" rtlCol="0" anchor="t"/>
          <a:lstStyle/>
          <a:p>
            <a:pPr indent="0" marL="0">
              <a:buNone/>
            </a:pPr>
            <a:r>
              <a:rPr lang="en-US" sz="900" i="1" dirty="0">
                <a:solidFill>
                  <a:schemeClr val="accent6"/>
                </a:solidFill>
              </a:rPr>
              <a:t>Plus the third criterion: is the medical purpose stated? Illustrative placement of the FoGO app; CDSCO's guidance sets the rule.</a:t>
            </a:r>
            <a:endParaRPr lang="en-US" sz="900" dirty="0"/>
          </a:p>
        </p:txBody>
      </p:sp>
      <p:sp>
        <p:nvSpPr>
          <p:cNvPr id="40" name="FoGO app card"/>
          <p:cNvSpPr/>
          <p:nvPr/>
        </p:nvSpPr>
        <p:spPr>
          <a:xfrm>
            <a:off x="7086600" y="1572768"/>
            <a:ext cx="4556455" cy="3246120"/>
          </a:xfrm>
          <a:prstGeom prst="roundRect">
            <a:avLst>
              <a:gd name="adj" fmla="val 3380"/>
            </a:avLst>
          </a:prstGeom>
          <a:solidFill>
            <a:schemeClr val="bg1">
              <a:alpha val="10000"/>
            </a:schemeClr>
          </a:solidFill>
          <a:ln w="9525">
            <a:solidFill>
              <a:schemeClr val="accent6"/>
            </a:solidFill>
            <a:prstDash val="solid"/>
          </a:ln>
        </p:spPr>
      </p:sp>
      <p:pic>
        <p:nvPicPr>
          <p:cNvPr id="41" name="Image 0" descr="FoGO prototype app showing a cue">    </p:cNvPr>
          <p:cNvPicPr>
            <a:picLocks noChangeAspect="1"/>
          </p:cNvPicPr>
          <p:nvPr/>
        </p:nvPicPr>
        <p:blipFill>
          <a:blip r:embed="rId1"/>
          <a:stretch>
            <a:fillRect/>
          </a:stretch>
        </p:blipFill>
        <p:spPr>
          <a:xfrm>
            <a:off x="7269480" y="1755648"/>
            <a:ext cx="1325880" cy="2880360"/>
          </a:xfrm>
          <a:prstGeom prst="rect">
            <a:avLst/>
          </a:prstGeom>
        </p:spPr>
      </p:pic>
      <p:sp>
        <p:nvSpPr>
          <p:cNvPr id="42" name="Text 38"/>
          <p:cNvSpPr txBox="1"/>
          <p:nvPr/>
        </p:nvSpPr>
        <p:spPr>
          <a:xfrm>
            <a:off x="8778240" y="1737360"/>
            <a:ext cx="2681935" cy="2926080"/>
          </a:xfrm>
          <a:prstGeom prst="rect">
            <a:avLst/>
          </a:prstGeom>
          <a:noFill/>
          <a:ln/>
        </p:spPr>
        <p:txBody>
          <a:bodyPr wrap="square" lIns="0" tIns="0" rIns="0" bIns="0" rtlCol="0" anchor="t"/>
          <a:lstStyle/>
          <a:p>
            <a:pPr indent="0" marL="0">
              <a:spcAft>
                <a:spcPts val="300"/>
              </a:spcAft>
              <a:buNone/>
            </a:pPr>
            <a:r>
              <a:rPr lang="en-US" sz="1250" b="1" dirty="0">
                <a:solidFill>
                  <a:schemeClr val="bg1"/>
                </a:solidFill>
              </a:rPr>
              <a:t>FoGO app: software that drives the device</a:t>
            </a:r>
            <a:endParaRPr lang="en-US" sz="1400" dirty="0"/>
          </a:p>
          <a:p>
            <a:pPr indent="0" marL="0">
              <a:spcAft>
                <a:spcPts val="300"/>
              </a:spcAft>
              <a:buNone/>
            </a:pPr>
            <a:r>
              <a:rPr lang="en-US" sz="1000" dirty="0">
                <a:solidFill>
                  <a:schemeClr val="accent6"/>
                </a:solidFill>
              </a:rPr>
              <a:t>Reads the 100 Hz ankle stream, runs the detection model, confirms a freeze in 2 of 3 windows, then fires the chest cue.</a:t>
            </a:r>
            <a:endParaRPr lang="en-US" sz="1400" dirty="0"/>
          </a:p>
          <a:p>
            <a:pPr indent="0" marL="0">
              <a:spcAft>
                <a:spcPts val="300"/>
              </a:spcAft>
              <a:buNone/>
            </a:pPr>
            <a:r>
              <a:rPr lang="en-US" sz="500" dirty="0">
                <a:solidFill>
                  <a:schemeClr val="tx1"/>
                </a:solidFill>
              </a:rPr>
              <a:t> </a:t>
            </a:r>
            <a:endParaRPr lang="en-US" sz="1400" dirty="0"/>
          </a:p>
          <a:p>
            <a:pPr marL="127000" indent="-127000">
              <a:spcAft>
                <a:spcPts val="300"/>
              </a:spcAft>
              <a:buSzPct val="100000"/>
              <a:buChar char="•"/>
            </a:pPr>
            <a:r>
              <a:rPr lang="en-US" sz="1000" dirty="0">
                <a:solidFill>
                  <a:schemeClr val="accent6"/>
                </a:solidFill>
              </a:rPr>
              <a:t>Software driving a device: classified with the device (verify); FoGO proposes Class B</a:t>
            </a:r>
            <a:endParaRPr lang="en-US" sz="1400" dirty="0"/>
          </a:p>
          <a:p>
            <a:pPr marL="127000" indent="-127000">
              <a:spcAft>
                <a:spcPts val="300"/>
              </a:spcAft>
              <a:buSzPct val="100000"/>
              <a:buChar char="•"/>
            </a:pPr>
            <a:r>
              <a:rPr lang="en-US" sz="1000" dirty="0">
                <a:solidFill>
                  <a:schemeClr val="accent6"/>
                </a:solidFill>
              </a:rPr>
              <a:t>Consultancy reading: retrospective analysis only → A; real-time parameters, no diagnosis → B; informs diagnosis or treatment → C</a:t>
            </a:r>
            <a:endParaRPr lang="en-US" sz="1400" dirty="0"/>
          </a:p>
          <a:p>
            <a:pPr marL="127000" indent="-127000">
              <a:spcAft>
                <a:spcPts val="300"/>
              </a:spcAft>
              <a:buSzPct val="100000"/>
              <a:buChar char="•"/>
            </a:pPr>
            <a:r>
              <a:rPr lang="en-US" sz="1000" dirty="0">
                <a:solidFill>
                  <a:schemeClr val="accent6"/>
                </a:solidFill>
              </a:rPr>
              <a:t>Every result carries a firmware and model version; a threshold change is a design change</a:t>
            </a:r>
            <a:endParaRPr lang="en-US" sz="1400" dirty="0"/>
          </a:p>
        </p:txBody>
      </p:sp>
      <p:sp>
        <p:nvSpPr>
          <p:cNvPr id="43" name="Step Intended purpose"/>
          <p:cNvSpPr/>
          <p:nvPr/>
        </p:nvSpPr>
        <p:spPr>
          <a:xfrm>
            <a:off x="548640" y="5010912"/>
            <a:ext cx="1788109" cy="512064"/>
          </a:xfrm>
          <a:prstGeom prst="homePlate">
            <a:avLst/>
          </a:prstGeom>
          <a:solidFill>
            <a:schemeClr val="accent4"/>
          </a:solidFill>
          <a:ln/>
        </p:spPr>
      </p:sp>
      <p:sp>
        <p:nvSpPr>
          <p:cNvPr id="44" name="Text 40"/>
          <p:cNvSpPr txBox="1"/>
          <p:nvPr/>
        </p:nvSpPr>
        <p:spPr>
          <a:xfrm>
            <a:off x="676656" y="5010912"/>
            <a:ext cx="1422349" cy="512064"/>
          </a:xfrm>
          <a:prstGeom prst="rect">
            <a:avLst/>
          </a:prstGeom>
          <a:noFill/>
          <a:ln/>
        </p:spPr>
        <p:txBody>
          <a:bodyPr wrap="square" lIns="0" tIns="0" rIns="0" bIns="0" rtlCol="0" anchor="ctr"/>
          <a:lstStyle/>
          <a:p>
            <a:pPr indent="0" marL="0">
              <a:buNone/>
            </a:pPr>
            <a:r>
              <a:rPr lang="en-US" sz="1100" b="1" dirty="0">
                <a:solidFill>
                  <a:schemeClr val="bg1"/>
                </a:solidFill>
              </a:rPr>
              <a:t>Intended purpose</a:t>
            </a:r>
            <a:endParaRPr lang="en-US" sz="1100" dirty="0"/>
          </a:p>
        </p:txBody>
      </p:sp>
      <p:sp>
        <p:nvSpPr>
          <p:cNvPr id="45" name="Text 41"/>
          <p:cNvSpPr txBox="1"/>
          <p:nvPr/>
        </p:nvSpPr>
        <p:spPr>
          <a:xfrm>
            <a:off x="594360" y="5632704"/>
            <a:ext cx="1650949" cy="640080"/>
          </a:xfrm>
          <a:prstGeom prst="rect">
            <a:avLst/>
          </a:prstGeom>
          <a:noFill/>
          <a:ln/>
        </p:spPr>
        <p:txBody>
          <a:bodyPr wrap="square" lIns="0" tIns="0" rIns="0" bIns="0" rtlCol="0" anchor="t"/>
          <a:lstStyle/>
          <a:p>
            <a:pPr indent="0" marL="0">
              <a:spcAft>
                <a:spcPts val="200"/>
              </a:spcAft>
              <a:buNone/>
            </a:pPr>
            <a:r>
              <a:rPr lang="en-US" sz="950" dirty="0">
                <a:solidFill>
                  <a:schemeClr val="accent6"/>
                </a:solidFill>
              </a:rPr>
              <a:t>Is the purpose medical? Classify by what the output drives</a:t>
            </a:r>
            <a:endParaRPr lang="en-US" sz="950" dirty="0"/>
          </a:p>
        </p:txBody>
      </p:sp>
      <p:sp>
        <p:nvSpPr>
          <p:cNvPr id="46" name="Step Lifecycle documents"/>
          <p:cNvSpPr/>
          <p:nvPr/>
        </p:nvSpPr>
        <p:spPr>
          <a:xfrm>
            <a:off x="2409901" y="5010912"/>
            <a:ext cx="1788109" cy="512064"/>
          </a:xfrm>
          <a:prstGeom prst="chevron">
            <a:avLst/>
          </a:prstGeom>
          <a:solidFill>
            <a:schemeClr val="accent4"/>
          </a:solidFill>
          <a:ln/>
        </p:spPr>
      </p:sp>
      <p:sp>
        <p:nvSpPr>
          <p:cNvPr id="47" name="Text 43"/>
          <p:cNvSpPr txBox="1"/>
          <p:nvPr/>
        </p:nvSpPr>
        <p:spPr>
          <a:xfrm>
            <a:off x="2739085" y="5010912"/>
            <a:ext cx="1239469" cy="512064"/>
          </a:xfrm>
          <a:prstGeom prst="rect">
            <a:avLst/>
          </a:prstGeom>
          <a:noFill/>
          <a:ln/>
        </p:spPr>
        <p:txBody>
          <a:bodyPr wrap="square" lIns="0" tIns="0" rIns="0" bIns="0" rtlCol="0" anchor="ctr"/>
          <a:lstStyle/>
          <a:p>
            <a:pPr indent="0" marL="0">
              <a:buNone/>
            </a:pPr>
            <a:r>
              <a:rPr lang="en-US" sz="1100" b="1" dirty="0">
                <a:solidFill>
                  <a:schemeClr val="bg1"/>
                </a:solidFill>
              </a:rPr>
              <a:t>Lifecycle documents</a:t>
            </a:r>
            <a:endParaRPr lang="en-US" sz="1100" dirty="0"/>
          </a:p>
        </p:txBody>
      </p:sp>
      <p:sp>
        <p:nvSpPr>
          <p:cNvPr id="48" name="Text 44"/>
          <p:cNvSpPr txBox="1"/>
          <p:nvPr/>
        </p:nvSpPr>
        <p:spPr>
          <a:xfrm>
            <a:off x="2455621" y="5632704"/>
            <a:ext cx="1650949" cy="640080"/>
          </a:xfrm>
          <a:prstGeom prst="rect">
            <a:avLst/>
          </a:prstGeom>
          <a:noFill/>
          <a:ln/>
        </p:spPr>
        <p:txBody>
          <a:bodyPr wrap="square" lIns="0" tIns="0" rIns="0" bIns="0" rtlCol="0" anchor="t"/>
          <a:lstStyle/>
          <a:p>
            <a:pPr indent="0" marL="0">
              <a:spcAft>
                <a:spcPts val="200"/>
              </a:spcAft>
              <a:buNone/>
            </a:pPr>
            <a:r>
              <a:rPr lang="en-US" sz="950" dirty="0">
                <a:solidFill>
                  <a:schemeClr val="accent6"/>
                </a:solidFill>
              </a:rPr>
              <a:t>Requirements, architecture, versions, risk file (ISO 14971)</a:t>
            </a:r>
            <a:endParaRPr lang="en-US" sz="950" dirty="0"/>
          </a:p>
        </p:txBody>
      </p:sp>
      <p:sp>
        <p:nvSpPr>
          <p:cNvPr id="49" name="Step Verify &amp; validate"/>
          <p:cNvSpPr/>
          <p:nvPr/>
        </p:nvSpPr>
        <p:spPr>
          <a:xfrm>
            <a:off x="4271162" y="5010912"/>
            <a:ext cx="1788109" cy="512064"/>
          </a:xfrm>
          <a:prstGeom prst="chevron">
            <a:avLst/>
          </a:prstGeom>
          <a:solidFill>
            <a:schemeClr val="accent4"/>
          </a:solidFill>
          <a:ln/>
        </p:spPr>
      </p:sp>
      <p:sp>
        <p:nvSpPr>
          <p:cNvPr id="50" name="Text 46"/>
          <p:cNvSpPr txBox="1"/>
          <p:nvPr/>
        </p:nvSpPr>
        <p:spPr>
          <a:xfrm>
            <a:off x="4600346" y="5010912"/>
            <a:ext cx="1239469" cy="512064"/>
          </a:xfrm>
          <a:prstGeom prst="rect">
            <a:avLst/>
          </a:prstGeom>
          <a:noFill/>
          <a:ln/>
        </p:spPr>
        <p:txBody>
          <a:bodyPr wrap="square" lIns="0" tIns="0" rIns="0" bIns="0" rtlCol="0" anchor="ctr"/>
          <a:lstStyle/>
          <a:p>
            <a:pPr indent="0" marL="0">
              <a:buNone/>
            </a:pPr>
            <a:r>
              <a:rPr lang="en-US" sz="1100" b="1" dirty="0">
                <a:solidFill>
                  <a:schemeClr val="bg1"/>
                </a:solidFill>
              </a:rPr>
              <a:t>Verify &amp; validate</a:t>
            </a:r>
            <a:endParaRPr lang="en-US" sz="1100" dirty="0"/>
          </a:p>
        </p:txBody>
      </p:sp>
      <p:sp>
        <p:nvSpPr>
          <p:cNvPr id="51" name="Text 47"/>
          <p:cNvSpPr txBox="1"/>
          <p:nvPr/>
        </p:nvSpPr>
        <p:spPr>
          <a:xfrm>
            <a:off x="4316882" y="5632704"/>
            <a:ext cx="1650949" cy="640080"/>
          </a:xfrm>
          <a:prstGeom prst="rect">
            <a:avLst/>
          </a:prstGeom>
          <a:noFill/>
          <a:ln/>
        </p:spPr>
        <p:txBody>
          <a:bodyPr wrap="square" lIns="0" tIns="0" rIns="0" bIns="0" rtlCol="0" anchor="t"/>
          <a:lstStyle/>
          <a:p>
            <a:pPr indent="0" marL="0">
              <a:spcAft>
                <a:spcPts val="200"/>
              </a:spcAft>
              <a:buNone/>
            </a:pPr>
            <a:r>
              <a:rPr lang="en-US" sz="950" dirty="0">
                <a:solidFill>
                  <a:schemeClr val="accent6"/>
                </a:solidFill>
              </a:rPr>
              <a:t>Tests per version; clinical evidence sized to the claim</a:t>
            </a:r>
            <a:endParaRPr lang="en-US" sz="950" dirty="0"/>
          </a:p>
        </p:txBody>
      </p:sp>
      <p:sp>
        <p:nvSpPr>
          <p:cNvPr id="52" name="Step Cybersecurity"/>
          <p:cNvSpPr/>
          <p:nvPr/>
        </p:nvSpPr>
        <p:spPr>
          <a:xfrm>
            <a:off x="6132424" y="5010912"/>
            <a:ext cx="1788109" cy="512064"/>
          </a:xfrm>
          <a:prstGeom prst="chevron">
            <a:avLst/>
          </a:prstGeom>
          <a:solidFill>
            <a:schemeClr val="accent4"/>
          </a:solidFill>
          <a:ln/>
        </p:spPr>
      </p:sp>
      <p:sp>
        <p:nvSpPr>
          <p:cNvPr id="53" name="Text 49"/>
          <p:cNvSpPr txBox="1"/>
          <p:nvPr/>
        </p:nvSpPr>
        <p:spPr>
          <a:xfrm>
            <a:off x="6461608" y="5010912"/>
            <a:ext cx="1239469" cy="512064"/>
          </a:xfrm>
          <a:prstGeom prst="rect">
            <a:avLst/>
          </a:prstGeom>
          <a:noFill/>
          <a:ln/>
        </p:spPr>
        <p:txBody>
          <a:bodyPr wrap="square" lIns="0" tIns="0" rIns="0" bIns="0" rtlCol="0" anchor="ctr"/>
          <a:lstStyle/>
          <a:p>
            <a:pPr indent="0" marL="0">
              <a:buNone/>
            </a:pPr>
            <a:r>
              <a:rPr lang="en-US" sz="1100" b="1" dirty="0">
                <a:solidFill>
                  <a:schemeClr val="bg1"/>
                </a:solidFill>
              </a:rPr>
              <a:t>Cybersecurity</a:t>
            </a:r>
            <a:endParaRPr lang="en-US" sz="1100" dirty="0"/>
          </a:p>
        </p:txBody>
      </p:sp>
      <p:sp>
        <p:nvSpPr>
          <p:cNvPr id="54" name="Text 50"/>
          <p:cNvSpPr txBox="1"/>
          <p:nvPr/>
        </p:nvSpPr>
        <p:spPr>
          <a:xfrm>
            <a:off x="6178144" y="5632704"/>
            <a:ext cx="1650949" cy="640080"/>
          </a:xfrm>
          <a:prstGeom prst="rect">
            <a:avLst/>
          </a:prstGeom>
          <a:noFill/>
          <a:ln/>
        </p:spPr>
        <p:txBody>
          <a:bodyPr wrap="square" lIns="0" tIns="0" rIns="0" bIns="0" rtlCol="0" anchor="t"/>
          <a:lstStyle/>
          <a:p>
            <a:pPr indent="0" marL="0">
              <a:spcAft>
                <a:spcPts val="200"/>
              </a:spcAft>
              <a:buNone/>
            </a:pPr>
            <a:r>
              <a:rPr lang="en-US" sz="950" dirty="0">
                <a:solidFill>
                  <a:schemeClr val="accent6"/>
                </a:solidFill>
              </a:rPr>
              <a:t>Threat model, updates, data protection (DPDP Rules 2025)</a:t>
            </a:r>
            <a:endParaRPr lang="en-US" sz="950" dirty="0"/>
          </a:p>
        </p:txBody>
      </p:sp>
      <p:sp>
        <p:nvSpPr>
          <p:cNvPr id="55" name="Step Change control · ACP"/>
          <p:cNvSpPr/>
          <p:nvPr/>
        </p:nvSpPr>
        <p:spPr>
          <a:xfrm>
            <a:off x="7993685" y="5010912"/>
            <a:ext cx="1788109" cy="512064"/>
          </a:xfrm>
          <a:prstGeom prst="chevron">
            <a:avLst/>
          </a:prstGeom>
          <a:solidFill>
            <a:schemeClr val="accent2"/>
          </a:solidFill>
          <a:ln/>
        </p:spPr>
      </p:sp>
      <p:sp>
        <p:nvSpPr>
          <p:cNvPr id="56" name="Text 52"/>
          <p:cNvSpPr txBox="1"/>
          <p:nvPr/>
        </p:nvSpPr>
        <p:spPr>
          <a:xfrm>
            <a:off x="8322869" y="5010912"/>
            <a:ext cx="1239469" cy="512064"/>
          </a:xfrm>
          <a:prstGeom prst="rect">
            <a:avLst/>
          </a:prstGeom>
          <a:noFill/>
          <a:ln/>
        </p:spPr>
        <p:txBody>
          <a:bodyPr wrap="square" lIns="0" tIns="0" rIns="0" bIns="0" rtlCol="0" anchor="ctr"/>
          <a:lstStyle/>
          <a:p>
            <a:pPr indent="0" marL="0">
              <a:buNone/>
            </a:pPr>
            <a:r>
              <a:rPr lang="en-US" sz="1100" b="1" dirty="0">
                <a:solidFill>
                  <a:schemeClr val="bg1"/>
                </a:solidFill>
              </a:rPr>
              <a:t>Change control · ACP</a:t>
            </a:r>
            <a:endParaRPr lang="en-US" sz="1100" dirty="0"/>
          </a:p>
        </p:txBody>
      </p:sp>
      <p:sp>
        <p:nvSpPr>
          <p:cNvPr id="57" name="Text 53"/>
          <p:cNvSpPr txBox="1"/>
          <p:nvPr/>
        </p:nvSpPr>
        <p:spPr>
          <a:xfrm>
            <a:off x="8039405" y="5632704"/>
            <a:ext cx="1650949" cy="640080"/>
          </a:xfrm>
          <a:prstGeom prst="rect">
            <a:avLst/>
          </a:prstGeom>
          <a:noFill/>
          <a:ln/>
        </p:spPr>
        <p:txBody>
          <a:bodyPr wrap="square" lIns="0" tIns="0" rIns="0" bIns="0" rtlCol="0" anchor="t"/>
          <a:lstStyle/>
          <a:p>
            <a:pPr indent="0" marL="0">
              <a:spcAft>
                <a:spcPts val="200"/>
              </a:spcAft>
              <a:buNone/>
            </a:pPr>
            <a:r>
              <a:rPr lang="en-US" sz="950" dirty="0">
                <a:solidFill>
                  <a:schemeClr val="accent6"/>
                </a:solidFill>
              </a:rPr>
              <a:t>Algorithm Change Protocol where applicable; re-validate</a:t>
            </a:r>
            <a:endParaRPr lang="en-US" sz="950" dirty="0"/>
          </a:p>
        </p:txBody>
      </p:sp>
      <p:sp>
        <p:nvSpPr>
          <p:cNvPr id="58" name="Step Post-market"/>
          <p:cNvSpPr/>
          <p:nvPr/>
        </p:nvSpPr>
        <p:spPr>
          <a:xfrm>
            <a:off x="9854946" y="5010912"/>
            <a:ext cx="1788109" cy="512064"/>
          </a:xfrm>
          <a:prstGeom prst="chevron">
            <a:avLst/>
          </a:prstGeom>
          <a:solidFill>
            <a:schemeClr val="accent4"/>
          </a:solidFill>
          <a:ln/>
        </p:spPr>
      </p:sp>
      <p:sp>
        <p:nvSpPr>
          <p:cNvPr id="59" name="Text 55"/>
          <p:cNvSpPr txBox="1"/>
          <p:nvPr/>
        </p:nvSpPr>
        <p:spPr>
          <a:xfrm>
            <a:off x="10184130" y="5010912"/>
            <a:ext cx="1239469" cy="512064"/>
          </a:xfrm>
          <a:prstGeom prst="rect">
            <a:avLst/>
          </a:prstGeom>
          <a:noFill/>
          <a:ln/>
        </p:spPr>
        <p:txBody>
          <a:bodyPr wrap="square" lIns="0" tIns="0" rIns="0" bIns="0" rtlCol="0" anchor="ctr"/>
          <a:lstStyle/>
          <a:p>
            <a:pPr indent="0" marL="0">
              <a:buNone/>
            </a:pPr>
            <a:r>
              <a:rPr lang="en-US" sz="1100" b="1" dirty="0">
                <a:solidFill>
                  <a:schemeClr val="bg1"/>
                </a:solidFill>
              </a:rPr>
              <a:t>Post-market</a:t>
            </a:r>
            <a:endParaRPr lang="en-US" sz="1100" dirty="0"/>
          </a:p>
        </p:txBody>
      </p:sp>
      <p:sp>
        <p:nvSpPr>
          <p:cNvPr id="60" name="Text 56"/>
          <p:cNvSpPr txBox="1"/>
          <p:nvPr/>
        </p:nvSpPr>
        <p:spPr>
          <a:xfrm>
            <a:off x="9900666" y="5632704"/>
            <a:ext cx="1650949" cy="640080"/>
          </a:xfrm>
          <a:prstGeom prst="rect">
            <a:avLst/>
          </a:prstGeom>
          <a:noFill/>
          <a:ln/>
        </p:spPr>
        <p:txBody>
          <a:bodyPr wrap="square" lIns="0" tIns="0" rIns="0" bIns="0" rtlCol="0" anchor="t"/>
          <a:lstStyle/>
          <a:p>
            <a:pPr indent="0" marL="0">
              <a:spcAft>
                <a:spcPts val="200"/>
              </a:spcAft>
              <a:buNone/>
            </a:pPr>
            <a:r>
              <a:rPr lang="en-US" sz="950" dirty="0">
                <a:solidFill>
                  <a:schemeClr val="accent6"/>
                </a:solidFill>
              </a:rPr>
              <a:t>Log versions; PSUR and MvPI reports per version</a:t>
            </a: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INDIA · AFTER THE LICENCE</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Post-market duties and materiovigilance</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IPC MvPI (launch 6 Jul 2015; MDAE form v1.2); CDSCO circular 15 May 2024; MDR-2017 Rule 38; Navigator Global (PSUR); Bull WHO 2020; IJP 2022; Springer 2026; Mondaq 2025 (ASR); PIB 29 Nov 2018</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Loop Care"/>
          <p:cNvSpPr/>
          <p:nvPr/>
        </p:nvSpPr>
        <p:spPr>
          <a:xfrm>
            <a:off x="548640" y="1572768"/>
            <a:ext cx="2109216" cy="1371600"/>
          </a:xfrm>
          <a:prstGeom prst="roundRect">
            <a:avLst>
              <a:gd name="adj" fmla="val 9333"/>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13" name="Icon disc LuHeartPulse"/>
          <p:cNvSpPr/>
          <p:nvPr/>
        </p:nvSpPr>
        <p:spPr>
          <a:xfrm>
            <a:off x="713232" y="1719072"/>
            <a:ext cx="420624" cy="420624"/>
          </a:xfrm>
          <a:prstGeom prst="ellipse">
            <a:avLst/>
          </a:prstGeom>
          <a:solidFill>
            <a:schemeClr val="accent3"/>
          </a:solidFill>
          <a:ln/>
        </p:spPr>
      </p:sp>
      <p:pic>
        <p:nvPicPr>
          <p:cNvPr id="14" name="Image 0" descr="HeartPulse icon">    </p:cNvPr>
          <p:cNvPicPr>
            <a:picLocks noChangeAspect="1"/>
          </p:cNvPicPr>
          <p:nvPr/>
        </p:nvPicPr>
        <p:blipFill>
          <a:blip r:embed="rId1"/>
          <a:stretch>
            <a:fillRect/>
          </a:stretch>
        </p:blipFill>
        <p:spPr>
          <a:xfrm>
            <a:off x="805769" y="1811609"/>
            <a:ext cx="235549" cy="235549"/>
          </a:xfrm>
          <a:prstGeom prst="rect">
            <a:avLst/>
          </a:prstGeom>
        </p:spPr>
      </p:pic>
      <p:sp>
        <p:nvSpPr>
          <p:cNvPr id="15" name="Text 11"/>
          <p:cNvSpPr txBox="1"/>
          <p:nvPr/>
        </p:nvSpPr>
        <p:spPr>
          <a:xfrm>
            <a:off x="1225296" y="1719072"/>
            <a:ext cx="1286256" cy="420624"/>
          </a:xfrm>
          <a:prstGeom prst="rect">
            <a:avLst/>
          </a:prstGeom>
          <a:noFill/>
          <a:ln/>
        </p:spPr>
        <p:txBody>
          <a:bodyPr wrap="square" lIns="0" tIns="0" rIns="0" bIns="0" rtlCol="0" anchor="ctr"/>
          <a:lstStyle/>
          <a:p>
            <a:pPr indent="0" marL="0">
              <a:buNone/>
            </a:pPr>
            <a:r>
              <a:rPr lang="en-US" sz="1300" b="1" dirty="0">
                <a:solidFill>
                  <a:schemeClr val="tx1"/>
                </a:solidFill>
              </a:rPr>
              <a:t>1 · Care</a:t>
            </a:r>
            <a:endParaRPr lang="en-US" sz="1400" dirty="0"/>
          </a:p>
        </p:txBody>
      </p:sp>
      <p:sp>
        <p:nvSpPr>
          <p:cNvPr id="16" name="Text 12"/>
          <p:cNvSpPr txBox="1"/>
          <p:nvPr/>
        </p:nvSpPr>
        <p:spPr>
          <a:xfrm>
            <a:off x="713232" y="2231136"/>
            <a:ext cx="1780032" cy="640080"/>
          </a:xfrm>
          <a:prstGeom prst="rect">
            <a:avLst/>
          </a:prstGeom>
          <a:noFill/>
          <a:ln/>
        </p:spPr>
        <p:txBody>
          <a:bodyPr wrap="square" lIns="0" tIns="0" rIns="0" bIns="0" rtlCol="0" anchor="t"/>
          <a:lstStyle/>
          <a:p>
            <a:pPr indent="0" marL="0">
              <a:buNone/>
            </a:pPr>
            <a:r>
              <a:rPr lang="en-US" sz="1000" dirty="0">
                <a:solidFill>
                  <a:schemeClr val="tx2"/>
                </a:solidFill>
              </a:rPr>
              <a:t>Meet the person's immediate needs; keep the device and its data</a:t>
            </a:r>
            <a:endParaRPr lang="en-US" sz="1000" dirty="0"/>
          </a:p>
        </p:txBody>
      </p:sp>
      <p:sp>
        <p:nvSpPr>
          <p:cNvPr id="17" name="Loop Record"/>
          <p:cNvSpPr/>
          <p:nvPr/>
        </p:nvSpPr>
        <p:spPr>
          <a:xfrm>
            <a:off x="2968752" y="1572768"/>
            <a:ext cx="2109216" cy="1371600"/>
          </a:xfrm>
          <a:prstGeom prst="roundRect">
            <a:avLst>
              <a:gd name="adj" fmla="val 9333"/>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18" name="Icon disc LuFileText"/>
          <p:cNvSpPr/>
          <p:nvPr/>
        </p:nvSpPr>
        <p:spPr>
          <a:xfrm>
            <a:off x="3133344" y="1719072"/>
            <a:ext cx="420624" cy="420624"/>
          </a:xfrm>
          <a:prstGeom prst="ellipse">
            <a:avLst/>
          </a:prstGeom>
          <a:solidFill>
            <a:schemeClr val="accent4"/>
          </a:solidFill>
          <a:ln/>
        </p:spPr>
      </p:sp>
      <p:pic>
        <p:nvPicPr>
          <p:cNvPr id="19" name="Image 1" descr="FileText icon">    </p:cNvPr>
          <p:cNvPicPr>
            <a:picLocks noChangeAspect="1"/>
          </p:cNvPicPr>
          <p:nvPr/>
        </p:nvPicPr>
        <p:blipFill>
          <a:blip r:embed="rId2"/>
          <a:stretch>
            <a:fillRect/>
          </a:stretch>
        </p:blipFill>
        <p:spPr>
          <a:xfrm>
            <a:off x="3225881" y="1811609"/>
            <a:ext cx="235549" cy="235549"/>
          </a:xfrm>
          <a:prstGeom prst="rect">
            <a:avLst/>
          </a:prstGeom>
        </p:spPr>
      </p:pic>
      <p:sp>
        <p:nvSpPr>
          <p:cNvPr id="20" name="Text 15"/>
          <p:cNvSpPr txBox="1"/>
          <p:nvPr/>
        </p:nvSpPr>
        <p:spPr>
          <a:xfrm>
            <a:off x="3645408" y="1719072"/>
            <a:ext cx="1286256" cy="420624"/>
          </a:xfrm>
          <a:prstGeom prst="rect">
            <a:avLst/>
          </a:prstGeom>
          <a:noFill/>
          <a:ln/>
        </p:spPr>
        <p:txBody>
          <a:bodyPr wrap="square" lIns="0" tIns="0" rIns="0" bIns="0" rtlCol="0" anchor="ctr"/>
          <a:lstStyle/>
          <a:p>
            <a:pPr indent="0" marL="0">
              <a:buNone/>
            </a:pPr>
            <a:r>
              <a:rPr lang="en-US" sz="1300" b="1" dirty="0">
                <a:solidFill>
                  <a:schemeClr val="tx1"/>
                </a:solidFill>
              </a:rPr>
              <a:t>2 · Record</a:t>
            </a:r>
            <a:endParaRPr lang="en-US" sz="1400" dirty="0"/>
          </a:p>
        </p:txBody>
      </p:sp>
      <p:sp>
        <p:nvSpPr>
          <p:cNvPr id="21" name="Text 16"/>
          <p:cNvSpPr txBox="1"/>
          <p:nvPr/>
        </p:nvSpPr>
        <p:spPr>
          <a:xfrm>
            <a:off x="3133344" y="2231136"/>
            <a:ext cx="1780032" cy="640080"/>
          </a:xfrm>
          <a:prstGeom prst="rect">
            <a:avLst/>
          </a:prstGeom>
          <a:noFill/>
          <a:ln/>
        </p:spPr>
        <p:txBody>
          <a:bodyPr wrap="square" lIns="0" tIns="0" rIns="0" bIns="0" rtlCol="0" anchor="t"/>
          <a:lstStyle/>
          <a:p>
            <a:pPr indent="0" marL="0">
              <a:buNone/>
            </a:pPr>
            <a:r>
              <a:rPr lang="en-US" sz="1000" dirty="0">
                <a:solidFill>
                  <a:schemeClr val="tx2"/>
                </a:solidFill>
              </a:rPr>
              <a:t>Device identity, serial number, software version, context, outcome</a:t>
            </a:r>
            <a:endParaRPr lang="en-US" sz="1000" dirty="0"/>
          </a:p>
        </p:txBody>
      </p:sp>
      <p:sp>
        <p:nvSpPr>
          <p:cNvPr id="22" name="Loop Report"/>
          <p:cNvSpPr/>
          <p:nvPr/>
        </p:nvSpPr>
        <p:spPr>
          <a:xfrm>
            <a:off x="5388864" y="1572768"/>
            <a:ext cx="2109216" cy="1371600"/>
          </a:xfrm>
          <a:prstGeom prst="roundRect">
            <a:avLst>
              <a:gd name="adj" fmla="val 9333"/>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23" name="Icon disc LuSiren"/>
          <p:cNvSpPr/>
          <p:nvPr/>
        </p:nvSpPr>
        <p:spPr>
          <a:xfrm>
            <a:off x="5553456" y="1719072"/>
            <a:ext cx="420624" cy="420624"/>
          </a:xfrm>
          <a:prstGeom prst="ellipse">
            <a:avLst/>
          </a:prstGeom>
          <a:solidFill>
            <a:schemeClr val="accent3"/>
          </a:solidFill>
          <a:ln/>
        </p:spPr>
      </p:sp>
      <p:pic>
        <p:nvPicPr>
          <p:cNvPr id="24" name="Image 2" descr="Siren icon">    </p:cNvPr>
          <p:cNvPicPr>
            <a:picLocks noChangeAspect="1"/>
          </p:cNvPicPr>
          <p:nvPr/>
        </p:nvPicPr>
        <p:blipFill>
          <a:blip r:embed="rId3"/>
          <a:stretch>
            <a:fillRect/>
          </a:stretch>
        </p:blipFill>
        <p:spPr>
          <a:xfrm>
            <a:off x="5645993" y="1811609"/>
            <a:ext cx="235549" cy="235549"/>
          </a:xfrm>
          <a:prstGeom prst="rect">
            <a:avLst/>
          </a:prstGeom>
        </p:spPr>
      </p:pic>
      <p:sp>
        <p:nvSpPr>
          <p:cNvPr id="25" name="Text 19"/>
          <p:cNvSpPr txBox="1"/>
          <p:nvPr/>
        </p:nvSpPr>
        <p:spPr>
          <a:xfrm>
            <a:off x="6065520" y="1719072"/>
            <a:ext cx="1286256" cy="420624"/>
          </a:xfrm>
          <a:prstGeom prst="rect">
            <a:avLst/>
          </a:prstGeom>
          <a:noFill/>
          <a:ln/>
        </p:spPr>
        <p:txBody>
          <a:bodyPr wrap="square" lIns="0" tIns="0" rIns="0" bIns="0" rtlCol="0" anchor="ctr"/>
          <a:lstStyle/>
          <a:p>
            <a:pPr indent="0" marL="0">
              <a:buNone/>
            </a:pPr>
            <a:r>
              <a:rPr lang="en-US" sz="1300" b="1" dirty="0">
                <a:solidFill>
                  <a:schemeClr val="tx1"/>
                </a:solidFill>
              </a:rPr>
              <a:t>3 · Report</a:t>
            </a:r>
            <a:endParaRPr lang="en-US" sz="1400" dirty="0"/>
          </a:p>
        </p:txBody>
      </p:sp>
      <p:sp>
        <p:nvSpPr>
          <p:cNvPr id="26" name="Text 20"/>
          <p:cNvSpPr txBox="1"/>
          <p:nvPr/>
        </p:nvSpPr>
        <p:spPr>
          <a:xfrm>
            <a:off x="5553456" y="2231136"/>
            <a:ext cx="1780032" cy="640080"/>
          </a:xfrm>
          <a:prstGeom prst="rect">
            <a:avLst/>
          </a:prstGeom>
          <a:noFill/>
          <a:ln/>
        </p:spPr>
        <p:txBody>
          <a:bodyPr wrap="square" lIns="0" tIns="0" rIns="0" bIns="0" rtlCol="0" anchor="t"/>
          <a:lstStyle/>
          <a:p>
            <a:pPr indent="0" marL="0">
              <a:buNone/>
            </a:pPr>
            <a:r>
              <a:rPr lang="en-US" sz="1000" dirty="0">
                <a:solidFill>
                  <a:schemeClr val="tx2"/>
                </a:solidFill>
              </a:rPr>
              <a:t>MDAE form to MvPI; licence holder → CDSCO within 15 days; in a study, sponsor and ethics committee</a:t>
            </a:r>
            <a:endParaRPr lang="en-US" sz="1000" dirty="0"/>
          </a:p>
        </p:txBody>
      </p:sp>
      <p:sp>
        <p:nvSpPr>
          <p:cNvPr id="27" name="Loop Investigate"/>
          <p:cNvSpPr/>
          <p:nvPr/>
        </p:nvSpPr>
        <p:spPr>
          <a:xfrm>
            <a:off x="5388864" y="4023360"/>
            <a:ext cx="2109216" cy="1371600"/>
          </a:xfrm>
          <a:prstGeom prst="roundRect">
            <a:avLst>
              <a:gd name="adj" fmla="val 9333"/>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28" name="Icon disc LuSearch"/>
          <p:cNvSpPr/>
          <p:nvPr/>
        </p:nvSpPr>
        <p:spPr>
          <a:xfrm>
            <a:off x="5553456" y="4169664"/>
            <a:ext cx="420624" cy="420624"/>
          </a:xfrm>
          <a:prstGeom prst="ellipse">
            <a:avLst/>
          </a:prstGeom>
          <a:solidFill>
            <a:schemeClr val="accent4"/>
          </a:solidFill>
          <a:ln/>
        </p:spPr>
      </p:sp>
      <p:pic>
        <p:nvPicPr>
          <p:cNvPr id="29" name="Image 3" descr="Search icon">    </p:cNvPr>
          <p:cNvPicPr>
            <a:picLocks noChangeAspect="1"/>
          </p:cNvPicPr>
          <p:nvPr/>
        </p:nvPicPr>
        <p:blipFill>
          <a:blip r:embed="rId4"/>
          <a:stretch>
            <a:fillRect/>
          </a:stretch>
        </p:blipFill>
        <p:spPr>
          <a:xfrm>
            <a:off x="5645993" y="4262201"/>
            <a:ext cx="235549" cy="235549"/>
          </a:xfrm>
          <a:prstGeom prst="rect">
            <a:avLst/>
          </a:prstGeom>
        </p:spPr>
      </p:pic>
      <p:sp>
        <p:nvSpPr>
          <p:cNvPr id="30" name="Text 23"/>
          <p:cNvSpPr txBox="1"/>
          <p:nvPr/>
        </p:nvSpPr>
        <p:spPr>
          <a:xfrm>
            <a:off x="6065520" y="4169664"/>
            <a:ext cx="1286256" cy="420624"/>
          </a:xfrm>
          <a:prstGeom prst="rect">
            <a:avLst/>
          </a:prstGeom>
          <a:noFill/>
          <a:ln/>
        </p:spPr>
        <p:txBody>
          <a:bodyPr wrap="square" lIns="0" tIns="0" rIns="0" bIns="0" rtlCol="0" anchor="ctr"/>
          <a:lstStyle/>
          <a:p>
            <a:pPr indent="0" marL="0">
              <a:buNone/>
            </a:pPr>
            <a:r>
              <a:rPr lang="en-US" sz="1300" b="1" dirty="0">
                <a:solidFill>
                  <a:schemeClr val="tx1"/>
                </a:solidFill>
              </a:rPr>
              <a:t>4 · Investigate</a:t>
            </a:r>
            <a:endParaRPr lang="en-US" sz="1400" dirty="0"/>
          </a:p>
        </p:txBody>
      </p:sp>
      <p:sp>
        <p:nvSpPr>
          <p:cNvPr id="31" name="Text 24"/>
          <p:cNvSpPr txBox="1"/>
          <p:nvPr/>
        </p:nvSpPr>
        <p:spPr>
          <a:xfrm>
            <a:off x="5553456" y="4681728"/>
            <a:ext cx="1780032" cy="640080"/>
          </a:xfrm>
          <a:prstGeom prst="rect">
            <a:avLst/>
          </a:prstGeom>
          <a:noFill/>
          <a:ln/>
        </p:spPr>
        <p:txBody>
          <a:bodyPr wrap="square" lIns="0" tIns="0" rIns="0" bIns="0" rtlCol="0" anchor="t"/>
          <a:lstStyle/>
          <a:p>
            <a:pPr indent="0" marL="0">
              <a:buNone/>
            </a:pPr>
            <a:r>
              <a:rPr lang="en-US" sz="1000" dirty="0">
                <a:solidFill>
                  <a:schemeClr val="tx2"/>
                </a:solidFill>
              </a:rPr>
              <a:t>Root cause; trend across units; update the ISO 14971 risk file</a:t>
            </a:r>
            <a:endParaRPr lang="en-US" sz="1000" dirty="0"/>
          </a:p>
        </p:txBody>
      </p:sp>
      <p:sp>
        <p:nvSpPr>
          <p:cNvPr id="32" name="Loop Correct"/>
          <p:cNvSpPr/>
          <p:nvPr/>
        </p:nvSpPr>
        <p:spPr>
          <a:xfrm>
            <a:off x="2968752" y="4023360"/>
            <a:ext cx="2109216" cy="1371600"/>
          </a:xfrm>
          <a:prstGeom prst="roundRect">
            <a:avLst>
              <a:gd name="adj" fmla="val 9333"/>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33" name="Icon disc LuWrench"/>
          <p:cNvSpPr/>
          <p:nvPr/>
        </p:nvSpPr>
        <p:spPr>
          <a:xfrm>
            <a:off x="3133344" y="4169664"/>
            <a:ext cx="420624" cy="420624"/>
          </a:xfrm>
          <a:prstGeom prst="ellipse">
            <a:avLst/>
          </a:prstGeom>
          <a:solidFill>
            <a:schemeClr val="accent2"/>
          </a:solidFill>
          <a:ln/>
        </p:spPr>
      </p:sp>
      <p:pic>
        <p:nvPicPr>
          <p:cNvPr id="34" name="Image 4" descr="Wrench icon">    </p:cNvPr>
          <p:cNvPicPr>
            <a:picLocks noChangeAspect="1"/>
          </p:cNvPicPr>
          <p:nvPr/>
        </p:nvPicPr>
        <p:blipFill>
          <a:blip r:embed="rId5"/>
          <a:stretch>
            <a:fillRect/>
          </a:stretch>
        </p:blipFill>
        <p:spPr>
          <a:xfrm>
            <a:off x="3225881" y="4262201"/>
            <a:ext cx="235549" cy="235549"/>
          </a:xfrm>
          <a:prstGeom prst="rect">
            <a:avLst/>
          </a:prstGeom>
        </p:spPr>
      </p:pic>
      <p:sp>
        <p:nvSpPr>
          <p:cNvPr id="35" name="Text 27"/>
          <p:cNvSpPr txBox="1"/>
          <p:nvPr/>
        </p:nvSpPr>
        <p:spPr>
          <a:xfrm>
            <a:off x="3645408" y="4169664"/>
            <a:ext cx="1286256" cy="420624"/>
          </a:xfrm>
          <a:prstGeom prst="rect">
            <a:avLst/>
          </a:prstGeom>
          <a:noFill/>
          <a:ln/>
        </p:spPr>
        <p:txBody>
          <a:bodyPr wrap="square" lIns="0" tIns="0" rIns="0" bIns="0" rtlCol="0" anchor="ctr"/>
          <a:lstStyle/>
          <a:p>
            <a:pPr indent="0" marL="0">
              <a:buNone/>
            </a:pPr>
            <a:r>
              <a:rPr lang="en-US" sz="1300" b="1" dirty="0">
                <a:solidFill>
                  <a:schemeClr val="tx1"/>
                </a:solidFill>
              </a:rPr>
              <a:t>5 · Correct</a:t>
            </a:r>
            <a:endParaRPr lang="en-US" sz="1400" dirty="0"/>
          </a:p>
        </p:txBody>
      </p:sp>
      <p:sp>
        <p:nvSpPr>
          <p:cNvPr id="36" name="Text 28"/>
          <p:cNvSpPr txBox="1"/>
          <p:nvPr/>
        </p:nvSpPr>
        <p:spPr>
          <a:xfrm>
            <a:off x="3133344" y="4681728"/>
            <a:ext cx="1780032" cy="640080"/>
          </a:xfrm>
          <a:prstGeom prst="rect">
            <a:avLst/>
          </a:prstGeom>
          <a:noFill/>
          <a:ln/>
        </p:spPr>
        <p:txBody>
          <a:bodyPr wrap="square" lIns="0" tIns="0" rIns="0" bIns="0" rtlCol="0" anchor="t"/>
          <a:lstStyle/>
          <a:p>
            <a:pPr indent="0" marL="0">
              <a:buNone/>
            </a:pPr>
            <a:r>
              <a:rPr lang="en-US" sz="1000" dirty="0">
                <a:solidFill>
                  <a:schemeClr val="tx2"/>
                </a:solidFill>
              </a:rPr>
              <a:t>CAPA; label or software fix; recall via the FSCA form to MvPI. No stand-alone recall rule yet</a:t>
            </a:r>
            <a:endParaRPr lang="en-US" sz="1000" dirty="0"/>
          </a:p>
        </p:txBody>
      </p:sp>
      <p:sp>
        <p:nvSpPr>
          <p:cNvPr id="37" name="Loop Follow up"/>
          <p:cNvSpPr/>
          <p:nvPr/>
        </p:nvSpPr>
        <p:spPr>
          <a:xfrm>
            <a:off x="548640" y="4023360"/>
            <a:ext cx="2109216" cy="1371600"/>
          </a:xfrm>
          <a:prstGeom prst="roundRect">
            <a:avLst>
              <a:gd name="adj" fmla="val 9333"/>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38" name="Icon disc LuRepeat"/>
          <p:cNvSpPr/>
          <p:nvPr/>
        </p:nvSpPr>
        <p:spPr>
          <a:xfrm>
            <a:off x="713232" y="4169664"/>
            <a:ext cx="420624" cy="420624"/>
          </a:xfrm>
          <a:prstGeom prst="ellipse">
            <a:avLst/>
          </a:prstGeom>
          <a:solidFill>
            <a:schemeClr val="accent1"/>
          </a:solidFill>
          <a:ln/>
        </p:spPr>
      </p:sp>
      <p:pic>
        <p:nvPicPr>
          <p:cNvPr id="39" name="Image 5" descr="Repeat icon">    </p:cNvPr>
          <p:cNvPicPr>
            <a:picLocks noChangeAspect="1"/>
          </p:cNvPicPr>
          <p:nvPr/>
        </p:nvPicPr>
        <p:blipFill>
          <a:blip r:embed="rId6"/>
          <a:stretch>
            <a:fillRect/>
          </a:stretch>
        </p:blipFill>
        <p:spPr>
          <a:xfrm>
            <a:off x="805769" y="4262201"/>
            <a:ext cx="235549" cy="235549"/>
          </a:xfrm>
          <a:prstGeom prst="rect">
            <a:avLst/>
          </a:prstGeom>
        </p:spPr>
      </p:pic>
      <p:sp>
        <p:nvSpPr>
          <p:cNvPr id="40" name="Text 31"/>
          <p:cNvSpPr txBox="1"/>
          <p:nvPr/>
        </p:nvSpPr>
        <p:spPr>
          <a:xfrm>
            <a:off x="1225296" y="4169664"/>
            <a:ext cx="1286256" cy="420624"/>
          </a:xfrm>
          <a:prstGeom prst="rect">
            <a:avLst/>
          </a:prstGeom>
          <a:noFill/>
          <a:ln/>
        </p:spPr>
        <p:txBody>
          <a:bodyPr wrap="square" lIns="0" tIns="0" rIns="0" bIns="0" rtlCol="0" anchor="ctr"/>
          <a:lstStyle/>
          <a:p>
            <a:pPr indent="0" marL="0">
              <a:buNone/>
            </a:pPr>
            <a:r>
              <a:rPr lang="en-US" sz="1300" b="1" dirty="0">
                <a:solidFill>
                  <a:schemeClr val="tx1"/>
                </a:solidFill>
              </a:rPr>
              <a:t>6 · Follow up</a:t>
            </a:r>
            <a:endParaRPr lang="en-US" sz="1400" dirty="0"/>
          </a:p>
        </p:txBody>
      </p:sp>
      <p:sp>
        <p:nvSpPr>
          <p:cNvPr id="41" name="Text 32"/>
          <p:cNvSpPr txBox="1"/>
          <p:nvPr/>
        </p:nvSpPr>
        <p:spPr>
          <a:xfrm>
            <a:off x="713232" y="4681728"/>
            <a:ext cx="1780032" cy="640080"/>
          </a:xfrm>
          <a:prstGeom prst="rect">
            <a:avLst/>
          </a:prstGeom>
          <a:noFill/>
          <a:ln/>
        </p:spPr>
        <p:txBody>
          <a:bodyPr wrap="square" lIns="0" tIns="0" rIns="0" bIns="0" rtlCol="0" anchor="t"/>
          <a:lstStyle/>
          <a:p>
            <a:pPr indent="0" marL="0">
              <a:buNone/>
            </a:pPr>
            <a:r>
              <a:rPr lang="en-US" sz="1000" dirty="0">
                <a:solidFill>
                  <a:schemeClr val="tx2"/>
                </a:solidFill>
              </a:rPr>
              <a:t>The person, the fix, and the PSUR: 6-monthly for 2 years, then yearly for 2</a:t>
            </a:r>
            <a:endParaRPr lang="en-US" sz="1000" dirty="0"/>
          </a:p>
        </p:txBody>
      </p:sp>
      <p:sp>
        <p:nvSpPr>
          <p:cNvPr id="42" name="Connector"/>
          <p:cNvSpPr/>
          <p:nvPr/>
        </p:nvSpPr>
        <p:spPr>
          <a:xfrm>
            <a:off x="2694432" y="2258568"/>
            <a:ext cx="237744" cy="0"/>
          </a:xfrm>
          <a:prstGeom prst="line">
            <a:avLst/>
          </a:prstGeom>
          <a:noFill/>
          <a:ln w="25400">
            <a:solidFill>
              <a:schemeClr val="accent5"/>
            </a:solidFill>
            <a:prstDash val="solid"/>
            <a:tailEnd type="triangle"/>
          </a:ln>
        </p:spPr>
      </p:sp>
      <p:sp>
        <p:nvSpPr>
          <p:cNvPr id="43" name="Connector"/>
          <p:cNvSpPr/>
          <p:nvPr/>
        </p:nvSpPr>
        <p:spPr>
          <a:xfrm flipH="1">
            <a:off x="2694432" y="4709160"/>
            <a:ext cx="237744" cy="0"/>
          </a:xfrm>
          <a:prstGeom prst="line">
            <a:avLst/>
          </a:prstGeom>
          <a:noFill/>
          <a:ln w="25400">
            <a:solidFill>
              <a:schemeClr val="accent5"/>
            </a:solidFill>
            <a:prstDash val="solid"/>
            <a:tailEnd type="triangle"/>
          </a:ln>
        </p:spPr>
      </p:sp>
      <p:sp>
        <p:nvSpPr>
          <p:cNvPr id="44" name="Connector"/>
          <p:cNvSpPr/>
          <p:nvPr/>
        </p:nvSpPr>
        <p:spPr>
          <a:xfrm>
            <a:off x="5114544" y="2258568"/>
            <a:ext cx="237744" cy="0"/>
          </a:xfrm>
          <a:prstGeom prst="line">
            <a:avLst/>
          </a:prstGeom>
          <a:noFill/>
          <a:ln w="25400">
            <a:solidFill>
              <a:schemeClr val="accent5"/>
            </a:solidFill>
            <a:prstDash val="solid"/>
            <a:tailEnd type="triangle"/>
          </a:ln>
        </p:spPr>
      </p:sp>
      <p:sp>
        <p:nvSpPr>
          <p:cNvPr id="45" name="Connector"/>
          <p:cNvSpPr/>
          <p:nvPr/>
        </p:nvSpPr>
        <p:spPr>
          <a:xfrm flipH="1">
            <a:off x="5114544" y="4709160"/>
            <a:ext cx="237744" cy="0"/>
          </a:xfrm>
          <a:prstGeom prst="line">
            <a:avLst/>
          </a:prstGeom>
          <a:noFill/>
          <a:ln w="25400">
            <a:solidFill>
              <a:schemeClr val="accent5"/>
            </a:solidFill>
            <a:prstDash val="solid"/>
            <a:tailEnd type="triangle"/>
          </a:ln>
        </p:spPr>
      </p:sp>
      <p:sp>
        <p:nvSpPr>
          <p:cNvPr id="46" name="Connector"/>
          <p:cNvSpPr/>
          <p:nvPr/>
        </p:nvSpPr>
        <p:spPr>
          <a:xfrm>
            <a:off x="6443472" y="2990088"/>
            <a:ext cx="0" cy="987552"/>
          </a:xfrm>
          <a:prstGeom prst="line">
            <a:avLst/>
          </a:prstGeom>
          <a:noFill/>
          <a:ln w="25400">
            <a:solidFill>
              <a:schemeClr val="accent5"/>
            </a:solidFill>
            <a:prstDash val="solid"/>
            <a:tailEnd type="triangle"/>
          </a:ln>
        </p:spPr>
      </p:sp>
      <p:sp>
        <p:nvSpPr>
          <p:cNvPr id="47" name="Connector"/>
          <p:cNvSpPr/>
          <p:nvPr/>
        </p:nvSpPr>
        <p:spPr>
          <a:xfrm flipV="1">
            <a:off x="1603248" y="2990088"/>
            <a:ext cx="0" cy="987552"/>
          </a:xfrm>
          <a:prstGeom prst="line">
            <a:avLst/>
          </a:prstGeom>
          <a:noFill/>
          <a:ln w="25400">
            <a:solidFill>
              <a:schemeClr val="accent5"/>
            </a:solidFill>
            <a:prstDash val="solid"/>
            <a:tailEnd type="triangle"/>
          </a:ln>
        </p:spPr>
      </p:sp>
      <p:sp>
        <p:nvSpPr>
          <p:cNvPr id="48" name="Pill Serious adverse event → CDSCO ≤ 15 days"/>
          <p:cNvSpPr/>
          <p:nvPr/>
        </p:nvSpPr>
        <p:spPr>
          <a:xfrm>
            <a:off x="1923288" y="3127248"/>
            <a:ext cx="2031492" cy="310896"/>
          </a:xfrm>
          <a:prstGeom prst="roundRect">
            <a:avLst>
              <a:gd name="adj" fmla="val 50000"/>
            </a:avLst>
          </a:prstGeom>
          <a:solidFill>
            <a:schemeClr val="bg1"/>
          </a:solidFill>
          <a:ln w="15875">
            <a:solidFill>
              <a:schemeClr val="accent3"/>
            </a:solidFill>
            <a:prstDash val="solid"/>
          </a:ln>
        </p:spPr>
      </p:sp>
      <p:sp>
        <p:nvSpPr>
          <p:cNvPr id="49" name="Text 40"/>
          <p:cNvSpPr txBox="1"/>
          <p:nvPr/>
        </p:nvSpPr>
        <p:spPr>
          <a:xfrm>
            <a:off x="1923288" y="3127248"/>
            <a:ext cx="2031492" cy="310896"/>
          </a:xfrm>
          <a:prstGeom prst="rect">
            <a:avLst/>
          </a:prstGeom>
          <a:noFill/>
          <a:ln/>
        </p:spPr>
        <p:txBody>
          <a:bodyPr wrap="square" lIns="0" tIns="0" rIns="0" bIns="0" rtlCol="0" anchor="ctr"/>
          <a:lstStyle/>
          <a:p>
            <a:pPr algn="ctr" indent="0" marL="0">
              <a:buNone/>
            </a:pPr>
            <a:r>
              <a:rPr lang="en-US" sz="950" b="1" dirty="0">
                <a:solidFill>
                  <a:schemeClr val="accent3"/>
                </a:solidFill>
              </a:rPr>
              <a:t>Serious adverse event → CDSCO ≤ 15 days</a:t>
            </a:r>
            <a:endParaRPr lang="en-US" sz="950" dirty="0"/>
          </a:p>
        </p:txBody>
      </p:sp>
      <p:sp>
        <p:nvSpPr>
          <p:cNvPr id="50" name="Pill Regulatory action abroad → CDSCO ≤ 15 days (Rule 38)"/>
          <p:cNvSpPr/>
          <p:nvPr/>
        </p:nvSpPr>
        <p:spPr>
          <a:xfrm>
            <a:off x="4091940" y="3127248"/>
            <a:ext cx="2031492" cy="310896"/>
          </a:xfrm>
          <a:prstGeom prst="roundRect">
            <a:avLst>
              <a:gd name="adj" fmla="val 50000"/>
            </a:avLst>
          </a:prstGeom>
          <a:solidFill>
            <a:schemeClr val="bg1"/>
          </a:solidFill>
          <a:ln w="15875">
            <a:solidFill>
              <a:schemeClr val="accent4"/>
            </a:solidFill>
            <a:prstDash val="solid"/>
          </a:ln>
        </p:spPr>
      </p:sp>
      <p:sp>
        <p:nvSpPr>
          <p:cNvPr id="51" name="Text 42"/>
          <p:cNvSpPr txBox="1"/>
          <p:nvPr/>
        </p:nvSpPr>
        <p:spPr>
          <a:xfrm>
            <a:off x="4091940" y="3127248"/>
            <a:ext cx="2031492" cy="310896"/>
          </a:xfrm>
          <a:prstGeom prst="rect">
            <a:avLst/>
          </a:prstGeom>
          <a:noFill/>
          <a:ln/>
        </p:spPr>
        <p:txBody>
          <a:bodyPr wrap="square" lIns="0" tIns="0" rIns="0" bIns="0" rtlCol="0" anchor="ctr"/>
          <a:lstStyle/>
          <a:p>
            <a:pPr algn="ctr" indent="0" marL="0">
              <a:buNone/>
            </a:pPr>
            <a:r>
              <a:rPr lang="en-US" sz="950" b="1" dirty="0">
                <a:solidFill>
                  <a:schemeClr val="accent4"/>
                </a:solidFill>
              </a:rPr>
              <a:t>Regulatory action abroad → CDSCO ≤ 15 days (Rule 38)</a:t>
            </a:r>
            <a:endParaRPr lang="en-US" sz="950" dirty="0"/>
          </a:p>
        </p:txBody>
      </p:sp>
      <p:sp>
        <p:nvSpPr>
          <p:cNvPr id="52" name="Pill PSUR: every 6 months × 2 years, then yearly × 2"/>
          <p:cNvSpPr/>
          <p:nvPr/>
        </p:nvSpPr>
        <p:spPr>
          <a:xfrm>
            <a:off x="1923288" y="3529584"/>
            <a:ext cx="2031492" cy="310896"/>
          </a:xfrm>
          <a:prstGeom prst="roundRect">
            <a:avLst>
              <a:gd name="adj" fmla="val 50000"/>
            </a:avLst>
          </a:prstGeom>
          <a:solidFill>
            <a:schemeClr val="bg1"/>
          </a:solidFill>
          <a:ln w="15875">
            <a:solidFill>
              <a:schemeClr val="accent1"/>
            </a:solidFill>
            <a:prstDash val="solid"/>
          </a:ln>
        </p:spPr>
      </p:sp>
      <p:sp>
        <p:nvSpPr>
          <p:cNvPr id="53" name="Text 44"/>
          <p:cNvSpPr txBox="1"/>
          <p:nvPr/>
        </p:nvSpPr>
        <p:spPr>
          <a:xfrm>
            <a:off x="1923288" y="3529584"/>
            <a:ext cx="2031492" cy="310896"/>
          </a:xfrm>
          <a:prstGeom prst="rect">
            <a:avLst/>
          </a:prstGeom>
          <a:noFill/>
          <a:ln/>
        </p:spPr>
        <p:txBody>
          <a:bodyPr wrap="square" lIns="0" tIns="0" rIns="0" bIns="0" rtlCol="0" anchor="ctr"/>
          <a:lstStyle/>
          <a:p>
            <a:pPr algn="ctr" indent="0" marL="0">
              <a:buNone/>
            </a:pPr>
            <a:r>
              <a:rPr lang="en-US" sz="950" b="1" dirty="0">
                <a:solidFill>
                  <a:schemeClr val="accent1"/>
                </a:solidFill>
              </a:rPr>
              <a:t>PSUR: every 6 months × 2 years, then yearly × 2</a:t>
            </a:r>
            <a:endParaRPr lang="en-US" sz="950" dirty="0"/>
          </a:p>
        </p:txBody>
      </p:sp>
      <p:sp>
        <p:nvSpPr>
          <p:cNvPr id="54" name="Pill Rule 43A: suspension or cancellation"/>
          <p:cNvSpPr/>
          <p:nvPr/>
        </p:nvSpPr>
        <p:spPr>
          <a:xfrm>
            <a:off x="4091940" y="3529584"/>
            <a:ext cx="2031492" cy="310896"/>
          </a:xfrm>
          <a:prstGeom prst="roundRect">
            <a:avLst>
              <a:gd name="adj" fmla="val 50000"/>
            </a:avLst>
          </a:prstGeom>
          <a:solidFill>
            <a:schemeClr val="bg1"/>
          </a:solidFill>
          <a:ln w="15875">
            <a:solidFill>
              <a:schemeClr val="accent2"/>
            </a:solidFill>
            <a:prstDash val="solid"/>
          </a:ln>
        </p:spPr>
      </p:sp>
      <p:sp>
        <p:nvSpPr>
          <p:cNvPr id="55" name="Text 46"/>
          <p:cNvSpPr txBox="1"/>
          <p:nvPr/>
        </p:nvSpPr>
        <p:spPr>
          <a:xfrm>
            <a:off x="4091940" y="3529584"/>
            <a:ext cx="2031492" cy="310896"/>
          </a:xfrm>
          <a:prstGeom prst="rect">
            <a:avLst/>
          </a:prstGeom>
          <a:noFill/>
          <a:ln/>
        </p:spPr>
        <p:txBody>
          <a:bodyPr wrap="square" lIns="0" tIns="0" rIns="0" bIns="0" rtlCol="0" anchor="ctr"/>
          <a:lstStyle/>
          <a:p>
            <a:pPr algn="ctr" indent="0" marL="0">
              <a:buNone/>
            </a:pPr>
            <a:r>
              <a:rPr lang="en-US" sz="950" b="1" dirty="0">
                <a:solidFill>
                  <a:schemeClr val="accent2"/>
                </a:solidFill>
              </a:rPr>
              <a:t>Rule 43A: suspension or cancellation</a:t>
            </a:r>
            <a:endParaRPr lang="en-US" sz="950" dirty="0"/>
          </a:p>
        </p:txBody>
      </p:sp>
      <p:sp>
        <p:nvSpPr>
          <p:cNvPr id="56" name="Callout"/>
          <p:cNvSpPr/>
          <p:nvPr/>
        </p:nvSpPr>
        <p:spPr>
          <a:xfrm>
            <a:off x="548640" y="5577840"/>
            <a:ext cx="6949440" cy="502920"/>
          </a:xfrm>
          <a:prstGeom prst="roundRect">
            <a:avLst>
              <a:gd name="adj" fmla="val 14545"/>
            </a:avLst>
          </a:prstGeom>
          <a:solidFill>
            <a:schemeClr val="accent3">
              <a:alpha val="12000"/>
            </a:schemeClr>
          </a:solidFill>
          <a:ln/>
        </p:spPr>
      </p:sp>
      <p:sp>
        <p:nvSpPr>
          <p:cNvPr id="57" name="Callout bar"/>
          <p:cNvSpPr/>
          <p:nvPr/>
        </p:nvSpPr>
        <p:spPr>
          <a:xfrm>
            <a:off x="548640" y="5669280"/>
            <a:ext cx="64008" cy="320040"/>
          </a:xfrm>
          <a:prstGeom prst="rect">
            <a:avLst/>
          </a:prstGeom>
          <a:solidFill>
            <a:schemeClr val="accent3"/>
          </a:solidFill>
          <a:ln/>
        </p:spPr>
      </p:sp>
      <p:sp>
        <p:nvSpPr>
          <p:cNvPr id="58" name="Text 49"/>
          <p:cNvSpPr txBox="1"/>
          <p:nvPr/>
        </p:nvSpPr>
        <p:spPr>
          <a:xfrm>
            <a:off x="822960" y="5577840"/>
            <a:ext cx="6537960" cy="502920"/>
          </a:xfrm>
          <a:prstGeom prst="rect">
            <a:avLst/>
          </a:prstGeom>
          <a:noFill/>
          <a:ln/>
        </p:spPr>
        <p:txBody>
          <a:bodyPr wrap="square" lIns="0" tIns="0" rIns="0" bIns="0" rtlCol="0" anchor="ctr"/>
          <a:lstStyle/>
          <a:p>
            <a:pPr indent="0" marL="0">
              <a:buNone/>
            </a:pPr>
            <a:r>
              <a:rPr lang="en-US" sz="1100" b="1" dirty="0">
                <a:solidFill>
                  <a:schemeClr val="tx1"/>
                </a:solidFill>
              </a:rPr>
              <a:t>DePuy ASR hips, 2013 alert: about 4,700 implanted in India, only 882 patients traceable. Traceability starts on day one.</a:t>
            </a:r>
            <a:endParaRPr lang="en-US" sz="1100" dirty="0"/>
          </a:p>
        </p:txBody>
      </p:sp>
      <p:sp>
        <p:nvSpPr>
          <p:cNvPr id="59" name="Stat MvPI launched"/>
          <p:cNvSpPr/>
          <p:nvPr/>
        </p:nvSpPr>
        <p:spPr>
          <a:xfrm>
            <a:off x="7772400" y="1572768"/>
            <a:ext cx="1853032" cy="1417320"/>
          </a:xfrm>
          <a:prstGeom prst="roundRect">
            <a:avLst>
              <a:gd name="adj" fmla="val 7742"/>
            </a:avLst>
          </a:prstGeom>
          <a:solidFill>
            <a:schemeClr val="bg1"/>
          </a:solidFill>
          <a:ln w="9525">
            <a:solidFill>
              <a:srgbClr val="D5DFDD"/>
            </a:solidFill>
            <a:prstDash val="solid"/>
          </a:ln>
          <a:effectLst>
            <a:outerShdw sx="100000" sy="100000" kx="0" ky="0" algn="bl" rotWithShape="0" blurRad="76200" dist="25400" dir="5400000">
              <a:srgbClr val="000000">
                <a:alpha val="10000"/>
              </a:srgbClr>
            </a:outerShdw>
          </a:effectLst>
        </p:spPr>
      </p:sp>
      <p:sp>
        <p:nvSpPr>
          <p:cNvPr id="60" name="Stat accent"/>
          <p:cNvSpPr/>
          <p:nvPr/>
        </p:nvSpPr>
        <p:spPr>
          <a:xfrm>
            <a:off x="7772400" y="1801368"/>
            <a:ext cx="64008" cy="960120"/>
          </a:xfrm>
          <a:prstGeom prst="rect">
            <a:avLst/>
          </a:prstGeom>
          <a:solidFill>
            <a:schemeClr val="accent1"/>
          </a:solidFill>
          <a:ln/>
        </p:spPr>
      </p:sp>
      <p:sp>
        <p:nvSpPr>
          <p:cNvPr id="61" name="Text 52"/>
          <p:cNvSpPr txBox="1"/>
          <p:nvPr/>
        </p:nvSpPr>
        <p:spPr>
          <a:xfrm>
            <a:off x="8001000" y="1709928"/>
            <a:ext cx="1441552" cy="685800"/>
          </a:xfrm>
          <a:prstGeom prst="rect">
            <a:avLst/>
          </a:prstGeom>
          <a:noFill/>
          <a:ln/>
        </p:spPr>
        <p:txBody>
          <a:bodyPr wrap="square" lIns="0" tIns="0" rIns="0" bIns="0" rtlCol="0" anchor="ctr"/>
          <a:lstStyle/>
          <a:p>
            <a:pPr indent="0" marL="0">
              <a:buNone/>
            </a:pPr>
            <a:r>
              <a:rPr lang="en-US" sz="2200" b="1" dirty="0">
                <a:solidFill>
                  <a:schemeClr val="accent1"/>
                </a:solidFill>
              </a:rPr>
              <a:t>6 Jul 2015</a:t>
            </a:r>
            <a:endParaRPr lang="en-US" sz="2200" dirty="0"/>
          </a:p>
        </p:txBody>
      </p:sp>
      <p:sp>
        <p:nvSpPr>
          <p:cNvPr id="62" name="Text 53"/>
          <p:cNvSpPr txBox="1"/>
          <p:nvPr/>
        </p:nvSpPr>
        <p:spPr>
          <a:xfrm>
            <a:off x="8001000" y="2395728"/>
            <a:ext cx="1487272" cy="292608"/>
          </a:xfrm>
          <a:prstGeom prst="rect">
            <a:avLst/>
          </a:prstGeom>
          <a:noFill/>
          <a:ln/>
        </p:spPr>
        <p:txBody>
          <a:bodyPr wrap="square" lIns="0" tIns="0" rIns="0" bIns="0" rtlCol="0" anchor="t"/>
          <a:lstStyle/>
          <a:p>
            <a:pPr indent="0" marL="0">
              <a:buNone/>
            </a:pPr>
            <a:r>
              <a:rPr lang="en-US" sz="1200" b="1" dirty="0">
                <a:solidFill>
                  <a:schemeClr val="tx1"/>
                </a:solidFill>
              </a:rPr>
              <a:t>MvPI launched</a:t>
            </a:r>
            <a:endParaRPr lang="en-US" sz="1200" dirty="0"/>
          </a:p>
        </p:txBody>
      </p:sp>
      <p:sp>
        <p:nvSpPr>
          <p:cNvPr id="63" name="Text 54"/>
          <p:cNvSpPr txBox="1"/>
          <p:nvPr/>
        </p:nvSpPr>
        <p:spPr>
          <a:xfrm>
            <a:off x="8001000" y="2670048"/>
            <a:ext cx="1487272" cy="274320"/>
          </a:xfrm>
          <a:prstGeom prst="rect">
            <a:avLst/>
          </a:prstGeom>
          <a:noFill/>
          <a:ln/>
        </p:spPr>
        <p:txBody>
          <a:bodyPr wrap="square" lIns="0" tIns="0" rIns="0" bIns="0" rtlCol="0" anchor="t"/>
          <a:lstStyle/>
          <a:p>
            <a:pPr indent="0" marL="0">
              <a:buNone/>
            </a:pPr>
            <a:r>
              <a:rPr lang="en-US" sz="950" dirty="0">
                <a:solidFill>
                  <a:schemeClr val="accent5"/>
                </a:solidFill>
              </a:rPr>
              <a:t>IPC Ghaziabad, National Coordination Centre</a:t>
            </a:r>
            <a:endParaRPr lang="en-US" sz="950" dirty="0"/>
          </a:p>
        </p:txBody>
      </p:sp>
      <p:sp>
        <p:nvSpPr>
          <p:cNvPr id="64" name="Stat Monitoring centres"/>
          <p:cNvSpPr/>
          <p:nvPr/>
        </p:nvSpPr>
        <p:spPr>
          <a:xfrm>
            <a:off x="9790024" y="1572768"/>
            <a:ext cx="1853032" cy="1417320"/>
          </a:xfrm>
          <a:prstGeom prst="roundRect">
            <a:avLst>
              <a:gd name="adj" fmla="val 7742"/>
            </a:avLst>
          </a:prstGeom>
          <a:solidFill>
            <a:schemeClr val="bg1"/>
          </a:solidFill>
          <a:ln w="9525">
            <a:solidFill>
              <a:srgbClr val="D5DFDD"/>
            </a:solidFill>
            <a:prstDash val="solid"/>
          </a:ln>
          <a:effectLst>
            <a:outerShdw sx="100000" sy="100000" kx="0" ky="0" algn="bl" rotWithShape="0" blurRad="76200" dist="25400" dir="5400000">
              <a:srgbClr val="000000">
                <a:alpha val="10000"/>
              </a:srgbClr>
            </a:outerShdw>
          </a:effectLst>
        </p:spPr>
      </p:sp>
      <p:sp>
        <p:nvSpPr>
          <p:cNvPr id="65" name="Stat accent"/>
          <p:cNvSpPr/>
          <p:nvPr/>
        </p:nvSpPr>
        <p:spPr>
          <a:xfrm>
            <a:off x="9790024" y="1801368"/>
            <a:ext cx="64008" cy="960120"/>
          </a:xfrm>
          <a:prstGeom prst="rect">
            <a:avLst/>
          </a:prstGeom>
          <a:solidFill>
            <a:schemeClr val="accent4"/>
          </a:solidFill>
          <a:ln/>
        </p:spPr>
      </p:sp>
      <p:sp>
        <p:nvSpPr>
          <p:cNvPr id="66" name="Text 57"/>
          <p:cNvSpPr txBox="1"/>
          <p:nvPr/>
        </p:nvSpPr>
        <p:spPr>
          <a:xfrm>
            <a:off x="10018624" y="1709928"/>
            <a:ext cx="1441552" cy="685800"/>
          </a:xfrm>
          <a:prstGeom prst="rect">
            <a:avLst/>
          </a:prstGeom>
          <a:noFill/>
          <a:ln/>
        </p:spPr>
        <p:txBody>
          <a:bodyPr wrap="square" lIns="0" tIns="0" rIns="0" bIns="0" rtlCol="0" anchor="ctr"/>
          <a:lstStyle/>
          <a:p>
            <a:pPr indent="0" marL="0">
              <a:buNone/>
            </a:pPr>
            <a:r>
              <a:rPr lang="en-US" sz="2800" b="1" dirty="0">
                <a:solidFill>
                  <a:schemeClr val="accent4"/>
                </a:solidFill>
              </a:rPr>
              <a:t>174</a:t>
            </a:r>
            <a:endParaRPr lang="en-US" sz="2800" dirty="0"/>
          </a:p>
        </p:txBody>
      </p:sp>
      <p:sp>
        <p:nvSpPr>
          <p:cNvPr id="67" name="Text 58"/>
          <p:cNvSpPr txBox="1"/>
          <p:nvPr/>
        </p:nvSpPr>
        <p:spPr>
          <a:xfrm>
            <a:off x="10018624" y="2395728"/>
            <a:ext cx="1487272" cy="292608"/>
          </a:xfrm>
          <a:prstGeom prst="rect">
            <a:avLst/>
          </a:prstGeom>
          <a:noFill/>
          <a:ln/>
        </p:spPr>
        <p:txBody>
          <a:bodyPr wrap="square" lIns="0" tIns="0" rIns="0" bIns="0" rtlCol="0" anchor="t"/>
          <a:lstStyle/>
          <a:p>
            <a:pPr indent="0" marL="0">
              <a:buNone/>
            </a:pPr>
            <a:r>
              <a:rPr lang="en-US" sz="1200" b="1" dirty="0">
                <a:solidFill>
                  <a:schemeClr val="tx1"/>
                </a:solidFill>
              </a:rPr>
              <a:t>Monitoring centres</a:t>
            </a:r>
            <a:endParaRPr lang="en-US" sz="1200" dirty="0"/>
          </a:p>
        </p:txBody>
      </p:sp>
      <p:sp>
        <p:nvSpPr>
          <p:cNvPr id="68" name="Text 59"/>
          <p:cNvSpPr txBox="1"/>
          <p:nvPr/>
        </p:nvSpPr>
        <p:spPr>
          <a:xfrm>
            <a:off x="10018624" y="2670048"/>
            <a:ext cx="1487272" cy="274320"/>
          </a:xfrm>
          <a:prstGeom prst="rect">
            <a:avLst/>
          </a:prstGeom>
          <a:noFill/>
          <a:ln/>
        </p:spPr>
        <p:txBody>
          <a:bodyPr wrap="square" lIns="0" tIns="0" rIns="0" bIns="0" rtlCol="0" anchor="t"/>
          <a:lstStyle/>
          <a:p>
            <a:pPr indent="0" marL="0">
              <a:buNone/>
            </a:pPr>
            <a:r>
              <a:rPr lang="en-US" sz="950" dirty="0">
                <a:solidFill>
                  <a:schemeClr val="accent5"/>
                </a:solidFill>
              </a:rPr>
              <a:t>hospitals and colleges, ~2022; ~97% of reports</a:t>
            </a:r>
            <a:endParaRPr lang="en-US" sz="950" dirty="0"/>
          </a:p>
        </p:txBody>
      </p:sp>
      <p:sp>
        <p:nvSpPr>
          <p:cNvPr id="69" name="Stat Reports 2018–24"/>
          <p:cNvSpPr/>
          <p:nvPr/>
        </p:nvSpPr>
        <p:spPr>
          <a:xfrm>
            <a:off x="7772400" y="3154680"/>
            <a:ext cx="1853032" cy="1417320"/>
          </a:xfrm>
          <a:prstGeom prst="roundRect">
            <a:avLst>
              <a:gd name="adj" fmla="val 7742"/>
            </a:avLst>
          </a:prstGeom>
          <a:solidFill>
            <a:schemeClr val="bg1"/>
          </a:solidFill>
          <a:ln w="9525">
            <a:solidFill>
              <a:srgbClr val="D5DFDD"/>
            </a:solidFill>
            <a:prstDash val="solid"/>
          </a:ln>
          <a:effectLst>
            <a:outerShdw sx="100000" sy="100000" kx="0" ky="0" algn="bl" rotWithShape="0" blurRad="76200" dist="25400" dir="5400000">
              <a:srgbClr val="000000">
                <a:alpha val="10000"/>
              </a:srgbClr>
            </a:outerShdw>
          </a:effectLst>
        </p:spPr>
      </p:sp>
      <p:sp>
        <p:nvSpPr>
          <p:cNvPr id="70" name="Stat accent"/>
          <p:cNvSpPr/>
          <p:nvPr/>
        </p:nvSpPr>
        <p:spPr>
          <a:xfrm>
            <a:off x="7772400" y="3383280"/>
            <a:ext cx="64008" cy="960120"/>
          </a:xfrm>
          <a:prstGeom prst="rect">
            <a:avLst/>
          </a:prstGeom>
          <a:solidFill>
            <a:schemeClr val="accent3"/>
          </a:solidFill>
          <a:ln/>
        </p:spPr>
      </p:sp>
      <p:sp>
        <p:nvSpPr>
          <p:cNvPr id="71" name="Text 62"/>
          <p:cNvSpPr txBox="1"/>
          <p:nvPr/>
        </p:nvSpPr>
        <p:spPr>
          <a:xfrm>
            <a:off x="8001000" y="3291840"/>
            <a:ext cx="1441552" cy="685800"/>
          </a:xfrm>
          <a:prstGeom prst="rect">
            <a:avLst/>
          </a:prstGeom>
          <a:noFill/>
          <a:ln/>
        </p:spPr>
        <p:txBody>
          <a:bodyPr wrap="square" lIns="0" tIns="0" rIns="0" bIns="0" rtlCol="0" anchor="ctr"/>
          <a:lstStyle/>
          <a:p>
            <a:pPr indent="0" marL="0">
              <a:buNone/>
            </a:pPr>
            <a:r>
              <a:rPr lang="en-US" sz="2800" b="1" dirty="0">
                <a:solidFill>
                  <a:schemeClr val="accent3"/>
                </a:solidFill>
              </a:rPr>
              <a:t>35,391</a:t>
            </a:r>
            <a:endParaRPr lang="en-US" sz="2800" dirty="0"/>
          </a:p>
        </p:txBody>
      </p:sp>
      <p:sp>
        <p:nvSpPr>
          <p:cNvPr id="72" name="Text 63"/>
          <p:cNvSpPr txBox="1"/>
          <p:nvPr/>
        </p:nvSpPr>
        <p:spPr>
          <a:xfrm>
            <a:off x="8001000" y="3977640"/>
            <a:ext cx="1487272" cy="292608"/>
          </a:xfrm>
          <a:prstGeom prst="rect">
            <a:avLst/>
          </a:prstGeom>
          <a:noFill/>
          <a:ln/>
        </p:spPr>
        <p:txBody>
          <a:bodyPr wrap="square" lIns="0" tIns="0" rIns="0" bIns="0" rtlCol="0" anchor="t"/>
          <a:lstStyle/>
          <a:p>
            <a:pPr indent="0" marL="0">
              <a:buNone/>
            </a:pPr>
            <a:r>
              <a:rPr lang="en-US" sz="1200" b="1" dirty="0">
                <a:solidFill>
                  <a:schemeClr val="tx1"/>
                </a:solidFill>
              </a:rPr>
              <a:t>Reports 2018–24</a:t>
            </a:r>
            <a:endParaRPr lang="en-US" sz="1200" dirty="0"/>
          </a:p>
        </p:txBody>
      </p:sp>
      <p:sp>
        <p:nvSpPr>
          <p:cNvPr id="73" name="Text 64"/>
          <p:cNvSpPr txBox="1"/>
          <p:nvPr/>
        </p:nvSpPr>
        <p:spPr>
          <a:xfrm>
            <a:off x="8001000" y="4251960"/>
            <a:ext cx="1487272" cy="274320"/>
          </a:xfrm>
          <a:prstGeom prst="rect">
            <a:avLst/>
          </a:prstGeom>
          <a:noFill/>
          <a:ln/>
        </p:spPr>
        <p:txBody>
          <a:bodyPr wrap="square" lIns="0" tIns="0" rIns="0" bIns="0" rtlCol="0" anchor="t"/>
          <a:lstStyle/>
          <a:p>
            <a:pPr indent="0" marL="0">
              <a:buNone/>
            </a:pPr>
            <a:r>
              <a:rPr lang="en-US" sz="950" dirty="0">
                <a:solidFill>
                  <a:schemeClr val="accent5"/>
                </a:solidFill>
              </a:rPr>
              <a:t>2026 analysis; 1,931 in 2015–19, 1,277 serious</a:t>
            </a:r>
            <a:endParaRPr lang="en-US" sz="950" dirty="0"/>
          </a:p>
        </p:txBody>
      </p:sp>
      <p:sp>
        <p:nvSpPr>
          <p:cNvPr id="74" name="Stat MvPI helpline"/>
          <p:cNvSpPr/>
          <p:nvPr/>
        </p:nvSpPr>
        <p:spPr>
          <a:xfrm>
            <a:off x="9790024" y="3154680"/>
            <a:ext cx="1853032" cy="1417320"/>
          </a:xfrm>
          <a:prstGeom prst="roundRect">
            <a:avLst>
              <a:gd name="adj" fmla="val 7742"/>
            </a:avLst>
          </a:prstGeom>
          <a:solidFill>
            <a:schemeClr val="bg1"/>
          </a:solidFill>
          <a:ln w="9525">
            <a:solidFill>
              <a:srgbClr val="D5DFDD"/>
            </a:solidFill>
            <a:prstDash val="solid"/>
          </a:ln>
          <a:effectLst>
            <a:outerShdw sx="100000" sy="100000" kx="0" ky="0" algn="bl" rotWithShape="0" blurRad="76200" dist="25400" dir="5400000">
              <a:srgbClr val="000000">
                <a:alpha val="10000"/>
              </a:srgbClr>
            </a:outerShdw>
          </a:effectLst>
        </p:spPr>
      </p:sp>
      <p:sp>
        <p:nvSpPr>
          <p:cNvPr id="75" name="Stat accent"/>
          <p:cNvSpPr/>
          <p:nvPr/>
        </p:nvSpPr>
        <p:spPr>
          <a:xfrm>
            <a:off x="9790024" y="3383280"/>
            <a:ext cx="64008" cy="960120"/>
          </a:xfrm>
          <a:prstGeom prst="rect">
            <a:avLst/>
          </a:prstGeom>
          <a:solidFill>
            <a:schemeClr val="accent2"/>
          </a:solidFill>
          <a:ln/>
        </p:spPr>
      </p:sp>
      <p:sp>
        <p:nvSpPr>
          <p:cNvPr id="76" name="Text 67"/>
          <p:cNvSpPr txBox="1"/>
          <p:nvPr/>
        </p:nvSpPr>
        <p:spPr>
          <a:xfrm>
            <a:off x="10018624" y="3291840"/>
            <a:ext cx="1441552" cy="685800"/>
          </a:xfrm>
          <a:prstGeom prst="rect">
            <a:avLst/>
          </a:prstGeom>
          <a:noFill/>
          <a:ln/>
        </p:spPr>
        <p:txBody>
          <a:bodyPr wrap="square" lIns="0" tIns="0" rIns="0" bIns="0" rtlCol="0" anchor="ctr"/>
          <a:lstStyle/>
          <a:p>
            <a:pPr indent="0" marL="0">
              <a:buNone/>
            </a:pPr>
            <a:r>
              <a:rPr lang="en-US" sz="1600" b="1" dirty="0">
                <a:solidFill>
                  <a:schemeClr val="accent2"/>
                </a:solidFill>
              </a:rPr>
              <a:t>1800-180-3024</a:t>
            </a:r>
            <a:endParaRPr lang="en-US" sz="1600" dirty="0"/>
          </a:p>
        </p:txBody>
      </p:sp>
      <p:sp>
        <p:nvSpPr>
          <p:cNvPr id="77" name="Text 68"/>
          <p:cNvSpPr txBox="1"/>
          <p:nvPr/>
        </p:nvSpPr>
        <p:spPr>
          <a:xfrm>
            <a:off x="10018624" y="3977640"/>
            <a:ext cx="1487272" cy="292608"/>
          </a:xfrm>
          <a:prstGeom prst="rect">
            <a:avLst/>
          </a:prstGeom>
          <a:noFill/>
          <a:ln/>
        </p:spPr>
        <p:txBody>
          <a:bodyPr wrap="square" lIns="0" tIns="0" rIns="0" bIns="0" rtlCol="0" anchor="t"/>
          <a:lstStyle/>
          <a:p>
            <a:pPr indent="0" marL="0">
              <a:buNone/>
            </a:pPr>
            <a:r>
              <a:rPr lang="en-US" sz="1200" b="1" dirty="0">
                <a:solidFill>
                  <a:schemeClr val="tx1"/>
                </a:solidFill>
              </a:rPr>
              <a:t>MvPI helpline</a:t>
            </a:r>
            <a:endParaRPr lang="en-US" sz="1200" dirty="0"/>
          </a:p>
        </p:txBody>
      </p:sp>
      <p:sp>
        <p:nvSpPr>
          <p:cNvPr id="78" name="Text 69"/>
          <p:cNvSpPr txBox="1"/>
          <p:nvPr/>
        </p:nvSpPr>
        <p:spPr>
          <a:xfrm>
            <a:off x="10018624" y="4251960"/>
            <a:ext cx="1487272" cy="274320"/>
          </a:xfrm>
          <a:prstGeom prst="rect">
            <a:avLst/>
          </a:prstGeom>
          <a:noFill/>
          <a:ln/>
        </p:spPr>
        <p:txBody>
          <a:bodyPr wrap="square" lIns="0" tIns="0" rIns="0" bIns="0" rtlCol="0" anchor="t"/>
          <a:lstStyle/>
          <a:p>
            <a:pPr indent="0" marL="0">
              <a:buNone/>
            </a:pPr>
            <a:r>
              <a:rPr lang="en-US" sz="950" dirty="0">
                <a:solidFill>
                  <a:schemeClr val="accent5"/>
                </a:solidFill>
              </a:rPr>
              <a:t>MDAE form v1.2; mvpi-ipc@gov.in</a:t>
            </a:r>
            <a:endParaRPr lang="en-US" sz="950" dirty="0"/>
          </a:p>
        </p:txBody>
      </p:sp>
      <p:sp>
        <p:nvSpPr>
          <p:cNvPr id="79" name="Reporting becomes a duty"/>
          <p:cNvSpPr/>
          <p:nvPr/>
        </p:nvSpPr>
        <p:spPr>
          <a:xfrm>
            <a:off x="7772400" y="4736592"/>
            <a:ext cx="3870655" cy="1344168"/>
          </a:xfrm>
          <a:prstGeom prst="roundRect">
            <a:avLst>
              <a:gd name="adj" fmla="val 9524"/>
            </a:avLst>
          </a:prstGeom>
          <a:solidFill>
            <a:schemeClr val="bg2"/>
          </a:solidFill>
          <a:ln/>
        </p:spPr>
      </p:sp>
      <p:sp>
        <p:nvSpPr>
          <p:cNvPr id="80" name="Text 71"/>
          <p:cNvSpPr txBox="1"/>
          <p:nvPr/>
        </p:nvSpPr>
        <p:spPr>
          <a:xfrm>
            <a:off x="7936992" y="4809744"/>
            <a:ext cx="3541471" cy="1234440"/>
          </a:xfrm>
          <a:prstGeom prst="rect">
            <a:avLst/>
          </a:prstGeom>
          <a:noFill/>
          <a:ln/>
        </p:spPr>
        <p:txBody>
          <a:bodyPr wrap="square" lIns="0" tIns="0" rIns="0" bIns="0" rtlCol="0" anchor="t"/>
          <a:lstStyle/>
          <a:p>
            <a:pPr indent="0" marL="0">
              <a:spcAft>
                <a:spcPts val="200"/>
              </a:spcAft>
              <a:buNone/>
            </a:pPr>
            <a:r>
              <a:rPr lang="en-US" sz="1150" b="1" dirty="0">
                <a:solidFill>
                  <a:schemeClr val="tx1"/>
                </a:solidFill>
              </a:rPr>
              <a:t>Reporting is becoming a duty</a:t>
            </a:r>
            <a:endParaRPr lang="en-US" sz="1400" dirty="0"/>
          </a:p>
          <a:p>
            <a:pPr marL="127000" indent="-127000">
              <a:spcAft>
                <a:spcPts val="200"/>
              </a:spcAft>
              <a:buSzPct val="100000"/>
              <a:buChar char="•"/>
            </a:pPr>
            <a:r>
              <a:rPr lang="en-US" sz="950" dirty="0">
                <a:solidFill>
                  <a:schemeClr val="tx2"/>
                </a:solidFill>
              </a:rPr>
              <a:t>CDSCO circular 15 May 2024: every licence holder reports suspected unexpected serious adverse events to MvPI</a:t>
            </a:r>
            <a:endParaRPr lang="en-US" sz="1400" dirty="0"/>
          </a:p>
          <a:p>
            <a:pPr marL="127000" indent="-127000">
              <a:spcAft>
                <a:spcPts val="200"/>
              </a:spcAft>
              <a:buSzPct val="100000"/>
              <a:buChar char="•"/>
            </a:pPr>
            <a:r>
              <a:rPr lang="en-US" sz="950" dirty="0">
                <a:solidFill>
                  <a:schemeClr val="tx2"/>
                </a:solidFill>
              </a:rPr>
              <a:t>Mar 2025: expert committee under MvPI; 15 Jul 2025: NMC tells medical colleges to form device adverse-event committees</a:t>
            </a:r>
            <a:endParaRPr lang="en-US" sz="14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INDIA · WORKED EXAMPLE</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FoGO on the Indian path</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FoGO BIRAC BIG project material (project-reported); CDSCO Forms MD-12/13 and MD-22/23; Second Schedule fees; consultancy estimates (Corpseed, LegalRaasta, IncorpX); IDEAL framework</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sp>
        <p:nvSpPr>
          <p:cNvPr id="12" name="Timeline"/>
          <p:cNvSpPr/>
          <p:nvPr/>
        </p:nvSpPr>
        <p:spPr>
          <a:xfrm>
            <a:off x="548640" y="3063240"/>
            <a:ext cx="11094415" cy="0"/>
          </a:xfrm>
          <a:prstGeom prst="line">
            <a:avLst/>
          </a:prstGeom>
          <a:noFill/>
          <a:ln w="31750">
            <a:solidFill>
              <a:schemeClr val="accent6"/>
            </a:solidFill>
            <a:prstDash val="solid"/>
          </a:ln>
        </p:spPr>
      </p:sp>
      <p:sp>
        <p:nvSpPr>
          <p:cNvPr id="13" name="Milestone 2024–25"/>
          <p:cNvSpPr/>
          <p:nvPr/>
        </p:nvSpPr>
        <p:spPr>
          <a:xfrm>
            <a:off x="1280160" y="2971800"/>
            <a:ext cx="182880" cy="182880"/>
          </a:xfrm>
          <a:prstGeom prst="ellipse">
            <a:avLst/>
          </a:prstGeom>
          <a:solidFill>
            <a:schemeClr val="accent1"/>
          </a:solidFill>
          <a:ln w="25400">
            <a:solidFill>
              <a:schemeClr val="tx2"/>
            </a:solidFill>
            <a:prstDash val="solid"/>
          </a:ln>
        </p:spPr>
      </p:sp>
      <p:sp>
        <p:nvSpPr>
          <p:cNvPr id="14" name="Pill 2024–25"/>
          <p:cNvSpPr/>
          <p:nvPr/>
        </p:nvSpPr>
        <p:spPr>
          <a:xfrm>
            <a:off x="914400" y="2560320"/>
            <a:ext cx="914400" cy="256032"/>
          </a:xfrm>
          <a:prstGeom prst="roundRect">
            <a:avLst>
              <a:gd name="adj" fmla="val 50000"/>
            </a:avLst>
          </a:prstGeom>
          <a:solidFill>
            <a:schemeClr val="accent1"/>
          </a:solidFill>
          <a:ln w="15875">
            <a:solidFill>
              <a:schemeClr val="accent1"/>
            </a:solidFill>
            <a:prstDash val="solid"/>
          </a:ln>
        </p:spPr>
      </p:sp>
      <p:sp>
        <p:nvSpPr>
          <p:cNvPr id="15" name="Text 12"/>
          <p:cNvSpPr txBox="1"/>
          <p:nvPr/>
        </p:nvSpPr>
        <p:spPr>
          <a:xfrm>
            <a:off x="914400" y="256032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2024–25</a:t>
            </a:r>
            <a:endParaRPr lang="en-US" sz="1000" dirty="0"/>
          </a:p>
        </p:txBody>
      </p:sp>
      <p:sp>
        <p:nvSpPr>
          <p:cNvPr id="16" name="Text 13"/>
          <p:cNvSpPr txBox="1"/>
          <p:nvPr/>
        </p:nvSpPr>
        <p:spPr>
          <a:xfrm>
            <a:off x="274320" y="1417320"/>
            <a:ext cx="2194560" cy="1051560"/>
          </a:xfrm>
          <a:prstGeom prst="rect">
            <a:avLst/>
          </a:prstGeom>
          <a:noFill/>
          <a:ln/>
        </p:spPr>
        <p:txBody>
          <a:bodyPr wrap="square" lIns="0" tIns="0" rIns="0" bIns="0" rtlCol="0" anchor="b"/>
          <a:lstStyle/>
          <a:p>
            <a:pPr algn="ctr" indent="0" marL="0">
              <a:buNone/>
            </a:pPr>
            <a:r>
              <a:rPr lang="en-US" sz="1100" b="1" dirty="0">
                <a:solidFill>
                  <a:schemeClr val="bg1"/>
                </a:solidFill>
              </a:rPr>
              <a:t>Alpha prototype</a:t>
            </a:r>
            <a:endParaRPr lang="en-US" sz="1100" dirty="0"/>
          </a:p>
          <a:p>
            <a:pPr algn="ctr" indent="0" marL="0">
              <a:buNone/>
            </a:pPr>
            <a:r>
              <a:rPr lang="en-US" sz="1000" dirty="0">
                <a:solidFill>
                  <a:schemeClr val="accent6"/>
                </a:solidFill>
              </a:rPr>
              <a:t>3 iterations, Jan 2024–Jun 2025; public-dataset F1 0.83–0.85</a:t>
            </a:r>
            <a:endParaRPr lang="en-US" sz="1100" dirty="0"/>
          </a:p>
        </p:txBody>
      </p:sp>
      <p:sp>
        <p:nvSpPr>
          <p:cNvPr id="17" name="Milestone Jul 2026"/>
          <p:cNvSpPr/>
          <p:nvPr/>
        </p:nvSpPr>
        <p:spPr>
          <a:xfrm>
            <a:off x="2629945" y="2971800"/>
            <a:ext cx="182880" cy="182880"/>
          </a:xfrm>
          <a:prstGeom prst="ellipse">
            <a:avLst/>
          </a:prstGeom>
          <a:solidFill>
            <a:schemeClr val="accent1"/>
          </a:solidFill>
          <a:ln w="25400">
            <a:solidFill>
              <a:schemeClr val="tx2"/>
            </a:solidFill>
            <a:prstDash val="solid"/>
          </a:ln>
        </p:spPr>
      </p:sp>
      <p:sp>
        <p:nvSpPr>
          <p:cNvPr id="18" name="Pill Jul 2026"/>
          <p:cNvSpPr/>
          <p:nvPr/>
        </p:nvSpPr>
        <p:spPr>
          <a:xfrm>
            <a:off x="2264185" y="3291840"/>
            <a:ext cx="914400" cy="256032"/>
          </a:xfrm>
          <a:prstGeom prst="roundRect">
            <a:avLst>
              <a:gd name="adj" fmla="val 50000"/>
            </a:avLst>
          </a:prstGeom>
          <a:solidFill>
            <a:schemeClr val="accent1"/>
          </a:solidFill>
          <a:ln w="15875">
            <a:solidFill>
              <a:schemeClr val="accent1"/>
            </a:solidFill>
            <a:prstDash val="solid"/>
          </a:ln>
        </p:spPr>
      </p:sp>
      <p:sp>
        <p:nvSpPr>
          <p:cNvPr id="19" name="Text 16"/>
          <p:cNvSpPr txBox="1"/>
          <p:nvPr/>
        </p:nvSpPr>
        <p:spPr>
          <a:xfrm>
            <a:off x="2264185" y="329184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Jul 2026</a:t>
            </a:r>
            <a:endParaRPr lang="en-US" sz="1000" dirty="0"/>
          </a:p>
        </p:txBody>
      </p:sp>
      <p:sp>
        <p:nvSpPr>
          <p:cNvPr id="20" name="Text 17"/>
          <p:cNvSpPr txBox="1"/>
          <p:nvPr/>
        </p:nvSpPr>
        <p:spPr>
          <a:xfrm>
            <a:off x="1624105" y="3630168"/>
            <a:ext cx="2194560" cy="1051560"/>
          </a:xfrm>
          <a:prstGeom prst="rect">
            <a:avLst/>
          </a:prstGeom>
          <a:noFill/>
          <a:ln/>
        </p:spPr>
        <p:txBody>
          <a:bodyPr wrap="square" lIns="0" tIns="0" rIns="0" bIns="0" rtlCol="0" anchor="t"/>
          <a:lstStyle/>
          <a:p>
            <a:pPr algn="ctr" indent="0" marL="0">
              <a:buNone/>
            </a:pPr>
            <a:r>
              <a:rPr lang="en-US" sz="1100" b="1" dirty="0">
                <a:solidFill>
                  <a:schemeClr val="bg1"/>
                </a:solidFill>
              </a:rPr>
              <a:t>EMC pre-compliance</a:t>
            </a:r>
            <a:endParaRPr lang="en-US" sz="1100" dirty="0"/>
          </a:p>
          <a:p>
            <a:pPr algn="ctr" indent="0" marL="0">
              <a:buNone/>
            </a:pPr>
            <a:r>
              <a:rPr lang="en-US" sz="1000" dirty="0">
                <a:solidFill>
                  <a:schemeClr val="accent6"/>
                </a:solidFill>
              </a:rPr>
              <a:t>IEC 60601-1-2 pre-compliance test, not yet certification</a:t>
            </a:r>
            <a:endParaRPr lang="en-US" sz="1100" dirty="0"/>
          </a:p>
        </p:txBody>
      </p:sp>
      <p:sp>
        <p:nvSpPr>
          <p:cNvPr id="21" name="Milestone 10 Aug 2026"/>
          <p:cNvSpPr/>
          <p:nvPr/>
        </p:nvSpPr>
        <p:spPr>
          <a:xfrm>
            <a:off x="3934010" y="2926080"/>
            <a:ext cx="274320" cy="274320"/>
          </a:xfrm>
          <a:prstGeom prst="ellipse">
            <a:avLst/>
          </a:prstGeom>
          <a:solidFill>
            <a:schemeClr val="accent1"/>
          </a:solidFill>
          <a:ln w="25400">
            <a:solidFill>
              <a:schemeClr val="tx2"/>
            </a:solidFill>
            <a:prstDash val="solid"/>
          </a:ln>
        </p:spPr>
      </p:sp>
      <p:sp>
        <p:nvSpPr>
          <p:cNvPr id="22" name="Pill 10 Aug 2026"/>
          <p:cNvSpPr/>
          <p:nvPr/>
        </p:nvSpPr>
        <p:spPr>
          <a:xfrm>
            <a:off x="3613970" y="2560320"/>
            <a:ext cx="914400" cy="256032"/>
          </a:xfrm>
          <a:prstGeom prst="roundRect">
            <a:avLst>
              <a:gd name="adj" fmla="val 50000"/>
            </a:avLst>
          </a:prstGeom>
          <a:solidFill>
            <a:schemeClr val="accent1"/>
          </a:solidFill>
          <a:ln w="15875">
            <a:solidFill>
              <a:schemeClr val="accent1"/>
            </a:solidFill>
            <a:prstDash val="solid"/>
          </a:ln>
        </p:spPr>
      </p:sp>
      <p:sp>
        <p:nvSpPr>
          <p:cNvPr id="23" name="Text 20"/>
          <p:cNvSpPr txBox="1"/>
          <p:nvPr/>
        </p:nvSpPr>
        <p:spPr>
          <a:xfrm>
            <a:off x="3613970" y="256032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10 Aug 2026</a:t>
            </a:r>
            <a:endParaRPr lang="en-US" sz="1000" dirty="0"/>
          </a:p>
        </p:txBody>
      </p:sp>
      <p:sp>
        <p:nvSpPr>
          <p:cNvPr id="24" name="Text 21"/>
          <p:cNvSpPr txBox="1"/>
          <p:nvPr/>
        </p:nvSpPr>
        <p:spPr>
          <a:xfrm>
            <a:off x="2973890" y="1417320"/>
            <a:ext cx="2194560" cy="1051560"/>
          </a:xfrm>
          <a:prstGeom prst="rect">
            <a:avLst/>
          </a:prstGeom>
          <a:noFill/>
          <a:ln/>
        </p:spPr>
        <p:txBody>
          <a:bodyPr wrap="square" lIns="0" tIns="0" rIns="0" bIns="0" rtlCol="0" anchor="b"/>
          <a:lstStyle/>
          <a:p>
            <a:pPr algn="ctr" indent="0" marL="0">
              <a:buNone/>
            </a:pPr>
            <a:r>
              <a:rPr lang="en-US" sz="1100" b="1" dirty="0">
                <a:solidFill>
                  <a:schemeClr val="bg1"/>
                </a:solidFill>
              </a:rPr>
              <a:t>Test licence MD-13</a:t>
            </a:r>
            <a:endParaRPr lang="en-US" sz="1100" dirty="0"/>
          </a:p>
          <a:p>
            <a:pPr algn="ctr" indent="0" marL="0">
              <a:buNone/>
            </a:pPr>
            <a:r>
              <a:rPr lang="en-US" sz="1000" dirty="0">
                <a:solidFill>
                  <a:schemeClr val="accent6"/>
                </a:solidFill>
              </a:rPr>
              <a:t>25 units for evaluation; fee ₹500/device; valid 3 years</a:t>
            </a:r>
            <a:endParaRPr lang="en-US" sz="1100" dirty="0"/>
          </a:p>
        </p:txBody>
      </p:sp>
      <p:sp>
        <p:nvSpPr>
          <p:cNvPr id="25" name="Milestone Next"/>
          <p:cNvSpPr/>
          <p:nvPr/>
        </p:nvSpPr>
        <p:spPr>
          <a:xfrm>
            <a:off x="5329515" y="2971800"/>
            <a:ext cx="182880" cy="182880"/>
          </a:xfrm>
          <a:prstGeom prst="ellipse">
            <a:avLst/>
          </a:prstGeom>
          <a:solidFill>
            <a:schemeClr val="accent2"/>
          </a:solidFill>
          <a:ln w="25400">
            <a:solidFill>
              <a:schemeClr val="tx2"/>
            </a:solidFill>
            <a:prstDash val="solid"/>
          </a:ln>
        </p:spPr>
      </p:sp>
      <p:sp>
        <p:nvSpPr>
          <p:cNvPr id="26" name="Pill Next"/>
          <p:cNvSpPr/>
          <p:nvPr/>
        </p:nvSpPr>
        <p:spPr>
          <a:xfrm>
            <a:off x="4963755" y="3291840"/>
            <a:ext cx="914400" cy="256032"/>
          </a:xfrm>
          <a:prstGeom prst="roundRect">
            <a:avLst>
              <a:gd name="adj" fmla="val 50000"/>
            </a:avLst>
          </a:prstGeom>
          <a:solidFill>
            <a:schemeClr val="accent2"/>
          </a:solidFill>
          <a:ln w="15875">
            <a:solidFill>
              <a:schemeClr val="accent2"/>
            </a:solidFill>
            <a:prstDash val="solid"/>
          </a:ln>
        </p:spPr>
      </p:sp>
      <p:sp>
        <p:nvSpPr>
          <p:cNvPr id="27" name="Text 24"/>
          <p:cNvSpPr txBox="1"/>
          <p:nvPr/>
        </p:nvSpPr>
        <p:spPr>
          <a:xfrm>
            <a:off x="4963755" y="329184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Next</a:t>
            </a:r>
            <a:endParaRPr lang="en-US" sz="1000" dirty="0"/>
          </a:p>
        </p:txBody>
      </p:sp>
      <p:sp>
        <p:nvSpPr>
          <p:cNvPr id="28" name="Text 25"/>
          <p:cNvSpPr txBox="1"/>
          <p:nvPr/>
        </p:nvSpPr>
        <p:spPr>
          <a:xfrm>
            <a:off x="4323675" y="3630168"/>
            <a:ext cx="2194560" cy="1051560"/>
          </a:xfrm>
          <a:prstGeom prst="rect">
            <a:avLst/>
          </a:prstGeom>
          <a:noFill/>
          <a:ln/>
        </p:spPr>
        <p:txBody>
          <a:bodyPr wrap="square" lIns="0" tIns="0" rIns="0" bIns="0" rtlCol="0" anchor="t"/>
          <a:lstStyle/>
          <a:p>
            <a:pPr algn="ctr" indent="0" marL="0">
              <a:buNone/>
            </a:pPr>
            <a:r>
              <a:rPr lang="en-US" sz="1100" b="1" dirty="0">
                <a:solidFill>
                  <a:schemeClr val="bg1"/>
                </a:solidFill>
              </a:rPr>
              <a:t>Ethics approval</a:t>
            </a:r>
            <a:endParaRPr lang="en-US" sz="1100" dirty="0"/>
          </a:p>
          <a:p>
            <a:pPr algn="ctr" indent="0" marL="0">
              <a:buNone/>
            </a:pPr>
            <a:r>
              <a:rPr lang="en-US" sz="1000" dirty="0">
                <a:solidFill>
                  <a:schemeClr val="accent6"/>
                </a:solidFill>
              </a:rPr>
              <a:t>Committee registered with CDSCO; consent in Odia and Hindi</a:t>
            </a:r>
            <a:endParaRPr lang="en-US" sz="1100" dirty="0"/>
          </a:p>
        </p:txBody>
      </p:sp>
      <p:sp>
        <p:nvSpPr>
          <p:cNvPr id="29" name="Milestone Next"/>
          <p:cNvSpPr/>
          <p:nvPr/>
        </p:nvSpPr>
        <p:spPr>
          <a:xfrm>
            <a:off x="6679300" y="2971800"/>
            <a:ext cx="182880" cy="182880"/>
          </a:xfrm>
          <a:prstGeom prst="ellipse">
            <a:avLst/>
          </a:prstGeom>
          <a:solidFill>
            <a:schemeClr val="accent2"/>
          </a:solidFill>
          <a:ln w="25400">
            <a:solidFill>
              <a:schemeClr val="tx2"/>
            </a:solidFill>
            <a:prstDash val="solid"/>
          </a:ln>
        </p:spPr>
      </p:sp>
      <p:sp>
        <p:nvSpPr>
          <p:cNvPr id="30" name="Pill Next"/>
          <p:cNvSpPr/>
          <p:nvPr/>
        </p:nvSpPr>
        <p:spPr>
          <a:xfrm>
            <a:off x="6313540" y="2560320"/>
            <a:ext cx="914400" cy="256032"/>
          </a:xfrm>
          <a:prstGeom prst="roundRect">
            <a:avLst>
              <a:gd name="adj" fmla="val 50000"/>
            </a:avLst>
          </a:prstGeom>
          <a:solidFill>
            <a:schemeClr val="accent2"/>
          </a:solidFill>
          <a:ln w="15875">
            <a:solidFill>
              <a:schemeClr val="accent2"/>
            </a:solidFill>
            <a:prstDash val="solid"/>
          </a:ln>
        </p:spPr>
      </p:sp>
      <p:sp>
        <p:nvSpPr>
          <p:cNvPr id="31" name="Text 28"/>
          <p:cNvSpPr txBox="1"/>
          <p:nvPr/>
        </p:nvSpPr>
        <p:spPr>
          <a:xfrm>
            <a:off x="6313540" y="256032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Next</a:t>
            </a:r>
            <a:endParaRPr lang="en-US" sz="1000" dirty="0"/>
          </a:p>
        </p:txBody>
      </p:sp>
      <p:sp>
        <p:nvSpPr>
          <p:cNvPr id="32" name="Text 29"/>
          <p:cNvSpPr txBox="1"/>
          <p:nvPr/>
        </p:nvSpPr>
        <p:spPr>
          <a:xfrm>
            <a:off x="5673460" y="1417320"/>
            <a:ext cx="2194560" cy="1051560"/>
          </a:xfrm>
          <a:prstGeom prst="rect">
            <a:avLst/>
          </a:prstGeom>
          <a:noFill/>
          <a:ln/>
        </p:spPr>
        <p:txBody>
          <a:bodyPr wrap="square" lIns="0" tIns="0" rIns="0" bIns="0" rtlCol="0" anchor="b"/>
          <a:lstStyle/>
          <a:p>
            <a:pPr algn="ctr" indent="0" marL="0">
              <a:buNone/>
            </a:pPr>
            <a:r>
              <a:rPr lang="en-US" sz="1100" b="1" dirty="0">
                <a:solidFill>
                  <a:schemeClr val="bg1"/>
                </a:solidFill>
              </a:rPr>
              <a:t>MD-22 → MD-23</a:t>
            </a:r>
            <a:endParaRPr lang="en-US" sz="1100" dirty="0"/>
          </a:p>
          <a:p>
            <a:pPr algn="ctr" indent="0" marL="0">
              <a:buNone/>
            </a:pPr>
            <a:r>
              <a:rPr lang="en-US" sz="1000" dirty="0">
                <a:solidFill>
                  <a:schemeClr val="accent6"/>
                </a:solidFill>
              </a:rPr>
              <a:t>Seventh Schedule dossier; fee: verify (waived for govt institutions, Rule 51(2))</a:t>
            </a:r>
            <a:endParaRPr lang="en-US" sz="1100" dirty="0"/>
          </a:p>
        </p:txBody>
      </p:sp>
      <p:sp>
        <p:nvSpPr>
          <p:cNvPr id="33" name="Milestone Next"/>
          <p:cNvSpPr/>
          <p:nvPr/>
        </p:nvSpPr>
        <p:spPr>
          <a:xfrm>
            <a:off x="8029085" y="2971800"/>
            <a:ext cx="182880" cy="182880"/>
          </a:xfrm>
          <a:prstGeom prst="ellipse">
            <a:avLst/>
          </a:prstGeom>
          <a:solidFill>
            <a:schemeClr val="accent2"/>
          </a:solidFill>
          <a:ln w="25400">
            <a:solidFill>
              <a:schemeClr val="tx2"/>
            </a:solidFill>
            <a:prstDash val="solid"/>
          </a:ln>
        </p:spPr>
      </p:sp>
      <p:sp>
        <p:nvSpPr>
          <p:cNvPr id="34" name="Pill Next"/>
          <p:cNvSpPr/>
          <p:nvPr/>
        </p:nvSpPr>
        <p:spPr>
          <a:xfrm>
            <a:off x="7663325" y="3291840"/>
            <a:ext cx="914400" cy="256032"/>
          </a:xfrm>
          <a:prstGeom prst="roundRect">
            <a:avLst>
              <a:gd name="adj" fmla="val 50000"/>
            </a:avLst>
          </a:prstGeom>
          <a:solidFill>
            <a:schemeClr val="accent2"/>
          </a:solidFill>
          <a:ln w="15875">
            <a:solidFill>
              <a:schemeClr val="accent2"/>
            </a:solidFill>
            <a:prstDash val="solid"/>
          </a:ln>
        </p:spPr>
      </p:sp>
      <p:sp>
        <p:nvSpPr>
          <p:cNvPr id="35" name="Text 32"/>
          <p:cNvSpPr txBox="1"/>
          <p:nvPr/>
        </p:nvSpPr>
        <p:spPr>
          <a:xfrm>
            <a:off x="7663325" y="329184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Next</a:t>
            </a:r>
            <a:endParaRPr lang="en-US" sz="1000" dirty="0"/>
          </a:p>
        </p:txBody>
      </p:sp>
      <p:sp>
        <p:nvSpPr>
          <p:cNvPr id="36" name="Text 33"/>
          <p:cNvSpPr txBox="1"/>
          <p:nvPr/>
        </p:nvSpPr>
        <p:spPr>
          <a:xfrm>
            <a:off x="7023245" y="3630168"/>
            <a:ext cx="2194560" cy="1051560"/>
          </a:xfrm>
          <a:prstGeom prst="rect">
            <a:avLst/>
          </a:prstGeom>
          <a:noFill/>
          <a:ln/>
        </p:spPr>
        <p:txBody>
          <a:bodyPr wrap="square" lIns="0" tIns="0" rIns="0" bIns="0" rtlCol="0" anchor="t"/>
          <a:lstStyle/>
          <a:p>
            <a:pPr algn="ctr" indent="0" marL="0">
              <a:buNone/>
            </a:pPr>
            <a:r>
              <a:rPr lang="en-US" sz="1100" b="1" dirty="0">
                <a:solidFill>
                  <a:schemeClr val="bg1"/>
                </a:solidFill>
              </a:rPr>
              <a:t>CTRI registration</a:t>
            </a:r>
            <a:endParaRPr lang="en-US" sz="1100" dirty="0"/>
          </a:p>
          <a:p>
            <a:pPr algn="ctr" indent="0" marL="0">
              <a:buNone/>
            </a:pPr>
            <a:r>
              <a:rPr lang="en-US" sz="1000" dirty="0">
                <a:solidFill>
                  <a:schemeClr val="accent6"/>
                </a:solidFill>
              </a:rPr>
              <a:t>Before the first participant</a:t>
            </a:r>
            <a:endParaRPr lang="en-US" sz="1100" dirty="0"/>
          </a:p>
        </p:txBody>
      </p:sp>
      <p:sp>
        <p:nvSpPr>
          <p:cNvPr id="37" name="Milestone 2027 (est.)"/>
          <p:cNvSpPr/>
          <p:nvPr/>
        </p:nvSpPr>
        <p:spPr>
          <a:xfrm>
            <a:off x="9378870" y="2971800"/>
            <a:ext cx="182880" cy="182880"/>
          </a:xfrm>
          <a:prstGeom prst="ellipse">
            <a:avLst/>
          </a:prstGeom>
          <a:solidFill>
            <a:schemeClr val="accent2"/>
          </a:solidFill>
          <a:ln w="25400">
            <a:solidFill>
              <a:schemeClr val="tx2"/>
            </a:solidFill>
            <a:prstDash val="solid"/>
          </a:ln>
        </p:spPr>
      </p:sp>
      <p:sp>
        <p:nvSpPr>
          <p:cNvPr id="38" name="Pill 2027 (est.)"/>
          <p:cNvSpPr/>
          <p:nvPr/>
        </p:nvSpPr>
        <p:spPr>
          <a:xfrm>
            <a:off x="9013110" y="2560320"/>
            <a:ext cx="914400" cy="256032"/>
          </a:xfrm>
          <a:prstGeom prst="roundRect">
            <a:avLst>
              <a:gd name="adj" fmla="val 50000"/>
            </a:avLst>
          </a:prstGeom>
          <a:solidFill>
            <a:schemeClr val="accent2"/>
          </a:solidFill>
          <a:ln w="15875">
            <a:solidFill>
              <a:schemeClr val="accent2"/>
            </a:solidFill>
            <a:prstDash val="solid"/>
          </a:ln>
        </p:spPr>
      </p:sp>
      <p:sp>
        <p:nvSpPr>
          <p:cNvPr id="39" name="Text 36"/>
          <p:cNvSpPr txBox="1"/>
          <p:nvPr/>
        </p:nvSpPr>
        <p:spPr>
          <a:xfrm>
            <a:off x="9013110" y="256032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2027 (est.)</a:t>
            </a:r>
            <a:endParaRPr lang="en-US" sz="1000" dirty="0"/>
          </a:p>
        </p:txBody>
      </p:sp>
      <p:sp>
        <p:nvSpPr>
          <p:cNvPr id="40" name="Text 37"/>
          <p:cNvSpPr txBox="1"/>
          <p:nvPr/>
        </p:nvSpPr>
        <p:spPr>
          <a:xfrm>
            <a:off x="8373030" y="1417320"/>
            <a:ext cx="2194560" cy="1051560"/>
          </a:xfrm>
          <a:prstGeom prst="rect">
            <a:avLst/>
          </a:prstGeom>
          <a:noFill/>
          <a:ln/>
        </p:spPr>
        <p:txBody>
          <a:bodyPr wrap="square" lIns="0" tIns="0" rIns="0" bIns="0" rtlCol="0" anchor="b"/>
          <a:lstStyle/>
          <a:p>
            <a:pPr algn="ctr" indent="0" marL="0">
              <a:buNone/>
            </a:pPr>
            <a:r>
              <a:rPr lang="en-US" sz="1100" b="1" dirty="0">
                <a:solidFill>
                  <a:schemeClr val="bg1"/>
                </a:solidFill>
              </a:rPr>
              <a:t>Proof-of-concept study</a:t>
            </a:r>
            <a:endParaRPr lang="en-US" sz="1100" dirty="0"/>
          </a:p>
          <a:p>
            <a:pPr algn="ctr" indent="0" marL="0">
              <a:buNone/>
            </a:pPr>
            <a:r>
              <a:rPr lang="en-US" sz="1000" dirty="0">
                <a:solidFill>
                  <a:schemeClr val="accent6"/>
                </a:solidFill>
              </a:rPr>
              <a:t>AIIMS Bhubaneswar; 18-month BIRAC BIG proposal under review</a:t>
            </a:r>
            <a:endParaRPr lang="en-US" sz="1100" dirty="0"/>
          </a:p>
        </p:txBody>
      </p:sp>
      <p:sp>
        <p:nvSpPr>
          <p:cNvPr id="41" name="Milestone After study"/>
          <p:cNvSpPr/>
          <p:nvPr/>
        </p:nvSpPr>
        <p:spPr>
          <a:xfrm>
            <a:off x="10728655" y="2971800"/>
            <a:ext cx="182880" cy="182880"/>
          </a:xfrm>
          <a:prstGeom prst="ellipse">
            <a:avLst/>
          </a:prstGeom>
          <a:solidFill>
            <a:schemeClr val="accent2"/>
          </a:solidFill>
          <a:ln w="25400">
            <a:solidFill>
              <a:schemeClr val="tx2"/>
            </a:solidFill>
            <a:prstDash val="solid"/>
          </a:ln>
        </p:spPr>
      </p:sp>
      <p:sp>
        <p:nvSpPr>
          <p:cNvPr id="42" name="Pill After study"/>
          <p:cNvSpPr/>
          <p:nvPr/>
        </p:nvSpPr>
        <p:spPr>
          <a:xfrm>
            <a:off x="10362895" y="3291840"/>
            <a:ext cx="914400" cy="256032"/>
          </a:xfrm>
          <a:prstGeom prst="roundRect">
            <a:avLst>
              <a:gd name="adj" fmla="val 50000"/>
            </a:avLst>
          </a:prstGeom>
          <a:solidFill>
            <a:schemeClr val="accent2"/>
          </a:solidFill>
          <a:ln w="15875">
            <a:solidFill>
              <a:schemeClr val="accent2"/>
            </a:solidFill>
            <a:prstDash val="solid"/>
          </a:ln>
        </p:spPr>
      </p:sp>
      <p:sp>
        <p:nvSpPr>
          <p:cNvPr id="43" name="Text 40"/>
          <p:cNvSpPr txBox="1"/>
          <p:nvPr/>
        </p:nvSpPr>
        <p:spPr>
          <a:xfrm>
            <a:off x="10362895" y="3291840"/>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After study</a:t>
            </a:r>
            <a:endParaRPr lang="en-US" sz="1000" dirty="0"/>
          </a:p>
        </p:txBody>
      </p:sp>
      <p:sp>
        <p:nvSpPr>
          <p:cNvPr id="44" name="Text 41"/>
          <p:cNvSpPr txBox="1"/>
          <p:nvPr/>
        </p:nvSpPr>
        <p:spPr>
          <a:xfrm>
            <a:off x="9722815" y="3630168"/>
            <a:ext cx="2194560" cy="1051560"/>
          </a:xfrm>
          <a:prstGeom prst="rect">
            <a:avLst/>
          </a:prstGeom>
          <a:noFill/>
          <a:ln/>
        </p:spPr>
        <p:txBody>
          <a:bodyPr wrap="square" lIns="0" tIns="0" rIns="0" bIns="0" rtlCol="0" anchor="t"/>
          <a:lstStyle/>
          <a:p>
            <a:pPr algn="ctr" indent="0" marL="0">
              <a:buNone/>
            </a:pPr>
            <a:r>
              <a:rPr lang="en-US" sz="1100" b="1" dirty="0">
                <a:solidFill>
                  <a:schemeClr val="bg1"/>
                </a:solidFill>
              </a:rPr>
              <a:t>MD-3 → MD-5</a:t>
            </a:r>
            <a:endParaRPr lang="en-US" sz="1100" dirty="0"/>
          </a:p>
          <a:p>
            <a:pPr algn="ctr" indent="0" marL="0">
              <a:buNone/>
            </a:pPr>
            <a:r>
              <a:rPr lang="en-US" sz="1000" dirty="0">
                <a:solidFill>
                  <a:schemeClr val="accent6"/>
                </a:solidFill>
              </a:rPr>
              <a:t>Class B (proposed); State; notified-body audit; ₹5,000 + ₹500; est. 4–5 months</a:t>
            </a:r>
            <a:endParaRPr lang="en-US" sz="1100" dirty="0"/>
          </a:p>
        </p:txBody>
      </p:sp>
      <p:sp>
        <p:nvSpPr>
          <p:cNvPr id="45" name="Pill TODAY · 7 OCT 2026"/>
          <p:cNvSpPr/>
          <p:nvPr/>
        </p:nvSpPr>
        <p:spPr>
          <a:xfrm>
            <a:off x="4105983" y="2926080"/>
            <a:ext cx="1280160" cy="274320"/>
          </a:xfrm>
          <a:prstGeom prst="roundRect">
            <a:avLst>
              <a:gd name="adj" fmla="val 50000"/>
            </a:avLst>
          </a:prstGeom>
          <a:solidFill>
            <a:schemeClr val="accent3"/>
          </a:solidFill>
          <a:ln w="15875">
            <a:solidFill>
              <a:schemeClr val="accent3"/>
            </a:solidFill>
            <a:prstDash val="solid"/>
          </a:ln>
        </p:spPr>
      </p:sp>
      <p:sp>
        <p:nvSpPr>
          <p:cNvPr id="46" name="Text 43"/>
          <p:cNvSpPr txBox="1"/>
          <p:nvPr/>
        </p:nvSpPr>
        <p:spPr>
          <a:xfrm>
            <a:off x="4105983" y="2926080"/>
            <a:ext cx="1280160" cy="274320"/>
          </a:xfrm>
          <a:prstGeom prst="rect">
            <a:avLst/>
          </a:prstGeom>
          <a:noFill/>
          <a:ln/>
        </p:spPr>
        <p:txBody>
          <a:bodyPr wrap="square" lIns="0" tIns="0" rIns="0" bIns="0" rtlCol="0" anchor="ctr"/>
          <a:lstStyle/>
          <a:p>
            <a:pPr algn="ctr" indent="0" marL="0">
              <a:buNone/>
            </a:pPr>
            <a:r>
              <a:rPr lang="en-US" sz="900" b="1" dirty="0">
                <a:solidFill>
                  <a:schemeClr val="bg1"/>
                </a:solidFill>
              </a:rPr>
              <a:t>TODAY · 7 OCT 2026</a:t>
            </a:r>
            <a:endParaRPr lang="en-US" sz="900" dirty="0"/>
          </a:p>
        </p:txBody>
      </p:sp>
      <p:sp>
        <p:nvSpPr>
          <p:cNvPr id="47" name="Status card Done"/>
          <p:cNvSpPr/>
          <p:nvPr/>
        </p:nvSpPr>
        <p:spPr>
          <a:xfrm>
            <a:off x="548640" y="4846320"/>
            <a:ext cx="3564026" cy="1371600"/>
          </a:xfrm>
          <a:prstGeom prst="roundRect">
            <a:avLst>
              <a:gd name="adj" fmla="val 8000"/>
            </a:avLst>
          </a:prstGeom>
          <a:solidFill>
            <a:schemeClr val="bg1">
              <a:alpha val="10000"/>
            </a:schemeClr>
          </a:solidFill>
          <a:ln w="9525">
            <a:solidFill>
              <a:schemeClr val="accent6"/>
            </a:solidFill>
            <a:prstDash val="solid"/>
          </a:ln>
        </p:spPr>
      </p:sp>
      <p:sp>
        <p:nvSpPr>
          <p:cNvPr id="48" name="Text 45"/>
          <p:cNvSpPr txBox="1"/>
          <p:nvPr/>
        </p:nvSpPr>
        <p:spPr>
          <a:xfrm>
            <a:off x="731520" y="4974336"/>
            <a:ext cx="1460906" cy="310896"/>
          </a:xfrm>
          <a:prstGeom prst="rect">
            <a:avLst/>
          </a:prstGeom>
          <a:noFill/>
          <a:ln/>
        </p:spPr>
        <p:txBody>
          <a:bodyPr wrap="square" lIns="0" tIns="0" rIns="0" bIns="0" rtlCol="0" anchor="ctr"/>
          <a:lstStyle/>
          <a:p>
            <a:pPr indent="0" marL="0">
              <a:buNone/>
            </a:pPr>
            <a:r>
              <a:rPr lang="en-US" sz="1300" b="1" dirty="0">
                <a:solidFill>
                  <a:schemeClr val="bg1"/>
                </a:solidFill>
              </a:rPr>
              <a:t>Done</a:t>
            </a:r>
            <a:endParaRPr lang="en-US" sz="1300" dirty="0"/>
          </a:p>
        </p:txBody>
      </p:sp>
      <p:sp>
        <p:nvSpPr>
          <p:cNvPr id="49" name="Pill Demonstrated"/>
          <p:cNvSpPr/>
          <p:nvPr/>
        </p:nvSpPr>
        <p:spPr>
          <a:xfrm>
            <a:off x="2238146" y="4974336"/>
            <a:ext cx="1691640" cy="310896"/>
          </a:xfrm>
          <a:prstGeom prst="roundRect">
            <a:avLst>
              <a:gd name="adj" fmla="val 50000"/>
            </a:avLst>
          </a:prstGeom>
          <a:solidFill>
            <a:schemeClr val="accent1"/>
          </a:solidFill>
          <a:ln w="15875">
            <a:solidFill>
              <a:schemeClr val="accent1"/>
            </a:solidFill>
            <a:prstDash val="solid"/>
          </a:ln>
        </p:spPr>
      </p:sp>
      <p:sp>
        <p:nvSpPr>
          <p:cNvPr id="50" name="Text 47"/>
          <p:cNvSpPr txBox="1"/>
          <p:nvPr/>
        </p:nvSpPr>
        <p:spPr>
          <a:xfrm>
            <a:off x="2238146" y="4974336"/>
            <a:ext cx="1691640" cy="310896"/>
          </a:xfrm>
          <a:prstGeom prst="rect">
            <a:avLst/>
          </a:prstGeom>
          <a:noFill/>
          <a:ln/>
        </p:spPr>
        <p:txBody>
          <a:bodyPr wrap="square" lIns="0" tIns="0" rIns="0" bIns="0" rtlCol="0" anchor="ctr"/>
          <a:lstStyle/>
          <a:p>
            <a:pPr algn="ctr" indent="0" marL="0">
              <a:buNone/>
            </a:pPr>
            <a:r>
              <a:rPr lang="en-US" sz="1100" b="1" dirty="0">
                <a:solidFill>
                  <a:schemeClr val="bg1"/>
                </a:solidFill>
              </a:rPr>
              <a:t>Demonstrated</a:t>
            </a:r>
            <a:endParaRPr lang="en-US" sz="1100" dirty="0"/>
          </a:p>
        </p:txBody>
      </p:sp>
      <p:sp>
        <p:nvSpPr>
          <p:cNvPr id="51" name="Text 48"/>
          <p:cNvSpPr txBox="1"/>
          <p:nvPr/>
        </p:nvSpPr>
        <p:spPr>
          <a:xfrm>
            <a:off x="731520" y="5358384"/>
            <a:ext cx="3198266" cy="804672"/>
          </a:xfrm>
          <a:prstGeom prst="rect">
            <a:avLst/>
          </a:prstGeom>
          <a:noFill/>
          <a:ln/>
        </p:spPr>
        <p:txBody>
          <a:bodyPr wrap="square" lIns="0" tIns="0" rIns="0" bIns="0" rtlCol="0" anchor="t"/>
          <a:lstStyle/>
          <a:p>
            <a:pPr indent="0" marL="0">
              <a:buNone/>
            </a:pPr>
            <a:r>
              <a:rPr lang="en-US" sz="1000" dirty="0">
                <a:solidFill>
                  <a:schemeClr val="accent6"/>
                </a:solidFill>
              </a:rPr>
              <a:t>Prototype function, EMC pre-compliance and an MD-13 test licence for 25 units. Units made under MD-13 cannot be sold or used in routine care.</a:t>
            </a:r>
            <a:endParaRPr lang="en-US" sz="1000" dirty="0"/>
          </a:p>
        </p:txBody>
      </p:sp>
      <p:sp>
        <p:nvSpPr>
          <p:cNvPr id="52" name="Status card Next 12–18 months"/>
          <p:cNvSpPr/>
          <p:nvPr/>
        </p:nvSpPr>
        <p:spPr>
          <a:xfrm>
            <a:off x="4313834" y="4846320"/>
            <a:ext cx="3564026" cy="1371600"/>
          </a:xfrm>
          <a:prstGeom prst="roundRect">
            <a:avLst>
              <a:gd name="adj" fmla="val 8000"/>
            </a:avLst>
          </a:prstGeom>
          <a:solidFill>
            <a:schemeClr val="bg1">
              <a:alpha val="10000"/>
            </a:schemeClr>
          </a:solidFill>
          <a:ln w="9525">
            <a:solidFill>
              <a:schemeClr val="accent6"/>
            </a:solidFill>
            <a:prstDash val="solid"/>
          </a:ln>
        </p:spPr>
      </p:sp>
      <p:sp>
        <p:nvSpPr>
          <p:cNvPr id="53" name="Text 50"/>
          <p:cNvSpPr txBox="1"/>
          <p:nvPr/>
        </p:nvSpPr>
        <p:spPr>
          <a:xfrm>
            <a:off x="4496714" y="4974336"/>
            <a:ext cx="1460906" cy="310896"/>
          </a:xfrm>
          <a:prstGeom prst="rect">
            <a:avLst/>
          </a:prstGeom>
          <a:noFill/>
          <a:ln/>
        </p:spPr>
        <p:txBody>
          <a:bodyPr wrap="square" lIns="0" tIns="0" rIns="0" bIns="0" rtlCol="0" anchor="ctr"/>
          <a:lstStyle/>
          <a:p>
            <a:pPr indent="0" marL="0">
              <a:buNone/>
            </a:pPr>
            <a:r>
              <a:rPr lang="en-US" sz="1300" b="1" dirty="0">
                <a:solidFill>
                  <a:schemeClr val="bg1"/>
                </a:solidFill>
              </a:rPr>
              <a:t>Next 12–18 months</a:t>
            </a:r>
            <a:endParaRPr lang="en-US" sz="1300" dirty="0"/>
          </a:p>
        </p:txBody>
      </p:sp>
      <p:sp>
        <p:nvSpPr>
          <p:cNvPr id="54" name="Pill Planned"/>
          <p:cNvSpPr/>
          <p:nvPr/>
        </p:nvSpPr>
        <p:spPr>
          <a:xfrm>
            <a:off x="6003341" y="4974336"/>
            <a:ext cx="1691640" cy="310896"/>
          </a:xfrm>
          <a:prstGeom prst="roundRect">
            <a:avLst>
              <a:gd name="adj" fmla="val 50000"/>
            </a:avLst>
          </a:prstGeom>
          <a:solidFill>
            <a:schemeClr val="tx2"/>
          </a:solidFill>
          <a:ln w="15875">
            <a:solidFill>
              <a:schemeClr val="accent2"/>
            </a:solidFill>
            <a:prstDash val="dash"/>
          </a:ln>
        </p:spPr>
      </p:sp>
      <p:sp>
        <p:nvSpPr>
          <p:cNvPr id="55" name="Text 52"/>
          <p:cNvSpPr txBox="1"/>
          <p:nvPr/>
        </p:nvSpPr>
        <p:spPr>
          <a:xfrm>
            <a:off x="6003341" y="4974336"/>
            <a:ext cx="1691640" cy="310896"/>
          </a:xfrm>
          <a:prstGeom prst="rect">
            <a:avLst/>
          </a:prstGeom>
          <a:noFill/>
          <a:ln/>
        </p:spPr>
        <p:txBody>
          <a:bodyPr wrap="square" lIns="0" tIns="0" rIns="0" bIns="0" rtlCol="0" anchor="ctr"/>
          <a:lstStyle/>
          <a:p>
            <a:pPr algn="ctr" indent="0" marL="0">
              <a:buNone/>
            </a:pPr>
            <a:r>
              <a:rPr lang="en-US" sz="1100" b="1" dirty="0">
                <a:solidFill>
                  <a:schemeClr val="bg1"/>
                </a:solidFill>
              </a:rPr>
              <a:t>Planned</a:t>
            </a:r>
            <a:endParaRPr lang="en-US" sz="1100" dirty="0"/>
          </a:p>
        </p:txBody>
      </p:sp>
      <p:sp>
        <p:nvSpPr>
          <p:cNvPr id="56" name="Text 53"/>
          <p:cNvSpPr txBox="1"/>
          <p:nvPr/>
        </p:nvSpPr>
        <p:spPr>
          <a:xfrm>
            <a:off x="4496714" y="5358384"/>
            <a:ext cx="3198266" cy="804672"/>
          </a:xfrm>
          <a:prstGeom prst="rect">
            <a:avLst/>
          </a:prstGeom>
          <a:noFill/>
          <a:ln/>
        </p:spPr>
        <p:txBody>
          <a:bodyPr wrap="square" lIns="0" tIns="0" rIns="0" bIns="0" rtlCol="0" anchor="t"/>
          <a:lstStyle/>
          <a:p>
            <a:pPr indent="0" marL="0">
              <a:buNone/>
            </a:pPr>
            <a:r>
              <a:rPr lang="en-US" sz="1000" dirty="0">
                <a:solidFill>
                  <a:schemeClr val="accent6"/>
                </a:solidFill>
              </a:rPr>
              <a:t>Ethics approval, MD-23, CTRI, a proof-of-concept study (IDEAL stages 1–2a), then the QMS and an MD-5 application. Not yet funded, approved or permitted.</a:t>
            </a:r>
            <a:endParaRPr lang="en-US" sz="1000" dirty="0"/>
          </a:p>
        </p:txBody>
      </p:sp>
      <p:sp>
        <p:nvSpPr>
          <p:cNvPr id="57" name="Status card Estimates, not facts"/>
          <p:cNvSpPr/>
          <p:nvPr/>
        </p:nvSpPr>
        <p:spPr>
          <a:xfrm>
            <a:off x="8079029" y="4846320"/>
            <a:ext cx="3564026" cy="1371600"/>
          </a:xfrm>
          <a:prstGeom prst="roundRect">
            <a:avLst>
              <a:gd name="adj" fmla="val 8000"/>
            </a:avLst>
          </a:prstGeom>
          <a:solidFill>
            <a:schemeClr val="bg1">
              <a:alpha val="10000"/>
            </a:schemeClr>
          </a:solidFill>
          <a:ln w="9525">
            <a:solidFill>
              <a:schemeClr val="accent6"/>
            </a:solidFill>
            <a:prstDash val="solid"/>
          </a:ln>
        </p:spPr>
      </p:sp>
      <p:sp>
        <p:nvSpPr>
          <p:cNvPr id="58" name="Text 55"/>
          <p:cNvSpPr txBox="1"/>
          <p:nvPr/>
        </p:nvSpPr>
        <p:spPr>
          <a:xfrm>
            <a:off x="8261909" y="4974336"/>
            <a:ext cx="1460906" cy="310896"/>
          </a:xfrm>
          <a:prstGeom prst="rect">
            <a:avLst/>
          </a:prstGeom>
          <a:noFill/>
          <a:ln/>
        </p:spPr>
        <p:txBody>
          <a:bodyPr wrap="square" lIns="0" tIns="0" rIns="0" bIns="0" rtlCol="0" anchor="ctr"/>
          <a:lstStyle/>
          <a:p>
            <a:pPr indent="0" marL="0">
              <a:buNone/>
            </a:pPr>
            <a:r>
              <a:rPr lang="en-US" sz="1300" b="1" dirty="0">
                <a:solidFill>
                  <a:schemeClr val="bg1"/>
                </a:solidFill>
              </a:rPr>
              <a:t>Estimates, not facts</a:t>
            </a:r>
            <a:endParaRPr lang="en-US" sz="1300" dirty="0"/>
          </a:p>
        </p:txBody>
      </p:sp>
      <p:sp>
        <p:nvSpPr>
          <p:cNvPr id="59" name="Pill Estimates"/>
          <p:cNvSpPr/>
          <p:nvPr/>
        </p:nvSpPr>
        <p:spPr>
          <a:xfrm>
            <a:off x="9768535" y="4974336"/>
            <a:ext cx="1691640" cy="310896"/>
          </a:xfrm>
          <a:prstGeom prst="roundRect">
            <a:avLst>
              <a:gd name="adj" fmla="val 50000"/>
            </a:avLst>
          </a:prstGeom>
          <a:solidFill>
            <a:schemeClr val="tx2"/>
          </a:solidFill>
          <a:ln w="15875">
            <a:solidFill>
              <a:schemeClr val="accent3"/>
            </a:solidFill>
            <a:prstDash val="solid"/>
          </a:ln>
        </p:spPr>
      </p:sp>
      <p:sp>
        <p:nvSpPr>
          <p:cNvPr id="60" name="Text 57"/>
          <p:cNvSpPr txBox="1"/>
          <p:nvPr/>
        </p:nvSpPr>
        <p:spPr>
          <a:xfrm>
            <a:off x="9768535" y="4974336"/>
            <a:ext cx="1691640" cy="310896"/>
          </a:xfrm>
          <a:prstGeom prst="rect">
            <a:avLst/>
          </a:prstGeom>
          <a:noFill/>
          <a:ln/>
        </p:spPr>
        <p:txBody>
          <a:bodyPr wrap="square" lIns="0" tIns="0" rIns="0" bIns="0" rtlCol="0" anchor="ctr"/>
          <a:lstStyle/>
          <a:p>
            <a:pPr algn="ctr" indent="0" marL="0">
              <a:buNone/>
            </a:pPr>
            <a:r>
              <a:rPr lang="en-US" sz="1100" b="1" dirty="0">
                <a:solidFill>
                  <a:schemeClr val="bg1"/>
                </a:solidFill>
              </a:rPr>
              <a:t>Estimates</a:t>
            </a:r>
            <a:endParaRPr lang="en-US" sz="1100" dirty="0"/>
          </a:p>
        </p:txBody>
      </p:sp>
      <p:sp>
        <p:nvSpPr>
          <p:cNvPr id="61" name="Text 58"/>
          <p:cNvSpPr txBox="1"/>
          <p:nvPr/>
        </p:nvSpPr>
        <p:spPr>
          <a:xfrm>
            <a:off x="8261909" y="5358384"/>
            <a:ext cx="3198266" cy="804672"/>
          </a:xfrm>
          <a:prstGeom prst="rect">
            <a:avLst/>
          </a:prstGeom>
          <a:noFill/>
          <a:ln/>
        </p:spPr>
        <p:txBody>
          <a:bodyPr wrap="square" lIns="0" tIns="0" rIns="0" bIns="0" rtlCol="0" anchor="t"/>
          <a:lstStyle/>
          <a:p>
            <a:pPr indent="0" marL="0">
              <a:buNone/>
            </a:pPr>
            <a:r>
              <a:rPr lang="en-US" sz="1000" dirty="0">
                <a:solidFill>
                  <a:schemeClr val="accent6"/>
                </a:solidFill>
              </a:rPr>
              <a:t>Durations and prices are consultancy or developer estimates: MD-5 in 4–5 months; ISO 13485 in 3–6 months for ₹3–8 lakh; planned price ₹27,000 + ₹3–4,000 a year.</a:t>
            </a:r>
            <a:endParaRPr lang="en-US" sz="10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WOULD YOU PROCEED? 3/5 · QUICK QUIZ</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Classify these four devices</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MDR-2017 First Schedule; CDSCO rehabilitation and merged classification lists; consultancy examples (Operon, RegisterKaro, Agile Regulatory, Corpseed); G.S.R. 777(E); NPPA stent prices (Apr 2026); FoGO project material</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sp>
        <p:nvSpPr>
          <p:cNvPr id="12" name="Card Digital thermometer"/>
          <p:cNvSpPr/>
          <p:nvPr/>
        </p:nvSpPr>
        <p:spPr>
          <a:xfrm>
            <a:off x="548640" y="1572768"/>
            <a:ext cx="2622728" cy="2514600"/>
          </a:xfrm>
          <a:prstGeom prst="roundRect">
            <a:avLst>
              <a:gd name="adj" fmla="val 4364"/>
            </a:avLst>
          </a:prstGeom>
          <a:solidFill>
            <a:schemeClr val="bg1">
              <a:alpha val="10000"/>
            </a:schemeClr>
          </a:solidFill>
          <a:ln w="9525">
            <a:solidFill>
              <a:schemeClr val="accent6"/>
            </a:solidFill>
            <a:prstDash val="solid"/>
          </a:ln>
        </p:spPr>
      </p:sp>
      <p:sp>
        <p:nvSpPr>
          <p:cNvPr id="13" name="Icon disc LuThermometer"/>
          <p:cNvSpPr/>
          <p:nvPr/>
        </p:nvSpPr>
        <p:spPr>
          <a:xfrm>
            <a:off x="731520" y="1755648"/>
            <a:ext cx="457200" cy="457200"/>
          </a:xfrm>
          <a:prstGeom prst="ellipse">
            <a:avLst/>
          </a:prstGeom>
          <a:solidFill>
            <a:schemeClr val="accent1"/>
          </a:solidFill>
          <a:ln/>
        </p:spPr>
      </p:sp>
      <p:pic>
        <p:nvPicPr>
          <p:cNvPr id="14" name="Image 0" descr="Thermometer icon">    </p:cNvPr>
          <p:cNvPicPr>
            <a:picLocks noChangeAspect="1"/>
          </p:cNvPicPr>
          <p:nvPr/>
        </p:nvPicPr>
        <p:blipFill>
          <a:blip r:embed="rId1"/>
          <a:stretch>
            <a:fillRect/>
          </a:stretch>
        </p:blipFill>
        <p:spPr>
          <a:xfrm>
            <a:off x="832104" y="1856232"/>
            <a:ext cx="256032" cy="256032"/>
          </a:xfrm>
          <a:prstGeom prst="rect">
            <a:avLst/>
          </a:prstGeom>
        </p:spPr>
      </p:pic>
      <p:sp>
        <p:nvSpPr>
          <p:cNvPr id="15" name="Text 11"/>
          <p:cNvSpPr txBox="1"/>
          <p:nvPr/>
        </p:nvSpPr>
        <p:spPr>
          <a:xfrm>
            <a:off x="1325880" y="1755648"/>
            <a:ext cx="1662608" cy="457200"/>
          </a:xfrm>
          <a:prstGeom prst="rect">
            <a:avLst/>
          </a:prstGeom>
          <a:noFill/>
          <a:ln/>
        </p:spPr>
        <p:txBody>
          <a:bodyPr wrap="square" lIns="0" tIns="0" rIns="0" bIns="0" rtlCol="0" anchor="ctr"/>
          <a:lstStyle/>
          <a:p>
            <a:pPr indent="0" marL="0">
              <a:buNone/>
            </a:pPr>
            <a:r>
              <a:rPr lang="en-US" sz="1300" b="1" dirty="0">
                <a:solidFill>
                  <a:schemeClr val="bg1"/>
                </a:solidFill>
              </a:rPr>
              <a:t>Digital thermometer</a:t>
            </a:r>
            <a:endParaRPr lang="en-US" sz="1300" dirty="0"/>
          </a:p>
        </p:txBody>
      </p:sp>
      <p:sp>
        <p:nvSpPr>
          <p:cNvPr id="16" name="Text 12"/>
          <p:cNvSpPr txBox="1"/>
          <p:nvPr/>
        </p:nvSpPr>
        <p:spPr>
          <a:xfrm>
            <a:off x="731520" y="2322576"/>
            <a:ext cx="2256968" cy="1600200"/>
          </a:xfrm>
          <a:prstGeom prst="rect">
            <a:avLst/>
          </a:prstGeom>
          <a:noFill/>
          <a:ln/>
        </p:spPr>
        <p:txBody>
          <a:bodyPr wrap="square" lIns="0" tIns="0" rIns="0" bIns="0" rtlCol="0" anchor="t"/>
          <a:lstStyle/>
          <a:p>
            <a:pPr marL="127000" indent="-127000">
              <a:spcAft>
                <a:spcPts val="300"/>
              </a:spcAft>
              <a:buSzPct val="100000"/>
              <a:buChar char="•"/>
            </a:pPr>
            <a:r>
              <a:rPr lang="en-US" sz="1100" dirty="0">
                <a:solidFill>
                  <a:schemeClr val="accent6"/>
                </a:solidFill>
              </a:rPr>
              <a:t>Measures body temperature at home</a:t>
            </a:r>
            <a:endParaRPr lang="en-US" sz="1100" dirty="0"/>
          </a:p>
          <a:p>
            <a:pPr marL="127000" indent="-127000">
              <a:spcAft>
                <a:spcPts val="300"/>
              </a:spcAft>
              <a:buSzPct val="100000"/>
              <a:buChar char="•"/>
            </a:pPr>
            <a:r>
              <a:rPr lang="en-US" sz="1100" dirty="0">
                <a:solidFill>
                  <a:schemeClr val="accent6"/>
                </a:solidFill>
              </a:rPr>
              <a:t>Battery powered; a display, no app</a:t>
            </a:r>
            <a:endParaRPr lang="en-US" sz="1100" dirty="0"/>
          </a:p>
          <a:p>
            <a:pPr marL="127000" indent="-127000">
              <a:spcAft>
                <a:spcPts val="300"/>
              </a:spcAft>
              <a:buSzPct val="100000"/>
              <a:buChar char="•"/>
            </a:pPr>
            <a:r>
              <a:rPr lang="en-US" sz="1100" dirty="0">
                <a:solidFill>
                  <a:schemeClr val="accent6"/>
                </a:solidFill>
              </a:rPr>
              <a:t>Notified as a 'drug' from 1 Jan 2021</a:t>
            </a:r>
            <a:endParaRPr lang="en-US" sz="1100" dirty="0"/>
          </a:p>
          <a:p>
            <a:pPr marL="127000" indent="-127000">
              <a:spcAft>
                <a:spcPts val="300"/>
              </a:spcAft>
              <a:buSzPct val="100000"/>
              <a:buChar char="•"/>
            </a:pPr>
            <a:r>
              <a:rPr lang="en-US" sz="1100" dirty="0">
                <a:solidFill>
                  <a:schemeClr val="accent6"/>
                </a:solidFill>
              </a:rPr>
              <a:t>NPPA trade-margin cap since Jul 2021</a:t>
            </a:r>
            <a:endParaRPr lang="en-US" sz="1100" dirty="0"/>
          </a:p>
        </p:txBody>
      </p:sp>
      <p:sp>
        <p:nvSpPr>
          <p:cNvPr id="17" name="Card PEMF knee device"/>
          <p:cNvSpPr/>
          <p:nvPr/>
        </p:nvSpPr>
        <p:spPr>
          <a:xfrm>
            <a:off x="3372536" y="1572768"/>
            <a:ext cx="2622728" cy="2514600"/>
          </a:xfrm>
          <a:prstGeom prst="roundRect">
            <a:avLst>
              <a:gd name="adj" fmla="val 4364"/>
            </a:avLst>
          </a:prstGeom>
          <a:solidFill>
            <a:schemeClr val="bg1">
              <a:alpha val="10000"/>
            </a:schemeClr>
          </a:solidFill>
          <a:ln w="9525">
            <a:solidFill>
              <a:schemeClr val="accent6"/>
            </a:solidFill>
            <a:prstDash val="solid"/>
          </a:ln>
        </p:spPr>
      </p:sp>
      <p:sp>
        <p:nvSpPr>
          <p:cNvPr id="18" name="Icon disc LuMagnet"/>
          <p:cNvSpPr/>
          <p:nvPr/>
        </p:nvSpPr>
        <p:spPr>
          <a:xfrm>
            <a:off x="3555416" y="1755648"/>
            <a:ext cx="457200" cy="457200"/>
          </a:xfrm>
          <a:prstGeom prst="ellipse">
            <a:avLst/>
          </a:prstGeom>
          <a:solidFill>
            <a:schemeClr val="accent2"/>
          </a:solidFill>
          <a:ln/>
        </p:spPr>
      </p:sp>
      <p:pic>
        <p:nvPicPr>
          <p:cNvPr id="19" name="Image 1" descr="Magnet icon">    </p:cNvPr>
          <p:cNvPicPr>
            <a:picLocks noChangeAspect="1"/>
          </p:cNvPicPr>
          <p:nvPr/>
        </p:nvPicPr>
        <p:blipFill>
          <a:blip r:embed="rId2"/>
          <a:stretch>
            <a:fillRect/>
          </a:stretch>
        </p:blipFill>
        <p:spPr>
          <a:xfrm>
            <a:off x="3656000" y="1856232"/>
            <a:ext cx="256032" cy="256032"/>
          </a:xfrm>
          <a:prstGeom prst="rect">
            <a:avLst/>
          </a:prstGeom>
        </p:spPr>
      </p:pic>
      <p:sp>
        <p:nvSpPr>
          <p:cNvPr id="20" name="Text 15"/>
          <p:cNvSpPr txBox="1"/>
          <p:nvPr/>
        </p:nvSpPr>
        <p:spPr>
          <a:xfrm>
            <a:off x="4149776" y="1755648"/>
            <a:ext cx="1662608" cy="457200"/>
          </a:xfrm>
          <a:prstGeom prst="rect">
            <a:avLst/>
          </a:prstGeom>
          <a:noFill/>
          <a:ln/>
        </p:spPr>
        <p:txBody>
          <a:bodyPr wrap="square" lIns="0" tIns="0" rIns="0" bIns="0" rtlCol="0" anchor="ctr"/>
          <a:lstStyle/>
          <a:p>
            <a:pPr indent="0" marL="0">
              <a:buNone/>
            </a:pPr>
            <a:r>
              <a:rPr lang="en-US" sz="1300" b="1" dirty="0">
                <a:solidFill>
                  <a:schemeClr val="bg1"/>
                </a:solidFill>
              </a:rPr>
              <a:t>PEMF knee device</a:t>
            </a:r>
            <a:endParaRPr lang="en-US" sz="1300" dirty="0"/>
          </a:p>
        </p:txBody>
      </p:sp>
      <p:sp>
        <p:nvSpPr>
          <p:cNvPr id="21" name="Text 16"/>
          <p:cNvSpPr txBox="1"/>
          <p:nvPr/>
        </p:nvSpPr>
        <p:spPr>
          <a:xfrm>
            <a:off x="3555416" y="2322576"/>
            <a:ext cx="2256968" cy="1600200"/>
          </a:xfrm>
          <a:prstGeom prst="rect">
            <a:avLst/>
          </a:prstGeom>
          <a:noFill/>
          <a:ln/>
        </p:spPr>
        <p:txBody>
          <a:bodyPr wrap="square" lIns="0" tIns="0" rIns="0" bIns="0" rtlCol="0" anchor="t"/>
          <a:lstStyle/>
          <a:p>
            <a:pPr marL="127000" indent="-127000">
              <a:spcAft>
                <a:spcPts val="300"/>
              </a:spcAft>
              <a:buSzPct val="100000"/>
              <a:buChar char="•"/>
            </a:pPr>
            <a:r>
              <a:rPr lang="en-US" sz="1100" dirty="0">
                <a:solidFill>
                  <a:schemeClr val="accent6"/>
                </a:solidFill>
              </a:rPr>
              <a:t>Pulsed electromagnetic field to the knee</a:t>
            </a:r>
            <a:endParaRPr lang="en-US" sz="1100" dirty="0"/>
          </a:p>
          <a:p>
            <a:pPr marL="127000" indent="-127000">
              <a:spcAft>
                <a:spcPts val="300"/>
              </a:spcAft>
              <a:buSzPct val="100000"/>
              <a:buChar char="•"/>
            </a:pPr>
            <a:r>
              <a:rPr lang="en-US" sz="1100" dirty="0">
                <a:solidFill>
                  <a:schemeClr val="accent6"/>
                </a:solidFill>
              </a:rPr>
              <a:t>45-minute sessions at home (leaflet)</a:t>
            </a:r>
            <a:endParaRPr lang="en-US" sz="1100" dirty="0"/>
          </a:p>
          <a:p>
            <a:pPr marL="127000" indent="-127000">
              <a:spcAft>
                <a:spcPts val="300"/>
              </a:spcAft>
              <a:buSzPct val="100000"/>
              <a:buChar char="•"/>
            </a:pPr>
            <a:r>
              <a:rPr lang="en-US" sz="1100" dirty="0">
                <a:solidFill>
                  <a:schemeClr val="accent6"/>
                </a:solidFill>
              </a:rPr>
              <a:t>Applicator plus mains-powered controller</a:t>
            </a:r>
            <a:endParaRPr lang="en-US" sz="1100" dirty="0"/>
          </a:p>
          <a:p>
            <a:pPr marL="127000" indent="-127000">
              <a:spcAft>
                <a:spcPts val="300"/>
              </a:spcAft>
              <a:buSzPct val="100000"/>
              <a:buChar char="•"/>
            </a:pPr>
            <a:r>
              <a:rPr lang="en-US" sz="1100" dirty="0">
                <a:solidFill>
                  <a:schemeClr val="accent6"/>
                </a:solidFill>
              </a:rPr>
              <a:t>Leaflet: adjunct for knee osteoarthritis</a:t>
            </a:r>
            <a:endParaRPr lang="en-US" sz="1100" dirty="0"/>
          </a:p>
        </p:txBody>
      </p:sp>
      <p:sp>
        <p:nvSpPr>
          <p:cNvPr id="22" name="Card Wearable + app that cues"/>
          <p:cNvSpPr/>
          <p:nvPr/>
        </p:nvSpPr>
        <p:spPr>
          <a:xfrm>
            <a:off x="6196432" y="1572768"/>
            <a:ext cx="2622728" cy="2514600"/>
          </a:xfrm>
          <a:prstGeom prst="roundRect">
            <a:avLst>
              <a:gd name="adj" fmla="val 4364"/>
            </a:avLst>
          </a:prstGeom>
          <a:solidFill>
            <a:schemeClr val="bg1">
              <a:alpha val="10000"/>
            </a:schemeClr>
          </a:solidFill>
          <a:ln w="9525">
            <a:solidFill>
              <a:schemeClr val="accent6"/>
            </a:solidFill>
            <a:prstDash val="solid"/>
          </a:ln>
        </p:spPr>
      </p:sp>
      <p:sp>
        <p:nvSpPr>
          <p:cNvPr id="23" name="Icon disc LuWatch"/>
          <p:cNvSpPr/>
          <p:nvPr/>
        </p:nvSpPr>
        <p:spPr>
          <a:xfrm>
            <a:off x="6379312" y="1755648"/>
            <a:ext cx="457200" cy="457200"/>
          </a:xfrm>
          <a:prstGeom prst="ellipse">
            <a:avLst/>
          </a:prstGeom>
          <a:solidFill>
            <a:schemeClr val="accent2"/>
          </a:solidFill>
          <a:ln/>
        </p:spPr>
      </p:sp>
      <p:pic>
        <p:nvPicPr>
          <p:cNvPr id="24" name="Image 2" descr="Watch icon">    </p:cNvPr>
          <p:cNvPicPr>
            <a:picLocks noChangeAspect="1"/>
          </p:cNvPicPr>
          <p:nvPr/>
        </p:nvPicPr>
        <p:blipFill>
          <a:blip r:embed="rId3"/>
          <a:stretch>
            <a:fillRect/>
          </a:stretch>
        </p:blipFill>
        <p:spPr>
          <a:xfrm>
            <a:off x="6479896" y="1856232"/>
            <a:ext cx="256032" cy="256032"/>
          </a:xfrm>
          <a:prstGeom prst="rect">
            <a:avLst/>
          </a:prstGeom>
        </p:spPr>
      </p:pic>
      <p:sp>
        <p:nvSpPr>
          <p:cNvPr id="25" name="Text 19"/>
          <p:cNvSpPr txBox="1"/>
          <p:nvPr/>
        </p:nvSpPr>
        <p:spPr>
          <a:xfrm>
            <a:off x="6973672" y="1755648"/>
            <a:ext cx="1662608" cy="457200"/>
          </a:xfrm>
          <a:prstGeom prst="rect">
            <a:avLst/>
          </a:prstGeom>
          <a:noFill/>
          <a:ln/>
        </p:spPr>
        <p:txBody>
          <a:bodyPr wrap="square" lIns="0" tIns="0" rIns="0" bIns="0" rtlCol="0" anchor="ctr"/>
          <a:lstStyle/>
          <a:p>
            <a:pPr indent="0" marL="0">
              <a:buNone/>
            </a:pPr>
            <a:r>
              <a:rPr lang="en-US" sz="1300" b="1" dirty="0">
                <a:solidFill>
                  <a:schemeClr val="bg1"/>
                </a:solidFill>
              </a:rPr>
              <a:t>Wearable + app that cues</a:t>
            </a:r>
            <a:endParaRPr lang="en-US" sz="1300" dirty="0"/>
          </a:p>
        </p:txBody>
      </p:sp>
      <p:sp>
        <p:nvSpPr>
          <p:cNvPr id="26" name="Text 20"/>
          <p:cNvSpPr txBox="1"/>
          <p:nvPr/>
        </p:nvSpPr>
        <p:spPr>
          <a:xfrm>
            <a:off x="6379312" y="2322576"/>
            <a:ext cx="2256968" cy="1600200"/>
          </a:xfrm>
          <a:prstGeom prst="rect">
            <a:avLst/>
          </a:prstGeom>
          <a:noFill/>
          <a:ln/>
        </p:spPr>
        <p:txBody>
          <a:bodyPr wrap="square" lIns="0" tIns="0" rIns="0" bIns="0" rtlCol="0" anchor="t"/>
          <a:lstStyle/>
          <a:p>
            <a:pPr marL="127000" indent="-127000">
              <a:spcAft>
                <a:spcPts val="300"/>
              </a:spcAft>
              <a:buSzPct val="100000"/>
              <a:buChar char="•"/>
            </a:pPr>
            <a:r>
              <a:rPr lang="en-US" sz="1100" dirty="0">
                <a:solidFill>
                  <a:schemeClr val="accent6"/>
                </a:solidFill>
              </a:rPr>
              <a:t>Ankle sensor streams to a phone app</a:t>
            </a:r>
            <a:endParaRPr lang="en-US" sz="1100" dirty="0"/>
          </a:p>
          <a:p>
            <a:pPr marL="127000" indent="-127000">
              <a:spcAft>
                <a:spcPts val="300"/>
              </a:spcAft>
              <a:buSzPct val="100000"/>
              <a:buChar char="•"/>
            </a:pPr>
            <a:r>
              <a:rPr lang="en-US" sz="1100" dirty="0">
                <a:solidFill>
                  <a:schemeClr val="accent6"/>
                </a:solidFill>
              </a:rPr>
              <a:t>App detects freezing of gait</a:t>
            </a:r>
            <a:endParaRPr lang="en-US" sz="1100" dirty="0"/>
          </a:p>
          <a:p>
            <a:pPr marL="127000" indent="-127000">
              <a:spcAft>
                <a:spcPts val="300"/>
              </a:spcAft>
              <a:buSzPct val="100000"/>
              <a:buChar char="•"/>
            </a:pPr>
            <a:r>
              <a:rPr lang="en-US" sz="1100" dirty="0">
                <a:solidFill>
                  <a:schemeClr val="accent6"/>
                </a:solidFill>
              </a:rPr>
              <a:t>Chest module vibrates a cue</a:t>
            </a:r>
            <a:endParaRPr lang="en-US" sz="1100" dirty="0"/>
          </a:p>
          <a:p>
            <a:pPr marL="127000" indent="-127000">
              <a:spcAft>
                <a:spcPts val="300"/>
              </a:spcAft>
              <a:buSzPct val="100000"/>
              <a:buChar char="•"/>
            </a:pPr>
            <a:r>
              <a:rPr lang="en-US" sz="1100" dirty="0">
                <a:solidFill>
                  <a:schemeClr val="accent6"/>
                </a:solidFill>
              </a:rPr>
              <a:t>Holds an MD-13 test licence for 25 units</a:t>
            </a:r>
            <a:endParaRPr lang="en-US" sz="1100" dirty="0"/>
          </a:p>
        </p:txBody>
      </p:sp>
      <p:sp>
        <p:nvSpPr>
          <p:cNvPr id="27" name="Card Coronary stent"/>
          <p:cNvSpPr/>
          <p:nvPr/>
        </p:nvSpPr>
        <p:spPr>
          <a:xfrm>
            <a:off x="9020327" y="1572768"/>
            <a:ext cx="2622728" cy="2514600"/>
          </a:xfrm>
          <a:prstGeom prst="roundRect">
            <a:avLst>
              <a:gd name="adj" fmla="val 4364"/>
            </a:avLst>
          </a:prstGeom>
          <a:solidFill>
            <a:schemeClr val="bg1">
              <a:alpha val="10000"/>
            </a:schemeClr>
          </a:solidFill>
          <a:ln w="9525">
            <a:solidFill>
              <a:schemeClr val="accent6"/>
            </a:solidFill>
            <a:prstDash val="solid"/>
          </a:ln>
        </p:spPr>
      </p:sp>
      <p:sp>
        <p:nvSpPr>
          <p:cNvPr id="28" name="Icon disc LuHeartPulse"/>
          <p:cNvSpPr/>
          <p:nvPr/>
        </p:nvSpPr>
        <p:spPr>
          <a:xfrm>
            <a:off x="9203207" y="1755648"/>
            <a:ext cx="457200" cy="457200"/>
          </a:xfrm>
          <a:prstGeom prst="ellipse">
            <a:avLst/>
          </a:prstGeom>
          <a:solidFill>
            <a:schemeClr val="accent3"/>
          </a:solidFill>
          <a:ln/>
        </p:spPr>
      </p:sp>
      <p:pic>
        <p:nvPicPr>
          <p:cNvPr id="29" name="Image 3" descr="HeartPulse icon">    </p:cNvPr>
          <p:cNvPicPr>
            <a:picLocks noChangeAspect="1"/>
          </p:cNvPicPr>
          <p:nvPr/>
        </p:nvPicPr>
        <p:blipFill>
          <a:blip r:embed="rId4"/>
          <a:stretch>
            <a:fillRect/>
          </a:stretch>
        </p:blipFill>
        <p:spPr>
          <a:xfrm>
            <a:off x="9303791" y="1856232"/>
            <a:ext cx="256032" cy="256032"/>
          </a:xfrm>
          <a:prstGeom prst="rect">
            <a:avLst/>
          </a:prstGeom>
        </p:spPr>
      </p:pic>
      <p:sp>
        <p:nvSpPr>
          <p:cNvPr id="30" name="Text 23"/>
          <p:cNvSpPr txBox="1"/>
          <p:nvPr/>
        </p:nvSpPr>
        <p:spPr>
          <a:xfrm>
            <a:off x="9797567" y="1755648"/>
            <a:ext cx="1662608" cy="457200"/>
          </a:xfrm>
          <a:prstGeom prst="rect">
            <a:avLst/>
          </a:prstGeom>
          <a:noFill/>
          <a:ln/>
        </p:spPr>
        <p:txBody>
          <a:bodyPr wrap="square" lIns="0" tIns="0" rIns="0" bIns="0" rtlCol="0" anchor="ctr"/>
          <a:lstStyle/>
          <a:p>
            <a:pPr indent="0" marL="0">
              <a:buNone/>
            </a:pPr>
            <a:r>
              <a:rPr lang="en-US" sz="1300" b="1" dirty="0">
                <a:solidFill>
                  <a:schemeClr val="bg1"/>
                </a:solidFill>
              </a:rPr>
              <a:t>Coronary stent</a:t>
            </a:r>
            <a:endParaRPr lang="en-US" sz="1300" dirty="0"/>
          </a:p>
        </p:txBody>
      </p:sp>
      <p:sp>
        <p:nvSpPr>
          <p:cNvPr id="31" name="Text 24"/>
          <p:cNvSpPr txBox="1"/>
          <p:nvPr/>
        </p:nvSpPr>
        <p:spPr>
          <a:xfrm>
            <a:off x="9203207" y="2322576"/>
            <a:ext cx="2256968" cy="1600200"/>
          </a:xfrm>
          <a:prstGeom prst="rect">
            <a:avLst/>
          </a:prstGeom>
          <a:noFill/>
          <a:ln/>
        </p:spPr>
        <p:txBody>
          <a:bodyPr wrap="square" lIns="0" tIns="0" rIns="0" bIns="0" rtlCol="0" anchor="t"/>
          <a:lstStyle/>
          <a:p>
            <a:pPr marL="127000" indent="-127000">
              <a:spcAft>
                <a:spcPts val="300"/>
              </a:spcAft>
              <a:buSzPct val="100000"/>
              <a:buChar char="•"/>
            </a:pPr>
            <a:r>
              <a:rPr lang="en-US" sz="1100" dirty="0">
                <a:solidFill>
                  <a:schemeClr val="accent6"/>
                </a:solidFill>
              </a:rPr>
              <a:t>Implanted in a coronary artery</a:t>
            </a:r>
            <a:endParaRPr lang="en-US" sz="1100" dirty="0"/>
          </a:p>
          <a:p>
            <a:pPr marL="127000" indent="-127000">
              <a:spcAft>
                <a:spcPts val="300"/>
              </a:spcAft>
              <a:buSzPct val="100000"/>
              <a:buChar char="•"/>
            </a:pPr>
            <a:r>
              <a:rPr lang="en-US" sz="1100" dirty="0">
                <a:solidFill>
                  <a:schemeClr val="accent6"/>
                </a:solidFill>
              </a:rPr>
              <a:t>Stays in the body permanently</a:t>
            </a:r>
            <a:endParaRPr lang="en-US" sz="1100" dirty="0"/>
          </a:p>
          <a:p>
            <a:pPr marL="127000" indent="-127000">
              <a:spcAft>
                <a:spcPts val="300"/>
              </a:spcAft>
              <a:buSzPct val="100000"/>
              <a:buChar char="•"/>
            </a:pPr>
            <a:r>
              <a:rPr lang="en-US" sz="1100" dirty="0">
                <a:solidFill>
                  <a:schemeClr val="accent6"/>
                </a:solidFill>
              </a:rPr>
              <a:t>Drug-eluting; NPPA ceiling price</a:t>
            </a:r>
            <a:endParaRPr lang="en-US" sz="1100" dirty="0"/>
          </a:p>
          <a:p>
            <a:pPr marL="127000" indent="-127000">
              <a:spcAft>
                <a:spcPts val="300"/>
              </a:spcAft>
              <a:buSzPct val="100000"/>
              <a:buChar char="•"/>
            </a:pPr>
            <a:r>
              <a:rPr lang="en-US" sz="1100" dirty="0">
                <a:solidFill>
                  <a:schemeClr val="accent6"/>
                </a:solidFill>
              </a:rPr>
              <a:t>Notified before 2020: licensed since 2018</a:t>
            </a:r>
            <a:endParaRPr lang="en-US" sz="1100" dirty="0"/>
          </a:p>
        </p:txBody>
      </p:sp>
      <p:sp>
        <p:nvSpPr>
          <p:cNvPr id="32" name="Text 25"/>
          <p:cNvSpPr txBox="1"/>
          <p:nvPr/>
        </p:nvSpPr>
        <p:spPr>
          <a:xfrm>
            <a:off x="548640" y="4224528"/>
            <a:ext cx="5486400" cy="201168"/>
          </a:xfrm>
          <a:prstGeom prst="rect">
            <a:avLst/>
          </a:prstGeom>
          <a:noFill/>
          <a:ln/>
        </p:spPr>
        <p:txBody>
          <a:bodyPr wrap="square" lIns="0" tIns="0" rIns="0" bIns="0" rtlCol="0" anchor="t"/>
          <a:lstStyle/>
          <a:p>
            <a:pPr indent="0" marL="0">
              <a:buNone/>
            </a:pPr>
            <a:r>
              <a:rPr lang="en-US" sz="950" b="1" spc="150" kern="0" dirty="0">
                <a:solidFill>
                  <a:schemeClr val="accent2"/>
                </a:solidFill>
              </a:rPr>
              <a:t>THREE QUESTIONS THAT DECIDE IT</a:t>
            </a:r>
            <a:endParaRPr lang="en-US" sz="950" dirty="0"/>
          </a:p>
        </p:txBody>
      </p:sp>
      <p:sp>
        <p:nvSpPr>
          <p:cNvPr id="33" name="Icon disc LuSyringe"/>
          <p:cNvSpPr/>
          <p:nvPr/>
        </p:nvSpPr>
        <p:spPr>
          <a:xfrm>
            <a:off x="548640" y="4480560"/>
            <a:ext cx="402336" cy="402336"/>
          </a:xfrm>
          <a:prstGeom prst="ellipse">
            <a:avLst/>
          </a:prstGeom>
          <a:solidFill>
            <a:schemeClr val="accent6"/>
          </a:solidFill>
          <a:ln/>
        </p:spPr>
      </p:sp>
      <p:pic>
        <p:nvPicPr>
          <p:cNvPr id="34" name="Image 4" descr="Syringe icon">    </p:cNvPr>
          <p:cNvPicPr>
            <a:picLocks noChangeAspect="1"/>
          </p:cNvPicPr>
          <p:nvPr/>
        </p:nvPicPr>
        <p:blipFill>
          <a:blip r:embed="rId5"/>
          <a:stretch>
            <a:fillRect/>
          </a:stretch>
        </p:blipFill>
        <p:spPr>
          <a:xfrm>
            <a:off x="637154" y="4569074"/>
            <a:ext cx="225308" cy="225308"/>
          </a:xfrm>
          <a:prstGeom prst="rect">
            <a:avLst/>
          </a:prstGeom>
        </p:spPr>
      </p:pic>
      <p:sp>
        <p:nvSpPr>
          <p:cNvPr id="35" name="Text 27"/>
          <p:cNvSpPr txBox="1"/>
          <p:nvPr/>
        </p:nvSpPr>
        <p:spPr>
          <a:xfrm>
            <a:off x="1060704" y="4443984"/>
            <a:ext cx="3015386" cy="566928"/>
          </a:xfrm>
          <a:prstGeom prst="rect">
            <a:avLst/>
          </a:prstGeom>
          <a:noFill/>
          <a:ln/>
        </p:spPr>
        <p:txBody>
          <a:bodyPr wrap="square" lIns="0" tIns="0" rIns="0" bIns="0" rtlCol="0" anchor="t"/>
          <a:lstStyle/>
          <a:p>
            <a:pPr indent="0" marL="0">
              <a:buNone/>
            </a:pPr>
            <a:r>
              <a:rPr lang="en-US" sz="1000" dirty="0">
                <a:solidFill>
                  <a:schemeClr val="bg1"/>
                </a:solidFill>
              </a:rPr>
              <a:t>Does it enter the body, and for how long? Intact skin, body orifice, surgery; transient, short or long term.</a:t>
            </a:r>
            <a:endParaRPr lang="en-US" sz="1000" dirty="0"/>
          </a:p>
        </p:txBody>
      </p:sp>
      <p:sp>
        <p:nvSpPr>
          <p:cNvPr id="36" name="Icon disc LuZap"/>
          <p:cNvSpPr/>
          <p:nvPr/>
        </p:nvSpPr>
        <p:spPr>
          <a:xfrm>
            <a:off x="4313834" y="4480560"/>
            <a:ext cx="402336" cy="402336"/>
          </a:xfrm>
          <a:prstGeom prst="ellipse">
            <a:avLst/>
          </a:prstGeom>
          <a:solidFill>
            <a:schemeClr val="accent6"/>
          </a:solidFill>
          <a:ln/>
        </p:spPr>
      </p:sp>
      <p:pic>
        <p:nvPicPr>
          <p:cNvPr id="37" name="Image 5" descr="Zap icon">    </p:cNvPr>
          <p:cNvPicPr>
            <a:picLocks noChangeAspect="1"/>
          </p:cNvPicPr>
          <p:nvPr/>
        </p:nvPicPr>
        <p:blipFill>
          <a:blip r:embed="rId6"/>
          <a:stretch>
            <a:fillRect/>
          </a:stretch>
        </p:blipFill>
        <p:spPr>
          <a:xfrm>
            <a:off x="4402348" y="4569074"/>
            <a:ext cx="225308" cy="225308"/>
          </a:xfrm>
          <a:prstGeom prst="rect">
            <a:avLst/>
          </a:prstGeom>
        </p:spPr>
      </p:pic>
      <p:sp>
        <p:nvSpPr>
          <p:cNvPr id="38" name="Text 29"/>
          <p:cNvSpPr txBox="1"/>
          <p:nvPr/>
        </p:nvSpPr>
        <p:spPr>
          <a:xfrm>
            <a:off x="4825898" y="4443984"/>
            <a:ext cx="3015386" cy="566928"/>
          </a:xfrm>
          <a:prstGeom prst="rect">
            <a:avLst/>
          </a:prstGeom>
          <a:noFill/>
          <a:ln/>
        </p:spPr>
        <p:txBody>
          <a:bodyPr wrap="square" lIns="0" tIns="0" rIns="0" bIns="0" rtlCol="0" anchor="t"/>
          <a:lstStyle/>
          <a:p>
            <a:pPr indent="0" marL="0">
              <a:buNone/>
            </a:pPr>
            <a:r>
              <a:rPr lang="en-US" sz="1000" dirty="0">
                <a:solidFill>
                  <a:schemeClr val="bg1"/>
                </a:solidFill>
              </a:rPr>
              <a:t>Is it active? Energy delivered, software driving an action, monitoring of vital physiological processes.</a:t>
            </a:r>
            <a:endParaRPr lang="en-US" sz="1000" dirty="0"/>
          </a:p>
        </p:txBody>
      </p:sp>
      <p:sp>
        <p:nvSpPr>
          <p:cNvPr id="39" name="Icon disc LuTag"/>
          <p:cNvSpPr/>
          <p:nvPr/>
        </p:nvSpPr>
        <p:spPr>
          <a:xfrm>
            <a:off x="8079029" y="4480560"/>
            <a:ext cx="402336" cy="402336"/>
          </a:xfrm>
          <a:prstGeom prst="ellipse">
            <a:avLst/>
          </a:prstGeom>
          <a:solidFill>
            <a:schemeClr val="accent6"/>
          </a:solidFill>
          <a:ln/>
        </p:spPr>
      </p:sp>
      <p:pic>
        <p:nvPicPr>
          <p:cNvPr id="40" name="Image 6" descr="Tag icon">    </p:cNvPr>
          <p:cNvPicPr>
            <a:picLocks noChangeAspect="1"/>
          </p:cNvPicPr>
          <p:nvPr/>
        </p:nvPicPr>
        <p:blipFill>
          <a:blip r:embed="rId7"/>
          <a:stretch>
            <a:fillRect/>
          </a:stretch>
        </p:blipFill>
        <p:spPr>
          <a:xfrm>
            <a:off x="8167543" y="4569074"/>
            <a:ext cx="225308" cy="225308"/>
          </a:xfrm>
          <a:prstGeom prst="rect">
            <a:avLst/>
          </a:prstGeom>
        </p:spPr>
      </p:pic>
      <p:sp>
        <p:nvSpPr>
          <p:cNvPr id="41" name="Text 31"/>
          <p:cNvSpPr txBox="1"/>
          <p:nvPr/>
        </p:nvSpPr>
        <p:spPr>
          <a:xfrm>
            <a:off x="8591093" y="4443984"/>
            <a:ext cx="3015386" cy="566928"/>
          </a:xfrm>
          <a:prstGeom prst="rect">
            <a:avLst/>
          </a:prstGeom>
          <a:noFill/>
          <a:ln/>
        </p:spPr>
        <p:txBody>
          <a:bodyPr wrap="square" lIns="0" tIns="0" rIns="0" bIns="0" rtlCol="0" anchor="t"/>
          <a:lstStyle/>
          <a:p>
            <a:pPr indent="0" marL="0">
              <a:buNone/>
            </a:pPr>
            <a:r>
              <a:rPr lang="en-US" sz="1000" dirty="0">
                <a:solidFill>
                  <a:schemeClr val="bg1"/>
                </a:solidFill>
              </a:rPr>
              <a:t>What does the label claim? Intended use fixes the class, the authority and the evidence.</a:t>
            </a:r>
            <a:endParaRPr lang="en-US" sz="1000" dirty="0"/>
          </a:p>
        </p:txBody>
      </p:sp>
      <p:sp>
        <p:nvSpPr>
          <p:cNvPr id="42" name="Badge A"/>
          <p:cNvSpPr/>
          <p:nvPr/>
        </p:nvSpPr>
        <p:spPr>
          <a:xfrm>
            <a:off x="548640" y="5193792"/>
            <a:ext cx="384048" cy="384048"/>
          </a:xfrm>
          <a:prstGeom prst="ellipse">
            <a:avLst/>
          </a:prstGeom>
          <a:solidFill>
            <a:srgbClr val="3C9D6A"/>
          </a:solidFill>
          <a:ln/>
        </p:spPr>
      </p:sp>
      <p:sp>
        <p:nvSpPr>
          <p:cNvPr id="43" name="Text 33"/>
          <p:cNvSpPr txBox="1"/>
          <p:nvPr/>
        </p:nvSpPr>
        <p:spPr>
          <a:xfrm>
            <a:off x="548640" y="519379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44" name="Text 34"/>
          <p:cNvSpPr txBox="1"/>
          <p:nvPr/>
        </p:nvSpPr>
        <p:spPr>
          <a:xfrm>
            <a:off x="1024128" y="5175504"/>
            <a:ext cx="2133524" cy="420624"/>
          </a:xfrm>
          <a:prstGeom prst="rect">
            <a:avLst/>
          </a:prstGeom>
          <a:noFill/>
          <a:ln/>
        </p:spPr>
        <p:txBody>
          <a:bodyPr wrap="square" lIns="0" tIns="0" rIns="0" bIns="0" rtlCol="0" anchor="ctr"/>
          <a:lstStyle/>
          <a:p>
            <a:pPr indent="0" marL="0">
              <a:buNone/>
            </a:pPr>
            <a:r>
              <a:rPr lang="en-US" sz="950" dirty="0">
                <a:solidFill>
                  <a:schemeClr val="accent6"/>
                </a:solidFill>
              </a:rPr>
              <a:t>Registration only if non-sterile, non-measuring; else State MD-5</a:t>
            </a:r>
            <a:endParaRPr lang="en-US" sz="950" dirty="0"/>
          </a:p>
        </p:txBody>
      </p:sp>
      <p:sp>
        <p:nvSpPr>
          <p:cNvPr id="45" name="Badge B"/>
          <p:cNvSpPr/>
          <p:nvPr/>
        </p:nvSpPr>
        <p:spPr>
          <a:xfrm>
            <a:off x="3367964" y="5193792"/>
            <a:ext cx="384048" cy="384048"/>
          </a:xfrm>
          <a:prstGeom prst="ellipse">
            <a:avLst/>
          </a:prstGeom>
          <a:solidFill>
            <a:srgbClr val="0F7C74"/>
          </a:solidFill>
          <a:ln/>
        </p:spPr>
      </p:sp>
      <p:sp>
        <p:nvSpPr>
          <p:cNvPr id="46" name="Text 36"/>
          <p:cNvSpPr txBox="1"/>
          <p:nvPr/>
        </p:nvSpPr>
        <p:spPr>
          <a:xfrm>
            <a:off x="3367964" y="519379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47" name="Text 37"/>
          <p:cNvSpPr txBox="1"/>
          <p:nvPr/>
        </p:nvSpPr>
        <p:spPr>
          <a:xfrm>
            <a:off x="3843452" y="5175504"/>
            <a:ext cx="2133524" cy="420624"/>
          </a:xfrm>
          <a:prstGeom prst="rect">
            <a:avLst/>
          </a:prstGeom>
          <a:noFill/>
          <a:ln/>
        </p:spPr>
        <p:txBody>
          <a:bodyPr wrap="square" lIns="0" tIns="0" rIns="0" bIns="0" rtlCol="0" anchor="ctr"/>
          <a:lstStyle/>
          <a:p>
            <a:pPr indent="0" marL="0">
              <a:buNone/>
            </a:pPr>
            <a:r>
              <a:rPr lang="en-US" sz="950" dirty="0">
                <a:solidFill>
                  <a:schemeClr val="accent6"/>
                </a:solidFill>
              </a:rPr>
              <a:t>State Licensing Authority · MD-3 → MD-5</a:t>
            </a:r>
            <a:endParaRPr lang="en-US" sz="950" dirty="0"/>
          </a:p>
        </p:txBody>
      </p:sp>
      <p:sp>
        <p:nvSpPr>
          <p:cNvPr id="48" name="Badge C"/>
          <p:cNvSpPr/>
          <p:nvPr/>
        </p:nvSpPr>
        <p:spPr>
          <a:xfrm>
            <a:off x="6187288" y="5193792"/>
            <a:ext cx="384048" cy="384048"/>
          </a:xfrm>
          <a:prstGeom prst="ellipse">
            <a:avLst/>
          </a:prstGeom>
          <a:solidFill>
            <a:srgbClr val="E0962A"/>
          </a:solidFill>
          <a:ln/>
        </p:spPr>
      </p:sp>
      <p:sp>
        <p:nvSpPr>
          <p:cNvPr id="49" name="Text 39"/>
          <p:cNvSpPr txBox="1"/>
          <p:nvPr/>
        </p:nvSpPr>
        <p:spPr>
          <a:xfrm>
            <a:off x="6187288" y="519379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50" name="Text 40"/>
          <p:cNvSpPr txBox="1"/>
          <p:nvPr/>
        </p:nvSpPr>
        <p:spPr>
          <a:xfrm>
            <a:off x="6662776" y="5175504"/>
            <a:ext cx="2133524" cy="420624"/>
          </a:xfrm>
          <a:prstGeom prst="rect">
            <a:avLst/>
          </a:prstGeom>
          <a:noFill/>
          <a:ln/>
        </p:spPr>
        <p:txBody>
          <a:bodyPr wrap="square" lIns="0" tIns="0" rIns="0" bIns="0" rtlCol="0" anchor="ctr"/>
          <a:lstStyle/>
          <a:p>
            <a:pPr indent="0" marL="0">
              <a:buNone/>
            </a:pPr>
            <a:r>
              <a:rPr lang="en-US" sz="950" dirty="0">
                <a:solidFill>
                  <a:schemeClr val="accent6"/>
                </a:solidFill>
              </a:rPr>
              <a:t>Central (CDSCO) · MD-7 → MD-9</a:t>
            </a:r>
            <a:endParaRPr lang="en-US" sz="950" dirty="0"/>
          </a:p>
        </p:txBody>
      </p:sp>
      <p:sp>
        <p:nvSpPr>
          <p:cNvPr id="51" name="Badge D"/>
          <p:cNvSpPr/>
          <p:nvPr/>
        </p:nvSpPr>
        <p:spPr>
          <a:xfrm>
            <a:off x="9006611" y="5193792"/>
            <a:ext cx="384048" cy="384048"/>
          </a:xfrm>
          <a:prstGeom prst="ellipse">
            <a:avLst/>
          </a:prstGeom>
          <a:solidFill>
            <a:srgbClr val="C2453A"/>
          </a:solidFill>
          <a:ln/>
        </p:spPr>
      </p:sp>
      <p:sp>
        <p:nvSpPr>
          <p:cNvPr id="52" name="Text 42"/>
          <p:cNvSpPr txBox="1"/>
          <p:nvPr/>
        </p:nvSpPr>
        <p:spPr>
          <a:xfrm>
            <a:off x="9006611" y="519379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53" name="Text 43"/>
          <p:cNvSpPr txBox="1"/>
          <p:nvPr/>
        </p:nvSpPr>
        <p:spPr>
          <a:xfrm>
            <a:off x="9482099" y="5175504"/>
            <a:ext cx="2133524" cy="420624"/>
          </a:xfrm>
          <a:prstGeom prst="rect">
            <a:avLst/>
          </a:prstGeom>
          <a:noFill/>
          <a:ln/>
        </p:spPr>
        <p:txBody>
          <a:bodyPr wrap="square" lIns="0" tIns="0" rIns="0" bIns="0" rtlCol="0" anchor="ctr"/>
          <a:lstStyle/>
          <a:p>
            <a:pPr indent="0" marL="0">
              <a:buNone/>
            </a:pPr>
            <a:r>
              <a:rPr lang="en-US" sz="950" dirty="0">
                <a:solidFill>
                  <a:schemeClr val="accent6"/>
                </a:solidFill>
              </a:rPr>
              <a:t>Central (CDSCO) · MD-7 → MD-9</a:t>
            </a:r>
            <a:endParaRPr lang="en-US" sz="950" dirty="0"/>
          </a:p>
        </p:txBody>
      </p:sp>
      <p:sp>
        <p:nvSpPr>
          <p:cNvPr id="54" name="Callout"/>
          <p:cNvSpPr/>
          <p:nvPr/>
        </p:nvSpPr>
        <p:spPr>
          <a:xfrm>
            <a:off x="548640" y="5742432"/>
            <a:ext cx="11094415" cy="457200"/>
          </a:xfrm>
          <a:prstGeom prst="roundRect">
            <a:avLst>
              <a:gd name="adj" fmla="val 16000"/>
            </a:avLst>
          </a:prstGeom>
          <a:solidFill>
            <a:schemeClr val="accent2">
              <a:alpha val="20000"/>
            </a:schemeClr>
          </a:solidFill>
          <a:ln/>
        </p:spPr>
      </p:sp>
      <p:sp>
        <p:nvSpPr>
          <p:cNvPr id="55" name="Callout bar"/>
          <p:cNvSpPr/>
          <p:nvPr/>
        </p:nvSpPr>
        <p:spPr>
          <a:xfrm>
            <a:off x="548640" y="5833872"/>
            <a:ext cx="64008" cy="274320"/>
          </a:xfrm>
          <a:prstGeom prst="rect">
            <a:avLst/>
          </a:prstGeom>
          <a:solidFill>
            <a:schemeClr val="accent2"/>
          </a:solidFill>
          <a:ln/>
        </p:spPr>
      </p:sp>
      <p:sp>
        <p:nvSpPr>
          <p:cNvPr id="56" name="Text 46"/>
          <p:cNvSpPr txBox="1"/>
          <p:nvPr/>
        </p:nvSpPr>
        <p:spPr>
          <a:xfrm>
            <a:off x="822960" y="5742432"/>
            <a:ext cx="10682935" cy="457200"/>
          </a:xfrm>
          <a:prstGeom prst="rect">
            <a:avLst/>
          </a:prstGeom>
          <a:noFill/>
          <a:ln/>
        </p:spPr>
        <p:txBody>
          <a:bodyPr wrap="square" lIns="0" tIns="0" rIns="0" bIns="0" rtlCol="0" anchor="ctr"/>
          <a:lstStyle/>
          <a:p>
            <a:pPr indent="0" marL="0">
              <a:buNone/>
            </a:pPr>
            <a:r>
              <a:rPr lang="en-US" sz="1150" b="1" dirty="0">
                <a:solidFill>
                  <a:schemeClr val="bg1"/>
                </a:solidFill>
              </a:rPr>
              <a:t>Tables, 90 seconds: write the class, the authority and the form for each device. Watch for the trap: a Class A device can still need a State licence.</a:t>
            </a:r>
            <a:endParaRPr lang="en-US" sz="11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INDIA · POLICY AND ECOSYSTEM</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Where India builds devices</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Cabinet release 26 Apr 2023 (NMDP); Invest India and Indian Pharma Post (PLI); Business Standard 24 Sep 2021 (parks); Vikaspedia and BioSpectrum (PRIP, Nov 2024 scheme); AMTZ; BIRAC BIG; ICMR MedTech Mitra; Standing Committee Mar 2024; Medical Buyer; Rubix/BioVoice</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pic>
        <p:nvPicPr>
          <p:cNvPr id="12" name="Image 0" descr="Map of India with highlighted states">    </p:cNvPr>
          <p:cNvPicPr>
            <a:picLocks noChangeAspect="1"/>
          </p:cNvPicPr>
          <p:nvPr/>
        </p:nvPicPr>
        <p:blipFill>
          <a:blip r:embed="rId1"/>
          <a:stretch>
            <a:fillRect/>
          </a:stretch>
        </p:blipFill>
        <p:spPr>
          <a:xfrm>
            <a:off x="548640" y="1536192"/>
            <a:ext cx="3566160" cy="4055633"/>
          </a:xfrm>
          <a:prstGeom prst="rect">
            <a:avLst/>
          </a:prstGeom>
        </p:spPr>
      </p:pic>
      <p:sp>
        <p:nvSpPr>
          <p:cNvPr id="13" name="Marker Device park · HP"/>
          <p:cNvSpPr/>
          <p:nvPr/>
        </p:nvSpPr>
        <p:spPr>
          <a:xfrm>
            <a:off x="1576530" y="2274618"/>
            <a:ext cx="164592" cy="164592"/>
          </a:xfrm>
          <a:prstGeom prst="ellipse">
            <a:avLst/>
          </a:prstGeom>
          <a:solidFill>
            <a:srgbClr val="0F7C74"/>
          </a:solidFill>
          <a:ln w="19050">
            <a:solidFill>
              <a:schemeClr val="bg1"/>
            </a:solidFill>
            <a:prstDash val="solid"/>
          </a:ln>
        </p:spPr>
      </p:sp>
      <p:sp>
        <p:nvSpPr>
          <p:cNvPr id="14" name="Text 10"/>
          <p:cNvSpPr txBox="1"/>
          <p:nvPr/>
        </p:nvSpPr>
        <p:spPr>
          <a:xfrm>
            <a:off x="1786842" y="2219754"/>
            <a:ext cx="1371600" cy="274320"/>
          </a:xfrm>
          <a:prstGeom prst="rect">
            <a:avLst/>
          </a:prstGeom>
          <a:noFill/>
          <a:ln/>
        </p:spPr>
        <p:txBody>
          <a:bodyPr wrap="square" lIns="0" tIns="0" rIns="0" bIns="0" rtlCol="0" anchor="ctr"/>
          <a:lstStyle/>
          <a:p>
            <a:pPr algn="l" indent="0" marL="0">
              <a:buNone/>
            </a:pPr>
            <a:r>
              <a:rPr lang="en-US" sz="950" b="1" dirty="0">
                <a:solidFill>
                  <a:schemeClr val="tx1"/>
                </a:solidFill>
              </a:rPr>
              <a:t>Device park · HP</a:t>
            </a:r>
            <a:endParaRPr lang="en-US" sz="950" dirty="0"/>
          </a:p>
        </p:txBody>
      </p:sp>
      <p:sp>
        <p:nvSpPr>
          <p:cNvPr id="15" name="Marker Device park · UP"/>
          <p:cNvSpPr/>
          <p:nvPr/>
        </p:nvSpPr>
        <p:spPr>
          <a:xfrm>
            <a:off x="2012009" y="2972502"/>
            <a:ext cx="164592" cy="164592"/>
          </a:xfrm>
          <a:prstGeom prst="ellipse">
            <a:avLst/>
          </a:prstGeom>
          <a:solidFill>
            <a:srgbClr val="0F7C74"/>
          </a:solidFill>
          <a:ln w="19050">
            <a:solidFill>
              <a:schemeClr val="bg1"/>
            </a:solidFill>
            <a:prstDash val="solid"/>
          </a:ln>
        </p:spPr>
      </p:sp>
      <p:sp>
        <p:nvSpPr>
          <p:cNvPr id="16" name="Text 12"/>
          <p:cNvSpPr txBox="1"/>
          <p:nvPr/>
        </p:nvSpPr>
        <p:spPr>
          <a:xfrm>
            <a:off x="2222321" y="2917638"/>
            <a:ext cx="1371600" cy="274320"/>
          </a:xfrm>
          <a:prstGeom prst="rect">
            <a:avLst/>
          </a:prstGeom>
          <a:noFill/>
          <a:ln/>
        </p:spPr>
        <p:txBody>
          <a:bodyPr wrap="square" lIns="0" tIns="0" rIns="0" bIns="0" rtlCol="0" anchor="ctr"/>
          <a:lstStyle/>
          <a:p>
            <a:pPr algn="l" indent="0" marL="0">
              <a:buNone/>
            </a:pPr>
            <a:r>
              <a:rPr lang="en-US" sz="950" b="1" dirty="0">
                <a:solidFill>
                  <a:schemeClr val="tx1"/>
                </a:solidFill>
              </a:rPr>
              <a:t>Device park · UP</a:t>
            </a:r>
            <a:endParaRPr lang="en-US" sz="950" dirty="0"/>
          </a:p>
        </p:txBody>
      </p:sp>
      <p:sp>
        <p:nvSpPr>
          <p:cNvPr id="17" name="Marker Device park · MP"/>
          <p:cNvSpPr/>
          <p:nvPr/>
        </p:nvSpPr>
        <p:spPr>
          <a:xfrm>
            <a:off x="1714800" y="3312647"/>
            <a:ext cx="164592" cy="164592"/>
          </a:xfrm>
          <a:prstGeom prst="ellipse">
            <a:avLst/>
          </a:prstGeom>
          <a:solidFill>
            <a:srgbClr val="0F7C74"/>
          </a:solidFill>
          <a:ln w="19050">
            <a:solidFill>
              <a:schemeClr val="bg1"/>
            </a:solidFill>
            <a:prstDash val="solid"/>
          </a:ln>
        </p:spPr>
      </p:sp>
      <p:sp>
        <p:nvSpPr>
          <p:cNvPr id="18" name="Text 14"/>
          <p:cNvSpPr txBox="1"/>
          <p:nvPr/>
        </p:nvSpPr>
        <p:spPr>
          <a:xfrm>
            <a:off x="1925112" y="3257783"/>
            <a:ext cx="1371600" cy="274320"/>
          </a:xfrm>
          <a:prstGeom prst="rect">
            <a:avLst/>
          </a:prstGeom>
          <a:noFill/>
          <a:ln/>
        </p:spPr>
        <p:txBody>
          <a:bodyPr wrap="square" lIns="0" tIns="0" rIns="0" bIns="0" rtlCol="0" anchor="ctr"/>
          <a:lstStyle/>
          <a:p>
            <a:pPr algn="l" indent="0" marL="0">
              <a:buNone/>
            </a:pPr>
            <a:r>
              <a:rPr lang="en-US" sz="950" b="1" dirty="0">
                <a:solidFill>
                  <a:schemeClr val="tx1"/>
                </a:solidFill>
              </a:rPr>
              <a:t>Device park · MP</a:t>
            </a:r>
            <a:endParaRPr lang="en-US" sz="950" dirty="0"/>
          </a:p>
        </p:txBody>
      </p:sp>
      <p:sp>
        <p:nvSpPr>
          <p:cNvPr id="19" name="Marker Device park · TN"/>
          <p:cNvSpPr/>
          <p:nvPr/>
        </p:nvSpPr>
        <p:spPr>
          <a:xfrm>
            <a:off x="1698234" y="5005443"/>
            <a:ext cx="164592" cy="164592"/>
          </a:xfrm>
          <a:prstGeom prst="ellipse">
            <a:avLst/>
          </a:prstGeom>
          <a:solidFill>
            <a:srgbClr val="0F7C74"/>
          </a:solidFill>
          <a:ln w="19050">
            <a:solidFill>
              <a:schemeClr val="bg1"/>
            </a:solidFill>
            <a:prstDash val="solid"/>
          </a:ln>
        </p:spPr>
      </p:sp>
      <p:sp>
        <p:nvSpPr>
          <p:cNvPr id="20" name="Text 16"/>
          <p:cNvSpPr txBox="1"/>
          <p:nvPr/>
        </p:nvSpPr>
        <p:spPr>
          <a:xfrm>
            <a:off x="1908546" y="4950579"/>
            <a:ext cx="1371600" cy="274320"/>
          </a:xfrm>
          <a:prstGeom prst="rect">
            <a:avLst/>
          </a:prstGeom>
          <a:noFill/>
          <a:ln/>
        </p:spPr>
        <p:txBody>
          <a:bodyPr wrap="square" lIns="0" tIns="0" rIns="0" bIns="0" rtlCol="0" anchor="ctr"/>
          <a:lstStyle/>
          <a:p>
            <a:pPr algn="l" indent="0" marL="0">
              <a:buNone/>
            </a:pPr>
            <a:r>
              <a:rPr lang="en-US" sz="950" b="1" dirty="0">
                <a:solidFill>
                  <a:schemeClr val="tx1"/>
                </a:solidFill>
              </a:rPr>
              <a:t>Device park · TN</a:t>
            </a:r>
            <a:endParaRPr lang="en-US" sz="950" dirty="0"/>
          </a:p>
        </p:txBody>
      </p:sp>
      <p:sp>
        <p:nvSpPr>
          <p:cNvPr id="21" name="Marker AMTZ · Visakhapatnam"/>
          <p:cNvSpPr/>
          <p:nvPr/>
        </p:nvSpPr>
        <p:spPr>
          <a:xfrm>
            <a:off x="2000585" y="4490157"/>
            <a:ext cx="164592" cy="164592"/>
          </a:xfrm>
          <a:prstGeom prst="ellipse">
            <a:avLst/>
          </a:prstGeom>
          <a:solidFill>
            <a:srgbClr val="E0962A"/>
          </a:solidFill>
          <a:ln w="19050">
            <a:solidFill>
              <a:schemeClr val="bg1"/>
            </a:solidFill>
            <a:prstDash val="solid"/>
          </a:ln>
        </p:spPr>
      </p:sp>
      <p:sp>
        <p:nvSpPr>
          <p:cNvPr id="22" name="Text 18"/>
          <p:cNvSpPr txBox="1"/>
          <p:nvPr/>
        </p:nvSpPr>
        <p:spPr>
          <a:xfrm>
            <a:off x="2210897" y="4435293"/>
            <a:ext cx="1554480" cy="274320"/>
          </a:xfrm>
          <a:prstGeom prst="rect">
            <a:avLst/>
          </a:prstGeom>
          <a:noFill/>
          <a:ln/>
        </p:spPr>
        <p:txBody>
          <a:bodyPr wrap="square" lIns="0" tIns="0" rIns="0" bIns="0" rtlCol="0" anchor="ctr"/>
          <a:lstStyle/>
          <a:p>
            <a:pPr algn="l" indent="0" marL="0">
              <a:buNone/>
            </a:pPr>
            <a:r>
              <a:rPr lang="en-US" sz="950" b="1" dirty="0">
                <a:solidFill>
                  <a:schemeClr val="tx1"/>
                </a:solidFill>
              </a:rPr>
              <a:t>AMTZ · Visakhapatnam</a:t>
            </a:r>
            <a:endParaRPr lang="en-US" sz="950" dirty="0"/>
          </a:p>
        </p:txBody>
      </p:sp>
      <p:sp>
        <p:nvSpPr>
          <p:cNvPr id="23" name="Marker KIIT · Bhubaneswar"/>
          <p:cNvSpPr/>
          <p:nvPr/>
        </p:nvSpPr>
        <p:spPr>
          <a:xfrm>
            <a:off x="2448197" y="3769026"/>
            <a:ext cx="164592" cy="164592"/>
          </a:xfrm>
          <a:prstGeom prst="ellipse">
            <a:avLst/>
          </a:prstGeom>
          <a:solidFill>
            <a:srgbClr val="3D5A80"/>
          </a:solidFill>
          <a:ln w="19050">
            <a:solidFill>
              <a:schemeClr val="bg1"/>
            </a:solidFill>
            <a:prstDash val="solid"/>
          </a:ln>
        </p:spPr>
      </p:sp>
      <p:sp>
        <p:nvSpPr>
          <p:cNvPr id="24" name="Text 20"/>
          <p:cNvSpPr txBox="1"/>
          <p:nvPr/>
        </p:nvSpPr>
        <p:spPr>
          <a:xfrm>
            <a:off x="2658509" y="3714162"/>
            <a:ext cx="1371600" cy="274320"/>
          </a:xfrm>
          <a:prstGeom prst="rect">
            <a:avLst/>
          </a:prstGeom>
          <a:noFill/>
          <a:ln/>
        </p:spPr>
        <p:txBody>
          <a:bodyPr wrap="square" lIns="0" tIns="0" rIns="0" bIns="0" rtlCol="0" anchor="ctr"/>
          <a:lstStyle/>
          <a:p>
            <a:pPr algn="l" indent="0" marL="0">
              <a:buNone/>
            </a:pPr>
            <a:r>
              <a:rPr lang="en-US" sz="950" b="1" dirty="0">
                <a:solidFill>
                  <a:schemeClr val="tx1"/>
                </a:solidFill>
              </a:rPr>
              <a:t>KIIT · Bhubaneswar</a:t>
            </a:r>
            <a:endParaRPr lang="en-US" sz="950" dirty="0"/>
          </a:p>
        </p:txBody>
      </p:sp>
      <p:sp>
        <p:nvSpPr>
          <p:cNvPr id="25" name="Pill Device park"/>
          <p:cNvSpPr/>
          <p:nvPr/>
        </p:nvSpPr>
        <p:spPr>
          <a:xfrm>
            <a:off x="548640" y="5742432"/>
            <a:ext cx="1371600" cy="256032"/>
          </a:xfrm>
          <a:prstGeom prst="roundRect">
            <a:avLst>
              <a:gd name="adj" fmla="val 50000"/>
            </a:avLst>
          </a:prstGeom>
          <a:solidFill>
            <a:srgbClr val="0F7C74"/>
          </a:solidFill>
          <a:ln w="15875">
            <a:solidFill>
              <a:srgbClr val="0F7C74"/>
            </a:solidFill>
            <a:prstDash val="solid"/>
          </a:ln>
        </p:spPr>
      </p:sp>
      <p:sp>
        <p:nvSpPr>
          <p:cNvPr id="26" name="Text 22"/>
          <p:cNvSpPr txBox="1"/>
          <p:nvPr/>
        </p:nvSpPr>
        <p:spPr>
          <a:xfrm>
            <a:off x="548640" y="5742432"/>
            <a:ext cx="1371600" cy="256032"/>
          </a:xfrm>
          <a:prstGeom prst="rect">
            <a:avLst/>
          </a:prstGeom>
          <a:noFill/>
          <a:ln/>
        </p:spPr>
        <p:txBody>
          <a:bodyPr wrap="square" lIns="0" tIns="0" rIns="0" bIns="0" rtlCol="0" anchor="ctr"/>
          <a:lstStyle/>
          <a:p>
            <a:pPr algn="ctr" indent="0" marL="0">
              <a:buNone/>
            </a:pPr>
            <a:r>
              <a:rPr lang="en-US" sz="900" b="1" dirty="0">
                <a:solidFill>
                  <a:schemeClr val="bg1"/>
                </a:solidFill>
              </a:rPr>
              <a:t>Device park</a:t>
            </a:r>
            <a:endParaRPr lang="en-US" sz="900" dirty="0"/>
          </a:p>
        </p:txBody>
      </p:sp>
      <p:sp>
        <p:nvSpPr>
          <p:cNvPr id="27" name="Pill AMTZ"/>
          <p:cNvSpPr/>
          <p:nvPr/>
        </p:nvSpPr>
        <p:spPr>
          <a:xfrm>
            <a:off x="2011680" y="5742432"/>
            <a:ext cx="960120" cy="256032"/>
          </a:xfrm>
          <a:prstGeom prst="roundRect">
            <a:avLst>
              <a:gd name="adj" fmla="val 50000"/>
            </a:avLst>
          </a:prstGeom>
          <a:solidFill>
            <a:srgbClr val="E0962A"/>
          </a:solidFill>
          <a:ln w="15875">
            <a:solidFill>
              <a:srgbClr val="E0962A"/>
            </a:solidFill>
            <a:prstDash val="solid"/>
          </a:ln>
        </p:spPr>
      </p:sp>
      <p:sp>
        <p:nvSpPr>
          <p:cNvPr id="28" name="Text 24"/>
          <p:cNvSpPr txBox="1"/>
          <p:nvPr/>
        </p:nvSpPr>
        <p:spPr>
          <a:xfrm>
            <a:off x="2011680" y="5742432"/>
            <a:ext cx="960120" cy="256032"/>
          </a:xfrm>
          <a:prstGeom prst="rect">
            <a:avLst/>
          </a:prstGeom>
          <a:noFill/>
          <a:ln/>
        </p:spPr>
        <p:txBody>
          <a:bodyPr wrap="square" lIns="0" tIns="0" rIns="0" bIns="0" rtlCol="0" anchor="ctr"/>
          <a:lstStyle/>
          <a:p>
            <a:pPr algn="ctr" indent="0" marL="0">
              <a:buNone/>
            </a:pPr>
            <a:r>
              <a:rPr lang="en-US" sz="900" b="1" dirty="0">
                <a:solidFill>
                  <a:schemeClr val="bg1"/>
                </a:solidFill>
              </a:rPr>
              <a:t>AMTZ</a:t>
            </a:r>
            <a:endParaRPr lang="en-US" sz="900" dirty="0"/>
          </a:p>
        </p:txBody>
      </p:sp>
      <p:sp>
        <p:nvSpPr>
          <p:cNvPr id="29" name="Pill KIIT TBI"/>
          <p:cNvSpPr/>
          <p:nvPr/>
        </p:nvSpPr>
        <p:spPr>
          <a:xfrm>
            <a:off x="3063240" y="5742432"/>
            <a:ext cx="1051560" cy="256032"/>
          </a:xfrm>
          <a:prstGeom prst="roundRect">
            <a:avLst>
              <a:gd name="adj" fmla="val 50000"/>
            </a:avLst>
          </a:prstGeom>
          <a:solidFill>
            <a:srgbClr val="3D5A80"/>
          </a:solidFill>
          <a:ln w="15875">
            <a:solidFill>
              <a:srgbClr val="3D5A80"/>
            </a:solidFill>
            <a:prstDash val="solid"/>
          </a:ln>
        </p:spPr>
      </p:sp>
      <p:sp>
        <p:nvSpPr>
          <p:cNvPr id="30" name="Text 26"/>
          <p:cNvSpPr txBox="1"/>
          <p:nvPr/>
        </p:nvSpPr>
        <p:spPr>
          <a:xfrm>
            <a:off x="3063240" y="5742432"/>
            <a:ext cx="1051560" cy="256032"/>
          </a:xfrm>
          <a:prstGeom prst="rect">
            <a:avLst/>
          </a:prstGeom>
          <a:noFill/>
          <a:ln/>
        </p:spPr>
        <p:txBody>
          <a:bodyPr wrap="square" lIns="0" tIns="0" rIns="0" bIns="0" rtlCol="0" anchor="ctr"/>
          <a:lstStyle/>
          <a:p>
            <a:pPr algn="ctr" indent="0" marL="0">
              <a:buNone/>
            </a:pPr>
            <a:r>
              <a:rPr lang="en-US" sz="900" b="1" dirty="0">
                <a:solidFill>
                  <a:schemeClr val="bg1"/>
                </a:solidFill>
              </a:rPr>
              <a:t>KIIT TBI</a:t>
            </a:r>
            <a:endParaRPr lang="en-US" sz="900" dirty="0"/>
          </a:p>
        </p:txBody>
      </p:sp>
      <p:sp>
        <p:nvSpPr>
          <p:cNvPr id="31" name="Rule"/>
          <p:cNvSpPr/>
          <p:nvPr/>
        </p:nvSpPr>
        <p:spPr>
          <a:xfrm>
            <a:off x="4910328" y="1847088"/>
            <a:ext cx="0" cy="2743200"/>
          </a:xfrm>
          <a:prstGeom prst="line">
            <a:avLst/>
          </a:prstGeom>
          <a:noFill/>
          <a:ln w="25400">
            <a:solidFill>
              <a:srgbClr val="C9D6D3"/>
            </a:solidFill>
            <a:prstDash val="solid"/>
          </a:ln>
        </p:spPr>
      </p:sp>
      <p:sp>
        <p:nvSpPr>
          <p:cNvPr id="32" name="Badge 1"/>
          <p:cNvSpPr/>
          <p:nvPr/>
        </p:nvSpPr>
        <p:spPr>
          <a:xfrm>
            <a:off x="4663440" y="1572768"/>
            <a:ext cx="493776" cy="493776"/>
          </a:xfrm>
          <a:prstGeom prst="ellipse">
            <a:avLst/>
          </a:prstGeom>
          <a:solidFill>
            <a:schemeClr val="accent1"/>
          </a:solidFill>
          <a:ln/>
        </p:spPr>
      </p:sp>
      <p:sp>
        <p:nvSpPr>
          <p:cNvPr id="33" name="Text 29"/>
          <p:cNvSpPr txBox="1"/>
          <p:nvPr/>
        </p:nvSpPr>
        <p:spPr>
          <a:xfrm>
            <a:off x="4663440" y="1572768"/>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34" name="Text 30"/>
          <p:cNvSpPr txBox="1"/>
          <p:nvPr/>
        </p:nvSpPr>
        <p:spPr>
          <a:xfrm>
            <a:off x="5349240" y="1554480"/>
            <a:ext cx="6293815" cy="475488"/>
          </a:xfrm>
          <a:prstGeom prst="rect">
            <a:avLst/>
          </a:prstGeom>
          <a:noFill/>
          <a:ln/>
        </p:spPr>
        <p:txBody>
          <a:bodyPr wrap="square" lIns="0" tIns="0" rIns="0" bIns="0" rtlCol="0" anchor="t"/>
          <a:lstStyle/>
          <a:p>
            <a:pPr indent="0" marL="0">
              <a:buNone/>
            </a:pPr>
            <a:r>
              <a:rPr lang="en-US" sz="1150" b="1" dirty="0">
                <a:solidFill>
                  <a:schemeClr val="tx1"/>
                </a:solidFill>
              </a:rPr>
              <a:t>National Medical Devices Policy 2023</a:t>
            </a:r>
            <a:endParaRPr lang="en-US" sz="1150" dirty="0"/>
          </a:p>
          <a:p>
            <a:pPr indent="0" marL="0">
              <a:buNone/>
            </a:pPr>
            <a:r>
              <a:rPr lang="en-US" sz="950" dirty="0">
                <a:solidFill>
                  <a:schemeClr val="tx2"/>
                </a:solidFill>
              </a:rPr>
              <a:t>Cabinet, 26 Apr 2023: US$ 11 bn (2023) → US$ 50 bn by 2030; six strategies, incl. an export council</a:t>
            </a:r>
            <a:endParaRPr lang="en-US" sz="1150" dirty="0"/>
          </a:p>
        </p:txBody>
      </p:sp>
      <p:sp>
        <p:nvSpPr>
          <p:cNvPr id="35" name="Badge 2"/>
          <p:cNvSpPr/>
          <p:nvPr/>
        </p:nvSpPr>
        <p:spPr>
          <a:xfrm>
            <a:off x="4663440" y="2121408"/>
            <a:ext cx="493776" cy="493776"/>
          </a:xfrm>
          <a:prstGeom prst="ellipse">
            <a:avLst/>
          </a:prstGeom>
          <a:solidFill>
            <a:schemeClr val="accent1"/>
          </a:solidFill>
          <a:ln/>
        </p:spPr>
      </p:sp>
      <p:sp>
        <p:nvSpPr>
          <p:cNvPr id="36" name="Text 32"/>
          <p:cNvSpPr txBox="1"/>
          <p:nvPr/>
        </p:nvSpPr>
        <p:spPr>
          <a:xfrm>
            <a:off x="4663440" y="2121408"/>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37" name="Text 33"/>
          <p:cNvSpPr txBox="1"/>
          <p:nvPr/>
        </p:nvSpPr>
        <p:spPr>
          <a:xfrm>
            <a:off x="5349240" y="2103120"/>
            <a:ext cx="6293815" cy="475488"/>
          </a:xfrm>
          <a:prstGeom prst="rect">
            <a:avLst/>
          </a:prstGeom>
          <a:noFill/>
          <a:ln/>
        </p:spPr>
        <p:txBody>
          <a:bodyPr wrap="square" lIns="0" tIns="0" rIns="0" bIns="0" rtlCol="0" anchor="t"/>
          <a:lstStyle/>
          <a:p>
            <a:pPr indent="0" marL="0">
              <a:buNone/>
            </a:pPr>
            <a:r>
              <a:rPr lang="en-US" sz="1150" b="1" dirty="0">
                <a:solidFill>
                  <a:schemeClr val="tx1"/>
                </a:solidFill>
              </a:rPr>
              <a:t>PLI for medical devices · ₹3,420 crore</a:t>
            </a:r>
            <a:endParaRPr lang="en-US" sz="1150" dirty="0"/>
          </a:p>
          <a:p>
            <a:pPr indent="0" marL="0">
              <a:buNone/>
            </a:pPr>
            <a:r>
              <a:rPr lang="en-US" sz="950" dirty="0">
                <a:solidFill>
                  <a:schemeClr val="tx2"/>
                </a:solidFill>
              </a:rPr>
              <a:t>FY2020-21 to FY2027-28; 5% on incremental sales; by Mar 2025: 27 projects, ₹1,153 crore, 54 products</a:t>
            </a:r>
            <a:endParaRPr lang="en-US" sz="1150" dirty="0"/>
          </a:p>
        </p:txBody>
      </p:sp>
      <p:sp>
        <p:nvSpPr>
          <p:cNvPr id="38" name="Badge 3"/>
          <p:cNvSpPr/>
          <p:nvPr/>
        </p:nvSpPr>
        <p:spPr>
          <a:xfrm>
            <a:off x="4663440" y="2670048"/>
            <a:ext cx="493776" cy="493776"/>
          </a:xfrm>
          <a:prstGeom prst="ellipse">
            <a:avLst/>
          </a:prstGeom>
          <a:solidFill>
            <a:schemeClr val="accent1"/>
          </a:solidFill>
          <a:ln/>
        </p:spPr>
      </p:sp>
      <p:sp>
        <p:nvSpPr>
          <p:cNvPr id="39" name="Text 35"/>
          <p:cNvSpPr txBox="1"/>
          <p:nvPr/>
        </p:nvSpPr>
        <p:spPr>
          <a:xfrm>
            <a:off x="4663440" y="2670048"/>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40" name="Text 36"/>
          <p:cNvSpPr txBox="1"/>
          <p:nvPr/>
        </p:nvSpPr>
        <p:spPr>
          <a:xfrm>
            <a:off x="5349240" y="2651760"/>
            <a:ext cx="6293815" cy="475488"/>
          </a:xfrm>
          <a:prstGeom prst="rect">
            <a:avLst/>
          </a:prstGeom>
          <a:noFill/>
          <a:ln/>
        </p:spPr>
        <p:txBody>
          <a:bodyPr wrap="square" lIns="0" tIns="0" rIns="0" bIns="0" rtlCol="0" anchor="t"/>
          <a:lstStyle/>
          <a:p>
            <a:pPr indent="0" marL="0">
              <a:buNone/>
            </a:pPr>
            <a:r>
              <a:rPr lang="en-US" sz="1150" b="1" dirty="0">
                <a:solidFill>
                  <a:schemeClr val="tx1"/>
                </a:solidFill>
              </a:rPr>
              <a:t>Four medical device parks · ₹400 crore</a:t>
            </a:r>
            <a:endParaRPr lang="en-US" sz="1150" dirty="0"/>
          </a:p>
          <a:p>
            <a:pPr indent="0" marL="0">
              <a:buNone/>
            </a:pPr>
            <a:r>
              <a:rPr lang="en-US" sz="950" dirty="0">
                <a:solidFill>
                  <a:schemeClr val="tx2"/>
                </a:solidFill>
              </a:rPr>
              <a:t>Up to ₹100 crore each for shared infrastructure: Himachal, Tamil Nadu, Madhya Pradesh, Uttar Pradesh</a:t>
            </a:r>
            <a:endParaRPr lang="en-US" sz="1150" dirty="0"/>
          </a:p>
        </p:txBody>
      </p:sp>
      <p:sp>
        <p:nvSpPr>
          <p:cNvPr id="41" name="Badge 4"/>
          <p:cNvSpPr/>
          <p:nvPr/>
        </p:nvSpPr>
        <p:spPr>
          <a:xfrm>
            <a:off x="4663440" y="3218688"/>
            <a:ext cx="493776" cy="493776"/>
          </a:xfrm>
          <a:prstGeom prst="ellipse">
            <a:avLst/>
          </a:prstGeom>
          <a:solidFill>
            <a:schemeClr val="accent1"/>
          </a:solidFill>
          <a:ln/>
        </p:spPr>
      </p:sp>
      <p:sp>
        <p:nvSpPr>
          <p:cNvPr id="42" name="Text 38"/>
          <p:cNvSpPr txBox="1"/>
          <p:nvPr/>
        </p:nvSpPr>
        <p:spPr>
          <a:xfrm>
            <a:off x="4663440" y="3218688"/>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43" name="Text 39"/>
          <p:cNvSpPr txBox="1"/>
          <p:nvPr/>
        </p:nvSpPr>
        <p:spPr>
          <a:xfrm>
            <a:off x="5349240" y="3200400"/>
            <a:ext cx="6293815" cy="475488"/>
          </a:xfrm>
          <a:prstGeom prst="rect">
            <a:avLst/>
          </a:prstGeom>
          <a:noFill/>
          <a:ln/>
        </p:spPr>
        <p:txBody>
          <a:bodyPr wrap="square" lIns="0" tIns="0" rIns="0" bIns="0" rtlCol="0" anchor="t"/>
          <a:lstStyle/>
          <a:p>
            <a:pPr indent="0" marL="0">
              <a:buNone/>
            </a:pPr>
            <a:r>
              <a:rPr lang="en-US" sz="1150" b="1" dirty="0">
                <a:solidFill>
                  <a:schemeClr val="tx1"/>
                </a:solidFill>
              </a:rPr>
              <a:t>PRIP · ₹5,000 crore  ·  Strengthening scheme · ₹500 crore</a:t>
            </a:r>
            <a:endParaRPr lang="en-US" sz="1150" dirty="0"/>
          </a:p>
          <a:p>
            <a:pPr indent="0" marL="0">
              <a:buNone/>
            </a:pPr>
            <a:r>
              <a:rPr lang="en-US" sz="950" dirty="0">
                <a:solidFill>
                  <a:schemeClr val="tx2"/>
                </a:solidFill>
              </a:rPr>
              <a:t>Industry–academia R&amp;D; Nov 2024 scheme: clusters ₹110 cr, clinical studies ₹100 cr, skills ₹100 cr</a:t>
            </a:r>
            <a:endParaRPr lang="en-US" sz="1150" dirty="0"/>
          </a:p>
        </p:txBody>
      </p:sp>
      <p:sp>
        <p:nvSpPr>
          <p:cNvPr id="44" name="Badge 5"/>
          <p:cNvSpPr/>
          <p:nvPr/>
        </p:nvSpPr>
        <p:spPr>
          <a:xfrm>
            <a:off x="4663440" y="3767328"/>
            <a:ext cx="493776" cy="493776"/>
          </a:xfrm>
          <a:prstGeom prst="ellipse">
            <a:avLst/>
          </a:prstGeom>
          <a:solidFill>
            <a:schemeClr val="accent1"/>
          </a:solidFill>
          <a:ln/>
        </p:spPr>
      </p:sp>
      <p:sp>
        <p:nvSpPr>
          <p:cNvPr id="45" name="Text 41"/>
          <p:cNvSpPr txBox="1"/>
          <p:nvPr/>
        </p:nvSpPr>
        <p:spPr>
          <a:xfrm>
            <a:off x="4663440" y="3767328"/>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46" name="Text 42"/>
          <p:cNvSpPr txBox="1"/>
          <p:nvPr/>
        </p:nvSpPr>
        <p:spPr>
          <a:xfrm>
            <a:off x="5349240" y="3749040"/>
            <a:ext cx="6293815" cy="475488"/>
          </a:xfrm>
          <a:prstGeom prst="rect">
            <a:avLst/>
          </a:prstGeom>
          <a:noFill/>
          <a:ln/>
        </p:spPr>
        <p:txBody>
          <a:bodyPr wrap="square" lIns="0" tIns="0" rIns="0" bIns="0" rtlCol="0" anchor="t"/>
          <a:lstStyle/>
          <a:p>
            <a:pPr indent="0" marL="0">
              <a:buNone/>
            </a:pPr>
            <a:r>
              <a:rPr lang="en-US" sz="1150" b="1" dirty="0">
                <a:solidFill>
                  <a:schemeClr val="tx1"/>
                </a:solidFill>
              </a:rPr>
              <a:t>AMTZ Visakhapatnam  ·  EPCMD (22 Sep 2022)</a:t>
            </a:r>
            <a:endParaRPr lang="en-US" sz="1150" dirty="0"/>
          </a:p>
          <a:p>
            <a:pPr indent="0" marL="0">
              <a:buNone/>
            </a:pPr>
            <a:r>
              <a:rPr lang="en-US" sz="950" dirty="0">
                <a:solidFill>
                  <a:schemeClr val="tx2"/>
                </a:solidFill>
              </a:rPr>
              <a:t>NABL EMC, electrical-safety and biomaterial labs; 3D printing; KIHT; export council at YEIDA, Noida</a:t>
            </a:r>
            <a:endParaRPr lang="en-US" sz="1150" dirty="0"/>
          </a:p>
        </p:txBody>
      </p:sp>
      <p:sp>
        <p:nvSpPr>
          <p:cNvPr id="47" name="Badge 6"/>
          <p:cNvSpPr/>
          <p:nvPr/>
        </p:nvSpPr>
        <p:spPr>
          <a:xfrm>
            <a:off x="4663440" y="4315968"/>
            <a:ext cx="493776" cy="493776"/>
          </a:xfrm>
          <a:prstGeom prst="ellipse">
            <a:avLst/>
          </a:prstGeom>
          <a:solidFill>
            <a:schemeClr val="accent1"/>
          </a:solidFill>
          <a:ln/>
        </p:spPr>
      </p:sp>
      <p:sp>
        <p:nvSpPr>
          <p:cNvPr id="48" name="Text 44"/>
          <p:cNvSpPr txBox="1"/>
          <p:nvPr/>
        </p:nvSpPr>
        <p:spPr>
          <a:xfrm>
            <a:off x="4663440" y="4315968"/>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49" name="Text 45"/>
          <p:cNvSpPr txBox="1"/>
          <p:nvPr/>
        </p:nvSpPr>
        <p:spPr>
          <a:xfrm>
            <a:off x="5349240" y="4297680"/>
            <a:ext cx="6293815" cy="475488"/>
          </a:xfrm>
          <a:prstGeom prst="rect">
            <a:avLst/>
          </a:prstGeom>
          <a:noFill/>
          <a:ln/>
        </p:spPr>
        <p:txBody>
          <a:bodyPr wrap="square" lIns="0" tIns="0" rIns="0" bIns="0" rtlCol="0" anchor="t"/>
          <a:lstStyle/>
          <a:p>
            <a:pPr indent="0" marL="0">
              <a:buNone/>
            </a:pPr>
            <a:r>
              <a:rPr lang="en-US" sz="1150" b="1" dirty="0">
                <a:solidFill>
                  <a:schemeClr val="tx1"/>
                </a:solidFill>
              </a:rPr>
              <a:t>BIRAC BIG  ·  MedTech Mitra  ·  KIIT TBI</a:t>
            </a:r>
            <a:endParaRPr lang="en-US" sz="1150" dirty="0"/>
          </a:p>
          <a:p>
            <a:pPr indent="0" marL="0">
              <a:buNone/>
            </a:pPr>
            <a:r>
              <a:rPr lang="en-US" sz="950" dirty="0">
                <a:solidFill>
                  <a:schemeClr val="tx2"/>
                </a:solidFill>
              </a:rPr>
              <a:t>BIG: up to ₹50 lakh for 18 months; MedTech Mitra (ICMR + CDSCO) hand-holding; FoGO sits at KIIT TBI</a:t>
            </a:r>
            <a:endParaRPr lang="en-US" sz="1150" dirty="0"/>
          </a:p>
        </p:txBody>
      </p:sp>
      <p:sp>
        <p:nvSpPr>
          <p:cNvPr id="50" name="Stat Imported"/>
          <p:cNvSpPr/>
          <p:nvPr/>
        </p:nvSpPr>
        <p:spPr>
          <a:xfrm>
            <a:off x="4663440" y="4956048"/>
            <a:ext cx="2204618" cy="1298448"/>
          </a:xfrm>
          <a:prstGeom prst="roundRect">
            <a:avLst>
              <a:gd name="adj" fmla="val 8451"/>
            </a:avLst>
          </a:prstGeom>
          <a:solidFill>
            <a:schemeClr val="bg1"/>
          </a:solidFill>
          <a:ln w="9525">
            <a:solidFill>
              <a:srgbClr val="D5DFDD"/>
            </a:solidFill>
            <a:prstDash val="solid"/>
          </a:ln>
          <a:effectLst>
            <a:outerShdw sx="100000" sy="100000" kx="0" ky="0" algn="bl" rotWithShape="0" blurRad="76200" dist="25400" dir="5400000">
              <a:srgbClr val="000000">
                <a:alpha val="10000"/>
              </a:srgbClr>
            </a:outerShdw>
          </a:effectLst>
        </p:spPr>
      </p:sp>
      <p:sp>
        <p:nvSpPr>
          <p:cNvPr id="51" name="Stat accent"/>
          <p:cNvSpPr/>
          <p:nvPr/>
        </p:nvSpPr>
        <p:spPr>
          <a:xfrm>
            <a:off x="4663440" y="5184648"/>
            <a:ext cx="64008" cy="841248"/>
          </a:xfrm>
          <a:prstGeom prst="rect">
            <a:avLst/>
          </a:prstGeom>
          <a:solidFill>
            <a:schemeClr val="accent3"/>
          </a:solidFill>
          <a:ln/>
        </p:spPr>
      </p:sp>
      <p:sp>
        <p:nvSpPr>
          <p:cNvPr id="52" name="Icon disc LuShip"/>
          <p:cNvSpPr/>
          <p:nvPr/>
        </p:nvSpPr>
        <p:spPr>
          <a:xfrm>
            <a:off x="6301130" y="5138928"/>
            <a:ext cx="402336" cy="402336"/>
          </a:xfrm>
          <a:prstGeom prst="ellipse">
            <a:avLst/>
          </a:prstGeom>
          <a:solidFill>
            <a:schemeClr val="accent3">
              <a:alpha val="15000"/>
            </a:schemeClr>
          </a:solidFill>
          <a:ln/>
        </p:spPr>
      </p:sp>
      <p:pic>
        <p:nvPicPr>
          <p:cNvPr id="53" name="Image 1" descr="Ship icon">    </p:cNvPr>
          <p:cNvPicPr>
            <a:picLocks noChangeAspect="1"/>
          </p:cNvPicPr>
          <p:nvPr/>
        </p:nvPicPr>
        <p:blipFill>
          <a:blip r:embed="rId2"/>
          <a:stretch>
            <a:fillRect/>
          </a:stretch>
        </p:blipFill>
        <p:spPr>
          <a:xfrm>
            <a:off x="6389644" y="5227442"/>
            <a:ext cx="225308" cy="225308"/>
          </a:xfrm>
          <a:prstGeom prst="rect">
            <a:avLst/>
          </a:prstGeom>
        </p:spPr>
      </p:pic>
      <p:sp>
        <p:nvSpPr>
          <p:cNvPr id="54" name="Text 49"/>
          <p:cNvSpPr txBox="1"/>
          <p:nvPr/>
        </p:nvSpPr>
        <p:spPr>
          <a:xfrm>
            <a:off x="4892040" y="5093208"/>
            <a:ext cx="1335938" cy="685800"/>
          </a:xfrm>
          <a:prstGeom prst="rect">
            <a:avLst/>
          </a:prstGeom>
          <a:noFill/>
          <a:ln/>
        </p:spPr>
        <p:txBody>
          <a:bodyPr wrap="square" lIns="0" tIns="0" rIns="0" bIns="0" rtlCol="0" anchor="ctr"/>
          <a:lstStyle/>
          <a:p>
            <a:pPr indent="0" marL="0">
              <a:buNone/>
            </a:pPr>
            <a:r>
              <a:rPr lang="en-US" sz="2400" b="1" dirty="0">
                <a:solidFill>
                  <a:schemeClr val="accent3"/>
                </a:solidFill>
              </a:rPr>
              <a:t>~70%</a:t>
            </a:r>
            <a:endParaRPr lang="en-US" sz="2400" dirty="0"/>
          </a:p>
        </p:txBody>
      </p:sp>
      <p:sp>
        <p:nvSpPr>
          <p:cNvPr id="55" name="Text 50"/>
          <p:cNvSpPr txBox="1"/>
          <p:nvPr/>
        </p:nvSpPr>
        <p:spPr>
          <a:xfrm>
            <a:off x="4892040" y="5779008"/>
            <a:ext cx="1838858" cy="292608"/>
          </a:xfrm>
          <a:prstGeom prst="rect">
            <a:avLst/>
          </a:prstGeom>
          <a:noFill/>
          <a:ln/>
        </p:spPr>
        <p:txBody>
          <a:bodyPr wrap="square" lIns="0" tIns="0" rIns="0" bIns="0" rtlCol="0" anchor="t"/>
          <a:lstStyle/>
          <a:p>
            <a:pPr indent="0" marL="0">
              <a:buNone/>
            </a:pPr>
            <a:r>
              <a:rPr lang="en-US" sz="1200" b="1" dirty="0">
                <a:solidFill>
                  <a:schemeClr val="tx1"/>
                </a:solidFill>
              </a:rPr>
              <a:t>Imported</a:t>
            </a:r>
            <a:endParaRPr lang="en-US" sz="1200" dirty="0"/>
          </a:p>
        </p:txBody>
      </p:sp>
      <p:sp>
        <p:nvSpPr>
          <p:cNvPr id="56" name="Text 51"/>
          <p:cNvSpPr txBox="1"/>
          <p:nvPr/>
        </p:nvSpPr>
        <p:spPr>
          <a:xfrm>
            <a:off x="4892040" y="6053328"/>
            <a:ext cx="1838858" cy="155448"/>
          </a:xfrm>
          <a:prstGeom prst="rect">
            <a:avLst/>
          </a:prstGeom>
          <a:noFill/>
          <a:ln/>
        </p:spPr>
        <p:txBody>
          <a:bodyPr wrap="square" lIns="0" tIns="0" rIns="0" bIns="0" rtlCol="0" anchor="t"/>
          <a:lstStyle/>
          <a:p>
            <a:pPr indent="0" marL="0">
              <a:buNone/>
            </a:pPr>
            <a:r>
              <a:rPr lang="en-US" sz="950" dirty="0">
                <a:solidFill>
                  <a:schemeClr val="accent5"/>
                </a:solidFill>
              </a:rPr>
              <a:t>Standing Committee, Mar 2024</a:t>
            </a:r>
            <a:endParaRPr lang="en-US" sz="950" dirty="0"/>
          </a:p>
        </p:txBody>
      </p:sp>
      <p:sp>
        <p:nvSpPr>
          <p:cNvPr id="57" name="Stat Imports, FY2023-24"/>
          <p:cNvSpPr/>
          <p:nvPr/>
        </p:nvSpPr>
        <p:spPr>
          <a:xfrm>
            <a:off x="7050938" y="4956048"/>
            <a:ext cx="2204618" cy="1298448"/>
          </a:xfrm>
          <a:prstGeom prst="roundRect">
            <a:avLst>
              <a:gd name="adj" fmla="val 8451"/>
            </a:avLst>
          </a:prstGeom>
          <a:solidFill>
            <a:schemeClr val="bg1"/>
          </a:solidFill>
          <a:ln w="9525">
            <a:solidFill>
              <a:srgbClr val="D5DFDD"/>
            </a:solidFill>
            <a:prstDash val="solid"/>
          </a:ln>
          <a:effectLst>
            <a:outerShdw sx="100000" sy="100000" kx="0" ky="0" algn="bl" rotWithShape="0" blurRad="76200" dist="25400" dir="5400000">
              <a:srgbClr val="000000">
                <a:alpha val="10000"/>
              </a:srgbClr>
            </a:outerShdw>
          </a:effectLst>
        </p:spPr>
      </p:sp>
      <p:sp>
        <p:nvSpPr>
          <p:cNvPr id="58" name="Stat accent"/>
          <p:cNvSpPr/>
          <p:nvPr/>
        </p:nvSpPr>
        <p:spPr>
          <a:xfrm>
            <a:off x="7050938" y="5184648"/>
            <a:ext cx="64008" cy="841248"/>
          </a:xfrm>
          <a:prstGeom prst="rect">
            <a:avLst/>
          </a:prstGeom>
          <a:solidFill>
            <a:schemeClr val="accent4"/>
          </a:solidFill>
          <a:ln/>
        </p:spPr>
      </p:sp>
      <p:sp>
        <p:nvSpPr>
          <p:cNvPr id="59" name="Icon disc LuTrendingUp"/>
          <p:cNvSpPr/>
          <p:nvPr/>
        </p:nvSpPr>
        <p:spPr>
          <a:xfrm>
            <a:off x="8688629" y="5138928"/>
            <a:ext cx="402336" cy="402336"/>
          </a:xfrm>
          <a:prstGeom prst="ellipse">
            <a:avLst/>
          </a:prstGeom>
          <a:solidFill>
            <a:schemeClr val="accent4">
              <a:alpha val="15000"/>
            </a:schemeClr>
          </a:solidFill>
          <a:ln/>
        </p:spPr>
      </p:sp>
      <p:pic>
        <p:nvPicPr>
          <p:cNvPr id="60" name="Image 2" descr="TrendingUp icon">    </p:cNvPr>
          <p:cNvPicPr>
            <a:picLocks noChangeAspect="1"/>
          </p:cNvPicPr>
          <p:nvPr/>
        </p:nvPicPr>
        <p:blipFill>
          <a:blip r:embed="rId3"/>
          <a:stretch>
            <a:fillRect/>
          </a:stretch>
        </p:blipFill>
        <p:spPr>
          <a:xfrm>
            <a:off x="8777143" y="5227442"/>
            <a:ext cx="225308" cy="225308"/>
          </a:xfrm>
          <a:prstGeom prst="rect">
            <a:avLst/>
          </a:prstGeom>
        </p:spPr>
      </p:pic>
      <p:sp>
        <p:nvSpPr>
          <p:cNvPr id="61" name="Text 55"/>
          <p:cNvSpPr txBox="1"/>
          <p:nvPr/>
        </p:nvSpPr>
        <p:spPr>
          <a:xfrm>
            <a:off x="7279538" y="5093208"/>
            <a:ext cx="1335938" cy="685800"/>
          </a:xfrm>
          <a:prstGeom prst="rect">
            <a:avLst/>
          </a:prstGeom>
          <a:noFill/>
          <a:ln/>
        </p:spPr>
        <p:txBody>
          <a:bodyPr wrap="square" lIns="0" tIns="0" rIns="0" bIns="0" rtlCol="0" anchor="ctr"/>
          <a:lstStyle/>
          <a:p>
            <a:pPr indent="0" marL="0">
              <a:buNone/>
            </a:pPr>
            <a:r>
              <a:rPr lang="en-US" sz="1900" b="1" dirty="0">
                <a:solidFill>
                  <a:schemeClr val="accent4"/>
                </a:solidFill>
              </a:rPr>
              <a:t>US$ 8.18 bn</a:t>
            </a:r>
            <a:endParaRPr lang="en-US" sz="1900" dirty="0"/>
          </a:p>
        </p:txBody>
      </p:sp>
      <p:sp>
        <p:nvSpPr>
          <p:cNvPr id="62" name="Text 56"/>
          <p:cNvSpPr txBox="1"/>
          <p:nvPr/>
        </p:nvSpPr>
        <p:spPr>
          <a:xfrm>
            <a:off x="7279538" y="5779008"/>
            <a:ext cx="1838858" cy="292608"/>
          </a:xfrm>
          <a:prstGeom prst="rect">
            <a:avLst/>
          </a:prstGeom>
          <a:noFill/>
          <a:ln/>
        </p:spPr>
        <p:txBody>
          <a:bodyPr wrap="square" lIns="0" tIns="0" rIns="0" bIns="0" rtlCol="0" anchor="t"/>
          <a:lstStyle/>
          <a:p>
            <a:pPr indent="0" marL="0">
              <a:buNone/>
            </a:pPr>
            <a:r>
              <a:rPr lang="en-US" sz="1200" b="1" dirty="0">
                <a:solidFill>
                  <a:schemeClr val="tx1"/>
                </a:solidFill>
              </a:rPr>
              <a:t>Imports, FY2023-24</a:t>
            </a:r>
            <a:endParaRPr lang="en-US" sz="1200" dirty="0"/>
          </a:p>
        </p:txBody>
      </p:sp>
      <p:sp>
        <p:nvSpPr>
          <p:cNvPr id="63" name="Text 57"/>
          <p:cNvSpPr txBox="1"/>
          <p:nvPr/>
        </p:nvSpPr>
        <p:spPr>
          <a:xfrm>
            <a:off x="7279538" y="6053328"/>
            <a:ext cx="1838858" cy="155448"/>
          </a:xfrm>
          <a:prstGeom prst="rect">
            <a:avLst/>
          </a:prstGeom>
          <a:noFill/>
          <a:ln/>
        </p:spPr>
        <p:txBody>
          <a:bodyPr wrap="square" lIns="0" tIns="0" rIns="0" bIns="0" rtlCol="0" anchor="t"/>
          <a:lstStyle/>
          <a:p>
            <a:pPr indent="0" marL="0">
              <a:buNone/>
            </a:pPr>
            <a:r>
              <a:rPr lang="en-US" sz="950" dirty="0">
                <a:solidFill>
                  <a:schemeClr val="accent5"/>
                </a:solidFill>
              </a:rPr>
              <a:t>~60% electro-medical equipment</a:t>
            </a:r>
            <a:endParaRPr lang="en-US" sz="950" dirty="0"/>
          </a:p>
        </p:txBody>
      </p:sp>
      <p:sp>
        <p:nvSpPr>
          <p:cNvPr id="64" name="Stat Exports, FY2024-25"/>
          <p:cNvSpPr/>
          <p:nvPr/>
        </p:nvSpPr>
        <p:spPr>
          <a:xfrm>
            <a:off x="9438437" y="4956048"/>
            <a:ext cx="2204618" cy="1298448"/>
          </a:xfrm>
          <a:prstGeom prst="roundRect">
            <a:avLst>
              <a:gd name="adj" fmla="val 8451"/>
            </a:avLst>
          </a:prstGeom>
          <a:solidFill>
            <a:schemeClr val="bg1"/>
          </a:solidFill>
          <a:ln w="9525">
            <a:solidFill>
              <a:srgbClr val="D5DFDD"/>
            </a:solidFill>
            <a:prstDash val="solid"/>
          </a:ln>
          <a:effectLst>
            <a:outerShdw sx="100000" sy="100000" kx="0" ky="0" algn="bl" rotWithShape="0" blurRad="76200" dist="25400" dir="5400000">
              <a:srgbClr val="000000">
                <a:alpha val="10000"/>
              </a:srgbClr>
            </a:outerShdw>
          </a:effectLst>
        </p:spPr>
      </p:sp>
      <p:sp>
        <p:nvSpPr>
          <p:cNvPr id="65" name="Stat accent"/>
          <p:cNvSpPr/>
          <p:nvPr/>
        </p:nvSpPr>
        <p:spPr>
          <a:xfrm>
            <a:off x="9438437" y="5184648"/>
            <a:ext cx="64008" cy="841248"/>
          </a:xfrm>
          <a:prstGeom prst="rect">
            <a:avLst/>
          </a:prstGeom>
          <a:solidFill>
            <a:schemeClr val="accent1"/>
          </a:solidFill>
          <a:ln/>
        </p:spPr>
      </p:sp>
      <p:sp>
        <p:nvSpPr>
          <p:cNvPr id="66" name="Icon disc LuPlane"/>
          <p:cNvSpPr/>
          <p:nvPr/>
        </p:nvSpPr>
        <p:spPr>
          <a:xfrm>
            <a:off x="11076127" y="5138928"/>
            <a:ext cx="402336" cy="402336"/>
          </a:xfrm>
          <a:prstGeom prst="ellipse">
            <a:avLst/>
          </a:prstGeom>
          <a:solidFill>
            <a:schemeClr val="accent1">
              <a:alpha val="15000"/>
            </a:schemeClr>
          </a:solidFill>
          <a:ln/>
        </p:spPr>
      </p:sp>
      <p:pic>
        <p:nvPicPr>
          <p:cNvPr id="67" name="Image 3" descr="Plane icon">    </p:cNvPr>
          <p:cNvPicPr>
            <a:picLocks noChangeAspect="1"/>
          </p:cNvPicPr>
          <p:nvPr/>
        </p:nvPicPr>
        <p:blipFill>
          <a:blip r:embed="rId4"/>
          <a:stretch>
            <a:fillRect/>
          </a:stretch>
        </p:blipFill>
        <p:spPr>
          <a:xfrm>
            <a:off x="11164641" y="5227442"/>
            <a:ext cx="225308" cy="225308"/>
          </a:xfrm>
          <a:prstGeom prst="rect">
            <a:avLst/>
          </a:prstGeom>
        </p:spPr>
      </p:pic>
      <p:sp>
        <p:nvSpPr>
          <p:cNvPr id="68" name="Text 61"/>
          <p:cNvSpPr txBox="1"/>
          <p:nvPr/>
        </p:nvSpPr>
        <p:spPr>
          <a:xfrm>
            <a:off x="9667037" y="5093208"/>
            <a:ext cx="1335938" cy="685800"/>
          </a:xfrm>
          <a:prstGeom prst="rect">
            <a:avLst/>
          </a:prstGeom>
          <a:noFill/>
          <a:ln/>
        </p:spPr>
        <p:txBody>
          <a:bodyPr wrap="square" lIns="0" tIns="0" rIns="0" bIns="0" rtlCol="0" anchor="ctr"/>
          <a:lstStyle/>
          <a:p>
            <a:pPr indent="0" marL="0">
              <a:buNone/>
            </a:pPr>
            <a:r>
              <a:rPr lang="en-US" sz="1900" b="1" dirty="0">
                <a:solidFill>
                  <a:schemeClr val="accent1"/>
                </a:solidFill>
              </a:rPr>
              <a:t>US$ 4.1 bn</a:t>
            </a:r>
            <a:endParaRPr lang="en-US" sz="1900" dirty="0"/>
          </a:p>
        </p:txBody>
      </p:sp>
      <p:sp>
        <p:nvSpPr>
          <p:cNvPr id="69" name="Text 62"/>
          <p:cNvSpPr txBox="1"/>
          <p:nvPr/>
        </p:nvSpPr>
        <p:spPr>
          <a:xfrm>
            <a:off x="9667037" y="5779008"/>
            <a:ext cx="1838858" cy="292608"/>
          </a:xfrm>
          <a:prstGeom prst="rect">
            <a:avLst/>
          </a:prstGeom>
          <a:noFill/>
          <a:ln/>
        </p:spPr>
        <p:txBody>
          <a:bodyPr wrap="square" lIns="0" tIns="0" rIns="0" bIns="0" rtlCol="0" anchor="t"/>
          <a:lstStyle/>
          <a:p>
            <a:pPr indent="0" marL="0">
              <a:buNone/>
            </a:pPr>
            <a:r>
              <a:rPr lang="en-US" sz="1200" b="1" dirty="0">
                <a:solidFill>
                  <a:schemeClr val="tx1"/>
                </a:solidFill>
              </a:rPr>
              <a:t>Exports, FY2024-25</a:t>
            </a:r>
            <a:endParaRPr lang="en-US" sz="1200" dirty="0"/>
          </a:p>
        </p:txBody>
      </p:sp>
      <p:sp>
        <p:nvSpPr>
          <p:cNvPr id="70" name="Text 63"/>
          <p:cNvSpPr txBox="1"/>
          <p:nvPr/>
        </p:nvSpPr>
        <p:spPr>
          <a:xfrm>
            <a:off x="9667037" y="6053328"/>
            <a:ext cx="1838858" cy="155448"/>
          </a:xfrm>
          <a:prstGeom prst="rect">
            <a:avLst/>
          </a:prstGeom>
          <a:noFill/>
          <a:ln/>
        </p:spPr>
        <p:txBody>
          <a:bodyPr wrap="square" lIns="0" tIns="0" rIns="0" bIns="0" rtlCol="0" anchor="t"/>
          <a:lstStyle/>
          <a:p>
            <a:pPr indent="0" marL="0">
              <a:buNone/>
            </a:pPr>
            <a:r>
              <a:rPr lang="en-US" sz="950" dirty="0">
                <a:solidFill>
                  <a:schemeClr val="accent5"/>
                </a:solidFill>
              </a:rPr>
              <a:t>from US$ 2.5 bn in FY2020-21</a:t>
            </a: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548640" y="2103120"/>
            <a:ext cx="7315200" cy="292608"/>
          </a:xfrm>
          <a:prstGeom prst="rect">
            <a:avLst/>
          </a:prstGeom>
          <a:noFill/>
          <a:ln/>
        </p:spPr>
        <p:txBody>
          <a:bodyPr wrap="square" lIns="0" tIns="0" rIns="0" bIns="0" rtlCol="0" anchor="t"/>
          <a:lstStyle/>
          <a:p>
            <a:pPr algn="l" indent="0" marL="0">
              <a:buNone/>
            </a:pPr>
            <a:r>
              <a:rPr lang="en-US" sz="1300" b="1" spc="300" kern="0" dirty="0">
                <a:solidFill>
                  <a:schemeClr val="accent2"/>
                </a:solidFill>
              </a:rPr>
              <a:t>PART 4 · PERMISSION ABROAD</a:t>
            </a:r>
            <a:endParaRPr lang="en-US" sz="1300" dirty="0"/>
          </a:p>
        </p:txBody>
      </p:sp>
      <p:sp>
        <p:nvSpPr>
          <p:cNvPr id="3" name="Text 0"/>
          <p:cNvSpPr/>
          <p:nvPr>
            <p:ph idx="101" type="title" hasCustomPrompt="1"/>
          </p:nvPr>
        </p:nvSpPr>
        <p:spPr>
          <a:xfrm>
            <a:off x="548640" y="2468880"/>
            <a:ext cx="7498080" cy="1463040"/>
          </a:xfrm>
          <a:prstGeom prst="rect">
            <a:avLst/>
          </a:prstGeom>
          <a:noFill/>
          <a:ln/>
        </p:spPr>
        <p:txBody>
          <a:bodyPr wrap="square" lIns="0" tIns="0" rIns="0" bIns="0" rtlCol="0" anchor="t"/>
          <a:lstStyle/>
          <a:p>
            <a:pPr algn="l" indent="0" marL="0">
              <a:buNone/>
            </a:pPr>
            <a:r>
              <a:rPr lang="en-US" sz="4200" b="1" dirty="0">
                <a:solidFill>
                  <a:schemeClr val="bg1"/>
                </a:solidFill>
              </a:rPr>
              <a:t>Same questions, different answers</a:t>
            </a:r>
            <a:endParaRPr lang="en-US" sz="4200" dirty="0"/>
          </a:p>
        </p:txBody>
      </p:sp>
      <p:sp>
        <p:nvSpPr>
          <p:cNvPr id="5" name="Text 0"/>
          <p:cNvSpPr/>
          <p:nvPr>
            <p:ph idx="102" type="body" hasCustomPrompt="1"/>
          </p:nvPr>
        </p:nvSpPr>
        <p:spPr>
          <a:xfrm>
            <a:off x="548640" y="3977640"/>
            <a:ext cx="6949440" cy="914400"/>
          </a:xfrm>
          <a:prstGeom prst="rect">
            <a:avLst/>
          </a:prstGeom>
          <a:noFill/>
          <a:ln/>
        </p:spPr>
        <p:txBody>
          <a:bodyPr wrap="square" lIns="0" tIns="0" rIns="0" bIns="0" rtlCol="0" anchor="t"/>
          <a:lstStyle/>
          <a:p>
            <a:pPr algn="l" indent="0" marL="0">
              <a:buNone/>
            </a:pPr>
            <a:r>
              <a:rPr lang="en-US" sz="1700" dirty="0">
                <a:solidFill>
                  <a:schemeClr val="accent6"/>
                </a:solidFill>
              </a:rPr>
              <a:t>What is it for, how risky is it, what evidence, who keeps watching? Every regulator asks the same four questions and answers with different forms, fees and clocks.</a:t>
            </a:r>
            <a:endParaRPr lang="en-US" sz="1700" dirty="0"/>
          </a:p>
        </p:txBody>
      </p:sp>
      <p:sp>
        <p:nvSpPr>
          <p:cNvPr id="6" name="Text 3"/>
          <p:cNvSpPr txBox="1"/>
          <p:nvPr/>
        </p:nvSpPr>
        <p:spPr>
          <a:xfrm>
            <a:off x="502920" y="502920"/>
            <a:ext cx="3657600" cy="1463040"/>
          </a:xfrm>
          <a:prstGeom prst="rect">
            <a:avLst/>
          </a:prstGeom>
          <a:noFill/>
          <a:ln/>
        </p:spPr>
        <p:txBody>
          <a:bodyPr wrap="square" lIns="0" tIns="0" rIns="0" bIns="0" rtlCol="0" anchor="t"/>
          <a:lstStyle/>
          <a:p>
            <a:pPr indent="0" marL="0">
              <a:buNone/>
            </a:pPr>
            <a:r>
              <a:rPr lang="en-US" sz="9600" b="1" dirty="0">
                <a:solidFill>
                  <a:schemeClr val="accent6">
                    <a:alpha val="30000"/>
                  </a:schemeClr>
                </a:solidFill>
                <a:latin typeface="Cambria" pitchFamily="34" charset="0"/>
                <a:ea typeface="Cambria" pitchFamily="34" charset="-122"/>
                <a:cs typeface="Cambria" pitchFamily="34" charset="-120"/>
              </a:rPr>
              <a:t>04</a:t>
            </a:r>
            <a:endParaRPr lang="en-US" sz="9600" dirty="0"/>
          </a:p>
        </p:txBody>
      </p:sp>
      <p:sp>
        <p:nvSpPr>
          <p:cNvPr id="7" name="Icon disc LuGlobe"/>
          <p:cNvSpPr/>
          <p:nvPr/>
        </p:nvSpPr>
        <p:spPr>
          <a:xfrm>
            <a:off x="548640" y="5074920"/>
            <a:ext cx="329184" cy="329184"/>
          </a:xfrm>
          <a:prstGeom prst="ellipse">
            <a:avLst/>
          </a:prstGeom>
          <a:solidFill>
            <a:schemeClr val="accent2"/>
          </a:solidFill>
          <a:ln/>
        </p:spPr>
      </p:sp>
      <p:pic>
        <p:nvPicPr>
          <p:cNvPr id="8" name="Image 0" descr="Globe icon">    </p:cNvPr>
          <p:cNvPicPr>
            <a:picLocks noChangeAspect="1"/>
          </p:cNvPicPr>
          <p:nvPr/>
        </p:nvPicPr>
        <p:blipFill>
          <a:blip r:embed="rId1"/>
          <a:stretch>
            <a:fillRect/>
          </a:stretch>
        </p:blipFill>
        <p:spPr>
          <a:xfrm>
            <a:off x="621060" y="5147340"/>
            <a:ext cx="184343" cy="184343"/>
          </a:xfrm>
          <a:prstGeom prst="rect">
            <a:avLst/>
          </a:prstGeom>
        </p:spPr>
      </p:pic>
      <p:sp>
        <p:nvSpPr>
          <p:cNvPr id="9" name="Text 5"/>
          <p:cNvSpPr txBox="1"/>
          <p:nvPr/>
        </p:nvSpPr>
        <p:spPr>
          <a:xfrm>
            <a:off x="1005840" y="5074920"/>
            <a:ext cx="6858000" cy="329184"/>
          </a:xfrm>
          <a:prstGeom prst="rect">
            <a:avLst/>
          </a:prstGeom>
          <a:noFill/>
          <a:ln/>
        </p:spPr>
        <p:txBody>
          <a:bodyPr wrap="square" lIns="0" tIns="0" rIns="0" bIns="0" rtlCol="0" anchor="ctr"/>
          <a:lstStyle/>
          <a:p>
            <a:pPr indent="0" marL="0">
              <a:buNone/>
            </a:pPr>
            <a:r>
              <a:rPr lang="en-US" sz="1300" dirty="0">
                <a:solidFill>
                  <a:schemeClr val="bg1"/>
                </a:solidFill>
              </a:rPr>
              <a:t>Who regulates where, and the forum that links them: IMDRF, MDSAP, WHO</a:t>
            </a:r>
            <a:endParaRPr lang="en-US" sz="1300" dirty="0"/>
          </a:p>
        </p:txBody>
      </p:sp>
      <p:sp>
        <p:nvSpPr>
          <p:cNvPr id="10" name="Icon disc LuLayers"/>
          <p:cNvSpPr/>
          <p:nvPr/>
        </p:nvSpPr>
        <p:spPr>
          <a:xfrm>
            <a:off x="548640" y="5532120"/>
            <a:ext cx="329184" cy="329184"/>
          </a:xfrm>
          <a:prstGeom prst="ellipse">
            <a:avLst/>
          </a:prstGeom>
          <a:solidFill>
            <a:schemeClr val="accent2"/>
          </a:solidFill>
          <a:ln/>
        </p:spPr>
      </p:sp>
      <p:pic>
        <p:nvPicPr>
          <p:cNvPr id="11" name="Image 1" descr="Layers icon">    </p:cNvPr>
          <p:cNvPicPr>
            <a:picLocks noChangeAspect="1"/>
          </p:cNvPicPr>
          <p:nvPr/>
        </p:nvPicPr>
        <p:blipFill>
          <a:blip r:embed="rId2"/>
          <a:stretch>
            <a:fillRect/>
          </a:stretch>
        </p:blipFill>
        <p:spPr>
          <a:xfrm>
            <a:off x="621060" y="5604540"/>
            <a:ext cx="184343" cy="184343"/>
          </a:xfrm>
          <a:prstGeom prst="rect">
            <a:avLst/>
          </a:prstGeom>
        </p:spPr>
      </p:pic>
      <p:sp>
        <p:nvSpPr>
          <p:cNvPr id="12" name="Text 7"/>
          <p:cNvSpPr txBox="1"/>
          <p:nvPr/>
        </p:nvSpPr>
        <p:spPr>
          <a:xfrm>
            <a:off x="1005840" y="5532120"/>
            <a:ext cx="6858000" cy="329184"/>
          </a:xfrm>
          <a:prstGeom prst="rect">
            <a:avLst/>
          </a:prstGeom>
          <a:noFill/>
          <a:ln/>
        </p:spPr>
        <p:txBody>
          <a:bodyPr wrap="square" lIns="0" tIns="0" rIns="0" bIns="0" rtlCol="0" anchor="ctr"/>
          <a:lstStyle/>
          <a:p>
            <a:pPr indent="0" marL="0">
              <a:buNone/>
            </a:pPr>
            <a:r>
              <a:rPr lang="en-US" sz="1300" dirty="0">
                <a:solidFill>
                  <a:schemeClr val="bg1"/>
                </a:solidFill>
              </a:rPr>
              <a:t>Risk classes mapped across India, the USA, the EU, Japan, Canada and Australia</a:t>
            </a:r>
            <a:endParaRPr lang="en-US" sz="1300" dirty="0"/>
          </a:p>
        </p:txBody>
      </p:sp>
      <p:sp>
        <p:nvSpPr>
          <p:cNvPr id="13" name="Icon disc LuFileStack"/>
          <p:cNvSpPr/>
          <p:nvPr/>
        </p:nvSpPr>
        <p:spPr>
          <a:xfrm>
            <a:off x="548640" y="5989320"/>
            <a:ext cx="329184" cy="329184"/>
          </a:xfrm>
          <a:prstGeom prst="ellipse">
            <a:avLst/>
          </a:prstGeom>
          <a:solidFill>
            <a:schemeClr val="accent2"/>
          </a:solidFill>
          <a:ln/>
        </p:spPr>
      </p:sp>
      <p:pic>
        <p:nvPicPr>
          <p:cNvPr id="14" name="Image 2" descr="FileStack icon">    </p:cNvPr>
          <p:cNvPicPr>
            <a:picLocks noChangeAspect="1"/>
          </p:cNvPicPr>
          <p:nvPr/>
        </p:nvPicPr>
        <p:blipFill>
          <a:blip r:embed="rId3"/>
          <a:stretch>
            <a:fillRect/>
          </a:stretch>
        </p:blipFill>
        <p:spPr>
          <a:xfrm>
            <a:off x="621060" y="6061740"/>
            <a:ext cx="184343" cy="184343"/>
          </a:xfrm>
          <a:prstGeom prst="rect">
            <a:avLst/>
          </a:prstGeom>
        </p:spPr>
      </p:pic>
      <p:sp>
        <p:nvSpPr>
          <p:cNvPr id="15" name="Text 9"/>
          <p:cNvSpPr txBox="1"/>
          <p:nvPr/>
        </p:nvSpPr>
        <p:spPr>
          <a:xfrm>
            <a:off x="1005840" y="5989320"/>
            <a:ext cx="6858000" cy="329184"/>
          </a:xfrm>
          <a:prstGeom prst="rect">
            <a:avLst/>
          </a:prstGeom>
          <a:noFill/>
          <a:ln/>
        </p:spPr>
        <p:txBody>
          <a:bodyPr wrap="square" lIns="0" tIns="0" rIns="0" bIns="0" rtlCol="0" anchor="ctr"/>
          <a:lstStyle/>
          <a:p>
            <a:pPr indent="0" marL="0">
              <a:buNone/>
            </a:pPr>
            <a:r>
              <a:rPr lang="en-US" sz="1300" dirty="0">
                <a:solidFill>
                  <a:schemeClr val="bg1"/>
                </a:solidFill>
              </a:rPr>
              <a:t>One dossier, many markets: the standards and reliance routes that travel</a:t>
            </a:r>
            <a:endParaRPr lang="en-US" sz="1300" dirty="0"/>
          </a:p>
        </p:txBody>
      </p:sp>
      <p:pic>
        <p:nvPicPr>
          <p:cNvPr id="16" name="Image 3" descr="FoGO ankle module, 2026: one device, classified separately in every jurisdiction">    </p:cNvPr>
          <p:cNvPicPr>
            <a:picLocks noChangeAspect="1"/>
          </p:cNvPicPr>
          <p:nvPr/>
        </p:nvPicPr>
        <p:blipFill>
          <a:blip r:embed="rId4"/>
          <a:stretch>
            <a:fillRect/>
          </a:stretch>
        </p:blipFill>
        <p:spPr>
          <a:xfrm>
            <a:off x="8138160" y="1371600"/>
            <a:ext cx="3520440" cy="4114800"/>
          </a:xfrm>
          <a:prstGeom prst="rect">
            <a:avLst/>
          </a:prstGeom>
        </p:spPr>
      </p:pic>
      <p:sp>
        <p:nvSpPr>
          <p:cNvPr id="17" name="Text 10"/>
          <p:cNvSpPr txBox="1"/>
          <p:nvPr/>
        </p:nvSpPr>
        <p:spPr>
          <a:xfrm>
            <a:off x="8138160" y="5541264"/>
            <a:ext cx="3520440" cy="274320"/>
          </a:xfrm>
          <a:prstGeom prst="rect">
            <a:avLst/>
          </a:prstGeom>
          <a:noFill/>
          <a:ln/>
        </p:spPr>
        <p:txBody>
          <a:bodyPr wrap="square" lIns="0" tIns="0" rIns="0" bIns="0" rtlCol="0" anchor="t"/>
          <a:lstStyle/>
          <a:p>
            <a:pPr indent="0" marL="0">
              <a:buNone/>
            </a:pPr>
            <a:r>
              <a:rPr lang="en-US" sz="950" i="1" dirty="0">
                <a:solidFill>
                  <a:schemeClr val="accent6"/>
                </a:solidFill>
              </a:rPr>
              <a:t>FoGO ankle module, 2026: one device, classified separately in every jurisdiction</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ABROAD · REGULATORS</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Where the rules come from</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IMDRF (Swissmedic, Mar 2025); MoHFW press release 3 Oct 2024; MDSAP (TÜV SÜD); WHO framework 2017; WHO WLA 7 Aug 2025; NANDO analysis 2026</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pic>
        <p:nvPicPr>
          <p:cNvPr id="12" name="Image 0" descr="World map with highlighted regulators">    </p:cNvPr>
          <p:cNvPicPr>
            <a:picLocks noChangeAspect="1"/>
          </p:cNvPicPr>
          <p:nvPr/>
        </p:nvPicPr>
        <p:blipFill>
          <a:blip r:embed="rId1"/>
          <a:stretch>
            <a:fillRect/>
          </a:stretch>
        </p:blipFill>
        <p:spPr>
          <a:xfrm>
            <a:off x="548640" y="1463040"/>
            <a:ext cx="6766560" cy="4461910"/>
          </a:xfrm>
          <a:prstGeom prst="rect">
            <a:avLst/>
          </a:prstGeom>
        </p:spPr>
      </p:pic>
      <p:sp>
        <p:nvSpPr>
          <p:cNvPr id="13" name="Marker CDSCO"/>
          <p:cNvSpPr/>
          <p:nvPr/>
        </p:nvSpPr>
        <p:spPr>
          <a:xfrm>
            <a:off x="5263150" y="4090908"/>
            <a:ext cx="164592" cy="164592"/>
          </a:xfrm>
          <a:prstGeom prst="ellipse">
            <a:avLst/>
          </a:prstGeom>
          <a:solidFill>
            <a:schemeClr val="accent2"/>
          </a:solidFill>
          <a:ln w="19050">
            <a:solidFill>
              <a:schemeClr val="tx2"/>
            </a:solidFill>
            <a:prstDash val="solid"/>
          </a:ln>
        </p:spPr>
      </p:sp>
      <p:sp>
        <p:nvSpPr>
          <p:cNvPr id="14" name="Text 10"/>
          <p:cNvSpPr txBox="1"/>
          <p:nvPr/>
        </p:nvSpPr>
        <p:spPr>
          <a:xfrm>
            <a:off x="4888246" y="4282932"/>
            <a:ext cx="914400" cy="274320"/>
          </a:xfrm>
          <a:prstGeom prst="rect">
            <a:avLst/>
          </a:prstGeom>
          <a:noFill/>
          <a:ln/>
        </p:spPr>
        <p:txBody>
          <a:bodyPr wrap="square" lIns="0" tIns="0" rIns="0" bIns="0" rtlCol="0" anchor="ctr"/>
          <a:lstStyle/>
          <a:p>
            <a:pPr algn="ctr" indent="0" marL="0">
              <a:buNone/>
            </a:pPr>
            <a:r>
              <a:rPr lang="en-US" sz="1000" b="1" dirty="0">
                <a:solidFill>
                  <a:schemeClr val="bg1"/>
                </a:solidFill>
              </a:rPr>
              <a:t>CDSCO</a:t>
            </a:r>
            <a:endParaRPr lang="en-US" sz="1000" dirty="0"/>
          </a:p>
        </p:txBody>
      </p:sp>
      <p:sp>
        <p:nvSpPr>
          <p:cNvPr id="15" name="Marker FDA"/>
          <p:cNvSpPr/>
          <p:nvPr/>
        </p:nvSpPr>
        <p:spPr>
          <a:xfrm>
            <a:off x="1039416" y="2947423"/>
            <a:ext cx="164592" cy="164592"/>
          </a:xfrm>
          <a:prstGeom prst="ellipse">
            <a:avLst/>
          </a:prstGeom>
          <a:solidFill>
            <a:schemeClr val="accent2"/>
          </a:solidFill>
          <a:ln w="19050">
            <a:solidFill>
              <a:schemeClr val="tx2"/>
            </a:solidFill>
            <a:prstDash val="solid"/>
          </a:ln>
        </p:spPr>
      </p:sp>
      <p:sp>
        <p:nvSpPr>
          <p:cNvPr id="16" name="Text 12"/>
          <p:cNvSpPr txBox="1"/>
          <p:nvPr/>
        </p:nvSpPr>
        <p:spPr>
          <a:xfrm>
            <a:off x="710232" y="3139447"/>
            <a:ext cx="822960" cy="274320"/>
          </a:xfrm>
          <a:prstGeom prst="rect">
            <a:avLst/>
          </a:prstGeom>
          <a:noFill/>
          <a:ln/>
        </p:spPr>
        <p:txBody>
          <a:bodyPr wrap="square" lIns="0" tIns="0" rIns="0" bIns="0" rtlCol="0" anchor="ctr"/>
          <a:lstStyle/>
          <a:p>
            <a:pPr algn="ctr" indent="0" marL="0">
              <a:buNone/>
            </a:pPr>
            <a:r>
              <a:rPr lang="en-US" sz="1000" b="1" dirty="0">
                <a:solidFill>
                  <a:schemeClr val="bg1"/>
                </a:solidFill>
              </a:rPr>
              <a:t>FDA</a:t>
            </a:r>
            <a:endParaRPr lang="en-US" sz="1000" dirty="0"/>
          </a:p>
        </p:txBody>
      </p:sp>
      <p:sp>
        <p:nvSpPr>
          <p:cNvPr id="17" name="Marker Health Canada"/>
          <p:cNvSpPr/>
          <p:nvPr/>
        </p:nvSpPr>
        <p:spPr>
          <a:xfrm>
            <a:off x="2210584" y="1838568"/>
            <a:ext cx="164592" cy="164592"/>
          </a:xfrm>
          <a:prstGeom prst="ellipse">
            <a:avLst/>
          </a:prstGeom>
          <a:solidFill>
            <a:schemeClr val="accent2"/>
          </a:solidFill>
          <a:ln w="19050">
            <a:solidFill>
              <a:schemeClr val="tx2"/>
            </a:solidFill>
            <a:prstDash val="solid"/>
          </a:ln>
        </p:spPr>
      </p:sp>
      <p:sp>
        <p:nvSpPr>
          <p:cNvPr id="18" name="Text 14"/>
          <p:cNvSpPr txBox="1"/>
          <p:nvPr/>
        </p:nvSpPr>
        <p:spPr>
          <a:xfrm>
            <a:off x="1652800" y="1536816"/>
            <a:ext cx="1280160" cy="274320"/>
          </a:xfrm>
          <a:prstGeom prst="rect">
            <a:avLst/>
          </a:prstGeom>
          <a:noFill/>
          <a:ln/>
        </p:spPr>
        <p:txBody>
          <a:bodyPr wrap="square" lIns="0" tIns="0" rIns="0" bIns="0" rtlCol="0" anchor="ctr"/>
          <a:lstStyle/>
          <a:p>
            <a:pPr algn="ctr" indent="0" marL="0">
              <a:buNone/>
            </a:pPr>
            <a:r>
              <a:rPr lang="en-US" sz="1000" b="1" dirty="0">
                <a:solidFill>
                  <a:schemeClr val="bg1"/>
                </a:solidFill>
              </a:rPr>
              <a:t>Health Canada</a:t>
            </a:r>
            <a:endParaRPr lang="en-US" sz="1000" dirty="0"/>
          </a:p>
        </p:txBody>
      </p:sp>
      <p:sp>
        <p:nvSpPr>
          <p:cNvPr id="19" name="Marker MHRA"/>
          <p:cNvSpPr/>
          <p:nvPr/>
        </p:nvSpPr>
        <p:spPr>
          <a:xfrm>
            <a:off x="3611188" y="3261190"/>
            <a:ext cx="164592" cy="164592"/>
          </a:xfrm>
          <a:prstGeom prst="ellipse">
            <a:avLst/>
          </a:prstGeom>
          <a:solidFill>
            <a:schemeClr val="accent2"/>
          </a:solidFill>
          <a:ln w="19050">
            <a:solidFill>
              <a:schemeClr val="tx2"/>
            </a:solidFill>
            <a:prstDash val="solid"/>
          </a:ln>
        </p:spPr>
      </p:sp>
      <p:sp>
        <p:nvSpPr>
          <p:cNvPr id="20" name="Text 16"/>
          <p:cNvSpPr txBox="1"/>
          <p:nvPr/>
        </p:nvSpPr>
        <p:spPr>
          <a:xfrm>
            <a:off x="2742508" y="3206326"/>
            <a:ext cx="822960" cy="274320"/>
          </a:xfrm>
          <a:prstGeom prst="rect">
            <a:avLst/>
          </a:prstGeom>
          <a:noFill/>
          <a:ln/>
        </p:spPr>
        <p:txBody>
          <a:bodyPr wrap="square" lIns="0" tIns="0" rIns="0" bIns="0" rtlCol="0" anchor="ctr"/>
          <a:lstStyle/>
          <a:p>
            <a:pPr algn="r" indent="0" marL="0">
              <a:buNone/>
            </a:pPr>
            <a:r>
              <a:rPr lang="en-US" sz="1000" b="1" dirty="0">
                <a:solidFill>
                  <a:schemeClr val="bg1"/>
                </a:solidFill>
              </a:rPr>
              <a:t>MHRA</a:t>
            </a:r>
            <a:endParaRPr lang="en-US" sz="1000" dirty="0"/>
          </a:p>
        </p:txBody>
      </p:sp>
      <p:sp>
        <p:nvSpPr>
          <p:cNvPr id="21" name="Marker EU notified bodies"/>
          <p:cNvSpPr/>
          <p:nvPr/>
        </p:nvSpPr>
        <p:spPr>
          <a:xfrm>
            <a:off x="3880688" y="3326086"/>
            <a:ext cx="164592" cy="164592"/>
          </a:xfrm>
          <a:prstGeom prst="ellipse">
            <a:avLst/>
          </a:prstGeom>
          <a:solidFill>
            <a:schemeClr val="accent1"/>
          </a:solidFill>
          <a:ln w="19050">
            <a:solidFill>
              <a:schemeClr val="tx2"/>
            </a:solidFill>
            <a:prstDash val="solid"/>
          </a:ln>
        </p:spPr>
      </p:sp>
      <p:sp>
        <p:nvSpPr>
          <p:cNvPr id="22" name="Text 18"/>
          <p:cNvSpPr txBox="1"/>
          <p:nvPr/>
        </p:nvSpPr>
        <p:spPr>
          <a:xfrm>
            <a:off x="4091000" y="3271222"/>
            <a:ext cx="1554480" cy="274320"/>
          </a:xfrm>
          <a:prstGeom prst="rect">
            <a:avLst/>
          </a:prstGeom>
          <a:noFill/>
          <a:ln/>
        </p:spPr>
        <p:txBody>
          <a:bodyPr wrap="square" lIns="0" tIns="0" rIns="0" bIns="0" rtlCol="0" anchor="ctr"/>
          <a:lstStyle/>
          <a:p>
            <a:pPr algn="l" indent="0" marL="0">
              <a:buNone/>
            </a:pPr>
            <a:r>
              <a:rPr lang="en-US" sz="1000" b="1" dirty="0">
                <a:solidFill>
                  <a:schemeClr val="bg1"/>
                </a:solidFill>
              </a:rPr>
              <a:t>EU notified bodies</a:t>
            </a:r>
            <a:endParaRPr lang="en-US" sz="1000" dirty="0"/>
          </a:p>
        </p:txBody>
      </p:sp>
      <p:sp>
        <p:nvSpPr>
          <p:cNvPr id="23" name="Marker NMPA"/>
          <p:cNvSpPr/>
          <p:nvPr/>
        </p:nvSpPr>
        <p:spPr>
          <a:xfrm>
            <a:off x="6006075" y="3335931"/>
            <a:ext cx="164592" cy="164592"/>
          </a:xfrm>
          <a:prstGeom prst="ellipse">
            <a:avLst/>
          </a:prstGeom>
          <a:solidFill>
            <a:schemeClr val="accent2"/>
          </a:solidFill>
          <a:ln w="19050">
            <a:solidFill>
              <a:schemeClr val="tx2"/>
            </a:solidFill>
            <a:prstDash val="solid"/>
          </a:ln>
        </p:spPr>
      </p:sp>
      <p:sp>
        <p:nvSpPr>
          <p:cNvPr id="24" name="Text 20"/>
          <p:cNvSpPr txBox="1"/>
          <p:nvPr/>
        </p:nvSpPr>
        <p:spPr>
          <a:xfrm>
            <a:off x="5676891" y="3034179"/>
            <a:ext cx="822960" cy="274320"/>
          </a:xfrm>
          <a:prstGeom prst="rect">
            <a:avLst/>
          </a:prstGeom>
          <a:noFill/>
          <a:ln/>
        </p:spPr>
        <p:txBody>
          <a:bodyPr wrap="square" lIns="0" tIns="0" rIns="0" bIns="0" rtlCol="0" anchor="ctr"/>
          <a:lstStyle/>
          <a:p>
            <a:pPr algn="ctr" indent="0" marL="0">
              <a:buNone/>
            </a:pPr>
            <a:r>
              <a:rPr lang="en-US" sz="1000" b="1" dirty="0">
                <a:solidFill>
                  <a:schemeClr val="bg1"/>
                </a:solidFill>
              </a:rPr>
              <a:t>NMPA</a:t>
            </a:r>
            <a:endParaRPr lang="en-US" sz="1000" dirty="0"/>
          </a:p>
        </p:txBody>
      </p:sp>
      <p:sp>
        <p:nvSpPr>
          <p:cNvPr id="25" name="Marker PMDA"/>
          <p:cNvSpPr/>
          <p:nvPr/>
        </p:nvSpPr>
        <p:spPr>
          <a:xfrm>
            <a:off x="6333402" y="3576948"/>
            <a:ext cx="164592" cy="164592"/>
          </a:xfrm>
          <a:prstGeom prst="ellipse">
            <a:avLst/>
          </a:prstGeom>
          <a:solidFill>
            <a:schemeClr val="accent2"/>
          </a:solidFill>
          <a:ln w="19050">
            <a:solidFill>
              <a:schemeClr val="tx2"/>
            </a:solidFill>
            <a:prstDash val="solid"/>
          </a:ln>
        </p:spPr>
      </p:sp>
      <p:sp>
        <p:nvSpPr>
          <p:cNvPr id="26" name="Text 22"/>
          <p:cNvSpPr txBox="1"/>
          <p:nvPr/>
        </p:nvSpPr>
        <p:spPr>
          <a:xfrm>
            <a:off x="6543714" y="3522084"/>
            <a:ext cx="822960" cy="274320"/>
          </a:xfrm>
          <a:prstGeom prst="rect">
            <a:avLst/>
          </a:prstGeom>
          <a:noFill/>
          <a:ln/>
        </p:spPr>
        <p:txBody>
          <a:bodyPr wrap="square" lIns="0" tIns="0" rIns="0" bIns="0" rtlCol="0" anchor="ctr"/>
          <a:lstStyle/>
          <a:p>
            <a:pPr algn="l" indent="0" marL="0">
              <a:buNone/>
            </a:pPr>
            <a:r>
              <a:rPr lang="en-US" sz="1000" b="1" dirty="0">
                <a:solidFill>
                  <a:schemeClr val="bg1"/>
                </a:solidFill>
              </a:rPr>
              <a:t>PMDA</a:t>
            </a:r>
            <a:endParaRPr lang="en-US" sz="1000" dirty="0"/>
          </a:p>
        </p:txBody>
      </p:sp>
      <p:sp>
        <p:nvSpPr>
          <p:cNvPr id="27" name="Marker HSA"/>
          <p:cNvSpPr/>
          <p:nvPr/>
        </p:nvSpPr>
        <p:spPr>
          <a:xfrm>
            <a:off x="5600048" y="4456788"/>
            <a:ext cx="164592" cy="164592"/>
          </a:xfrm>
          <a:prstGeom prst="ellipse">
            <a:avLst/>
          </a:prstGeom>
          <a:solidFill>
            <a:schemeClr val="accent2"/>
          </a:solidFill>
          <a:ln w="19050">
            <a:solidFill>
              <a:schemeClr val="tx2"/>
            </a:solidFill>
            <a:prstDash val="solid"/>
          </a:ln>
        </p:spPr>
      </p:sp>
      <p:sp>
        <p:nvSpPr>
          <p:cNvPr id="28" name="Text 24"/>
          <p:cNvSpPr txBox="1"/>
          <p:nvPr/>
        </p:nvSpPr>
        <p:spPr>
          <a:xfrm>
            <a:off x="5810360" y="4401924"/>
            <a:ext cx="731520" cy="274320"/>
          </a:xfrm>
          <a:prstGeom prst="rect">
            <a:avLst/>
          </a:prstGeom>
          <a:noFill/>
          <a:ln/>
        </p:spPr>
        <p:txBody>
          <a:bodyPr wrap="square" lIns="0" tIns="0" rIns="0" bIns="0" rtlCol="0" anchor="ctr"/>
          <a:lstStyle/>
          <a:p>
            <a:pPr algn="l" indent="0" marL="0">
              <a:buNone/>
            </a:pPr>
            <a:r>
              <a:rPr lang="en-US" sz="1000" b="1" dirty="0">
                <a:solidFill>
                  <a:schemeClr val="bg1"/>
                </a:solidFill>
              </a:rPr>
              <a:t>HSA</a:t>
            </a:r>
            <a:endParaRPr lang="en-US" sz="1000" dirty="0"/>
          </a:p>
        </p:txBody>
      </p:sp>
      <p:sp>
        <p:nvSpPr>
          <p:cNvPr id="29" name="Marker TGA"/>
          <p:cNvSpPr/>
          <p:nvPr/>
        </p:nvSpPr>
        <p:spPr>
          <a:xfrm>
            <a:off x="6261057" y="4857934"/>
            <a:ext cx="164592" cy="164592"/>
          </a:xfrm>
          <a:prstGeom prst="ellipse">
            <a:avLst/>
          </a:prstGeom>
          <a:solidFill>
            <a:schemeClr val="accent2"/>
          </a:solidFill>
          <a:ln w="19050">
            <a:solidFill>
              <a:schemeClr val="tx2"/>
            </a:solidFill>
            <a:prstDash val="solid"/>
          </a:ln>
        </p:spPr>
      </p:sp>
      <p:sp>
        <p:nvSpPr>
          <p:cNvPr id="30" name="Text 26"/>
          <p:cNvSpPr txBox="1"/>
          <p:nvPr/>
        </p:nvSpPr>
        <p:spPr>
          <a:xfrm>
            <a:off x="5931873" y="5049958"/>
            <a:ext cx="822960" cy="274320"/>
          </a:xfrm>
          <a:prstGeom prst="rect">
            <a:avLst/>
          </a:prstGeom>
          <a:noFill/>
          <a:ln/>
        </p:spPr>
        <p:txBody>
          <a:bodyPr wrap="square" lIns="0" tIns="0" rIns="0" bIns="0" rtlCol="0" anchor="ctr"/>
          <a:lstStyle/>
          <a:p>
            <a:pPr algn="ctr" indent="0" marL="0">
              <a:buNone/>
            </a:pPr>
            <a:r>
              <a:rPr lang="en-US" sz="1000" b="1" dirty="0">
                <a:solidFill>
                  <a:schemeClr val="bg1"/>
                </a:solidFill>
              </a:rPr>
              <a:t>TGA</a:t>
            </a:r>
            <a:endParaRPr lang="en-US" sz="1000" dirty="0"/>
          </a:p>
        </p:txBody>
      </p:sp>
      <p:sp>
        <p:nvSpPr>
          <p:cNvPr id="31" name="Marker ANVISA"/>
          <p:cNvSpPr/>
          <p:nvPr/>
        </p:nvSpPr>
        <p:spPr>
          <a:xfrm>
            <a:off x="2699716" y="4466593"/>
            <a:ext cx="164592" cy="164592"/>
          </a:xfrm>
          <a:prstGeom prst="ellipse">
            <a:avLst/>
          </a:prstGeom>
          <a:solidFill>
            <a:schemeClr val="accent2"/>
          </a:solidFill>
          <a:ln w="19050">
            <a:solidFill>
              <a:schemeClr val="tx2"/>
            </a:solidFill>
            <a:prstDash val="solid"/>
          </a:ln>
        </p:spPr>
      </p:sp>
      <p:sp>
        <p:nvSpPr>
          <p:cNvPr id="32" name="Text 28"/>
          <p:cNvSpPr txBox="1"/>
          <p:nvPr/>
        </p:nvSpPr>
        <p:spPr>
          <a:xfrm>
            <a:off x="2910028" y="4411729"/>
            <a:ext cx="914400" cy="274320"/>
          </a:xfrm>
          <a:prstGeom prst="rect">
            <a:avLst/>
          </a:prstGeom>
          <a:noFill/>
          <a:ln/>
        </p:spPr>
        <p:txBody>
          <a:bodyPr wrap="square" lIns="0" tIns="0" rIns="0" bIns="0" rtlCol="0" anchor="ctr"/>
          <a:lstStyle/>
          <a:p>
            <a:pPr algn="l" indent="0" marL="0">
              <a:buNone/>
            </a:pPr>
            <a:r>
              <a:rPr lang="en-US" sz="1000" b="1" dirty="0">
                <a:solidFill>
                  <a:schemeClr val="bg1"/>
                </a:solidFill>
              </a:rPr>
              <a:t>ANVISA</a:t>
            </a:r>
            <a:endParaRPr lang="en-US" sz="1000" dirty="0"/>
          </a:p>
        </p:txBody>
      </p:sp>
      <p:sp>
        <p:nvSpPr>
          <p:cNvPr id="33" name="Legend India · CDSCO, IMDRF affiliate since Sept 2024"/>
          <p:cNvSpPr/>
          <p:nvPr/>
        </p:nvSpPr>
        <p:spPr>
          <a:xfrm>
            <a:off x="548640" y="6035040"/>
            <a:ext cx="164592" cy="164592"/>
          </a:xfrm>
          <a:prstGeom prst="ellipse">
            <a:avLst/>
          </a:prstGeom>
          <a:solidFill>
            <a:schemeClr val="accent2"/>
          </a:solidFill>
          <a:ln/>
        </p:spPr>
      </p:sp>
      <p:sp>
        <p:nvSpPr>
          <p:cNvPr id="34" name="Text 30"/>
          <p:cNvSpPr txBox="1"/>
          <p:nvPr/>
        </p:nvSpPr>
        <p:spPr>
          <a:xfrm>
            <a:off x="786384" y="5961888"/>
            <a:ext cx="2622499" cy="310896"/>
          </a:xfrm>
          <a:prstGeom prst="rect">
            <a:avLst/>
          </a:prstGeom>
          <a:noFill/>
          <a:ln/>
        </p:spPr>
        <p:txBody>
          <a:bodyPr wrap="square" lIns="0" tIns="0" rIns="0" bIns="0" rtlCol="0" anchor="ctr"/>
          <a:lstStyle/>
          <a:p>
            <a:pPr indent="0" marL="0">
              <a:buNone/>
            </a:pPr>
            <a:r>
              <a:rPr lang="en-US" sz="950" dirty="0">
                <a:solidFill>
                  <a:schemeClr val="bg1"/>
                </a:solidFill>
              </a:rPr>
              <a:t>India · CDSCO, IMDRF affiliate since Sept 2024</a:t>
            </a:r>
            <a:endParaRPr lang="en-US" sz="950" dirty="0"/>
          </a:p>
        </p:txBody>
      </p:sp>
      <p:sp>
        <p:nvSpPr>
          <p:cNvPr id="35" name="Legend EU-27 · MDR 2017/745, ≈48 notified bodies"/>
          <p:cNvSpPr/>
          <p:nvPr/>
        </p:nvSpPr>
        <p:spPr>
          <a:xfrm>
            <a:off x="3546043" y="6035040"/>
            <a:ext cx="164592" cy="164592"/>
          </a:xfrm>
          <a:prstGeom prst="ellipse">
            <a:avLst/>
          </a:prstGeom>
          <a:solidFill>
            <a:schemeClr val="accent1"/>
          </a:solidFill>
          <a:ln/>
        </p:spPr>
      </p:sp>
      <p:sp>
        <p:nvSpPr>
          <p:cNvPr id="36" name="Text 32"/>
          <p:cNvSpPr txBox="1"/>
          <p:nvPr/>
        </p:nvSpPr>
        <p:spPr>
          <a:xfrm>
            <a:off x="3783787" y="5961888"/>
            <a:ext cx="2357323" cy="310896"/>
          </a:xfrm>
          <a:prstGeom prst="rect">
            <a:avLst/>
          </a:prstGeom>
          <a:noFill/>
          <a:ln/>
        </p:spPr>
        <p:txBody>
          <a:bodyPr wrap="square" lIns="0" tIns="0" rIns="0" bIns="0" rtlCol="0" anchor="ctr"/>
          <a:lstStyle/>
          <a:p>
            <a:pPr indent="0" marL="0">
              <a:buNone/>
            </a:pPr>
            <a:r>
              <a:rPr lang="en-US" sz="950" dirty="0">
                <a:solidFill>
                  <a:schemeClr val="bg1"/>
                </a:solidFill>
              </a:rPr>
              <a:t>EU-27 · MDR 2017/745, ≈48 notified bodies</a:t>
            </a:r>
            <a:endParaRPr lang="en-US" sz="950" dirty="0"/>
          </a:p>
        </p:txBody>
      </p:sp>
      <p:sp>
        <p:nvSpPr>
          <p:cNvPr id="37" name="Legend IMDRF Management Committee regulators"/>
          <p:cNvSpPr/>
          <p:nvPr/>
        </p:nvSpPr>
        <p:spPr>
          <a:xfrm>
            <a:off x="6278270" y="6035040"/>
            <a:ext cx="164592" cy="164592"/>
          </a:xfrm>
          <a:prstGeom prst="ellipse">
            <a:avLst/>
          </a:prstGeom>
          <a:solidFill>
            <a:schemeClr val="accent4"/>
          </a:solidFill>
          <a:ln/>
        </p:spPr>
      </p:sp>
      <p:sp>
        <p:nvSpPr>
          <p:cNvPr id="38" name="Text 34"/>
          <p:cNvSpPr txBox="1"/>
          <p:nvPr/>
        </p:nvSpPr>
        <p:spPr>
          <a:xfrm>
            <a:off x="6516014" y="5961888"/>
            <a:ext cx="2145182" cy="310896"/>
          </a:xfrm>
          <a:prstGeom prst="rect">
            <a:avLst/>
          </a:prstGeom>
          <a:noFill/>
          <a:ln/>
        </p:spPr>
        <p:txBody>
          <a:bodyPr wrap="square" lIns="0" tIns="0" rIns="0" bIns="0" rtlCol="0" anchor="ctr"/>
          <a:lstStyle/>
          <a:p>
            <a:pPr indent="0" marL="0">
              <a:buNone/>
            </a:pPr>
            <a:r>
              <a:rPr lang="en-US" sz="950" dirty="0">
                <a:solidFill>
                  <a:schemeClr val="bg1"/>
                </a:solidFill>
              </a:rPr>
              <a:t>IMDRF Management Committee regulators</a:t>
            </a:r>
            <a:endParaRPr lang="en-US" sz="950" dirty="0"/>
          </a:p>
        </p:txBody>
      </p:sp>
      <p:sp>
        <p:nvSpPr>
          <p:cNvPr id="39" name="Card IMDRF: the regulators' forum"/>
          <p:cNvSpPr/>
          <p:nvPr/>
        </p:nvSpPr>
        <p:spPr>
          <a:xfrm>
            <a:off x="7589520" y="1463040"/>
            <a:ext cx="4050792" cy="1414272"/>
          </a:xfrm>
          <a:prstGeom prst="roundRect">
            <a:avLst>
              <a:gd name="adj" fmla="val 7759"/>
            </a:avLst>
          </a:prstGeom>
          <a:solidFill>
            <a:schemeClr val="bg1">
              <a:alpha val="10000"/>
            </a:schemeClr>
          </a:solidFill>
          <a:ln w="9525">
            <a:solidFill>
              <a:schemeClr val="accent6"/>
            </a:solidFill>
            <a:prstDash val="solid"/>
          </a:ln>
        </p:spPr>
      </p:sp>
      <p:sp>
        <p:nvSpPr>
          <p:cNvPr id="40" name="Icon disc LuGlobe"/>
          <p:cNvSpPr/>
          <p:nvPr/>
        </p:nvSpPr>
        <p:spPr>
          <a:xfrm>
            <a:off x="7772400" y="1645920"/>
            <a:ext cx="402336" cy="402336"/>
          </a:xfrm>
          <a:prstGeom prst="ellipse">
            <a:avLst/>
          </a:prstGeom>
          <a:solidFill>
            <a:schemeClr val="accent2"/>
          </a:solidFill>
          <a:ln/>
        </p:spPr>
      </p:sp>
      <p:pic>
        <p:nvPicPr>
          <p:cNvPr id="41" name="Image 1" descr="Globe icon">    </p:cNvPr>
          <p:cNvPicPr>
            <a:picLocks noChangeAspect="1"/>
          </p:cNvPicPr>
          <p:nvPr/>
        </p:nvPicPr>
        <p:blipFill>
          <a:blip r:embed="rId2"/>
          <a:stretch>
            <a:fillRect/>
          </a:stretch>
        </p:blipFill>
        <p:spPr>
          <a:xfrm>
            <a:off x="7860914" y="1734434"/>
            <a:ext cx="225308" cy="225308"/>
          </a:xfrm>
          <a:prstGeom prst="rect">
            <a:avLst/>
          </a:prstGeom>
        </p:spPr>
      </p:pic>
      <p:sp>
        <p:nvSpPr>
          <p:cNvPr id="42" name="Text 37"/>
          <p:cNvSpPr txBox="1"/>
          <p:nvPr/>
        </p:nvSpPr>
        <p:spPr>
          <a:xfrm>
            <a:off x="8311896" y="1645920"/>
            <a:ext cx="3145536" cy="402336"/>
          </a:xfrm>
          <a:prstGeom prst="rect">
            <a:avLst/>
          </a:prstGeom>
          <a:noFill/>
          <a:ln/>
        </p:spPr>
        <p:txBody>
          <a:bodyPr wrap="square" lIns="0" tIns="0" rIns="0" bIns="0" rtlCol="0" anchor="ctr"/>
          <a:lstStyle/>
          <a:p>
            <a:pPr indent="0" marL="0">
              <a:buNone/>
            </a:pPr>
            <a:r>
              <a:rPr lang="en-US" sz="1200" b="1" dirty="0">
                <a:solidFill>
                  <a:schemeClr val="bg1"/>
                </a:solidFill>
              </a:rPr>
              <a:t>IMDRF: the regulators' forum</a:t>
            </a:r>
            <a:endParaRPr lang="en-US" sz="1200" dirty="0"/>
          </a:p>
        </p:txBody>
      </p:sp>
      <p:sp>
        <p:nvSpPr>
          <p:cNvPr id="43" name="Text 38"/>
          <p:cNvSpPr txBox="1"/>
          <p:nvPr/>
        </p:nvSpPr>
        <p:spPr>
          <a:xfrm>
            <a:off x="7772400" y="2157984"/>
            <a:ext cx="3685032" cy="554736"/>
          </a:xfrm>
          <a:prstGeom prst="rect">
            <a:avLst/>
          </a:prstGeom>
          <a:noFill/>
          <a:ln/>
        </p:spPr>
        <p:txBody>
          <a:bodyPr wrap="square" lIns="0" tIns="0" rIns="0" bIns="0" rtlCol="0" anchor="t"/>
          <a:lstStyle/>
          <a:p>
            <a:pPr indent="0" marL="0">
              <a:spcAft>
                <a:spcPts val="300"/>
              </a:spcAft>
              <a:buNone/>
            </a:pPr>
            <a:r>
              <a:rPr lang="en-US" sz="950" dirty="0">
                <a:solidFill>
                  <a:schemeClr val="accent6"/>
                </a:solidFill>
              </a:rPr>
              <a:t>Founded 2011 as successor to the GHTF. 12 Management Committee members (Swissmedic joined March 2025); WHO is an observer. India's CDSCO became an Affiliate Member after the Seattle session, September 2024: working-group access, no vote.</a:t>
            </a:r>
            <a:endParaRPr lang="en-US" sz="950" dirty="0"/>
          </a:p>
        </p:txBody>
      </p:sp>
      <p:sp>
        <p:nvSpPr>
          <p:cNvPr id="44" name="Card MDSAP: one audit, five regulators"/>
          <p:cNvSpPr/>
          <p:nvPr/>
        </p:nvSpPr>
        <p:spPr>
          <a:xfrm>
            <a:off x="7589520" y="3041904"/>
            <a:ext cx="4050792" cy="1414272"/>
          </a:xfrm>
          <a:prstGeom prst="roundRect">
            <a:avLst>
              <a:gd name="adj" fmla="val 7759"/>
            </a:avLst>
          </a:prstGeom>
          <a:solidFill>
            <a:schemeClr val="bg1">
              <a:alpha val="10000"/>
            </a:schemeClr>
          </a:solidFill>
          <a:ln w="9525">
            <a:solidFill>
              <a:schemeClr val="accent6"/>
            </a:solidFill>
            <a:prstDash val="solid"/>
          </a:ln>
        </p:spPr>
      </p:sp>
      <p:sp>
        <p:nvSpPr>
          <p:cNvPr id="45" name="Icon disc LuShieldCheck"/>
          <p:cNvSpPr/>
          <p:nvPr/>
        </p:nvSpPr>
        <p:spPr>
          <a:xfrm>
            <a:off x="7772400" y="3224784"/>
            <a:ext cx="402336" cy="402336"/>
          </a:xfrm>
          <a:prstGeom prst="ellipse">
            <a:avLst/>
          </a:prstGeom>
          <a:solidFill>
            <a:schemeClr val="accent1"/>
          </a:solidFill>
          <a:ln/>
        </p:spPr>
      </p:sp>
      <p:pic>
        <p:nvPicPr>
          <p:cNvPr id="46" name="Image 2" descr="ShieldCheck icon">    </p:cNvPr>
          <p:cNvPicPr>
            <a:picLocks noChangeAspect="1"/>
          </p:cNvPicPr>
          <p:nvPr/>
        </p:nvPicPr>
        <p:blipFill>
          <a:blip r:embed="rId3"/>
          <a:stretch>
            <a:fillRect/>
          </a:stretch>
        </p:blipFill>
        <p:spPr>
          <a:xfrm>
            <a:off x="7860914" y="3313298"/>
            <a:ext cx="225308" cy="225308"/>
          </a:xfrm>
          <a:prstGeom prst="rect">
            <a:avLst/>
          </a:prstGeom>
        </p:spPr>
      </p:pic>
      <p:sp>
        <p:nvSpPr>
          <p:cNvPr id="47" name="Text 41"/>
          <p:cNvSpPr txBox="1"/>
          <p:nvPr/>
        </p:nvSpPr>
        <p:spPr>
          <a:xfrm>
            <a:off x="8311896" y="3224784"/>
            <a:ext cx="3145536" cy="402336"/>
          </a:xfrm>
          <a:prstGeom prst="rect">
            <a:avLst/>
          </a:prstGeom>
          <a:noFill/>
          <a:ln/>
        </p:spPr>
        <p:txBody>
          <a:bodyPr wrap="square" lIns="0" tIns="0" rIns="0" bIns="0" rtlCol="0" anchor="ctr"/>
          <a:lstStyle/>
          <a:p>
            <a:pPr indent="0" marL="0">
              <a:buNone/>
            </a:pPr>
            <a:r>
              <a:rPr lang="en-US" sz="1200" b="1" dirty="0">
                <a:solidFill>
                  <a:schemeClr val="bg1"/>
                </a:solidFill>
              </a:rPr>
              <a:t>MDSAP: one audit, five regulators</a:t>
            </a:r>
            <a:endParaRPr lang="en-US" sz="1200" dirty="0"/>
          </a:p>
        </p:txBody>
      </p:sp>
      <p:sp>
        <p:nvSpPr>
          <p:cNvPr id="48" name="Text 42"/>
          <p:cNvSpPr txBox="1"/>
          <p:nvPr/>
        </p:nvSpPr>
        <p:spPr>
          <a:xfrm>
            <a:off x="7772400" y="3736848"/>
            <a:ext cx="3685032" cy="554736"/>
          </a:xfrm>
          <a:prstGeom prst="rect">
            <a:avLst/>
          </a:prstGeom>
          <a:noFill/>
          <a:ln/>
        </p:spPr>
        <p:txBody>
          <a:bodyPr wrap="square" lIns="0" tIns="0" rIns="0" bIns="0" rtlCol="0" anchor="t"/>
          <a:lstStyle/>
          <a:p>
            <a:pPr indent="0" marL="0">
              <a:spcAft>
                <a:spcPts val="300"/>
              </a:spcAft>
              <a:buNone/>
            </a:pPr>
            <a:r>
              <a:rPr lang="en-US" sz="950" dirty="0">
                <a:solidFill>
                  <a:schemeClr val="accent6"/>
                </a:solidFill>
              </a:rPr>
              <a:t>A single ISO 13485-based audit by an authorised organisation satisfies TGA, ANVISA, Health Canada, MHLW/PMDA and FDA. Observers: EU, Singapore HSA, UK MHRA, WHO Prequalification. Mandatory for Canada Class II–IV licences.</a:t>
            </a:r>
            <a:endParaRPr lang="en-US" sz="950" dirty="0"/>
          </a:p>
        </p:txBody>
      </p:sp>
      <p:sp>
        <p:nvSpPr>
          <p:cNvPr id="49" name="Card WHO: the model and the list"/>
          <p:cNvSpPr/>
          <p:nvPr/>
        </p:nvSpPr>
        <p:spPr>
          <a:xfrm>
            <a:off x="7589520" y="4620768"/>
            <a:ext cx="4050792" cy="1414272"/>
          </a:xfrm>
          <a:prstGeom prst="roundRect">
            <a:avLst>
              <a:gd name="adj" fmla="val 7759"/>
            </a:avLst>
          </a:prstGeom>
          <a:solidFill>
            <a:schemeClr val="bg1">
              <a:alpha val="10000"/>
            </a:schemeClr>
          </a:solidFill>
          <a:ln w="9525">
            <a:solidFill>
              <a:schemeClr val="accent6"/>
            </a:solidFill>
            <a:prstDash val="solid"/>
          </a:ln>
        </p:spPr>
      </p:sp>
      <p:sp>
        <p:nvSpPr>
          <p:cNvPr id="50" name="Icon disc LuBookOpen"/>
          <p:cNvSpPr/>
          <p:nvPr/>
        </p:nvSpPr>
        <p:spPr>
          <a:xfrm>
            <a:off x="7772400" y="4803648"/>
            <a:ext cx="402336" cy="402336"/>
          </a:xfrm>
          <a:prstGeom prst="ellipse">
            <a:avLst/>
          </a:prstGeom>
          <a:solidFill>
            <a:schemeClr val="accent4"/>
          </a:solidFill>
          <a:ln/>
        </p:spPr>
      </p:sp>
      <p:pic>
        <p:nvPicPr>
          <p:cNvPr id="51" name="Image 3" descr="BookOpen icon">    </p:cNvPr>
          <p:cNvPicPr>
            <a:picLocks noChangeAspect="1"/>
          </p:cNvPicPr>
          <p:nvPr/>
        </p:nvPicPr>
        <p:blipFill>
          <a:blip r:embed="rId4"/>
          <a:stretch>
            <a:fillRect/>
          </a:stretch>
        </p:blipFill>
        <p:spPr>
          <a:xfrm>
            <a:off x="7860914" y="4892162"/>
            <a:ext cx="225308" cy="225308"/>
          </a:xfrm>
          <a:prstGeom prst="rect">
            <a:avLst/>
          </a:prstGeom>
        </p:spPr>
      </p:pic>
      <p:sp>
        <p:nvSpPr>
          <p:cNvPr id="52" name="Text 45"/>
          <p:cNvSpPr txBox="1"/>
          <p:nvPr/>
        </p:nvSpPr>
        <p:spPr>
          <a:xfrm>
            <a:off x="8311896" y="4803648"/>
            <a:ext cx="3145536" cy="402336"/>
          </a:xfrm>
          <a:prstGeom prst="rect">
            <a:avLst/>
          </a:prstGeom>
          <a:noFill/>
          <a:ln/>
        </p:spPr>
        <p:txBody>
          <a:bodyPr wrap="square" lIns="0" tIns="0" rIns="0" bIns="0" rtlCol="0" anchor="ctr"/>
          <a:lstStyle/>
          <a:p>
            <a:pPr indent="0" marL="0">
              <a:buNone/>
            </a:pPr>
            <a:r>
              <a:rPr lang="en-US" sz="1200" b="1" dirty="0">
                <a:solidFill>
                  <a:schemeClr val="bg1"/>
                </a:solidFill>
              </a:rPr>
              <a:t>WHO: the model and the list</a:t>
            </a:r>
            <a:endParaRPr lang="en-US" sz="1200" dirty="0"/>
          </a:p>
        </p:txBody>
      </p:sp>
      <p:sp>
        <p:nvSpPr>
          <p:cNvPr id="53" name="Text 46"/>
          <p:cNvSpPr txBox="1"/>
          <p:nvPr/>
        </p:nvSpPr>
        <p:spPr>
          <a:xfrm>
            <a:off x="7772400" y="5315712"/>
            <a:ext cx="3685032" cy="554736"/>
          </a:xfrm>
          <a:prstGeom prst="rect">
            <a:avLst/>
          </a:prstGeom>
          <a:noFill/>
          <a:ln/>
        </p:spPr>
        <p:txBody>
          <a:bodyPr wrap="square" lIns="0" tIns="0" rIns="0" bIns="0" rtlCol="0" anchor="t"/>
          <a:lstStyle/>
          <a:p>
            <a:pPr indent="0" marL="0">
              <a:spcAft>
                <a:spcPts val="300"/>
              </a:spcAft>
              <a:buNone/>
            </a:pPr>
            <a:r>
              <a:rPr lang="en-US" sz="950" dirty="0">
                <a:solidFill>
                  <a:schemeClr val="accent6"/>
                </a:solidFill>
              </a:rPr>
              <a:t>Global Model Regulatory Framework (2017): start with basic controls (law, authority, A–D classes, vigilance, reliance), then expand. WHO-Listed Authorities: 39 agencies after the 7 Aug 2025 designations; first device-regulator list on 23 Jul 2026.</a:t>
            </a: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ABROAD · CLASSES</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Risk classes across six systems</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GHTF/SG1/N77:2012; MDR-2017 Rule 4 and First Schedule; EU MDR Annex VIII; PMDA; Health Canada; Emergo (US vs EU classes)</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graphicFrame>
        <p:nvGraphicFramePr>
          <p:cNvPr id="41" name="Matrix"/>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2103120"/>
                <a:gridCol w="1508760"/>
                <a:gridCol w="1600200"/>
                <a:gridCol w="1828800"/>
                <a:gridCol w="1600200"/>
                <a:gridCol w="1325880"/>
                <a:gridCol w="1124712"/>
              </a:tblGrid>
              <a:tr h="420624">
                <a:tc>
                  <a:txBody>
                    <a:bodyPr/>
                    <a:lstStyle/>
                    <a:p>
                      <a:pPr indent="0" marL="0">
                        <a:buNone/>
                      </a:pPr>
                      <a:r>
                        <a:rPr lang="en-US" sz="1100" b="1" dirty="0">
                          <a:solidFill>
                            <a:srgbClr val="FFFFFF"/>
                          </a:solidFill>
                        </a:rPr>
                        <a:t>Risk tier · example</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D5A80"/>
                    </a:solidFill>
                  </a:tcPr>
                </a:tc>
                <a:tc>
                  <a:txBody>
                    <a:bodyPr/>
                    <a:lstStyle/>
                    <a:p>
                      <a:pPr indent="0" marL="0">
                        <a:buNone/>
                      </a:pPr>
                      <a:r>
                        <a:rPr lang="en-US" sz="1100" b="1" dirty="0">
                          <a:solidFill>
                            <a:srgbClr val="FFFFFF"/>
                          </a:solidFill>
                        </a:rPr>
                        <a:t>GHTF / IMDRF</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D5A80"/>
                    </a:solidFill>
                  </a:tcPr>
                </a:tc>
                <a:tc>
                  <a:txBody>
                    <a:bodyPr/>
                    <a:lstStyle/>
                    <a:p>
                      <a:pPr indent="0" marL="0">
                        <a:buNone/>
                      </a:pPr>
                      <a:r>
                        <a:rPr lang="en-US" sz="1100" b="1" dirty="0">
                          <a:solidFill>
                            <a:srgbClr val="FFFFFF"/>
                          </a:solidFill>
                        </a:rPr>
                        <a:t>India MDR-2017</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D5A80"/>
                    </a:solidFill>
                  </a:tcPr>
                </a:tc>
                <a:tc>
                  <a:txBody>
                    <a:bodyPr/>
                    <a:lstStyle/>
                    <a:p>
                      <a:pPr indent="0" marL="0">
                        <a:buNone/>
                      </a:pPr>
                      <a:r>
                        <a:rPr lang="en-US" sz="1100" b="1" dirty="0">
                          <a:solidFill>
                            <a:srgbClr val="FFFFFF"/>
                          </a:solidFill>
                        </a:rPr>
                        <a:t>EU MDR · UK · Australia</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D5A80"/>
                    </a:solidFill>
                  </a:tcPr>
                </a:tc>
                <a:tc>
                  <a:txBody>
                    <a:bodyPr/>
                    <a:lstStyle/>
                    <a:p>
                      <a:pPr indent="0" marL="0">
                        <a:buNone/>
                      </a:pPr>
                      <a:r>
                        <a:rPr lang="en-US" sz="1100" b="1" dirty="0">
                          <a:solidFill>
                            <a:srgbClr val="FFFFFF"/>
                          </a:solidFill>
                        </a:rPr>
                        <a:t>Japan PMD Act</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D5A80"/>
                    </a:solidFill>
                  </a:tcPr>
                </a:tc>
                <a:tc>
                  <a:txBody>
                    <a:bodyPr/>
                    <a:lstStyle/>
                    <a:p>
                      <a:pPr indent="0" marL="0">
                        <a:buNone/>
                      </a:pPr>
                      <a:r>
                        <a:rPr lang="en-US" sz="1100" b="1" dirty="0">
                          <a:solidFill>
                            <a:srgbClr val="FFFFFF"/>
                          </a:solidFill>
                        </a:rPr>
                        <a:t>Canada</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D5A80"/>
                    </a:solidFill>
                  </a:tcPr>
                </a:tc>
                <a:tc>
                  <a:txBody>
                    <a:bodyPr/>
                    <a:lstStyle/>
                    <a:p>
                      <a:pPr indent="0" marL="0">
                        <a:buNone/>
                      </a:pPr>
                      <a:r>
                        <a:rPr lang="en-US" sz="1100" b="1" dirty="0">
                          <a:solidFill>
                            <a:srgbClr val="FFFFFF"/>
                          </a:solidFill>
                        </a:rPr>
                        <a:t>USA FDA</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D5A80"/>
                    </a:solidFill>
                  </a:tcPr>
                </a:tc>
              </a:tr>
              <a:tr h="457200">
                <a:tc>
                  <a:txBody>
                    <a:bodyPr/>
                    <a:lstStyle/>
                    <a:p>
                      <a:pPr indent="0" marL="0">
                        <a:buNone/>
                      </a:pPr>
                      <a:r>
                        <a:rPr lang="en-US" sz="1050" b="1" dirty="0">
                          <a:solidFill>
                            <a:srgbClr val="0E3B3D"/>
                          </a:solidFill>
                        </a:rPr>
                        <a:t>Highest risk · pacemaker</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200" b="1" dirty="0">
                          <a:solidFill>
                            <a:srgbClr val="FFFFFF"/>
                          </a:solidFill>
                        </a:rPr>
                        <a:t>D</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C2453A"/>
                    </a:solidFill>
                  </a:tcPr>
                </a:tc>
                <a:tc>
                  <a:txBody>
                    <a:bodyPr/>
                    <a:lstStyle/>
                    <a:p>
                      <a:pPr algn="ctr" indent="0" marL="0">
                        <a:buNone/>
                      </a:pPr>
                      <a:r>
                        <a:rPr lang="en-US" sz="1200" b="1" dirty="0">
                          <a:solidFill>
                            <a:srgbClr val="FFFFFF"/>
                          </a:solidFill>
                        </a:rPr>
                        <a:t>D</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C2453A"/>
                    </a:solidFill>
                  </a:tcPr>
                </a:tc>
                <a:tc>
                  <a:txBody>
                    <a:bodyPr/>
                    <a:lstStyle/>
                    <a:p>
                      <a:pPr algn="ctr" indent="0" marL="0">
                        <a:buNone/>
                      </a:pPr>
                      <a:r>
                        <a:rPr lang="en-US" sz="1200" b="1" dirty="0">
                          <a:solidFill>
                            <a:srgbClr val="FFFFFF"/>
                          </a:solidFill>
                        </a:rPr>
                        <a:t>III</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C2453A"/>
                    </a:solidFill>
                  </a:tcPr>
                </a:tc>
                <a:tc>
                  <a:txBody>
                    <a:bodyPr/>
                    <a:lstStyle/>
                    <a:p>
                      <a:pPr algn="ctr" indent="0" marL="0">
                        <a:buNone/>
                      </a:pPr>
                      <a:r>
                        <a:rPr lang="en-US" sz="1200" b="1" dirty="0">
                          <a:solidFill>
                            <a:srgbClr val="FFFFFF"/>
                          </a:solidFill>
                        </a:rPr>
                        <a:t>IV</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C2453A"/>
                    </a:solidFill>
                  </a:tcPr>
                </a:tc>
                <a:tc>
                  <a:txBody>
                    <a:bodyPr/>
                    <a:lstStyle/>
                    <a:p>
                      <a:pPr algn="ctr" indent="0" marL="0">
                        <a:buNone/>
                      </a:pPr>
                      <a:r>
                        <a:rPr lang="en-US" sz="1200" b="1" dirty="0">
                          <a:solidFill>
                            <a:srgbClr val="FFFFFF"/>
                          </a:solidFill>
                        </a:rPr>
                        <a:t>IV</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C2453A"/>
                    </a:solidFill>
                  </a:tcPr>
                </a:tc>
                <a:tc>
                  <a:txBody>
                    <a:bodyPr/>
                    <a:lstStyle/>
                    <a:p>
                      <a:pPr algn="ctr" indent="0" marL="0">
                        <a:buNone/>
                      </a:pPr>
                      <a:r>
                        <a:rPr lang="en-US" sz="1200" b="1" dirty="0">
                          <a:solidFill>
                            <a:srgbClr val="FFFFFF"/>
                          </a:solidFill>
                        </a:rPr>
                        <a:t>III (PMA)</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C2453A"/>
                    </a:solidFill>
                  </a:tcPr>
                </a:tc>
              </a:tr>
              <a:tr h="457200">
                <a:tc>
                  <a:txBody>
                    <a:bodyPr/>
                    <a:lstStyle/>
                    <a:p>
                      <a:pPr indent="0" marL="0">
                        <a:buNone/>
                      </a:pPr>
                      <a:r>
                        <a:rPr lang="en-US" sz="1050" b="1" dirty="0">
                          <a:solidFill>
                            <a:srgbClr val="0E3B3D"/>
                          </a:solidFill>
                        </a:rPr>
                        <a:t>Moderate–high · infusion pump</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200" b="1" dirty="0">
                          <a:solidFill>
                            <a:srgbClr val="FFFFFF"/>
                          </a:solidFill>
                        </a:rPr>
                        <a:t>C</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0962A"/>
                    </a:solidFill>
                  </a:tcPr>
                </a:tc>
                <a:tc>
                  <a:txBody>
                    <a:bodyPr/>
                    <a:lstStyle/>
                    <a:p>
                      <a:pPr algn="ctr" indent="0" marL="0">
                        <a:buNone/>
                      </a:pPr>
                      <a:r>
                        <a:rPr lang="en-US" sz="1200" b="1" dirty="0">
                          <a:solidFill>
                            <a:srgbClr val="FFFFFF"/>
                          </a:solidFill>
                        </a:rPr>
                        <a:t>C</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0962A"/>
                    </a:solidFill>
                  </a:tcPr>
                </a:tc>
                <a:tc>
                  <a:txBody>
                    <a:bodyPr/>
                    <a:lstStyle/>
                    <a:p>
                      <a:pPr algn="ctr" indent="0" marL="0">
                        <a:buNone/>
                      </a:pPr>
                      <a:r>
                        <a:rPr lang="en-US" sz="1200" b="1" dirty="0">
                          <a:solidFill>
                            <a:srgbClr val="FFFFFF"/>
                          </a:solidFill>
                        </a:rPr>
                        <a:t>IIb</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0962A"/>
                    </a:solidFill>
                  </a:tcPr>
                </a:tc>
                <a:tc>
                  <a:txBody>
                    <a:bodyPr/>
                    <a:lstStyle/>
                    <a:p>
                      <a:pPr algn="ctr" indent="0" marL="0">
                        <a:buNone/>
                      </a:pPr>
                      <a:r>
                        <a:rPr lang="en-US" sz="1200" b="1" dirty="0">
                          <a:solidFill>
                            <a:srgbClr val="FFFFFF"/>
                          </a:solidFill>
                        </a:rPr>
                        <a:t>III</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0962A"/>
                    </a:solidFill>
                  </a:tcPr>
                </a:tc>
                <a:tc>
                  <a:txBody>
                    <a:bodyPr/>
                    <a:lstStyle/>
                    <a:p>
                      <a:pPr algn="ctr" indent="0" marL="0">
                        <a:buNone/>
                      </a:pPr>
                      <a:r>
                        <a:rPr lang="en-US" sz="1200" b="1" dirty="0">
                          <a:solidFill>
                            <a:srgbClr val="FFFFFF"/>
                          </a:solidFill>
                        </a:rPr>
                        <a:t>III</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0962A"/>
                    </a:solidFill>
                  </a:tcPr>
                </a:tc>
                <a:tc>
                  <a:txBody>
                    <a:bodyPr/>
                    <a:lstStyle/>
                    <a:p>
                      <a:pPr algn="ctr" indent="0" marL="0">
                        <a:buNone/>
                      </a:pPr>
                      <a:r>
                        <a:rPr lang="en-US" sz="1200" b="1" dirty="0">
                          <a:solidFill>
                            <a:srgbClr val="FFFFFF"/>
                          </a:solidFill>
                        </a:rPr>
                        <a:t>II (510(k))</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F7C74"/>
                    </a:solidFill>
                  </a:tcPr>
                </a:tc>
              </a:tr>
              <a:tr h="457200">
                <a:tc>
                  <a:txBody>
                    <a:bodyPr/>
                    <a:lstStyle/>
                    <a:p>
                      <a:pPr indent="0" marL="0">
                        <a:buNone/>
                      </a:pPr>
                      <a:r>
                        <a:rPr lang="en-US" sz="1050" b="1" dirty="0">
                          <a:solidFill>
                            <a:srgbClr val="0E3B3D"/>
                          </a:solidFill>
                        </a:rPr>
                        <a:t>Low–moderate · syringe</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200" b="1" dirty="0">
                          <a:solidFill>
                            <a:srgbClr val="FFFFFF"/>
                          </a:solidFill>
                        </a:rPr>
                        <a:t>B</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F7C74"/>
                    </a:solidFill>
                  </a:tcPr>
                </a:tc>
                <a:tc>
                  <a:txBody>
                    <a:bodyPr/>
                    <a:lstStyle/>
                    <a:p>
                      <a:pPr algn="ctr" indent="0" marL="0">
                        <a:buNone/>
                      </a:pPr>
                      <a:r>
                        <a:rPr lang="en-US" sz="1200" b="1" dirty="0">
                          <a:solidFill>
                            <a:srgbClr val="FFFFFF"/>
                          </a:solidFill>
                        </a:rPr>
                        <a:t>B</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F7C74"/>
                    </a:solidFill>
                  </a:tcPr>
                </a:tc>
                <a:tc>
                  <a:txBody>
                    <a:bodyPr/>
                    <a:lstStyle/>
                    <a:p>
                      <a:pPr algn="ctr" indent="0" marL="0">
                        <a:buNone/>
                      </a:pPr>
                      <a:r>
                        <a:rPr lang="en-US" sz="1200" b="1" dirty="0">
                          <a:solidFill>
                            <a:srgbClr val="FFFFFF"/>
                          </a:solidFill>
                        </a:rPr>
                        <a:t>IIa</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F7C74"/>
                    </a:solidFill>
                  </a:tcPr>
                </a:tc>
                <a:tc>
                  <a:txBody>
                    <a:bodyPr/>
                    <a:lstStyle/>
                    <a:p>
                      <a:pPr algn="ctr" indent="0" marL="0">
                        <a:buNone/>
                      </a:pPr>
                      <a:r>
                        <a:rPr lang="en-US" sz="1200" b="1" dirty="0">
                          <a:solidFill>
                            <a:srgbClr val="FFFFFF"/>
                          </a:solidFill>
                        </a:rPr>
                        <a:t>II</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F7C74"/>
                    </a:solidFill>
                  </a:tcPr>
                </a:tc>
                <a:tc>
                  <a:txBody>
                    <a:bodyPr/>
                    <a:lstStyle/>
                    <a:p>
                      <a:pPr algn="ctr" indent="0" marL="0">
                        <a:buNone/>
                      </a:pPr>
                      <a:r>
                        <a:rPr lang="en-US" sz="1200" b="1" dirty="0">
                          <a:solidFill>
                            <a:srgbClr val="FFFFFF"/>
                          </a:solidFill>
                        </a:rPr>
                        <a:t>II</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F7C74"/>
                    </a:solidFill>
                  </a:tcPr>
                </a:tc>
                <a:tc>
                  <a:txBody>
                    <a:bodyPr/>
                    <a:lstStyle/>
                    <a:p>
                      <a:pPr algn="ctr" indent="0" marL="0">
                        <a:buNone/>
                      </a:pPr>
                      <a:r>
                        <a:rPr lang="en-US" sz="1200" b="1" dirty="0">
                          <a:solidFill>
                            <a:srgbClr val="FFFFFF"/>
                          </a:solidFill>
                        </a:rPr>
                        <a:t>II (510(k))</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F7C74"/>
                    </a:solidFill>
                  </a:tcPr>
                </a:tc>
              </a:tr>
              <a:tr h="457200">
                <a:tc>
                  <a:txBody>
                    <a:bodyPr/>
                    <a:lstStyle/>
                    <a:p>
                      <a:pPr indent="0" marL="0">
                        <a:buNone/>
                      </a:pPr>
                      <a:r>
                        <a:rPr lang="en-US" sz="1050" b="1" dirty="0">
                          <a:solidFill>
                            <a:srgbClr val="0E3B3D"/>
                          </a:solidFill>
                        </a:rPr>
                        <a:t>Lowest risk · exam gloves</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200" b="1" dirty="0">
                          <a:solidFill>
                            <a:srgbClr val="FFFFFF"/>
                          </a:solidFill>
                        </a:rPr>
                        <a:t>A</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C9D6A"/>
                    </a:solidFill>
                  </a:tcPr>
                </a:tc>
                <a:tc>
                  <a:txBody>
                    <a:bodyPr/>
                    <a:lstStyle/>
                    <a:p>
                      <a:pPr algn="ctr" indent="0" marL="0">
                        <a:buNone/>
                      </a:pPr>
                      <a:r>
                        <a:rPr lang="en-US" sz="1200" b="1" dirty="0">
                          <a:solidFill>
                            <a:srgbClr val="FFFFFF"/>
                          </a:solidFill>
                        </a:rPr>
                        <a:t>A</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C9D6A"/>
                    </a:solidFill>
                  </a:tcPr>
                </a:tc>
                <a:tc>
                  <a:txBody>
                    <a:bodyPr/>
                    <a:lstStyle/>
                    <a:p>
                      <a:pPr algn="ctr" indent="0" marL="0">
                        <a:buNone/>
                      </a:pPr>
                      <a:r>
                        <a:rPr lang="en-US" sz="1200" b="1" dirty="0">
                          <a:solidFill>
                            <a:srgbClr val="FFFFFF"/>
                          </a:solidFill>
                        </a:rPr>
                        <a:t>I</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C9D6A"/>
                    </a:solidFill>
                  </a:tcPr>
                </a:tc>
                <a:tc>
                  <a:txBody>
                    <a:bodyPr/>
                    <a:lstStyle/>
                    <a:p>
                      <a:pPr algn="ctr" indent="0" marL="0">
                        <a:buNone/>
                      </a:pPr>
                      <a:r>
                        <a:rPr lang="en-US" sz="1200" b="1" dirty="0">
                          <a:solidFill>
                            <a:srgbClr val="FFFFFF"/>
                          </a:solidFill>
                        </a:rPr>
                        <a:t>I</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C9D6A"/>
                    </a:solidFill>
                  </a:tcPr>
                </a:tc>
                <a:tc>
                  <a:txBody>
                    <a:bodyPr/>
                    <a:lstStyle/>
                    <a:p>
                      <a:pPr algn="ctr" indent="0" marL="0">
                        <a:buNone/>
                      </a:pPr>
                      <a:r>
                        <a:rPr lang="en-US" sz="1200" b="1" dirty="0">
                          <a:solidFill>
                            <a:srgbClr val="FFFFFF"/>
                          </a:solidFill>
                        </a:rPr>
                        <a:t>I</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C9D6A"/>
                    </a:solidFill>
                  </a:tcPr>
                </a:tc>
                <a:tc>
                  <a:txBody>
                    <a:bodyPr/>
                    <a:lstStyle/>
                    <a:p>
                      <a:pPr algn="ctr" indent="0" marL="0">
                        <a:buNone/>
                      </a:pPr>
                      <a:r>
                        <a:rPr lang="en-US" sz="1200" b="1" dirty="0">
                          <a:solidFill>
                            <a:srgbClr val="FFFFFF"/>
                          </a:solidFill>
                        </a:rPr>
                        <a:t>I (mostly exempt)</a:t>
                      </a:r>
                      <a:endParaRPr lang="en-US" sz="12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C9D6A"/>
                    </a:solidFill>
                  </a:tcPr>
                </a:tc>
              </a:tr>
              <a:tr h="585216">
                <a:tc>
                  <a:txBody>
                    <a:bodyPr/>
                    <a:lstStyle/>
                    <a:p>
                      <a:pPr indent="0" marL="0">
                        <a:buNone/>
                      </a:pPr>
                      <a:r>
                        <a:rPr lang="en-US" sz="900" b="1" dirty="0">
                          <a:solidFill>
                            <a:srgbClr val="0E3B3D"/>
                          </a:solidFill>
                        </a:rPr>
                        <a:t>Who decides</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0E3B3D"/>
                          </a:solidFill>
                        </a:rPr>
                        <a:t>Principles only (N77:2012)</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0E3B3D"/>
                          </a:solidFill>
                        </a:rPr>
                        <a:t>SLA for A, B · CLA for C, D</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0E3B3D"/>
                          </a:solidFill>
                        </a:rPr>
                        <a:t>Self-declare I · notified body Is–III</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0E3B3D"/>
                          </a:solidFill>
                        </a:rPr>
                        <a:t>Notification · RCB · MHLW/PMDA</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0E3B3D"/>
                          </a:solidFill>
                        </a:rPr>
                        <a:t>MDEL (I) · MDL (II–IV)</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0E3B3D"/>
                          </a:solidFill>
                        </a:rPr>
                        <a:t>510(k) · De Novo · PMA</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bl>
          </a:graphicData>
        </a:graphic>
      </p:graphicFrame>
      <p:sp>
        <p:nvSpPr>
          <p:cNvPr id="13" name="Card Same rules underneath"/>
          <p:cNvSpPr/>
          <p:nvPr/>
        </p:nvSpPr>
        <p:spPr>
          <a:xfrm>
            <a:off x="548640" y="4572000"/>
            <a:ext cx="3564026" cy="1600200"/>
          </a:xfrm>
          <a:prstGeom prst="roundRect">
            <a:avLst>
              <a:gd name="adj" fmla="val 6857"/>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14" name="Icon disc LuLayers"/>
          <p:cNvSpPr/>
          <p:nvPr/>
        </p:nvSpPr>
        <p:spPr>
          <a:xfrm>
            <a:off x="731520" y="4754880"/>
            <a:ext cx="402336" cy="402336"/>
          </a:xfrm>
          <a:prstGeom prst="ellipse">
            <a:avLst/>
          </a:prstGeom>
          <a:solidFill>
            <a:schemeClr val="accent1">
              <a:alpha val="15000"/>
            </a:schemeClr>
          </a:solidFill>
          <a:ln/>
        </p:spPr>
      </p:sp>
      <p:pic>
        <p:nvPicPr>
          <p:cNvPr id="15" name="Image 0" descr="Layers icon">    </p:cNvPr>
          <p:cNvPicPr>
            <a:picLocks noChangeAspect="1"/>
          </p:cNvPicPr>
          <p:nvPr/>
        </p:nvPicPr>
        <p:blipFill>
          <a:blip r:embed="rId1"/>
          <a:stretch>
            <a:fillRect/>
          </a:stretch>
        </p:blipFill>
        <p:spPr>
          <a:xfrm>
            <a:off x="820034" y="4843394"/>
            <a:ext cx="225308" cy="225308"/>
          </a:xfrm>
          <a:prstGeom prst="rect">
            <a:avLst/>
          </a:prstGeom>
        </p:spPr>
      </p:pic>
      <p:sp>
        <p:nvSpPr>
          <p:cNvPr id="16" name="Text 11"/>
          <p:cNvSpPr txBox="1"/>
          <p:nvPr/>
        </p:nvSpPr>
        <p:spPr>
          <a:xfrm>
            <a:off x="1271016" y="4754880"/>
            <a:ext cx="2658770" cy="402336"/>
          </a:xfrm>
          <a:prstGeom prst="rect">
            <a:avLst/>
          </a:prstGeom>
          <a:noFill/>
          <a:ln/>
        </p:spPr>
        <p:txBody>
          <a:bodyPr wrap="square" lIns="0" tIns="0" rIns="0" bIns="0" rtlCol="0" anchor="ctr"/>
          <a:lstStyle/>
          <a:p>
            <a:pPr indent="0" marL="0">
              <a:buNone/>
            </a:pPr>
            <a:r>
              <a:rPr lang="en-US" sz="1250" b="1" dirty="0">
                <a:solidFill>
                  <a:schemeClr val="tx1"/>
                </a:solidFill>
              </a:rPr>
              <a:t>Same rules underneath</a:t>
            </a:r>
            <a:endParaRPr lang="en-US" sz="1250" dirty="0"/>
          </a:p>
        </p:txBody>
      </p:sp>
      <p:sp>
        <p:nvSpPr>
          <p:cNvPr id="17" name="Text 12"/>
          <p:cNvSpPr txBox="1"/>
          <p:nvPr/>
        </p:nvSpPr>
        <p:spPr>
          <a:xfrm>
            <a:off x="731520" y="5266944"/>
            <a:ext cx="3198266" cy="740664"/>
          </a:xfrm>
          <a:prstGeom prst="rect">
            <a:avLst/>
          </a:prstGeom>
          <a:noFill/>
          <a:ln/>
        </p:spPr>
        <p:txBody>
          <a:bodyPr wrap="square" lIns="0" tIns="0" rIns="0" bIns="0" rtlCol="0" anchor="t"/>
          <a:lstStyle/>
          <a:p>
            <a:pPr indent="0" marL="0">
              <a:spcAft>
                <a:spcPts val="300"/>
              </a:spcAft>
              <a:buNone/>
            </a:pPr>
            <a:r>
              <a:rPr lang="en-US" sz="1000" dirty="0">
                <a:solidFill>
                  <a:schemeClr val="tx2"/>
                </a:solidFill>
              </a:rPr>
              <a:t>GHTF/SG1/N77:2012 principles → India First Schedule (Rule 4), EU Annex VIII (22 rules), Japan, Canada and Australia. Four tiers, one logic: invasiveness, duration, energy, body site.</a:t>
            </a:r>
            <a:endParaRPr lang="en-US" sz="1000" dirty="0"/>
          </a:p>
        </p:txBody>
      </p:sp>
      <p:sp>
        <p:nvSpPr>
          <p:cNvPr id="18" name="Card The US is the exception"/>
          <p:cNvSpPr/>
          <p:nvPr/>
        </p:nvSpPr>
        <p:spPr>
          <a:xfrm>
            <a:off x="4313834" y="4572000"/>
            <a:ext cx="3564026" cy="1600200"/>
          </a:xfrm>
          <a:prstGeom prst="roundRect">
            <a:avLst>
              <a:gd name="adj" fmla="val 6857"/>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19" name="Icon disc LuTriangleAlert"/>
          <p:cNvSpPr/>
          <p:nvPr/>
        </p:nvSpPr>
        <p:spPr>
          <a:xfrm>
            <a:off x="4496714" y="4754880"/>
            <a:ext cx="402336" cy="402336"/>
          </a:xfrm>
          <a:prstGeom prst="ellipse">
            <a:avLst/>
          </a:prstGeom>
          <a:solidFill>
            <a:schemeClr val="accent4">
              <a:alpha val="15000"/>
            </a:schemeClr>
          </a:solidFill>
          <a:ln/>
        </p:spPr>
      </p:sp>
      <p:pic>
        <p:nvPicPr>
          <p:cNvPr id="20" name="Image 1" descr="TriangleAlert icon">    </p:cNvPr>
          <p:cNvPicPr>
            <a:picLocks noChangeAspect="1"/>
          </p:cNvPicPr>
          <p:nvPr/>
        </p:nvPicPr>
        <p:blipFill>
          <a:blip r:embed="rId2"/>
          <a:stretch>
            <a:fillRect/>
          </a:stretch>
        </p:blipFill>
        <p:spPr>
          <a:xfrm>
            <a:off x="4585228" y="4843394"/>
            <a:ext cx="225308" cy="225308"/>
          </a:xfrm>
          <a:prstGeom prst="rect">
            <a:avLst/>
          </a:prstGeom>
        </p:spPr>
      </p:pic>
      <p:sp>
        <p:nvSpPr>
          <p:cNvPr id="21" name="Text 15"/>
          <p:cNvSpPr txBox="1"/>
          <p:nvPr/>
        </p:nvSpPr>
        <p:spPr>
          <a:xfrm>
            <a:off x="5036210" y="4754880"/>
            <a:ext cx="2658770" cy="402336"/>
          </a:xfrm>
          <a:prstGeom prst="rect">
            <a:avLst/>
          </a:prstGeom>
          <a:noFill/>
          <a:ln/>
        </p:spPr>
        <p:txBody>
          <a:bodyPr wrap="square" lIns="0" tIns="0" rIns="0" bIns="0" rtlCol="0" anchor="ctr"/>
          <a:lstStyle/>
          <a:p>
            <a:pPr indent="0" marL="0">
              <a:buNone/>
            </a:pPr>
            <a:r>
              <a:rPr lang="en-US" sz="1250" b="1" dirty="0">
                <a:solidFill>
                  <a:schemeClr val="tx1"/>
                </a:solidFill>
              </a:rPr>
              <a:t>The US is the exception</a:t>
            </a:r>
            <a:endParaRPr lang="en-US" sz="1250" dirty="0"/>
          </a:p>
        </p:txBody>
      </p:sp>
      <p:sp>
        <p:nvSpPr>
          <p:cNvPr id="22" name="Text 16"/>
          <p:cNvSpPr txBox="1"/>
          <p:nvPr/>
        </p:nvSpPr>
        <p:spPr>
          <a:xfrm>
            <a:off x="4496714" y="5266944"/>
            <a:ext cx="3198266" cy="740664"/>
          </a:xfrm>
          <a:prstGeom prst="rect">
            <a:avLst/>
          </a:prstGeom>
          <a:noFill/>
          <a:ln/>
        </p:spPr>
        <p:txBody>
          <a:bodyPr wrap="square" lIns="0" tIns="0" rIns="0" bIns="0" rtlCol="0" anchor="t"/>
          <a:lstStyle/>
          <a:p>
            <a:pPr indent="0" marL="0">
              <a:spcAft>
                <a:spcPts val="300"/>
              </a:spcAft>
              <a:buNone/>
            </a:pPr>
            <a:r>
              <a:rPr lang="en-US" sz="1000" dirty="0">
                <a:solidFill>
                  <a:schemeClr val="tx2"/>
                </a:solidFill>
              </a:rPr>
              <a:t>Three classes assigned by product code, not by rules. Class II (510(k)) absorbs most of B and C, so an EU IIb device is often US Class II; some EU III implants are too.</a:t>
            </a:r>
            <a:endParaRPr lang="en-US" sz="1000" dirty="0"/>
          </a:p>
        </p:txBody>
      </p:sp>
      <p:sp>
        <p:nvSpPr>
          <p:cNvPr id="23" name="Card For an Indian team"/>
          <p:cNvSpPr/>
          <p:nvPr/>
        </p:nvSpPr>
        <p:spPr>
          <a:xfrm>
            <a:off x="8079029" y="4572000"/>
            <a:ext cx="3564026" cy="1600200"/>
          </a:xfrm>
          <a:prstGeom prst="roundRect">
            <a:avLst>
              <a:gd name="adj" fmla="val 6857"/>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24" name="Icon disc LuFlag"/>
          <p:cNvSpPr/>
          <p:nvPr/>
        </p:nvSpPr>
        <p:spPr>
          <a:xfrm>
            <a:off x="8261909" y="4754880"/>
            <a:ext cx="402336" cy="402336"/>
          </a:xfrm>
          <a:prstGeom prst="ellipse">
            <a:avLst/>
          </a:prstGeom>
          <a:solidFill>
            <a:schemeClr val="accent2">
              <a:alpha val="15000"/>
            </a:schemeClr>
          </a:solidFill>
          <a:ln/>
        </p:spPr>
      </p:sp>
      <p:pic>
        <p:nvPicPr>
          <p:cNvPr id="25" name="Image 2" descr="Flag icon">    </p:cNvPr>
          <p:cNvPicPr>
            <a:picLocks noChangeAspect="1"/>
          </p:cNvPicPr>
          <p:nvPr/>
        </p:nvPicPr>
        <p:blipFill>
          <a:blip r:embed="rId3"/>
          <a:stretch>
            <a:fillRect/>
          </a:stretch>
        </p:blipFill>
        <p:spPr>
          <a:xfrm>
            <a:off x="8350423" y="4843394"/>
            <a:ext cx="225308" cy="225308"/>
          </a:xfrm>
          <a:prstGeom prst="rect">
            <a:avLst/>
          </a:prstGeom>
        </p:spPr>
      </p:pic>
      <p:sp>
        <p:nvSpPr>
          <p:cNvPr id="26" name="Text 19"/>
          <p:cNvSpPr txBox="1"/>
          <p:nvPr/>
        </p:nvSpPr>
        <p:spPr>
          <a:xfrm>
            <a:off x="8801405" y="4754880"/>
            <a:ext cx="2658770" cy="402336"/>
          </a:xfrm>
          <a:prstGeom prst="rect">
            <a:avLst/>
          </a:prstGeom>
          <a:noFill/>
          <a:ln/>
        </p:spPr>
        <p:txBody>
          <a:bodyPr wrap="square" lIns="0" tIns="0" rIns="0" bIns="0" rtlCol="0" anchor="ctr"/>
          <a:lstStyle/>
          <a:p>
            <a:pPr indent="0" marL="0">
              <a:buNone/>
            </a:pPr>
            <a:r>
              <a:rPr lang="en-US" sz="1250" b="1" dirty="0">
                <a:solidFill>
                  <a:schemeClr val="tx1"/>
                </a:solidFill>
              </a:rPr>
              <a:t>For an Indian team</a:t>
            </a:r>
            <a:endParaRPr lang="en-US" sz="1250" dirty="0"/>
          </a:p>
        </p:txBody>
      </p:sp>
      <p:sp>
        <p:nvSpPr>
          <p:cNvPr id="27" name="Text 20"/>
          <p:cNvSpPr txBox="1"/>
          <p:nvPr/>
        </p:nvSpPr>
        <p:spPr>
          <a:xfrm>
            <a:off x="8261909" y="5266944"/>
            <a:ext cx="3198266" cy="740664"/>
          </a:xfrm>
          <a:prstGeom prst="rect">
            <a:avLst/>
          </a:prstGeom>
          <a:noFill/>
          <a:ln/>
        </p:spPr>
        <p:txBody>
          <a:bodyPr wrap="square" lIns="0" tIns="0" rIns="0" bIns="0" rtlCol="0" anchor="t"/>
          <a:lstStyle/>
          <a:p>
            <a:pPr indent="0" marL="0">
              <a:spcAft>
                <a:spcPts val="300"/>
              </a:spcAft>
              <a:buNone/>
            </a:pPr>
            <a:r>
              <a:rPr lang="en-US" sz="1000" dirty="0">
                <a:solidFill>
                  <a:schemeClr val="tx2"/>
                </a:solidFill>
              </a:rPr>
              <a:t>Classify per jurisdiction: rule wording differs and the class decides the route. A Class B wearable in India maps to EU IIa, Japan II, Canada II; in the US expect Class II and a predicate search.</a:t>
            </a:r>
            <a:endParaRPr lang="en-US" sz="10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ABROAD · UNITED STATES</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US FDA: three classes, three doors</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FDA MDUFA fees FY2026; FDA QMSR (2 Feb 2026); CDRH 2025 annual report (Emergo summary); FDA Breakthrough metrics; MDUFA performance report Sept 2025; 21 CFR 812</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sp>
        <p:nvSpPr>
          <p:cNvPr id="12" name="Step Classify"/>
          <p:cNvSpPr/>
          <p:nvPr/>
        </p:nvSpPr>
        <p:spPr>
          <a:xfrm>
            <a:off x="548640" y="1572768"/>
            <a:ext cx="1404518" cy="548640"/>
          </a:xfrm>
          <a:prstGeom prst="homePlate">
            <a:avLst/>
          </a:prstGeom>
          <a:solidFill>
            <a:schemeClr val="accent4"/>
          </a:solidFill>
          <a:ln/>
        </p:spPr>
      </p:sp>
      <p:sp>
        <p:nvSpPr>
          <p:cNvPr id="13" name="Text 10"/>
          <p:cNvSpPr txBox="1"/>
          <p:nvPr/>
        </p:nvSpPr>
        <p:spPr>
          <a:xfrm>
            <a:off x="676656" y="1572768"/>
            <a:ext cx="1038758" cy="548640"/>
          </a:xfrm>
          <a:prstGeom prst="rect">
            <a:avLst/>
          </a:prstGeom>
          <a:noFill/>
          <a:ln/>
        </p:spPr>
        <p:txBody>
          <a:bodyPr wrap="square" lIns="0" tIns="0" rIns="0" bIns="0" rtlCol="0" anchor="ctr"/>
          <a:lstStyle/>
          <a:p>
            <a:pPr indent="0" marL="0">
              <a:buNone/>
            </a:pPr>
            <a:r>
              <a:rPr lang="en-US" sz="1100" b="1" dirty="0">
                <a:solidFill>
                  <a:schemeClr val="bg1"/>
                </a:solidFill>
              </a:rPr>
              <a:t>Classify</a:t>
            </a:r>
            <a:endParaRPr lang="en-US" sz="1100" dirty="0"/>
          </a:p>
        </p:txBody>
      </p:sp>
      <p:sp>
        <p:nvSpPr>
          <p:cNvPr id="14" name="Text 11"/>
          <p:cNvSpPr txBox="1"/>
          <p:nvPr/>
        </p:nvSpPr>
        <p:spPr>
          <a:xfrm>
            <a:off x="594360" y="2231136"/>
            <a:ext cx="1267358" cy="457200"/>
          </a:xfrm>
          <a:prstGeom prst="rect">
            <a:avLst/>
          </a:prstGeom>
          <a:noFill/>
          <a:ln/>
        </p:spPr>
        <p:txBody>
          <a:bodyPr wrap="square" lIns="0" tIns="0" rIns="0" bIns="0" rtlCol="0" anchor="t"/>
          <a:lstStyle/>
          <a:p>
            <a:pPr indent="0" marL="0">
              <a:spcAft>
                <a:spcPts val="200"/>
              </a:spcAft>
              <a:buNone/>
            </a:pPr>
            <a:r>
              <a:rPr lang="en-US" sz="950" dirty="0">
                <a:solidFill>
                  <a:schemeClr val="accent6"/>
                </a:solidFill>
              </a:rPr>
              <a:t>Class I · II · III, by product code</a:t>
            </a:r>
            <a:endParaRPr lang="en-US" sz="950" dirty="0"/>
          </a:p>
        </p:txBody>
      </p:sp>
      <p:sp>
        <p:nvSpPr>
          <p:cNvPr id="15" name="Step Study"/>
          <p:cNvSpPr/>
          <p:nvPr/>
        </p:nvSpPr>
        <p:spPr>
          <a:xfrm>
            <a:off x="2026310" y="1572768"/>
            <a:ext cx="1404518" cy="548640"/>
          </a:xfrm>
          <a:prstGeom prst="chevron">
            <a:avLst/>
          </a:prstGeom>
          <a:solidFill>
            <a:schemeClr val="accent4"/>
          </a:solidFill>
          <a:ln/>
        </p:spPr>
      </p:sp>
      <p:sp>
        <p:nvSpPr>
          <p:cNvPr id="16" name="Text 13"/>
          <p:cNvSpPr txBox="1"/>
          <p:nvPr/>
        </p:nvSpPr>
        <p:spPr>
          <a:xfrm>
            <a:off x="2355494" y="1572768"/>
            <a:ext cx="855878" cy="548640"/>
          </a:xfrm>
          <a:prstGeom prst="rect">
            <a:avLst/>
          </a:prstGeom>
          <a:noFill/>
          <a:ln/>
        </p:spPr>
        <p:txBody>
          <a:bodyPr wrap="square" lIns="0" tIns="0" rIns="0" bIns="0" rtlCol="0" anchor="ctr"/>
          <a:lstStyle/>
          <a:p>
            <a:pPr indent="0" marL="0">
              <a:buNone/>
            </a:pPr>
            <a:r>
              <a:rPr lang="en-US" sz="1100" b="1" dirty="0">
                <a:solidFill>
                  <a:schemeClr val="bg1"/>
                </a:solidFill>
              </a:rPr>
              <a:t>Study</a:t>
            </a:r>
            <a:endParaRPr lang="en-US" sz="1100" dirty="0"/>
          </a:p>
        </p:txBody>
      </p:sp>
      <p:sp>
        <p:nvSpPr>
          <p:cNvPr id="17" name="Text 14"/>
          <p:cNvSpPr txBox="1"/>
          <p:nvPr/>
        </p:nvSpPr>
        <p:spPr>
          <a:xfrm>
            <a:off x="2072030" y="2231136"/>
            <a:ext cx="1267358" cy="457200"/>
          </a:xfrm>
          <a:prstGeom prst="rect">
            <a:avLst/>
          </a:prstGeom>
          <a:noFill/>
          <a:ln/>
        </p:spPr>
        <p:txBody>
          <a:bodyPr wrap="square" lIns="0" tIns="0" rIns="0" bIns="0" rtlCol="0" anchor="t"/>
          <a:lstStyle/>
          <a:p>
            <a:pPr indent="0" marL="0">
              <a:spcAft>
                <a:spcPts val="200"/>
              </a:spcAft>
              <a:buNone/>
            </a:pPr>
            <a:r>
              <a:rPr lang="en-US" sz="950" dirty="0">
                <a:solidFill>
                  <a:schemeClr val="accent6"/>
                </a:solidFill>
              </a:rPr>
              <a:t>IDE for significant-risk trials (21 CFR 812); IRB decides risk</a:t>
            </a:r>
            <a:endParaRPr lang="en-US" sz="950" dirty="0"/>
          </a:p>
        </p:txBody>
      </p:sp>
      <p:sp>
        <p:nvSpPr>
          <p:cNvPr id="18" name="Step Submit"/>
          <p:cNvSpPr/>
          <p:nvPr/>
        </p:nvSpPr>
        <p:spPr>
          <a:xfrm>
            <a:off x="3503981" y="1572768"/>
            <a:ext cx="1404518" cy="548640"/>
          </a:xfrm>
          <a:prstGeom prst="chevron">
            <a:avLst/>
          </a:prstGeom>
          <a:solidFill>
            <a:schemeClr val="accent2"/>
          </a:solidFill>
          <a:ln/>
        </p:spPr>
      </p:sp>
      <p:sp>
        <p:nvSpPr>
          <p:cNvPr id="19" name="Text 16"/>
          <p:cNvSpPr txBox="1"/>
          <p:nvPr/>
        </p:nvSpPr>
        <p:spPr>
          <a:xfrm>
            <a:off x="3833165" y="1572768"/>
            <a:ext cx="855878" cy="548640"/>
          </a:xfrm>
          <a:prstGeom prst="rect">
            <a:avLst/>
          </a:prstGeom>
          <a:noFill/>
          <a:ln/>
        </p:spPr>
        <p:txBody>
          <a:bodyPr wrap="square" lIns="0" tIns="0" rIns="0" bIns="0" rtlCol="0" anchor="ctr"/>
          <a:lstStyle/>
          <a:p>
            <a:pPr indent="0" marL="0">
              <a:buNone/>
            </a:pPr>
            <a:r>
              <a:rPr lang="en-US" sz="1100" b="1" dirty="0">
                <a:solidFill>
                  <a:schemeClr val="bg1"/>
                </a:solidFill>
              </a:rPr>
              <a:t>Submit</a:t>
            </a:r>
            <a:endParaRPr lang="en-US" sz="1100" dirty="0"/>
          </a:p>
        </p:txBody>
      </p:sp>
      <p:sp>
        <p:nvSpPr>
          <p:cNvPr id="20" name="Text 17"/>
          <p:cNvSpPr txBox="1"/>
          <p:nvPr/>
        </p:nvSpPr>
        <p:spPr>
          <a:xfrm>
            <a:off x="3549701" y="2231136"/>
            <a:ext cx="1267358" cy="457200"/>
          </a:xfrm>
          <a:prstGeom prst="rect">
            <a:avLst/>
          </a:prstGeom>
          <a:noFill/>
          <a:ln/>
        </p:spPr>
        <p:txBody>
          <a:bodyPr wrap="square" lIns="0" tIns="0" rIns="0" bIns="0" rtlCol="0" anchor="t"/>
          <a:lstStyle/>
          <a:p>
            <a:pPr indent="0" marL="0">
              <a:spcAft>
                <a:spcPts val="200"/>
              </a:spcAft>
              <a:buNone/>
            </a:pPr>
            <a:r>
              <a:rPr lang="en-US" sz="950" dirty="0">
                <a:solidFill>
                  <a:schemeClr val="accent6"/>
                </a:solidFill>
              </a:rPr>
              <a:t>510(k) · De Novo · PMA</a:t>
            </a:r>
            <a:endParaRPr lang="en-US" sz="950" dirty="0"/>
          </a:p>
        </p:txBody>
      </p:sp>
      <p:sp>
        <p:nvSpPr>
          <p:cNvPr id="21" name="Step QMSR"/>
          <p:cNvSpPr/>
          <p:nvPr/>
        </p:nvSpPr>
        <p:spPr>
          <a:xfrm>
            <a:off x="4981651" y="1572768"/>
            <a:ext cx="1404518" cy="548640"/>
          </a:xfrm>
          <a:prstGeom prst="chevron">
            <a:avLst/>
          </a:prstGeom>
          <a:solidFill>
            <a:schemeClr val="accent4"/>
          </a:solidFill>
          <a:ln/>
        </p:spPr>
      </p:sp>
      <p:sp>
        <p:nvSpPr>
          <p:cNvPr id="22" name="Text 19"/>
          <p:cNvSpPr txBox="1"/>
          <p:nvPr/>
        </p:nvSpPr>
        <p:spPr>
          <a:xfrm>
            <a:off x="5310835" y="1572768"/>
            <a:ext cx="855878" cy="548640"/>
          </a:xfrm>
          <a:prstGeom prst="rect">
            <a:avLst/>
          </a:prstGeom>
          <a:noFill/>
          <a:ln/>
        </p:spPr>
        <p:txBody>
          <a:bodyPr wrap="square" lIns="0" tIns="0" rIns="0" bIns="0" rtlCol="0" anchor="ctr"/>
          <a:lstStyle/>
          <a:p>
            <a:pPr indent="0" marL="0">
              <a:buNone/>
            </a:pPr>
            <a:r>
              <a:rPr lang="en-US" sz="1100" b="1" dirty="0">
                <a:solidFill>
                  <a:schemeClr val="bg1"/>
                </a:solidFill>
              </a:rPr>
              <a:t>QMSR</a:t>
            </a:r>
            <a:endParaRPr lang="en-US" sz="1100" dirty="0"/>
          </a:p>
        </p:txBody>
      </p:sp>
      <p:sp>
        <p:nvSpPr>
          <p:cNvPr id="23" name="Text 20"/>
          <p:cNvSpPr txBox="1"/>
          <p:nvPr/>
        </p:nvSpPr>
        <p:spPr>
          <a:xfrm>
            <a:off x="5027371" y="2231136"/>
            <a:ext cx="1267358" cy="457200"/>
          </a:xfrm>
          <a:prstGeom prst="rect">
            <a:avLst/>
          </a:prstGeom>
          <a:noFill/>
          <a:ln/>
        </p:spPr>
        <p:txBody>
          <a:bodyPr wrap="square" lIns="0" tIns="0" rIns="0" bIns="0" rtlCol="0" anchor="t"/>
          <a:lstStyle/>
          <a:p>
            <a:pPr indent="0" marL="0">
              <a:spcAft>
                <a:spcPts val="200"/>
              </a:spcAft>
              <a:buNone/>
            </a:pPr>
            <a:r>
              <a:rPr lang="en-US" sz="950" dirty="0">
                <a:solidFill>
                  <a:schemeClr val="accent6"/>
                </a:solidFill>
              </a:rPr>
              <a:t>ISO 13485:2016 via 21 CFR 820, from 2 Feb 2026</a:t>
            </a:r>
            <a:endParaRPr lang="en-US" sz="950" dirty="0"/>
          </a:p>
        </p:txBody>
      </p:sp>
      <p:sp>
        <p:nvSpPr>
          <p:cNvPr id="24" name="Step Watch"/>
          <p:cNvSpPr/>
          <p:nvPr/>
        </p:nvSpPr>
        <p:spPr>
          <a:xfrm>
            <a:off x="6459322" y="1572768"/>
            <a:ext cx="1404518" cy="548640"/>
          </a:xfrm>
          <a:prstGeom prst="chevron">
            <a:avLst/>
          </a:prstGeom>
          <a:solidFill>
            <a:schemeClr val="accent4"/>
          </a:solidFill>
          <a:ln/>
        </p:spPr>
      </p:sp>
      <p:sp>
        <p:nvSpPr>
          <p:cNvPr id="25" name="Text 22"/>
          <p:cNvSpPr txBox="1"/>
          <p:nvPr/>
        </p:nvSpPr>
        <p:spPr>
          <a:xfrm>
            <a:off x="6788506" y="1572768"/>
            <a:ext cx="855878" cy="548640"/>
          </a:xfrm>
          <a:prstGeom prst="rect">
            <a:avLst/>
          </a:prstGeom>
          <a:noFill/>
          <a:ln/>
        </p:spPr>
        <p:txBody>
          <a:bodyPr wrap="square" lIns="0" tIns="0" rIns="0" bIns="0" rtlCol="0" anchor="ctr"/>
          <a:lstStyle/>
          <a:p>
            <a:pPr indent="0" marL="0">
              <a:buNone/>
            </a:pPr>
            <a:r>
              <a:rPr lang="en-US" sz="1100" b="1" dirty="0">
                <a:solidFill>
                  <a:schemeClr val="bg1"/>
                </a:solidFill>
              </a:rPr>
              <a:t>Watch</a:t>
            </a:r>
            <a:endParaRPr lang="en-US" sz="1100" dirty="0"/>
          </a:p>
        </p:txBody>
      </p:sp>
      <p:sp>
        <p:nvSpPr>
          <p:cNvPr id="26" name="Text 23"/>
          <p:cNvSpPr txBox="1"/>
          <p:nvPr/>
        </p:nvSpPr>
        <p:spPr>
          <a:xfrm>
            <a:off x="6505042" y="2231136"/>
            <a:ext cx="1267358" cy="457200"/>
          </a:xfrm>
          <a:prstGeom prst="rect">
            <a:avLst/>
          </a:prstGeom>
          <a:noFill/>
          <a:ln/>
        </p:spPr>
        <p:txBody>
          <a:bodyPr wrap="square" lIns="0" tIns="0" rIns="0" bIns="0" rtlCol="0" anchor="t"/>
          <a:lstStyle/>
          <a:p>
            <a:pPr indent="0" marL="0">
              <a:spcAft>
                <a:spcPts val="200"/>
              </a:spcAft>
              <a:buNone/>
            </a:pPr>
            <a:r>
              <a:rPr lang="en-US" sz="950" dirty="0">
                <a:solidFill>
                  <a:schemeClr val="accent6"/>
                </a:solidFill>
              </a:rPr>
              <a:t>MAUDE reports · recalls · UDI in GUDID</a:t>
            </a:r>
            <a:endParaRPr lang="en-US" sz="950" dirty="0"/>
          </a:p>
        </p:txBody>
      </p:sp>
      <p:sp>
        <p:nvSpPr>
          <p:cNvPr id="27" name="Card 510(k)"/>
          <p:cNvSpPr/>
          <p:nvPr/>
        </p:nvSpPr>
        <p:spPr>
          <a:xfrm>
            <a:off x="548640" y="2697480"/>
            <a:ext cx="2316480" cy="2514600"/>
          </a:xfrm>
          <a:prstGeom prst="roundRect">
            <a:avLst>
              <a:gd name="adj" fmla="val 4737"/>
            </a:avLst>
          </a:prstGeom>
          <a:solidFill>
            <a:schemeClr val="bg1">
              <a:alpha val="10000"/>
            </a:schemeClr>
          </a:solidFill>
          <a:ln w="9525">
            <a:solidFill>
              <a:schemeClr val="accent6"/>
            </a:solidFill>
            <a:prstDash val="solid"/>
          </a:ln>
        </p:spPr>
      </p:sp>
      <p:sp>
        <p:nvSpPr>
          <p:cNvPr id="28" name="Icon disc LuDoorOpen"/>
          <p:cNvSpPr/>
          <p:nvPr/>
        </p:nvSpPr>
        <p:spPr>
          <a:xfrm>
            <a:off x="731520" y="2880360"/>
            <a:ext cx="402336" cy="402336"/>
          </a:xfrm>
          <a:prstGeom prst="ellipse">
            <a:avLst/>
          </a:prstGeom>
          <a:solidFill>
            <a:schemeClr val="accent1"/>
          </a:solidFill>
          <a:ln/>
        </p:spPr>
      </p:sp>
      <p:pic>
        <p:nvPicPr>
          <p:cNvPr id="29" name="Image 0" descr="DoorOpen icon">    </p:cNvPr>
          <p:cNvPicPr>
            <a:picLocks noChangeAspect="1"/>
          </p:cNvPicPr>
          <p:nvPr/>
        </p:nvPicPr>
        <p:blipFill>
          <a:blip r:embed="rId1"/>
          <a:stretch>
            <a:fillRect/>
          </a:stretch>
        </p:blipFill>
        <p:spPr>
          <a:xfrm>
            <a:off x="820034" y="2968874"/>
            <a:ext cx="225308" cy="225308"/>
          </a:xfrm>
          <a:prstGeom prst="rect">
            <a:avLst/>
          </a:prstGeom>
        </p:spPr>
      </p:pic>
      <p:sp>
        <p:nvSpPr>
          <p:cNvPr id="30" name="Text 26"/>
          <p:cNvSpPr txBox="1"/>
          <p:nvPr/>
        </p:nvSpPr>
        <p:spPr>
          <a:xfrm>
            <a:off x="1271016" y="2880360"/>
            <a:ext cx="1411224" cy="402336"/>
          </a:xfrm>
          <a:prstGeom prst="rect">
            <a:avLst/>
          </a:prstGeom>
          <a:noFill/>
          <a:ln/>
        </p:spPr>
        <p:txBody>
          <a:bodyPr wrap="square" lIns="0" tIns="0" rIns="0" bIns="0" rtlCol="0" anchor="ctr"/>
          <a:lstStyle/>
          <a:p>
            <a:pPr indent="0" marL="0">
              <a:buNone/>
            </a:pPr>
            <a:r>
              <a:rPr lang="en-US" sz="1400" b="1" dirty="0">
                <a:solidFill>
                  <a:schemeClr val="bg1"/>
                </a:solidFill>
              </a:rPr>
              <a:t>510(k)</a:t>
            </a:r>
            <a:endParaRPr lang="en-US" sz="1400" dirty="0"/>
          </a:p>
        </p:txBody>
      </p:sp>
      <p:sp>
        <p:nvSpPr>
          <p:cNvPr id="31" name="Text 27"/>
          <p:cNvSpPr txBox="1"/>
          <p:nvPr/>
        </p:nvSpPr>
        <p:spPr>
          <a:xfrm>
            <a:off x="731520" y="3392424"/>
            <a:ext cx="1950720" cy="1655064"/>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accent6"/>
                </a:solidFill>
              </a:rPr>
              <a:t>Class II (and some Class I): substantial equivalence to a predicate</a:t>
            </a:r>
            <a:endParaRPr lang="en-US" sz="950" dirty="0"/>
          </a:p>
          <a:p>
            <a:pPr marL="127000" indent="-127000">
              <a:spcAft>
                <a:spcPts val="300"/>
              </a:spcAft>
              <a:buSzPct val="100000"/>
              <a:buChar char="•"/>
            </a:pPr>
            <a:r>
              <a:rPr lang="en-US" sz="950" dirty="0">
                <a:solidFill>
                  <a:schemeClr val="accent6"/>
                </a:solidFill>
              </a:rPr>
              <a:t>Fee $26,067 · small business $6,517 (FY2026)</a:t>
            </a:r>
            <a:endParaRPr lang="en-US" sz="950" dirty="0"/>
          </a:p>
          <a:p>
            <a:pPr marL="127000" indent="-127000">
              <a:spcAft>
                <a:spcPts val="300"/>
              </a:spcAft>
              <a:buSzPct val="100000"/>
              <a:buChar char="•"/>
            </a:pPr>
            <a:r>
              <a:rPr lang="en-US" sz="950" dirty="0">
                <a:solidFill>
                  <a:schemeClr val="accent6"/>
                </a:solidFill>
              </a:rPr>
              <a:t>Goal: 95% decided within 90 FDA days</a:t>
            </a:r>
            <a:endParaRPr lang="en-US" sz="950" dirty="0"/>
          </a:p>
          <a:p>
            <a:pPr marL="127000" indent="-127000">
              <a:spcAft>
                <a:spcPts val="300"/>
              </a:spcAft>
              <a:buSzPct val="100000"/>
              <a:buChar char="•"/>
            </a:pPr>
            <a:r>
              <a:rPr lang="en-US" sz="950" dirty="0">
                <a:solidFill>
                  <a:schemeClr val="accent6"/>
                </a:solidFill>
              </a:rPr>
              <a:t>3,238 clearances in 2025</a:t>
            </a:r>
            <a:endParaRPr lang="en-US" sz="950" dirty="0"/>
          </a:p>
        </p:txBody>
      </p:sp>
      <p:sp>
        <p:nvSpPr>
          <p:cNvPr id="32" name="Card De Novo"/>
          <p:cNvSpPr/>
          <p:nvPr/>
        </p:nvSpPr>
        <p:spPr>
          <a:xfrm>
            <a:off x="3048000" y="2697480"/>
            <a:ext cx="2316480" cy="2514600"/>
          </a:xfrm>
          <a:prstGeom prst="roundRect">
            <a:avLst>
              <a:gd name="adj" fmla="val 4737"/>
            </a:avLst>
          </a:prstGeom>
          <a:solidFill>
            <a:schemeClr val="bg1">
              <a:alpha val="10000"/>
            </a:schemeClr>
          </a:solidFill>
          <a:ln w="9525">
            <a:solidFill>
              <a:schemeClr val="accent6"/>
            </a:solidFill>
            <a:prstDash val="solid"/>
          </a:ln>
        </p:spPr>
      </p:sp>
      <p:sp>
        <p:nvSpPr>
          <p:cNvPr id="33" name="Icon disc LuLightbulb"/>
          <p:cNvSpPr/>
          <p:nvPr/>
        </p:nvSpPr>
        <p:spPr>
          <a:xfrm>
            <a:off x="3230880" y="2880360"/>
            <a:ext cx="402336" cy="402336"/>
          </a:xfrm>
          <a:prstGeom prst="ellipse">
            <a:avLst/>
          </a:prstGeom>
          <a:solidFill>
            <a:schemeClr val="accent2"/>
          </a:solidFill>
          <a:ln/>
        </p:spPr>
      </p:sp>
      <p:pic>
        <p:nvPicPr>
          <p:cNvPr id="34" name="Image 1" descr="Lightbulb icon">    </p:cNvPr>
          <p:cNvPicPr>
            <a:picLocks noChangeAspect="1"/>
          </p:cNvPicPr>
          <p:nvPr/>
        </p:nvPicPr>
        <p:blipFill>
          <a:blip r:embed="rId2"/>
          <a:stretch>
            <a:fillRect/>
          </a:stretch>
        </p:blipFill>
        <p:spPr>
          <a:xfrm>
            <a:off x="3319394" y="2968874"/>
            <a:ext cx="225308" cy="225308"/>
          </a:xfrm>
          <a:prstGeom prst="rect">
            <a:avLst/>
          </a:prstGeom>
        </p:spPr>
      </p:pic>
      <p:sp>
        <p:nvSpPr>
          <p:cNvPr id="35" name="Text 30"/>
          <p:cNvSpPr txBox="1"/>
          <p:nvPr/>
        </p:nvSpPr>
        <p:spPr>
          <a:xfrm>
            <a:off x="3770376" y="2880360"/>
            <a:ext cx="1411224" cy="402336"/>
          </a:xfrm>
          <a:prstGeom prst="rect">
            <a:avLst/>
          </a:prstGeom>
          <a:noFill/>
          <a:ln/>
        </p:spPr>
        <p:txBody>
          <a:bodyPr wrap="square" lIns="0" tIns="0" rIns="0" bIns="0" rtlCol="0" anchor="ctr"/>
          <a:lstStyle/>
          <a:p>
            <a:pPr indent="0" marL="0">
              <a:buNone/>
            </a:pPr>
            <a:r>
              <a:rPr lang="en-US" sz="1400" b="1" dirty="0">
                <a:solidFill>
                  <a:schemeClr val="bg1"/>
                </a:solidFill>
              </a:rPr>
              <a:t>De Novo</a:t>
            </a:r>
            <a:endParaRPr lang="en-US" sz="1400" dirty="0"/>
          </a:p>
        </p:txBody>
      </p:sp>
      <p:sp>
        <p:nvSpPr>
          <p:cNvPr id="36" name="Text 31"/>
          <p:cNvSpPr txBox="1"/>
          <p:nvPr/>
        </p:nvSpPr>
        <p:spPr>
          <a:xfrm>
            <a:off x="3230880" y="3392424"/>
            <a:ext cx="1950720" cy="1655064"/>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accent6"/>
                </a:solidFill>
              </a:rPr>
              <a:t>Novel low–moderate-risk device with no predicate; creates a new classification</a:t>
            </a:r>
            <a:endParaRPr lang="en-US" sz="950" dirty="0"/>
          </a:p>
          <a:p>
            <a:pPr marL="127000" indent="-127000">
              <a:spcAft>
                <a:spcPts val="300"/>
              </a:spcAft>
              <a:buSzPct val="100000"/>
              <a:buChar char="•"/>
            </a:pPr>
            <a:r>
              <a:rPr lang="en-US" sz="950" dirty="0">
                <a:solidFill>
                  <a:schemeClr val="accent6"/>
                </a:solidFill>
              </a:rPr>
              <a:t>Fee $173,782 · small business $43,446</a:t>
            </a:r>
            <a:endParaRPr lang="en-US" sz="950" dirty="0"/>
          </a:p>
          <a:p>
            <a:pPr marL="127000" indent="-127000">
              <a:spcAft>
                <a:spcPts val="300"/>
              </a:spcAft>
              <a:buSzPct val="100000"/>
              <a:buChar char="•"/>
            </a:pPr>
            <a:r>
              <a:rPr lang="en-US" sz="950" dirty="0">
                <a:solidFill>
                  <a:schemeClr val="accent6"/>
                </a:solidFill>
              </a:rPr>
              <a:t>Later devices can cite the De Novo device as a predicate</a:t>
            </a:r>
            <a:endParaRPr lang="en-US" sz="950" dirty="0"/>
          </a:p>
          <a:p>
            <a:pPr marL="127000" indent="-127000">
              <a:spcAft>
                <a:spcPts val="300"/>
              </a:spcAft>
              <a:buSzPct val="100000"/>
              <a:buChar char="•"/>
            </a:pPr>
            <a:r>
              <a:rPr lang="en-US" sz="950" dirty="0">
                <a:solidFill>
                  <a:schemeClr val="accent6"/>
                </a:solidFill>
              </a:rPr>
              <a:t>27 grants reported for 2025</a:t>
            </a:r>
            <a:endParaRPr lang="en-US" sz="950" dirty="0"/>
          </a:p>
        </p:txBody>
      </p:sp>
      <p:sp>
        <p:nvSpPr>
          <p:cNvPr id="37" name="Card PMA"/>
          <p:cNvSpPr/>
          <p:nvPr/>
        </p:nvSpPr>
        <p:spPr>
          <a:xfrm>
            <a:off x="5547360" y="2697480"/>
            <a:ext cx="2316480" cy="2514600"/>
          </a:xfrm>
          <a:prstGeom prst="roundRect">
            <a:avLst>
              <a:gd name="adj" fmla="val 4737"/>
            </a:avLst>
          </a:prstGeom>
          <a:solidFill>
            <a:schemeClr val="bg1">
              <a:alpha val="10000"/>
            </a:schemeClr>
          </a:solidFill>
          <a:ln w="9525">
            <a:solidFill>
              <a:schemeClr val="accent6"/>
            </a:solidFill>
            <a:prstDash val="solid"/>
          </a:ln>
        </p:spPr>
      </p:sp>
      <p:sp>
        <p:nvSpPr>
          <p:cNvPr id="38" name="Icon disc LuShieldAlert"/>
          <p:cNvSpPr/>
          <p:nvPr/>
        </p:nvSpPr>
        <p:spPr>
          <a:xfrm>
            <a:off x="5730240" y="2880360"/>
            <a:ext cx="402336" cy="402336"/>
          </a:xfrm>
          <a:prstGeom prst="ellipse">
            <a:avLst/>
          </a:prstGeom>
          <a:solidFill>
            <a:schemeClr val="accent3"/>
          </a:solidFill>
          <a:ln/>
        </p:spPr>
      </p:sp>
      <p:pic>
        <p:nvPicPr>
          <p:cNvPr id="39" name="Image 2" descr="ShieldAlert icon">    </p:cNvPr>
          <p:cNvPicPr>
            <a:picLocks noChangeAspect="1"/>
          </p:cNvPicPr>
          <p:nvPr/>
        </p:nvPicPr>
        <p:blipFill>
          <a:blip r:embed="rId3"/>
          <a:stretch>
            <a:fillRect/>
          </a:stretch>
        </p:blipFill>
        <p:spPr>
          <a:xfrm>
            <a:off x="5818754" y="2968874"/>
            <a:ext cx="225308" cy="225308"/>
          </a:xfrm>
          <a:prstGeom prst="rect">
            <a:avLst/>
          </a:prstGeom>
        </p:spPr>
      </p:pic>
      <p:sp>
        <p:nvSpPr>
          <p:cNvPr id="40" name="Text 34"/>
          <p:cNvSpPr txBox="1"/>
          <p:nvPr/>
        </p:nvSpPr>
        <p:spPr>
          <a:xfrm>
            <a:off x="6269736" y="2880360"/>
            <a:ext cx="1411224" cy="402336"/>
          </a:xfrm>
          <a:prstGeom prst="rect">
            <a:avLst/>
          </a:prstGeom>
          <a:noFill/>
          <a:ln/>
        </p:spPr>
        <p:txBody>
          <a:bodyPr wrap="square" lIns="0" tIns="0" rIns="0" bIns="0" rtlCol="0" anchor="ctr"/>
          <a:lstStyle/>
          <a:p>
            <a:pPr indent="0" marL="0">
              <a:buNone/>
            </a:pPr>
            <a:r>
              <a:rPr lang="en-US" sz="1400" b="1" dirty="0">
                <a:solidFill>
                  <a:schemeClr val="bg1"/>
                </a:solidFill>
              </a:rPr>
              <a:t>PMA</a:t>
            </a:r>
            <a:endParaRPr lang="en-US" sz="1400" dirty="0"/>
          </a:p>
        </p:txBody>
      </p:sp>
      <p:sp>
        <p:nvSpPr>
          <p:cNvPr id="41" name="Text 35"/>
          <p:cNvSpPr txBox="1"/>
          <p:nvPr/>
        </p:nvSpPr>
        <p:spPr>
          <a:xfrm>
            <a:off x="5730240" y="3392424"/>
            <a:ext cx="1950720" cy="1655064"/>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accent6"/>
                </a:solidFill>
              </a:rPr>
              <a:t>Class III: reasonable assurance of safety and effectiveness, usually with clinical data</a:t>
            </a:r>
            <a:endParaRPr lang="en-US" sz="950" dirty="0"/>
          </a:p>
          <a:p>
            <a:pPr marL="127000" indent="-127000">
              <a:spcAft>
                <a:spcPts val="300"/>
              </a:spcAft>
              <a:buSzPct val="100000"/>
              <a:buChar char="•"/>
            </a:pPr>
            <a:r>
              <a:rPr lang="en-US" sz="950" dirty="0">
                <a:solidFill>
                  <a:schemeClr val="accent6"/>
                </a:solidFill>
              </a:rPr>
              <a:t>Fee $579,272 · small business $144,818</a:t>
            </a:r>
            <a:endParaRPr lang="en-US" sz="950" dirty="0"/>
          </a:p>
          <a:p>
            <a:pPr marL="127000" indent="-127000">
              <a:spcAft>
                <a:spcPts val="300"/>
              </a:spcAft>
              <a:buSzPct val="100000"/>
              <a:buChar char="•"/>
            </a:pPr>
            <a:r>
              <a:rPr lang="en-US" sz="950" dirty="0">
                <a:solidFill>
                  <a:schemeClr val="accent6"/>
                </a:solidFill>
              </a:rPr>
              <a:t>Goal: 285 calendar days total time (FY2025–27)</a:t>
            </a:r>
            <a:endParaRPr lang="en-US" sz="950" dirty="0"/>
          </a:p>
          <a:p>
            <a:pPr marL="127000" indent="-127000">
              <a:spcAft>
                <a:spcPts val="300"/>
              </a:spcAft>
              <a:buSzPct val="100000"/>
              <a:buChar char="•"/>
            </a:pPr>
            <a:r>
              <a:rPr lang="en-US" sz="950" dirty="0">
                <a:solidFill>
                  <a:schemeClr val="accent6"/>
                </a:solidFill>
              </a:rPr>
              <a:t>41 originals + 2,210 supplements in 2025</a:t>
            </a:r>
            <a:endParaRPr lang="en-US" sz="950" dirty="0"/>
          </a:p>
        </p:txBody>
      </p:sp>
      <p:sp>
        <p:nvSpPr>
          <p:cNvPr id="42" name="Callout"/>
          <p:cNvSpPr/>
          <p:nvPr/>
        </p:nvSpPr>
        <p:spPr>
          <a:xfrm>
            <a:off x="548640" y="5394960"/>
            <a:ext cx="7315200" cy="777240"/>
          </a:xfrm>
          <a:prstGeom prst="roundRect">
            <a:avLst>
              <a:gd name="adj" fmla="val 9412"/>
            </a:avLst>
          </a:prstGeom>
          <a:solidFill>
            <a:schemeClr val="accent2">
              <a:alpha val="20000"/>
            </a:schemeClr>
          </a:solidFill>
          <a:ln/>
        </p:spPr>
      </p:sp>
      <p:sp>
        <p:nvSpPr>
          <p:cNvPr id="43" name="Callout bar"/>
          <p:cNvSpPr/>
          <p:nvPr/>
        </p:nvSpPr>
        <p:spPr>
          <a:xfrm>
            <a:off x="548640" y="5486400"/>
            <a:ext cx="64008" cy="594360"/>
          </a:xfrm>
          <a:prstGeom prst="rect">
            <a:avLst/>
          </a:prstGeom>
          <a:solidFill>
            <a:schemeClr val="accent2"/>
          </a:solidFill>
          <a:ln/>
        </p:spPr>
      </p:sp>
      <p:sp>
        <p:nvSpPr>
          <p:cNvPr id="44" name="Text 38"/>
          <p:cNvSpPr txBox="1"/>
          <p:nvPr/>
        </p:nvSpPr>
        <p:spPr>
          <a:xfrm>
            <a:off x="822960" y="5394960"/>
            <a:ext cx="6903720" cy="777240"/>
          </a:xfrm>
          <a:prstGeom prst="rect">
            <a:avLst/>
          </a:prstGeom>
          <a:noFill/>
          <a:ln/>
        </p:spPr>
        <p:txBody>
          <a:bodyPr wrap="square" lIns="0" tIns="0" rIns="0" bIns="0" rtlCol="0" anchor="ctr"/>
          <a:lstStyle/>
          <a:p>
            <a:pPr indent="0" marL="0">
              <a:buNone/>
            </a:pPr>
            <a:r>
              <a:rPr lang="en-US" sz="1050" b="1" dirty="0">
                <a:solidFill>
                  <a:schemeClr val="bg1"/>
                </a:solidFill>
              </a:rPr>
              <a:t>For an Indian exporter: </a:t>
            </a:r>
            <a:pPr indent="0" marL="0">
              <a:buNone/>
            </a:pPr>
            <a:r>
              <a:rPr lang="en-US" sz="1050" dirty="0">
                <a:solidFill>
                  <a:schemeClr val="bg1"/>
                </a:solidFill>
              </a:rPr>
              <a:t>qualify as a small business (≤ US$100 m gross receipts) and every fee drops to one quarter; build the QMS to ISO 13485:2016 once (India Fifth Schedule, FDA QMSR, MDSAP); run the predicate search before the design freeze.</a:t>
            </a:r>
            <a:endParaRPr lang="en-US" sz="1050" dirty="0"/>
          </a:p>
        </p:txBody>
      </p:sp>
      <p:sp>
        <p:nvSpPr>
          <p:cNvPr id="45" name="Stat Breakthrough designations"/>
          <p:cNvSpPr/>
          <p:nvPr/>
        </p:nvSpPr>
        <p:spPr>
          <a:xfrm>
            <a:off x="8092440" y="1572768"/>
            <a:ext cx="3547872" cy="1417320"/>
          </a:xfrm>
          <a:prstGeom prst="roundRect">
            <a:avLst>
              <a:gd name="adj" fmla="val 7742"/>
            </a:avLst>
          </a:prstGeom>
          <a:solidFill>
            <a:schemeClr val="bg1">
              <a:alpha val="10000"/>
            </a:schemeClr>
          </a:solidFill>
          <a:ln w="12700">
            <a:solidFill>
              <a:schemeClr val="accent6"/>
            </a:solidFill>
            <a:prstDash val="solid"/>
          </a:ln>
        </p:spPr>
      </p:sp>
      <p:sp>
        <p:nvSpPr>
          <p:cNvPr id="46" name="Stat accent"/>
          <p:cNvSpPr/>
          <p:nvPr/>
        </p:nvSpPr>
        <p:spPr>
          <a:xfrm>
            <a:off x="8092440" y="1801368"/>
            <a:ext cx="64008" cy="960120"/>
          </a:xfrm>
          <a:prstGeom prst="rect">
            <a:avLst/>
          </a:prstGeom>
          <a:solidFill>
            <a:schemeClr val="accent2"/>
          </a:solidFill>
          <a:ln/>
        </p:spPr>
      </p:sp>
      <p:sp>
        <p:nvSpPr>
          <p:cNvPr id="47" name="Icon disc LuRocket"/>
          <p:cNvSpPr/>
          <p:nvPr/>
        </p:nvSpPr>
        <p:spPr>
          <a:xfrm>
            <a:off x="11073384" y="1755648"/>
            <a:ext cx="402336" cy="402336"/>
          </a:xfrm>
          <a:prstGeom prst="ellipse">
            <a:avLst/>
          </a:prstGeom>
          <a:solidFill>
            <a:schemeClr val="accent2"/>
          </a:solidFill>
          <a:ln/>
        </p:spPr>
      </p:sp>
      <p:pic>
        <p:nvPicPr>
          <p:cNvPr id="48" name="Image 3" descr="Rocket icon">    </p:cNvPr>
          <p:cNvPicPr>
            <a:picLocks noChangeAspect="1"/>
          </p:cNvPicPr>
          <p:nvPr/>
        </p:nvPicPr>
        <p:blipFill>
          <a:blip r:embed="rId4"/>
          <a:stretch>
            <a:fillRect/>
          </a:stretch>
        </p:blipFill>
        <p:spPr>
          <a:xfrm>
            <a:off x="11161898" y="1844162"/>
            <a:ext cx="225308" cy="225308"/>
          </a:xfrm>
          <a:prstGeom prst="rect">
            <a:avLst/>
          </a:prstGeom>
        </p:spPr>
      </p:pic>
      <p:sp>
        <p:nvSpPr>
          <p:cNvPr id="49" name="Text 42"/>
          <p:cNvSpPr txBox="1"/>
          <p:nvPr/>
        </p:nvSpPr>
        <p:spPr>
          <a:xfrm>
            <a:off x="8321040" y="1709928"/>
            <a:ext cx="2679192" cy="685800"/>
          </a:xfrm>
          <a:prstGeom prst="rect">
            <a:avLst/>
          </a:prstGeom>
          <a:noFill/>
          <a:ln/>
        </p:spPr>
        <p:txBody>
          <a:bodyPr wrap="square" lIns="0" tIns="0" rIns="0" bIns="0" rtlCol="0" anchor="ctr"/>
          <a:lstStyle/>
          <a:p>
            <a:pPr indent="0" marL="0">
              <a:buNone/>
            </a:pPr>
            <a:r>
              <a:rPr lang="en-US" sz="3000" b="1" dirty="0">
                <a:solidFill>
                  <a:schemeClr val="bg1"/>
                </a:solidFill>
              </a:rPr>
              <a:t>1,246</a:t>
            </a:r>
            <a:endParaRPr lang="en-US" sz="3000" dirty="0"/>
          </a:p>
        </p:txBody>
      </p:sp>
      <p:sp>
        <p:nvSpPr>
          <p:cNvPr id="50" name="Text 43"/>
          <p:cNvSpPr txBox="1"/>
          <p:nvPr/>
        </p:nvSpPr>
        <p:spPr>
          <a:xfrm>
            <a:off x="8321040" y="2395728"/>
            <a:ext cx="3182112" cy="292608"/>
          </a:xfrm>
          <a:prstGeom prst="rect">
            <a:avLst/>
          </a:prstGeom>
          <a:noFill/>
          <a:ln/>
        </p:spPr>
        <p:txBody>
          <a:bodyPr wrap="square" lIns="0" tIns="0" rIns="0" bIns="0" rtlCol="0" anchor="t"/>
          <a:lstStyle/>
          <a:p>
            <a:pPr indent="0" marL="0">
              <a:buNone/>
            </a:pPr>
            <a:r>
              <a:rPr lang="en-US" sz="1200" b="1" dirty="0">
                <a:solidFill>
                  <a:schemeClr val="accent6"/>
                </a:solidFill>
              </a:rPr>
              <a:t>Breakthrough designations</a:t>
            </a:r>
            <a:endParaRPr lang="en-US" sz="1200" dirty="0"/>
          </a:p>
        </p:txBody>
      </p:sp>
      <p:sp>
        <p:nvSpPr>
          <p:cNvPr id="51" name="Text 44"/>
          <p:cNvSpPr txBox="1"/>
          <p:nvPr/>
        </p:nvSpPr>
        <p:spPr>
          <a:xfrm>
            <a:off x="8321040" y="2670048"/>
            <a:ext cx="3182112" cy="274320"/>
          </a:xfrm>
          <a:prstGeom prst="rect">
            <a:avLst/>
          </a:prstGeom>
          <a:noFill/>
          <a:ln/>
        </p:spPr>
        <p:txBody>
          <a:bodyPr wrap="square" lIns="0" tIns="0" rIns="0" bIns="0" rtlCol="0" anchor="t"/>
          <a:lstStyle/>
          <a:p>
            <a:pPr indent="0" marL="0">
              <a:buNone/>
            </a:pPr>
            <a:r>
              <a:rPr lang="en-US" sz="950" dirty="0">
                <a:solidFill>
                  <a:schemeClr val="accent6"/>
                </a:solidFill>
              </a:rPr>
              <a:t>2016–2025; 185 reached the market; 136 in 2025</a:t>
            </a:r>
            <a:endParaRPr lang="en-US" sz="950" dirty="0"/>
          </a:p>
        </p:txBody>
      </p:sp>
      <p:sp>
        <p:nvSpPr>
          <p:cNvPr id="52" name="Stat 510(k)s per original PMA"/>
          <p:cNvSpPr/>
          <p:nvPr/>
        </p:nvSpPr>
        <p:spPr>
          <a:xfrm>
            <a:off x="8092440" y="3127248"/>
            <a:ext cx="3547872" cy="1417320"/>
          </a:xfrm>
          <a:prstGeom prst="roundRect">
            <a:avLst>
              <a:gd name="adj" fmla="val 7742"/>
            </a:avLst>
          </a:prstGeom>
          <a:solidFill>
            <a:schemeClr val="bg1">
              <a:alpha val="10000"/>
            </a:schemeClr>
          </a:solidFill>
          <a:ln w="12700">
            <a:solidFill>
              <a:schemeClr val="accent6"/>
            </a:solidFill>
            <a:prstDash val="solid"/>
          </a:ln>
        </p:spPr>
      </p:sp>
      <p:sp>
        <p:nvSpPr>
          <p:cNvPr id="53" name="Stat accent"/>
          <p:cNvSpPr/>
          <p:nvPr/>
        </p:nvSpPr>
        <p:spPr>
          <a:xfrm>
            <a:off x="8092440" y="3355848"/>
            <a:ext cx="64008" cy="960120"/>
          </a:xfrm>
          <a:prstGeom prst="rect">
            <a:avLst/>
          </a:prstGeom>
          <a:solidFill>
            <a:schemeClr val="accent1"/>
          </a:solidFill>
          <a:ln/>
        </p:spPr>
      </p:sp>
      <p:sp>
        <p:nvSpPr>
          <p:cNvPr id="54" name="Icon disc LuScale"/>
          <p:cNvSpPr/>
          <p:nvPr/>
        </p:nvSpPr>
        <p:spPr>
          <a:xfrm>
            <a:off x="11073384" y="3310128"/>
            <a:ext cx="402336" cy="402336"/>
          </a:xfrm>
          <a:prstGeom prst="ellipse">
            <a:avLst/>
          </a:prstGeom>
          <a:solidFill>
            <a:schemeClr val="accent1"/>
          </a:solidFill>
          <a:ln/>
        </p:spPr>
      </p:sp>
      <p:pic>
        <p:nvPicPr>
          <p:cNvPr id="55" name="Image 4" descr="Scale icon">    </p:cNvPr>
          <p:cNvPicPr>
            <a:picLocks noChangeAspect="1"/>
          </p:cNvPicPr>
          <p:nvPr/>
        </p:nvPicPr>
        <p:blipFill>
          <a:blip r:embed="rId5"/>
          <a:stretch>
            <a:fillRect/>
          </a:stretch>
        </p:blipFill>
        <p:spPr>
          <a:xfrm>
            <a:off x="11161898" y="3398642"/>
            <a:ext cx="225308" cy="225308"/>
          </a:xfrm>
          <a:prstGeom prst="rect">
            <a:avLst/>
          </a:prstGeom>
        </p:spPr>
      </p:pic>
      <p:sp>
        <p:nvSpPr>
          <p:cNvPr id="56" name="Text 48"/>
          <p:cNvSpPr txBox="1"/>
          <p:nvPr/>
        </p:nvSpPr>
        <p:spPr>
          <a:xfrm>
            <a:off x="8321040" y="3264408"/>
            <a:ext cx="2679192" cy="685800"/>
          </a:xfrm>
          <a:prstGeom prst="rect">
            <a:avLst/>
          </a:prstGeom>
          <a:noFill/>
          <a:ln/>
        </p:spPr>
        <p:txBody>
          <a:bodyPr wrap="square" lIns="0" tIns="0" rIns="0" bIns="0" rtlCol="0" anchor="ctr"/>
          <a:lstStyle/>
          <a:p>
            <a:pPr indent="0" marL="0">
              <a:buNone/>
            </a:pPr>
            <a:r>
              <a:rPr lang="en-US" sz="3000" b="1" dirty="0">
                <a:solidFill>
                  <a:schemeClr val="bg1"/>
                </a:solidFill>
              </a:rPr>
              <a:t>79 : 1</a:t>
            </a:r>
            <a:endParaRPr lang="en-US" sz="3000" dirty="0"/>
          </a:p>
        </p:txBody>
      </p:sp>
      <p:sp>
        <p:nvSpPr>
          <p:cNvPr id="57" name="Text 49"/>
          <p:cNvSpPr txBox="1"/>
          <p:nvPr/>
        </p:nvSpPr>
        <p:spPr>
          <a:xfrm>
            <a:off x="8321040" y="3950208"/>
            <a:ext cx="3182112" cy="292608"/>
          </a:xfrm>
          <a:prstGeom prst="rect">
            <a:avLst/>
          </a:prstGeom>
          <a:noFill/>
          <a:ln/>
        </p:spPr>
        <p:txBody>
          <a:bodyPr wrap="square" lIns="0" tIns="0" rIns="0" bIns="0" rtlCol="0" anchor="t"/>
          <a:lstStyle/>
          <a:p>
            <a:pPr indent="0" marL="0">
              <a:buNone/>
            </a:pPr>
            <a:r>
              <a:rPr lang="en-US" sz="1200" b="1" dirty="0">
                <a:solidFill>
                  <a:schemeClr val="accent6"/>
                </a:solidFill>
              </a:rPr>
              <a:t>510(k)s per original PMA</a:t>
            </a:r>
            <a:endParaRPr lang="en-US" sz="1200" dirty="0"/>
          </a:p>
        </p:txBody>
      </p:sp>
      <p:sp>
        <p:nvSpPr>
          <p:cNvPr id="58" name="Text 50"/>
          <p:cNvSpPr txBox="1"/>
          <p:nvPr/>
        </p:nvSpPr>
        <p:spPr>
          <a:xfrm>
            <a:off x="8321040" y="4224528"/>
            <a:ext cx="3182112" cy="274320"/>
          </a:xfrm>
          <a:prstGeom prst="rect">
            <a:avLst/>
          </a:prstGeom>
          <a:noFill/>
          <a:ln/>
        </p:spPr>
        <p:txBody>
          <a:bodyPr wrap="square" lIns="0" tIns="0" rIns="0" bIns="0" rtlCol="0" anchor="t"/>
          <a:lstStyle/>
          <a:p>
            <a:pPr indent="0" marL="0">
              <a:buNone/>
            </a:pPr>
            <a:r>
              <a:rPr lang="en-US" sz="950" dirty="0">
                <a:solidFill>
                  <a:schemeClr val="accent6"/>
                </a:solidFill>
              </a:rPr>
              <a:t>3,238 clearances vs 41 approvals in 2025</a:t>
            </a:r>
            <a:endParaRPr lang="en-US" sz="950" dirty="0"/>
          </a:p>
        </p:txBody>
      </p:sp>
      <p:sp>
        <p:nvSpPr>
          <p:cNvPr id="59" name="Stat Annual establishment registration"/>
          <p:cNvSpPr/>
          <p:nvPr/>
        </p:nvSpPr>
        <p:spPr>
          <a:xfrm>
            <a:off x="8092440" y="4681728"/>
            <a:ext cx="3547872" cy="1417320"/>
          </a:xfrm>
          <a:prstGeom prst="roundRect">
            <a:avLst>
              <a:gd name="adj" fmla="val 7742"/>
            </a:avLst>
          </a:prstGeom>
          <a:solidFill>
            <a:schemeClr val="bg1">
              <a:alpha val="10000"/>
            </a:schemeClr>
          </a:solidFill>
          <a:ln w="12700">
            <a:solidFill>
              <a:schemeClr val="accent6"/>
            </a:solidFill>
            <a:prstDash val="solid"/>
          </a:ln>
        </p:spPr>
      </p:sp>
      <p:sp>
        <p:nvSpPr>
          <p:cNvPr id="60" name="Stat accent"/>
          <p:cNvSpPr/>
          <p:nvPr/>
        </p:nvSpPr>
        <p:spPr>
          <a:xfrm>
            <a:off x="8092440" y="4910328"/>
            <a:ext cx="64008" cy="960120"/>
          </a:xfrm>
          <a:prstGeom prst="rect">
            <a:avLst/>
          </a:prstGeom>
          <a:solidFill>
            <a:schemeClr val="accent4"/>
          </a:solidFill>
          <a:ln/>
        </p:spPr>
      </p:sp>
      <p:sp>
        <p:nvSpPr>
          <p:cNvPr id="61" name="Icon disc LuBuilding2"/>
          <p:cNvSpPr/>
          <p:nvPr/>
        </p:nvSpPr>
        <p:spPr>
          <a:xfrm>
            <a:off x="11073384" y="4864608"/>
            <a:ext cx="402336" cy="402336"/>
          </a:xfrm>
          <a:prstGeom prst="ellipse">
            <a:avLst/>
          </a:prstGeom>
          <a:solidFill>
            <a:schemeClr val="accent4"/>
          </a:solidFill>
          <a:ln/>
        </p:spPr>
      </p:sp>
      <p:pic>
        <p:nvPicPr>
          <p:cNvPr id="62" name="Image 5" descr="Building2 icon">    </p:cNvPr>
          <p:cNvPicPr>
            <a:picLocks noChangeAspect="1"/>
          </p:cNvPicPr>
          <p:nvPr/>
        </p:nvPicPr>
        <p:blipFill>
          <a:blip r:embed="rId6"/>
          <a:stretch>
            <a:fillRect/>
          </a:stretch>
        </p:blipFill>
        <p:spPr>
          <a:xfrm>
            <a:off x="11161898" y="4953122"/>
            <a:ext cx="225308" cy="225308"/>
          </a:xfrm>
          <a:prstGeom prst="rect">
            <a:avLst/>
          </a:prstGeom>
        </p:spPr>
      </p:pic>
      <p:sp>
        <p:nvSpPr>
          <p:cNvPr id="63" name="Text 54"/>
          <p:cNvSpPr txBox="1"/>
          <p:nvPr/>
        </p:nvSpPr>
        <p:spPr>
          <a:xfrm>
            <a:off x="8321040" y="4818888"/>
            <a:ext cx="2679192" cy="685800"/>
          </a:xfrm>
          <a:prstGeom prst="rect">
            <a:avLst/>
          </a:prstGeom>
          <a:noFill/>
          <a:ln/>
        </p:spPr>
        <p:txBody>
          <a:bodyPr wrap="square" lIns="0" tIns="0" rIns="0" bIns="0" rtlCol="0" anchor="ctr"/>
          <a:lstStyle/>
          <a:p>
            <a:pPr indent="0" marL="0">
              <a:buNone/>
            </a:pPr>
            <a:r>
              <a:rPr lang="en-US" sz="3000" b="1" dirty="0">
                <a:solidFill>
                  <a:schemeClr val="bg1"/>
                </a:solidFill>
              </a:rPr>
              <a:t>$11,423</a:t>
            </a:r>
            <a:endParaRPr lang="en-US" sz="3000" dirty="0"/>
          </a:p>
        </p:txBody>
      </p:sp>
      <p:sp>
        <p:nvSpPr>
          <p:cNvPr id="64" name="Text 55"/>
          <p:cNvSpPr txBox="1"/>
          <p:nvPr/>
        </p:nvSpPr>
        <p:spPr>
          <a:xfrm>
            <a:off x="8321040" y="5504688"/>
            <a:ext cx="3182112" cy="292608"/>
          </a:xfrm>
          <a:prstGeom prst="rect">
            <a:avLst/>
          </a:prstGeom>
          <a:noFill/>
          <a:ln/>
        </p:spPr>
        <p:txBody>
          <a:bodyPr wrap="square" lIns="0" tIns="0" rIns="0" bIns="0" rtlCol="0" anchor="t"/>
          <a:lstStyle/>
          <a:p>
            <a:pPr indent="0" marL="0">
              <a:buNone/>
            </a:pPr>
            <a:r>
              <a:rPr lang="en-US" sz="1200" b="1" dirty="0">
                <a:solidFill>
                  <a:schemeClr val="accent6"/>
                </a:solidFill>
              </a:rPr>
              <a:t>Annual establishment registration</a:t>
            </a:r>
            <a:endParaRPr lang="en-US" sz="1200" dirty="0"/>
          </a:p>
        </p:txBody>
      </p:sp>
      <p:sp>
        <p:nvSpPr>
          <p:cNvPr id="65" name="Text 56"/>
          <p:cNvSpPr txBox="1"/>
          <p:nvPr/>
        </p:nvSpPr>
        <p:spPr>
          <a:xfrm>
            <a:off x="8321040" y="5779008"/>
            <a:ext cx="3182112" cy="274320"/>
          </a:xfrm>
          <a:prstGeom prst="rect">
            <a:avLst/>
          </a:prstGeom>
          <a:noFill/>
          <a:ln/>
        </p:spPr>
        <p:txBody>
          <a:bodyPr wrap="square" lIns="0" tIns="0" rIns="0" bIns="0" rtlCol="0" anchor="t"/>
          <a:lstStyle/>
          <a:p>
            <a:pPr indent="0" marL="0">
              <a:buNone/>
            </a:pPr>
            <a:r>
              <a:rPr lang="en-US" sz="950" dirty="0">
                <a:solidFill>
                  <a:schemeClr val="accent6"/>
                </a:solidFill>
              </a:rPr>
              <a:t>No small-business discount; hardship waiver possible</a:t>
            </a: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ABROAD · EUROPEAN UNION</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EU MDR: notified bodies and CE marking</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Regulation (EU) 2017/745; Reg. 2023/607 (BSI); Team-NB survey 2025 (RAPS); EUDAMED 28 May 2026 (TÜV NORD); COM(2025) 1023 (Fieldfisher); NANDO analysis 2026</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EU Class I"/>
          <p:cNvSpPr/>
          <p:nvPr/>
        </p:nvSpPr>
        <p:spPr>
          <a:xfrm>
            <a:off x="548640" y="2488997"/>
            <a:ext cx="1298448" cy="1580083"/>
          </a:xfrm>
          <a:prstGeom prst="rect">
            <a:avLst/>
          </a:prstGeom>
          <a:solidFill>
            <a:srgbClr val="3C9D6A"/>
          </a:solidFill>
          <a:ln/>
        </p:spPr>
      </p:sp>
      <p:sp>
        <p:nvSpPr>
          <p:cNvPr id="13" name="Text 10"/>
          <p:cNvSpPr txBox="1"/>
          <p:nvPr/>
        </p:nvSpPr>
        <p:spPr>
          <a:xfrm>
            <a:off x="676656" y="2580437"/>
            <a:ext cx="1097280" cy="365760"/>
          </a:xfrm>
          <a:prstGeom prst="rect">
            <a:avLst/>
          </a:prstGeom>
          <a:noFill/>
          <a:ln/>
        </p:spPr>
        <p:txBody>
          <a:bodyPr wrap="square" lIns="0" tIns="0" rIns="0" bIns="0" rtlCol="0" anchor="t"/>
          <a:lstStyle/>
          <a:p>
            <a:pPr indent="0" marL="0">
              <a:buNone/>
            </a:pPr>
            <a:r>
              <a:rPr lang="en-US" sz="1800" b="1" dirty="0">
                <a:solidFill>
                  <a:schemeClr val="bg1"/>
                </a:solidFill>
              </a:rPr>
              <a:t>Class I</a:t>
            </a:r>
            <a:endParaRPr lang="en-US" sz="1800" dirty="0"/>
          </a:p>
        </p:txBody>
      </p:sp>
      <p:sp>
        <p:nvSpPr>
          <p:cNvPr id="14" name="Text 11"/>
          <p:cNvSpPr txBox="1"/>
          <p:nvPr/>
        </p:nvSpPr>
        <p:spPr>
          <a:xfrm>
            <a:off x="676656" y="2946197"/>
            <a:ext cx="1097280" cy="274320"/>
          </a:xfrm>
          <a:prstGeom prst="rect">
            <a:avLst/>
          </a:prstGeom>
          <a:noFill/>
          <a:ln/>
        </p:spPr>
        <p:txBody>
          <a:bodyPr wrap="square" lIns="0" tIns="0" rIns="0" bIns="0" rtlCol="0" anchor="t"/>
          <a:lstStyle/>
          <a:p>
            <a:pPr indent="0" marL="0">
              <a:buNone/>
            </a:pPr>
            <a:r>
              <a:rPr lang="en-US" sz="1000" i="1" dirty="0">
                <a:solidFill>
                  <a:schemeClr val="bg1"/>
                </a:solidFill>
              </a:rPr>
              <a:t>Low risk</a:t>
            </a:r>
            <a:endParaRPr lang="en-US" sz="1000" dirty="0"/>
          </a:p>
        </p:txBody>
      </p:sp>
      <p:sp>
        <p:nvSpPr>
          <p:cNvPr id="15" name="Text 12"/>
          <p:cNvSpPr txBox="1"/>
          <p:nvPr/>
        </p:nvSpPr>
        <p:spPr>
          <a:xfrm>
            <a:off x="640080" y="3275381"/>
            <a:ext cx="1133856" cy="711403"/>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chemeClr val="bg1"/>
                </a:solidFill>
              </a:rPr>
              <a:t>Manufacturer self-declares conformity</a:t>
            </a:r>
            <a:endParaRPr lang="en-US" sz="950" dirty="0"/>
          </a:p>
          <a:p>
            <a:pPr marL="127000" indent="-127000">
              <a:spcAft>
                <a:spcPts val="200"/>
              </a:spcAft>
              <a:buSzPct val="100000"/>
              <a:buChar char="•"/>
            </a:pPr>
            <a:r>
              <a:rPr lang="en-US" sz="950" dirty="0">
                <a:solidFill>
                  <a:schemeClr val="bg1"/>
                </a:solidFill>
              </a:rPr>
              <a:t>Is / Im / Ir: notified body for that aspect only</a:t>
            </a:r>
            <a:endParaRPr lang="en-US" sz="950" dirty="0"/>
          </a:p>
        </p:txBody>
      </p:sp>
      <p:sp>
        <p:nvSpPr>
          <p:cNvPr id="16" name="EU Class IIa"/>
          <p:cNvSpPr/>
          <p:nvPr/>
        </p:nvSpPr>
        <p:spPr>
          <a:xfrm>
            <a:off x="1920240" y="2192731"/>
            <a:ext cx="1298448" cy="1876349"/>
          </a:xfrm>
          <a:prstGeom prst="rect">
            <a:avLst/>
          </a:prstGeom>
          <a:solidFill>
            <a:srgbClr val="0F7C74"/>
          </a:solidFill>
          <a:ln/>
        </p:spPr>
      </p:sp>
      <p:sp>
        <p:nvSpPr>
          <p:cNvPr id="17" name="Text 14"/>
          <p:cNvSpPr txBox="1"/>
          <p:nvPr/>
        </p:nvSpPr>
        <p:spPr>
          <a:xfrm>
            <a:off x="2048256" y="2284171"/>
            <a:ext cx="1097280" cy="365760"/>
          </a:xfrm>
          <a:prstGeom prst="rect">
            <a:avLst/>
          </a:prstGeom>
          <a:noFill/>
          <a:ln/>
        </p:spPr>
        <p:txBody>
          <a:bodyPr wrap="square" lIns="0" tIns="0" rIns="0" bIns="0" rtlCol="0" anchor="t"/>
          <a:lstStyle/>
          <a:p>
            <a:pPr indent="0" marL="0">
              <a:buNone/>
            </a:pPr>
            <a:r>
              <a:rPr lang="en-US" sz="1800" b="1" dirty="0">
                <a:solidFill>
                  <a:schemeClr val="bg1"/>
                </a:solidFill>
              </a:rPr>
              <a:t>Class IIa</a:t>
            </a:r>
            <a:endParaRPr lang="en-US" sz="1800" dirty="0"/>
          </a:p>
        </p:txBody>
      </p:sp>
      <p:sp>
        <p:nvSpPr>
          <p:cNvPr id="18" name="Text 15"/>
          <p:cNvSpPr txBox="1"/>
          <p:nvPr/>
        </p:nvSpPr>
        <p:spPr>
          <a:xfrm>
            <a:off x="2048256" y="2649931"/>
            <a:ext cx="1097280" cy="274320"/>
          </a:xfrm>
          <a:prstGeom prst="rect">
            <a:avLst/>
          </a:prstGeom>
          <a:noFill/>
          <a:ln/>
        </p:spPr>
        <p:txBody>
          <a:bodyPr wrap="square" lIns="0" tIns="0" rIns="0" bIns="0" rtlCol="0" anchor="t"/>
          <a:lstStyle/>
          <a:p>
            <a:pPr indent="0" marL="0">
              <a:buNone/>
            </a:pPr>
            <a:r>
              <a:rPr lang="en-US" sz="1000" i="1" dirty="0">
                <a:solidFill>
                  <a:schemeClr val="bg1"/>
                </a:solidFill>
              </a:rPr>
              <a:t>Low–moderate</a:t>
            </a:r>
            <a:endParaRPr lang="en-US" sz="1000" dirty="0"/>
          </a:p>
        </p:txBody>
      </p:sp>
      <p:sp>
        <p:nvSpPr>
          <p:cNvPr id="19" name="Text 16"/>
          <p:cNvSpPr txBox="1"/>
          <p:nvPr/>
        </p:nvSpPr>
        <p:spPr>
          <a:xfrm>
            <a:off x="2011680" y="2979115"/>
            <a:ext cx="1133856" cy="1007669"/>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chemeClr val="bg1"/>
                </a:solidFill>
              </a:rPr>
              <a:t>Notified body certifies QMS and technical file</a:t>
            </a:r>
            <a:endParaRPr lang="en-US" sz="950" dirty="0"/>
          </a:p>
          <a:p>
            <a:pPr marL="127000" indent="-127000">
              <a:spcAft>
                <a:spcPts val="200"/>
              </a:spcAft>
              <a:buSzPct val="100000"/>
              <a:buChar char="•"/>
            </a:pPr>
            <a:r>
              <a:rPr lang="en-US" sz="950" dirty="0">
                <a:solidFill>
                  <a:schemeClr val="bg1"/>
                </a:solidFill>
              </a:rPr>
              <a:t>Clinical evaluation, Art. 61</a:t>
            </a:r>
            <a:endParaRPr lang="en-US" sz="950" dirty="0"/>
          </a:p>
        </p:txBody>
      </p:sp>
      <p:sp>
        <p:nvSpPr>
          <p:cNvPr id="20" name="EU Class IIb"/>
          <p:cNvSpPr/>
          <p:nvPr/>
        </p:nvSpPr>
        <p:spPr>
          <a:xfrm>
            <a:off x="3291840" y="1896466"/>
            <a:ext cx="1298448" cy="2172614"/>
          </a:xfrm>
          <a:prstGeom prst="rect">
            <a:avLst/>
          </a:prstGeom>
          <a:solidFill>
            <a:srgbClr val="E0962A"/>
          </a:solidFill>
          <a:ln/>
        </p:spPr>
      </p:sp>
      <p:sp>
        <p:nvSpPr>
          <p:cNvPr id="21" name="Text 18"/>
          <p:cNvSpPr txBox="1"/>
          <p:nvPr/>
        </p:nvSpPr>
        <p:spPr>
          <a:xfrm>
            <a:off x="3419856" y="1987906"/>
            <a:ext cx="1097280" cy="365760"/>
          </a:xfrm>
          <a:prstGeom prst="rect">
            <a:avLst/>
          </a:prstGeom>
          <a:noFill/>
          <a:ln/>
        </p:spPr>
        <p:txBody>
          <a:bodyPr wrap="square" lIns="0" tIns="0" rIns="0" bIns="0" rtlCol="0" anchor="t"/>
          <a:lstStyle/>
          <a:p>
            <a:pPr indent="0" marL="0">
              <a:buNone/>
            </a:pPr>
            <a:r>
              <a:rPr lang="en-US" sz="1800" b="1" dirty="0">
                <a:solidFill>
                  <a:schemeClr val="bg1"/>
                </a:solidFill>
              </a:rPr>
              <a:t>Class IIb</a:t>
            </a:r>
            <a:endParaRPr lang="en-US" sz="1800" dirty="0"/>
          </a:p>
        </p:txBody>
      </p:sp>
      <p:sp>
        <p:nvSpPr>
          <p:cNvPr id="22" name="Text 19"/>
          <p:cNvSpPr txBox="1"/>
          <p:nvPr/>
        </p:nvSpPr>
        <p:spPr>
          <a:xfrm>
            <a:off x="3419856" y="2353666"/>
            <a:ext cx="1097280" cy="274320"/>
          </a:xfrm>
          <a:prstGeom prst="rect">
            <a:avLst/>
          </a:prstGeom>
          <a:noFill/>
          <a:ln/>
        </p:spPr>
        <p:txBody>
          <a:bodyPr wrap="square" lIns="0" tIns="0" rIns="0" bIns="0" rtlCol="0" anchor="t"/>
          <a:lstStyle/>
          <a:p>
            <a:pPr indent="0" marL="0">
              <a:buNone/>
            </a:pPr>
            <a:r>
              <a:rPr lang="en-US" sz="1000" i="1" dirty="0">
                <a:solidFill>
                  <a:schemeClr val="bg1"/>
                </a:solidFill>
              </a:rPr>
              <a:t>Moderate–high</a:t>
            </a:r>
            <a:endParaRPr lang="en-US" sz="1000" dirty="0"/>
          </a:p>
        </p:txBody>
      </p:sp>
      <p:sp>
        <p:nvSpPr>
          <p:cNvPr id="23" name="Text 20"/>
          <p:cNvSpPr txBox="1"/>
          <p:nvPr/>
        </p:nvSpPr>
        <p:spPr>
          <a:xfrm>
            <a:off x="3383280" y="2682850"/>
            <a:ext cx="1133856" cy="130393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chemeClr val="bg1"/>
                </a:solidFill>
              </a:rPr>
              <a:t>Notified body; deeper technical review</a:t>
            </a:r>
            <a:endParaRPr lang="en-US" sz="950" dirty="0"/>
          </a:p>
          <a:p>
            <a:pPr marL="127000" indent="-127000">
              <a:spcAft>
                <a:spcPts val="200"/>
              </a:spcAft>
              <a:buSzPct val="100000"/>
              <a:buChar char="•"/>
            </a:pPr>
            <a:r>
              <a:rPr lang="en-US" sz="950" dirty="0">
                <a:solidFill>
                  <a:schemeClr val="bg1"/>
                </a:solidFill>
              </a:rPr>
              <a:t>PMCF, Annex XIV Part B</a:t>
            </a:r>
            <a:endParaRPr lang="en-US" sz="950" dirty="0"/>
          </a:p>
        </p:txBody>
      </p:sp>
      <p:sp>
        <p:nvSpPr>
          <p:cNvPr id="24" name="EU Class III"/>
          <p:cNvSpPr/>
          <p:nvPr/>
        </p:nvSpPr>
        <p:spPr>
          <a:xfrm>
            <a:off x="4663440" y="1600200"/>
            <a:ext cx="1298448" cy="2468880"/>
          </a:xfrm>
          <a:prstGeom prst="rect">
            <a:avLst/>
          </a:prstGeom>
          <a:solidFill>
            <a:srgbClr val="C2453A"/>
          </a:solidFill>
          <a:ln/>
        </p:spPr>
      </p:sp>
      <p:sp>
        <p:nvSpPr>
          <p:cNvPr id="25" name="Text 22"/>
          <p:cNvSpPr txBox="1"/>
          <p:nvPr/>
        </p:nvSpPr>
        <p:spPr>
          <a:xfrm>
            <a:off x="4791456" y="1691640"/>
            <a:ext cx="1097280" cy="365760"/>
          </a:xfrm>
          <a:prstGeom prst="rect">
            <a:avLst/>
          </a:prstGeom>
          <a:noFill/>
          <a:ln/>
        </p:spPr>
        <p:txBody>
          <a:bodyPr wrap="square" lIns="0" tIns="0" rIns="0" bIns="0" rtlCol="0" anchor="t"/>
          <a:lstStyle/>
          <a:p>
            <a:pPr indent="0" marL="0">
              <a:buNone/>
            </a:pPr>
            <a:r>
              <a:rPr lang="en-US" sz="1800" b="1" dirty="0">
                <a:solidFill>
                  <a:schemeClr val="bg1"/>
                </a:solidFill>
              </a:rPr>
              <a:t>Class III</a:t>
            </a:r>
            <a:endParaRPr lang="en-US" sz="1800" dirty="0"/>
          </a:p>
        </p:txBody>
      </p:sp>
      <p:sp>
        <p:nvSpPr>
          <p:cNvPr id="26" name="Text 23"/>
          <p:cNvSpPr txBox="1"/>
          <p:nvPr/>
        </p:nvSpPr>
        <p:spPr>
          <a:xfrm>
            <a:off x="4791456" y="2057400"/>
            <a:ext cx="1097280" cy="274320"/>
          </a:xfrm>
          <a:prstGeom prst="rect">
            <a:avLst/>
          </a:prstGeom>
          <a:noFill/>
          <a:ln/>
        </p:spPr>
        <p:txBody>
          <a:bodyPr wrap="square" lIns="0" tIns="0" rIns="0" bIns="0" rtlCol="0" anchor="t"/>
          <a:lstStyle/>
          <a:p>
            <a:pPr indent="0" marL="0">
              <a:buNone/>
            </a:pPr>
            <a:r>
              <a:rPr lang="en-US" sz="1000" i="1" dirty="0">
                <a:solidFill>
                  <a:schemeClr val="bg1"/>
                </a:solidFill>
              </a:rPr>
              <a:t>High · implants, AIMDs</a:t>
            </a:r>
            <a:endParaRPr lang="en-US" sz="1000" dirty="0"/>
          </a:p>
        </p:txBody>
      </p:sp>
      <p:sp>
        <p:nvSpPr>
          <p:cNvPr id="27" name="Text 24"/>
          <p:cNvSpPr txBox="1"/>
          <p:nvPr/>
        </p:nvSpPr>
        <p:spPr>
          <a:xfrm>
            <a:off x="4754880" y="2386584"/>
            <a:ext cx="1133856" cy="1600200"/>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chemeClr val="bg1"/>
                </a:solidFill>
              </a:rPr>
              <a:t>Notified body; clinical investigation generally expected</a:t>
            </a:r>
            <a:endParaRPr lang="en-US" sz="950" dirty="0"/>
          </a:p>
          <a:p>
            <a:pPr marL="127000" indent="-127000">
              <a:spcAft>
                <a:spcPts val="200"/>
              </a:spcAft>
              <a:buSzPct val="100000"/>
              <a:buChar char="•"/>
            </a:pPr>
            <a:r>
              <a:rPr lang="en-US" sz="950" dirty="0">
                <a:solidFill>
                  <a:schemeClr val="bg1"/>
                </a:solidFill>
              </a:rPr>
              <a:t>Legacy MDD certificates end 31 Dec 2027</a:t>
            </a:r>
            <a:endParaRPr lang="en-US" sz="950" dirty="0"/>
          </a:p>
        </p:txBody>
      </p:sp>
      <p:sp>
        <p:nvSpPr>
          <p:cNvPr id="28" name="EU risk arrow"/>
          <p:cNvSpPr/>
          <p:nvPr/>
        </p:nvSpPr>
        <p:spPr>
          <a:xfrm>
            <a:off x="548640" y="4178808"/>
            <a:ext cx="5486400" cy="256032"/>
          </a:xfrm>
          <a:prstGeom prst="rightArrow">
            <a:avLst/>
          </a:prstGeom>
          <a:solidFill>
            <a:srgbClr val="D5DFDD"/>
          </a:solidFill>
          <a:ln/>
        </p:spPr>
      </p:sp>
      <p:sp>
        <p:nvSpPr>
          <p:cNvPr id="29" name="Text 26"/>
          <p:cNvSpPr txBox="1"/>
          <p:nvPr/>
        </p:nvSpPr>
        <p:spPr>
          <a:xfrm>
            <a:off x="731520" y="4178808"/>
            <a:ext cx="4937760" cy="256032"/>
          </a:xfrm>
          <a:prstGeom prst="rect">
            <a:avLst/>
          </a:prstGeom>
          <a:noFill/>
          <a:ln/>
        </p:spPr>
        <p:txBody>
          <a:bodyPr wrap="square" lIns="0" tIns="0" rIns="0" bIns="0" rtlCol="0" anchor="ctr"/>
          <a:lstStyle/>
          <a:p>
            <a:pPr indent="0" marL="0">
              <a:buNone/>
            </a:pPr>
            <a:r>
              <a:rPr lang="en-US" sz="1050" b="1" dirty="0">
                <a:solidFill>
                  <a:schemeClr val="tx1"/>
                </a:solidFill>
              </a:rPr>
              <a:t>Increasing risk   →   more notified-body scrutiny, more clinical evidence</a:t>
            </a:r>
            <a:endParaRPr lang="en-US" sz="1050" dirty="0"/>
          </a:p>
        </p:txBody>
      </p:sp>
      <p:sp>
        <p:nvSpPr>
          <p:cNvPr id="30" name="Card Self-declaration"/>
          <p:cNvSpPr/>
          <p:nvPr/>
        </p:nvSpPr>
        <p:spPr>
          <a:xfrm>
            <a:off x="6309360" y="1600200"/>
            <a:ext cx="2574036" cy="1874520"/>
          </a:xfrm>
          <a:prstGeom prst="roundRect">
            <a:avLst>
              <a:gd name="adj" fmla="val 5854"/>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31" name="Icon disc LuFileCheck"/>
          <p:cNvSpPr/>
          <p:nvPr/>
        </p:nvSpPr>
        <p:spPr>
          <a:xfrm>
            <a:off x="6492240" y="1783080"/>
            <a:ext cx="384048" cy="384048"/>
          </a:xfrm>
          <a:prstGeom prst="ellipse">
            <a:avLst/>
          </a:prstGeom>
          <a:solidFill>
            <a:srgbClr val="3C9D6A">
              <a:alpha val="15000"/>
            </a:srgbClr>
          </a:solidFill>
          <a:ln/>
        </p:spPr>
      </p:sp>
      <p:pic>
        <p:nvPicPr>
          <p:cNvPr id="32" name="Image 0" descr="FileCheck icon">    </p:cNvPr>
          <p:cNvPicPr>
            <a:picLocks noChangeAspect="1"/>
          </p:cNvPicPr>
          <p:nvPr/>
        </p:nvPicPr>
        <p:blipFill>
          <a:blip r:embed="rId1"/>
          <a:stretch>
            <a:fillRect/>
          </a:stretch>
        </p:blipFill>
        <p:spPr>
          <a:xfrm>
            <a:off x="6576731" y="1867571"/>
            <a:ext cx="215067" cy="215067"/>
          </a:xfrm>
          <a:prstGeom prst="rect">
            <a:avLst/>
          </a:prstGeom>
        </p:spPr>
      </p:pic>
      <p:sp>
        <p:nvSpPr>
          <p:cNvPr id="33" name="Text 29"/>
          <p:cNvSpPr txBox="1"/>
          <p:nvPr/>
        </p:nvSpPr>
        <p:spPr>
          <a:xfrm>
            <a:off x="7013448" y="1783080"/>
            <a:ext cx="1687068" cy="384048"/>
          </a:xfrm>
          <a:prstGeom prst="rect">
            <a:avLst/>
          </a:prstGeom>
          <a:noFill/>
          <a:ln/>
        </p:spPr>
        <p:txBody>
          <a:bodyPr wrap="square" lIns="0" tIns="0" rIns="0" bIns="0" rtlCol="0" anchor="ctr"/>
          <a:lstStyle/>
          <a:p>
            <a:pPr indent="0" marL="0">
              <a:buNone/>
            </a:pPr>
            <a:r>
              <a:rPr lang="en-US" sz="1250" b="1" dirty="0">
                <a:solidFill>
                  <a:schemeClr val="tx1"/>
                </a:solidFill>
              </a:rPr>
              <a:t>Self-declaration</a:t>
            </a:r>
            <a:endParaRPr lang="en-US" sz="1250" dirty="0"/>
          </a:p>
        </p:txBody>
      </p:sp>
      <p:sp>
        <p:nvSpPr>
          <p:cNvPr id="34" name="Text 30"/>
          <p:cNvSpPr txBox="1"/>
          <p:nvPr/>
        </p:nvSpPr>
        <p:spPr>
          <a:xfrm>
            <a:off x="6492240" y="2276856"/>
            <a:ext cx="2208276" cy="1033272"/>
          </a:xfrm>
          <a:prstGeom prst="rect">
            <a:avLst/>
          </a:prstGeom>
          <a:noFill/>
          <a:ln/>
        </p:spPr>
        <p:txBody>
          <a:bodyPr wrap="square" lIns="0" tIns="0" rIns="0" bIns="0" rtlCol="0" anchor="t"/>
          <a:lstStyle/>
          <a:p>
            <a:pPr indent="0" marL="0">
              <a:spcAft>
                <a:spcPts val="300"/>
              </a:spcAft>
              <a:buNone/>
            </a:pPr>
            <a:r>
              <a:rPr lang="en-US" sz="950" dirty="0">
                <a:solidFill>
                  <a:schemeClr val="tx2"/>
                </a:solidFill>
              </a:rPr>
              <a:t>Class I non-sterile, non-measuring, non-reusable-surgical. The manufacturer signs the EU Declaration of Conformity and affixes the CE mark. Still needed: technical file, clinical evaluation, EUDAMED actor registration (SRN).</a:t>
            </a:r>
            <a:endParaRPr lang="en-US" sz="950" dirty="0"/>
          </a:p>
        </p:txBody>
      </p:sp>
      <p:sp>
        <p:nvSpPr>
          <p:cNvPr id="35" name="Card Notified body route"/>
          <p:cNvSpPr/>
          <p:nvPr/>
        </p:nvSpPr>
        <p:spPr>
          <a:xfrm>
            <a:off x="9066276" y="1600200"/>
            <a:ext cx="2574036" cy="1874520"/>
          </a:xfrm>
          <a:prstGeom prst="roundRect">
            <a:avLst>
              <a:gd name="adj" fmla="val 5854"/>
            </a:avLst>
          </a:prstGeom>
          <a:solidFill>
            <a:schemeClr val="bg1"/>
          </a:solidFill>
          <a:ln w="9525">
            <a:solidFill>
              <a:srgbClr val="E3EAE8"/>
            </a:solidFill>
            <a:prstDash val="solid"/>
          </a:ln>
          <a:effectLst>
            <a:outerShdw sx="100000" sy="100000" kx="0" ky="0" algn="bl" rotWithShape="0" blurRad="76200" dist="25400" dir="5400000">
              <a:srgbClr val="000000">
                <a:alpha val="8000"/>
              </a:srgbClr>
            </a:outerShdw>
          </a:effectLst>
        </p:spPr>
      </p:sp>
      <p:sp>
        <p:nvSpPr>
          <p:cNvPr id="36" name="Icon disc LuBadgeCheck"/>
          <p:cNvSpPr/>
          <p:nvPr/>
        </p:nvSpPr>
        <p:spPr>
          <a:xfrm>
            <a:off x="9249156" y="1783080"/>
            <a:ext cx="384048" cy="384048"/>
          </a:xfrm>
          <a:prstGeom prst="ellipse">
            <a:avLst/>
          </a:prstGeom>
          <a:solidFill>
            <a:schemeClr val="accent4">
              <a:alpha val="15000"/>
            </a:schemeClr>
          </a:solidFill>
          <a:ln/>
        </p:spPr>
      </p:sp>
      <p:pic>
        <p:nvPicPr>
          <p:cNvPr id="37" name="Image 1" descr="BadgeCheck icon">    </p:cNvPr>
          <p:cNvPicPr>
            <a:picLocks noChangeAspect="1"/>
          </p:cNvPicPr>
          <p:nvPr/>
        </p:nvPicPr>
        <p:blipFill>
          <a:blip r:embed="rId2"/>
          <a:stretch>
            <a:fillRect/>
          </a:stretch>
        </p:blipFill>
        <p:spPr>
          <a:xfrm>
            <a:off x="9333647" y="1867571"/>
            <a:ext cx="215067" cy="215067"/>
          </a:xfrm>
          <a:prstGeom prst="rect">
            <a:avLst/>
          </a:prstGeom>
        </p:spPr>
      </p:pic>
      <p:sp>
        <p:nvSpPr>
          <p:cNvPr id="38" name="Text 33"/>
          <p:cNvSpPr txBox="1"/>
          <p:nvPr/>
        </p:nvSpPr>
        <p:spPr>
          <a:xfrm>
            <a:off x="9770364" y="1783080"/>
            <a:ext cx="1687068" cy="384048"/>
          </a:xfrm>
          <a:prstGeom prst="rect">
            <a:avLst/>
          </a:prstGeom>
          <a:noFill/>
          <a:ln/>
        </p:spPr>
        <p:txBody>
          <a:bodyPr wrap="square" lIns="0" tIns="0" rIns="0" bIns="0" rtlCol="0" anchor="ctr"/>
          <a:lstStyle/>
          <a:p>
            <a:pPr indent="0" marL="0">
              <a:buNone/>
            </a:pPr>
            <a:r>
              <a:rPr lang="en-US" sz="1250" b="1" dirty="0">
                <a:solidFill>
                  <a:schemeClr val="tx1"/>
                </a:solidFill>
              </a:rPr>
              <a:t>Notified body route</a:t>
            </a:r>
            <a:endParaRPr lang="en-US" sz="1250" dirty="0"/>
          </a:p>
        </p:txBody>
      </p:sp>
      <p:sp>
        <p:nvSpPr>
          <p:cNvPr id="39" name="Text 34"/>
          <p:cNvSpPr txBox="1"/>
          <p:nvPr/>
        </p:nvSpPr>
        <p:spPr>
          <a:xfrm>
            <a:off x="9249156" y="2276856"/>
            <a:ext cx="2208276" cy="1033272"/>
          </a:xfrm>
          <a:prstGeom prst="rect">
            <a:avLst/>
          </a:prstGeom>
          <a:noFill/>
          <a:ln/>
        </p:spPr>
        <p:txBody>
          <a:bodyPr wrap="square" lIns="0" tIns="0" rIns="0" bIns="0" rtlCol="0" anchor="t"/>
          <a:lstStyle/>
          <a:p>
            <a:pPr indent="0" marL="0">
              <a:spcAft>
                <a:spcPts val="300"/>
              </a:spcAft>
              <a:buNone/>
            </a:pPr>
            <a:r>
              <a:rPr lang="en-US" sz="950" dirty="0">
                <a:solidFill>
                  <a:schemeClr val="tx2"/>
                </a:solidFill>
              </a:rPr>
              <a:t>Is/Im/Ir, IIa, IIb, III. About 48 bodies designated under MDR (early 2026). Time to certificate 13–18 months is typical; 58% of that time sits with the manufacturer. By end-2025: 25,978 MDR applications, 13,953 certificates issued.</a:t>
            </a:r>
            <a:endParaRPr lang="en-US" sz="950" dirty="0"/>
          </a:p>
        </p:txBody>
      </p:sp>
      <p:sp>
        <p:nvSpPr>
          <p:cNvPr id="40" name="Callout"/>
          <p:cNvSpPr/>
          <p:nvPr/>
        </p:nvSpPr>
        <p:spPr>
          <a:xfrm>
            <a:off x="6309360" y="3639312"/>
            <a:ext cx="5330952" cy="868680"/>
          </a:xfrm>
          <a:prstGeom prst="roundRect">
            <a:avLst>
              <a:gd name="adj" fmla="val 8421"/>
            </a:avLst>
          </a:prstGeom>
          <a:solidFill>
            <a:schemeClr val="accent1">
              <a:alpha val="12000"/>
            </a:schemeClr>
          </a:solidFill>
          <a:ln/>
        </p:spPr>
      </p:sp>
      <p:sp>
        <p:nvSpPr>
          <p:cNvPr id="41" name="Callout bar"/>
          <p:cNvSpPr/>
          <p:nvPr/>
        </p:nvSpPr>
        <p:spPr>
          <a:xfrm>
            <a:off x="6309360" y="3730752"/>
            <a:ext cx="64008" cy="685800"/>
          </a:xfrm>
          <a:prstGeom prst="rect">
            <a:avLst/>
          </a:prstGeom>
          <a:solidFill>
            <a:schemeClr val="accent1"/>
          </a:solidFill>
          <a:ln/>
        </p:spPr>
      </p:sp>
      <p:sp>
        <p:nvSpPr>
          <p:cNvPr id="42" name="Text 37"/>
          <p:cNvSpPr txBox="1"/>
          <p:nvPr/>
        </p:nvSpPr>
        <p:spPr>
          <a:xfrm>
            <a:off x="6583680" y="3639312"/>
            <a:ext cx="4919472" cy="868680"/>
          </a:xfrm>
          <a:prstGeom prst="rect">
            <a:avLst/>
          </a:prstGeom>
          <a:noFill/>
          <a:ln/>
        </p:spPr>
        <p:txBody>
          <a:bodyPr wrap="square" lIns="0" tIns="0" rIns="0" bIns="0" rtlCol="0" anchor="ctr"/>
          <a:lstStyle/>
          <a:p>
            <a:pPr indent="0" marL="0">
              <a:buNone/>
            </a:pPr>
            <a:r>
              <a:rPr lang="en-US" sz="1050" b="1" dirty="0">
                <a:solidFill>
                  <a:schemeClr val="tx1"/>
                </a:solidFill>
              </a:rPr>
              <a:t>For an Indian exporter: </a:t>
            </a:r>
            <a:pPr indent="0" marL="0">
              <a:buNone/>
            </a:pPr>
            <a:r>
              <a:rPr lang="en-US" sz="1050" dirty="0">
                <a:solidFill>
                  <a:schemeClr val="tx1"/>
                </a:solidFill>
              </a:rPr>
              <a:t>register as an actor in EUDAMED (SRN, mandatory from 28 May 2026); book a notified body early, because the queue, not the test, is the critical path; reuse the ISO 13485 QMS and ISO 14971 risk file from the CDSCO dossier.</a:t>
            </a:r>
            <a:endParaRPr lang="en-US" sz="1050" dirty="0"/>
          </a:p>
        </p:txBody>
      </p:sp>
      <p:sp>
        <p:nvSpPr>
          <p:cNvPr id="43" name="EU timeline"/>
          <p:cNvSpPr/>
          <p:nvPr/>
        </p:nvSpPr>
        <p:spPr>
          <a:xfrm>
            <a:off x="548640" y="4846320"/>
            <a:ext cx="11091672" cy="0"/>
          </a:xfrm>
          <a:prstGeom prst="line">
            <a:avLst/>
          </a:prstGeom>
          <a:noFill/>
          <a:ln w="31750">
            <a:solidFill>
              <a:schemeClr val="accent4"/>
            </a:solidFill>
            <a:prstDash val="solid"/>
          </a:ln>
        </p:spPr>
      </p:sp>
      <p:sp>
        <p:nvSpPr>
          <p:cNvPr id="44" name="Milestone 2017"/>
          <p:cNvSpPr/>
          <p:nvPr/>
        </p:nvSpPr>
        <p:spPr>
          <a:xfrm>
            <a:off x="1234440" y="4754880"/>
            <a:ext cx="182880" cy="182880"/>
          </a:xfrm>
          <a:prstGeom prst="ellipse">
            <a:avLst/>
          </a:prstGeom>
          <a:solidFill>
            <a:schemeClr val="accent4"/>
          </a:solidFill>
          <a:ln w="25400">
            <a:solidFill>
              <a:schemeClr val="bg1"/>
            </a:solidFill>
            <a:prstDash val="solid"/>
          </a:ln>
        </p:spPr>
      </p:sp>
      <p:sp>
        <p:nvSpPr>
          <p:cNvPr id="45" name="Pill 2017"/>
          <p:cNvSpPr/>
          <p:nvPr/>
        </p:nvSpPr>
        <p:spPr>
          <a:xfrm>
            <a:off x="822960" y="5047488"/>
            <a:ext cx="1005840" cy="256032"/>
          </a:xfrm>
          <a:prstGeom prst="roundRect">
            <a:avLst>
              <a:gd name="adj" fmla="val 50000"/>
            </a:avLst>
          </a:prstGeom>
          <a:solidFill>
            <a:schemeClr val="accent4"/>
          </a:solidFill>
          <a:ln w="15875">
            <a:solidFill>
              <a:schemeClr val="accent4"/>
            </a:solidFill>
            <a:prstDash val="solid"/>
          </a:ln>
        </p:spPr>
      </p:sp>
      <p:sp>
        <p:nvSpPr>
          <p:cNvPr id="46" name="Text 41"/>
          <p:cNvSpPr txBox="1"/>
          <p:nvPr/>
        </p:nvSpPr>
        <p:spPr>
          <a:xfrm>
            <a:off x="822960" y="5047488"/>
            <a:ext cx="1005840" cy="256032"/>
          </a:xfrm>
          <a:prstGeom prst="rect">
            <a:avLst/>
          </a:prstGeom>
          <a:noFill/>
          <a:ln/>
        </p:spPr>
        <p:txBody>
          <a:bodyPr wrap="square" lIns="0" tIns="0" rIns="0" bIns="0" rtlCol="0" anchor="ctr"/>
          <a:lstStyle/>
          <a:p>
            <a:pPr algn="ctr" indent="0" marL="0">
              <a:buNone/>
            </a:pPr>
            <a:r>
              <a:rPr lang="en-US" sz="1000" b="1" dirty="0">
                <a:solidFill>
                  <a:schemeClr val="bg1"/>
                </a:solidFill>
              </a:rPr>
              <a:t>2017</a:t>
            </a:r>
            <a:endParaRPr lang="en-US" sz="1000" dirty="0"/>
          </a:p>
        </p:txBody>
      </p:sp>
      <p:sp>
        <p:nvSpPr>
          <p:cNvPr id="47" name="Text 42"/>
          <p:cNvSpPr txBox="1"/>
          <p:nvPr/>
        </p:nvSpPr>
        <p:spPr>
          <a:xfrm>
            <a:off x="547009" y="5376672"/>
            <a:ext cx="1557741" cy="822960"/>
          </a:xfrm>
          <a:prstGeom prst="rect">
            <a:avLst/>
          </a:prstGeom>
          <a:noFill/>
          <a:ln/>
        </p:spPr>
        <p:txBody>
          <a:bodyPr wrap="square" lIns="0" tIns="0" rIns="0" bIns="0" rtlCol="0" anchor="t"/>
          <a:lstStyle/>
          <a:p>
            <a:pPr algn="ctr" indent="0" marL="0">
              <a:buNone/>
            </a:pPr>
            <a:r>
              <a:rPr lang="en-US" sz="1050" b="1" dirty="0">
                <a:solidFill>
                  <a:schemeClr val="tx1"/>
                </a:solidFill>
              </a:rPr>
              <a:t>MDR 2017/745 adopted</a:t>
            </a:r>
            <a:endParaRPr lang="en-US" sz="1050" dirty="0"/>
          </a:p>
          <a:p>
            <a:pPr algn="ctr" indent="0" marL="0">
              <a:buNone/>
            </a:pPr>
            <a:r>
              <a:rPr lang="en-US" sz="950" dirty="0">
                <a:solidFill>
                  <a:schemeClr val="tx2"/>
                </a:solidFill>
              </a:rPr>
              <a:t>replaces MDD and AIMDD</a:t>
            </a:r>
            <a:endParaRPr lang="en-US" sz="1050" dirty="0"/>
          </a:p>
        </p:txBody>
      </p:sp>
      <p:sp>
        <p:nvSpPr>
          <p:cNvPr id="48" name="Milestone 26 May 2021"/>
          <p:cNvSpPr/>
          <p:nvPr/>
        </p:nvSpPr>
        <p:spPr>
          <a:xfrm>
            <a:off x="2823972" y="4754880"/>
            <a:ext cx="182880" cy="182880"/>
          </a:xfrm>
          <a:prstGeom prst="ellipse">
            <a:avLst/>
          </a:prstGeom>
          <a:solidFill>
            <a:schemeClr val="accent4"/>
          </a:solidFill>
          <a:ln w="25400">
            <a:solidFill>
              <a:schemeClr val="bg1"/>
            </a:solidFill>
            <a:prstDash val="solid"/>
          </a:ln>
        </p:spPr>
      </p:sp>
      <p:sp>
        <p:nvSpPr>
          <p:cNvPr id="49" name="Pill 26 May 2021"/>
          <p:cNvSpPr/>
          <p:nvPr/>
        </p:nvSpPr>
        <p:spPr>
          <a:xfrm>
            <a:off x="2412492" y="5047488"/>
            <a:ext cx="1005840" cy="256032"/>
          </a:xfrm>
          <a:prstGeom prst="roundRect">
            <a:avLst>
              <a:gd name="adj" fmla="val 50000"/>
            </a:avLst>
          </a:prstGeom>
          <a:solidFill>
            <a:schemeClr val="accent4"/>
          </a:solidFill>
          <a:ln w="15875">
            <a:solidFill>
              <a:schemeClr val="accent4"/>
            </a:solidFill>
            <a:prstDash val="solid"/>
          </a:ln>
        </p:spPr>
      </p:sp>
      <p:sp>
        <p:nvSpPr>
          <p:cNvPr id="50" name="Text 45"/>
          <p:cNvSpPr txBox="1"/>
          <p:nvPr/>
        </p:nvSpPr>
        <p:spPr>
          <a:xfrm>
            <a:off x="2412492" y="5047488"/>
            <a:ext cx="1005840" cy="256032"/>
          </a:xfrm>
          <a:prstGeom prst="rect">
            <a:avLst/>
          </a:prstGeom>
          <a:noFill/>
          <a:ln/>
        </p:spPr>
        <p:txBody>
          <a:bodyPr wrap="square" lIns="0" tIns="0" rIns="0" bIns="0" rtlCol="0" anchor="ctr"/>
          <a:lstStyle/>
          <a:p>
            <a:pPr algn="ctr" indent="0" marL="0">
              <a:buNone/>
            </a:pPr>
            <a:r>
              <a:rPr lang="en-US" sz="1000" b="1" dirty="0">
                <a:solidFill>
                  <a:schemeClr val="bg1"/>
                </a:solidFill>
              </a:rPr>
              <a:t>26 May 2021</a:t>
            </a:r>
            <a:endParaRPr lang="en-US" sz="1000" dirty="0"/>
          </a:p>
        </p:txBody>
      </p:sp>
      <p:sp>
        <p:nvSpPr>
          <p:cNvPr id="51" name="Text 46"/>
          <p:cNvSpPr txBox="1"/>
          <p:nvPr/>
        </p:nvSpPr>
        <p:spPr>
          <a:xfrm>
            <a:off x="2136541" y="5376672"/>
            <a:ext cx="1557741" cy="822960"/>
          </a:xfrm>
          <a:prstGeom prst="rect">
            <a:avLst/>
          </a:prstGeom>
          <a:noFill/>
          <a:ln/>
        </p:spPr>
        <p:txBody>
          <a:bodyPr wrap="square" lIns="0" tIns="0" rIns="0" bIns="0" rtlCol="0" anchor="t"/>
          <a:lstStyle/>
          <a:p>
            <a:pPr algn="ctr" indent="0" marL="0">
              <a:buNone/>
            </a:pPr>
            <a:r>
              <a:rPr lang="en-US" sz="1050" b="1" dirty="0">
                <a:solidFill>
                  <a:schemeClr val="tx1"/>
                </a:solidFill>
              </a:rPr>
              <a:t>Fully applicable</a:t>
            </a:r>
            <a:endParaRPr lang="en-US" sz="1050" dirty="0"/>
          </a:p>
          <a:p>
            <a:pPr algn="ctr" indent="0" marL="0">
              <a:buNone/>
            </a:pPr>
            <a:r>
              <a:rPr lang="en-US" sz="950" dirty="0">
                <a:solidFill>
                  <a:schemeClr val="tx2"/>
                </a:solidFill>
              </a:rPr>
              <a:t>22 rules, Annex VIII</a:t>
            </a:r>
            <a:endParaRPr lang="en-US" sz="1050" dirty="0"/>
          </a:p>
        </p:txBody>
      </p:sp>
      <p:sp>
        <p:nvSpPr>
          <p:cNvPr id="52" name="Milestone Mar 2023"/>
          <p:cNvSpPr/>
          <p:nvPr/>
        </p:nvSpPr>
        <p:spPr>
          <a:xfrm>
            <a:off x="4413504" y="4754880"/>
            <a:ext cx="182880" cy="182880"/>
          </a:xfrm>
          <a:prstGeom prst="ellipse">
            <a:avLst/>
          </a:prstGeom>
          <a:solidFill>
            <a:schemeClr val="accent4"/>
          </a:solidFill>
          <a:ln w="25400">
            <a:solidFill>
              <a:schemeClr val="bg1"/>
            </a:solidFill>
            <a:prstDash val="solid"/>
          </a:ln>
        </p:spPr>
      </p:sp>
      <p:sp>
        <p:nvSpPr>
          <p:cNvPr id="53" name="Pill Mar 2023"/>
          <p:cNvSpPr/>
          <p:nvPr/>
        </p:nvSpPr>
        <p:spPr>
          <a:xfrm>
            <a:off x="4002024" y="5047488"/>
            <a:ext cx="1005840" cy="256032"/>
          </a:xfrm>
          <a:prstGeom prst="roundRect">
            <a:avLst>
              <a:gd name="adj" fmla="val 50000"/>
            </a:avLst>
          </a:prstGeom>
          <a:solidFill>
            <a:schemeClr val="accent4"/>
          </a:solidFill>
          <a:ln w="15875">
            <a:solidFill>
              <a:schemeClr val="accent4"/>
            </a:solidFill>
            <a:prstDash val="solid"/>
          </a:ln>
        </p:spPr>
      </p:sp>
      <p:sp>
        <p:nvSpPr>
          <p:cNvPr id="54" name="Text 49"/>
          <p:cNvSpPr txBox="1"/>
          <p:nvPr/>
        </p:nvSpPr>
        <p:spPr>
          <a:xfrm>
            <a:off x="4002024" y="5047488"/>
            <a:ext cx="1005840" cy="256032"/>
          </a:xfrm>
          <a:prstGeom prst="rect">
            <a:avLst/>
          </a:prstGeom>
          <a:noFill/>
          <a:ln/>
        </p:spPr>
        <p:txBody>
          <a:bodyPr wrap="square" lIns="0" tIns="0" rIns="0" bIns="0" rtlCol="0" anchor="ctr"/>
          <a:lstStyle/>
          <a:p>
            <a:pPr algn="ctr" indent="0" marL="0">
              <a:buNone/>
            </a:pPr>
            <a:r>
              <a:rPr lang="en-US" sz="1000" b="1" dirty="0">
                <a:solidFill>
                  <a:schemeClr val="bg1"/>
                </a:solidFill>
              </a:rPr>
              <a:t>Mar 2023</a:t>
            </a:r>
            <a:endParaRPr lang="en-US" sz="1000" dirty="0"/>
          </a:p>
        </p:txBody>
      </p:sp>
      <p:sp>
        <p:nvSpPr>
          <p:cNvPr id="55" name="Text 50"/>
          <p:cNvSpPr txBox="1"/>
          <p:nvPr/>
        </p:nvSpPr>
        <p:spPr>
          <a:xfrm>
            <a:off x="3726073" y="5376672"/>
            <a:ext cx="1557741" cy="822960"/>
          </a:xfrm>
          <a:prstGeom prst="rect">
            <a:avLst/>
          </a:prstGeom>
          <a:noFill/>
          <a:ln/>
        </p:spPr>
        <p:txBody>
          <a:bodyPr wrap="square" lIns="0" tIns="0" rIns="0" bIns="0" rtlCol="0" anchor="t"/>
          <a:lstStyle/>
          <a:p>
            <a:pPr algn="ctr" indent="0" marL="0">
              <a:buNone/>
            </a:pPr>
            <a:r>
              <a:rPr lang="en-US" sz="1050" b="1" dirty="0">
                <a:solidFill>
                  <a:schemeClr val="tx1"/>
                </a:solidFill>
              </a:rPr>
              <a:t>Regulation 2023/607</a:t>
            </a:r>
            <a:endParaRPr lang="en-US" sz="1050" dirty="0"/>
          </a:p>
          <a:p>
            <a:pPr algn="ctr" indent="0" marL="0">
              <a:buNone/>
            </a:pPr>
            <a:r>
              <a:rPr lang="en-US" sz="950" dirty="0">
                <a:solidFill>
                  <a:schemeClr val="tx2"/>
                </a:solidFill>
              </a:rPr>
              <a:t>transition extended; sell-off date removed</a:t>
            </a:r>
            <a:endParaRPr lang="en-US" sz="1050" dirty="0"/>
          </a:p>
        </p:txBody>
      </p:sp>
      <p:sp>
        <p:nvSpPr>
          <p:cNvPr id="56" name="Milestone 16 Dec 2025"/>
          <p:cNvSpPr/>
          <p:nvPr/>
        </p:nvSpPr>
        <p:spPr>
          <a:xfrm>
            <a:off x="5957316" y="4709160"/>
            <a:ext cx="274320" cy="274320"/>
          </a:xfrm>
          <a:prstGeom prst="ellipse">
            <a:avLst/>
          </a:prstGeom>
          <a:solidFill>
            <a:schemeClr val="accent2"/>
          </a:solidFill>
          <a:ln w="25400">
            <a:solidFill>
              <a:schemeClr val="bg1"/>
            </a:solidFill>
            <a:prstDash val="solid"/>
          </a:ln>
        </p:spPr>
      </p:sp>
      <p:sp>
        <p:nvSpPr>
          <p:cNvPr id="57" name="Pill 16 Dec 2025"/>
          <p:cNvSpPr/>
          <p:nvPr/>
        </p:nvSpPr>
        <p:spPr>
          <a:xfrm>
            <a:off x="5591556" y="5047488"/>
            <a:ext cx="1005840" cy="256032"/>
          </a:xfrm>
          <a:prstGeom prst="roundRect">
            <a:avLst>
              <a:gd name="adj" fmla="val 50000"/>
            </a:avLst>
          </a:prstGeom>
          <a:solidFill>
            <a:schemeClr val="accent2"/>
          </a:solidFill>
          <a:ln w="15875">
            <a:solidFill>
              <a:schemeClr val="accent2"/>
            </a:solidFill>
            <a:prstDash val="solid"/>
          </a:ln>
        </p:spPr>
      </p:sp>
      <p:sp>
        <p:nvSpPr>
          <p:cNvPr id="58" name="Text 53"/>
          <p:cNvSpPr txBox="1"/>
          <p:nvPr/>
        </p:nvSpPr>
        <p:spPr>
          <a:xfrm>
            <a:off x="5591556" y="5047488"/>
            <a:ext cx="1005840" cy="256032"/>
          </a:xfrm>
          <a:prstGeom prst="rect">
            <a:avLst/>
          </a:prstGeom>
          <a:noFill/>
          <a:ln/>
        </p:spPr>
        <p:txBody>
          <a:bodyPr wrap="square" lIns="0" tIns="0" rIns="0" bIns="0" rtlCol="0" anchor="ctr"/>
          <a:lstStyle/>
          <a:p>
            <a:pPr algn="ctr" indent="0" marL="0">
              <a:buNone/>
            </a:pPr>
            <a:r>
              <a:rPr lang="en-US" sz="1000" b="1" dirty="0">
                <a:solidFill>
                  <a:schemeClr val="bg1"/>
                </a:solidFill>
              </a:rPr>
              <a:t>16 Dec 2025</a:t>
            </a:r>
            <a:endParaRPr lang="en-US" sz="1000" dirty="0"/>
          </a:p>
        </p:txBody>
      </p:sp>
      <p:sp>
        <p:nvSpPr>
          <p:cNvPr id="59" name="Text 54"/>
          <p:cNvSpPr txBox="1"/>
          <p:nvPr/>
        </p:nvSpPr>
        <p:spPr>
          <a:xfrm>
            <a:off x="5315605" y="5376672"/>
            <a:ext cx="1557741" cy="822960"/>
          </a:xfrm>
          <a:prstGeom prst="rect">
            <a:avLst/>
          </a:prstGeom>
          <a:noFill/>
          <a:ln/>
        </p:spPr>
        <p:txBody>
          <a:bodyPr wrap="square" lIns="0" tIns="0" rIns="0" bIns="0" rtlCol="0" anchor="t"/>
          <a:lstStyle/>
          <a:p>
            <a:pPr algn="ctr" indent="0" marL="0">
              <a:buNone/>
            </a:pPr>
            <a:r>
              <a:rPr lang="en-US" sz="1050" b="1" dirty="0">
                <a:solidFill>
                  <a:schemeClr val="tx1"/>
                </a:solidFill>
              </a:rPr>
              <a:t>Targeted revision proposed</a:t>
            </a:r>
            <a:endParaRPr lang="en-US" sz="1050" dirty="0"/>
          </a:p>
          <a:p>
            <a:pPr algn="ctr" indent="0" marL="0">
              <a:buNone/>
            </a:pPr>
            <a:r>
              <a:rPr lang="en-US" sz="950" dirty="0">
                <a:solidFill>
                  <a:schemeClr val="tx2"/>
                </a:solidFill>
              </a:rPr>
              <a:t>COM(2025) 1023; under negotiation</a:t>
            </a:r>
            <a:endParaRPr lang="en-US" sz="1050" dirty="0"/>
          </a:p>
        </p:txBody>
      </p:sp>
      <p:sp>
        <p:nvSpPr>
          <p:cNvPr id="60" name="Milestone 28 May 2026"/>
          <p:cNvSpPr/>
          <p:nvPr/>
        </p:nvSpPr>
        <p:spPr>
          <a:xfrm>
            <a:off x="7592568" y="4754880"/>
            <a:ext cx="182880" cy="182880"/>
          </a:xfrm>
          <a:prstGeom prst="ellipse">
            <a:avLst/>
          </a:prstGeom>
          <a:solidFill>
            <a:schemeClr val="accent1"/>
          </a:solidFill>
          <a:ln w="25400">
            <a:solidFill>
              <a:schemeClr val="bg1"/>
            </a:solidFill>
            <a:prstDash val="solid"/>
          </a:ln>
        </p:spPr>
      </p:sp>
      <p:sp>
        <p:nvSpPr>
          <p:cNvPr id="61" name="Pill 28 May 2026"/>
          <p:cNvSpPr/>
          <p:nvPr/>
        </p:nvSpPr>
        <p:spPr>
          <a:xfrm>
            <a:off x="7181088" y="5047488"/>
            <a:ext cx="1005840" cy="256032"/>
          </a:xfrm>
          <a:prstGeom prst="roundRect">
            <a:avLst>
              <a:gd name="adj" fmla="val 50000"/>
            </a:avLst>
          </a:prstGeom>
          <a:solidFill>
            <a:schemeClr val="accent1"/>
          </a:solidFill>
          <a:ln w="15875">
            <a:solidFill>
              <a:schemeClr val="accent1"/>
            </a:solidFill>
            <a:prstDash val="solid"/>
          </a:ln>
        </p:spPr>
      </p:sp>
      <p:sp>
        <p:nvSpPr>
          <p:cNvPr id="62" name="Text 57"/>
          <p:cNvSpPr txBox="1"/>
          <p:nvPr/>
        </p:nvSpPr>
        <p:spPr>
          <a:xfrm>
            <a:off x="7181088" y="5047488"/>
            <a:ext cx="1005840" cy="256032"/>
          </a:xfrm>
          <a:prstGeom prst="rect">
            <a:avLst/>
          </a:prstGeom>
          <a:noFill/>
          <a:ln/>
        </p:spPr>
        <p:txBody>
          <a:bodyPr wrap="square" lIns="0" tIns="0" rIns="0" bIns="0" rtlCol="0" anchor="ctr"/>
          <a:lstStyle/>
          <a:p>
            <a:pPr algn="ctr" indent="0" marL="0">
              <a:buNone/>
            </a:pPr>
            <a:r>
              <a:rPr lang="en-US" sz="1000" b="1" dirty="0">
                <a:solidFill>
                  <a:schemeClr val="bg1"/>
                </a:solidFill>
              </a:rPr>
              <a:t>28 May 2026</a:t>
            </a:r>
            <a:endParaRPr lang="en-US" sz="1000" dirty="0"/>
          </a:p>
        </p:txBody>
      </p:sp>
      <p:sp>
        <p:nvSpPr>
          <p:cNvPr id="63" name="Text 58"/>
          <p:cNvSpPr txBox="1"/>
          <p:nvPr/>
        </p:nvSpPr>
        <p:spPr>
          <a:xfrm>
            <a:off x="6905137" y="5376672"/>
            <a:ext cx="1557741" cy="822960"/>
          </a:xfrm>
          <a:prstGeom prst="rect">
            <a:avLst/>
          </a:prstGeom>
          <a:noFill/>
          <a:ln/>
        </p:spPr>
        <p:txBody>
          <a:bodyPr wrap="square" lIns="0" tIns="0" rIns="0" bIns="0" rtlCol="0" anchor="t"/>
          <a:lstStyle/>
          <a:p>
            <a:pPr algn="ctr" indent="0" marL="0">
              <a:buNone/>
            </a:pPr>
            <a:r>
              <a:rPr lang="en-US" sz="1050" b="1" dirty="0">
                <a:solidFill>
                  <a:schemeClr val="tx1"/>
                </a:solidFill>
              </a:rPr>
              <a:t>EUDAMED mandatory</a:t>
            </a:r>
            <a:endParaRPr lang="en-US" sz="1050" dirty="0"/>
          </a:p>
          <a:p>
            <a:pPr algn="ctr" indent="0" marL="0">
              <a:buNone/>
            </a:pPr>
            <a:r>
              <a:rPr lang="en-US" sz="950" dirty="0">
                <a:solidFill>
                  <a:schemeClr val="tx2"/>
                </a:solidFill>
              </a:rPr>
              <a:t>first four modules</a:t>
            </a:r>
            <a:endParaRPr lang="en-US" sz="1050" dirty="0"/>
          </a:p>
        </p:txBody>
      </p:sp>
      <p:sp>
        <p:nvSpPr>
          <p:cNvPr id="64" name="Milestone 31 Dec 2027"/>
          <p:cNvSpPr/>
          <p:nvPr/>
        </p:nvSpPr>
        <p:spPr>
          <a:xfrm>
            <a:off x="9182100" y="4754880"/>
            <a:ext cx="182880" cy="182880"/>
          </a:xfrm>
          <a:prstGeom prst="ellipse">
            <a:avLst/>
          </a:prstGeom>
          <a:solidFill>
            <a:schemeClr val="accent3"/>
          </a:solidFill>
          <a:ln w="25400">
            <a:solidFill>
              <a:schemeClr val="bg1"/>
            </a:solidFill>
            <a:prstDash val="solid"/>
          </a:ln>
        </p:spPr>
      </p:sp>
      <p:sp>
        <p:nvSpPr>
          <p:cNvPr id="65" name="Pill 31 Dec 2027"/>
          <p:cNvSpPr/>
          <p:nvPr/>
        </p:nvSpPr>
        <p:spPr>
          <a:xfrm>
            <a:off x="8770620" y="5047488"/>
            <a:ext cx="1005840" cy="256032"/>
          </a:xfrm>
          <a:prstGeom prst="roundRect">
            <a:avLst>
              <a:gd name="adj" fmla="val 50000"/>
            </a:avLst>
          </a:prstGeom>
          <a:solidFill>
            <a:schemeClr val="accent3"/>
          </a:solidFill>
          <a:ln w="15875">
            <a:solidFill>
              <a:schemeClr val="accent3"/>
            </a:solidFill>
            <a:prstDash val="solid"/>
          </a:ln>
        </p:spPr>
      </p:sp>
      <p:sp>
        <p:nvSpPr>
          <p:cNvPr id="66" name="Text 61"/>
          <p:cNvSpPr txBox="1"/>
          <p:nvPr/>
        </p:nvSpPr>
        <p:spPr>
          <a:xfrm>
            <a:off x="8770620" y="5047488"/>
            <a:ext cx="1005840" cy="256032"/>
          </a:xfrm>
          <a:prstGeom prst="rect">
            <a:avLst/>
          </a:prstGeom>
          <a:noFill/>
          <a:ln/>
        </p:spPr>
        <p:txBody>
          <a:bodyPr wrap="square" lIns="0" tIns="0" rIns="0" bIns="0" rtlCol="0" anchor="ctr"/>
          <a:lstStyle/>
          <a:p>
            <a:pPr algn="ctr" indent="0" marL="0">
              <a:buNone/>
            </a:pPr>
            <a:r>
              <a:rPr lang="en-US" sz="1000" b="1" dirty="0">
                <a:solidFill>
                  <a:schemeClr val="bg1"/>
                </a:solidFill>
              </a:rPr>
              <a:t>31 Dec 2027</a:t>
            </a:r>
            <a:endParaRPr lang="en-US" sz="1000" dirty="0"/>
          </a:p>
        </p:txBody>
      </p:sp>
      <p:sp>
        <p:nvSpPr>
          <p:cNvPr id="67" name="Text 62"/>
          <p:cNvSpPr txBox="1"/>
          <p:nvPr/>
        </p:nvSpPr>
        <p:spPr>
          <a:xfrm>
            <a:off x="8494669" y="5376672"/>
            <a:ext cx="1557741" cy="822960"/>
          </a:xfrm>
          <a:prstGeom prst="rect">
            <a:avLst/>
          </a:prstGeom>
          <a:noFill/>
          <a:ln/>
        </p:spPr>
        <p:txBody>
          <a:bodyPr wrap="square" lIns="0" tIns="0" rIns="0" bIns="0" rtlCol="0" anchor="t"/>
          <a:lstStyle/>
          <a:p>
            <a:pPr algn="ctr" indent="0" marL="0">
              <a:buNone/>
            </a:pPr>
            <a:r>
              <a:rPr lang="en-US" sz="1050" b="1" dirty="0">
                <a:solidFill>
                  <a:schemeClr val="tx1"/>
                </a:solidFill>
              </a:rPr>
              <a:t>Legacy Class III, IIb implants</a:t>
            </a:r>
            <a:endParaRPr lang="en-US" sz="1050" dirty="0"/>
          </a:p>
          <a:p>
            <a:pPr algn="ctr" indent="0" marL="0">
              <a:buNone/>
            </a:pPr>
            <a:r>
              <a:rPr lang="en-US" sz="950" dirty="0">
                <a:solidFill>
                  <a:schemeClr val="tx2"/>
                </a:solidFill>
              </a:rPr>
              <a:t>MDD certificates end</a:t>
            </a:r>
            <a:endParaRPr lang="en-US" sz="1050" dirty="0"/>
          </a:p>
        </p:txBody>
      </p:sp>
      <p:sp>
        <p:nvSpPr>
          <p:cNvPr id="68" name="Milestone 31 Dec 2028"/>
          <p:cNvSpPr/>
          <p:nvPr/>
        </p:nvSpPr>
        <p:spPr>
          <a:xfrm>
            <a:off x="10771632" y="4754880"/>
            <a:ext cx="182880" cy="182880"/>
          </a:xfrm>
          <a:prstGeom prst="ellipse">
            <a:avLst/>
          </a:prstGeom>
          <a:solidFill>
            <a:schemeClr val="accent3"/>
          </a:solidFill>
          <a:ln w="25400">
            <a:solidFill>
              <a:schemeClr val="bg1"/>
            </a:solidFill>
            <a:prstDash val="solid"/>
          </a:ln>
        </p:spPr>
      </p:sp>
      <p:sp>
        <p:nvSpPr>
          <p:cNvPr id="69" name="Pill 31 Dec 2028"/>
          <p:cNvSpPr/>
          <p:nvPr/>
        </p:nvSpPr>
        <p:spPr>
          <a:xfrm>
            <a:off x="10360152" y="5047488"/>
            <a:ext cx="1005840" cy="256032"/>
          </a:xfrm>
          <a:prstGeom prst="roundRect">
            <a:avLst>
              <a:gd name="adj" fmla="val 50000"/>
            </a:avLst>
          </a:prstGeom>
          <a:solidFill>
            <a:schemeClr val="accent3"/>
          </a:solidFill>
          <a:ln w="15875">
            <a:solidFill>
              <a:schemeClr val="accent3"/>
            </a:solidFill>
            <a:prstDash val="solid"/>
          </a:ln>
        </p:spPr>
      </p:sp>
      <p:sp>
        <p:nvSpPr>
          <p:cNvPr id="70" name="Text 65"/>
          <p:cNvSpPr txBox="1"/>
          <p:nvPr/>
        </p:nvSpPr>
        <p:spPr>
          <a:xfrm>
            <a:off x="10360152" y="5047488"/>
            <a:ext cx="1005840" cy="256032"/>
          </a:xfrm>
          <a:prstGeom prst="rect">
            <a:avLst/>
          </a:prstGeom>
          <a:noFill/>
          <a:ln/>
        </p:spPr>
        <p:txBody>
          <a:bodyPr wrap="square" lIns="0" tIns="0" rIns="0" bIns="0" rtlCol="0" anchor="ctr"/>
          <a:lstStyle/>
          <a:p>
            <a:pPr algn="ctr" indent="0" marL="0">
              <a:buNone/>
            </a:pPr>
            <a:r>
              <a:rPr lang="en-US" sz="1000" b="1" dirty="0">
                <a:solidFill>
                  <a:schemeClr val="bg1"/>
                </a:solidFill>
              </a:rPr>
              <a:t>31 Dec 2028</a:t>
            </a:r>
            <a:endParaRPr lang="en-US" sz="1000" dirty="0"/>
          </a:p>
        </p:txBody>
      </p:sp>
      <p:sp>
        <p:nvSpPr>
          <p:cNvPr id="71" name="Text 66"/>
          <p:cNvSpPr txBox="1"/>
          <p:nvPr/>
        </p:nvSpPr>
        <p:spPr>
          <a:xfrm>
            <a:off x="10084201" y="5376672"/>
            <a:ext cx="1557741" cy="822960"/>
          </a:xfrm>
          <a:prstGeom prst="rect">
            <a:avLst/>
          </a:prstGeom>
          <a:noFill/>
          <a:ln/>
        </p:spPr>
        <p:txBody>
          <a:bodyPr wrap="square" lIns="0" tIns="0" rIns="0" bIns="0" rtlCol="0" anchor="t"/>
          <a:lstStyle/>
          <a:p>
            <a:pPr algn="ctr" indent="0" marL="0">
              <a:buNone/>
            </a:pPr>
            <a:r>
              <a:rPr lang="en-US" sz="1050" b="1" dirty="0">
                <a:solidFill>
                  <a:schemeClr val="tx1"/>
                </a:solidFill>
              </a:rPr>
              <a:t>Other IIb, IIa, Is, Im</a:t>
            </a:r>
            <a:endParaRPr lang="en-US" sz="1050" dirty="0"/>
          </a:p>
          <a:p>
            <a:pPr algn="ctr" indent="0" marL="0">
              <a:buNone/>
            </a:pPr>
            <a:r>
              <a:rPr lang="en-US" sz="950" dirty="0">
                <a:solidFill>
                  <a:schemeClr val="tx2"/>
                </a:solidFill>
              </a:rPr>
              <a:t>end of transition</a:t>
            </a:r>
            <a:endParaRPr lang="en-US" sz="10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ABROAD · UK, JAPAN, AUSTRALIA, CHINA, CANADA</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Five more systems in one view</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TÜV SÜD UKCA; GOV.UK 16 Jun 2025; MHRA consultation Feb 2026; PMDA; TGA comparable-regulator evidence; State Council Order 739; Morgan Lewis (China); Health Canada MDL/MDSAP; WHO WLA</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sp>
        <p:nvSpPr>
          <p:cNvPr id="12" name="Card UK"/>
          <p:cNvSpPr/>
          <p:nvPr/>
        </p:nvSpPr>
        <p:spPr>
          <a:xfrm>
            <a:off x="548640" y="1572768"/>
            <a:ext cx="2086661" cy="3657600"/>
          </a:xfrm>
          <a:prstGeom prst="roundRect">
            <a:avLst>
              <a:gd name="adj" fmla="val 5259"/>
            </a:avLst>
          </a:prstGeom>
          <a:solidFill>
            <a:schemeClr val="bg1">
              <a:alpha val="10000"/>
            </a:schemeClr>
          </a:solidFill>
          <a:ln w="9525">
            <a:solidFill>
              <a:schemeClr val="accent6"/>
            </a:solidFill>
            <a:prstDash val="solid"/>
          </a:ln>
        </p:spPr>
      </p:sp>
      <p:pic>
        <p:nvPicPr>
          <p:cNvPr id="13" name="Image 0" descr="GB flag">    </p:cNvPr>
          <p:cNvPicPr>
            <a:picLocks noChangeAspect="1"/>
          </p:cNvPicPr>
          <p:nvPr/>
        </p:nvPicPr>
        <p:blipFill>
          <a:blip r:embed="rId1"/>
          <a:stretch>
            <a:fillRect/>
          </a:stretch>
        </p:blipFill>
        <p:spPr>
          <a:xfrm>
            <a:off x="713232" y="1755648"/>
            <a:ext cx="548640" cy="365760"/>
          </a:xfrm>
          <a:prstGeom prst="rect">
            <a:avLst/>
          </a:prstGeom>
        </p:spPr>
      </p:pic>
      <p:sp>
        <p:nvSpPr>
          <p:cNvPr id="14" name="Text 10"/>
          <p:cNvSpPr txBox="1"/>
          <p:nvPr/>
        </p:nvSpPr>
        <p:spPr>
          <a:xfrm>
            <a:off x="1371600" y="1682496"/>
            <a:ext cx="1172261" cy="530352"/>
          </a:xfrm>
          <a:prstGeom prst="rect">
            <a:avLst/>
          </a:prstGeom>
          <a:noFill/>
          <a:ln/>
        </p:spPr>
        <p:txBody>
          <a:bodyPr wrap="square" lIns="0" tIns="0" rIns="0" bIns="0" rtlCol="0" anchor="ctr"/>
          <a:lstStyle/>
          <a:p>
            <a:pPr indent="0" marL="0">
              <a:buNone/>
            </a:pPr>
            <a:r>
              <a:rPr lang="en-US" sz="1300" b="1" dirty="0">
                <a:solidFill>
                  <a:schemeClr val="bg1"/>
                </a:solidFill>
              </a:rPr>
              <a:t>UK</a:t>
            </a:r>
            <a:endParaRPr lang="en-US" sz="1400" dirty="0"/>
          </a:p>
          <a:p>
            <a:pPr indent="0" marL="0">
              <a:buNone/>
            </a:pPr>
            <a:r>
              <a:rPr lang="en-US" sz="1000" dirty="0">
                <a:solidFill>
                  <a:schemeClr val="accent6"/>
                </a:solidFill>
              </a:rPr>
              <a:t>MHRA</a:t>
            </a:r>
            <a:endParaRPr lang="en-US" sz="1400" dirty="0"/>
          </a:p>
        </p:txBody>
      </p:sp>
      <p:sp>
        <p:nvSpPr>
          <p:cNvPr id="15" name="Pill CE recognition + reliance"/>
          <p:cNvSpPr/>
          <p:nvPr/>
        </p:nvSpPr>
        <p:spPr>
          <a:xfrm>
            <a:off x="713232" y="2340864"/>
            <a:ext cx="1757477" cy="237744"/>
          </a:xfrm>
          <a:prstGeom prst="roundRect">
            <a:avLst>
              <a:gd name="adj" fmla="val 50000"/>
            </a:avLst>
          </a:prstGeom>
          <a:solidFill>
            <a:schemeClr val="accent4"/>
          </a:solidFill>
          <a:ln w="15875">
            <a:solidFill>
              <a:schemeClr val="accent4"/>
            </a:solidFill>
            <a:prstDash val="solid"/>
          </a:ln>
        </p:spPr>
      </p:sp>
      <p:sp>
        <p:nvSpPr>
          <p:cNvPr id="16" name="Text 12"/>
          <p:cNvSpPr txBox="1"/>
          <p:nvPr/>
        </p:nvSpPr>
        <p:spPr>
          <a:xfrm>
            <a:off x="713232" y="2340864"/>
            <a:ext cx="1757477" cy="237744"/>
          </a:xfrm>
          <a:prstGeom prst="rect">
            <a:avLst/>
          </a:prstGeom>
          <a:noFill/>
          <a:ln/>
        </p:spPr>
        <p:txBody>
          <a:bodyPr wrap="square" lIns="0" tIns="0" rIns="0" bIns="0" rtlCol="0" anchor="ctr"/>
          <a:lstStyle/>
          <a:p>
            <a:pPr algn="ctr" indent="0" marL="0">
              <a:buNone/>
            </a:pPr>
            <a:r>
              <a:rPr lang="en-US" sz="900" b="1" dirty="0">
                <a:solidFill>
                  <a:schemeClr val="bg1"/>
                </a:solidFill>
              </a:rPr>
              <a:t>CE recognition + reliance</a:t>
            </a:r>
            <a:endParaRPr lang="en-US" sz="900" dirty="0"/>
          </a:p>
        </p:txBody>
      </p:sp>
      <p:sp>
        <p:nvSpPr>
          <p:cNvPr id="17" name="Text 13"/>
          <p:cNvSpPr txBox="1"/>
          <p:nvPr/>
        </p:nvSpPr>
        <p:spPr>
          <a:xfrm>
            <a:off x="713232" y="2688336"/>
            <a:ext cx="1775765" cy="2432304"/>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bg1"/>
                </a:solidFill>
              </a:rPr>
              <a:t>UK MDR 2002; UKCA via UK Approved Bodies</a:t>
            </a:r>
            <a:endParaRPr lang="en-US" sz="950" dirty="0"/>
          </a:p>
          <a:p>
            <a:pPr marL="127000" indent="-127000">
              <a:spcAft>
                <a:spcPts val="300"/>
              </a:spcAft>
              <a:buSzPct val="100000"/>
              <a:buChar char="•"/>
            </a:pPr>
            <a:r>
              <a:rPr lang="en-US" sz="950" dirty="0">
                <a:solidFill>
                  <a:schemeClr val="bg1"/>
                </a:solidFill>
              </a:rPr>
              <a:t>CE still accepted: MDD devices to 30 Jun 2028, MDR devices to 30 Jun 2030</a:t>
            </a:r>
            <a:endParaRPr lang="en-US" sz="950" dirty="0"/>
          </a:p>
          <a:p>
            <a:pPr marL="127000" indent="-127000">
              <a:spcAft>
                <a:spcPts val="300"/>
              </a:spcAft>
              <a:buSzPct val="100000"/>
              <a:buChar char="•"/>
            </a:pPr>
            <a:r>
              <a:rPr lang="en-US" sz="950" dirty="0">
                <a:solidFill>
                  <a:schemeClr val="bg1"/>
                </a:solidFill>
              </a:rPr>
              <a:t>≈90% of devices on the GB market remain CE-marked</a:t>
            </a:r>
            <a:endParaRPr lang="en-US" sz="950" dirty="0"/>
          </a:p>
          <a:p>
            <a:pPr marL="127000" indent="-127000">
              <a:spcAft>
                <a:spcPts val="300"/>
              </a:spcAft>
              <a:buSzPct val="100000"/>
              <a:buChar char="•"/>
            </a:pPr>
            <a:r>
              <a:rPr lang="en-US" sz="950" dirty="0">
                <a:solidFill>
                  <a:schemeClr val="bg1"/>
                </a:solidFill>
              </a:rPr>
              <a:t>International reliance route: FDA, Health Canada, TGA, EU approvals</a:t>
            </a:r>
            <a:endParaRPr lang="en-US" sz="950" dirty="0"/>
          </a:p>
          <a:p>
            <a:pPr marL="127000" indent="-127000">
              <a:spcAft>
                <a:spcPts val="300"/>
              </a:spcAft>
              <a:buSzPct val="100000"/>
              <a:buChar char="•"/>
            </a:pPr>
            <a:r>
              <a:rPr lang="en-US" sz="950" dirty="0">
                <a:solidFill>
                  <a:schemeClr val="bg1"/>
                </a:solidFill>
              </a:rPr>
              <a:t>PMS Regulations in force 16 Jun 2025; Feb 2026 consultation on indefinite CE recognition</a:t>
            </a:r>
            <a:endParaRPr lang="en-US" sz="950" dirty="0"/>
          </a:p>
        </p:txBody>
      </p:sp>
      <p:sp>
        <p:nvSpPr>
          <p:cNvPr id="18" name="Card Japan"/>
          <p:cNvSpPr/>
          <p:nvPr/>
        </p:nvSpPr>
        <p:spPr>
          <a:xfrm>
            <a:off x="2799893" y="1572768"/>
            <a:ext cx="2086661" cy="3657600"/>
          </a:xfrm>
          <a:prstGeom prst="roundRect">
            <a:avLst>
              <a:gd name="adj" fmla="val 5259"/>
            </a:avLst>
          </a:prstGeom>
          <a:solidFill>
            <a:schemeClr val="bg1">
              <a:alpha val="10000"/>
            </a:schemeClr>
          </a:solidFill>
          <a:ln w="9525">
            <a:solidFill>
              <a:schemeClr val="accent6"/>
            </a:solidFill>
            <a:prstDash val="solid"/>
          </a:ln>
        </p:spPr>
      </p:sp>
      <p:pic>
        <p:nvPicPr>
          <p:cNvPr id="19" name="Image 1" descr="JP flag">    </p:cNvPr>
          <p:cNvPicPr>
            <a:picLocks noChangeAspect="1"/>
          </p:cNvPicPr>
          <p:nvPr/>
        </p:nvPicPr>
        <p:blipFill>
          <a:blip r:embed="rId2"/>
          <a:stretch>
            <a:fillRect/>
          </a:stretch>
        </p:blipFill>
        <p:spPr>
          <a:xfrm>
            <a:off x="2964485" y="1755648"/>
            <a:ext cx="548640" cy="365760"/>
          </a:xfrm>
          <a:prstGeom prst="rect">
            <a:avLst/>
          </a:prstGeom>
        </p:spPr>
      </p:pic>
      <p:sp>
        <p:nvSpPr>
          <p:cNvPr id="20" name="Text 15"/>
          <p:cNvSpPr txBox="1"/>
          <p:nvPr/>
        </p:nvSpPr>
        <p:spPr>
          <a:xfrm>
            <a:off x="3622853" y="1682496"/>
            <a:ext cx="1172261" cy="530352"/>
          </a:xfrm>
          <a:prstGeom prst="rect">
            <a:avLst/>
          </a:prstGeom>
          <a:noFill/>
          <a:ln/>
        </p:spPr>
        <p:txBody>
          <a:bodyPr wrap="square" lIns="0" tIns="0" rIns="0" bIns="0" rtlCol="0" anchor="ctr"/>
          <a:lstStyle/>
          <a:p>
            <a:pPr indent="0" marL="0">
              <a:buNone/>
            </a:pPr>
            <a:r>
              <a:rPr lang="en-US" sz="1300" b="1" dirty="0">
                <a:solidFill>
                  <a:schemeClr val="bg1"/>
                </a:solidFill>
              </a:rPr>
              <a:t>Japan</a:t>
            </a:r>
            <a:endParaRPr lang="en-US" sz="1400" dirty="0"/>
          </a:p>
          <a:p>
            <a:pPr indent="0" marL="0">
              <a:buNone/>
            </a:pPr>
            <a:r>
              <a:rPr lang="en-US" sz="1000" dirty="0">
                <a:solidFill>
                  <a:schemeClr val="accent6"/>
                </a:solidFill>
              </a:rPr>
              <a:t>PMDA · MHLW</a:t>
            </a:r>
            <a:endParaRPr lang="en-US" sz="1400" dirty="0"/>
          </a:p>
        </p:txBody>
      </p:sp>
      <p:sp>
        <p:nvSpPr>
          <p:cNvPr id="21" name="Pill Classes I–IV, MAH"/>
          <p:cNvSpPr/>
          <p:nvPr/>
        </p:nvSpPr>
        <p:spPr>
          <a:xfrm>
            <a:off x="2964485" y="2340864"/>
            <a:ext cx="1757477" cy="237744"/>
          </a:xfrm>
          <a:prstGeom prst="roundRect">
            <a:avLst>
              <a:gd name="adj" fmla="val 50000"/>
            </a:avLst>
          </a:prstGeom>
          <a:solidFill>
            <a:schemeClr val="accent1"/>
          </a:solidFill>
          <a:ln w="15875">
            <a:solidFill>
              <a:schemeClr val="accent1"/>
            </a:solidFill>
            <a:prstDash val="solid"/>
          </a:ln>
        </p:spPr>
      </p:sp>
      <p:sp>
        <p:nvSpPr>
          <p:cNvPr id="22" name="Text 17"/>
          <p:cNvSpPr txBox="1"/>
          <p:nvPr/>
        </p:nvSpPr>
        <p:spPr>
          <a:xfrm>
            <a:off x="2964485" y="2340864"/>
            <a:ext cx="1757477" cy="237744"/>
          </a:xfrm>
          <a:prstGeom prst="rect">
            <a:avLst/>
          </a:prstGeom>
          <a:noFill/>
          <a:ln/>
        </p:spPr>
        <p:txBody>
          <a:bodyPr wrap="square" lIns="0" tIns="0" rIns="0" bIns="0" rtlCol="0" anchor="ctr"/>
          <a:lstStyle/>
          <a:p>
            <a:pPr algn="ctr" indent="0" marL="0">
              <a:buNone/>
            </a:pPr>
            <a:r>
              <a:rPr lang="en-US" sz="900" b="1" dirty="0">
                <a:solidFill>
                  <a:schemeClr val="bg1"/>
                </a:solidFill>
              </a:rPr>
              <a:t>Classes I–IV, MAH</a:t>
            </a:r>
            <a:endParaRPr lang="en-US" sz="900" dirty="0"/>
          </a:p>
        </p:txBody>
      </p:sp>
      <p:sp>
        <p:nvSpPr>
          <p:cNvPr id="23" name="Text 18"/>
          <p:cNvSpPr txBox="1"/>
          <p:nvPr/>
        </p:nvSpPr>
        <p:spPr>
          <a:xfrm>
            <a:off x="2964485" y="2688336"/>
            <a:ext cx="1775765" cy="2432304"/>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bg1"/>
                </a:solidFill>
              </a:rPr>
              <a:t>PMD Act; GHTF-based Classes I–IV; JMDN codes</a:t>
            </a:r>
            <a:endParaRPr lang="en-US" sz="950" dirty="0"/>
          </a:p>
          <a:p>
            <a:pPr marL="127000" indent="-127000">
              <a:spcAft>
                <a:spcPts val="300"/>
              </a:spcAft>
              <a:buSzPct val="100000"/>
              <a:buChar char="•"/>
            </a:pPr>
            <a:r>
              <a:rPr lang="en-US" sz="950" dirty="0">
                <a:solidFill>
                  <a:schemeClr val="bg1"/>
                </a:solidFill>
              </a:rPr>
              <a:t>I: notification · II–III: RCB certification where a standard exists · IV: MHLW approval after PMDA review</a:t>
            </a:r>
            <a:endParaRPr lang="en-US" sz="950" dirty="0"/>
          </a:p>
          <a:p>
            <a:pPr marL="127000" indent="-127000">
              <a:spcAft>
                <a:spcPts val="300"/>
              </a:spcAft>
              <a:buSzPct val="100000"/>
              <a:buChar char="•"/>
            </a:pPr>
            <a:r>
              <a:rPr lang="en-US" sz="950" dirty="0">
                <a:solidFill>
                  <a:schemeClr val="bg1"/>
                </a:solidFill>
              </a:rPr>
              <a:t>Foreign makers act through a Japanese MAH or D-MAH and register as Foreign Manufacturer</a:t>
            </a:r>
            <a:endParaRPr lang="en-US" sz="950" dirty="0"/>
          </a:p>
          <a:p>
            <a:pPr marL="127000" indent="-127000">
              <a:spcAft>
                <a:spcPts val="300"/>
              </a:spcAft>
              <a:buSzPct val="100000"/>
              <a:buChar char="•"/>
            </a:pPr>
            <a:r>
              <a:rPr lang="en-US" sz="950" dirty="0">
                <a:solidFill>
                  <a:schemeClr val="bg1"/>
                </a:solidFill>
              </a:rPr>
              <a:t>MDSAP member; WHO-Listed Authority since Aug 2025</a:t>
            </a:r>
            <a:endParaRPr lang="en-US" sz="950" dirty="0"/>
          </a:p>
        </p:txBody>
      </p:sp>
      <p:sp>
        <p:nvSpPr>
          <p:cNvPr id="24" name="Card Australia"/>
          <p:cNvSpPr/>
          <p:nvPr/>
        </p:nvSpPr>
        <p:spPr>
          <a:xfrm>
            <a:off x="5051146" y="1572768"/>
            <a:ext cx="2086661" cy="3657600"/>
          </a:xfrm>
          <a:prstGeom prst="roundRect">
            <a:avLst>
              <a:gd name="adj" fmla="val 5259"/>
            </a:avLst>
          </a:prstGeom>
          <a:solidFill>
            <a:schemeClr val="bg1">
              <a:alpha val="10000"/>
            </a:schemeClr>
          </a:solidFill>
          <a:ln w="9525">
            <a:solidFill>
              <a:schemeClr val="accent6"/>
            </a:solidFill>
            <a:prstDash val="solid"/>
          </a:ln>
        </p:spPr>
      </p:sp>
      <p:pic>
        <p:nvPicPr>
          <p:cNvPr id="25" name="Image 2" descr="AU flag">    </p:cNvPr>
          <p:cNvPicPr>
            <a:picLocks noChangeAspect="1"/>
          </p:cNvPicPr>
          <p:nvPr/>
        </p:nvPicPr>
        <p:blipFill>
          <a:blip r:embed="rId3"/>
          <a:stretch>
            <a:fillRect/>
          </a:stretch>
        </p:blipFill>
        <p:spPr>
          <a:xfrm>
            <a:off x="5215738" y="1755648"/>
            <a:ext cx="548640" cy="365760"/>
          </a:xfrm>
          <a:prstGeom prst="rect">
            <a:avLst/>
          </a:prstGeom>
        </p:spPr>
      </p:pic>
      <p:sp>
        <p:nvSpPr>
          <p:cNvPr id="26" name="Text 20"/>
          <p:cNvSpPr txBox="1"/>
          <p:nvPr/>
        </p:nvSpPr>
        <p:spPr>
          <a:xfrm>
            <a:off x="5874106" y="1682496"/>
            <a:ext cx="1172261" cy="530352"/>
          </a:xfrm>
          <a:prstGeom prst="rect">
            <a:avLst/>
          </a:prstGeom>
          <a:noFill/>
          <a:ln/>
        </p:spPr>
        <p:txBody>
          <a:bodyPr wrap="square" lIns="0" tIns="0" rIns="0" bIns="0" rtlCol="0" anchor="ctr"/>
          <a:lstStyle/>
          <a:p>
            <a:pPr indent="0" marL="0">
              <a:buNone/>
            </a:pPr>
            <a:r>
              <a:rPr lang="en-US" sz="1300" b="1" dirty="0">
                <a:solidFill>
                  <a:schemeClr val="bg1"/>
                </a:solidFill>
              </a:rPr>
              <a:t>Australia</a:t>
            </a:r>
            <a:endParaRPr lang="en-US" sz="1400" dirty="0"/>
          </a:p>
          <a:p>
            <a:pPr indent="0" marL="0">
              <a:buNone/>
            </a:pPr>
            <a:r>
              <a:rPr lang="en-US" sz="1000" dirty="0">
                <a:solidFill>
                  <a:schemeClr val="accent6"/>
                </a:solidFill>
              </a:rPr>
              <a:t>TGA</a:t>
            </a:r>
            <a:endParaRPr lang="en-US" sz="1400" dirty="0"/>
          </a:p>
        </p:txBody>
      </p:sp>
      <p:sp>
        <p:nvSpPr>
          <p:cNvPr id="27" name="Pill ARTG + reliance"/>
          <p:cNvSpPr/>
          <p:nvPr/>
        </p:nvSpPr>
        <p:spPr>
          <a:xfrm>
            <a:off x="5215738" y="2340864"/>
            <a:ext cx="1757477" cy="237744"/>
          </a:xfrm>
          <a:prstGeom prst="roundRect">
            <a:avLst>
              <a:gd name="adj" fmla="val 50000"/>
            </a:avLst>
          </a:prstGeom>
          <a:solidFill>
            <a:schemeClr val="accent2"/>
          </a:solidFill>
          <a:ln w="15875">
            <a:solidFill>
              <a:schemeClr val="accent2"/>
            </a:solidFill>
            <a:prstDash val="solid"/>
          </a:ln>
        </p:spPr>
      </p:sp>
      <p:sp>
        <p:nvSpPr>
          <p:cNvPr id="28" name="Text 22"/>
          <p:cNvSpPr txBox="1"/>
          <p:nvPr/>
        </p:nvSpPr>
        <p:spPr>
          <a:xfrm>
            <a:off x="5215738" y="2340864"/>
            <a:ext cx="1757477" cy="237744"/>
          </a:xfrm>
          <a:prstGeom prst="rect">
            <a:avLst/>
          </a:prstGeom>
          <a:noFill/>
          <a:ln/>
        </p:spPr>
        <p:txBody>
          <a:bodyPr wrap="square" lIns="0" tIns="0" rIns="0" bIns="0" rtlCol="0" anchor="ctr"/>
          <a:lstStyle/>
          <a:p>
            <a:pPr algn="ctr" indent="0" marL="0">
              <a:buNone/>
            </a:pPr>
            <a:r>
              <a:rPr lang="en-US" sz="900" b="1" dirty="0">
                <a:solidFill>
                  <a:schemeClr val="bg1"/>
                </a:solidFill>
              </a:rPr>
              <a:t>ARTG + reliance</a:t>
            </a:r>
            <a:endParaRPr lang="en-US" sz="900" dirty="0"/>
          </a:p>
        </p:txBody>
      </p:sp>
      <p:sp>
        <p:nvSpPr>
          <p:cNvPr id="29" name="Text 23"/>
          <p:cNvSpPr txBox="1"/>
          <p:nvPr/>
        </p:nvSpPr>
        <p:spPr>
          <a:xfrm>
            <a:off x="5215738" y="2688336"/>
            <a:ext cx="1775765" cy="2432304"/>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bg1"/>
                </a:solidFill>
              </a:rPr>
              <a:t>Therapeutic Goods Act 1989; Classes I, Is, Im, Ir, IIa, IIb, III</a:t>
            </a:r>
            <a:endParaRPr lang="en-US" sz="950" dirty="0"/>
          </a:p>
          <a:p>
            <a:pPr marL="127000" indent="-127000">
              <a:spcAft>
                <a:spcPts val="300"/>
              </a:spcAft>
              <a:buSzPct val="100000"/>
              <a:buChar char="•"/>
            </a:pPr>
            <a:r>
              <a:rPr lang="en-US" sz="950" dirty="0">
                <a:solidFill>
                  <a:schemeClr val="bg1"/>
                </a:solidFill>
              </a:rPr>
              <a:t>Inclusion in the ARTG through an Australian sponsor</a:t>
            </a:r>
            <a:endParaRPr lang="en-US" sz="950" dirty="0"/>
          </a:p>
          <a:p>
            <a:pPr marL="127000" indent="-127000">
              <a:spcAft>
                <a:spcPts val="300"/>
              </a:spcAft>
              <a:buSzPct val="100000"/>
              <a:buChar char="•"/>
            </a:pPr>
            <a:r>
              <a:rPr lang="en-US" sz="950" dirty="0">
                <a:solidFill>
                  <a:schemeClr val="bg1"/>
                </a:solidFill>
              </a:rPr>
              <a:t>Accepts comparable-regulator evidence: CE certificates, FDA 510(k)/PMA, Health Canada, Japan, MDSAP (2018), Singapore HSA (2022)</a:t>
            </a:r>
            <a:endParaRPr lang="en-US" sz="950" dirty="0"/>
          </a:p>
          <a:p>
            <a:pPr marL="127000" indent="-127000">
              <a:spcAft>
                <a:spcPts val="300"/>
              </a:spcAft>
              <a:buSzPct val="100000"/>
              <a:buChar char="•"/>
            </a:pPr>
            <a:r>
              <a:rPr lang="en-US" sz="950" dirty="0">
                <a:solidFill>
                  <a:schemeClr val="bg1"/>
                </a:solidFill>
              </a:rPr>
              <a:t>Australian classification, sponsor and vigilance still apply</a:t>
            </a:r>
            <a:endParaRPr lang="en-US" sz="950" dirty="0"/>
          </a:p>
        </p:txBody>
      </p:sp>
      <p:sp>
        <p:nvSpPr>
          <p:cNvPr id="30" name="Card China"/>
          <p:cNvSpPr/>
          <p:nvPr/>
        </p:nvSpPr>
        <p:spPr>
          <a:xfrm>
            <a:off x="7302398" y="1572768"/>
            <a:ext cx="2086661" cy="3657600"/>
          </a:xfrm>
          <a:prstGeom prst="roundRect">
            <a:avLst>
              <a:gd name="adj" fmla="val 5259"/>
            </a:avLst>
          </a:prstGeom>
          <a:solidFill>
            <a:schemeClr val="bg1">
              <a:alpha val="10000"/>
            </a:schemeClr>
          </a:solidFill>
          <a:ln w="9525">
            <a:solidFill>
              <a:schemeClr val="accent6"/>
            </a:solidFill>
            <a:prstDash val="solid"/>
          </a:ln>
        </p:spPr>
      </p:sp>
      <p:pic>
        <p:nvPicPr>
          <p:cNvPr id="31" name="Image 3" descr="CN flag">    </p:cNvPr>
          <p:cNvPicPr>
            <a:picLocks noChangeAspect="1"/>
          </p:cNvPicPr>
          <p:nvPr/>
        </p:nvPicPr>
        <p:blipFill>
          <a:blip r:embed="rId4"/>
          <a:stretch>
            <a:fillRect/>
          </a:stretch>
        </p:blipFill>
        <p:spPr>
          <a:xfrm>
            <a:off x="7466990" y="1755648"/>
            <a:ext cx="548640" cy="365760"/>
          </a:xfrm>
          <a:prstGeom prst="rect">
            <a:avLst/>
          </a:prstGeom>
        </p:spPr>
      </p:pic>
      <p:sp>
        <p:nvSpPr>
          <p:cNvPr id="32" name="Text 25"/>
          <p:cNvSpPr txBox="1"/>
          <p:nvPr/>
        </p:nvSpPr>
        <p:spPr>
          <a:xfrm>
            <a:off x="8125358" y="1682496"/>
            <a:ext cx="1172261" cy="530352"/>
          </a:xfrm>
          <a:prstGeom prst="rect">
            <a:avLst/>
          </a:prstGeom>
          <a:noFill/>
          <a:ln/>
        </p:spPr>
        <p:txBody>
          <a:bodyPr wrap="square" lIns="0" tIns="0" rIns="0" bIns="0" rtlCol="0" anchor="ctr"/>
          <a:lstStyle/>
          <a:p>
            <a:pPr indent="0" marL="0">
              <a:buNone/>
            </a:pPr>
            <a:r>
              <a:rPr lang="en-US" sz="1300" b="1" dirty="0">
                <a:solidFill>
                  <a:schemeClr val="bg1"/>
                </a:solidFill>
              </a:rPr>
              <a:t>China</a:t>
            </a:r>
            <a:endParaRPr lang="en-US" sz="1400" dirty="0"/>
          </a:p>
          <a:p>
            <a:pPr indent="0" marL="0">
              <a:buNone/>
            </a:pPr>
            <a:r>
              <a:rPr lang="en-US" sz="1000" dirty="0">
                <a:solidFill>
                  <a:schemeClr val="accent6"/>
                </a:solidFill>
              </a:rPr>
              <a:t>NMPA</a:t>
            </a:r>
            <a:endParaRPr lang="en-US" sz="1400" dirty="0"/>
          </a:p>
        </p:txBody>
      </p:sp>
      <p:sp>
        <p:nvSpPr>
          <p:cNvPr id="33" name="Pill Local testing"/>
          <p:cNvSpPr/>
          <p:nvPr/>
        </p:nvSpPr>
        <p:spPr>
          <a:xfrm>
            <a:off x="7466990" y="2340864"/>
            <a:ext cx="1757477" cy="237744"/>
          </a:xfrm>
          <a:prstGeom prst="roundRect">
            <a:avLst>
              <a:gd name="adj" fmla="val 50000"/>
            </a:avLst>
          </a:prstGeom>
          <a:solidFill>
            <a:schemeClr val="accent3"/>
          </a:solidFill>
          <a:ln w="15875">
            <a:solidFill>
              <a:schemeClr val="accent3"/>
            </a:solidFill>
            <a:prstDash val="solid"/>
          </a:ln>
        </p:spPr>
      </p:sp>
      <p:sp>
        <p:nvSpPr>
          <p:cNvPr id="34" name="Text 27"/>
          <p:cNvSpPr txBox="1"/>
          <p:nvPr/>
        </p:nvSpPr>
        <p:spPr>
          <a:xfrm>
            <a:off x="7466990" y="2340864"/>
            <a:ext cx="1757477" cy="237744"/>
          </a:xfrm>
          <a:prstGeom prst="rect">
            <a:avLst/>
          </a:prstGeom>
          <a:noFill/>
          <a:ln/>
        </p:spPr>
        <p:txBody>
          <a:bodyPr wrap="square" lIns="0" tIns="0" rIns="0" bIns="0" rtlCol="0" anchor="ctr"/>
          <a:lstStyle/>
          <a:p>
            <a:pPr algn="ctr" indent="0" marL="0">
              <a:buNone/>
            </a:pPr>
            <a:r>
              <a:rPr lang="en-US" sz="900" b="1" dirty="0">
                <a:solidFill>
                  <a:schemeClr val="bg1"/>
                </a:solidFill>
              </a:rPr>
              <a:t>Local testing</a:t>
            </a:r>
            <a:endParaRPr lang="en-US" sz="900" dirty="0"/>
          </a:p>
        </p:txBody>
      </p:sp>
      <p:sp>
        <p:nvSpPr>
          <p:cNvPr id="35" name="Text 28"/>
          <p:cNvSpPr txBox="1"/>
          <p:nvPr/>
        </p:nvSpPr>
        <p:spPr>
          <a:xfrm>
            <a:off x="7466990" y="2688336"/>
            <a:ext cx="1775765" cy="2432304"/>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bg1"/>
                </a:solidFill>
              </a:rPr>
              <a:t>State Council Order 739, in force 1 Jun 2021; MAH regime</a:t>
            </a:r>
            <a:endParaRPr lang="en-US" sz="950" dirty="0"/>
          </a:p>
          <a:p>
            <a:pPr marL="127000" indent="-127000">
              <a:spcAft>
                <a:spcPts val="300"/>
              </a:spcAft>
              <a:buSzPct val="100000"/>
              <a:buChar char="•"/>
            </a:pPr>
            <a:r>
              <a:rPr lang="en-US" sz="950" dirty="0">
                <a:solidFill>
                  <a:schemeClr val="bg1"/>
                </a:solidFill>
              </a:rPr>
              <a:t>I: filing · II: provincial MPA registration · III: central NMPA; all imports via central NMPA</a:t>
            </a:r>
            <a:endParaRPr lang="en-US" sz="950" dirty="0"/>
          </a:p>
          <a:p>
            <a:pPr marL="127000" indent="-127000">
              <a:spcAft>
                <a:spcPts val="300"/>
              </a:spcAft>
              <a:buSzPct val="100000"/>
              <a:buChar char="•"/>
            </a:pPr>
            <a:r>
              <a:rPr lang="en-US" sz="950" dirty="0">
                <a:solidFill>
                  <a:schemeClr val="bg1"/>
                </a:solidFill>
              </a:rPr>
              <a:t>II/III: type testing at an NMPA-authorised centre; Class II review target 60 working days</a:t>
            </a:r>
            <a:endParaRPr lang="en-US" sz="950" dirty="0"/>
          </a:p>
          <a:p>
            <a:pPr marL="127000" indent="-127000">
              <a:spcAft>
                <a:spcPts val="300"/>
              </a:spcAft>
              <a:buSzPct val="100000"/>
              <a:buChar char="•"/>
            </a:pPr>
            <a:r>
              <a:rPr lang="en-US" sz="950" dirty="0">
                <a:solidFill>
                  <a:schemeClr val="bg1"/>
                </a:solidFill>
              </a:rPr>
              <a:t>Clinical evaluation unless on the exemption catalogue or shown equivalent</a:t>
            </a:r>
            <a:endParaRPr lang="en-US" sz="950" dirty="0"/>
          </a:p>
        </p:txBody>
      </p:sp>
      <p:sp>
        <p:nvSpPr>
          <p:cNvPr id="36" name="Card Canada"/>
          <p:cNvSpPr/>
          <p:nvPr/>
        </p:nvSpPr>
        <p:spPr>
          <a:xfrm>
            <a:off x="9553651" y="1572768"/>
            <a:ext cx="2086661" cy="3657600"/>
          </a:xfrm>
          <a:prstGeom prst="roundRect">
            <a:avLst>
              <a:gd name="adj" fmla="val 5259"/>
            </a:avLst>
          </a:prstGeom>
          <a:solidFill>
            <a:schemeClr val="bg1">
              <a:alpha val="10000"/>
            </a:schemeClr>
          </a:solidFill>
          <a:ln w="9525">
            <a:solidFill>
              <a:schemeClr val="accent6"/>
            </a:solidFill>
            <a:prstDash val="solid"/>
          </a:ln>
        </p:spPr>
      </p:sp>
      <p:pic>
        <p:nvPicPr>
          <p:cNvPr id="37" name="Image 4" descr="CA flag">    </p:cNvPr>
          <p:cNvPicPr>
            <a:picLocks noChangeAspect="1"/>
          </p:cNvPicPr>
          <p:nvPr/>
        </p:nvPicPr>
        <p:blipFill>
          <a:blip r:embed="rId5"/>
          <a:stretch>
            <a:fillRect/>
          </a:stretch>
        </p:blipFill>
        <p:spPr>
          <a:xfrm>
            <a:off x="9718243" y="1755648"/>
            <a:ext cx="548640" cy="365760"/>
          </a:xfrm>
          <a:prstGeom prst="rect">
            <a:avLst/>
          </a:prstGeom>
        </p:spPr>
      </p:pic>
      <p:sp>
        <p:nvSpPr>
          <p:cNvPr id="38" name="Text 30"/>
          <p:cNvSpPr txBox="1"/>
          <p:nvPr/>
        </p:nvSpPr>
        <p:spPr>
          <a:xfrm>
            <a:off x="10376611" y="1682496"/>
            <a:ext cx="1172261" cy="530352"/>
          </a:xfrm>
          <a:prstGeom prst="rect">
            <a:avLst/>
          </a:prstGeom>
          <a:noFill/>
          <a:ln/>
        </p:spPr>
        <p:txBody>
          <a:bodyPr wrap="square" lIns="0" tIns="0" rIns="0" bIns="0" rtlCol="0" anchor="ctr"/>
          <a:lstStyle/>
          <a:p>
            <a:pPr indent="0" marL="0">
              <a:buNone/>
            </a:pPr>
            <a:r>
              <a:rPr lang="en-US" sz="1300" b="1" dirty="0">
                <a:solidFill>
                  <a:schemeClr val="bg1"/>
                </a:solidFill>
              </a:rPr>
              <a:t>Canada</a:t>
            </a:r>
            <a:endParaRPr lang="en-US" sz="1400" dirty="0"/>
          </a:p>
          <a:p>
            <a:pPr indent="0" marL="0">
              <a:buNone/>
            </a:pPr>
            <a:r>
              <a:rPr lang="en-US" sz="1000" dirty="0">
                <a:solidFill>
                  <a:schemeClr val="accent6"/>
                </a:solidFill>
              </a:rPr>
              <a:t>Health Canada</a:t>
            </a:r>
            <a:endParaRPr lang="en-US" sz="1400" dirty="0"/>
          </a:p>
        </p:txBody>
      </p:sp>
      <p:sp>
        <p:nvSpPr>
          <p:cNvPr id="39" name="Pill Classes I–IV, MDSAP"/>
          <p:cNvSpPr/>
          <p:nvPr/>
        </p:nvSpPr>
        <p:spPr>
          <a:xfrm>
            <a:off x="9718243" y="2340864"/>
            <a:ext cx="1757477" cy="237744"/>
          </a:xfrm>
          <a:prstGeom prst="roundRect">
            <a:avLst>
              <a:gd name="adj" fmla="val 50000"/>
            </a:avLst>
          </a:prstGeom>
          <a:solidFill>
            <a:schemeClr val="accent1"/>
          </a:solidFill>
          <a:ln w="15875">
            <a:solidFill>
              <a:schemeClr val="accent1"/>
            </a:solidFill>
            <a:prstDash val="solid"/>
          </a:ln>
        </p:spPr>
      </p:sp>
      <p:sp>
        <p:nvSpPr>
          <p:cNvPr id="40" name="Text 32"/>
          <p:cNvSpPr txBox="1"/>
          <p:nvPr/>
        </p:nvSpPr>
        <p:spPr>
          <a:xfrm>
            <a:off x="9718243" y="2340864"/>
            <a:ext cx="1757477" cy="237744"/>
          </a:xfrm>
          <a:prstGeom prst="rect">
            <a:avLst/>
          </a:prstGeom>
          <a:noFill/>
          <a:ln/>
        </p:spPr>
        <p:txBody>
          <a:bodyPr wrap="square" lIns="0" tIns="0" rIns="0" bIns="0" rtlCol="0" anchor="ctr"/>
          <a:lstStyle/>
          <a:p>
            <a:pPr algn="ctr" indent="0" marL="0">
              <a:buNone/>
            </a:pPr>
            <a:r>
              <a:rPr lang="en-US" sz="900" b="1" dirty="0">
                <a:solidFill>
                  <a:schemeClr val="bg1"/>
                </a:solidFill>
              </a:rPr>
              <a:t>Classes I–IV, MDSAP</a:t>
            </a:r>
            <a:endParaRPr lang="en-US" sz="900" dirty="0"/>
          </a:p>
        </p:txBody>
      </p:sp>
      <p:sp>
        <p:nvSpPr>
          <p:cNvPr id="41" name="Text 33"/>
          <p:cNvSpPr txBox="1"/>
          <p:nvPr/>
        </p:nvSpPr>
        <p:spPr>
          <a:xfrm>
            <a:off x="9718243" y="2688336"/>
            <a:ext cx="1775765" cy="2432304"/>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bg1"/>
                </a:solidFill>
              </a:rPr>
              <a:t>Medical Devices Regulations SOR/98-282; Classes I–IV</a:t>
            </a:r>
            <a:endParaRPr lang="en-US" sz="950" dirty="0"/>
          </a:p>
          <a:p>
            <a:pPr marL="127000" indent="-127000">
              <a:spcAft>
                <a:spcPts val="300"/>
              </a:spcAft>
              <a:buSzPct val="100000"/>
              <a:buChar char="•"/>
            </a:pPr>
            <a:r>
              <a:rPr lang="en-US" sz="950" dirty="0">
                <a:solidFill>
                  <a:schemeClr val="bg1"/>
                </a:solidFill>
              </a:rPr>
              <a:t>I: establishment licence (MDEL) · II–IV: Medical Device Licence (MDL)</a:t>
            </a:r>
            <a:endParaRPr lang="en-US" sz="950" dirty="0"/>
          </a:p>
          <a:p>
            <a:pPr marL="127000" indent="-127000">
              <a:spcAft>
                <a:spcPts val="300"/>
              </a:spcAft>
              <a:buSzPct val="100000"/>
              <a:buChar char="•"/>
            </a:pPr>
            <a:r>
              <a:rPr lang="en-US" sz="950" dirty="0">
                <a:solidFill>
                  <a:schemeClr val="bg1"/>
                </a:solidFill>
              </a:rPr>
              <a:t>MDSAP certificate mandatory for II–IV: the sole QMS route since 2019</a:t>
            </a:r>
            <a:endParaRPr lang="en-US" sz="950" dirty="0"/>
          </a:p>
          <a:p>
            <a:pPr marL="127000" indent="-127000">
              <a:spcAft>
                <a:spcPts val="300"/>
              </a:spcAft>
              <a:buSzPct val="100000"/>
              <a:buChar char="•"/>
            </a:pPr>
            <a:r>
              <a:rPr lang="en-US" sz="950" dirty="0">
                <a:solidFill>
                  <a:schemeClr val="bg1"/>
                </a:solidFill>
              </a:rPr>
              <a:t>Since Jan 2026: REP + CESG electronic submissions</a:t>
            </a:r>
            <a:endParaRPr lang="en-US" sz="950" dirty="0"/>
          </a:p>
          <a:p>
            <a:pPr marL="127000" indent="-127000">
              <a:spcAft>
                <a:spcPts val="300"/>
              </a:spcAft>
              <a:buSzPct val="100000"/>
              <a:buChar char="•"/>
            </a:pPr>
            <a:r>
              <a:rPr lang="en-US" sz="950" dirty="0">
                <a:solidFill>
                  <a:schemeClr val="bg1"/>
                </a:solidFill>
              </a:rPr>
              <a:t>WHO-Listed Authority since Aug 2025</a:t>
            </a:r>
            <a:endParaRPr lang="en-US" sz="950" dirty="0"/>
          </a:p>
        </p:txBody>
      </p:sp>
      <p:sp>
        <p:nvSpPr>
          <p:cNvPr id="42" name="Callout"/>
          <p:cNvSpPr/>
          <p:nvPr/>
        </p:nvSpPr>
        <p:spPr>
          <a:xfrm>
            <a:off x="548640" y="5440680"/>
            <a:ext cx="5454396" cy="731520"/>
          </a:xfrm>
          <a:prstGeom prst="roundRect">
            <a:avLst>
              <a:gd name="adj" fmla="val 10000"/>
            </a:avLst>
          </a:prstGeom>
          <a:solidFill>
            <a:schemeClr val="accent1">
              <a:alpha val="20000"/>
            </a:schemeClr>
          </a:solidFill>
          <a:ln/>
        </p:spPr>
      </p:sp>
      <p:sp>
        <p:nvSpPr>
          <p:cNvPr id="43" name="Callout bar"/>
          <p:cNvSpPr/>
          <p:nvPr/>
        </p:nvSpPr>
        <p:spPr>
          <a:xfrm>
            <a:off x="548640" y="5532120"/>
            <a:ext cx="64008" cy="548640"/>
          </a:xfrm>
          <a:prstGeom prst="rect">
            <a:avLst/>
          </a:prstGeom>
          <a:solidFill>
            <a:schemeClr val="accent1"/>
          </a:solidFill>
          <a:ln/>
        </p:spPr>
      </p:sp>
      <p:sp>
        <p:nvSpPr>
          <p:cNvPr id="44" name="Text 36"/>
          <p:cNvSpPr txBox="1"/>
          <p:nvPr/>
        </p:nvSpPr>
        <p:spPr>
          <a:xfrm>
            <a:off x="822960" y="5440680"/>
            <a:ext cx="5042916" cy="731520"/>
          </a:xfrm>
          <a:prstGeom prst="rect">
            <a:avLst/>
          </a:prstGeom>
          <a:noFill/>
          <a:ln/>
        </p:spPr>
        <p:txBody>
          <a:bodyPr wrap="square" lIns="0" tIns="0" rIns="0" bIns="0" rtlCol="0" anchor="ctr"/>
          <a:lstStyle/>
          <a:p>
            <a:pPr indent="0" marL="0">
              <a:buNone/>
            </a:pPr>
            <a:r>
              <a:rPr lang="en-US" sz="1050" b="1" dirty="0">
                <a:solidFill>
                  <a:schemeClr val="bg1"/>
                </a:solidFill>
              </a:rPr>
              <a:t>What travels: </a:t>
            </a:r>
            <a:pPr indent="0" marL="0">
              <a:buNone/>
            </a:pPr>
            <a:r>
              <a:rPr lang="en-US" sz="1050" dirty="0">
                <a:solidFill>
                  <a:schemeClr val="bg1"/>
                </a:solidFill>
              </a:rPr>
              <a:t>an ISO 13485 QMS and an MDSAP audit · a CE certificate or FDA decision (TGA and MHRA accept them) · the clinical evaluation and the ISO 14971 risk file.</a:t>
            </a:r>
            <a:endParaRPr lang="en-US" sz="1050" dirty="0"/>
          </a:p>
        </p:txBody>
      </p:sp>
      <p:sp>
        <p:nvSpPr>
          <p:cNvPr id="45" name="Callout"/>
          <p:cNvSpPr/>
          <p:nvPr/>
        </p:nvSpPr>
        <p:spPr>
          <a:xfrm>
            <a:off x="6185916" y="5440680"/>
            <a:ext cx="5454396" cy="731520"/>
          </a:xfrm>
          <a:prstGeom prst="roundRect">
            <a:avLst>
              <a:gd name="adj" fmla="val 10000"/>
            </a:avLst>
          </a:prstGeom>
          <a:solidFill>
            <a:schemeClr val="accent3">
              <a:alpha val="20000"/>
            </a:schemeClr>
          </a:solidFill>
          <a:ln/>
        </p:spPr>
      </p:sp>
      <p:sp>
        <p:nvSpPr>
          <p:cNvPr id="46" name="Callout bar"/>
          <p:cNvSpPr/>
          <p:nvPr/>
        </p:nvSpPr>
        <p:spPr>
          <a:xfrm>
            <a:off x="6185916" y="5532120"/>
            <a:ext cx="64008" cy="548640"/>
          </a:xfrm>
          <a:prstGeom prst="rect">
            <a:avLst/>
          </a:prstGeom>
          <a:solidFill>
            <a:schemeClr val="accent3"/>
          </a:solidFill>
          <a:ln/>
        </p:spPr>
      </p:sp>
      <p:sp>
        <p:nvSpPr>
          <p:cNvPr id="47" name="Text 39"/>
          <p:cNvSpPr txBox="1"/>
          <p:nvPr/>
        </p:nvSpPr>
        <p:spPr>
          <a:xfrm>
            <a:off x="6460236" y="5440680"/>
            <a:ext cx="5042916" cy="731520"/>
          </a:xfrm>
          <a:prstGeom prst="rect">
            <a:avLst/>
          </a:prstGeom>
          <a:noFill/>
          <a:ln/>
        </p:spPr>
        <p:txBody>
          <a:bodyPr wrap="square" lIns="0" tIns="0" rIns="0" bIns="0" rtlCol="0" anchor="ctr"/>
          <a:lstStyle/>
          <a:p>
            <a:pPr indent="0" marL="0">
              <a:buNone/>
            </a:pPr>
            <a:r>
              <a:rPr lang="en-US" sz="1050" b="1" dirty="0">
                <a:solidFill>
                  <a:schemeClr val="bg1"/>
                </a:solidFill>
              </a:rPr>
              <a:t>What stays local: </a:t>
            </a:r>
            <a:pPr indent="0" marL="0">
              <a:buNone/>
            </a:pPr>
            <a:r>
              <a:rPr lang="en-US" sz="1050" dirty="0">
                <a:solidFill>
                  <a:schemeClr val="bg1"/>
                </a:solidFill>
              </a:rPr>
              <a:t>a sponsor or MAH in-country · classification under local rules · registration, labelling and vigilance reporting to that regulator.</a:t>
            </a:r>
            <a:endParaRPr lang="en-US" sz="10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ABROAD · SIDE BY SIDE</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India, USA and EU compared</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MDR-2017 Rules 4, 13, 20–23, 46 and Second Schedule; CDSCO fee file; 21 CFR 812/820; MDUFA FY2026; Reg. (EU) 2017/745; Team-NB 2025; EUDAMED 2026. Time and cost: reported ranges</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graphicFrame>
        <p:nvGraphicFramePr>
          <p:cNvPr id="45" name="Matrix"/>
          <p:cNvGraphicFramePr>
            <a:graphicFrameLocks noGrp="1"/>
          </p:cNvGraphicFramePr>
          <p:nvPr>
            <p:extLst>
              <p:ext uri="{D42A27DB-BD31-4B8C-83A1-F6EECF244321}">
                <p14:modId xmlns:p14="http://schemas.microsoft.com/office/powerpoint/2010/main" val="1579011935"/>
              </p:ext>
            </p:extLst>
          </p:nvPr>
        </p:nvGraphicFramePr>
        <p:xfrm>
          <a:off x="548640" y="1810512"/>
          <a:ext cx="11094415" cy="914400"/>
        </p:xfrm>
        <a:graphic>
          <a:graphicData uri="http://schemas.openxmlformats.org/drawingml/2006/table">
            <a:tbl>
              <a:tblPr/>
              <a:tblGrid>
                <a:gridCol w="1371600"/>
                <a:gridCol w="3017520"/>
                <a:gridCol w="2834640"/>
                <a:gridCol w="2971800"/>
                <a:gridCol w="896112"/>
              </a:tblGrid>
              <a:tr h="292608">
                <a:tc>
                  <a:txBody>
                    <a:bodyPr/>
                    <a:lstStyle/>
                    <a:p>
                      <a:pPr indent="0" marL="0">
                        <a:buNone/>
                      </a:pP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950" b="1" dirty="0">
                          <a:solidFill>
                            <a:srgbClr val="FFFFFF"/>
                          </a:solidFill>
                        </a:rPr>
                        <a:t>India · CDSCO</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950" b="1" dirty="0">
                          <a:solidFill>
                            <a:srgbClr val="FFFFFF"/>
                          </a:solidFill>
                        </a:rPr>
                        <a:t>USA · FDA</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950" b="1" dirty="0">
                          <a:solidFill>
                            <a:srgbClr val="FFFFFF"/>
                          </a:solidFill>
                        </a:rPr>
                        <a:t>EU · MDR 2017/745</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950" b="1" dirty="0">
                          <a:solidFill>
                            <a:srgbClr val="FFFFFF"/>
                          </a:solidFill>
                        </a:rPr>
                        <a:t>India is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r>
              <a:tr h="365760">
                <a:tc>
                  <a:txBody>
                    <a:bodyPr/>
                    <a:lstStyle/>
                    <a:p>
                      <a:pPr indent="0" marL="0">
                        <a:buNone/>
                      </a:pPr>
                      <a:r>
                        <a:rPr lang="en-US" sz="900" b="1" dirty="0">
                          <a:solidFill>
                            <a:srgbClr val="0E3B3D"/>
                          </a:solidFill>
                        </a:rPr>
                        <a:t>Law</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17262B"/>
                          </a:solidFill>
                        </a:rPr>
                        <a:t>Drugs and Cosmetics Act 1940; Medical Devices Rules 2017, in force 1 Jan 2018</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F1E3"/>
                    </a:solidFill>
                  </a:tcPr>
                </a:tc>
                <a:tc>
                  <a:txBody>
                    <a:bodyPr/>
                    <a:lstStyle/>
                    <a:p>
                      <a:pPr indent="0" marL="0">
                        <a:buNone/>
                      </a:pPr>
                      <a:r>
                        <a:rPr lang="en-US" sz="900" dirty="0">
                          <a:solidFill>
                            <a:srgbClr val="17262B"/>
                          </a:solidFill>
                        </a:rPr>
                        <a:t>21 CFR Part 812 (IDE studies) and Part 820 (QMSR); MDUFA user fees</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900" dirty="0">
                          <a:solidFill>
                            <a:srgbClr val="17262B"/>
                          </a:solidFill>
                        </a:rPr>
                        <a:t>Regulation (EU) 2017/745, amended by 2023/607 and 2024/1860</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F0EE"/>
                    </a:solidFill>
                  </a:tcPr>
                </a:tc>
                <a:tc>
                  <a:txBody>
                    <a:bodyPr/>
                    <a:lstStyle/>
                    <a:p>
                      <a:pPr algn="ctr" indent="0" marL="0">
                        <a:buNone/>
                      </a:pPr>
                      <a:r>
                        <a:rPr lang="en-US" sz="950" b="1" dirty="0">
                          <a:solidFill>
                            <a:srgbClr val="FFFFFF"/>
                          </a:solidFill>
                        </a:rPr>
                        <a:t>Similar</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accent1"/>
                    </a:solidFill>
                  </a:tcPr>
                </a:tc>
              </a:tr>
              <a:tr h="365760">
                <a:tc>
                  <a:txBody>
                    <a:bodyPr/>
                    <a:lstStyle/>
                    <a:p>
                      <a:pPr indent="0" marL="0">
                        <a:buNone/>
                      </a:pPr>
                      <a:r>
                        <a:rPr lang="en-US" sz="900" b="1" dirty="0">
                          <a:solidFill>
                            <a:srgbClr val="0E3B3D"/>
                          </a:solidFill>
                        </a:rPr>
                        <a:t>Regulator</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00" dirty="0">
                          <a:solidFill>
                            <a:srgbClr val="17262B"/>
                          </a:solidFill>
                        </a:rPr>
                        <a:t>CDSCO (Central Licensing Authority) for C, D and all imports; State Licensing Authorities for A, B</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DF7EE"/>
                    </a:solidFill>
                  </a:tcPr>
                </a:tc>
                <a:tc>
                  <a:txBody>
                    <a:bodyPr/>
                    <a:lstStyle/>
                    <a:p>
                      <a:pPr indent="0" marL="0">
                        <a:buNone/>
                      </a:pPr>
                      <a:r>
                        <a:rPr lang="en-US" sz="900" dirty="0">
                          <a:solidFill>
                            <a:srgbClr val="17262B"/>
                          </a:solidFill>
                        </a:rPr>
                        <a:t>FDA · CDRH, one federal agency</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1F4F8"/>
                    </a:solidFill>
                  </a:tcPr>
                </a:tc>
                <a:tc>
                  <a:txBody>
                    <a:bodyPr/>
                    <a:lstStyle/>
                    <a:p>
                      <a:pPr indent="0" marL="0">
                        <a:buNone/>
                      </a:pPr>
                      <a:r>
                        <a:rPr lang="en-US" sz="900" dirty="0">
                          <a:solidFill>
                            <a:srgbClr val="17262B"/>
                          </a:solidFill>
                        </a:rPr>
                        <a:t>National competent authorities plus ≈48 notified bodies (NANDO); EMA coordinating role proposed Dec 2025</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0F7F5"/>
                    </a:solidFill>
                  </a:tcPr>
                </a:tc>
                <a:tc>
                  <a:txBody>
                    <a:bodyPr/>
                    <a:lstStyle/>
                    <a:p>
                      <a:pPr algn="ctr" indent="0" marL="0">
                        <a:buNone/>
                      </a:pPr>
                      <a:r>
                        <a:rPr lang="en-US" sz="950" b="1" dirty="0">
                          <a:solidFill>
                            <a:srgbClr val="FFFFFF"/>
                          </a:solidFill>
                        </a:rPr>
                        <a:t>Similar</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accent1"/>
                    </a:solidFill>
                  </a:tcPr>
                </a:tc>
              </a:tr>
              <a:tr h="365760">
                <a:tc>
                  <a:txBody>
                    <a:bodyPr/>
                    <a:lstStyle/>
                    <a:p>
                      <a:pPr indent="0" marL="0">
                        <a:buNone/>
                      </a:pPr>
                      <a:r>
                        <a:rPr lang="en-US" sz="900" b="1" dirty="0">
                          <a:solidFill>
                            <a:srgbClr val="0E3B3D"/>
                          </a:solidFill>
                        </a:rPr>
                        <a:t>Classes</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17262B"/>
                          </a:solidFill>
                        </a:rPr>
                        <a:t>A · B · C · D: Rule 4, First Schedule (GHTF A–D)</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F1E3"/>
                    </a:solidFill>
                  </a:tcPr>
                </a:tc>
                <a:tc>
                  <a:txBody>
                    <a:bodyPr/>
                    <a:lstStyle/>
                    <a:p>
                      <a:pPr indent="0" marL="0">
                        <a:buNone/>
                      </a:pPr>
                      <a:r>
                        <a:rPr lang="en-US" sz="900" dirty="0">
                          <a:solidFill>
                            <a:srgbClr val="17262B"/>
                          </a:solidFill>
                        </a:rPr>
                        <a:t>I · II · III by product code; II spans GHTF B and C</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900" dirty="0">
                          <a:solidFill>
                            <a:srgbClr val="17262B"/>
                          </a:solidFill>
                        </a:rPr>
                        <a:t>I (Is, Im, Ir) · IIa · IIb · III: 22 rules, Annex VIII</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F0EE"/>
                    </a:solidFill>
                  </a:tcPr>
                </a:tc>
                <a:tc>
                  <a:txBody>
                    <a:bodyPr/>
                    <a:lstStyle/>
                    <a:p>
                      <a:pPr algn="ctr" indent="0" marL="0">
                        <a:buNone/>
                      </a:pPr>
                      <a:r>
                        <a:rPr lang="en-US" sz="950" b="1" dirty="0">
                          <a:solidFill>
                            <a:srgbClr val="FFFFFF"/>
                          </a:solidFill>
                        </a:rPr>
                        <a:t>Similar</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accent1"/>
                    </a:solidFill>
                  </a:tcPr>
                </a:tc>
              </a:tr>
              <a:tr h="365760">
                <a:tc>
                  <a:txBody>
                    <a:bodyPr/>
                    <a:lstStyle/>
                    <a:p>
                      <a:pPr indent="0" marL="0">
                        <a:buNone/>
                      </a:pPr>
                      <a:r>
                        <a:rPr lang="en-US" sz="900" b="1" dirty="0">
                          <a:solidFill>
                            <a:srgbClr val="0E3B3D"/>
                          </a:solidFill>
                        </a:rPr>
                        <a:t>Premarket route</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00" dirty="0">
                          <a:solidFill>
                            <a:srgbClr val="17262B"/>
                          </a:solidFill>
                        </a:rPr>
                        <a:t>A/B: MD-3 → MD-5 (SLA, notified-body audit); C/D: MD-7 → MD-9 (CLA); import: MD-14 → MD-15</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DF7EE"/>
                    </a:solidFill>
                  </a:tcPr>
                </a:tc>
                <a:tc>
                  <a:txBody>
                    <a:bodyPr/>
                    <a:lstStyle/>
                    <a:p>
                      <a:pPr indent="0" marL="0">
                        <a:buNone/>
                      </a:pPr>
                      <a:r>
                        <a:rPr lang="en-US" sz="900" dirty="0">
                          <a:solidFill>
                            <a:srgbClr val="17262B"/>
                          </a:solidFill>
                        </a:rPr>
                        <a:t>Class I mostly exempt; 510(k) · De Novo · PMA; Breakthrough designation</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1F4F8"/>
                    </a:solidFill>
                  </a:tcPr>
                </a:tc>
                <a:tc>
                  <a:txBody>
                    <a:bodyPr/>
                    <a:lstStyle/>
                    <a:p>
                      <a:pPr indent="0" marL="0">
                        <a:buNone/>
                      </a:pPr>
                      <a:r>
                        <a:rPr lang="en-US" sz="900" dirty="0">
                          <a:solidFill>
                            <a:srgbClr val="17262B"/>
                          </a:solidFill>
                        </a:rPr>
                        <a:t>Class I self-declaration; Is to III via a notified body → CE mark with NB number</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0F7F5"/>
                    </a:solidFill>
                  </a:tcPr>
                </a:tc>
                <a:tc>
                  <a:txBody>
                    <a:bodyPr/>
                    <a:lstStyle/>
                    <a:p>
                      <a:pPr algn="ctr" indent="0" marL="0">
                        <a:buNone/>
                      </a:pPr>
                      <a:r>
                        <a:rPr lang="en-US" sz="950" b="1" dirty="0">
                          <a:solidFill>
                            <a:srgbClr val="FFFFFF"/>
                          </a:solidFill>
                        </a:rPr>
                        <a:t>Lighter</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C9D6A"/>
                    </a:solidFill>
                  </a:tcPr>
                </a:tc>
              </a:tr>
              <a:tr h="365760">
                <a:tc>
                  <a:txBody>
                    <a:bodyPr/>
                    <a:lstStyle/>
                    <a:p>
                      <a:pPr indent="0" marL="0">
                        <a:buNone/>
                      </a:pPr>
                      <a:r>
                        <a:rPr lang="en-US" sz="900" b="1" dirty="0">
                          <a:solidFill>
                            <a:srgbClr val="0E3B3D"/>
                          </a:solidFill>
                        </a:rPr>
                        <a:t>Clinical evidence</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17262B"/>
                          </a:solidFill>
                        </a:rPr>
                        <a:t>Test licence MD-12 → MD-13 for study units; investigation permission MD-22 → MD-23 plus a registered ethics committee</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F1E3"/>
                    </a:solidFill>
                  </a:tcPr>
                </a:tc>
                <a:tc>
                  <a:txBody>
                    <a:bodyPr/>
                    <a:lstStyle/>
                    <a:p>
                      <a:pPr indent="0" marL="0">
                        <a:buNone/>
                      </a:pPr>
                      <a:r>
                        <a:rPr lang="en-US" sz="900" dirty="0">
                          <a:solidFill>
                            <a:srgbClr val="17262B"/>
                          </a:solidFill>
                        </a:rPr>
                        <a:t>IDE (21 CFR 812) for significant-risk studies, IRB decides; PMA expects clinical data</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900" dirty="0">
                          <a:solidFill>
                            <a:srgbClr val="17262B"/>
                          </a:solidFill>
                        </a:rPr>
                        <a:t>Clinical evaluation for every device (Art. 61), kept current by PMCF (Annex XIV Part B)</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F0EE"/>
                    </a:solidFill>
                  </a:tcPr>
                </a:tc>
                <a:tc>
                  <a:txBody>
                    <a:bodyPr/>
                    <a:lstStyle/>
                    <a:p>
                      <a:pPr algn="ctr" indent="0" marL="0">
                        <a:buNone/>
                      </a:pPr>
                      <a:r>
                        <a:rPr lang="en-US" sz="950" b="1" dirty="0">
                          <a:solidFill>
                            <a:srgbClr val="FFFFFF"/>
                          </a:solidFill>
                        </a:rPr>
                        <a:t>Heavier</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accent2"/>
                    </a:solidFill>
                  </a:tcPr>
                </a:tc>
              </a:tr>
              <a:tr h="365760">
                <a:tc>
                  <a:txBody>
                    <a:bodyPr/>
                    <a:lstStyle/>
                    <a:p>
                      <a:pPr indent="0" marL="0">
                        <a:buNone/>
                      </a:pPr>
                      <a:r>
                        <a:rPr lang="en-US" sz="900" b="1" dirty="0">
                          <a:solidFill>
                            <a:srgbClr val="0E3B3D"/>
                          </a:solidFill>
                        </a:rPr>
                        <a:t>QMS standard</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00" dirty="0">
                          <a:solidFill>
                            <a:srgbClr val="17262B"/>
                          </a:solidFill>
                        </a:rPr>
                        <a:t>Fifth Schedule QMS (ISO 13485-aligned)</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DF7EE"/>
                    </a:solidFill>
                  </a:tcPr>
                </a:tc>
                <a:tc>
                  <a:txBody>
                    <a:bodyPr/>
                    <a:lstStyle/>
                    <a:p>
                      <a:pPr indent="0" marL="0">
                        <a:buNone/>
                      </a:pPr>
                      <a:r>
                        <a:rPr lang="en-US" sz="900" dirty="0">
                          <a:solidFill>
                            <a:srgbClr val="17262B"/>
                          </a:solidFill>
                        </a:rPr>
                        <a:t>QMSR: 21 CFR 820 incorporates ISO 13485:2016, from 2 Feb 2026</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1F4F8"/>
                    </a:solidFill>
                  </a:tcPr>
                </a:tc>
                <a:tc>
                  <a:txBody>
                    <a:bodyPr/>
                    <a:lstStyle/>
                    <a:p>
                      <a:pPr indent="0" marL="0">
                        <a:buNone/>
                      </a:pPr>
                      <a:r>
                        <a:rPr lang="en-US" sz="900" dirty="0">
                          <a:solidFill>
                            <a:srgbClr val="17262B"/>
                          </a:solidFill>
                        </a:rPr>
                        <a:t>ISO 13485:2016; QMS certified by the notified body</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0F7F5"/>
                    </a:solidFill>
                  </a:tcPr>
                </a:tc>
                <a:tc>
                  <a:txBody>
                    <a:bodyPr/>
                    <a:lstStyle/>
                    <a:p>
                      <a:pPr algn="ctr" indent="0" marL="0">
                        <a:buNone/>
                      </a:pPr>
                      <a:r>
                        <a:rPr lang="en-US" sz="950" b="1" dirty="0">
                          <a:solidFill>
                            <a:srgbClr val="FFFFFF"/>
                          </a:solidFill>
                        </a:rPr>
                        <a:t>Similar</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accent1"/>
                    </a:solidFill>
                  </a:tcPr>
                </a:tc>
              </a:tr>
              <a:tr h="365760">
                <a:tc>
                  <a:txBody>
                    <a:bodyPr/>
                    <a:lstStyle/>
                    <a:p>
                      <a:pPr indent="0" marL="0">
                        <a:buNone/>
                      </a:pPr>
                      <a:r>
                        <a:rPr lang="en-US" sz="900" b="1" dirty="0">
                          <a:solidFill>
                            <a:srgbClr val="0E3B3D"/>
                          </a:solidFill>
                        </a:rPr>
                        <a:t>Audit body</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17262B"/>
                          </a:solidFill>
                        </a:rPr>
                        <a:t>NABCB-accredited notified bodies audit A/B sites; CDSCO Medical Device Officers inspect C/D</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F1E3"/>
                    </a:solidFill>
                  </a:tcPr>
                </a:tc>
                <a:tc>
                  <a:txBody>
                    <a:bodyPr/>
                    <a:lstStyle/>
                    <a:p>
                      <a:pPr indent="0" marL="0">
                        <a:buNone/>
                      </a:pPr>
                      <a:r>
                        <a:rPr lang="en-US" sz="900" dirty="0">
                          <a:solidFill>
                            <a:srgbClr val="17262B"/>
                          </a:solidFill>
                        </a:rPr>
                        <a:t>FDA inspection (Compliance Program 7382.850) or an MDSAP audit</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900" dirty="0">
                          <a:solidFill>
                            <a:srgbClr val="17262B"/>
                          </a:solidFill>
                        </a:rPr>
                        <a:t>Notified body audit and surveillance; EUDAMED actor registration (SRN)</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F0EE"/>
                    </a:solidFill>
                  </a:tcPr>
                </a:tc>
                <a:tc>
                  <a:txBody>
                    <a:bodyPr/>
                    <a:lstStyle/>
                    <a:p>
                      <a:pPr algn="ctr" indent="0" marL="0">
                        <a:buNone/>
                      </a:pPr>
                      <a:r>
                        <a:rPr lang="en-US" sz="950" b="1" dirty="0">
                          <a:solidFill>
                            <a:srgbClr val="FFFFFF"/>
                          </a:solidFill>
                        </a:rPr>
                        <a:t>Similar</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accent1"/>
                    </a:solidFill>
                  </a:tcPr>
                </a:tc>
              </a:tr>
              <a:tr h="365760">
                <a:tc>
                  <a:txBody>
                    <a:bodyPr/>
                    <a:lstStyle/>
                    <a:p>
                      <a:pPr indent="0" marL="0">
                        <a:buNone/>
                      </a:pPr>
                      <a:r>
                        <a:rPr lang="en-US" sz="900" b="1" dirty="0">
                          <a:solidFill>
                            <a:srgbClr val="0E3B3D"/>
                          </a:solidFill>
                        </a:rPr>
                        <a:t>UDI</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00" dirty="0">
                          <a:solidFill>
                            <a:srgbClr val="17262B"/>
                          </a:solidFill>
                        </a:rPr>
                        <a:t>Rule 46 deferred "till further orders" (G.S.R. 918(E), 31 Dec 2021)</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DF7EE"/>
                    </a:solidFill>
                  </a:tcPr>
                </a:tc>
                <a:tc>
                  <a:txBody>
                    <a:bodyPr/>
                    <a:lstStyle/>
                    <a:p>
                      <a:pPr indent="0" marL="0">
                        <a:buNone/>
                      </a:pPr>
                      <a:r>
                        <a:rPr lang="en-US" sz="900" dirty="0">
                          <a:solidFill>
                            <a:srgbClr val="17262B"/>
                          </a:solidFill>
                        </a:rPr>
                        <a:t>UDI on labels, records in GUDID; Class I consumer devices added 2022</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1F4F8"/>
                    </a:solidFill>
                  </a:tcPr>
                </a:tc>
                <a:tc>
                  <a:txBody>
                    <a:bodyPr/>
                    <a:lstStyle/>
                    <a:p>
                      <a:pPr indent="0" marL="0">
                        <a:buNone/>
                      </a:pPr>
                      <a:r>
                        <a:rPr lang="en-US" sz="900" dirty="0">
                          <a:solidFill>
                            <a:srgbClr val="17262B"/>
                          </a:solidFill>
                        </a:rPr>
                        <a:t>UDI and device registration in EUDAMED, mandatory from 28 May 2026</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0F7F5"/>
                    </a:solidFill>
                  </a:tcPr>
                </a:tc>
                <a:tc>
                  <a:txBody>
                    <a:bodyPr/>
                    <a:lstStyle/>
                    <a:p>
                      <a:pPr algn="ctr" indent="0" marL="0">
                        <a:buNone/>
                      </a:pPr>
                      <a:r>
                        <a:rPr lang="en-US" sz="950" b="1" dirty="0">
                          <a:solidFill>
                            <a:srgbClr val="FFFFFF"/>
                          </a:solidFill>
                        </a:rPr>
                        <a:t>Lighter</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C9D6A"/>
                    </a:solidFill>
                  </a:tcPr>
                </a:tc>
              </a:tr>
              <a:tr h="365760">
                <a:tc>
                  <a:txBody>
                    <a:bodyPr/>
                    <a:lstStyle/>
                    <a:p>
                      <a:pPr indent="0" marL="0">
                        <a:buNone/>
                      </a:pPr>
                      <a:r>
                        <a:rPr lang="en-US" sz="900" b="1" dirty="0">
                          <a:solidFill>
                            <a:srgbClr val="0E3B3D"/>
                          </a:solidFill>
                        </a:rPr>
                        <a:t>Post-market</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17262B"/>
                          </a:solidFill>
                        </a:rPr>
                        <a:t>PSUR six-monthly for 2 years then yearly for 2; MvPI adverse-event reporting (IPC, since 2015)</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F1E3"/>
                    </a:solidFill>
                  </a:tcPr>
                </a:tc>
                <a:tc>
                  <a:txBody>
                    <a:bodyPr/>
                    <a:lstStyle/>
                    <a:p>
                      <a:pPr indent="0" marL="0">
                        <a:buNone/>
                      </a:pPr>
                      <a:r>
                        <a:rPr lang="en-US" sz="900" dirty="0">
                          <a:solidFill>
                            <a:srgbClr val="17262B"/>
                          </a:solidFill>
                        </a:rPr>
                        <a:t>Adverse events into MAUDE; recall database; UDI expected in recall notices</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900" dirty="0">
                          <a:solidFill>
                            <a:srgbClr val="17262B"/>
                          </a:solidFill>
                        </a:rPr>
                        <a:t>Vigilance reporting; PMCF keeps the clinical evaluation current; EUDAMED surveillance module</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F0EE"/>
                    </a:solidFill>
                  </a:tcPr>
                </a:tc>
                <a:tc>
                  <a:txBody>
                    <a:bodyPr/>
                    <a:lstStyle/>
                    <a:p>
                      <a:pPr algn="ctr" indent="0" marL="0">
                        <a:buNone/>
                      </a:pPr>
                      <a:r>
                        <a:rPr lang="en-US" sz="950" b="1" dirty="0">
                          <a:solidFill>
                            <a:srgbClr val="FFFFFF"/>
                          </a:solidFill>
                        </a:rPr>
                        <a:t>Similar</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accent1"/>
                    </a:solidFill>
                  </a:tcPr>
                </a:tc>
              </a:tr>
              <a:tr h="365760">
                <a:tc>
                  <a:txBody>
                    <a:bodyPr/>
                    <a:lstStyle/>
                    <a:p>
                      <a:pPr indent="0" marL="0">
                        <a:buNone/>
                      </a:pPr>
                      <a:r>
                        <a:rPr lang="en-US" sz="900" b="1" dirty="0">
                          <a:solidFill>
                            <a:srgbClr val="0E3B3D"/>
                          </a:solidFill>
                        </a:rPr>
                        <a:t>Time (reported ranges)</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00" dirty="0">
                          <a:solidFill>
                            <a:srgbClr val="17262B"/>
                          </a:solidFill>
                        </a:rPr>
                        <a:t>A: licence ≤45 days; B: up to 140 days; C/D: 105–150 days; import ≤9 months</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DF7EE"/>
                    </a:solidFill>
                  </a:tcPr>
                </a:tc>
                <a:tc>
                  <a:txBody>
                    <a:bodyPr/>
                    <a:lstStyle/>
                    <a:p>
                      <a:pPr indent="0" marL="0">
                        <a:buNone/>
                      </a:pPr>
                      <a:r>
                        <a:rPr lang="en-US" sz="900" dirty="0">
                          <a:solidFill>
                            <a:srgbClr val="17262B"/>
                          </a:solidFill>
                        </a:rPr>
                        <a:t>510(k): 90 FDA-day goal, 127–159 calendar days historically; PMA: 285-day goal</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1F4F8"/>
                    </a:solidFill>
                  </a:tcPr>
                </a:tc>
                <a:tc>
                  <a:txBody>
                    <a:bodyPr/>
                    <a:lstStyle/>
                    <a:p>
                      <a:pPr indent="0" marL="0">
                        <a:buNone/>
                      </a:pPr>
                      <a:r>
                        <a:rPr lang="en-US" sz="900" dirty="0">
                          <a:solidFill>
                            <a:srgbClr val="17262B"/>
                          </a:solidFill>
                        </a:rPr>
                        <a:t>Certificate in 13–18 months typical; 6–12 months for QMS-only (Team-NB 2025)</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0F7F5"/>
                    </a:solidFill>
                  </a:tcPr>
                </a:tc>
                <a:tc>
                  <a:txBody>
                    <a:bodyPr/>
                    <a:lstStyle/>
                    <a:p>
                      <a:pPr algn="ctr" indent="0" marL="0">
                        <a:buNone/>
                      </a:pPr>
                      <a:r>
                        <a:rPr lang="en-US" sz="950" b="1" dirty="0">
                          <a:solidFill>
                            <a:srgbClr val="FFFFFF"/>
                          </a:solidFill>
                        </a:rPr>
                        <a:t>Lighter</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C9D6A"/>
                    </a:solidFill>
                  </a:tcPr>
                </a:tc>
              </a:tr>
              <a:tr h="365760">
                <a:tc>
                  <a:txBody>
                    <a:bodyPr/>
                    <a:lstStyle/>
                    <a:p>
                      <a:pPr indent="0" marL="0">
                        <a:buNone/>
                      </a:pPr>
                      <a:r>
                        <a:rPr lang="en-US" sz="900" b="1" dirty="0">
                          <a:solidFill>
                            <a:srgbClr val="0E3B3D"/>
                          </a:solidFill>
                        </a:rPr>
                        <a:t>Cost (reported ranges)</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17262B"/>
                          </a:solidFill>
                        </a:rPr>
                        <a:t>A/B ₹5,000 per site + ₹500 per device; C/D ₹50,000 + ₹1,000; import US$1,000–3,000 per site + $50–1,500 per device</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F1E3"/>
                    </a:solidFill>
                  </a:tcPr>
                </a:tc>
                <a:tc>
                  <a:txBody>
                    <a:bodyPr/>
                    <a:lstStyle/>
                    <a:p>
                      <a:pPr indent="0" marL="0">
                        <a:buNone/>
                      </a:pPr>
                      <a:r>
                        <a:rPr lang="en-US" sz="900" dirty="0">
                          <a:solidFill>
                            <a:srgbClr val="17262B"/>
                          </a:solidFill>
                        </a:rPr>
                        <a:t>510(k) $26,067 (small $6,517); De Novo $173,782; PMA $579,272; + $11,423 a year</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900" dirty="0">
                          <a:solidFill>
                            <a:srgbClr val="17262B"/>
                          </a:solidFill>
                        </a:rPr>
                        <a:t>No public tariff; notified-body quotes vary, reported order of magnitude tens of thousands of euros</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F0EE"/>
                    </a:solidFill>
                  </a:tcPr>
                </a:tc>
                <a:tc>
                  <a:txBody>
                    <a:bodyPr/>
                    <a:lstStyle/>
                    <a:p>
                      <a:pPr algn="ctr" indent="0" marL="0">
                        <a:buNone/>
                      </a:pPr>
                      <a:r>
                        <a:rPr lang="en-US" sz="950" b="1" dirty="0">
                          <a:solidFill>
                            <a:srgbClr val="FFFFFF"/>
                          </a:solidFill>
                        </a:rPr>
                        <a:t>Lighter</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C9D6A"/>
                    </a:solidFill>
                  </a:tcPr>
                </a:tc>
              </a:tr>
            </a:tbl>
          </a:graphicData>
        </a:graphic>
      </p:graphicFrame>
      <p:pic>
        <p:nvPicPr>
          <p:cNvPr id="13" name="Image 0" descr="IN flag">    </p:cNvPr>
          <p:cNvPicPr>
            <a:picLocks noChangeAspect="1"/>
          </p:cNvPicPr>
          <p:nvPr/>
        </p:nvPicPr>
        <p:blipFill>
          <a:blip r:embed="rId1"/>
          <a:stretch>
            <a:fillRect/>
          </a:stretch>
        </p:blipFill>
        <p:spPr>
          <a:xfrm>
            <a:off x="3182112" y="1435608"/>
            <a:ext cx="493776" cy="329184"/>
          </a:xfrm>
          <a:prstGeom prst="rect">
            <a:avLst/>
          </a:prstGeom>
        </p:spPr>
      </p:pic>
      <p:pic>
        <p:nvPicPr>
          <p:cNvPr id="14" name="Image 1" descr="US flag">    </p:cNvPr>
          <p:cNvPicPr>
            <a:picLocks noChangeAspect="1"/>
          </p:cNvPicPr>
          <p:nvPr/>
        </p:nvPicPr>
        <p:blipFill>
          <a:blip r:embed="rId2"/>
          <a:stretch>
            <a:fillRect/>
          </a:stretch>
        </p:blipFill>
        <p:spPr>
          <a:xfrm>
            <a:off x="6108192" y="1435608"/>
            <a:ext cx="493776" cy="329184"/>
          </a:xfrm>
          <a:prstGeom prst="rect">
            <a:avLst/>
          </a:prstGeom>
        </p:spPr>
      </p:pic>
      <p:pic>
        <p:nvPicPr>
          <p:cNvPr id="15" name="Image 2" descr="EU flag">    </p:cNvPr>
          <p:cNvPicPr>
            <a:picLocks noChangeAspect="1"/>
          </p:cNvPicPr>
          <p:nvPr/>
        </p:nvPicPr>
        <p:blipFill>
          <a:blip r:embed="rId3"/>
          <a:stretch>
            <a:fillRect/>
          </a:stretch>
        </p:blipFill>
        <p:spPr>
          <a:xfrm>
            <a:off x="9011412" y="1435608"/>
            <a:ext cx="493776" cy="329184"/>
          </a:xfrm>
          <a:prstGeom prst="rect">
            <a:avLst/>
          </a:prstGeom>
        </p:spPr>
      </p:pic>
      <p:sp>
        <p:nvSpPr>
          <p:cNvPr id="16" name="Text 9"/>
          <p:cNvSpPr txBox="1"/>
          <p:nvPr/>
        </p:nvSpPr>
        <p:spPr>
          <a:xfrm>
            <a:off x="9646920" y="1490472"/>
            <a:ext cx="2011680" cy="256032"/>
          </a:xfrm>
          <a:prstGeom prst="rect">
            <a:avLst/>
          </a:prstGeom>
          <a:noFill/>
          <a:ln/>
        </p:spPr>
        <p:txBody>
          <a:bodyPr wrap="square" lIns="0" tIns="0" rIns="0" bIns="0" rtlCol="0" anchor="t"/>
          <a:lstStyle/>
          <a:p>
            <a:pPr algn="r" indent="0" marL="0">
              <a:buNone/>
            </a:pPr>
            <a:r>
              <a:rPr lang="en-US" sz="800" i="1" dirty="0">
                <a:solidFill>
                  <a:schemeClr val="accent5"/>
                </a:solidFill>
              </a:rPr>
              <a:t>Similar · Lighter · Heavier: presenter's reading</a:t>
            </a:r>
            <a:endParaRPr lang="en-US" sz="8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ABROAD · WHAT TRAVELS</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One dossier, many markets</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ISO 13485 review (Oct 2025); ISO 14971:2019; ISO 14155:2026; IEC 60601-1 A2:2020; IEC 62304 ed. 2 (forecast); IEC 81001-5-1; TGA and MHRA reliance; MDSAP; WHO WLA</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sp>
        <p:nvSpPr>
          <p:cNvPr id="12" name="Card ISO 13485:2016"/>
          <p:cNvSpPr/>
          <p:nvPr/>
        </p:nvSpPr>
        <p:spPr>
          <a:xfrm>
            <a:off x="548640" y="1554480"/>
            <a:ext cx="2650160" cy="1175004"/>
          </a:xfrm>
          <a:prstGeom prst="roundRect">
            <a:avLst>
              <a:gd name="adj" fmla="val 9339"/>
            </a:avLst>
          </a:prstGeom>
          <a:solidFill>
            <a:schemeClr val="bg1">
              <a:alpha val="10000"/>
            </a:schemeClr>
          </a:solidFill>
          <a:ln w="9525">
            <a:solidFill>
              <a:schemeClr val="accent6"/>
            </a:solidFill>
            <a:prstDash val="solid"/>
          </a:ln>
        </p:spPr>
      </p:sp>
      <p:sp>
        <p:nvSpPr>
          <p:cNvPr id="13" name="Icon disc LuClipboardCheck"/>
          <p:cNvSpPr/>
          <p:nvPr/>
        </p:nvSpPr>
        <p:spPr>
          <a:xfrm>
            <a:off x="731520" y="1737360"/>
            <a:ext cx="329184" cy="329184"/>
          </a:xfrm>
          <a:prstGeom prst="ellipse">
            <a:avLst/>
          </a:prstGeom>
          <a:solidFill>
            <a:schemeClr val="accent1"/>
          </a:solidFill>
          <a:ln/>
        </p:spPr>
      </p:sp>
      <p:pic>
        <p:nvPicPr>
          <p:cNvPr id="14" name="Image 0" descr="ClipboardCheck icon">    </p:cNvPr>
          <p:cNvPicPr>
            <a:picLocks noChangeAspect="1"/>
          </p:cNvPicPr>
          <p:nvPr/>
        </p:nvPicPr>
        <p:blipFill>
          <a:blip r:embed="rId1"/>
          <a:stretch>
            <a:fillRect/>
          </a:stretch>
        </p:blipFill>
        <p:spPr>
          <a:xfrm>
            <a:off x="803940" y="1809780"/>
            <a:ext cx="184343" cy="184343"/>
          </a:xfrm>
          <a:prstGeom prst="rect">
            <a:avLst/>
          </a:prstGeom>
        </p:spPr>
      </p:pic>
      <p:sp>
        <p:nvSpPr>
          <p:cNvPr id="15" name="Text 11"/>
          <p:cNvSpPr txBox="1"/>
          <p:nvPr/>
        </p:nvSpPr>
        <p:spPr>
          <a:xfrm>
            <a:off x="1197864" y="1737360"/>
            <a:ext cx="1818056" cy="329184"/>
          </a:xfrm>
          <a:prstGeom prst="rect">
            <a:avLst/>
          </a:prstGeom>
          <a:noFill/>
          <a:ln/>
        </p:spPr>
        <p:txBody>
          <a:bodyPr wrap="square" lIns="0" tIns="0" rIns="0" bIns="0" rtlCol="0" anchor="ctr"/>
          <a:lstStyle/>
          <a:p>
            <a:pPr indent="0" marL="0">
              <a:buNone/>
            </a:pPr>
            <a:r>
              <a:rPr lang="en-US" sz="1150" b="1" dirty="0">
                <a:solidFill>
                  <a:schemeClr val="bg1"/>
                </a:solidFill>
              </a:rPr>
              <a:t>ISO 13485:2016</a:t>
            </a:r>
            <a:endParaRPr lang="en-US" sz="1150" dirty="0"/>
          </a:p>
        </p:txBody>
      </p:sp>
      <p:sp>
        <p:nvSpPr>
          <p:cNvPr id="16" name="Text 12"/>
          <p:cNvSpPr txBox="1"/>
          <p:nvPr/>
        </p:nvSpPr>
        <p:spPr>
          <a:xfrm>
            <a:off x="731520" y="2176272"/>
            <a:ext cx="2284400" cy="388620"/>
          </a:xfrm>
          <a:prstGeom prst="rect">
            <a:avLst/>
          </a:prstGeom>
          <a:noFill/>
          <a:ln/>
        </p:spPr>
        <p:txBody>
          <a:bodyPr wrap="square" lIns="0" tIns="0" rIns="0" bIns="0" rtlCol="0" anchor="t"/>
          <a:lstStyle/>
          <a:p>
            <a:pPr indent="0" marL="0">
              <a:spcAft>
                <a:spcPts val="300"/>
              </a:spcAft>
              <a:buNone/>
            </a:pPr>
            <a:r>
              <a:rPr lang="en-US" sz="950" dirty="0">
                <a:solidFill>
                  <a:schemeClr val="accent6"/>
                </a:solidFill>
              </a:rPr>
              <a:t>Quality management. Reconfirmed 31 Oct 2025; basis of FDA QMSR, MDSAP and India's Fifth Schedule</a:t>
            </a:r>
            <a:endParaRPr lang="en-US" sz="950" dirty="0"/>
          </a:p>
        </p:txBody>
      </p:sp>
      <p:sp>
        <p:nvSpPr>
          <p:cNvPr id="17" name="Card ISO 14971:2019"/>
          <p:cNvSpPr/>
          <p:nvPr/>
        </p:nvSpPr>
        <p:spPr>
          <a:xfrm>
            <a:off x="3363392" y="1554480"/>
            <a:ext cx="2650160" cy="1175004"/>
          </a:xfrm>
          <a:prstGeom prst="roundRect">
            <a:avLst>
              <a:gd name="adj" fmla="val 9339"/>
            </a:avLst>
          </a:prstGeom>
          <a:solidFill>
            <a:schemeClr val="bg1">
              <a:alpha val="10000"/>
            </a:schemeClr>
          </a:solidFill>
          <a:ln w="9525">
            <a:solidFill>
              <a:schemeClr val="accent6"/>
            </a:solidFill>
            <a:prstDash val="solid"/>
          </a:ln>
        </p:spPr>
      </p:sp>
      <p:sp>
        <p:nvSpPr>
          <p:cNvPr id="18" name="Icon disc LuShieldAlert"/>
          <p:cNvSpPr/>
          <p:nvPr/>
        </p:nvSpPr>
        <p:spPr>
          <a:xfrm>
            <a:off x="3546272" y="1737360"/>
            <a:ext cx="329184" cy="329184"/>
          </a:xfrm>
          <a:prstGeom prst="ellipse">
            <a:avLst/>
          </a:prstGeom>
          <a:solidFill>
            <a:schemeClr val="accent1"/>
          </a:solidFill>
          <a:ln/>
        </p:spPr>
      </p:sp>
      <p:pic>
        <p:nvPicPr>
          <p:cNvPr id="19" name="Image 1" descr="ShieldAlert icon">    </p:cNvPr>
          <p:cNvPicPr>
            <a:picLocks noChangeAspect="1"/>
          </p:cNvPicPr>
          <p:nvPr/>
        </p:nvPicPr>
        <p:blipFill>
          <a:blip r:embed="rId2"/>
          <a:stretch>
            <a:fillRect/>
          </a:stretch>
        </p:blipFill>
        <p:spPr>
          <a:xfrm>
            <a:off x="3618692" y="1809780"/>
            <a:ext cx="184343" cy="184343"/>
          </a:xfrm>
          <a:prstGeom prst="rect">
            <a:avLst/>
          </a:prstGeom>
        </p:spPr>
      </p:pic>
      <p:sp>
        <p:nvSpPr>
          <p:cNvPr id="20" name="Text 15"/>
          <p:cNvSpPr txBox="1"/>
          <p:nvPr/>
        </p:nvSpPr>
        <p:spPr>
          <a:xfrm>
            <a:off x="4012616" y="1737360"/>
            <a:ext cx="1818056" cy="329184"/>
          </a:xfrm>
          <a:prstGeom prst="rect">
            <a:avLst/>
          </a:prstGeom>
          <a:noFill/>
          <a:ln/>
        </p:spPr>
        <p:txBody>
          <a:bodyPr wrap="square" lIns="0" tIns="0" rIns="0" bIns="0" rtlCol="0" anchor="ctr"/>
          <a:lstStyle/>
          <a:p>
            <a:pPr indent="0" marL="0">
              <a:buNone/>
            </a:pPr>
            <a:r>
              <a:rPr lang="en-US" sz="1150" b="1" dirty="0">
                <a:solidFill>
                  <a:schemeClr val="bg1"/>
                </a:solidFill>
              </a:rPr>
              <a:t>ISO 14971:2019</a:t>
            </a:r>
            <a:endParaRPr lang="en-US" sz="1150" dirty="0"/>
          </a:p>
        </p:txBody>
      </p:sp>
      <p:sp>
        <p:nvSpPr>
          <p:cNvPr id="21" name="Text 16"/>
          <p:cNvSpPr txBox="1"/>
          <p:nvPr/>
        </p:nvSpPr>
        <p:spPr>
          <a:xfrm>
            <a:off x="3546272" y="2176272"/>
            <a:ext cx="2284400" cy="388620"/>
          </a:xfrm>
          <a:prstGeom prst="rect">
            <a:avLst/>
          </a:prstGeom>
          <a:noFill/>
          <a:ln/>
        </p:spPr>
        <p:txBody>
          <a:bodyPr wrap="square" lIns="0" tIns="0" rIns="0" bIns="0" rtlCol="0" anchor="t"/>
          <a:lstStyle/>
          <a:p>
            <a:pPr indent="0" marL="0">
              <a:spcAft>
                <a:spcPts val="300"/>
              </a:spcAft>
              <a:buNone/>
            </a:pPr>
            <a:r>
              <a:rPr lang="en-US" sz="950" dirty="0">
                <a:solidFill>
                  <a:schemeClr val="accent6"/>
                </a:solidFill>
              </a:rPr>
              <a:t>Risk management, with ISO/TR 24971:2020 guidance; IEC 60601-1 now references it undated</a:t>
            </a:r>
            <a:endParaRPr lang="en-US" sz="950" dirty="0"/>
          </a:p>
        </p:txBody>
      </p:sp>
      <p:sp>
        <p:nvSpPr>
          <p:cNvPr id="22" name="Card ISO 14155:2026"/>
          <p:cNvSpPr/>
          <p:nvPr/>
        </p:nvSpPr>
        <p:spPr>
          <a:xfrm>
            <a:off x="6178144" y="1554480"/>
            <a:ext cx="2650160" cy="1175004"/>
          </a:xfrm>
          <a:prstGeom prst="roundRect">
            <a:avLst>
              <a:gd name="adj" fmla="val 9339"/>
            </a:avLst>
          </a:prstGeom>
          <a:solidFill>
            <a:schemeClr val="bg1">
              <a:alpha val="10000"/>
            </a:schemeClr>
          </a:solidFill>
          <a:ln w="9525">
            <a:solidFill>
              <a:schemeClr val="accent6"/>
            </a:solidFill>
            <a:prstDash val="solid"/>
          </a:ln>
        </p:spPr>
      </p:sp>
      <p:sp>
        <p:nvSpPr>
          <p:cNvPr id="23" name="Icon disc LuStethoscope"/>
          <p:cNvSpPr/>
          <p:nvPr/>
        </p:nvSpPr>
        <p:spPr>
          <a:xfrm>
            <a:off x="6361024" y="1737360"/>
            <a:ext cx="329184" cy="329184"/>
          </a:xfrm>
          <a:prstGeom prst="ellipse">
            <a:avLst/>
          </a:prstGeom>
          <a:solidFill>
            <a:schemeClr val="accent1"/>
          </a:solidFill>
          <a:ln/>
        </p:spPr>
      </p:sp>
      <p:pic>
        <p:nvPicPr>
          <p:cNvPr id="24" name="Image 2" descr="Stethoscope icon">    </p:cNvPr>
          <p:cNvPicPr>
            <a:picLocks noChangeAspect="1"/>
          </p:cNvPicPr>
          <p:nvPr/>
        </p:nvPicPr>
        <p:blipFill>
          <a:blip r:embed="rId3"/>
          <a:stretch>
            <a:fillRect/>
          </a:stretch>
        </p:blipFill>
        <p:spPr>
          <a:xfrm>
            <a:off x="6433444" y="1809780"/>
            <a:ext cx="184343" cy="184343"/>
          </a:xfrm>
          <a:prstGeom prst="rect">
            <a:avLst/>
          </a:prstGeom>
        </p:spPr>
      </p:pic>
      <p:sp>
        <p:nvSpPr>
          <p:cNvPr id="25" name="Text 19"/>
          <p:cNvSpPr txBox="1"/>
          <p:nvPr/>
        </p:nvSpPr>
        <p:spPr>
          <a:xfrm>
            <a:off x="6827368" y="1737360"/>
            <a:ext cx="1818056" cy="329184"/>
          </a:xfrm>
          <a:prstGeom prst="rect">
            <a:avLst/>
          </a:prstGeom>
          <a:noFill/>
          <a:ln/>
        </p:spPr>
        <p:txBody>
          <a:bodyPr wrap="square" lIns="0" tIns="0" rIns="0" bIns="0" rtlCol="0" anchor="ctr"/>
          <a:lstStyle/>
          <a:p>
            <a:pPr indent="0" marL="0">
              <a:buNone/>
            </a:pPr>
            <a:r>
              <a:rPr lang="en-US" sz="1150" b="1" dirty="0">
                <a:solidFill>
                  <a:schemeClr val="bg1"/>
                </a:solidFill>
              </a:rPr>
              <a:t>ISO 14155:2026</a:t>
            </a:r>
            <a:endParaRPr lang="en-US" sz="1150" dirty="0"/>
          </a:p>
        </p:txBody>
      </p:sp>
      <p:sp>
        <p:nvSpPr>
          <p:cNvPr id="26" name="Text 20"/>
          <p:cNvSpPr txBox="1"/>
          <p:nvPr/>
        </p:nvSpPr>
        <p:spPr>
          <a:xfrm>
            <a:off x="6361024" y="2176272"/>
            <a:ext cx="2284400" cy="388620"/>
          </a:xfrm>
          <a:prstGeom prst="rect">
            <a:avLst/>
          </a:prstGeom>
          <a:noFill/>
          <a:ln/>
        </p:spPr>
        <p:txBody>
          <a:bodyPr wrap="square" lIns="0" tIns="0" rIns="0" bIns="0" rtlCol="0" anchor="t"/>
          <a:lstStyle/>
          <a:p>
            <a:pPr indent="0" marL="0">
              <a:spcAft>
                <a:spcPts val="300"/>
              </a:spcAft>
              <a:buNone/>
            </a:pPr>
            <a:r>
              <a:rPr lang="en-US" sz="950" dirty="0">
                <a:solidFill>
                  <a:schemeClr val="accent6"/>
                </a:solidFill>
              </a:rPr>
              <a:t>Clinical investigation GCP; published 23 Mar 2026, no transition; estimands, CEC and DMC</a:t>
            </a:r>
            <a:endParaRPr lang="en-US" sz="950" dirty="0"/>
          </a:p>
        </p:txBody>
      </p:sp>
      <p:sp>
        <p:nvSpPr>
          <p:cNvPr id="27" name="Card ISO 10993-1"/>
          <p:cNvSpPr/>
          <p:nvPr/>
        </p:nvSpPr>
        <p:spPr>
          <a:xfrm>
            <a:off x="8992895" y="1554480"/>
            <a:ext cx="2650160" cy="1175004"/>
          </a:xfrm>
          <a:prstGeom prst="roundRect">
            <a:avLst>
              <a:gd name="adj" fmla="val 9339"/>
            </a:avLst>
          </a:prstGeom>
          <a:solidFill>
            <a:schemeClr val="bg1">
              <a:alpha val="10000"/>
            </a:schemeClr>
          </a:solidFill>
          <a:ln w="9525">
            <a:solidFill>
              <a:schemeClr val="accent6"/>
            </a:solidFill>
            <a:prstDash val="solid"/>
          </a:ln>
        </p:spPr>
      </p:sp>
      <p:sp>
        <p:nvSpPr>
          <p:cNvPr id="28" name="Icon disc LuFlaskConical"/>
          <p:cNvSpPr/>
          <p:nvPr/>
        </p:nvSpPr>
        <p:spPr>
          <a:xfrm>
            <a:off x="9175775" y="1737360"/>
            <a:ext cx="329184" cy="329184"/>
          </a:xfrm>
          <a:prstGeom prst="ellipse">
            <a:avLst/>
          </a:prstGeom>
          <a:solidFill>
            <a:schemeClr val="accent1"/>
          </a:solidFill>
          <a:ln/>
        </p:spPr>
      </p:sp>
      <p:pic>
        <p:nvPicPr>
          <p:cNvPr id="29" name="Image 3" descr="FlaskConical icon">    </p:cNvPr>
          <p:cNvPicPr>
            <a:picLocks noChangeAspect="1"/>
          </p:cNvPicPr>
          <p:nvPr/>
        </p:nvPicPr>
        <p:blipFill>
          <a:blip r:embed="rId4"/>
          <a:stretch>
            <a:fillRect/>
          </a:stretch>
        </p:blipFill>
        <p:spPr>
          <a:xfrm>
            <a:off x="9248196" y="1809780"/>
            <a:ext cx="184343" cy="184343"/>
          </a:xfrm>
          <a:prstGeom prst="rect">
            <a:avLst/>
          </a:prstGeom>
        </p:spPr>
      </p:pic>
      <p:sp>
        <p:nvSpPr>
          <p:cNvPr id="30" name="Text 23"/>
          <p:cNvSpPr txBox="1"/>
          <p:nvPr/>
        </p:nvSpPr>
        <p:spPr>
          <a:xfrm>
            <a:off x="9642119" y="1737360"/>
            <a:ext cx="1818056" cy="329184"/>
          </a:xfrm>
          <a:prstGeom prst="rect">
            <a:avLst/>
          </a:prstGeom>
          <a:noFill/>
          <a:ln/>
        </p:spPr>
        <p:txBody>
          <a:bodyPr wrap="square" lIns="0" tIns="0" rIns="0" bIns="0" rtlCol="0" anchor="ctr"/>
          <a:lstStyle/>
          <a:p>
            <a:pPr indent="0" marL="0">
              <a:buNone/>
            </a:pPr>
            <a:r>
              <a:rPr lang="en-US" sz="1150" b="1" dirty="0">
                <a:solidFill>
                  <a:schemeClr val="bg1"/>
                </a:solidFill>
              </a:rPr>
              <a:t>ISO 10993-1</a:t>
            </a:r>
            <a:endParaRPr lang="en-US" sz="1150" dirty="0"/>
          </a:p>
        </p:txBody>
      </p:sp>
      <p:sp>
        <p:nvSpPr>
          <p:cNvPr id="31" name="Text 24"/>
          <p:cNvSpPr txBox="1"/>
          <p:nvPr/>
        </p:nvSpPr>
        <p:spPr>
          <a:xfrm>
            <a:off x="9175775" y="2176272"/>
            <a:ext cx="2284400" cy="388620"/>
          </a:xfrm>
          <a:prstGeom prst="rect">
            <a:avLst/>
          </a:prstGeom>
          <a:noFill/>
          <a:ln/>
        </p:spPr>
        <p:txBody>
          <a:bodyPr wrap="square" lIns="0" tIns="0" rIns="0" bIns="0" rtlCol="0" anchor="t"/>
          <a:lstStyle/>
          <a:p>
            <a:pPr indent="0" marL="0">
              <a:spcAft>
                <a:spcPts val="300"/>
              </a:spcAft>
              <a:buNone/>
            </a:pPr>
            <a:r>
              <a:rPr lang="en-US" sz="950" dirty="0">
                <a:solidFill>
                  <a:schemeClr val="accent6"/>
                </a:solidFill>
              </a:rPr>
              <a:t>Biological evaluation inside the risk process; endpoints by contact type and duration</a:t>
            </a:r>
            <a:endParaRPr lang="en-US" sz="950" dirty="0"/>
          </a:p>
        </p:txBody>
      </p:sp>
      <p:sp>
        <p:nvSpPr>
          <p:cNvPr id="32" name="Card IEC 60601-1 ed. 3.2"/>
          <p:cNvSpPr/>
          <p:nvPr/>
        </p:nvSpPr>
        <p:spPr>
          <a:xfrm>
            <a:off x="548640" y="2894076"/>
            <a:ext cx="2650160" cy="1175004"/>
          </a:xfrm>
          <a:prstGeom prst="roundRect">
            <a:avLst>
              <a:gd name="adj" fmla="val 9339"/>
            </a:avLst>
          </a:prstGeom>
          <a:solidFill>
            <a:schemeClr val="bg1">
              <a:alpha val="10000"/>
            </a:schemeClr>
          </a:solidFill>
          <a:ln w="9525">
            <a:solidFill>
              <a:schemeClr val="accent6"/>
            </a:solidFill>
            <a:prstDash val="solid"/>
          </a:ln>
        </p:spPr>
      </p:sp>
      <p:sp>
        <p:nvSpPr>
          <p:cNvPr id="33" name="Icon disc LuZap"/>
          <p:cNvSpPr/>
          <p:nvPr/>
        </p:nvSpPr>
        <p:spPr>
          <a:xfrm>
            <a:off x="731520" y="3076956"/>
            <a:ext cx="329184" cy="329184"/>
          </a:xfrm>
          <a:prstGeom prst="ellipse">
            <a:avLst/>
          </a:prstGeom>
          <a:solidFill>
            <a:schemeClr val="accent4"/>
          </a:solidFill>
          <a:ln/>
        </p:spPr>
      </p:sp>
      <p:pic>
        <p:nvPicPr>
          <p:cNvPr id="34" name="Image 4" descr="Zap icon">    </p:cNvPr>
          <p:cNvPicPr>
            <a:picLocks noChangeAspect="1"/>
          </p:cNvPicPr>
          <p:nvPr/>
        </p:nvPicPr>
        <p:blipFill>
          <a:blip r:embed="rId5"/>
          <a:stretch>
            <a:fillRect/>
          </a:stretch>
        </p:blipFill>
        <p:spPr>
          <a:xfrm>
            <a:off x="803940" y="3149376"/>
            <a:ext cx="184343" cy="184343"/>
          </a:xfrm>
          <a:prstGeom prst="rect">
            <a:avLst/>
          </a:prstGeom>
        </p:spPr>
      </p:pic>
      <p:sp>
        <p:nvSpPr>
          <p:cNvPr id="35" name="Text 27"/>
          <p:cNvSpPr txBox="1"/>
          <p:nvPr/>
        </p:nvSpPr>
        <p:spPr>
          <a:xfrm>
            <a:off x="1197864" y="3076956"/>
            <a:ext cx="1818056" cy="329184"/>
          </a:xfrm>
          <a:prstGeom prst="rect">
            <a:avLst/>
          </a:prstGeom>
          <a:noFill/>
          <a:ln/>
        </p:spPr>
        <p:txBody>
          <a:bodyPr wrap="square" lIns="0" tIns="0" rIns="0" bIns="0" rtlCol="0" anchor="ctr"/>
          <a:lstStyle/>
          <a:p>
            <a:pPr indent="0" marL="0">
              <a:buNone/>
            </a:pPr>
            <a:r>
              <a:rPr lang="en-US" sz="1150" b="1" dirty="0">
                <a:solidFill>
                  <a:schemeClr val="bg1"/>
                </a:solidFill>
              </a:rPr>
              <a:t>IEC 60601-1 ed. 3.2</a:t>
            </a:r>
            <a:endParaRPr lang="en-US" sz="1150" dirty="0"/>
          </a:p>
        </p:txBody>
      </p:sp>
      <p:sp>
        <p:nvSpPr>
          <p:cNvPr id="36" name="Text 28"/>
          <p:cNvSpPr txBox="1"/>
          <p:nvPr/>
        </p:nvSpPr>
        <p:spPr>
          <a:xfrm>
            <a:off x="731520" y="3515868"/>
            <a:ext cx="2284400" cy="388620"/>
          </a:xfrm>
          <a:prstGeom prst="rect">
            <a:avLst/>
          </a:prstGeom>
          <a:noFill/>
          <a:ln/>
        </p:spPr>
        <p:txBody>
          <a:bodyPr wrap="square" lIns="0" tIns="0" rIns="0" bIns="0" rtlCol="0" anchor="t"/>
          <a:lstStyle/>
          <a:p>
            <a:pPr indent="0" marL="0">
              <a:spcAft>
                <a:spcPts val="300"/>
              </a:spcAft>
              <a:buNone/>
            </a:pPr>
            <a:r>
              <a:rPr lang="en-US" sz="950" dirty="0">
                <a:solidFill>
                  <a:schemeClr val="accent6"/>
                </a:solidFill>
              </a:rPr>
              <a:t>Electrical safety and essential performance (2005 + A1:2012 + A2:2020); EMC via 60601-1-2</a:t>
            </a:r>
            <a:endParaRPr lang="en-US" sz="950" dirty="0"/>
          </a:p>
        </p:txBody>
      </p:sp>
      <p:sp>
        <p:nvSpPr>
          <p:cNvPr id="37" name="Card IEC 62304"/>
          <p:cNvSpPr/>
          <p:nvPr/>
        </p:nvSpPr>
        <p:spPr>
          <a:xfrm>
            <a:off x="3363392" y="2894076"/>
            <a:ext cx="2650160" cy="1175004"/>
          </a:xfrm>
          <a:prstGeom prst="roundRect">
            <a:avLst>
              <a:gd name="adj" fmla="val 9339"/>
            </a:avLst>
          </a:prstGeom>
          <a:solidFill>
            <a:schemeClr val="bg1">
              <a:alpha val="10000"/>
            </a:schemeClr>
          </a:solidFill>
          <a:ln w="9525">
            <a:solidFill>
              <a:schemeClr val="accent6"/>
            </a:solidFill>
            <a:prstDash val="solid"/>
          </a:ln>
        </p:spPr>
      </p:sp>
      <p:sp>
        <p:nvSpPr>
          <p:cNvPr id="38" name="Icon disc LuCode"/>
          <p:cNvSpPr/>
          <p:nvPr/>
        </p:nvSpPr>
        <p:spPr>
          <a:xfrm>
            <a:off x="3546272" y="3076956"/>
            <a:ext cx="329184" cy="329184"/>
          </a:xfrm>
          <a:prstGeom prst="ellipse">
            <a:avLst/>
          </a:prstGeom>
          <a:solidFill>
            <a:schemeClr val="accent4"/>
          </a:solidFill>
          <a:ln/>
        </p:spPr>
      </p:sp>
      <p:pic>
        <p:nvPicPr>
          <p:cNvPr id="39" name="Image 5" descr="Code icon">    </p:cNvPr>
          <p:cNvPicPr>
            <a:picLocks noChangeAspect="1"/>
          </p:cNvPicPr>
          <p:nvPr/>
        </p:nvPicPr>
        <p:blipFill>
          <a:blip r:embed="rId6"/>
          <a:stretch>
            <a:fillRect/>
          </a:stretch>
        </p:blipFill>
        <p:spPr>
          <a:xfrm>
            <a:off x="3618692" y="3149376"/>
            <a:ext cx="184343" cy="184343"/>
          </a:xfrm>
          <a:prstGeom prst="rect">
            <a:avLst/>
          </a:prstGeom>
        </p:spPr>
      </p:pic>
      <p:sp>
        <p:nvSpPr>
          <p:cNvPr id="40" name="Text 31"/>
          <p:cNvSpPr txBox="1"/>
          <p:nvPr/>
        </p:nvSpPr>
        <p:spPr>
          <a:xfrm>
            <a:off x="4012616" y="3076956"/>
            <a:ext cx="1818056" cy="329184"/>
          </a:xfrm>
          <a:prstGeom prst="rect">
            <a:avLst/>
          </a:prstGeom>
          <a:noFill/>
          <a:ln/>
        </p:spPr>
        <p:txBody>
          <a:bodyPr wrap="square" lIns="0" tIns="0" rIns="0" bIns="0" rtlCol="0" anchor="ctr"/>
          <a:lstStyle/>
          <a:p>
            <a:pPr indent="0" marL="0">
              <a:buNone/>
            </a:pPr>
            <a:r>
              <a:rPr lang="en-US" sz="1150" b="1" dirty="0">
                <a:solidFill>
                  <a:schemeClr val="bg1"/>
                </a:solidFill>
              </a:rPr>
              <a:t>IEC 62304</a:t>
            </a:r>
            <a:endParaRPr lang="en-US" sz="1150" dirty="0"/>
          </a:p>
        </p:txBody>
      </p:sp>
      <p:sp>
        <p:nvSpPr>
          <p:cNvPr id="41" name="Text 32"/>
          <p:cNvSpPr txBox="1"/>
          <p:nvPr/>
        </p:nvSpPr>
        <p:spPr>
          <a:xfrm>
            <a:off x="3546272" y="3515868"/>
            <a:ext cx="2284400" cy="388620"/>
          </a:xfrm>
          <a:prstGeom prst="rect">
            <a:avLst/>
          </a:prstGeom>
          <a:noFill/>
          <a:ln/>
        </p:spPr>
        <p:txBody>
          <a:bodyPr wrap="square" lIns="0" tIns="0" rIns="0" bIns="0" rtlCol="0" anchor="t"/>
          <a:lstStyle/>
          <a:p>
            <a:pPr indent="0" marL="0">
              <a:spcAft>
                <a:spcPts val="300"/>
              </a:spcAft>
              <a:buNone/>
            </a:pPr>
            <a:r>
              <a:rPr lang="en-US" sz="950" dirty="0">
                <a:solidFill>
                  <a:schemeClr val="accent6"/>
                </a:solidFill>
              </a:rPr>
              <a:t>Software life cycle (2006 + A1:2015); edition 2 due Aug 2026: two safety classes, AI/ML</a:t>
            </a:r>
            <a:endParaRPr lang="en-US" sz="950" dirty="0"/>
          </a:p>
        </p:txBody>
      </p:sp>
      <p:sp>
        <p:nvSpPr>
          <p:cNvPr id="42" name="Card IEC 62366-1"/>
          <p:cNvSpPr/>
          <p:nvPr/>
        </p:nvSpPr>
        <p:spPr>
          <a:xfrm>
            <a:off x="6178144" y="2894076"/>
            <a:ext cx="2650160" cy="1175004"/>
          </a:xfrm>
          <a:prstGeom prst="roundRect">
            <a:avLst>
              <a:gd name="adj" fmla="val 9339"/>
            </a:avLst>
          </a:prstGeom>
          <a:solidFill>
            <a:schemeClr val="bg1">
              <a:alpha val="10000"/>
            </a:schemeClr>
          </a:solidFill>
          <a:ln w="9525">
            <a:solidFill>
              <a:schemeClr val="accent6"/>
            </a:solidFill>
            <a:prstDash val="solid"/>
          </a:ln>
        </p:spPr>
      </p:sp>
      <p:sp>
        <p:nvSpPr>
          <p:cNvPr id="43" name="Icon disc LuMousePointerClick"/>
          <p:cNvSpPr/>
          <p:nvPr/>
        </p:nvSpPr>
        <p:spPr>
          <a:xfrm>
            <a:off x="6361024" y="3076956"/>
            <a:ext cx="329184" cy="329184"/>
          </a:xfrm>
          <a:prstGeom prst="ellipse">
            <a:avLst/>
          </a:prstGeom>
          <a:solidFill>
            <a:schemeClr val="accent4"/>
          </a:solidFill>
          <a:ln/>
        </p:spPr>
      </p:sp>
      <p:pic>
        <p:nvPicPr>
          <p:cNvPr id="44" name="Image 6" descr="MousePointerClick icon">    </p:cNvPr>
          <p:cNvPicPr>
            <a:picLocks noChangeAspect="1"/>
          </p:cNvPicPr>
          <p:nvPr/>
        </p:nvPicPr>
        <p:blipFill>
          <a:blip r:embed="rId7"/>
          <a:stretch>
            <a:fillRect/>
          </a:stretch>
        </p:blipFill>
        <p:spPr>
          <a:xfrm>
            <a:off x="6433444" y="3149376"/>
            <a:ext cx="184343" cy="184343"/>
          </a:xfrm>
          <a:prstGeom prst="rect">
            <a:avLst/>
          </a:prstGeom>
        </p:spPr>
      </p:pic>
      <p:sp>
        <p:nvSpPr>
          <p:cNvPr id="45" name="Text 35"/>
          <p:cNvSpPr txBox="1"/>
          <p:nvPr/>
        </p:nvSpPr>
        <p:spPr>
          <a:xfrm>
            <a:off x="6827368" y="3076956"/>
            <a:ext cx="1818056" cy="329184"/>
          </a:xfrm>
          <a:prstGeom prst="rect">
            <a:avLst/>
          </a:prstGeom>
          <a:noFill/>
          <a:ln/>
        </p:spPr>
        <p:txBody>
          <a:bodyPr wrap="square" lIns="0" tIns="0" rIns="0" bIns="0" rtlCol="0" anchor="ctr"/>
          <a:lstStyle/>
          <a:p>
            <a:pPr indent="0" marL="0">
              <a:buNone/>
            </a:pPr>
            <a:r>
              <a:rPr lang="en-US" sz="1150" b="1" dirty="0">
                <a:solidFill>
                  <a:schemeClr val="bg1"/>
                </a:solidFill>
              </a:rPr>
              <a:t>IEC 62366-1</a:t>
            </a:r>
            <a:endParaRPr lang="en-US" sz="1150" dirty="0"/>
          </a:p>
        </p:txBody>
      </p:sp>
      <p:sp>
        <p:nvSpPr>
          <p:cNvPr id="46" name="Text 36"/>
          <p:cNvSpPr txBox="1"/>
          <p:nvPr/>
        </p:nvSpPr>
        <p:spPr>
          <a:xfrm>
            <a:off x="6361024" y="3515868"/>
            <a:ext cx="2284400" cy="388620"/>
          </a:xfrm>
          <a:prstGeom prst="rect">
            <a:avLst/>
          </a:prstGeom>
          <a:noFill/>
          <a:ln/>
        </p:spPr>
        <p:txBody>
          <a:bodyPr wrap="square" lIns="0" tIns="0" rIns="0" bIns="0" rtlCol="0" anchor="t"/>
          <a:lstStyle/>
          <a:p>
            <a:pPr indent="0" marL="0">
              <a:spcAft>
                <a:spcPts val="300"/>
              </a:spcAft>
              <a:buNone/>
            </a:pPr>
            <a:r>
              <a:rPr lang="en-US" sz="950" dirty="0">
                <a:solidFill>
                  <a:schemeClr val="accent6"/>
                </a:solidFill>
              </a:rPr>
              <a:t>Usability engineering (2015 + A1:2020): find use errors before patients do</a:t>
            </a:r>
            <a:endParaRPr lang="en-US" sz="950" dirty="0"/>
          </a:p>
        </p:txBody>
      </p:sp>
      <p:sp>
        <p:nvSpPr>
          <p:cNvPr id="47" name="Card IEC 81001-5-1:2021"/>
          <p:cNvSpPr/>
          <p:nvPr/>
        </p:nvSpPr>
        <p:spPr>
          <a:xfrm>
            <a:off x="8992895" y="2894076"/>
            <a:ext cx="2650160" cy="1175004"/>
          </a:xfrm>
          <a:prstGeom prst="roundRect">
            <a:avLst>
              <a:gd name="adj" fmla="val 9339"/>
            </a:avLst>
          </a:prstGeom>
          <a:solidFill>
            <a:schemeClr val="bg1">
              <a:alpha val="10000"/>
            </a:schemeClr>
          </a:solidFill>
          <a:ln w="9525">
            <a:solidFill>
              <a:schemeClr val="accent6"/>
            </a:solidFill>
            <a:prstDash val="solid"/>
          </a:ln>
        </p:spPr>
      </p:sp>
      <p:sp>
        <p:nvSpPr>
          <p:cNvPr id="48" name="Icon disc LuLock"/>
          <p:cNvSpPr/>
          <p:nvPr/>
        </p:nvSpPr>
        <p:spPr>
          <a:xfrm>
            <a:off x="9175775" y="3076956"/>
            <a:ext cx="329184" cy="329184"/>
          </a:xfrm>
          <a:prstGeom prst="ellipse">
            <a:avLst/>
          </a:prstGeom>
          <a:solidFill>
            <a:schemeClr val="accent4"/>
          </a:solidFill>
          <a:ln/>
        </p:spPr>
      </p:sp>
      <p:pic>
        <p:nvPicPr>
          <p:cNvPr id="49" name="Image 7" descr="Lock icon">    </p:cNvPr>
          <p:cNvPicPr>
            <a:picLocks noChangeAspect="1"/>
          </p:cNvPicPr>
          <p:nvPr/>
        </p:nvPicPr>
        <p:blipFill>
          <a:blip r:embed="rId8"/>
          <a:stretch>
            <a:fillRect/>
          </a:stretch>
        </p:blipFill>
        <p:spPr>
          <a:xfrm>
            <a:off x="9248196" y="3149376"/>
            <a:ext cx="184343" cy="184343"/>
          </a:xfrm>
          <a:prstGeom prst="rect">
            <a:avLst/>
          </a:prstGeom>
        </p:spPr>
      </p:pic>
      <p:sp>
        <p:nvSpPr>
          <p:cNvPr id="50" name="Text 39"/>
          <p:cNvSpPr txBox="1"/>
          <p:nvPr/>
        </p:nvSpPr>
        <p:spPr>
          <a:xfrm>
            <a:off x="9642119" y="3076956"/>
            <a:ext cx="1818056" cy="329184"/>
          </a:xfrm>
          <a:prstGeom prst="rect">
            <a:avLst/>
          </a:prstGeom>
          <a:noFill/>
          <a:ln/>
        </p:spPr>
        <p:txBody>
          <a:bodyPr wrap="square" lIns="0" tIns="0" rIns="0" bIns="0" rtlCol="0" anchor="ctr"/>
          <a:lstStyle/>
          <a:p>
            <a:pPr indent="0" marL="0">
              <a:buNone/>
            </a:pPr>
            <a:r>
              <a:rPr lang="en-US" sz="1150" b="1" dirty="0">
                <a:solidFill>
                  <a:schemeClr val="bg1"/>
                </a:solidFill>
              </a:rPr>
              <a:t>IEC 81001-5-1:2021</a:t>
            </a:r>
            <a:endParaRPr lang="en-US" sz="1150" dirty="0"/>
          </a:p>
        </p:txBody>
      </p:sp>
      <p:sp>
        <p:nvSpPr>
          <p:cNvPr id="51" name="Text 40"/>
          <p:cNvSpPr txBox="1"/>
          <p:nvPr/>
        </p:nvSpPr>
        <p:spPr>
          <a:xfrm>
            <a:off x="9175775" y="3515868"/>
            <a:ext cx="2284400" cy="388620"/>
          </a:xfrm>
          <a:prstGeom prst="rect">
            <a:avLst/>
          </a:prstGeom>
          <a:noFill/>
          <a:ln/>
        </p:spPr>
        <p:txBody>
          <a:bodyPr wrap="square" lIns="0" tIns="0" rIns="0" bIns="0" rtlCol="0" anchor="t"/>
          <a:lstStyle/>
          <a:p>
            <a:pPr indent="0" marL="0">
              <a:spcAft>
                <a:spcPts val="300"/>
              </a:spcAft>
              <a:buNone/>
            </a:pPr>
            <a:r>
              <a:rPr lang="en-US" sz="950" dirty="0">
                <a:solidFill>
                  <a:schemeClr val="accent6"/>
                </a:solidFill>
              </a:rPr>
              <a:t>Cybersecurity life cycle; FDA-recognised; EU harmonisation due 27 May 2028</a:t>
            </a:r>
            <a:endParaRPr lang="en-US" sz="950" dirty="0"/>
          </a:p>
        </p:txBody>
      </p:sp>
      <p:sp>
        <p:nvSpPr>
          <p:cNvPr id="52" name="Text 41"/>
          <p:cNvSpPr txBox="1"/>
          <p:nvPr/>
        </p:nvSpPr>
        <p:spPr>
          <a:xfrm>
            <a:off x="548640" y="4160520"/>
            <a:ext cx="5486400" cy="219456"/>
          </a:xfrm>
          <a:prstGeom prst="rect">
            <a:avLst/>
          </a:prstGeom>
          <a:noFill/>
          <a:ln/>
        </p:spPr>
        <p:txBody>
          <a:bodyPr wrap="square" lIns="0" tIns="0" rIns="0" bIns="0" rtlCol="0" anchor="t"/>
          <a:lstStyle/>
          <a:p>
            <a:pPr indent="0" marL="0">
              <a:buNone/>
            </a:pPr>
            <a:r>
              <a:rPr lang="en-US" sz="1050" b="1" dirty="0">
                <a:solidFill>
                  <a:schemeClr val="accent2"/>
                </a:solidFill>
              </a:rPr>
              <a:t>Reliance routes an Indian dossier can use</a:t>
            </a:r>
            <a:endParaRPr lang="en-US" sz="1050" dirty="0"/>
          </a:p>
        </p:txBody>
      </p:sp>
      <p:sp>
        <p:nvSpPr>
          <p:cNvPr id="53" name="India hub"/>
          <p:cNvSpPr/>
          <p:nvPr/>
        </p:nvSpPr>
        <p:spPr>
          <a:xfrm>
            <a:off x="548640" y="4407408"/>
            <a:ext cx="1920240" cy="1005840"/>
          </a:xfrm>
          <a:prstGeom prst="roundRect">
            <a:avLst>
              <a:gd name="adj" fmla="val 9091"/>
            </a:avLst>
          </a:prstGeom>
          <a:solidFill>
            <a:schemeClr val="accent2"/>
          </a:solidFill>
          <a:ln/>
        </p:spPr>
      </p:sp>
      <p:pic>
        <p:nvPicPr>
          <p:cNvPr id="54" name="Image 8" descr="IN flag">    </p:cNvPr>
          <p:cNvPicPr>
            <a:picLocks noChangeAspect="1"/>
          </p:cNvPicPr>
          <p:nvPr/>
        </p:nvPicPr>
        <p:blipFill>
          <a:blip r:embed="rId9"/>
          <a:stretch>
            <a:fillRect/>
          </a:stretch>
        </p:blipFill>
        <p:spPr>
          <a:xfrm>
            <a:off x="685800" y="4553712"/>
            <a:ext cx="493776" cy="329184"/>
          </a:xfrm>
          <a:prstGeom prst="rect">
            <a:avLst/>
          </a:prstGeom>
        </p:spPr>
      </p:pic>
      <p:sp>
        <p:nvSpPr>
          <p:cNvPr id="55" name="Text 43"/>
          <p:cNvSpPr txBox="1"/>
          <p:nvPr/>
        </p:nvSpPr>
        <p:spPr>
          <a:xfrm>
            <a:off x="1280160" y="4480560"/>
            <a:ext cx="1143000" cy="859536"/>
          </a:xfrm>
          <a:prstGeom prst="rect">
            <a:avLst/>
          </a:prstGeom>
          <a:noFill/>
          <a:ln/>
        </p:spPr>
        <p:txBody>
          <a:bodyPr wrap="square" lIns="0" tIns="0" rIns="0" bIns="0" rtlCol="0" anchor="ctr"/>
          <a:lstStyle/>
          <a:p>
            <a:pPr indent="0" marL="0">
              <a:buNone/>
            </a:pPr>
            <a:r>
              <a:rPr lang="en-US" sz="1100" b="1" dirty="0">
                <a:solidFill>
                  <a:srgbClr val="0E3B3D"/>
                </a:solidFill>
              </a:rPr>
              <a:t>India · CDSCO</a:t>
            </a:r>
            <a:endParaRPr lang="en-US" sz="1400" dirty="0"/>
          </a:p>
          <a:p>
            <a:pPr indent="0" marL="0">
              <a:buNone/>
            </a:pPr>
            <a:r>
              <a:rPr lang="en-US" sz="900" dirty="0">
                <a:solidFill>
                  <a:srgbClr val="0E3B3D"/>
                </a:solidFill>
              </a:rPr>
              <a:t>IMDRF affiliate 2024; MDR-2017 technical file, QMS and risk file</a:t>
            </a:r>
            <a:endParaRPr lang="en-US" sz="1400" dirty="0"/>
          </a:p>
        </p:txBody>
      </p:sp>
      <p:sp>
        <p:nvSpPr>
          <p:cNvPr id="56" name="Arrow"/>
          <p:cNvSpPr/>
          <p:nvPr/>
        </p:nvSpPr>
        <p:spPr>
          <a:xfrm>
            <a:off x="2542032" y="4910328"/>
            <a:ext cx="384048" cy="0"/>
          </a:xfrm>
          <a:prstGeom prst="line">
            <a:avLst/>
          </a:prstGeom>
          <a:noFill/>
          <a:ln w="31750">
            <a:solidFill>
              <a:schemeClr val="accent2"/>
            </a:solidFill>
            <a:prstDash val="solid"/>
            <a:tailEnd type="triangle"/>
          </a:ln>
        </p:spPr>
      </p:sp>
      <p:sp>
        <p:nvSpPr>
          <p:cNvPr id="57" name="Reliance US"/>
          <p:cNvSpPr/>
          <p:nvPr/>
        </p:nvSpPr>
        <p:spPr>
          <a:xfrm>
            <a:off x="3035808" y="4407408"/>
            <a:ext cx="1618488" cy="1005840"/>
          </a:xfrm>
          <a:prstGeom prst="roundRect">
            <a:avLst>
              <a:gd name="adj" fmla="val 9091"/>
            </a:avLst>
          </a:prstGeom>
          <a:solidFill>
            <a:schemeClr val="bg1">
              <a:alpha val="10000"/>
            </a:schemeClr>
          </a:solidFill>
          <a:ln w="9525">
            <a:solidFill>
              <a:schemeClr val="accent6"/>
            </a:solidFill>
            <a:prstDash val="solid"/>
          </a:ln>
        </p:spPr>
      </p:sp>
      <p:pic>
        <p:nvPicPr>
          <p:cNvPr id="58" name="Image 9" descr="US flag">    </p:cNvPr>
          <p:cNvPicPr>
            <a:picLocks noChangeAspect="1"/>
          </p:cNvPicPr>
          <p:nvPr/>
        </p:nvPicPr>
        <p:blipFill>
          <a:blip r:embed="rId10"/>
          <a:stretch>
            <a:fillRect/>
          </a:stretch>
        </p:blipFill>
        <p:spPr>
          <a:xfrm>
            <a:off x="3625596" y="4498848"/>
            <a:ext cx="438912" cy="292608"/>
          </a:xfrm>
          <a:prstGeom prst="rect">
            <a:avLst/>
          </a:prstGeom>
        </p:spPr>
      </p:pic>
      <p:sp>
        <p:nvSpPr>
          <p:cNvPr id="59" name="Text 46"/>
          <p:cNvSpPr txBox="1"/>
          <p:nvPr/>
        </p:nvSpPr>
        <p:spPr>
          <a:xfrm>
            <a:off x="3108960" y="4828032"/>
            <a:ext cx="1472184" cy="548640"/>
          </a:xfrm>
          <a:prstGeom prst="rect">
            <a:avLst/>
          </a:prstGeom>
          <a:noFill/>
          <a:ln/>
        </p:spPr>
        <p:txBody>
          <a:bodyPr wrap="square" lIns="0" tIns="0" rIns="0" bIns="0" rtlCol="0" anchor="t"/>
          <a:lstStyle/>
          <a:p>
            <a:pPr algn="ctr" indent="0" marL="0">
              <a:buNone/>
            </a:pPr>
            <a:r>
              <a:rPr lang="en-US" sz="900" dirty="0">
                <a:solidFill>
                  <a:schemeClr val="bg1"/>
                </a:solidFill>
              </a:rPr>
              <a:t>FDA · MDSAP member; its decisions count for TGA and MHRA reliance</a:t>
            </a:r>
            <a:endParaRPr lang="en-US" sz="900" dirty="0"/>
          </a:p>
        </p:txBody>
      </p:sp>
      <p:sp>
        <p:nvSpPr>
          <p:cNvPr id="60" name="Reliance EU"/>
          <p:cNvSpPr/>
          <p:nvPr/>
        </p:nvSpPr>
        <p:spPr>
          <a:xfrm>
            <a:off x="4782312" y="4407408"/>
            <a:ext cx="1618488" cy="1005840"/>
          </a:xfrm>
          <a:prstGeom prst="roundRect">
            <a:avLst>
              <a:gd name="adj" fmla="val 9091"/>
            </a:avLst>
          </a:prstGeom>
          <a:solidFill>
            <a:schemeClr val="bg1">
              <a:alpha val="10000"/>
            </a:schemeClr>
          </a:solidFill>
          <a:ln w="9525">
            <a:solidFill>
              <a:schemeClr val="accent6"/>
            </a:solidFill>
            <a:prstDash val="solid"/>
          </a:ln>
        </p:spPr>
      </p:sp>
      <p:pic>
        <p:nvPicPr>
          <p:cNvPr id="61" name="Image 10" descr="EU flag">    </p:cNvPr>
          <p:cNvPicPr>
            <a:picLocks noChangeAspect="1"/>
          </p:cNvPicPr>
          <p:nvPr/>
        </p:nvPicPr>
        <p:blipFill>
          <a:blip r:embed="rId11"/>
          <a:stretch>
            <a:fillRect/>
          </a:stretch>
        </p:blipFill>
        <p:spPr>
          <a:xfrm>
            <a:off x="5372100" y="4498848"/>
            <a:ext cx="438912" cy="292608"/>
          </a:xfrm>
          <a:prstGeom prst="rect">
            <a:avLst/>
          </a:prstGeom>
        </p:spPr>
      </p:pic>
      <p:sp>
        <p:nvSpPr>
          <p:cNvPr id="62" name="Text 48"/>
          <p:cNvSpPr txBox="1"/>
          <p:nvPr/>
        </p:nvSpPr>
        <p:spPr>
          <a:xfrm>
            <a:off x="4855464" y="4828032"/>
            <a:ext cx="1472184" cy="548640"/>
          </a:xfrm>
          <a:prstGeom prst="rect">
            <a:avLst/>
          </a:prstGeom>
          <a:noFill/>
          <a:ln/>
        </p:spPr>
        <p:txBody>
          <a:bodyPr wrap="square" lIns="0" tIns="0" rIns="0" bIns="0" rtlCol="0" anchor="t"/>
          <a:lstStyle/>
          <a:p>
            <a:pPr algn="ctr" indent="0" marL="0">
              <a:buNone/>
            </a:pPr>
            <a:r>
              <a:rPr lang="en-US" sz="900" dirty="0">
                <a:solidFill>
                  <a:schemeClr val="bg1"/>
                </a:solidFill>
              </a:rPr>
              <a:t>CE certificate: accepted by TGA; valid in Great Britain to 2028 / 2030</a:t>
            </a:r>
            <a:endParaRPr lang="en-US" sz="900" dirty="0"/>
          </a:p>
        </p:txBody>
      </p:sp>
      <p:sp>
        <p:nvSpPr>
          <p:cNvPr id="63" name="Reliance JP"/>
          <p:cNvSpPr/>
          <p:nvPr/>
        </p:nvSpPr>
        <p:spPr>
          <a:xfrm>
            <a:off x="6528816" y="4407408"/>
            <a:ext cx="1618488" cy="1005840"/>
          </a:xfrm>
          <a:prstGeom prst="roundRect">
            <a:avLst>
              <a:gd name="adj" fmla="val 9091"/>
            </a:avLst>
          </a:prstGeom>
          <a:solidFill>
            <a:schemeClr val="bg1">
              <a:alpha val="10000"/>
            </a:schemeClr>
          </a:solidFill>
          <a:ln w="9525">
            <a:solidFill>
              <a:schemeClr val="accent6"/>
            </a:solidFill>
            <a:prstDash val="solid"/>
          </a:ln>
        </p:spPr>
      </p:sp>
      <p:pic>
        <p:nvPicPr>
          <p:cNvPr id="64" name="Image 11" descr="JP flag">    </p:cNvPr>
          <p:cNvPicPr>
            <a:picLocks noChangeAspect="1"/>
          </p:cNvPicPr>
          <p:nvPr/>
        </p:nvPicPr>
        <p:blipFill>
          <a:blip r:embed="rId12"/>
          <a:stretch>
            <a:fillRect/>
          </a:stretch>
        </p:blipFill>
        <p:spPr>
          <a:xfrm>
            <a:off x="7118604" y="4498848"/>
            <a:ext cx="438912" cy="292608"/>
          </a:xfrm>
          <a:prstGeom prst="rect">
            <a:avLst/>
          </a:prstGeom>
        </p:spPr>
      </p:pic>
      <p:sp>
        <p:nvSpPr>
          <p:cNvPr id="65" name="Text 50"/>
          <p:cNvSpPr txBox="1"/>
          <p:nvPr/>
        </p:nvSpPr>
        <p:spPr>
          <a:xfrm>
            <a:off x="6601968" y="4828032"/>
            <a:ext cx="1472184" cy="548640"/>
          </a:xfrm>
          <a:prstGeom prst="rect">
            <a:avLst/>
          </a:prstGeom>
          <a:noFill/>
          <a:ln/>
        </p:spPr>
        <p:txBody>
          <a:bodyPr wrap="square" lIns="0" tIns="0" rIns="0" bIns="0" rtlCol="0" anchor="t"/>
          <a:lstStyle/>
          <a:p>
            <a:pPr algn="ctr" indent="0" marL="0">
              <a:buNone/>
            </a:pPr>
            <a:r>
              <a:rPr lang="en-US" sz="900" dirty="0">
                <a:solidFill>
                  <a:schemeClr val="bg1"/>
                </a:solidFill>
              </a:rPr>
              <a:t>MHLW/PMDA · MDSAP member; WHO-Listed Authority, Aug 2025</a:t>
            </a:r>
            <a:endParaRPr lang="en-US" sz="900" dirty="0"/>
          </a:p>
        </p:txBody>
      </p:sp>
      <p:sp>
        <p:nvSpPr>
          <p:cNvPr id="66" name="Reliance AU"/>
          <p:cNvSpPr/>
          <p:nvPr/>
        </p:nvSpPr>
        <p:spPr>
          <a:xfrm>
            <a:off x="8275320" y="4407408"/>
            <a:ext cx="1618488" cy="1005840"/>
          </a:xfrm>
          <a:prstGeom prst="roundRect">
            <a:avLst>
              <a:gd name="adj" fmla="val 9091"/>
            </a:avLst>
          </a:prstGeom>
          <a:solidFill>
            <a:schemeClr val="bg1">
              <a:alpha val="10000"/>
            </a:schemeClr>
          </a:solidFill>
          <a:ln w="9525">
            <a:solidFill>
              <a:schemeClr val="accent6"/>
            </a:solidFill>
            <a:prstDash val="solid"/>
          </a:ln>
        </p:spPr>
      </p:sp>
      <p:pic>
        <p:nvPicPr>
          <p:cNvPr id="67" name="Image 12" descr="AU flag">    </p:cNvPr>
          <p:cNvPicPr>
            <a:picLocks noChangeAspect="1"/>
          </p:cNvPicPr>
          <p:nvPr/>
        </p:nvPicPr>
        <p:blipFill>
          <a:blip r:embed="rId13"/>
          <a:stretch>
            <a:fillRect/>
          </a:stretch>
        </p:blipFill>
        <p:spPr>
          <a:xfrm>
            <a:off x="8865108" y="4498848"/>
            <a:ext cx="438912" cy="292608"/>
          </a:xfrm>
          <a:prstGeom prst="rect">
            <a:avLst/>
          </a:prstGeom>
        </p:spPr>
      </p:pic>
      <p:sp>
        <p:nvSpPr>
          <p:cNvPr id="68" name="Text 52"/>
          <p:cNvSpPr txBox="1"/>
          <p:nvPr/>
        </p:nvSpPr>
        <p:spPr>
          <a:xfrm>
            <a:off x="8348472" y="4828032"/>
            <a:ext cx="1472184" cy="548640"/>
          </a:xfrm>
          <a:prstGeom prst="rect">
            <a:avLst/>
          </a:prstGeom>
          <a:noFill/>
          <a:ln/>
        </p:spPr>
        <p:txBody>
          <a:bodyPr wrap="square" lIns="0" tIns="0" rIns="0" bIns="0" rtlCol="0" anchor="t"/>
          <a:lstStyle/>
          <a:p>
            <a:pPr algn="ctr" indent="0" marL="0">
              <a:buNone/>
            </a:pPr>
            <a:r>
              <a:rPr lang="en-US" sz="900" dirty="0">
                <a:solidFill>
                  <a:schemeClr val="bg1"/>
                </a:solidFill>
              </a:rPr>
              <a:t>TGA · accepts CE, FDA, Canada, Japan, MDSAP and HSA evidence</a:t>
            </a:r>
            <a:endParaRPr lang="en-US" sz="900" dirty="0"/>
          </a:p>
        </p:txBody>
      </p:sp>
      <p:sp>
        <p:nvSpPr>
          <p:cNvPr id="69" name="Reliance CA"/>
          <p:cNvSpPr/>
          <p:nvPr/>
        </p:nvSpPr>
        <p:spPr>
          <a:xfrm>
            <a:off x="10021824" y="4407408"/>
            <a:ext cx="1618488" cy="1005840"/>
          </a:xfrm>
          <a:prstGeom prst="roundRect">
            <a:avLst>
              <a:gd name="adj" fmla="val 9091"/>
            </a:avLst>
          </a:prstGeom>
          <a:solidFill>
            <a:schemeClr val="bg1">
              <a:alpha val="10000"/>
            </a:schemeClr>
          </a:solidFill>
          <a:ln w="9525">
            <a:solidFill>
              <a:schemeClr val="accent6"/>
            </a:solidFill>
            <a:prstDash val="solid"/>
          </a:ln>
        </p:spPr>
      </p:sp>
      <p:pic>
        <p:nvPicPr>
          <p:cNvPr id="70" name="Image 13" descr="CA flag">    </p:cNvPr>
          <p:cNvPicPr>
            <a:picLocks noChangeAspect="1"/>
          </p:cNvPicPr>
          <p:nvPr/>
        </p:nvPicPr>
        <p:blipFill>
          <a:blip r:embed="rId14"/>
          <a:stretch>
            <a:fillRect/>
          </a:stretch>
        </p:blipFill>
        <p:spPr>
          <a:xfrm>
            <a:off x="10611612" y="4498848"/>
            <a:ext cx="438912" cy="292608"/>
          </a:xfrm>
          <a:prstGeom prst="rect">
            <a:avLst/>
          </a:prstGeom>
        </p:spPr>
      </p:pic>
      <p:sp>
        <p:nvSpPr>
          <p:cNvPr id="71" name="Text 54"/>
          <p:cNvSpPr txBox="1"/>
          <p:nvPr/>
        </p:nvSpPr>
        <p:spPr>
          <a:xfrm>
            <a:off x="10094976" y="4828032"/>
            <a:ext cx="1472184" cy="548640"/>
          </a:xfrm>
          <a:prstGeom prst="rect">
            <a:avLst/>
          </a:prstGeom>
          <a:noFill/>
          <a:ln/>
        </p:spPr>
        <p:txBody>
          <a:bodyPr wrap="square" lIns="0" tIns="0" rIns="0" bIns="0" rtlCol="0" anchor="t"/>
          <a:lstStyle/>
          <a:p>
            <a:pPr algn="ctr" indent="0" marL="0">
              <a:buNone/>
            </a:pPr>
            <a:r>
              <a:rPr lang="en-US" sz="900" dirty="0">
                <a:solidFill>
                  <a:schemeClr val="bg1"/>
                </a:solidFill>
              </a:rPr>
              <a:t>Health Canada · MDSAP mandatory (II–IV); WHO-Listed Authority</a:t>
            </a:r>
            <a:endParaRPr lang="en-US" sz="900" dirty="0"/>
          </a:p>
        </p:txBody>
      </p:sp>
      <p:sp>
        <p:nvSpPr>
          <p:cNvPr id="72" name="Callout"/>
          <p:cNvSpPr/>
          <p:nvPr/>
        </p:nvSpPr>
        <p:spPr>
          <a:xfrm>
            <a:off x="548640" y="5559552"/>
            <a:ext cx="11094415" cy="658368"/>
          </a:xfrm>
          <a:prstGeom prst="roundRect">
            <a:avLst>
              <a:gd name="adj" fmla="val 11111"/>
            </a:avLst>
          </a:prstGeom>
          <a:solidFill>
            <a:schemeClr val="accent2">
              <a:alpha val="20000"/>
            </a:schemeClr>
          </a:solidFill>
          <a:ln/>
        </p:spPr>
      </p:sp>
      <p:sp>
        <p:nvSpPr>
          <p:cNvPr id="73" name="Callout bar"/>
          <p:cNvSpPr/>
          <p:nvPr/>
        </p:nvSpPr>
        <p:spPr>
          <a:xfrm>
            <a:off x="548640" y="5650992"/>
            <a:ext cx="64008" cy="475488"/>
          </a:xfrm>
          <a:prstGeom prst="rect">
            <a:avLst/>
          </a:prstGeom>
          <a:solidFill>
            <a:schemeClr val="accent2"/>
          </a:solidFill>
          <a:ln/>
        </p:spPr>
      </p:sp>
      <p:sp>
        <p:nvSpPr>
          <p:cNvPr id="74" name="Text 57"/>
          <p:cNvSpPr txBox="1"/>
          <p:nvPr/>
        </p:nvSpPr>
        <p:spPr>
          <a:xfrm>
            <a:off x="822960" y="5559552"/>
            <a:ext cx="10682935" cy="658368"/>
          </a:xfrm>
          <a:prstGeom prst="rect">
            <a:avLst/>
          </a:prstGeom>
          <a:noFill/>
          <a:ln/>
        </p:spPr>
        <p:txBody>
          <a:bodyPr wrap="square" lIns="0" tIns="0" rIns="0" bIns="0" rtlCol="0" anchor="ctr"/>
          <a:lstStyle/>
          <a:p>
            <a:pPr indent="0" marL="0">
              <a:buNone/>
            </a:pPr>
            <a:r>
              <a:rPr lang="en-US" sz="1050" b="1" dirty="0">
                <a:solidFill>
                  <a:schemeClr val="bg1"/>
                </a:solidFill>
              </a:rPr>
              <a:t>Lessons for Indian innovators: </a:t>
            </a:r>
            <a:pPr indent="0" marL="0">
              <a:buNone/>
            </a:pPr>
            <a:r>
              <a:rPr lang="en-US" sz="1050" dirty="0">
                <a:solidFill>
                  <a:schemeClr val="bg1"/>
                </a:solidFill>
              </a:rPr>
              <a:t>write the technical file once to ISO 13485 and ISO 14971; run the first study to ISO 14155:2026; choose the first foreign market by reliance: TGA and MHRA accept FDA and CE decisions, so one of those two unlocks three markets.</a:t>
            </a:r>
            <a:endParaRPr lang="en-US" sz="10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548640" y="2103120"/>
            <a:ext cx="7315200" cy="292608"/>
          </a:xfrm>
          <a:prstGeom prst="rect">
            <a:avLst/>
          </a:prstGeom>
          <a:noFill/>
          <a:ln/>
        </p:spPr>
        <p:txBody>
          <a:bodyPr wrap="square" lIns="0" tIns="0" rIns="0" bIns="0" rtlCol="0" anchor="t"/>
          <a:lstStyle/>
          <a:p>
            <a:pPr algn="l" indent="0" marL="0">
              <a:buNone/>
            </a:pPr>
            <a:r>
              <a:rPr lang="en-US" sz="1300" b="1" spc="300" kern="0" dirty="0">
                <a:solidFill>
                  <a:schemeClr val="accent2"/>
                </a:solidFill>
              </a:rPr>
              <a:t>PART 5 · ACCESS AND SAFETY</a:t>
            </a:r>
            <a:endParaRPr lang="en-US" sz="1300" dirty="0"/>
          </a:p>
        </p:txBody>
      </p:sp>
      <p:sp>
        <p:nvSpPr>
          <p:cNvPr id="3" name="Text 0"/>
          <p:cNvSpPr/>
          <p:nvPr>
            <p:ph idx="101" type="title" hasCustomPrompt="1"/>
          </p:nvPr>
        </p:nvSpPr>
        <p:spPr>
          <a:xfrm>
            <a:off x="548640" y="2468880"/>
            <a:ext cx="7498080" cy="1463040"/>
          </a:xfrm>
          <a:prstGeom prst="rect">
            <a:avLst/>
          </a:prstGeom>
          <a:noFill/>
          <a:ln/>
        </p:spPr>
        <p:txBody>
          <a:bodyPr wrap="square" lIns="0" tIns="0" rIns="0" bIns="0" rtlCol="0" anchor="t"/>
          <a:lstStyle/>
          <a:p>
            <a:pPr algn="l" indent="0" marL="0">
              <a:buNone/>
            </a:pPr>
            <a:r>
              <a:rPr lang="en-US" sz="4200" b="1" dirty="0">
                <a:solidFill>
                  <a:schemeClr val="bg1"/>
                </a:solidFill>
              </a:rPr>
              <a:t>Can they afford it, use it, and who answers later?</a:t>
            </a:r>
            <a:endParaRPr lang="en-US" sz="4200" dirty="0"/>
          </a:p>
        </p:txBody>
      </p:sp>
      <p:sp>
        <p:nvSpPr>
          <p:cNvPr id="5" name="Text 0"/>
          <p:cNvSpPr/>
          <p:nvPr>
            <p:ph idx="102" type="body" hasCustomPrompt="1"/>
          </p:nvPr>
        </p:nvSpPr>
        <p:spPr>
          <a:xfrm>
            <a:off x="548640" y="3977640"/>
            <a:ext cx="6949440" cy="914400"/>
          </a:xfrm>
          <a:prstGeom prst="rect">
            <a:avLst/>
          </a:prstGeom>
          <a:noFill/>
          <a:ln/>
        </p:spPr>
        <p:txBody>
          <a:bodyPr wrap="square" lIns="0" tIns="0" rIns="0" bIns="0" rtlCol="0" anchor="t"/>
          <a:lstStyle/>
          <a:p>
            <a:pPr algn="l" indent="0" marL="0">
              <a:buNone/>
            </a:pPr>
            <a:r>
              <a:rPr lang="en-US" sz="1700" dirty="0">
                <a:solidFill>
                  <a:schemeClr val="accent6"/>
                </a:solidFill>
              </a:rPr>
              <a:t>Capability audits, the total cost of a course and honest brochures before launch; a named owner for every step after it.</a:t>
            </a:r>
            <a:endParaRPr lang="en-US" sz="1700" dirty="0"/>
          </a:p>
        </p:txBody>
      </p:sp>
      <p:sp>
        <p:nvSpPr>
          <p:cNvPr id="6" name="Text 3"/>
          <p:cNvSpPr txBox="1"/>
          <p:nvPr/>
        </p:nvSpPr>
        <p:spPr>
          <a:xfrm>
            <a:off x="502920" y="502920"/>
            <a:ext cx="3657600" cy="1463040"/>
          </a:xfrm>
          <a:prstGeom prst="rect">
            <a:avLst/>
          </a:prstGeom>
          <a:noFill/>
          <a:ln/>
        </p:spPr>
        <p:txBody>
          <a:bodyPr wrap="square" lIns="0" tIns="0" rIns="0" bIns="0" rtlCol="0" anchor="t"/>
          <a:lstStyle/>
          <a:p>
            <a:pPr indent="0" marL="0">
              <a:buNone/>
            </a:pPr>
            <a:r>
              <a:rPr lang="en-US" sz="9600" b="1" dirty="0">
                <a:solidFill>
                  <a:schemeClr val="accent6">
                    <a:alpha val="30000"/>
                  </a:schemeClr>
                </a:solidFill>
                <a:latin typeface="Cambria" pitchFamily="34" charset="0"/>
                <a:ea typeface="Cambria" pitchFamily="34" charset="-122"/>
                <a:cs typeface="Cambria" pitchFamily="34" charset="-120"/>
              </a:rPr>
              <a:t>05</a:t>
            </a:r>
            <a:endParaRPr lang="en-US" sz="9600" dirty="0"/>
          </a:p>
        </p:txBody>
      </p:sp>
      <p:sp>
        <p:nvSpPr>
          <p:cNvPr id="7" name="Icon disc LuAccessibility"/>
          <p:cNvSpPr/>
          <p:nvPr/>
        </p:nvSpPr>
        <p:spPr>
          <a:xfrm>
            <a:off x="548640" y="5074920"/>
            <a:ext cx="329184" cy="329184"/>
          </a:xfrm>
          <a:prstGeom prst="ellipse">
            <a:avLst/>
          </a:prstGeom>
          <a:solidFill>
            <a:schemeClr val="accent2"/>
          </a:solidFill>
          <a:ln/>
        </p:spPr>
      </p:sp>
      <p:pic>
        <p:nvPicPr>
          <p:cNvPr id="8" name="Image 0" descr="Accessibility icon">    </p:cNvPr>
          <p:cNvPicPr>
            <a:picLocks noChangeAspect="1"/>
          </p:cNvPicPr>
          <p:nvPr/>
        </p:nvPicPr>
        <p:blipFill>
          <a:blip r:embed="rId1"/>
          <a:stretch>
            <a:fillRect/>
          </a:stretch>
        </p:blipFill>
        <p:spPr>
          <a:xfrm>
            <a:off x="621060" y="5147340"/>
            <a:ext cx="184343" cy="184343"/>
          </a:xfrm>
          <a:prstGeom prst="rect">
            <a:avLst/>
          </a:prstGeom>
        </p:spPr>
      </p:pic>
      <p:sp>
        <p:nvSpPr>
          <p:cNvPr id="9" name="Text 5"/>
          <p:cNvSpPr txBox="1"/>
          <p:nvPr/>
        </p:nvSpPr>
        <p:spPr>
          <a:xfrm>
            <a:off x="1005840" y="5074920"/>
            <a:ext cx="6858000" cy="329184"/>
          </a:xfrm>
          <a:prstGeom prst="rect">
            <a:avLst/>
          </a:prstGeom>
          <a:noFill/>
          <a:ln/>
        </p:spPr>
        <p:txBody>
          <a:bodyPr wrap="square" lIns="0" tIns="0" rIns="0" bIns="0" rtlCol="0" anchor="ctr"/>
          <a:lstStyle/>
          <a:p>
            <a:pPr indent="0" marL="0">
              <a:buNone/>
            </a:pPr>
            <a:r>
              <a:rPr lang="en-US" sz="1300" dirty="0">
                <a:solidFill>
                  <a:schemeClr val="bg1"/>
                </a:solidFill>
              </a:rPr>
              <a:t>Who can't use it? Seven capabilities, plus the demands India adds</a:t>
            </a:r>
            <a:endParaRPr lang="en-US" sz="1300" dirty="0"/>
          </a:p>
        </p:txBody>
      </p:sp>
      <p:sp>
        <p:nvSpPr>
          <p:cNvPr id="10" name="Icon disc LuIndianRupee"/>
          <p:cNvSpPr/>
          <p:nvPr/>
        </p:nvSpPr>
        <p:spPr>
          <a:xfrm>
            <a:off x="548640" y="5532120"/>
            <a:ext cx="329184" cy="329184"/>
          </a:xfrm>
          <a:prstGeom prst="ellipse">
            <a:avLst/>
          </a:prstGeom>
          <a:solidFill>
            <a:schemeClr val="accent2"/>
          </a:solidFill>
          <a:ln/>
        </p:spPr>
      </p:sp>
      <p:pic>
        <p:nvPicPr>
          <p:cNvPr id="11" name="Image 1" descr="IndianRupee icon">    </p:cNvPr>
          <p:cNvPicPr>
            <a:picLocks noChangeAspect="1"/>
          </p:cNvPicPr>
          <p:nvPr/>
        </p:nvPicPr>
        <p:blipFill>
          <a:blip r:embed="rId2"/>
          <a:stretch>
            <a:fillRect/>
          </a:stretch>
        </p:blipFill>
        <p:spPr>
          <a:xfrm>
            <a:off x="621060" y="5604540"/>
            <a:ext cx="184343" cy="184343"/>
          </a:xfrm>
          <a:prstGeom prst="rect">
            <a:avLst/>
          </a:prstGeom>
        </p:spPr>
      </p:pic>
      <p:sp>
        <p:nvSpPr>
          <p:cNvPr id="12" name="Text 7"/>
          <p:cNvSpPr txBox="1"/>
          <p:nvPr/>
        </p:nvSpPr>
        <p:spPr>
          <a:xfrm>
            <a:off x="1005840" y="5532120"/>
            <a:ext cx="6858000" cy="329184"/>
          </a:xfrm>
          <a:prstGeom prst="rect">
            <a:avLst/>
          </a:prstGeom>
          <a:noFill/>
          <a:ln/>
        </p:spPr>
        <p:txBody>
          <a:bodyPr wrap="square" lIns="0" tIns="0" rIns="0" bIns="0" rtlCol="0" anchor="ctr"/>
          <a:lstStyle/>
          <a:p>
            <a:pPr indent="0" marL="0">
              <a:buNone/>
            </a:pPr>
            <a:r>
              <a:rPr lang="en-US" sz="1300" dirty="0">
                <a:solidFill>
                  <a:schemeClr val="bg1"/>
                </a:solidFill>
              </a:rPr>
              <a:t>Total cost of use, and how far NPPA's price powers reach under DPCO 2013</a:t>
            </a:r>
            <a:endParaRPr lang="en-US" sz="1300" dirty="0"/>
          </a:p>
        </p:txBody>
      </p:sp>
      <p:sp>
        <p:nvSpPr>
          <p:cNvPr id="13" name="Icon disc LuSiren"/>
          <p:cNvSpPr/>
          <p:nvPr/>
        </p:nvSpPr>
        <p:spPr>
          <a:xfrm>
            <a:off x="548640" y="5989320"/>
            <a:ext cx="329184" cy="329184"/>
          </a:xfrm>
          <a:prstGeom prst="ellipse">
            <a:avLst/>
          </a:prstGeom>
          <a:solidFill>
            <a:schemeClr val="accent2"/>
          </a:solidFill>
          <a:ln/>
        </p:spPr>
      </p:sp>
      <p:pic>
        <p:nvPicPr>
          <p:cNvPr id="14" name="Image 2" descr="Siren icon">    </p:cNvPr>
          <p:cNvPicPr>
            <a:picLocks noChangeAspect="1"/>
          </p:cNvPicPr>
          <p:nvPr/>
        </p:nvPicPr>
        <p:blipFill>
          <a:blip r:embed="rId3"/>
          <a:stretch>
            <a:fillRect/>
          </a:stretch>
        </p:blipFill>
        <p:spPr>
          <a:xfrm>
            <a:off x="621060" y="6061740"/>
            <a:ext cx="184343" cy="184343"/>
          </a:xfrm>
          <a:prstGeom prst="rect">
            <a:avLst/>
          </a:prstGeom>
        </p:spPr>
      </p:pic>
      <p:sp>
        <p:nvSpPr>
          <p:cNvPr id="15" name="Text 9"/>
          <p:cNvSpPr txBox="1"/>
          <p:nvPr/>
        </p:nvSpPr>
        <p:spPr>
          <a:xfrm>
            <a:off x="1005840" y="5989320"/>
            <a:ext cx="6858000" cy="329184"/>
          </a:xfrm>
          <a:prstGeom prst="rect">
            <a:avLst/>
          </a:prstGeom>
          <a:noFill/>
          <a:ln/>
        </p:spPr>
        <p:txBody>
          <a:bodyPr wrap="square" lIns="0" tIns="0" rIns="0" bIns="0" rtlCol="0" anchor="ctr"/>
          <a:lstStyle/>
          <a:p>
            <a:pPr indent="0" marL="0">
              <a:buNone/>
            </a:pPr>
            <a:r>
              <a:rPr lang="en-US" sz="1300" dirty="0">
                <a:solidFill>
                  <a:schemeClr val="bg1"/>
                </a:solidFill>
              </a:rPr>
              <a:t>Decisions 4 and 5: a brochure, a software update; then the harm loop and MvPI</a:t>
            </a:r>
            <a:endParaRPr lang="en-US" sz="1300" dirty="0"/>
          </a:p>
        </p:txBody>
      </p:sp>
      <p:pic>
        <p:nvPicPr>
          <p:cNvPr id="16" name="Image 3" descr="SwaKnee tablet controller and knee applicator (supplied product photograph; no patient shown)">    </p:cNvPr>
          <p:cNvPicPr>
            <a:picLocks noChangeAspect="1"/>
          </p:cNvPicPr>
          <p:nvPr/>
        </p:nvPicPr>
        <p:blipFill>
          <a:blip r:embed="rId4"/>
          <a:stretch>
            <a:fillRect/>
          </a:stretch>
        </p:blipFill>
        <p:spPr>
          <a:xfrm>
            <a:off x="8138160" y="1371600"/>
            <a:ext cx="3520440" cy="4114800"/>
          </a:xfrm>
          <a:prstGeom prst="rect">
            <a:avLst/>
          </a:prstGeom>
        </p:spPr>
      </p:pic>
      <p:sp>
        <p:nvSpPr>
          <p:cNvPr id="17" name="Text 10"/>
          <p:cNvSpPr txBox="1"/>
          <p:nvPr/>
        </p:nvSpPr>
        <p:spPr>
          <a:xfrm>
            <a:off x="8138160" y="5541264"/>
            <a:ext cx="3520440" cy="274320"/>
          </a:xfrm>
          <a:prstGeom prst="rect">
            <a:avLst/>
          </a:prstGeom>
          <a:noFill/>
          <a:ln/>
        </p:spPr>
        <p:txBody>
          <a:bodyPr wrap="square" lIns="0" tIns="0" rIns="0" bIns="0" rtlCol="0" anchor="t"/>
          <a:lstStyle/>
          <a:p>
            <a:pPr indent="0" marL="0">
              <a:buNone/>
            </a:pPr>
            <a:r>
              <a:rPr lang="en-US" sz="950" i="1" dirty="0">
                <a:solidFill>
                  <a:schemeClr val="accent6"/>
                </a:solidFill>
              </a:rPr>
              <a:t>SwaKnee tablet controller and knee applicator (supplied product photograph; no patient shown)</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ACCESS · INCLUSIVE DESIGN</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Who can't use it? Audit the demands a device makes</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Cambridge EDC Inclusive Design Toolkit (seven capabilities; Exclusion Calculator, UK data 1996–97); MRCT Accessibility by Design (2023); IEC 62366-1; FoGO project material (user consultation, project-reported)</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80192" y="393192"/>
            <a:ext cx="128016" cy="128016"/>
          </a:xfrm>
          <a:prstGeom prst="ellipse">
            <a:avLst/>
          </a:prstGeom>
          <a:solidFill>
            <a:schemeClr val="accent6"/>
          </a:solidFill>
          <a:ln w="12700">
            <a:solidFill>
              <a:schemeClr val="accent1"/>
            </a:solidFill>
            <a:prstDash val="solid"/>
          </a:ln>
        </p:spPr>
      </p:sp>
      <p:sp>
        <p:nvSpPr>
          <p:cNvPr id="9" name="Progress Access"/>
          <p:cNvSpPr/>
          <p:nvPr/>
        </p:nvSpPr>
        <p:spPr>
          <a:xfrm>
            <a:off x="11000232" y="347472"/>
            <a:ext cx="219456" cy="219456"/>
          </a:xfrm>
          <a:prstGeom prst="ellipse">
            <a:avLst/>
          </a:prstGeom>
          <a:solidFill>
            <a:schemeClr val="accent1"/>
          </a:solidFill>
          <a:ln w="12700">
            <a:solidFill>
              <a:schemeClr val="accent1"/>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Text 9"/>
          <p:cNvSpPr txBox="1"/>
          <p:nvPr/>
        </p:nvSpPr>
        <p:spPr>
          <a:xfrm>
            <a:off x="548640" y="1463040"/>
            <a:ext cx="7543800" cy="237744"/>
          </a:xfrm>
          <a:prstGeom prst="rect">
            <a:avLst/>
          </a:prstGeom>
          <a:noFill/>
          <a:ln/>
        </p:spPr>
        <p:txBody>
          <a:bodyPr wrap="square" lIns="0" tIns="0" rIns="0" bIns="0" rtlCol="0" anchor="t"/>
          <a:lstStyle/>
          <a:p>
            <a:pPr indent="0" marL="0">
              <a:buNone/>
            </a:pPr>
            <a:r>
              <a:rPr lang="en-US" sz="1050" i="1" dirty="0">
                <a:solidFill>
                  <a:schemeClr val="accent5"/>
                </a:solidFill>
              </a:rPr>
              <a:t>Illustrative ratings of the demand each task makes on the seven capabilities of the Cambridge EDC Inclusive Design Toolkit</a:t>
            </a:r>
            <a:endParaRPr lang="en-US" sz="1050" dirty="0"/>
          </a:p>
        </p:txBody>
      </p:sp>
      <p:graphicFrame>
        <p:nvGraphicFramePr>
          <p:cNvPr id="48" name="Matrix"/>
          <p:cNvGraphicFramePr>
            <a:graphicFrameLocks noGrp="1"/>
          </p:cNvGraphicFramePr>
          <p:nvPr>
            <p:extLst>
              <p:ext uri="{D42A27DB-BD31-4B8C-83A1-F6EECF244321}">
                <p14:modId xmlns:p14="http://schemas.microsoft.com/office/powerpoint/2010/main" val="1579011935"/>
              </p:ext>
            </p:extLst>
          </p:nvPr>
        </p:nvGraphicFramePr>
        <p:xfrm>
          <a:off x="548640" y="1737360"/>
          <a:ext cx="7543800" cy="914400"/>
        </p:xfrm>
        <a:graphic>
          <a:graphicData uri="http://schemas.openxmlformats.org/drawingml/2006/table">
            <a:tbl>
              <a:tblPr/>
              <a:tblGrid>
                <a:gridCol w="1371600"/>
                <a:gridCol w="2377440"/>
                <a:gridCol w="713232"/>
                <a:gridCol w="2377440"/>
                <a:gridCol w="704088"/>
              </a:tblGrid>
              <a:tr h="448056">
                <a:tc>
                  <a:txBody>
                    <a:bodyPr/>
                    <a:lstStyle/>
                    <a:p>
                      <a:pPr indent="0" marL="0">
                        <a:buNone/>
                      </a:pPr>
                      <a:r>
                        <a:rPr lang="en-US" sz="1050" b="1" dirty="0">
                          <a:solidFill>
                            <a:srgbClr val="FFFFFF"/>
                          </a:solidFill>
                        </a:rPr>
                        <a:t>Capability</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What FoGO asks of Ramesh</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Demand</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What SwaKnee asks of Kamala</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Demand</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r>
              <a:tr h="448056">
                <a:tc>
                  <a:txBody>
                    <a:bodyPr/>
                    <a:lstStyle/>
                    <a:p>
                      <a:pPr indent="0" marL="0">
                        <a:buNone/>
                      </a:pPr>
                      <a:r>
                        <a:rPr lang="en-US" sz="1000" b="1" dirty="0">
                          <a:solidFill>
                            <a:srgbClr val="0E3B3D"/>
                          </a:solidFill>
                        </a:rPr>
                        <a:t>Vision</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000" dirty="0">
                          <a:solidFill>
                            <a:srgbClr val="17262B"/>
                          </a:solidFill>
                        </a:rPr>
                        <a:t>Read the app screen; see the LED and the pairing prompts</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000" b="1" dirty="0">
                          <a:solidFill>
                            <a:srgbClr val="9A5E12"/>
                          </a:solidFill>
                        </a:rPr>
                        <a:t>Medium</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EBD3"/>
                    </a:solidFill>
                  </a:tcPr>
                </a:tc>
                <a:tc>
                  <a:txBody>
                    <a:bodyPr/>
                    <a:lstStyle/>
                    <a:p>
                      <a:pPr indent="0" marL="0">
                        <a:buNone/>
                      </a:pPr>
                      <a:r>
                        <a:rPr lang="en-US" sz="1000" dirty="0">
                          <a:solidFill>
                            <a:srgbClr val="17262B"/>
                          </a:solidFill>
                        </a:rPr>
                        <a:t>Read the controller display; set the session timer</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000" b="1" dirty="0">
                          <a:solidFill>
                            <a:srgbClr val="9A5E12"/>
                          </a:solidFill>
                        </a:rPr>
                        <a:t>Medium</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EBD3"/>
                    </a:solidFill>
                  </a:tcPr>
                </a:tc>
              </a:tr>
              <a:tr h="448056">
                <a:tc>
                  <a:txBody>
                    <a:bodyPr/>
                    <a:lstStyle/>
                    <a:p>
                      <a:pPr indent="0" marL="0">
                        <a:buNone/>
                      </a:pPr>
                      <a:r>
                        <a:rPr lang="en-US" sz="1000" b="1" dirty="0">
                          <a:solidFill>
                            <a:srgbClr val="0E3B3D"/>
                          </a:solidFill>
                        </a:rPr>
                        <a:t>Hearing</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rPr>
                        <a:t>App alerts only; the cue itself is a vibration</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E7A52"/>
                          </a:solidFill>
                        </a:rPr>
                        <a:t>Low</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DCEFE3"/>
                    </a:solidFill>
                  </a:tcPr>
                </a:tc>
                <a:tc>
                  <a:txBody>
                    <a:bodyPr/>
                    <a:lstStyle/>
                    <a:p>
                      <a:pPr indent="0" marL="0">
                        <a:buNone/>
                      </a:pPr>
                      <a:r>
                        <a:rPr lang="en-US" sz="1000" dirty="0">
                          <a:solidFill>
                            <a:srgbClr val="17262B"/>
                          </a:solidFill>
                        </a:rPr>
                        <a:t>Beeps and error tones from the controller</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E7A52"/>
                          </a:solidFill>
                        </a:rPr>
                        <a:t>Low</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DCEFE3"/>
                    </a:solidFill>
                  </a:tcPr>
                </a:tc>
              </a:tr>
              <a:tr h="448056">
                <a:tc>
                  <a:txBody>
                    <a:bodyPr/>
                    <a:lstStyle/>
                    <a:p>
                      <a:pPr indent="0" marL="0">
                        <a:buNone/>
                      </a:pPr>
                      <a:r>
                        <a:rPr lang="en-US" sz="1000" b="1" dirty="0">
                          <a:solidFill>
                            <a:srgbClr val="0E3B3D"/>
                          </a:solidFill>
                        </a:rPr>
                        <a:t>Thinking</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000" dirty="0">
                          <a:solidFill>
                            <a:srgbClr val="17262B"/>
                          </a:solidFill>
                        </a:rPr>
                        <a:t>Pair the phone, keep the charging routine, trust a cue mid-freeze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000" b="1" dirty="0">
                          <a:solidFill>
                            <a:srgbClr val="A8372D"/>
                          </a:solidFill>
                        </a:rPr>
                        <a:t>High</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6DCD9"/>
                    </a:solidFill>
                  </a:tcPr>
                </a:tc>
                <a:tc>
                  <a:txBody>
                    <a:bodyPr/>
                    <a:lstStyle/>
                    <a:p>
                      <a:pPr indent="0" marL="0">
                        <a:buNone/>
                      </a:pPr>
                      <a:r>
                        <a:rPr lang="en-US" sz="1000" dirty="0">
                          <a:solidFill>
                            <a:srgbClr val="17262B"/>
                          </a:solidFill>
                        </a:rPr>
                        <a:t>Keep a 45-minute daily schedule for 45 days; read error codes</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000" b="1" dirty="0">
                          <a:solidFill>
                            <a:srgbClr val="9A5E12"/>
                          </a:solidFill>
                        </a:rPr>
                        <a:t>Medium</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EBD3"/>
                    </a:solidFill>
                  </a:tcPr>
                </a:tc>
              </a:tr>
              <a:tr h="448056">
                <a:tc>
                  <a:txBody>
                    <a:bodyPr/>
                    <a:lstStyle/>
                    <a:p>
                      <a:pPr indent="0" marL="0">
                        <a:buNone/>
                      </a:pPr>
                      <a:r>
                        <a:rPr lang="en-US" sz="1000" b="1" dirty="0">
                          <a:solidFill>
                            <a:srgbClr val="0E3B3D"/>
                          </a:solidFill>
                        </a:rPr>
                        <a:t>Communication</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rPr>
                        <a:t>Report a fault; consent and instructions in Odia or Hindi</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9A5E12"/>
                          </a:solidFill>
                        </a:rPr>
                        <a:t>Medium</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EBD3"/>
                    </a:solidFill>
                  </a:tcPr>
                </a:tc>
                <a:tc>
                  <a:txBody>
                    <a:bodyPr/>
                    <a:lstStyle/>
                    <a:p>
                      <a:pPr indent="0" marL="0">
                        <a:buNone/>
                      </a:pPr>
                      <a:r>
                        <a:rPr lang="en-US" sz="1000" dirty="0">
                          <a:solidFill>
                            <a:srgbClr val="17262B"/>
                          </a:solidFill>
                        </a:rPr>
                        <a:t>Follow written steps; ask for help when the cuff slips</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9A5E12"/>
                          </a:solidFill>
                        </a:rPr>
                        <a:t>Medium</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EBD3"/>
                    </a:solidFill>
                  </a:tcPr>
                </a:tc>
              </a:tr>
              <a:tr h="448056">
                <a:tc>
                  <a:txBody>
                    <a:bodyPr/>
                    <a:lstStyle/>
                    <a:p>
                      <a:pPr indent="0" marL="0">
                        <a:buNone/>
                      </a:pPr>
                      <a:r>
                        <a:rPr lang="en-US" sz="1000" b="1" dirty="0">
                          <a:solidFill>
                            <a:srgbClr val="0E3B3D"/>
                          </a:solidFill>
                        </a:rPr>
                        <a:t>Locomotion</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000" dirty="0">
                          <a:solidFill>
                            <a:srgbClr val="17262B"/>
                          </a:solidFill>
                        </a:rPr>
                        <a:t>Walk and turn with an ankle module while freezing</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000" b="1" dirty="0">
                          <a:solidFill>
                            <a:srgbClr val="A8372D"/>
                          </a:solidFill>
                        </a:rPr>
                        <a:t>High</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6DCD9"/>
                    </a:solidFill>
                  </a:tcPr>
                </a:tc>
                <a:tc>
                  <a:txBody>
                    <a:bodyPr/>
                    <a:lstStyle/>
                    <a:p>
                      <a:pPr indent="0" marL="0">
                        <a:buNone/>
                      </a:pPr>
                      <a:r>
                        <a:rPr lang="en-US" sz="1000" dirty="0">
                          <a:solidFill>
                            <a:srgbClr val="17262B"/>
                          </a:solidFill>
                        </a:rPr>
                        <a:t>Travel to the clinic for fitting and follow-up</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000" b="1" dirty="0">
                          <a:solidFill>
                            <a:srgbClr val="9A5E12"/>
                          </a:solidFill>
                        </a:rPr>
                        <a:t>Medium</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EBD3"/>
                    </a:solidFill>
                  </a:tcPr>
                </a:tc>
              </a:tr>
              <a:tr h="448056">
                <a:tc>
                  <a:txBody>
                    <a:bodyPr/>
                    <a:lstStyle/>
                    <a:p>
                      <a:pPr indent="0" marL="0">
                        <a:buNone/>
                      </a:pPr>
                      <a:r>
                        <a:rPr lang="en-US" sz="1000" b="1" dirty="0">
                          <a:solidFill>
                            <a:srgbClr val="0E3B3D"/>
                          </a:solidFill>
                        </a:rPr>
                        <a:t>Reach and stretch</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rPr>
                        <a:t>Bend to the ankle; place the chest patch</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A8372D"/>
                          </a:solidFill>
                        </a:rPr>
                        <a:t>High</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6DCD9"/>
                    </a:solidFill>
                  </a:tcPr>
                </a:tc>
                <a:tc>
                  <a:txBody>
                    <a:bodyPr/>
                    <a:lstStyle/>
                    <a:p>
                      <a:pPr indent="0" marL="0">
                        <a:buNone/>
                      </a:pPr>
                      <a:r>
                        <a:rPr lang="en-US" sz="1000" dirty="0">
                          <a:solidFill>
                            <a:srgbClr val="17262B"/>
                          </a:solidFill>
                        </a:rPr>
                        <a:t>Bend to wrap the applicator around the knee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A8372D"/>
                          </a:solidFill>
                        </a:rPr>
                        <a:t>High</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6DCD9"/>
                    </a:solidFill>
                  </a:tcPr>
                </a:tc>
              </a:tr>
              <a:tr h="448056">
                <a:tc>
                  <a:txBody>
                    <a:bodyPr/>
                    <a:lstStyle/>
                    <a:p>
                      <a:pPr indent="0" marL="0">
                        <a:buNone/>
                      </a:pPr>
                      <a:r>
                        <a:rPr lang="en-US" sz="1000" b="1" dirty="0">
                          <a:solidFill>
                            <a:srgbClr val="0E3B3D"/>
                          </a:solidFill>
                        </a:rPr>
                        <a:t>Dexterity</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000" dirty="0">
                          <a:solidFill>
                            <a:srgbClr val="17262B"/>
                          </a:solidFill>
                        </a:rPr>
                        <a:t>Strap buckle, adhesive patch, a small charging port</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000" b="1" dirty="0">
                          <a:solidFill>
                            <a:srgbClr val="A8372D"/>
                          </a:solidFill>
                        </a:rPr>
                        <a:t>High</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6DCD9"/>
                    </a:solidFill>
                  </a:tcPr>
                </a:tc>
                <a:tc>
                  <a:txBody>
                    <a:bodyPr/>
                    <a:lstStyle/>
                    <a:p>
                      <a:pPr indent="0" marL="0">
                        <a:buNone/>
                      </a:pPr>
                      <a:r>
                        <a:rPr lang="en-US" sz="1000" dirty="0">
                          <a:solidFill>
                            <a:srgbClr val="17262B"/>
                          </a:solidFill>
                        </a:rPr>
                        <a:t>Fasten the cuff; connect the cable to the controller</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000" b="1" dirty="0">
                          <a:solidFill>
                            <a:srgbClr val="9A5E12"/>
                          </a:solidFill>
                        </a:rPr>
                        <a:t>Medium</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EBD3"/>
                    </a:solidFill>
                  </a:tcPr>
                </a:tc>
              </a:tr>
            </a:tbl>
          </a:graphicData>
        </a:graphic>
      </p:graphicFrame>
      <p:sp>
        <p:nvSpPr>
          <p:cNvPr id="14" name="Callout"/>
          <p:cNvSpPr/>
          <p:nvPr/>
        </p:nvSpPr>
        <p:spPr>
          <a:xfrm>
            <a:off x="548640" y="5532120"/>
            <a:ext cx="7543800" cy="640080"/>
          </a:xfrm>
          <a:prstGeom prst="roundRect">
            <a:avLst>
              <a:gd name="adj" fmla="val 11429"/>
            </a:avLst>
          </a:prstGeom>
          <a:solidFill>
            <a:schemeClr val="accent2">
              <a:alpha val="12000"/>
            </a:schemeClr>
          </a:solidFill>
          <a:ln/>
        </p:spPr>
      </p:sp>
      <p:sp>
        <p:nvSpPr>
          <p:cNvPr id="15" name="Callout bar"/>
          <p:cNvSpPr/>
          <p:nvPr/>
        </p:nvSpPr>
        <p:spPr>
          <a:xfrm>
            <a:off x="548640" y="5623560"/>
            <a:ext cx="64008" cy="457200"/>
          </a:xfrm>
          <a:prstGeom prst="rect">
            <a:avLst/>
          </a:prstGeom>
          <a:solidFill>
            <a:schemeClr val="accent2"/>
          </a:solidFill>
          <a:ln/>
        </p:spPr>
      </p:sp>
      <p:sp>
        <p:nvSpPr>
          <p:cNvPr id="16" name="Text 12"/>
          <p:cNvSpPr txBox="1"/>
          <p:nvPr/>
        </p:nvSpPr>
        <p:spPr>
          <a:xfrm>
            <a:off x="822960" y="5532120"/>
            <a:ext cx="7132320" cy="640080"/>
          </a:xfrm>
          <a:prstGeom prst="rect">
            <a:avLst/>
          </a:prstGeom>
          <a:noFill/>
          <a:ln/>
        </p:spPr>
        <p:txBody>
          <a:bodyPr wrap="square" lIns="0" tIns="0" rIns="0" bIns="0" rtlCol="0" anchor="ctr"/>
          <a:lstStyle/>
          <a:p>
            <a:pPr indent="0" marL="0">
              <a:buNone/>
            </a:pPr>
            <a:r>
              <a:rPr lang="en-US" sz="1050" b="1" dirty="0">
                <a:solidFill>
                  <a:schemeClr val="tx1"/>
                </a:solidFill>
              </a:rPr>
              <a:t>Pick one demand to redesign first. </a:t>
            </a:r>
            <a:pPr indent="0" marL="0">
              <a:buNone/>
            </a:pPr>
            <a:r>
              <a:rPr lang="en-US" sz="1050" dirty="0">
                <a:solidFill>
                  <a:schemeClr val="tx1"/>
                </a:solidFill>
              </a:rPr>
              <a:t>Classroom simulation: fasten the strap wearing thick gloves. FoGO's team reports consulting 30+ potential users; the common ask was comfort and easier use (project-reported).</a:t>
            </a:r>
            <a:endParaRPr lang="en-US" sz="1050" dirty="0"/>
          </a:p>
        </p:txBody>
      </p:sp>
      <p:sp>
        <p:nvSpPr>
          <p:cNvPr id="17" name="Text 13"/>
          <p:cNvSpPr txBox="1"/>
          <p:nvPr/>
        </p:nvSpPr>
        <p:spPr>
          <a:xfrm>
            <a:off x="8321040" y="1463040"/>
            <a:ext cx="3322015" cy="256032"/>
          </a:xfrm>
          <a:prstGeom prst="rect">
            <a:avLst/>
          </a:prstGeom>
          <a:noFill/>
          <a:ln/>
        </p:spPr>
        <p:txBody>
          <a:bodyPr wrap="square" lIns="0" tIns="0" rIns="0" bIns="0" rtlCol="0" anchor="t"/>
          <a:lstStyle/>
          <a:p>
            <a:pPr indent="0" marL="0">
              <a:buNone/>
            </a:pPr>
            <a:r>
              <a:rPr lang="en-US" sz="1200" b="1" dirty="0">
                <a:solidFill>
                  <a:schemeClr val="tx2"/>
                </a:solidFill>
              </a:rPr>
              <a:t>India adds demands the toolkit does not list</a:t>
            </a:r>
            <a:endParaRPr lang="en-US" sz="1200" dirty="0"/>
          </a:p>
        </p:txBody>
      </p:sp>
      <p:sp>
        <p:nvSpPr>
          <p:cNvPr id="18" name="Icon disc LuLanguages"/>
          <p:cNvSpPr/>
          <p:nvPr/>
        </p:nvSpPr>
        <p:spPr>
          <a:xfrm>
            <a:off x="8321040" y="1847088"/>
            <a:ext cx="402336" cy="402336"/>
          </a:xfrm>
          <a:prstGeom prst="ellipse">
            <a:avLst/>
          </a:prstGeom>
          <a:solidFill>
            <a:schemeClr val="accent1">
              <a:alpha val="15000"/>
            </a:schemeClr>
          </a:solidFill>
          <a:ln/>
        </p:spPr>
      </p:sp>
      <p:pic>
        <p:nvPicPr>
          <p:cNvPr id="19" name="Image 0" descr="Languages icon">    </p:cNvPr>
          <p:cNvPicPr>
            <a:picLocks noChangeAspect="1"/>
          </p:cNvPicPr>
          <p:nvPr/>
        </p:nvPicPr>
        <p:blipFill>
          <a:blip r:embed="rId1"/>
          <a:stretch>
            <a:fillRect/>
          </a:stretch>
        </p:blipFill>
        <p:spPr>
          <a:xfrm>
            <a:off x="8409554" y="1935602"/>
            <a:ext cx="225308" cy="225308"/>
          </a:xfrm>
          <a:prstGeom prst="rect">
            <a:avLst/>
          </a:prstGeom>
        </p:spPr>
      </p:pic>
      <p:sp>
        <p:nvSpPr>
          <p:cNvPr id="20" name="Text 15"/>
          <p:cNvSpPr txBox="1"/>
          <p:nvPr/>
        </p:nvSpPr>
        <p:spPr>
          <a:xfrm>
            <a:off x="8851392" y="1792224"/>
            <a:ext cx="2773375" cy="530352"/>
          </a:xfrm>
          <a:prstGeom prst="rect">
            <a:avLst/>
          </a:prstGeom>
          <a:noFill/>
          <a:ln/>
        </p:spPr>
        <p:txBody>
          <a:bodyPr wrap="square" lIns="0" tIns="0" rIns="0" bIns="0" rtlCol="0" anchor="t"/>
          <a:lstStyle/>
          <a:p>
            <a:pPr indent="0" marL="0">
              <a:buNone/>
            </a:pPr>
            <a:r>
              <a:rPr lang="en-US" sz="1100" b="1" dirty="0">
                <a:solidFill>
                  <a:schemeClr val="tx1"/>
                </a:solidFill>
              </a:rPr>
              <a:t>Language</a:t>
            </a:r>
            <a:endParaRPr lang="en-US" sz="1100" dirty="0"/>
          </a:p>
          <a:p>
            <a:pPr indent="0" marL="0">
              <a:buNone/>
            </a:pPr>
            <a:r>
              <a:rPr lang="en-US" sz="950" dirty="0">
                <a:solidFill>
                  <a:schemeClr val="tx2"/>
                </a:solidFill>
              </a:rPr>
              <a:t>Odia, Hindi or English on screen, in the leaflet and at consent</a:t>
            </a:r>
            <a:endParaRPr lang="en-US" sz="1100" dirty="0"/>
          </a:p>
        </p:txBody>
      </p:sp>
      <p:sp>
        <p:nvSpPr>
          <p:cNvPr id="21" name="Icon disc LuBookOpen"/>
          <p:cNvSpPr/>
          <p:nvPr/>
        </p:nvSpPr>
        <p:spPr>
          <a:xfrm>
            <a:off x="8321040" y="2395728"/>
            <a:ext cx="402336" cy="402336"/>
          </a:xfrm>
          <a:prstGeom prst="ellipse">
            <a:avLst/>
          </a:prstGeom>
          <a:solidFill>
            <a:schemeClr val="accent1">
              <a:alpha val="15000"/>
            </a:schemeClr>
          </a:solidFill>
          <a:ln/>
        </p:spPr>
      </p:sp>
      <p:pic>
        <p:nvPicPr>
          <p:cNvPr id="22" name="Image 1" descr="BookOpen icon">    </p:cNvPr>
          <p:cNvPicPr>
            <a:picLocks noChangeAspect="1"/>
          </p:cNvPicPr>
          <p:nvPr/>
        </p:nvPicPr>
        <p:blipFill>
          <a:blip r:embed="rId2"/>
          <a:stretch>
            <a:fillRect/>
          </a:stretch>
        </p:blipFill>
        <p:spPr>
          <a:xfrm>
            <a:off x="8409554" y="2484242"/>
            <a:ext cx="225308" cy="225308"/>
          </a:xfrm>
          <a:prstGeom prst="rect">
            <a:avLst/>
          </a:prstGeom>
        </p:spPr>
      </p:pic>
      <p:sp>
        <p:nvSpPr>
          <p:cNvPr id="23" name="Text 17"/>
          <p:cNvSpPr txBox="1"/>
          <p:nvPr/>
        </p:nvSpPr>
        <p:spPr>
          <a:xfrm>
            <a:off x="8851392" y="2340864"/>
            <a:ext cx="2773375" cy="530352"/>
          </a:xfrm>
          <a:prstGeom prst="rect">
            <a:avLst/>
          </a:prstGeom>
          <a:noFill/>
          <a:ln/>
        </p:spPr>
        <p:txBody>
          <a:bodyPr wrap="square" lIns="0" tIns="0" rIns="0" bIns="0" rtlCol="0" anchor="t"/>
          <a:lstStyle/>
          <a:p>
            <a:pPr indent="0" marL="0">
              <a:buNone/>
            </a:pPr>
            <a:r>
              <a:rPr lang="en-US" sz="1100" b="1" dirty="0">
                <a:solidFill>
                  <a:schemeClr val="tx1"/>
                </a:solidFill>
              </a:rPr>
              <a:t>Literacy</a:t>
            </a:r>
            <a:endParaRPr lang="en-US" sz="1100" dirty="0"/>
          </a:p>
          <a:p>
            <a:pPr indent="0" marL="0">
              <a:buNone/>
            </a:pPr>
            <a:r>
              <a:rPr lang="en-US" sz="950" dirty="0">
                <a:solidFill>
                  <a:schemeClr val="tx2"/>
                </a:solidFill>
              </a:rPr>
              <a:t>Pictorial steps and teach-back, not a printed manual</a:t>
            </a:r>
            <a:endParaRPr lang="en-US" sz="1100" dirty="0"/>
          </a:p>
        </p:txBody>
      </p:sp>
      <p:sp>
        <p:nvSpPr>
          <p:cNvPr id="24" name="Icon disc LuPlugZap"/>
          <p:cNvSpPr/>
          <p:nvPr/>
        </p:nvSpPr>
        <p:spPr>
          <a:xfrm>
            <a:off x="8321040" y="2944368"/>
            <a:ext cx="402336" cy="402336"/>
          </a:xfrm>
          <a:prstGeom prst="ellipse">
            <a:avLst/>
          </a:prstGeom>
          <a:solidFill>
            <a:schemeClr val="accent1">
              <a:alpha val="15000"/>
            </a:schemeClr>
          </a:solidFill>
          <a:ln/>
        </p:spPr>
      </p:sp>
      <p:pic>
        <p:nvPicPr>
          <p:cNvPr id="25" name="Image 2" descr="PlugZap icon">    </p:cNvPr>
          <p:cNvPicPr>
            <a:picLocks noChangeAspect="1"/>
          </p:cNvPicPr>
          <p:nvPr/>
        </p:nvPicPr>
        <p:blipFill>
          <a:blip r:embed="rId3"/>
          <a:stretch>
            <a:fillRect/>
          </a:stretch>
        </p:blipFill>
        <p:spPr>
          <a:xfrm>
            <a:off x="8409554" y="3032882"/>
            <a:ext cx="225308" cy="225308"/>
          </a:xfrm>
          <a:prstGeom prst="rect">
            <a:avLst/>
          </a:prstGeom>
        </p:spPr>
      </p:pic>
      <p:sp>
        <p:nvSpPr>
          <p:cNvPr id="26" name="Text 19"/>
          <p:cNvSpPr txBox="1"/>
          <p:nvPr/>
        </p:nvSpPr>
        <p:spPr>
          <a:xfrm>
            <a:off x="8851392" y="2889504"/>
            <a:ext cx="2773375" cy="530352"/>
          </a:xfrm>
          <a:prstGeom prst="rect">
            <a:avLst/>
          </a:prstGeom>
          <a:noFill/>
          <a:ln/>
        </p:spPr>
        <p:txBody>
          <a:bodyPr wrap="square" lIns="0" tIns="0" rIns="0" bIns="0" rtlCol="0" anchor="t"/>
          <a:lstStyle/>
          <a:p>
            <a:pPr indent="0" marL="0">
              <a:buNone/>
            </a:pPr>
            <a:r>
              <a:rPr lang="en-US" sz="1100" b="1" dirty="0">
                <a:solidFill>
                  <a:schemeClr val="tx1"/>
                </a:solidFill>
              </a:rPr>
              <a:t>Power</a:t>
            </a:r>
            <a:endParaRPr lang="en-US" sz="1100" dirty="0"/>
          </a:p>
          <a:p>
            <a:pPr indent="0" marL="0">
              <a:buNone/>
            </a:pPr>
            <a:r>
              <a:rPr lang="en-US" sz="950" dirty="0">
                <a:solidFill>
                  <a:schemeClr val="tx2"/>
                </a:solidFill>
              </a:rPr>
              <a:t>Cuts and voltage swings: charging routines fail first</a:t>
            </a:r>
            <a:endParaRPr lang="en-US" sz="1100" dirty="0"/>
          </a:p>
        </p:txBody>
      </p:sp>
      <p:sp>
        <p:nvSpPr>
          <p:cNvPr id="27" name="Icon disc LuSmartphone"/>
          <p:cNvSpPr/>
          <p:nvPr/>
        </p:nvSpPr>
        <p:spPr>
          <a:xfrm>
            <a:off x="8321040" y="3493008"/>
            <a:ext cx="402336" cy="402336"/>
          </a:xfrm>
          <a:prstGeom prst="ellipse">
            <a:avLst/>
          </a:prstGeom>
          <a:solidFill>
            <a:schemeClr val="accent1">
              <a:alpha val="15000"/>
            </a:schemeClr>
          </a:solidFill>
          <a:ln/>
        </p:spPr>
      </p:sp>
      <p:pic>
        <p:nvPicPr>
          <p:cNvPr id="28" name="Image 3" descr="Smartphone icon">    </p:cNvPr>
          <p:cNvPicPr>
            <a:picLocks noChangeAspect="1"/>
          </p:cNvPicPr>
          <p:nvPr/>
        </p:nvPicPr>
        <p:blipFill>
          <a:blip r:embed="rId4"/>
          <a:stretch>
            <a:fillRect/>
          </a:stretch>
        </p:blipFill>
        <p:spPr>
          <a:xfrm>
            <a:off x="8409554" y="3581522"/>
            <a:ext cx="225308" cy="225308"/>
          </a:xfrm>
          <a:prstGeom prst="rect">
            <a:avLst/>
          </a:prstGeom>
        </p:spPr>
      </p:pic>
      <p:sp>
        <p:nvSpPr>
          <p:cNvPr id="29" name="Text 21"/>
          <p:cNvSpPr txBox="1"/>
          <p:nvPr/>
        </p:nvSpPr>
        <p:spPr>
          <a:xfrm>
            <a:off x="8851392" y="3438144"/>
            <a:ext cx="2773375" cy="530352"/>
          </a:xfrm>
          <a:prstGeom prst="rect">
            <a:avLst/>
          </a:prstGeom>
          <a:noFill/>
          <a:ln/>
        </p:spPr>
        <p:txBody>
          <a:bodyPr wrap="square" lIns="0" tIns="0" rIns="0" bIns="0" rtlCol="0" anchor="t"/>
          <a:lstStyle/>
          <a:p>
            <a:pPr indent="0" marL="0">
              <a:buNone/>
            </a:pPr>
            <a:r>
              <a:rPr lang="en-US" sz="1100" b="1" dirty="0">
                <a:solidFill>
                  <a:schemeClr val="tx1"/>
                </a:solidFill>
              </a:rPr>
              <a:t>Smartphone</a:t>
            </a:r>
            <a:endParaRPr lang="en-US" sz="1100" dirty="0"/>
          </a:p>
          <a:p>
            <a:pPr indent="0" marL="0">
              <a:buNone/>
            </a:pPr>
            <a:r>
              <a:rPr lang="en-US" sz="950" dirty="0">
                <a:solidFill>
                  <a:schemeClr val="tx2"/>
                </a:solidFill>
              </a:rPr>
              <a:t>Shared, old, or none; no data plan for updates</a:t>
            </a:r>
            <a:endParaRPr lang="en-US" sz="1100" dirty="0"/>
          </a:p>
        </p:txBody>
      </p:sp>
      <p:sp>
        <p:nvSpPr>
          <p:cNvPr id="30" name="Icon disc LuHandHelping"/>
          <p:cNvSpPr/>
          <p:nvPr/>
        </p:nvSpPr>
        <p:spPr>
          <a:xfrm>
            <a:off x="8321040" y="4041648"/>
            <a:ext cx="402336" cy="402336"/>
          </a:xfrm>
          <a:prstGeom prst="ellipse">
            <a:avLst/>
          </a:prstGeom>
          <a:solidFill>
            <a:schemeClr val="accent1">
              <a:alpha val="15000"/>
            </a:schemeClr>
          </a:solidFill>
          <a:ln/>
        </p:spPr>
      </p:sp>
      <p:pic>
        <p:nvPicPr>
          <p:cNvPr id="31" name="Image 4" descr="HandHelping icon">    </p:cNvPr>
          <p:cNvPicPr>
            <a:picLocks noChangeAspect="1"/>
          </p:cNvPicPr>
          <p:nvPr/>
        </p:nvPicPr>
        <p:blipFill>
          <a:blip r:embed="rId5"/>
          <a:stretch>
            <a:fillRect/>
          </a:stretch>
        </p:blipFill>
        <p:spPr>
          <a:xfrm>
            <a:off x="8409554" y="4130162"/>
            <a:ext cx="225308" cy="225308"/>
          </a:xfrm>
          <a:prstGeom prst="rect">
            <a:avLst/>
          </a:prstGeom>
        </p:spPr>
      </p:pic>
      <p:sp>
        <p:nvSpPr>
          <p:cNvPr id="32" name="Text 23"/>
          <p:cNvSpPr txBox="1"/>
          <p:nvPr/>
        </p:nvSpPr>
        <p:spPr>
          <a:xfrm>
            <a:off x="8851392" y="3986784"/>
            <a:ext cx="2773375" cy="530352"/>
          </a:xfrm>
          <a:prstGeom prst="rect">
            <a:avLst/>
          </a:prstGeom>
          <a:noFill/>
          <a:ln/>
        </p:spPr>
        <p:txBody>
          <a:bodyPr wrap="square" lIns="0" tIns="0" rIns="0" bIns="0" rtlCol="0" anchor="t"/>
          <a:lstStyle/>
          <a:p>
            <a:pPr indent="0" marL="0">
              <a:buNone/>
            </a:pPr>
            <a:r>
              <a:rPr lang="en-US" sz="1100" b="1" dirty="0">
                <a:solidFill>
                  <a:schemeClr val="tx1"/>
                </a:solidFill>
              </a:rPr>
              <a:t>Caregiver</a:t>
            </a:r>
            <a:endParaRPr lang="en-US" sz="1100" dirty="0"/>
          </a:p>
          <a:p>
            <a:pPr indent="0" marL="0">
              <a:buNone/>
            </a:pPr>
            <a:r>
              <a:rPr lang="en-US" sz="950" dirty="0">
                <a:solidFill>
                  <a:schemeClr val="tx2"/>
                </a:solidFill>
              </a:rPr>
              <a:t>Fitting, charging and reporting fall on a relative</a:t>
            </a:r>
            <a:endParaRPr lang="en-US" sz="1100" dirty="0"/>
          </a:p>
        </p:txBody>
      </p:sp>
      <p:sp>
        <p:nvSpPr>
          <p:cNvPr id="33" name="Exclusion calculator caution"/>
          <p:cNvSpPr/>
          <p:nvPr/>
        </p:nvSpPr>
        <p:spPr>
          <a:xfrm>
            <a:off x="8321040" y="4590288"/>
            <a:ext cx="3322015" cy="713232"/>
          </a:xfrm>
          <a:prstGeom prst="roundRect">
            <a:avLst>
              <a:gd name="adj" fmla="val 17949"/>
            </a:avLst>
          </a:prstGeom>
          <a:solidFill>
            <a:schemeClr val="bg2"/>
          </a:solidFill>
          <a:ln/>
        </p:spPr>
      </p:sp>
      <p:sp>
        <p:nvSpPr>
          <p:cNvPr id="34" name="Caution bar"/>
          <p:cNvSpPr/>
          <p:nvPr/>
        </p:nvSpPr>
        <p:spPr>
          <a:xfrm>
            <a:off x="8321040" y="4700016"/>
            <a:ext cx="64008" cy="493776"/>
          </a:xfrm>
          <a:prstGeom prst="rect">
            <a:avLst/>
          </a:prstGeom>
          <a:solidFill>
            <a:schemeClr val="accent3"/>
          </a:solidFill>
          <a:ln/>
        </p:spPr>
      </p:sp>
      <p:sp>
        <p:nvSpPr>
          <p:cNvPr id="35" name="Text 26"/>
          <p:cNvSpPr txBox="1"/>
          <p:nvPr/>
        </p:nvSpPr>
        <p:spPr>
          <a:xfrm>
            <a:off x="8503920" y="4626864"/>
            <a:ext cx="3047695" cy="640080"/>
          </a:xfrm>
          <a:prstGeom prst="rect">
            <a:avLst/>
          </a:prstGeom>
          <a:noFill/>
          <a:ln/>
        </p:spPr>
        <p:txBody>
          <a:bodyPr wrap="square" lIns="0" tIns="0" rIns="0" bIns="0" rtlCol="0" anchor="ctr"/>
          <a:lstStyle/>
          <a:p>
            <a:pPr indent="0" marL="0">
              <a:buNone/>
            </a:pPr>
            <a:r>
              <a:rPr lang="en-US" sz="950" b="1" dirty="0">
                <a:solidFill>
                  <a:schemeClr val="tx1"/>
                </a:solidFill>
              </a:rPr>
              <a:t>Exclusion Calculator: </a:t>
            </a:r>
            <a:pPr indent="0" marL="0">
              <a:buNone/>
            </a:pPr>
            <a:r>
              <a:rPr lang="en-US" sz="950" dirty="0">
                <a:solidFill>
                  <a:schemeClr val="tx1"/>
                </a:solidFill>
              </a:rPr>
              <a:t>its percentages rest on UK survey data (1996–97); never present them as Indian figures.</a:t>
            </a:r>
            <a:endParaRPr lang="en-US" sz="950" dirty="0"/>
          </a:p>
        </p:txBody>
      </p:sp>
      <p:sp>
        <p:nvSpPr>
          <p:cNvPr id="36" name="Make it testable"/>
          <p:cNvSpPr/>
          <p:nvPr/>
        </p:nvSpPr>
        <p:spPr>
          <a:xfrm>
            <a:off x="8321040" y="5413248"/>
            <a:ext cx="3322015" cy="758952"/>
          </a:xfrm>
          <a:prstGeom prst="roundRect">
            <a:avLst>
              <a:gd name="adj" fmla="val 16867"/>
            </a:avLst>
          </a:prstGeom>
          <a:solidFill>
            <a:schemeClr val="bg2"/>
          </a:solidFill>
          <a:ln/>
        </p:spPr>
      </p:sp>
      <p:sp>
        <p:nvSpPr>
          <p:cNvPr id="37" name="Testable bar"/>
          <p:cNvSpPr/>
          <p:nvPr/>
        </p:nvSpPr>
        <p:spPr>
          <a:xfrm>
            <a:off x="8321040" y="5522976"/>
            <a:ext cx="64008" cy="539496"/>
          </a:xfrm>
          <a:prstGeom prst="rect">
            <a:avLst/>
          </a:prstGeom>
          <a:solidFill>
            <a:schemeClr val="accent4"/>
          </a:solidFill>
          <a:ln/>
        </p:spPr>
      </p:sp>
      <p:sp>
        <p:nvSpPr>
          <p:cNvPr id="38" name="Text 29"/>
          <p:cNvSpPr txBox="1"/>
          <p:nvPr/>
        </p:nvSpPr>
        <p:spPr>
          <a:xfrm>
            <a:off x="8503920" y="5449824"/>
            <a:ext cx="3047695" cy="685800"/>
          </a:xfrm>
          <a:prstGeom prst="rect">
            <a:avLst/>
          </a:prstGeom>
          <a:noFill/>
          <a:ln/>
        </p:spPr>
        <p:txBody>
          <a:bodyPr wrap="square" lIns="0" tIns="0" rIns="0" bIns="0" rtlCol="0" anchor="ctr"/>
          <a:lstStyle/>
          <a:p>
            <a:pPr indent="0" marL="0">
              <a:buNone/>
            </a:pPr>
            <a:r>
              <a:rPr lang="en-US" sz="950" b="1" dirty="0">
                <a:solidFill>
                  <a:schemeClr val="tx1"/>
                </a:solidFill>
              </a:rPr>
              <a:t>Make it testable: </a:t>
            </a:r>
            <a:pPr indent="0" marL="0">
              <a:buNone/>
            </a:pPr>
            <a:r>
              <a:rPr lang="en-US" sz="950" dirty="0">
                <a:solidFill>
                  <a:schemeClr val="tx1"/>
                </a:solidFill>
              </a:rPr>
              <a:t>IEC 62366-1 usability engineering turns each demand into a requirement; MRCT Accessibility by Design (2023) adds home visits, travel support and accessible consent formats.</a:t>
            </a: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ACCESS · AFFORDABILITY</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Price is only part of the cost</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DPCO 2013 Paras 19–20; PIB 13 Feb 2017 (stents), 16 Aug 2017 (knee implants), 13 Jul 2021 (trade margins; 91% of 684 brands); knee cap to 15 Nov 2026; G.S.R. 754(E) 2022 (MD-41/42); SwaKnee leaflet; FoGO project plan</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80192" y="393192"/>
            <a:ext cx="128016" cy="128016"/>
          </a:xfrm>
          <a:prstGeom prst="ellipse">
            <a:avLst/>
          </a:prstGeom>
          <a:solidFill>
            <a:schemeClr val="accent6"/>
          </a:solidFill>
          <a:ln w="12700">
            <a:solidFill>
              <a:schemeClr val="accent1"/>
            </a:solidFill>
            <a:prstDash val="solid"/>
          </a:ln>
        </p:spPr>
      </p:sp>
      <p:sp>
        <p:nvSpPr>
          <p:cNvPr id="9" name="Progress Access"/>
          <p:cNvSpPr/>
          <p:nvPr/>
        </p:nvSpPr>
        <p:spPr>
          <a:xfrm>
            <a:off x="11000232" y="347472"/>
            <a:ext cx="219456" cy="219456"/>
          </a:xfrm>
          <a:prstGeom prst="ellipse">
            <a:avLst/>
          </a:prstGeom>
          <a:solidFill>
            <a:schemeClr val="accent1"/>
          </a:solidFill>
          <a:ln w="12700">
            <a:solidFill>
              <a:schemeClr val="accent1"/>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Text 9"/>
          <p:cNvSpPr txBox="1"/>
          <p:nvPr/>
        </p:nvSpPr>
        <p:spPr>
          <a:xfrm>
            <a:off x="548640" y="1463040"/>
            <a:ext cx="7589520" cy="237744"/>
          </a:xfrm>
          <a:prstGeom prst="rect">
            <a:avLst/>
          </a:prstGeom>
          <a:noFill/>
          <a:ln/>
        </p:spPr>
        <p:txBody>
          <a:bodyPr wrap="square" lIns="0" tIns="0" rIns="0" bIns="0" rtlCol="0" anchor="t"/>
          <a:lstStyle/>
          <a:p>
            <a:pPr indent="0" marL="0">
              <a:buNone/>
            </a:pPr>
            <a:r>
              <a:rPr lang="en-US" sz="1200" b="1" dirty="0">
                <a:solidFill>
                  <a:schemeClr val="tx2"/>
                </a:solidFill>
              </a:rPr>
              <a:t>Kamala's 45 days with SwaKnee: six costs, and a question for each</a:t>
            </a:r>
            <a:endParaRPr lang="en-US" sz="1200" dirty="0"/>
          </a:p>
        </p:txBody>
      </p:sp>
      <p:sp>
        <p:nvSpPr>
          <p:cNvPr id="13" name="Step Buy or rent"/>
          <p:cNvSpPr/>
          <p:nvPr/>
        </p:nvSpPr>
        <p:spPr>
          <a:xfrm>
            <a:off x="548640" y="1755648"/>
            <a:ext cx="1203960" cy="530352"/>
          </a:xfrm>
          <a:prstGeom prst="homePlate">
            <a:avLst/>
          </a:prstGeom>
          <a:solidFill>
            <a:schemeClr val="accent4"/>
          </a:solidFill>
          <a:ln/>
        </p:spPr>
      </p:sp>
      <p:sp>
        <p:nvSpPr>
          <p:cNvPr id="14" name="Text 11"/>
          <p:cNvSpPr txBox="1"/>
          <p:nvPr/>
        </p:nvSpPr>
        <p:spPr>
          <a:xfrm>
            <a:off x="676656" y="1755648"/>
            <a:ext cx="838200" cy="530352"/>
          </a:xfrm>
          <a:prstGeom prst="rect">
            <a:avLst/>
          </a:prstGeom>
          <a:noFill/>
          <a:ln/>
        </p:spPr>
        <p:txBody>
          <a:bodyPr wrap="square" lIns="0" tIns="0" rIns="0" bIns="0" rtlCol="0" anchor="ctr"/>
          <a:lstStyle/>
          <a:p>
            <a:pPr indent="0" marL="0">
              <a:buNone/>
            </a:pPr>
            <a:r>
              <a:rPr lang="en-US" sz="1100" b="1" dirty="0">
                <a:solidFill>
                  <a:schemeClr val="bg1"/>
                </a:solidFill>
              </a:rPr>
              <a:t>Buy or rent</a:t>
            </a:r>
            <a:endParaRPr lang="en-US" sz="1100" dirty="0"/>
          </a:p>
        </p:txBody>
      </p:sp>
      <p:sp>
        <p:nvSpPr>
          <p:cNvPr id="15" name="Text 12"/>
          <p:cNvSpPr txBox="1"/>
          <p:nvPr/>
        </p:nvSpPr>
        <p:spPr>
          <a:xfrm>
            <a:off x="594360" y="2395728"/>
            <a:ext cx="1066800" cy="603504"/>
          </a:xfrm>
          <a:prstGeom prst="rect">
            <a:avLst/>
          </a:prstGeom>
          <a:noFill/>
          <a:ln/>
        </p:spPr>
        <p:txBody>
          <a:bodyPr wrap="square" lIns="0" tIns="0" rIns="0" bIns="0" rtlCol="0" anchor="t"/>
          <a:lstStyle/>
          <a:p>
            <a:pPr indent="0" marL="0">
              <a:spcAft>
                <a:spcPts val="200"/>
              </a:spcAft>
              <a:buNone/>
            </a:pPr>
            <a:r>
              <a:rPr lang="en-US" sz="950" dirty="0">
                <a:solidFill>
                  <a:schemeClr val="tx2"/>
                </a:solidFill>
              </a:rPr>
              <a:t>Device, applicator, GST; seller holds MD 42</a:t>
            </a:r>
            <a:endParaRPr lang="en-US" sz="950" dirty="0"/>
          </a:p>
        </p:txBody>
      </p:sp>
      <p:sp>
        <p:nvSpPr>
          <p:cNvPr id="16" name="Step Travel 30 km"/>
          <p:cNvSpPr/>
          <p:nvPr/>
        </p:nvSpPr>
        <p:spPr>
          <a:xfrm>
            <a:off x="1825752" y="1755648"/>
            <a:ext cx="1203960" cy="530352"/>
          </a:xfrm>
          <a:prstGeom prst="chevron">
            <a:avLst/>
          </a:prstGeom>
          <a:solidFill>
            <a:schemeClr val="accent4"/>
          </a:solidFill>
          <a:ln/>
        </p:spPr>
      </p:sp>
      <p:sp>
        <p:nvSpPr>
          <p:cNvPr id="17" name="Text 14"/>
          <p:cNvSpPr txBox="1"/>
          <p:nvPr/>
        </p:nvSpPr>
        <p:spPr>
          <a:xfrm>
            <a:off x="2154936" y="1755648"/>
            <a:ext cx="655320" cy="530352"/>
          </a:xfrm>
          <a:prstGeom prst="rect">
            <a:avLst/>
          </a:prstGeom>
          <a:noFill/>
          <a:ln/>
        </p:spPr>
        <p:txBody>
          <a:bodyPr wrap="square" lIns="0" tIns="0" rIns="0" bIns="0" rtlCol="0" anchor="ctr"/>
          <a:lstStyle/>
          <a:p>
            <a:pPr indent="0" marL="0">
              <a:buNone/>
            </a:pPr>
            <a:r>
              <a:rPr lang="en-US" sz="1100" b="1" dirty="0">
                <a:solidFill>
                  <a:schemeClr val="bg1"/>
                </a:solidFill>
              </a:rPr>
              <a:t>Travel 30 km</a:t>
            </a:r>
            <a:endParaRPr lang="en-US" sz="1100" dirty="0"/>
          </a:p>
        </p:txBody>
      </p:sp>
      <p:sp>
        <p:nvSpPr>
          <p:cNvPr id="18" name="Text 15"/>
          <p:cNvSpPr txBox="1"/>
          <p:nvPr/>
        </p:nvSpPr>
        <p:spPr>
          <a:xfrm>
            <a:off x="1871472" y="2395728"/>
            <a:ext cx="1066800" cy="603504"/>
          </a:xfrm>
          <a:prstGeom prst="rect">
            <a:avLst/>
          </a:prstGeom>
          <a:noFill/>
          <a:ln/>
        </p:spPr>
        <p:txBody>
          <a:bodyPr wrap="square" lIns="0" tIns="0" rIns="0" bIns="0" rtlCol="0" anchor="t"/>
          <a:lstStyle/>
          <a:p>
            <a:pPr indent="0" marL="0">
              <a:spcAft>
                <a:spcPts val="200"/>
              </a:spcAft>
              <a:buNone/>
            </a:pPr>
            <a:r>
              <a:rPr lang="en-US" sz="950" dirty="0">
                <a:solidFill>
                  <a:schemeClr val="tx2"/>
                </a:solidFill>
              </a:rPr>
              <a:t>To the clinic for fitting; return visits</a:t>
            </a:r>
            <a:endParaRPr lang="en-US" sz="950" dirty="0"/>
          </a:p>
        </p:txBody>
      </p:sp>
      <p:sp>
        <p:nvSpPr>
          <p:cNvPr id="19" name="Step Fit and learn"/>
          <p:cNvSpPr/>
          <p:nvPr/>
        </p:nvSpPr>
        <p:spPr>
          <a:xfrm>
            <a:off x="3102864" y="1755648"/>
            <a:ext cx="1203960" cy="530352"/>
          </a:xfrm>
          <a:prstGeom prst="chevron">
            <a:avLst/>
          </a:prstGeom>
          <a:solidFill>
            <a:schemeClr val="accent4"/>
          </a:solidFill>
          <a:ln/>
        </p:spPr>
      </p:sp>
      <p:sp>
        <p:nvSpPr>
          <p:cNvPr id="20" name="Text 17"/>
          <p:cNvSpPr txBox="1"/>
          <p:nvPr/>
        </p:nvSpPr>
        <p:spPr>
          <a:xfrm>
            <a:off x="3432048" y="1755648"/>
            <a:ext cx="655320" cy="530352"/>
          </a:xfrm>
          <a:prstGeom prst="rect">
            <a:avLst/>
          </a:prstGeom>
          <a:noFill/>
          <a:ln/>
        </p:spPr>
        <p:txBody>
          <a:bodyPr wrap="square" lIns="0" tIns="0" rIns="0" bIns="0" rtlCol="0" anchor="ctr"/>
          <a:lstStyle/>
          <a:p>
            <a:pPr indent="0" marL="0">
              <a:buNone/>
            </a:pPr>
            <a:r>
              <a:rPr lang="en-US" sz="1100" b="1" dirty="0">
                <a:solidFill>
                  <a:schemeClr val="bg1"/>
                </a:solidFill>
              </a:rPr>
              <a:t>Fit and learn</a:t>
            </a:r>
            <a:endParaRPr lang="en-US" sz="1100" dirty="0"/>
          </a:p>
        </p:txBody>
      </p:sp>
      <p:sp>
        <p:nvSpPr>
          <p:cNvPr id="21" name="Text 18"/>
          <p:cNvSpPr txBox="1"/>
          <p:nvPr/>
        </p:nvSpPr>
        <p:spPr>
          <a:xfrm>
            <a:off x="3148584" y="2395728"/>
            <a:ext cx="1066800" cy="603504"/>
          </a:xfrm>
          <a:prstGeom prst="rect">
            <a:avLst/>
          </a:prstGeom>
          <a:noFill/>
          <a:ln/>
        </p:spPr>
        <p:txBody>
          <a:bodyPr wrap="square" lIns="0" tIns="0" rIns="0" bIns="0" rtlCol="0" anchor="t"/>
          <a:lstStyle/>
          <a:p>
            <a:pPr indent="0" marL="0">
              <a:spcAft>
                <a:spcPts val="200"/>
              </a:spcAft>
              <a:buNone/>
            </a:pPr>
            <a:r>
              <a:rPr lang="en-US" sz="950" dirty="0">
                <a:solidFill>
                  <a:schemeClr val="tx2"/>
                </a:solidFill>
              </a:rPr>
              <a:t>Clinician time; steps in Odia or Hindi</a:t>
            </a:r>
            <a:endParaRPr lang="en-US" sz="950" dirty="0"/>
          </a:p>
        </p:txBody>
      </p:sp>
      <p:sp>
        <p:nvSpPr>
          <p:cNvPr id="22" name="Step ≈34 hours"/>
          <p:cNvSpPr/>
          <p:nvPr/>
        </p:nvSpPr>
        <p:spPr>
          <a:xfrm>
            <a:off x="4379976" y="1755648"/>
            <a:ext cx="1203960" cy="530352"/>
          </a:xfrm>
          <a:prstGeom prst="chevron">
            <a:avLst/>
          </a:prstGeom>
          <a:solidFill>
            <a:schemeClr val="accent2"/>
          </a:solidFill>
          <a:ln/>
        </p:spPr>
      </p:sp>
      <p:sp>
        <p:nvSpPr>
          <p:cNvPr id="23" name="Text 20"/>
          <p:cNvSpPr txBox="1"/>
          <p:nvPr/>
        </p:nvSpPr>
        <p:spPr>
          <a:xfrm>
            <a:off x="4709160" y="1755648"/>
            <a:ext cx="655320" cy="530352"/>
          </a:xfrm>
          <a:prstGeom prst="rect">
            <a:avLst/>
          </a:prstGeom>
          <a:noFill/>
          <a:ln/>
        </p:spPr>
        <p:txBody>
          <a:bodyPr wrap="square" lIns="0" tIns="0" rIns="0" bIns="0" rtlCol="0" anchor="ctr"/>
          <a:lstStyle/>
          <a:p>
            <a:pPr indent="0" marL="0">
              <a:buNone/>
            </a:pPr>
            <a:r>
              <a:rPr lang="en-US" sz="1100" b="1" dirty="0">
                <a:solidFill>
                  <a:schemeClr val="bg1"/>
                </a:solidFill>
              </a:rPr>
              <a:t>≈34 hours</a:t>
            </a:r>
            <a:endParaRPr lang="en-US" sz="1100" dirty="0"/>
          </a:p>
        </p:txBody>
      </p:sp>
      <p:sp>
        <p:nvSpPr>
          <p:cNvPr id="24" name="Text 21"/>
          <p:cNvSpPr txBox="1"/>
          <p:nvPr/>
        </p:nvSpPr>
        <p:spPr>
          <a:xfrm>
            <a:off x="4425696" y="2395728"/>
            <a:ext cx="1066800" cy="603504"/>
          </a:xfrm>
          <a:prstGeom prst="rect">
            <a:avLst/>
          </a:prstGeom>
          <a:noFill/>
          <a:ln/>
        </p:spPr>
        <p:txBody>
          <a:bodyPr wrap="square" lIns="0" tIns="0" rIns="0" bIns="0" rtlCol="0" anchor="t"/>
          <a:lstStyle/>
          <a:p>
            <a:pPr indent="0" marL="0">
              <a:spcAft>
                <a:spcPts val="200"/>
              </a:spcAft>
              <a:buNone/>
            </a:pPr>
            <a:r>
              <a:rPr lang="en-US" sz="950" dirty="0">
                <a:solidFill>
                  <a:schemeClr val="tx2"/>
                </a:solidFill>
              </a:rPr>
              <a:t>45 min × 45 days at home (leaflet schedule)</a:t>
            </a:r>
            <a:endParaRPr lang="en-US" sz="950" dirty="0"/>
          </a:p>
        </p:txBody>
      </p:sp>
      <p:sp>
        <p:nvSpPr>
          <p:cNvPr id="25" name="Step Family time"/>
          <p:cNvSpPr/>
          <p:nvPr/>
        </p:nvSpPr>
        <p:spPr>
          <a:xfrm>
            <a:off x="5657088" y="1755648"/>
            <a:ext cx="1203960" cy="530352"/>
          </a:xfrm>
          <a:prstGeom prst="chevron">
            <a:avLst/>
          </a:prstGeom>
          <a:solidFill>
            <a:schemeClr val="accent4"/>
          </a:solidFill>
          <a:ln/>
        </p:spPr>
      </p:sp>
      <p:sp>
        <p:nvSpPr>
          <p:cNvPr id="26" name="Text 23"/>
          <p:cNvSpPr txBox="1"/>
          <p:nvPr/>
        </p:nvSpPr>
        <p:spPr>
          <a:xfrm>
            <a:off x="5986272" y="1755648"/>
            <a:ext cx="655320" cy="530352"/>
          </a:xfrm>
          <a:prstGeom prst="rect">
            <a:avLst/>
          </a:prstGeom>
          <a:noFill/>
          <a:ln/>
        </p:spPr>
        <p:txBody>
          <a:bodyPr wrap="square" lIns="0" tIns="0" rIns="0" bIns="0" rtlCol="0" anchor="ctr"/>
          <a:lstStyle/>
          <a:p>
            <a:pPr indent="0" marL="0">
              <a:buNone/>
            </a:pPr>
            <a:r>
              <a:rPr lang="en-US" sz="1100" b="1" dirty="0">
                <a:solidFill>
                  <a:schemeClr val="bg1"/>
                </a:solidFill>
              </a:rPr>
              <a:t>Family time</a:t>
            </a:r>
            <a:endParaRPr lang="en-US" sz="1100" dirty="0"/>
          </a:p>
        </p:txBody>
      </p:sp>
      <p:sp>
        <p:nvSpPr>
          <p:cNvPr id="27" name="Text 24"/>
          <p:cNvSpPr txBox="1"/>
          <p:nvPr/>
        </p:nvSpPr>
        <p:spPr>
          <a:xfrm>
            <a:off x="5702808" y="2395728"/>
            <a:ext cx="1066800" cy="603504"/>
          </a:xfrm>
          <a:prstGeom prst="rect">
            <a:avLst/>
          </a:prstGeom>
          <a:noFill/>
          <a:ln/>
        </p:spPr>
        <p:txBody>
          <a:bodyPr wrap="square" lIns="0" tIns="0" rIns="0" bIns="0" rtlCol="0" anchor="t"/>
          <a:lstStyle/>
          <a:p>
            <a:pPr indent="0" marL="0">
              <a:spcAft>
                <a:spcPts val="200"/>
              </a:spcAft>
              <a:buNone/>
            </a:pPr>
            <a:r>
              <a:rPr lang="en-US" sz="950" dirty="0">
                <a:solidFill>
                  <a:schemeClr val="tx2"/>
                </a:solidFill>
              </a:rPr>
              <a:t>A relative fits and charges it; lost wages</a:t>
            </a:r>
            <a:endParaRPr lang="en-US" sz="950" dirty="0"/>
          </a:p>
        </p:txBody>
      </p:sp>
      <p:sp>
        <p:nvSpPr>
          <p:cNvPr id="28" name="Step Repairs, support"/>
          <p:cNvSpPr/>
          <p:nvPr/>
        </p:nvSpPr>
        <p:spPr>
          <a:xfrm>
            <a:off x="6934200" y="1755648"/>
            <a:ext cx="1203960" cy="530352"/>
          </a:xfrm>
          <a:prstGeom prst="chevron">
            <a:avLst/>
          </a:prstGeom>
          <a:solidFill>
            <a:schemeClr val="accent4"/>
          </a:solidFill>
          <a:ln/>
        </p:spPr>
      </p:sp>
      <p:sp>
        <p:nvSpPr>
          <p:cNvPr id="29" name="Text 26"/>
          <p:cNvSpPr txBox="1"/>
          <p:nvPr/>
        </p:nvSpPr>
        <p:spPr>
          <a:xfrm>
            <a:off x="7263384" y="1755648"/>
            <a:ext cx="655320" cy="530352"/>
          </a:xfrm>
          <a:prstGeom prst="rect">
            <a:avLst/>
          </a:prstGeom>
          <a:noFill/>
          <a:ln/>
        </p:spPr>
        <p:txBody>
          <a:bodyPr wrap="square" lIns="0" tIns="0" rIns="0" bIns="0" rtlCol="0" anchor="ctr"/>
          <a:lstStyle/>
          <a:p>
            <a:pPr indent="0" marL="0">
              <a:buNone/>
            </a:pPr>
            <a:r>
              <a:rPr lang="en-US" sz="1100" b="1" dirty="0">
                <a:solidFill>
                  <a:schemeClr val="bg1"/>
                </a:solidFill>
              </a:rPr>
              <a:t>Repairs, support</a:t>
            </a:r>
            <a:endParaRPr lang="en-US" sz="1100" dirty="0"/>
          </a:p>
        </p:txBody>
      </p:sp>
      <p:sp>
        <p:nvSpPr>
          <p:cNvPr id="30" name="Text 27"/>
          <p:cNvSpPr txBox="1"/>
          <p:nvPr/>
        </p:nvSpPr>
        <p:spPr>
          <a:xfrm>
            <a:off x="6979920" y="2395728"/>
            <a:ext cx="1066800" cy="603504"/>
          </a:xfrm>
          <a:prstGeom prst="rect">
            <a:avLst/>
          </a:prstGeom>
          <a:noFill/>
          <a:ln/>
        </p:spPr>
        <p:txBody>
          <a:bodyPr wrap="square" lIns="0" tIns="0" rIns="0" bIns="0" rtlCol="0" anchor="t"/>
          <a:lstStyle/>
          <a:p>
            <a:pPr indent="0" marL="0">
              <a:spcAft>
                <a:spcPts val="200"/>
              </a:spcAft>
              <a:buNone/>
            </a:pPr>
            <a:r>
              <a:rPr lang="en-US" sz="950" dirty="0">
                <a:solidFill>
                  <a:schemeClr val="tx2"/>
                </a:solidFill>
              </a:rPr>
              <a:t>Spares, service plan, a phone line that answers</a:t>
            </a:r>
            <a:endParaRPr lang="en-US" sz="950" dirty="0"/>
          </a:p>
        </p:txBody>
      </p:sp>
      <p:sp>
        <p:nvSpPr>
          <p:cNvPr id="31" name="Pill Who pays? ______"/>
          <p:cNvSpPr/>
          <p:nvPr/>
        </p:nvSpPr>
        <p:spPr>
          <a:xfrm>
            <a:off x="548640" y="3017520"/>
            <a:ext cx="1203960" cy="292608"/>
          </a:xfrm>
          <a:prstGeom prst="roundRect">
            <a:avLst>
              <a:gd name="adj" fmla="val 50000"/>
            </a:avLst>
          </a:prstGeom>
          <a:solidFill>
            <a:schemeClr val="bg1"/>
          </a:solidFill>
          <a:ln w="15875">
            <a:solidFill>
              <a:schemeClr val="accent2"/>
            </a:solidFill>
            <a:prstDash val="dash"/>
          </a:ln>
        </p:spPr>
      </p:sp>
      <p:sp>
        <p:nvSpPr>
          <p:cNvPr id="32" name="Text 29"/>
          <p:cNvSpPr txBox="1"/>
          <p:nvPr/>
        </p:nvSpPr>
        <p:spPr>
          <a:xfrm>
            <a:off x="548640" y="3017520"/>
            <a:ext cx="1203960" cy="292608"/>
          </a:xfrm>
          <a:prstGeom prst="rect">
            <a:avLst/>
          </a:prstGeom>
          <a:noFill/>
          <a:ln/>
        </p:spPr>
        <p:txBody>
          <a:bodyPr wrap="square" lIns="0" tIns="0" rIns="0" bIns="0" rtlCol="0" anchor="ctr"/>
          <a:lstStyle/>
          <a:p>
            <a:pPr algn="ctr" indent="0" marL="0">
              <a:buNone/>
            </a:pPr>
            <a:r>
              <a:rPr lang="en-US" sz="950" b="1" dirty="0">
                <a:solidFill>
                  <a:schemeClr val="accent2"/>
                </a:solidFill>
              </a:rPr>
              <a:t>Who pays? ______</a:t>
            </a:r>
            <a:endParaRPr lang="en-US" sz="950" dirty="0"/>
          </a:p>
        </p:txBody>
      </p:sp>
      <p:sp>
        <p:nvSpPr>
          <p:cNvPr id="33" name="Pill Who pays? ______"/>
          <p:cNvSpPr/>
          <p:nvPr/>
        </p:nvSpPr>
        <p:spPr>
          <a:xfrm>
            <a:off x="1825752" y="3017520"/>
            <a:ext cx="1203960" cy="292608"/>
          </a:xfrm>
          <a:prstGeom prst="roundRect">
            <a:avLst>
              <a:gd name="adj" fmla="val 50000"/>
            </a:avLst>
          </a:prstGeom>
          <a:solidFill>
            <a:schemeClr val="bg1"/>
          </a:solidFill>
          <a:ln w="15875">
            <a:solidFill>
              <a:schemeClr val="accent2"/>
            </a:solidFill>
            <a:prstDash val="dash"/>
          </a:ln>
        </p:spPr>
      </p:sp>
      <p:sp>
        <p:nvSpPr>
          <p:cNvPr id="34" name="Text 31"/>
          <p:cNvSpPr txBox="1"/>
          <p:nvPr/>
        </p:nvSpPr>
        <p:spPr>
          <a:xfrm>
            <a:off x="1825752" y="3017520"/>
            <a:ext cx="1203960" cy="292608"/>
          </a:xfrm>
          <a:prstGeom prst="rect">
            <a:avLst/>
          </a:prstGeom>
          <a:noFill/>
          <a:ln/>
        </p:spPr>
        <p:txBody>
          <a:bodyPr wrap="square" lIns="0" tIns="0" rIns="0" bIns="0" rtlCol="0" anchor="ctr"/>
          <a:lstStyle/>
          <a:p>
            <a:pPr algn="ctr" indent="0" marL="0">
              <a:buNone/>
            </a:pPr>
            <a:r>
              <a:rPr lang="en-US" sz="950" b="1" dirty="0">
                <a:solidFill>
                  <a:schemeClr val="accent2"/>
                </a:solidFill>
              </a:rPr>
              <a:t>Who pays? ______</a:t>
            </a:r>
            <a:endParaRPr lang="en-US" sz="950" dirty="0"/>
          </a:p>
        </p:txBody>
      </p:sp>
      <p:sp>
        <p:nvSpPr>
          <p:cNvPr id="35" name="Pill Who pays? ______"/>
          <p:cNvSpPr/>
          <p:nvPr/>
        </p:nvSpPr>
        <p:spPr>
          <a:xfrm>
            <a:off x="3102864" y="3017520"/>
            <a:ext cx="1203960" cy="292608"/>
          </a:xfrm>
          <a:prstGeom prst="roundRect">
            <a:avLst>
              <a:gd name="adj" fmla="val 50000"/>
            </a:avLst>
          </a:prstGeom>
          <a:solidFill>
            <a:schemeClr val="bg1"/>
          </a:solidFill>
          <a:ln w="15875">
            <a:solidFill>
              <a:schemeClr val="accent2"/>
            </a:solidFill>
            <a:prstDash val="dash"/>
          </a:ln>
        </p:spPr>
      </p:sp>
      <p:sp>
        <p:nvSpPr>
          <p:cNvPr id="36" name="Text 33"/>
          <p:cNvSpPr txBox="1"/>
          <p:nvPr/>
        </p:nvSpPr>
        <p:spPr>
          <a:xfrm>
            <a:off x="3102864" y="3017520"/>
            <a:ext cx="1203960" cy="292608"/>
          </a:xfrm>
          <a:prstGeom prst="rect">
            <a:avLst/>
          </a:prstGeom>
          <a:noFill/>
          <a:ln/>
        </p:spPr>
        <p:txBody>
          <a:bodyPr wrap="square" lIns="0" tIns="0" rIns="0" bIns="0" rtlCol="0" anchor="ctr"/>
          <a:lstStyle/>
          <a:p>
            <a:pPr algn="ctr" indent="0" marL="0">
              <a:buNone/>
            </a:pPr>
            <a:r>
              <a:rPr lang="en-US" sz="950" b="1" dirty="0">
                <a:solidFill>
                  <a:schemeClr val="accent2"/>
                </a:solidFill>
              </a:rPr>
              <a:t>Who pays? ______</a:t>
            </a:r>
            <a:endParaRPr lang="en-US" sz="950" dirty="0"/>
          </a:p>
        </p:txBody>
      </p:sp>
      <p:sp>
        <p:nvSpPr>
          <p:cNvPr id="37" name="Pill Who pays? ______"/>
          <p:cNvSpPr/>
          <p:nvPr/>
        </p:nvSpPr>
        <p:spPr>
          <a:xfrm>
            <a:off x="4379976" y="3017520"/>
            <a:ext cx="1203960" cy="292608"/>
          </a:xfrm>
          <a:prstGeom prst="roundRect">
            <a:avLst>
              <a:gd name="adj" fmla="val 50000"/>
            </a:avLst>
          </a:prstGeom>
          <a:solidFill>
            <a:schemeClr val="bg1"/>
          </a:solidFill>
          <a:ln w="15875">
            <a:solidFill>
              <a:schemeClr val="accent2"/>
            </a:solidFill>
            <a:prstDash val="dash"/>
          </a:ln>
        </p:spPr>
      </p:sp>
      <p:sp>
        <p:nvSpPr>
          <p:cNvPr id="38" name="Text 35"/>
          <p:cNvSpPr txBox="1"/>
          <p:nvPr/>
        </p:nvSpPr>
        <p:spPr>
          <a:xfrm>
            <a:off x="4379976" y="3017520"/>
            <a:ext cx="1203960" cy="292608"/>
          </a:xfrm>
          <a:prstGeom prst="rect">
            <a:avLst/>
          </a:prstGeom>
          <a:noFill/>
          <a:ln/>
        </p:spPr>
        <p:txBody>
          <a:bodyPr wrap="square" lIns="0" tIns="0" rIns="0" bIns="0" rtlCol="0" anchor="ctr"/>
          <a:lstStyle/>
          <a:p>
            <a:pPr algn="ctr" indent="0" marL="0">
              <a:buNone/>
            </a:pPr>
            <a:r>
              <a:rPr lang="en-US" sz="950" b="1" dirty="0">
                <a:solidFill>
                  <a:schemeClr val="accent2"/>
                </a:solidFill>
              </a:rPr>
              <a:t>Who pays? ______</a:t>
            </a:r>
            <a:endParaRPr lang="en-US" sz="950" dirty="0"/>
          </a:p>
        </p:txBody>
      </p:sp>
      <p:sp>
        <p:nvSpPr>
          <p:cNvPr id="39" name="Pill Who pays? ______"/>
          <p:cNvSpPr/>
          <p:nvPr/>
        </p:nvSpPr>
        <p:spPr>
          <a:xfrm>
            <a:off x="5657088" y="3017520"/>
            <a:ext cx="1203960" cy="292608"/>
          </a:xfrm>
          <a:prstGeom prst="roundRect">
            <a:avLst>
              <a:gd name="adj" fmla="val 50000"/>
            </a:avLst>
          </a:prstGeom>
          <a:solidFill>
            <a:schemeClr val="bg1"/>
          </a:solidFill>
          <a:ln w="15875">
            <a:solidFill>
              <a:schemeClr val="accent2"/>
            </a:solidFill>
            <a:prstDash val="dash"/>
          </a:ln>
        </p:spPr>
      </p:sp>
      <p:sp>
        <p:nvSpPr>
          <p:cNvPr id="40" name="Text 37"/>
          <p:cNvSpPr txBox="1"/>
          <p:nvPr/>
        </p:nvSpPr>
        <p:spPr>
          <a:xfrm>
            <a:off x="5657088" y="3017520"/>
            <a:ext cx="1203960" cy="292608"/>
          </a:xfrm>
          <a:prstGeom prst="rect">
            <a:avLst/>
          </a:prstGeom>
          <a:noFill/>
          <a:ln/>
        </p:spPr>
        <p:txBody>
          <a:bodyPr wrap="square" lIns="0" tIns="0" rIns="0" bIns="0" rtlCol="0" anchor="ctr"/>
          <a:lstStyle/>
          <a:p>
            <a:pPr algn="ctr" indent="0" marL="0">
              <a:buNone/>
            </a:pPr>
            <a:r>
              <a:rPr lang="en-US" sz="950" b="1" dirty="0">
                <a:solidFill>
                  <a:schemeClr val="accent2"/>
                </a:solidFill>
              </a:rPr>
              <a:t>Who pays? ______</a:t>
            </a:r>
            <a:endParaRPr lang="en-US" sz="950" dirty="0"/>
          </a:p>
        </p:txBody>
      </p:sp>
      <p:sp>
        <p:nvSpPr>
          <p:cNvPr id="41" name="Pill Who pays? ______"/>
          <p:cNvSpPr/>
          <p:nvPr/>
        </p:nvSpPr>
        <p:spPr>
          <a:xfrm>
            <a:off x="6934200" y="3017520"/>
            <a:ext cx="1203960" cy="292608"/>
          </a:xfrm>
          <a:prstGeom prst="roundRect">
            <a:avLst>
              <a:gd name="adj" fmla="val 50000"/>
            </a:avLst>
          </a:prstGeom>
          <a:solidFill>
            <a:schemeClr val="bg1"/>
          </a:solidFill>
          <a:ln w="15875">
            <a:solidFill>
              <a:schemeClr val="accent2"/>
            </a:solidFill>
            <a:prstDash val="dash"/>
          </a:ln>
        </p:spPr>
      </p:sp>
      <p:sp>
        <p:nvSpPr>
          <p:cNvPr id="42" name="Text 39"/>
          <p:cNvSpPr txBox="1"/>
          <p:nvPr/>
        </p:nvSpPr>
        <p:spPr>
          <a:xfrm>
            <a:off x="6934200" y="3017520"/>
            <a:ext cx="1203960" cy="292608"/>
          </a:xfrm>
          <a:prstGeom prst="rect">
            <a:avLst/>
          </a:prstGeom>
          <a:noFill/>
          <a:ln/>
        </p:spPr>
        <p:txBody>
          <a:bodyPr wrap="square" lIns="0" tIns="0" rIns="0" bIns="0" rtlCol="0" anchor="ctr"/>
          <a:lstStyle/>
          <a:p>
            <a:pPr algn="ctr" indent="0" marL="0">
              <a:buNone/>
            </a:pPr>
            <a:r>
              <a:rPr lang="en-US" sz="950" b="1" dirty="0">
                <a:solidFill>
                  <a:schemeClr val="accent2"/>
                </a:solidFill>
              </a:rPr>
              <a:t>Who pays? ______</a:t>
            </a:r>
            <a:endParaRPr lang="en-US" sz="950" dirty="0"/>
          </a:p>
        </p:txBody>
      </p:sp>
      <p:sp>
        <p:nvSpPr>
          <p:cNvPr id="43" name="NPPA panel"/>
          <p:cNvSpPr/>
          <p:nvPr/>
        </p:nvSpPr>
        <p:spPr>
          <a:xfrm>
            <a:off x="548640" y="3401568"/>
            <a:ext cx="7589520" cy="2770632"/>
          </a:xfrm>
          <a:prstGeom prst="roundRect">
            <a:avLst>
              <a:gd name="adj" fmla="val 4620"/>
            </a:avLst>
          </a:prstGeom>
          <a:solidFill>
            <a:schemeClr val="bg2"/>
          </a:solidFill>
          <a:ln/>
        </p:spPr>
      </p:sp>
      <p:sp>
        <p:nvSpPr>
          <p:cNvPr id="44" name="NPPA accent"/>
          <p:cNvSpPr/>
          <p:nvPr/>
        </p:nvSpPr>
        <p:spPr>
          <a:xfrm>
            <a:off x="548640" y="3538728"/>
            <a:ext cx="64008" cy="566928"/>
          </a:xfrm>
          <a:prstGeom prst="rect">
            <a:avLst/>
          </a:prstGeom>
          <a:solidFill>
            <a:schemeClr val="accent4"/>
          </a:solidFill>
          <a:ln/>
        </p:spPr>
      </p:sp>
      <p:sp>
        <p:nvSpPr>
          <p:cNvPr id="45" name="Text 42"/>
          <p:cNvSpPr txBox="1"/>
          <p:nvPr/>
        </p:nvSpPr>
        <p:spPr>
          <a:xfrm>
            <a:off x="749808" y="3493008"/>
            <a:ext cx="7223760" cy="274320"/>
          </a:xfrm>
          <a:prstGeom prst="rect">
            <a:avLst/>
          </a:prstGeom>
          <a:noFill/>
          <a:ln/>
        </p:spPr>
        <p:txBody>
          <a:bodyPr wrap="square" lIns="0" tIns="0" rIns="0" bIns="0" rtlCol="0" anchor="ctr"/>
          <a:lstStyle/>
          <a:p>
            <a:pPr indent="0" marL="0">
              <a:buNone/>
            </a:pPr>
            <a:r>
              <a:rPr lang="en-US" sz="1150" b="1" dirty="0">
                <a:solidFill>
                  <a:schemeClr val="accent4"/>
                </a:solidFill>
              </a:rPr>
              <a:t>NPPA can reach devices. </a:t>
            </a:r>
            <a:pPr indent="0" marL="0">
              <a:buNone/>
            </a:pPr>
            <a:r>
              <a:rPr lang="en-US" sz="1150" dirty="0">
                <a:solidFill>
                  <a:schemeClr val="tx1"/>
                </a:solidFill>
              </a:rPr>
              <a:t>Devices are ‘drugs’ under the 1940 Act, so the Drugs (Prices Control) Order 2013 applies.</a:t>
            </a:r>
            <a:endParaRPr lang="en-US" sz="1150" dirty="0"/>
          </a:p>
        </p:txBody>
      </p:sp>
      <p:sp>
        <p:nvSpPr>
          <p:cNvPr id="46" name="Pill Para 19: ceiling prices in the public interest"/>
          <p:cNvSpPr/>
          <p:nvPr/>
        </p:nvSpPr>
        <p:spPr>
          <a:xfrm>
            <a:off x="749808" y="3822192"/>
            <a:ext cx="2926080" cy="274320"/>
          </a:xfrm>
          <a:prstGeom prst="roundRect">
            <a:avLst>
              <a:gd name="adj" fmla="val 50000"/>
            </a:avLst>
          </a:prstGeom>
          <a:solidFill>
            <a:schemeClr val="accent4"/>
          </a:solidFill>
          <a:ln w="15875">
            <a:solidFill>
              <a:schemeClr val="accent4"/>
            </a:solidFill>
            <a:prstDash val="solid"/>
          </a:ln>
        </p:spPr>
      </p:sp>
      <p:sp>
        <p:nvSpPr>
          <p:cNvPr id="47" name="Text 44"/>
          <p:cNvSpPr txBox="1"/>
          <p:nvPr/>
        </p:nvSpPr>
        <p:spPr>
          <a:xfrm>
            <a:off x="749808" y="3822192"/>
            <a:ext cx="2926080" cy="274320"/>
          </a:xfrm>
          <a:prstGeom prst="rect">
            <a:avLst/>
          </a:prstGeom>
          <a:noFill/>
          <a:ln/>
        </p:spPr>
        <p:txBody>
          <a:bodyPr wrap="square" lIns="0" tIns="0" rIns="0" bIns="0" rtlCol="0" anchor="ctr"/>
          <a:lstStyle/>
          <a:p>
            <a:pPr algn="ctr" indent="0" marL="0">
              <a:buNone/>
            </a:pPr>
            <a:r>
              <a:rPr lang="en-US" sz="950" b="1" dirty="0">
                <a:solidFill>
                  <a:schemeClr val="bg1"/>
                </a:solidFill>
              </a:rPr>
              <a:t>Para 19: ceiling prices in the public interest</a:t>
            </a:r>
            <a:endParaRPr lang="en-US" sz="950" dirty="0"/>
          </a:p>
        </p:txBody>
      </p:sp>
      <p:sp>
        <p:nvSpPr>
          <p:cNvPr id="48" name="Pill Para 20: MRP monitoring, no rise above 10% in 12 months"/>
          <p:cNvSpPr/>
          <p:nvPr/>
        </p:nvSpPr>
        <p:spPr>
          <a:xfrm>
            <a:off x="3794760" y="3822192"/>
            <a:ext cx="4114800" cy="274320"/>
          </a:xfrm>
          <a:prstGeom prst="roundRect">
            <a:avLst>
              <a:gd name="adj" fmla="val 50000"/>
            </a:avLst>
          </a:prstGeom>
          <a:solidFill>
            <a:schemeClr val="bg1"/>
          </a:solidFill>
          <a:ln w="15875">
            <a:solidFill>
              <a:schemeClr val="accent4"/>
            </a:solidFill>
            <a:prstDash val="dash"/>
          </a:ln>
        </p:spPr>
      </p:sp>
      <p:sp>
        <p:nvSpPr>
          <p:cNvPr id="49" name="Text 46"/>
          <p:cNvSpPr txBox="1"/>
          <p:nvPr/>
        </p:nvSpPr>
        <p:spPr>
          <a:xfrm>
            <a:off x="3794760" y="3822192"/>
            <a:ext cx="4114800" cy="274320"/>
          </a:xfrm>
          <a:prstGeom prst="rect">
            <a:avLst/>
          </a:prstGeom>
          <a:noFill/>
          <a:ln/>
        </p:spPr>
        <p:txBody>
          <a:bodyPr wrap="square" lIns="0" tIns="0" rIns="0" bIns="0" rtlCol="0" anchor="ctr"/>
          <a:lstStyle/>
          <a:p>
            <a:pPr algn="ctr" indent="0" marL="0">
              <a:buNone/>
            </a:pPr>
            <a:r>
              <a:rPr lang="en-US" sz="950" b="1" dirty="0">
                <a:solidFill>
                  <a:schemeClr val="accent4"/>
                </a:solidFill>
              </a:rPr>
              <a:t>Para 20: MRP monitoring, no rise above 10% in 12 months</a:t>
            </a:r>
            <a:endParaRPr lang="en-US" sz="950" dirty="0"/>
          </a:p>
        </p:txBody>
      </p:sp>
      <p:sp>
        <p:nvSpPr>
          <p:cNvPr id="50" name="Timeline"/>
          <p:cNvSpPr/>
          <p:nvPr/>
        </p:nvSpPr>
        <p:spPr>
          <a:xfrm>
            <a:off x="731520" y="5870448"/>
            <a:ext cx="7223760" cy="0"/>
          </a:xfrm>
          <a:prstGeom prst="line">
            <a:avLst/>
          </a:prstGeom>
          <a:noFill/>
          <a:ln w="31750">
            <a:solidFill>
              <a:schemeClr val="accent5"/>
            </a:solidFill>
            <a:prstDash val="solid"/>
          </a:ln>
        </p:spPr>
      </p:sp>
      <p:sp>
        <p:nvSpPr>
          <p:cNvPr id="51" name="Milestone 13 Feb 2017"/>
          <p:cNvSpPr/>
          <p:nvPr/>
        </p:nvSpPr>
        <p:spPr>
          <a:xfrm>
            <a:off x="1554480" y="5779008"/>
            <a:ext cx="182880" cy="182880"/>
          </a:xfrm>
          <a:prstGeom prst="ellipse">
            <a:avLst/>
          </a:prstGeom>
          <a:solidFill>
            <a:schemeClr val="accent4"/>
          </a:solidFill>
          <a:ln w="25400">
            <a:solidFill>
              <a:schemeClr val="bg1"/>
            </a:solidFill>
            <a:prstDash val="solid"/>
          </a:ln>
        </p:spPr>
      </p:sp>
      <p:sp>
        <p:nvSpPr>
          <p:cNvPr id="52" name="Pill 13 Feb 2017"/>
          <p:cNvSpPr/>
          <p:nvPr/>
        </p:nvSpPr>
        <p:spPr>
          <a:xfrm>
            <a:off x="1188720" y="5367528"/>
            <a:ext cx="914400" cy="256032"/>
          </a:xfrm>
          <a:prstGeom prst="roundRect">
            <a:avLst>
              <a:gd name="adj" fmla="val 50000"/>
            </a:avLst>
          </a:prstGeom>
          <a:solidFill>
            <a:schemeClr val="accent4"/>
          </a:solidFill>
          <a:ln w="15875">
            <a:solidFill>
              <a:schemeClr val="accent4"/>
            </a:solidFill>
            <a:prstDash val="solid"/>
          </a:ln>
        </p:spPr>
      </p:sp>
      <p:sp>
        <p:nvSpPr>
          <p:cNvPr id="53" name="Text 50"/>
          <p:cNvSpPr txBox="1"/>
          <p:nvPr/>
        </p:nvSpPr>
        <p:spPr>
          <a:xfrm>
            <a:off x="1188720" y="5367528"/>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13 Feb 2017</a:t>
            </a:r>
            <a:endParaRPr lang="en-US" sz="1000" dirty="0"/>
          </a:p>
        </p:txBody>
      </p:sp>
      <p:sp>
        <p:nvSpPr>
          <p:cNvPr id="54" name="Text 51"/>
          <p:cNvSpPr txBox="1"/>
          <p:nvPr/>
        </p:nvSpPr>
        <p:spPr>
          <a:xfrm>
            <a:off x="791718" y="4133088"/>
            <a:ext cx="1708404" cy="1143000"/>
          </a:xfrm>
          <a:prstGeom prst="rect">
            <a:avLst/>
          </a:prstGeom>
          <a:noFill/>
          <a:ln/>
        </p:spPr>
        <p:txBody>
          <a:bodyPr wrap="square" lIns="0" tIns="0" rIns="0" bIns="0" rtlCol="0" anchor="b"/>
          <a:lstStyle/>
          <a:p>
            <a:pPr algn="ctr" indent="0" marL="0">
              <a:buNone/>
            </a:pPr>
            <a:r>
              <a:rPr lang="en-US" sz="1100" b="1" dirty="0">
                <a:solidFill>
                  <a:schemeClr val="tx1"/>
                </a:solidFill>
              </a:rPr>
              <a:t>Coronary stents capped</a:t>
            </a:r>
            <a:endParaRPr lang="en-US" sz="1100" dirty="0"/>
          </a:p>
          <a:p>
            <a:pPr algn="ctr" indent="0" marL="0">
              <a:buNone/>
            </a:pPr>
            <a:r>
              <a:rPr lang="en-US" sz="1000" dirty="0">
                <a:solidFill>
                  <a:schemeClr val="tx2"/>
                </a:solidFill>
              </a:rPr>
              <a:t>₹7,260 bare-metal · ₹29,600 drug-eluting; cuts up to 85% and 74%. Now in Schedule I, revised yearly by WPI</a:t>
            </a:r>
            <a:endParaRPr lang="en-US" sz="1100" dirty="0"/>
          </a:p>
        </p:txBody>
      </p:sp>
      <p:sp>
        <p:nvSpPr>
          <p:cNvPr id="55" name="Milestone 16 Aug 2017"/>
          <p:cNvSpPr/>
          <p:nvPr/>
        </p:nvSpPr>
        <p:spPr>
          <a:xfrm>
            <a:off x="3307080" y="5733288"/>
            <a:ext cx="274320" cy="274320"/>
          </a:xfrm>
          <a:prstGeom prst="ellipse">
            <a:avLst/>
          </a:prstGeom>
          <a:solidFill>
            <a:schemeClr val="accent4"/>
          </a:solidFill>
          <a:ln w="25400">
            <a:solidFill>
              <a:schemeClr val="bg1"/>
            </a:solidFill>
            <a:prstDash val="solid"/>
          </a:ln>
        </p:spPr>
      </p:sp>
      <p:sp>
        <p:nvSpPr>
          <p:cNvPr id="56" name="Pill 16 Aug 2017"/>
          <p:cNvSpPr/>
          <p:nvPr/>
        </p:nvSpPr>
        <p:spPr>
          <a:xfrm>
            <a:off x="2987040" y="5367528"/>
            <a:ext cx="914400" cy="256032"/>
          </a:xfrm>
          <a:prstGeom prst="roundRect">
            <a:avLst>
              <a:gd name="adj" fmla="val 50000"/>
            </a:avLst>
          </a:prstGeom>
          <a:solidFill>
            <a:schemeClr val="accent4"/>
          </a:solidFill>
          <a:ln w="15875">
            <a:solidFill>
              <a:schemeClr val="accent4"/>
            </a:solidFill>
            <a:prstDash val="solid"/>
          </a:ln>
        </p:spPr>
      </p:sp>
      <p:sp>
        <p:nvSpPr>
          <p:cNvPr id="57" name="Text 54"/>
          <p:cNvSpPr txBox="1"/>
          <p:nvPr/>
        </p:nvSpPr>
        <p:spPr>
          <a:xfrm>
            <a:off x="2987040" y="5367528"/>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16 Aug 2017</a:t>
            </a:r>
            <a:endParaRPr lang="en-US" sz="1000" dirty="0"/>
          </a:p>
        </p:txBody>
      </p:sp>
      <p:sp>
        <p:nvSpPr>
          <p:cNvPr id="58" name="Text 55"/>
          <p:cNvSpPr txBox="1"/>
          <p:nvPr/>
        </p:nvSpPr>
        <p:spPr>
          <a:xfrm>
            <a:off x="2590038" y="4133088"/>
            <a:ext cx="1708404" cy="1143000"/>
          </a:xfrm>
          <a:prstGeom prst="rect">
            <a:avLst/>
          </a:prstGeom>
          <a:noFill/>
          <a:ln/>
        </p:spPr>
        <p:txBody>
          <a:bodyPr wrap="square" lIns="0" tIns="0" rIns="0" bIns="0" rtlCol="0" anchor="b"/>
          <a:lstStyle/>
          <a:p>
            <a:pPr algn="ctr" indent="0" marL="0">
              <a:buNone/>
            </a:pPr>
            <a:r>
              <a:rPr lang="en-US" sz="1100" b="1" dirty="0">
                <a:solidFill>
                  <a:schemeClr val="tx1"/>
                </a:solidFill>
              </a:rPr>
              <a:t>Knee implants, Para 19</a:t>
            </a:r>
            <a:endParaRPr lang="en-US" sz="1100" dirty="0"/>
          </a:p>
          <a:p>
            <a:pPr algn="ctr" indent="0" marL="0">
              <a:buNone/>
            </a:pPr>
            <a:r>
              <a:rPr lang="en-US" sz="1000" dirty="0">
                <a:solidFill>
                  <a:schemeClr val="tx2"/>
                </a:solidFill>
              </a:rPr>
              <a:t>Cobalt-chromium primary knee ₹1,58,324 → ₹54,720 (−65%); NPPA found an average trade margin of 313%</a:t>
            </a:r>
            <a:endParaRPr lang="en-US" sz="1100" dirty="0"/>
          </a:p>
        </p:txBody>
      </p:sp>
      <p:sp>
        <p:nvSpPr>
          <p:cNvPr id="59" name="Milestone 13 Jul 2021"/>
          <p:cNvSpPr/>
          <p:nvPr/>
        </p:nvSpPr>
        <p:spPr>
          <a:xfrm>
            <a:off x="5151120" y="5779008"/>
            <a:ext cx="182880" cy="182880"/>
          </a:xfrm>
          <a:prstGeom prst="ellipse">
            <a:avLst/>
          </a:prstGeom>
          <a:solidFill>
            <a:schemeClr val="accent1"/>
          </a:solidFill>
          <a:ln w="25400">
            <a:solidFill>
              <a:schemeClr val="bg1"/>
            </a:solidFill>
            <a:prstDash val="solid"/>
          </a:ln>
        </p:spPr>
      </p:sp>
      <p:sp>
        <p:nvSpPr>
          <p:cNvPr id="60" name="Pill 13 Jul 2021"/>
          <p:cNvSpPr/>
          <p:nvPr/>
        </p:nvSpPr>
        <p:spPr>
          <a:xfrm>
            <a:off x="4785360" y="5367528"/>
            <a:ext cx="914400" cy="256032"/>
          </a:xfrm>
          <a:prstGeom prst="roundRect">
            <a:avLst>
              <a:gd name="adj" fmla="val 50000"/>
            </a:avLst>
          </a:prstGeom>
          <a:solidFill>
            <a:schemeClr val="accent1"/>
          </a:solidFill>
          <a:ln w="15875">
            <a:solidFill>
              <a:schemeClr val="accent1"/>
            </a:solidFill>
            <a:prstDash val="solid"/>
          </a:ln>
        </p:spPr>
      </p:sp>
      <p:sp>
        <p:nvSpPr>
          <p:cNvPr id="61" name="Text 58"/>
          <p:cNvSpPr txBox="1"/>
          <p:nvPr/>
        </p:nvSpPr>
        <p:spPr>
          <a:xfrm>
            <a:off x="4785360" y="5367528"/>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13 Jul 2021</a:t>
            </a:r>
            <a:endParaRPr lang="en-US" sz="1000" dirty="0"/>
          </a:p>
        </p:txBody>
      </p:sp>
      <p:sp>
        <p:nvSpPr>
          <p:cNvPr id="62" name="Text 59"/>
          <p:cNvSpPr txBox="1"/>
          <p:nvPr/>
        </p:nvSpPr>
        <p:spPr>
          <a:xfrm>
            <a:off x="4388358" y="4133088"/>
            <a:ext cx="1708404" cy="1143000"/>
          </a:xfrm>
          <a:prstGeom prst="rect">
            <a:avLst/>
          </a:prstGeom>
          <a:noFill/>
          <a:ln/>
        </p:spPr>
        <p:txBody>
          <a:bodyPr wrap="square" lIns="0" tIns="0" rIns="0" bIns="0" rtlCol="0" anchor="b"/>
          <a:lstStyle/>
          <a:p>
            <a:pPr algn="ctr" indent="0" marL="0">
              <a:buNone/>
            </a:pPr>
            <a:r>
              <a:rPr lang="en-US" sz="1100" b="1" dirty="0">
                <a:solidFill>
                  <a:schemeClr val="tx1"/>
                </a:solidFill>
              </a:rPr>
              <a:t>Trade margin ≤70% on PTD</a:t>
            </a:r>
            <a:endParaRPr lang="en-US" sz="1100" dirty="0"/>
          </a:p>
          <a:p>
            <a:pPr algn="ctr" indent="0" marL="0">
              <a:buNone/>
            </a:pPr>
            <a:r>
              <a:rPr lang="en-US" sz="1000" dirty="0">
                <a:solidFill>
                  <a:schemeClr val="tx2"/>
                </a:solidFill>
              </a:rPr>
              <a:t>Pulse oximeters, BP monitors, nebulisers, thermometers, glucometers: 91% of 684 brands cut MRP, by up to 88%</a:t>
            </a:r>
            <a:endParaRPr lang="en-US" sz="1100" dirty="0"/>
          </a:p>
        </p:txBody>
      </p:sp>
      <p:sp>
        <p:nvSpPr>
          <p:cNvPr id="63" name="Milestone 15 Nov 2026"/>
          <p:cNvSpPr/>
          <p:nvPr/>
        </p:nvSpPr>
        <p:spPr>
          <a:xfrm>
            <a:off x="6949440" y="5779008"/>
            <a:ext cx="182880" cy="182880"/>
          </a:xfrm>
          <a:prstGeom prst="ellipse">
            <a:avLst/>
          </a:prstGeom>
          <a:solidFill>
            <a:schemeClr val="accent2"/>
          </a:solidFill>
          <a:ln w="25400">
            <a:solidFill>
              <a:schemeClr val="bg1"/>
            </a:solidFill>
            <a:prstDash val="solid"/>
          </a:ln>
        </p:spPr>
      </p:sp>
      <p:sp>
        <p:nvSpPr>
          <p:cNvPr id="64" name="Pill 15 Nov 2026"/>
          <p:cNvSpPr/>
          <p:nvPr/>
        </p:nvSpPr>
        <p:spPr>
          <a:xfrm>
            <a:off x="6583680" y="5367528"/>
            <a:ext cx="914400" cy="256032"/>
          </a:xfrm>
          <a:prstGeom prst="roundRect">
            <a:avLst>
              <a:gd name="adj" fmla="val 50000"/>
            </a:avLst>
          </a:prstGeom>
          <a:solidFill>
            <a:schemeClr val="accent2"/>
          </a:solidFill>
          <a:ln w="15875">
            <a:solidFill>
              <a:schemeClr val="accent2"/>
            </a:solidFill>
            <a:prstDash val="solid"/>
          </a:ln>
        </p:spPr>
      </p:sp>
      <p:sp>
        <p:nvSpPr>
          <p:cNvPr id="65" name="Text 62"/>
          <p:cNvSpPr txBox="1"/>
          <p:nvPr/>
        </p:nvSpPr>
        <p:spPr>
          <a:xfrm>
            <a:off x="6583680" y="5367528"/>
            <a:ext cx="914400" cy="256032"/>
          </a:xfrm>
          <a:prstGeom prst="rect">
            <a:avLst/>
          </a:prstGeom>
          <a:noFill/>
          <a:ln/>
        </p:spPr>
        <p:txBody>
          <a:bodyPr wrap="square" lIns="0" tIns="0" rIns="0" bIns="0" rtlCol="0" anchor="ctr"/>
          <a:lstStyle/>
          <a:p>
            <a:pPr algn="ctr" indent="0" marL="0">
              <a:buNone/>
            </a:pPr>
            <a:r>
              <a:rPr lang="en-US" sz="1000" b="1" dirty="0">
                <a:solidFill>
                  <a:schemeClr val="bg1"/>
                </a:solidFill>
              </a:rPr>
              <a:t>15 Nov 2026</a:t>
            </a:r>
            <a:endParaRPr lang="en-US" sz="1000" dirty="0"/>
          </a:p>
        </p:txBody>
      </p:sp>
      <p:sp>
        <p:nvSpPr>
          <p:cNvPr id="66" name="Text 63"/>
          <p:cNvSpPr txBox="1"/>
          <p:nvPr/>
        </p:nvSpPr>
        <p:spPr>
          <a:xfrm>
            <a:off x="6186678" y="4133088"/>
            <a:ext cx="1708404" cy="1143000"/>
          </a:xfrm>
          <a:prstGeom prst="rect">
            <a:avLst/>
          </a:prstGeom>
          <a:noFill/>
          <a:ln/>
        </p:spPr>
        <p:txBody>
          <a:bodyPr wrap="square" lIns="0" tIns="0" rIns="0" bIns="0" rtlCol="0" anchor="b"/>
          <a:lstStyle/>
          <a:p>
            <a:pPr algn="ctr" indent="0" marL="0">
              <a:buNone/>
            </a:pPr>
            <a:r>
              <a:rPr lang="en-US" sz="1100" b="1" dirty="0">
                <a:solidFill>
                  <a:schemeClr val="tx1"/>
                </a:solidFill>
              </a:rPr>
              <a:t>Knee-implant cap runs to</a:t>
            </a:r>
            <a:endParaRPr lang="en-US" sz="1100" dirty="0"/>
          </a:p>
          <a:p>
            <a:pPr algn="ctr" indent="0" marL="0">
              <a:buNone/>
            </a:pPr>
            <a:r>
              <a:rPr lang="en-US" sz="1000" dirty="0">
                <a:solidFill>
                  <a:schemeClr val="tx2"/>
                </a:solidFill>
              </a:rPr>
              <a:t>Extended year by year since 2017; check NPPA for the next notice. SwaKnee is not an implant: no cap applies to it</a:t>
            </a:r>
            <a:endParaRPr lang="en-US" sz="1100" dirty="0"/>
          </a:p>
        </p:txBody>
      </p:sp>
      <p:sp>
        <p:nvSpPr>
          <p:cNvPr id="67" name="FoGO planned price"/>
          <p:cNvSpPr/>
          <p:nvPr/>
        </p:nvSpPr>
        <p:spPr>
          <a:xfrm>
            <a:off x="8412480" y="1463040"/>
            <a:ext cx="3230575" cy="1536192"/>
          </a:xfrm>
          <a:prstGeom prst="roundRect">
            <a:avLst>
              <a:gd name="adj" fmla="val 8333"/>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68" name="Price accent"/>
          <p:cNvSpPr/>
          <p:nvPr/>
        </p:nvSpPr>
        <p:spPr>
          <a:xfrm>
            <a:off x="8412480" y="1645920"/>
            <a:ext cx="64008" cy="1170432"/>
          </a:xfrm>
          <a:prstGeom prst="rect">
            <a:avLst/>
          </a:prstGeom>
          <a:solidFill>
            <a:schemeClr val="accent2"/>
          </a:solidFill>
          <a:ln/>
        </p:spPr>
      </p:sp>
      <p:sp>
        <p:nvSpPr>
          <p:cNvPr id="69" name="Text 66"/>
          <p:cNvSpPr txBox="1"/>
          <p:nvPr/>
        </p:nvSpPr>
        <p:spPr>
          <a:xfrm>
            <a:off x="8613648" y="1536192"/>
            <a:ext cx="2864815" cy="237744"/>
          </a:xfrm>
          <a:prstGeom prst="rect">
            <a:avLst/>
          </a:prstGeom>
          <a:noFill/>
          <a:ln/>
        </p:spPr>
        <p:txBody>
          <a:bodyPr wrap="square" lIns="0" tIns="0" rIns="0" bIns="0" rtlCol="0" anchor="t"/>
          <a:lstStyle/>
          <a:p>
            <a:pPr indent="0" marL="0">
              <a:buNone/>
            </a:pPr>
            <a:r>
              <a:rPr lang="en-US" sz="1100" b="1" dirty="0">
                <a:solidFill>
                  <a:schemeClr val="tx1"/>
                </a:solidFill>
              </a:rPr>
              <a:t>FoGO's planned price</a:t>
            </a:r>
            <a:endParaRPr lang="en-US" sz="1100" dirty="0"/>
          </a:p>
        </p:txBody>
      </p:sp>
      <p:sp>
        <p:nvSpPr>
          <p:cNvPr id="70" name="Text 67"/>
          <p:cNvSpPr txBox="1"/>
          <p:nvPr/>
        </p:nvSpPr>
        <p:spPr>
          <a:xfrm>
            <a:off x="8613648" y="1773936"/>
            <a:ext cx="1828800" cy="502920"/>
          </a:xfrm>
          <a:prstGeom prst="rect">
            <a:avLst/>
          </a:prstGeom>
          <a:noFill/>
          <a:ln/>
        </p:spPr>
        <p:txBody>
          <a:bodyPr wrap="square" lIns="0" tIns="0" rIns="0" bIns="0" rtlCol="0" anchor="ctr"/>
          <a:lstStyle/>
          <a:p>
            <a:pPr indent="0" marL="0">
              <a:buNone/>
            </a:pPr>
            <a:r>
              <a:rPr lang="en-US" sz="2600" b="1" dirty="0">
                <a:solidFill>
                  <a:schemeClr val="accent2"/>
                </a:solidFill>
              </a:rPr>
              <a:t>₹27,000</a:t>
            </a:r>
            <a:endParaRPr lang="en-US" sz="2600" dirty="0"/>
          </a:p>
        </p:txBody>
      </p:sp>
      <p:sp>
        <p:nvSpPr>
          <p:cNvPr id="71" name="Text 68"/>
          <p:cNvSpPr txBox="1"/>
          <p:nvPr/>
        </p:nvSpPr>
        <p:spPr>
          <a:xfrm>
            <a:off x="8613648" y="2286000"/>
            <a:ext cx="2864815" cy="237744"/>
          </a:xfrm>
          <a:prstGeom prst="rect">
            <a:avLst/>
          </a:prstGeom>
          <a:noFill/>
          <a:ln/>
        </p:spPr>
        <p:txBody>
          <a:bodyPr wrap="square" lIns="0" tIns="0" rIns="0" bIns="0" rtlCol="0" anchor="t"/>
          <a:lstStyle/>
          <a:p>
            <a:pPr indent="0" marL="0">
              <a:buNone/>
            </a:pPr>
            <a:r>
              <a:rPr lang="en-US" sz="1050" dirty="0">
                <a:solidFill>
                  <a:schemeClr val="tx2"/>
                </a:solidFill>
              </a:rPr>
              <a:t>+ ₹3–4,000 a year service plan</a:t>
            </a:r>
            <a:endParaRPr lang="en-US" sz="1050" dirty="0"/>
          </a:p>
        </p:txBody>
      </p:sp>
      <p:sp>
        <p:nvSpPr>
          <p:cNvPr id="72" name="Pill Planned, not a market price"/>
          <p:cNvSpPr/>
          <p:nvPr/>
        </p:nvSpPr>
        <p:spPr>
          <a:xfrm>
            <a:off x="8613648" y="2596896"/>
            <a:ext cx="2194560" cy="310896"/>
          </a:xfrm>
          <a:prstGeom prst="roundRect">
            <a:avLst>
              <a:gd name="adj" fmla="val 50000"/>
            </a:avLst>
          </a:prstGeom>
          <a:solidFill>
            <a:schemeClr val="bg1"/>
          </a:solidFill>
          <a:ln w="15875">
            <a:solidFill>
              <a:schemeClr val="accent2"/>
            </a:solidFill>
            <a:prstDash val="dash"/>
          </a:ln>
        </p:spPr>
      </p:sp>
      <p:sp>
        <p:nvSpPr>
          <p:cNvPr id="73" name="Text 70"/>
          <p:cNvSpPr txBox="1"/>
          <p:nvPr/>
        </p:nvSpPr>
        <p:spPr>
          <a:xfrm>
            <a:off x="8613648" y="2596896"/>
            <a:ext cx="2194560" cy="310896"/>
          </a:xfrm>
          <a:prstGeom prst="rect">
            <a:avLst/>
          </a:prstGeom>
          <a:noFill/>
          <a:ln/>
        </p:spPr>
        <p:txBody>
          <a:bodyPr wrap="square" lIns="0" tIns="0" rIns="0" bIns="0" rtlCol="0" anchor="ctr"/>
          <a:lstStyle/>
          <a:p>
            <a:pPr algn="ctr" indent="0" marL="0">
              <a:buNone/>
            </a:pPr>
            <a:r>
              <a:rPr lang="en-US" sz="1100" b="1" dirty="0">
                <a:solidFill>
                  <a:schemeClr val="accent2"/>
                </a:solidFill>
              </a:rPr>
              <a:t>Planned, not a market price</a:t>
            </a:r>
            <a:endParaRPr lang="en-US" sz="1100" dirty="0"/>
          </a:p>
        </p:txBody>
      </p:sp>
      <p:sp>
        <p:nvSpPr>
          <p:cNvPr id="74" name="Abroad lens"/>
          <p:cNvSpPr/>
          <p:nvPr/>
        </p:nvSpPr>
        <p:spPr>
          <a:xfrm>
            <a:off x="8412480" y="3127248"/>
            <a:ext cx="3230575" cy="1216152"/>
          </a:xfrm>
          <a:prstGeom prst="roundRect">
            <a:avLst>
              <a:gd name="adj" fmla="val 10526"/>
            </a:avLst>
          </a:prstGeom>
          <a:solidFill>
            <a:schemeClr val="bg2"/>
          </a:solidFill>
          <a:ln/>
        </p:spPr>
      </p:sp>
      <p:sp>
        <p:nvSpPr>
          <p:cNvPr id="75" name="Text 72"/>
          <p:cNvSpPr txBox="1"/>
          <p:nvPr/>
        </p:nvSpPr>
        <p:spPr>
          <a:xfrm>
            <a:off x="8577072" y="3200400"/>
            <a:ext cx="2901391" cy="1097280"/>
          </a:xfrm>
          <a:prstGeom prst="rect">
            <a:avLst/>
          </a:prstGeom>
          <a:noFill/>
          <a:ln/>
        </p:spPr>
        <p:txBody>
          <a:bodyPr wrap="square" lIns="0" tIns="0" rIns="0" bIns="0" rtlCol="0" anchor="t"/>
          <a:lstStyle/>
          <a:p>
            <a:pPr indent="0" marL="0">
              <a:buNone/>
            </a:pPr>
            <a:r>
              <a:rPr lang="en-US" sz="950" b="1" dirty="0">
                <a:solidFill>
                  <a:schemeClr val="accent4"/>
                </a:solidFill>
              </a:rPr>
              <a:t>Lens from abroad. </a:t>
            </a:r>
            <a:pPr indent="0" marL="0">
              <a:buNone/>
            </a:pPr>
            <a:r>
              <a:rPr lang="en-US" sz="950" dirty="0">
                <a:solidFill>
                  <a:schemeClr val="tx1"/>
                </a:solidFill>
              </a:rPr>
              <a:t>Cambridge CCHLE: develop → integrate at scale → make affordable. HBS Aravind case: Aurolab lenses made locally under a quality system, so affordability was designed in, not discounted later.</a:t>
            </a:r>
            <a:endParaRPr lang="en-US" sz="950" dirty="0"/>
          </a:p>
        </p:txBody>
      </p:sp>
      <p:sp>
        <p:nvSpPr>
          <p:cNvPr id="76" name="Responsible options"/>
          <p:cNvSpPr/>
          <p:nvPr/>
        </p:nvSpPr>
        <p:spPr>
          <a:xfrm>
            <a:off x="8412480" y="4480560"/>
            <a:ext cx="3230575" cy="1691640"/>
          </a:xfrm>
          <a:prstGeom prst="roundRect">
            <a:avLst>
              <a:gd name="adj" fmla="val 7568"/>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77" name="Icon disc LuHandCoins"/>
          <p:cNvSpPr/>
          <p:nvPr/>
        </p:nvSpPr>
        <p:spPr>
          <a:xfrm>
            <a:off x="8577072" y="4590288"/>
            <a:ext cx="365760" cy="365760"/>
          </a:xfrm>
          <a:prstGeom prst="ellipse">
            <a:avLst/>
          </a:prstGeom>
          <a:solidFill>
            <a:schemeClr val="accent1">
              <a:alpha val="15000"/>
            </a:schemeClr>
          </a:solidFill>
          <a:ln/>
        </p:spPr>
      </p:sp>
      <p:pic>
        <p:nvPicPr>
          <p:cNvPr id="78" name="Image 0" descr="HandCoins icon">    </p:cNvPr>
          <p:cNvPicPr>
            <a:picLocks noChangeAspect="1"/>
          </p:cNvPicPr>
          <p:nvPr/>
        </p:nvPicPr>
        <p:blipFill>
          <a:blip r:embed="rId1"/>
          <a:stretch>
            <a:fillRect/>
          </a:stretch>
        </p:blipFill>
        <p:spPr>
          <a:xfrm>
            <a:off x="8657539" y="4670755"/>
            <a:ext cx="204826" cy="204826"/>
          </a:xfrm>
          <a:prstGeom prst="rect">
            <a:avLst/>
          </a:prstGeom>
        </p:spPr>
      </p:pic>
      <p:sp>
        <p:nvSpPr>
          <p:cNvPr id="79" name="Text 75"/>
          <p:cNvSpPr txBox="1"/>
          <p:nvPr/>
        </p:nvSpPr>
        <p:spPr>
          <a:xfrm>
            <a:off x="9034272" y="4572000"/>
            <a:ext cx="2453335" cy="402336"/>
          </a:xfrm>
          <a:prstGeom prst="rect">
            <a:avLst/>
          </a:prstGeom>
          <a:noFill/>
          <a:ln/>
        </p:spPr>
        <p:txBody>
          <a:bodyPr wrap="square" lIns="0" tIns="0" rIns="0" bIns="0" rtlCol="0" anchor="ctr"/>
          <a:lstStyle/>
          <a:p>
            <a:pPr indent="0" marL="0">
              <a:buNone/>
            </a:pPr>
            <a:r>
              <a:rPr lang="en-US" sz="1050" b="1" dirty="0">
                <a:solidFill>
                  <a:schemeClr val="tx1"/>
                </a:solidFill>
              </a:rPr>
              <a:t>Responsible options for an adjunct with modest evidence</a:t>
            </a:r>
            <a:endParaRPr lang="en-US" sz="1050" dirty="0"/>
          </a:p>
        </p:txBody>
      </p:sp>
      <p:sp>
        <p:nvSpPr>
          <p:cNvPr id="80" name="Text 76"/>
          <p:cNvSpPr txBox="1"/>
          <p:nvPr/>
        </p:nvSpPr>
        <p:spPr>
          <a:xfrm>
            <a:off x="8577072" y="5029200"/>
            <a:ext cx="2901391" cy="1097280"/>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chemeClr val="tx2"/>
                </a:solidFill>
              </a:rPr>
              <a:t>Rent rather than sell; clinic-shared devices</a:t>
            </a:r>
            <a:endParaRPr lang="en-US" sz="1400" dirty="0"/>
          </a:p>
          <a:p>
            <a:pPr marL="127000" indent="-127000">
              <a:spcAft>
                <a:spcPts val="200"/>
              </a:spcAft>
              <a:buSzPct val="100000"/>
              <a:buChar char="•"/>
            </a:pPr>
            <a:r>
              <a:rPr lang="en-US" sz="950" dirty="0">
                <a:solidFill>
                  <a:schemeClr val="tx2"/>
                </a:solidFill>
              </a:rPr>
              <a:t>A trial period with a refund if not tolerated</a:t>
            </a:r>
            <a:endParaRPr lang="en-US" sz="1400" dirty="0"/>
          </a:p>
          <a:p>
            <a:pPr marL="127000" indent="-127000">
              <a:spcAft>
                <a:spcPts val="200"/>
              </a:spcAft>
              <a:buSzPct val="100000"/>
              <a:buChar char="•"/>
            </a:pPr>
            <a:r>
              <a:rPr lang="en-US" sz="950" dirty="0">
                <a:solidFill>
                  <a:schemeClr val="tx2"/>
                </a:solidFill>
              </a:rPr>
              <a:t>State the total cost of a course up front</a:t>
            </a:r>
            <a:endParaRPr lang="en-US" sz="1400" dirty="0"/>
          </a:p>
          <a:p>
            <a:pPr marL="127000" indent="-127000">
              <a:spcAft>
                <a:spcPts val="200"/>
              </a:spcAft>
              <a:buSzPct val="100000"/>
              <a:buChar char="•"/>
            </a:pPr>
            <a:r>
              <a:rPr lang="en-US" sz="950" dirty="0">
                <a:solidFill>
                  <a:schemeClr val="tx2"/>
                </a:solidFill>
              </a:rPr>
              <a:t>Price the service plan, not only the box</a:t>
            </a:r>
            <a:endParaRPr lang="en-US" sz="14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WOULD YOU PROCEED? 4/5</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Launch with this brochure?</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UCMPMD 2024 (amended 30 Apr 2026); IMC 2002 cl. 6.8; DMRA 1954 Schedule; ASCI Code I.1; OARSI 2019; Swayogya evidence page (company-reported)</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80192" y="393192"/>
            <a:ext cx="128016" cy="128016"/>
          </a:xfrm>
          <a:prstGeom prst="ellipse">
            <a:avLst/>
          </a:prstGeom>
          <a:solidFill>
            <a:schemeClr val="accent6"/>
          </a:solidFill>
          <a:ln w="12700">
            <a:solidFill>
              <a:schemeClr val="accent1"/>
            </a:solidFill>
            <a:prstDash val="solid"/>
          </a:ln>
        </p:spPr>
      </p:sp>
      <p:sp>
        <p:nvSpPr>
          <p:cNvPr id="9" name="Progress Access"/>
          <p:cNvSpPr/>
          <p:nvPr/>
        </p:nvSpPr>
        <p:spPr>
          <a:xfrm>
            <a:off x="11000232" y="347472"/>
            <a:ext cx="219456" cy="219456"/>
          </a:xfrm>
          <a:prstGeom prst="ellipse">
            <a:avLst/>
          </a:prstGeom>
          <a:solidFill>
            <a:schemeClr val="accent1"/>
          </a:solidFill>
          <a:ln w="12700">
            <a:solidFill>
              <a:schemeClr val="accent1"/>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sp>
        <p:nvSpPr>
          <p:cNvPr id="12" name="Brochure mock-up"/>
          <p:cNvSpPr/>
          <p:nvPr/>
        </p:nvSpPr>
        <p:spPr>
          <a:xfrm>
            <a:off x="548640" y="1536192"/>
            <a:ext cx="5394960" cy="1115568"/>
          </a:xfrm>
          <a:prstGeom prst="roundRect">
            <a:avLst>
              <a:gd name="adj" fmla="val 8197"/>
            </a:avLst>
          </a:prstGeom>
          <a:solidFill>
            <a:schemeClr val="bg1"/>
          </a:solidFill>
          <a:ln/>
        </p:spPr>
      </p:sp>
      <p:sp>
        <p:nvSpPr>
          <p:cNvPr id="13" name="Pill HYPOTHETICAL BROCHURE"/>
          <p:cNvSpPr/>
          <p:nvPr/>
        </p:nvSpPr>
        <p:spPr>
          <a:xfrm>
            <a:off x="685800" y="1645920"/>
            <a:ext cx="1737360" cy="219456"/>
          </a:xfrm>
          <a:prstGeom prst="roundRect">
            <a:avLst>
              <a:gd name="adj" fmla="val 50000"/>
            </a:avLst>
          </a:prstGeom>
          <a:solidFill>
            <a:schemeClr val="accent3"/>
          </a:solidFill>
          <a:ln w="15875">
            <a:solidFill>
              <a:schemeClr val="accent3"/>
            </a:solidFill>
            <a:prstDash val="solid"/>
          </a:ln>
        </p:spPr>
      </p:sp>
      <p:sp>
        <p:nvSpPr>
          <p:cNvPr id="14" name="Text 11"/>
          <p:cNvSpPr txBox="1"/>
          <p:nvPr/>
        </p:nvSpPr>
        <p:spPr>
          <a:xfrm>
            <a:off x="685800" y="1645920"/>
            <a:ext cx="1737360" cy="219456"/>
          </a:xfrm>
          <a:prstGeom prst="rect">
            <a:avLst/>
          </a:prstGeom>
          <a:noFill/>
          <a:ln/>
        </p:spPr>
        <p:txBody>
          <a:bodyPr wrap="square" lIns="0" tIns="0" rIns="0" bIns="0" rtlCol="0" anchor="ctr"/>
          <a:lstStyle/>
          <a:p>
            <a:pPr algn="ctr" indent="0" marL="0">
              <a:buNone/>
            </a:pPr>
            <a:r>
              <a:rPr lang="en-US" sz="850" b="1" dirty="0">
                <a:solidFill>
                  <a:schemeClr val="bg1"/>
                </a:solidFill>
              </a:rPr>
              <a:t>HYPOTHETICAL BROCHURE</a:t>
            </a:r>
            <a:endParaRPr lang="en-US" sz="850" dirty="0"/>
          </a:p>
        </p:txBody>
      </p:sp>
      <p:sp>
        <p:nvSpPr>
          <p:cNvPr id="15" name="Text 12"/>
          <p:cNvSpPr txBox="1"/>
          <p:nvPr/>
        </p:nvSpPr>
        <p:spPr>
          <a:xfrm>
            <a:off x="2560320" y="1609344"/>
            <a:ext cx="3246120" cy="274320"/>
          </a:xfrm>
          <a:prstGeom prst="rect">
            <a:avLst/>
          </a:prstGeom>
          <a:noFill/>
          <a:ln/>
        </p:spPr>
        <p:txBody>
          <a:bodyPr wrap="square" lIns="0" tIns="0" rIns="0" bIns="0" rtlCol="0" anchor="ctr"/>
          <a:lstStyle/>
          <a:p>
            <a:pPr algn="r" indent="0" marL="0">
              <a:buNone/>
            </a:pPr>
            <a:r>
              <a:rPr lang="en-US" sz="1200" b="1" dirty="0">
                <a:solidFill>
                  <a:schemeClr val="accent5"/>
                </a:solidFill>
              </a:rPr>
              <a:t>Knee relief at home</a:t>
            </a:r>
            <a:endParaRPr lang="en-US" sz="1200" dirty="0"/>
          </a:p>
        </p:txBody>
      </p:sp>
      <p:pic>
        <p:nvPicPr>
          <p:cNvPr id="16" name="Image 0" descr="Star icon">    </p:cNvPr>
          <p:cNvPicPr>
            <a:picLocks noChangeAspect="1"/>
          </p:cNvPicPr>
          <p:nvPr/>
        </p:nvPicPr>
        <p:blipFill>
          <a:blip r:embed="rId1"/>
          <a:stretch>
            <a:fillRect/>
          </a:stretch>
        </p:blipFill>
        <p:spPr>
          <a:xfrm>
            <a:off x="731520" y="1920240"/>
            <a:ext cx="237744" cy="237744"/>
          </a:xfrm>
          <a:prstGeom prst="rect">
            <a:avLst/>
          </a:prstGeom>
        </p:spPr>
      </p:pic>
      <p:sp>
        <p:nvSpPr>
          <p:cNvPr id="17" name="Text 13"/>
          <p:cNvSpPr txBox="1"/>
          <p:nvPr/>
        </p:nvSpPr>
        <p:spPr>
          <a:xfrm>
            <a:off x="1060704" y="1865376"/>
            <a:ext cx="2240280" cy="347472"/>
          </a:xfrm>
          <a:prstGeom prst="rect">
            <a:avLst/>
          </a:prstGeom>
          <a:noFill/>
          <a:ln/>
        </p:spPr>
        <p:txBody>
          <a:bodyPr wrap="square" lIns="0" tIns="0" rIns="0" bIns="0" rtlCol="0" anchor="ctr"/>
          <a:lstStyle/>
          <a:p>
            <a:pPr indent="0" marL="0">
              <a:buNone/>
            </a:pPr>
            <a:r>
              <a:rPr lang="en-US" sz="1500" b="1" dirty="0">
                <a:solidFill>
                  <a:srgbClr val="17262B"/>
                </a:solidFill>
              </a:rPr>
              <a:t>Clinically proven!</a:t>
            </a:r>
            <a:endParaRPr lang="en-US" sz="1500" dirty="0"/>
          </a:p>
        </p:txBody>
      </p:sp>
      <p:pic>
        <p:nvPicPr>
          <p:cNvPr id="18" name="Image 1" descr="Star icon">    </p:cNvPr>
          <p:cNvPicPr>
            <a:picLocks noChangeAspect="1"/>
          </p:cNvPicPr>
          <p:nvPr/>
        </p:nvPicPr>
        <p:blipFill>
          <a:blip r:embed="rId2"/>
          <a:stretch>
            <a:fillRect/>
          </a:stretch>
        </p:blipFill>
        <p:spPr>
          <a:xfrm>
            <a:off x="3429000" y="1920240"/>
            <a:ext cx="237744" cy="237744"/>
          </a:xfrm>
          <a:prstGeom prst="rect">
            <a:avLst/>
          </a:prstGeom>
        </p:spPr>
      </p:pic>
      <p:sp>
        <p:nvSpPr>
          <p:cNvPr id="19" name="Text 14"/>
          <p:cNvSpPr txBox="1"/>
          <p:nvPr/>
        </p:nvSpPr>
        <p:spPr>
          <a:xfrm>
            <a:off x="3758184" y="1865376"/>
            <a:ext cx="2240280" cy="347472"/>
          </a:xfrm>
          <a:prstGeom prst="rect">
            <a:avLst/>
          </a:prstGeom>
          <a:noFill/>
          <a:ln/>
        </p:spPr>
        <p:txBody>
          <a:bodyPr wrap="square" lIns="0" tIns="0" rIns="0" bIns="0" rtlCol="0" anchor="ctr"/>
          <a:lstStyle/>
          <a:p>
            <a:pPr indent="0" marL="0">
              <a:buNone/>
            </a:pPr>
            <a:r>
              <a:rPr lang="en-US" sz="1500" b="1" dirty="0">
                <a:solidFill>
                  <a:srgbClr val="17262B"/>
                </a:solidFill>
              </a:rPr>
              <a:t>Regrows cartilage</a:t>
            </a:r>
            <a:endParaRPr lang="en-US" sz="1500" dirty="0"/>
          </a:p>
        </p:txBody>
      </p:sp>
      <p:pic>
        <p:nvPicPr>
          <p:cNvPr id="20" name="Image 2" descr="Star icon">    </p:cNvPr>
          <p:cNvPicPr>
            <a:picLocks noChangeAspect="1"/>
          </p:cNvPicPr>
          <p:nvPr/>
        </p:nvPicPr>
        <p:blipFill>
          <a:blip r:embed="rId3"/>
          <a:stretch>
            <a:fillRect/>
          </a:stretch>
        </p:blipFill>
        <p:spPr>
          <a:xfrm>
            <a:off x="731520" y="2286000"/>
            <a:ext cx="237744" cy="237744"/>
          </a:xfrm>
          <a:prstGeom prst="rect">
            <a:avLst/>
          </a:prstGeom>
        </p:spPr>
      </p:pic>
      <p:sp>
        <p:nvSpPr>
          <p:cNvPr id="21" name="Text 15"/>
          <p:cNvSpPr txBox="1"/>
          <p:nvPr/>
        </p:nvSpPr>
        <p:spPr>
          <a:xfrm>
            <a:off x="1060704" y="2231136"/>
            <a:ext cx="2240280" cy="347472"/>
          </a:xfrm>
          <a:prstGeom prst="rect">
            <a:avLst/>
          </a:prstGeom>
          <a:noFill/>
          <a:ln/>
        </p:spPr>
        <p:txBody>
          <a:bodyPr wrap="square" lIns="0" tIns="0" rIns="0" bIns="0" rtlCol="0" anchor="ctr"/>
          <a:lstStyle/>
          <a:p>
            <a:pPr indent="0" marL="0">
              <a:buNone/>
            </a:pPr>
            <a:r>
              <a:rPr lang="en-US" sz="1500" b="1" dirty="0">
                <a:solidFill>
                  <a:srgbClr val="17262B"/>
                </a:solidFill>
              </a:rPr>
              <a:t>Doctor recommended</a:t>
            </a:r>
            <a:endParaRPr lang="en-US" sz="1500" dirty="0"/>
          </a:p>
        </p:txBody>
      </p:sp>
      <p:pic>
        <p:nvPicPr>
          <p:cNvPr id="22" name="Image 3" descr="Star icon">    </p:cNvPr>
          <p:cNvPicPr>
            <a:picLocks noChangeAspect="1"/>
          </p:cNvPicPr>
          <p:nvPr/>
        </p:nvPicPr>
        <p:blipFill>
          <a:blip r:embed="rId4"/>
          <a:stretch>
            <a:fillRect/>
          </a:stretch>
        </p:blipFill>
        <p:spPr>
          <a:xfrm>
            <a:off x="3429000" y="2286000"/>
            <a:ext cx="237744" cy="237744"/>
          </a:xfrm>
          <a:prstGeom prst="rect">
            <a:avLst/>
          </a:prstGeom>
        </p:spPr>
      </p:pic>
      <p:sp>
        <p:nvSpPr>
          <p:cNvPr id="23" name="Text 16"/>
          <p:cNvSpPr txBox="1"/>
          <p:nvPr/>
        </p:nvSpPr>
        <p:spPr>
          <a:xfrm>
            <a:off x="3758184" y="2231136"/>
            <a:ext cx="2240280" cy="347472"/>
          </a:xfrm>
          <a:prstGeom prst="rect">
            <a:avLst/>
          </a:prstGeom>
          <a:noFill/>
          <a:ln/>
        </p:spPr>
        <p:txBody>
          <a:bodyPr wrap="square" lIns="0" tIns="0" rIns="0" bIns="0" rtlCol="0" anchor="ctr"/>
          <a:lstStyle/>
          <a:p>
            <a:pPr indent="0" marL="0">
              <a:buNone/>
            </a:pPr>
            <a:r>
              <a:rPr lang="en-US" sz="1500" b="1" dirty="0">
                <a:solidFill>
                  <a:srgbClr val="17262B"/>
                </a:solidFill>
              </a:rPr>
              <a:t>Avoid surgery forever</a:t>
            </a:r>
            <a:endParaRPr lang="en-US" sz="1500" dirty="0"/>
          </a:p>
        </p:txBody>
      </p:sp>
      <p:sp>
        <p:nvSpPr>
          <p:cNvPr id="24" name="Text 17"/>
          <p:cNvSpPr txBox="1"/>
          <p:nvPr/>
        </p:nvSpPr>
        <p:spPr>
          <a:xfrm>
            <a:off x="548640" y="2688336"/>
            <a:ext cx="5394960" cy="237744"/>
          </a:xfrm>
          <a:prstGeom prst="rect">
            <a:avLst/>
          </a:prstGeom>
          <a:noFill/>
          <a:ln/>
        </p:spPr>
        <p:txBody>
          <a:bodyPr wrap="square" lIns="0" tIns="0" rIns="0" bIns="0" rtlCol="0" anchor="t"/>
          <a:lstStyle/>
          <a:p>
            <a:pPr indent="0" marL="0">
              <a:buNone/>
            </a:pPr>
            <a:r>
              <a:rPr lang="en-US" sz="950" i="1" dirty="0">
                <a:solidFill>
                  <a:schemeClr val="accent6"/>
                </a:solidFill>
              </a:rPr>
              <a:t>Kamala's son found it online. Invented for teaching; not actual SwaKnee material.</a:t>
            </a:r>
            <a:endParaRPr lang="en-US" sz="950" dirty="0"/>
          </a:p>
        </p:txBody>
      </p:sp>
      <p:sp>
        <p:nvSpPr>
          <p:cNvPr id="25" name="Text 18"/>
          <p:cNvSpPr txBox="1"/>
          <p:nvPr/>
        </p:nvSpPr>
        <p:spPr>
          <a:xfrm>
            <a:off x="548640" y="2944368"/>
            <a:ext cx="5394960" cy="237744"/>
          </a:xfrm>
          <a:prstGeom prst="rect">
            <a:avLst/>
          </a:prstGeom>
          <a:noFill/>
          <a:ln/>
        </p:spPr>
        <p:txBody>
          <a:bodyPr wrap="square" lIns="0" tIns="0" rIns="0" bIns="0" rtlCol="0" anchor="t"/>
          <a:lstStyle/>
          <a:p>
            <a:pPr indent="0" marL="0">
              <a:buNone/>
            </a:pPr>
            <a:r>
              <a:rPr lang="en-US" sz="1200" b="1" dirty="0">
                <a:solidFill>
                  <a:schemeClr val="accent6"/>
                </a:solidFill>
              </a:rPr>
              <a:t>The pressures</a:t>
            </a:r>
            <a:endParaRPr lang="en-US" sz="1200" dirty="0"/>
          </a:p>
        </p:txBody>
      </p:sp>
      <p:sp>
        <p:nvSpPr>
          <p:cNvPr id="26" name="Icon disc LuStore"/>
          <p:cNvSpPr/>
          <p:nvPr/>
        </p:nvSpPr>
        <p:spPr>
          <a:xfrm>
            <a:off x="548640" y="3200400"/>
            <a:ext cx="292608" cy="292608"/>
          </a:xfrm>
          <a:prstGeom prst="ellipse">
            <a:avLst/>
          </a:prstGeom>
          <a:solidFill>
            <a:schemeClr val="accent6"/>
          </a:solidFill>
          <a:ln/>
        </p:spPr>
      </p:sp>
      <p:pic>
        <p:nvPicPr>
          <p:cNvPr id="27" name="Image 4" descr="Store icon">    </p:cNvPr>
          <p:cNvPicPr>
            <a:picLocks noChangeAspect="1"/>
          </p:cNvPicPr>
          <p:nvPr/>
        </p:nvPicPr>
        <p:blipFill>
          <a:blip r:embed="rId5"/>
          <a:stretch>
            <a:fillRect/>
          </a:stretch>
        </p:blipFill>
        <p:spPr>
          <a:xfrm>
            <a:off x="613014" y="3264774"/>
            <a:ext cx="163860" cy="163860"/>
          </a:xfrm>
          <a:prstGeom prst="rect">
            <a:avLst/>
          </a:prstGeom>
        </p:spPr>
      </p:pic>
      <p:sp>
        <p:nvSpPr>
          <p:cNvPr id="28" name="Text 20"/>
          <p:cNvSpPr txBox="1"/>
          <p:nvPr/>
        </p:nvSpPr>
        <p:spPr>
          <a:xfrm>
            <a:off x="969264" y="3200400"/>
            <a:ext cx="4937760" cy="292608"/>
          </a:xfrm>
          <a:prstGeom prst="rect">
            <a:avLst/>
          </a:prstGeom>
          <a:noFill/>
          <a:ln/>
        </p:spPr>
        <p:txBody>
          <a:bodyPr wrap="square" lIns="0" tIns="0" rIns="0" bIns="0" rtlCol="0" anchor="ctr"/>
          <a:lstStyle/>
          <a:p>
            <a:pPr indent="0" marL="0">
              <a:buNone/>
            </a:pPr>
            <a:r>
              <a:rPr lang="en-US" sz="1300" dirty="0">
                <a:solidFill>
                  <a:schemeClr val="bg1"/>
                </a:solidFill>
              </a:rPr>
              <a:t>The distributor insists on these four claims</a:t>
            </a:r>
            <a:endParaRPr lang="en-US" sz="1300" dirty="0"/>
          </a:p>
        </p:txBody>
      </p:sp>
      <p:sp>
        <p:nvSpPr>
          <p:cNvPr id="29" name="Icon disc LuHourglass"/>
          <p:cNvSpPr/>
          <p:nvPr/>
        </p:nvSpPr>
        <p:spPr>
          <a:xfrm>
            <a:off x="548640" y="3547872"/>
            <a:ext cx="292608" cy="292608"/>
          </a:xfrm>
          <a:prstGeom prst="ellipse">
            <a:avLst/>
          </a:prstGeom>
          <a:solidFill>
            <a:schemeClr val="accent6"/>
          </a:solidFill>
          <a:ln/>
        </p:spPr>
      </p:sp>
      <p:pic>
        <p:nvPicPr>
          <p:cNvPr id="30" name="Image 5" descr="Hourglass icon">    </p:cNvPr>
          <p:cNvPicPr>
            <a:picLocks noChangeAspect="1"/>
          </p:cNvPicPr>
          <p:nvPr/>
        </p:nvPicPr>
        <p:blipFill>
          <a:blip r:embed="rId6"/>
          <a:stretch>
            <a:fillRect/>
          </a:stretch>
        </p:blipFill>
        <p:spPr>
          <a:xfrm>
            <a:off x="613014" y="3612246"/>
            <a:ext cx="163860" cy="163860"/>
          </a:xfrm>
          <a:prstGeom prst="rect">
            <a:avLst/>
          </a:prstGeom>
        </p:spPr>
      </p:pic>
      <p:sp>
        <p:nvSpPr>
          <p:cNvPr id="31" name="Text 22"/>
          <p:cNvSpPr txBox="1"/>
          <p:nvPr/>
        </p:nvSpPr>
        <p:spPr>
          <a:xfrm>
            <a:off x="969264" y="3547872"/>
            <a:ext cx="4937760" cy="292608"/>
          </a:xfrm>
          <a:prstGeom prst="rect">
            <a:avLst/>
          </a:prstGeom>
          <a:noFill/>
          <a:ln/>
        </p:spPr>
        <p:txBody>
          <a:bodyPr wrap="square" lIns="0" tIns="0" rIns="0" bIns="0" rtlCol="0" anchor="ctr"/>
          <a:lstStyle/>
          <a:p>
            <a:pPr indent="0" marL="0">
              <a:buNone/>
            </a:pPr>
            <a:r>
              <a:rPr lang="en-US" sz="1300" dirty="0">
                <a:solidFill>
                  <a:schemeClr val="bg1"/>
                </a:solidFill>
              </a:rPr>
              <a:t>Cash lasts 3 months</a:t>
            </a:r>
            <a:endParaRPr lang="en-US" sz="1300" dirty="0"/>
          </a:p>
        </p:txBody>
      </p:sp>
      <p:sp>
        <p:nvSpPr>
          <p:cNvPr id="32" name="Icon disc LuUsers"/>
          <p:cNvSpPr/>
          <p:nvPr/>
        </p:nvSpPr>
        <p:spPr>
          <a:xfrm>
            <a:off x="548640" y="3895344"/>
            <a:ext cx="292608" cy="292608"/>
          </a:xfrm>
          <a:prstGeom prst="ellipse">
            <a:avLst/>
          </a:prstGeom>
          <a:solidFill>
            <a:schemeClr val="accent6"/>
          </a:solidFill>
          <a:ln/>
        </p:spPr>
      </p:sp>
      <p:pic>
        <p:nvPicPr>
          <p:cNvPr id="33" name="Image 6" descr="Users icon">    </p:cNvPr>
          <p:cNvPicPr>
            <a:picLocks noChangeAspect="1"/>
          </p:cNvPicPr>
          <p:nvPr/>
        </p:nvPicPr>
        <p:blipFill>
          <a:blip r:embed="rId7"/>
          <a:stretch>
            <a:fillRect/>
          </a:stretch>
        </p:blipFill>
        <p:spPr>
          <a:xfrm>
            <a:off x="613014" y="3959718"/>
            <a:ext cx="163860" cy="163860"/>
          </a:xfrm>
          <a:prstGeom prst="rect">
            <a:avLst/>
          </a:prstGeom>
        </p:spPr>
      </p:pic>
      <p:sp>
        <p:nvSpPr>
          <p:cNvPr id="34" name="Text 24"/>
          <p:cNvSpPr txBox="1"/>
          <p:nvPr/>
        </p:nvSpPr>
        <p:spPr>
          <a:xfrm>
            <a:off x="969264" y="3895344"/>
            <a:ext cx="4937760" cy="292608"/>
          </a:xfrm>
          <a:prstGeom prst="rect">
            <a:avLst/>
          </a:prstGeom>
          <a:noFill/>
          <a:ln/>
        </p:spPr>
        <p:txBody>
          <a:bodyPr wrap="square" lIns="0" tIns="0" rIns="0" bIns="0" rtlCol="0" anchor="ctr"/>
          <a:lstStyle/>
          <a:p>
            <a:pPr indent="0" marL="0">
              <a:buNone/>
            </a:pPr>
            <a:r>
              <a:rPr lang="en-US" sz="1300" dirty="0">
                <a:solidFill>
                  <a:schemeClr val="bg1"/>
                </a:solidFill>
              </a:rPr>
              <a:t>If the company folds, today's users lose service and support</a:t>
            </a:r>
            <a:endParaRPr lang="en-US" sz="1300" dirty="0"/>
          </a:p>
        </p:txBody>
      </p:sp>
      <p:sp>
        <p:nvSpPr>
          <p:cNvPr id="35" name="Callout"/>
          <p:cNvSpPr/>
          <p:nvPr/>
        </p:nvSpPr>
        <p:spPr>
          <a:xfrm>
            <a:off x="548640" y="4224528"/>
            <a:ext cx="5394960" cy="347472"/>
          </a:xfrm>
          <a:prstGeom prst="roundRect">
            <a:avLst>
              <a:gd name="adj" fmla="val 21053"/>
            </a:avLst>
          </a:prstGeom>
          <a:solidFill>
            <a:schemeClr val="accent2">
              <a:alpha val="20000"/>
            </a:schemeClr>
          </a:solidFill>
          <a:ln/>
        </p:spPr>
      </p:sp>
      <p:sp>
        <p:nvSpPr>
          <p:cNvPr id="36" name="Callout bar"/>
          <p:cNvSpPr/>
          <p:nvPr/>
        </p:nvSpPr>
        <p:spPr>
          <a:xfrm>
            <a:off x="548640" y="4315968"/>
            <a:ext cx="64008" cy="164592"/>
          </a:xfrm>
          <a:prstGeom prst="rect">
            <a:avLst/>
          </a:prstGeom>
          <a:solidFill>
            <a:schemeClr val="accent2"/>
          </a:solidFill>
          <a:ln/>
        </p:spPr>
      </p:sp>
      <p:sp>
        <p:nvSpPr>
          <p:cNvPr id="37" name="Text 27"/>
          <p:cNvSpPr txBox="1"/>
          <p:nvPr/>
        </p:nvSpPr>
        <p:spPr>
          <a:xfrm>
            <a:off x="822960" y="4224528"/>
            <a:ext cx="4983480" cy="347472"/>
          </a:xfrm>
          <a:prstGeom prst="rect">
            <a:avLst/>
          </a:prstGeom>
          <a:noFill/>
          <a:ln/>
        </p:spPr>
        <p:txBody>
          <a:bodyPr wrap="square" lIns="0" tIns="0" rIns="0" bIns="0" rtlCol="0" anchor="ctr"/>
          <a:lstStyle/>
          <a:p>
            <a:pPr indent="0" marL="0">
              <a:buNone/>
            </a:pPr>
            <a:r>
              <a:rPr lang="en-US" sz="1150" b="1" dirty="0">
                <a:solidFill>
                  <a:schemeClr val="bg1"/>
                </a:solidFill>
              </a:rPr>
              <a:t>Vote A, B or C. Then each table rewrites one claim in 30 seconds.</a:t>
            </a:r>
            <a:endParaRPr lang="en-US" sz="1150" dirty="0"/>
          </a:p>
        </p:txBody>
      </p:sp>
      <p:sp>
        <p:nvSpPr>
          <p:cNvPr id="38" name="Option A"/>
          <p:cNvSpPr/>
          <p:nvPr/>
        </p:nvSpPr>
        <p:spPr>
          <a:xfrm>
            <a:off x="6400800" y="1536192"/>
            <a:ext cx="5239512" cy="822960"/>
          </a:xfrm>
          <a:prstGeom prst="roundRect">
            <a:avLst>
              <a:gd name="adj" fmla="val 15556"/>
            </a:avLst>
          </a:prstGeom>
          <a:solidFill>
            <a:schemeClr val="bg1">
              <a:alpha val="10000"/>
            </a:schemeClr>
          </a:solidFill>
          <a:ln w="12700">
            <a:solidFill>
              <a:schemeClr val="accent6"/>
            </a:solidFill>
            <a:prstDash val="solid"/>
          </a:ln>
        </p:spPr>
      </p:sp>
      <p:sp>
        <p:nvSpPr>
          <p:cNvPr id="39" name="Badge A"/>
          <p:cNvSpPr/>
          <p:nvPr/>
        </p:nvSpPr>
        <p:spPr>
          <a:xfrm>
            <a:off x="6629400" y="1627632"/>
            <a:ext cx="640080" cy="640080"/>
          </a:xfrm>
          <a:prstGeom prst="ellipse">
            <a:avLst/>
          </a:prstGeom>
          <a:solidFill>
            <a:schemeClr val="accent2"/>
          </a:solidFill>
          <a:ln/>
        </p:spPr>
      </p:sp>
      <p:sp>
        <p:nvSpPr>
          <p:cNvPr id="40" name="Text 30"/>
          <p:cNvSpPr txBox="1"/>
          <p:nvPr/>
        </p:nvSpPr>
        <p:spPr>
          <a:xfrm>
            <a:off x="6629400" y="1627632"/>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A</a:t>
            </a:r>
            <a:endParaRPr lang="en-US" sz="2200" dirty="0"/>
          </a:p>
        </p:txBody>
      </p:sp>
      <p:sp>
        <p:nvSpPr>
          <p:cNvPr id="41" name="Text 31"/>
          <p:cNvSpPr txBox="1"/>
          <p:nvPr/>
        </p:nvSpPr>
        <p:spPr>
          <a:xfrm>
            <a:off x="7498080" y="1536192"/>
            <a:ext cx="3959352" cy="822960"/>
          </a:xfrm>
          <a:prstGeom prst="rect">
            <a:avLst/>
          </a:prstGeom>
          <a:noFill/>
          <a:ln/>
        </p:spPr>
        <p:txBody>
          <a:bodyPr wrap="square" lIns="0" tIns="0" rIns="0" bIns="0" rtlCol="0" anchor="ctr"/>
          <a:lstStyle/>
          <a:p>
            <a:pPr indent="0" marL="0">
              <a:buNone/>
            </a:pPr>
            <a:r>
              <a:rPr lang="en-US" sz="2000" b="1" dirty="0">
                <a:solidFill>
                  <a:schemeClr val="bg1"/>
                </a:solidFill>
              </a:rPr>
              <a:t>Launch as written</a:t>
            </a:r>
            <a:endParaRPr lang="en-US" sz="1400" dirty="0"/>
          </a:p>
          <a:p>
            <a:pPr indent="0" marL="0">
              <a:buNone/>
            </a:pPr>
            <a:r>
              <a:rPr lang="en-US" sz="1300" dirty="0">
                <a:solidFill>
                  <a:schemeClr val="accent6"/>
                </a:solidFill>
              </a:rPr>
              <a:t>The distributor is happy; cash arrives</a:t>
            </a:r>
            <a:endParaRPr lang="en-US" sz="1400" dirty="0"/>
          </a:p>
        </p:txBody>
      </p:sp>
      <p:sp>
        <p:nvSpPr>
          <p:cNvPr id="42" name="Option B"/>
          <p:cNvSpPr/>
          <p:nvPr/>
        </p:nvSpPr>
        <p:spPr>
          <a:xfrm>
            <a:off x="6400800" y="2496312"/>
            <a:ext cx="5239512" cy="822960"/>
          </a:xfrm>
          <a:prstGeom prst="roundRect">
            <a:avLst>
              <a:gd name="adj" fmla="val 15556"/>
            </a:avLst>
          </a:prstGeom>
          <a:solidFill>
            <a:schemeClr val="bg1">
              <a:alpha val="10000"/>
            </a:schemeClr>
          </a:solidFill>
          <a:ln w="12700">
            <a:solidFill>
              <a:schemeClr val="accent6"/>
            </a:solidFill>
            <a:prstDash val="solid"/>
          </a:ln>
        </p:spPr>
      </p:sp>
      <p:sp>
        <p:nvSpPr>
          <p:cNvPr id="43" name="Badge B"/>
          <p:cNvSpPr/>
          <p:nvPr/>
        </p:nvSpPr>
        <p:spPr>
          <a:xfrm>
            <a:off x="6629400" y="2587752"/>
            <a:ext cx="640080" cy="640080"/>
          </a:xfrm>
          <a:prstGeom prst="ellipse">
            <a:avLst/>
          </a:prstGeom>
          <a:solidFill>
            <a:schemeClr val="accent2"/>
          </a:solidFill>
          <a:ln/>
        </p:spPr>
      </p:sp>
      <p:sp>
        <p:nvSpPr>
          <p:cNvPr id="44" name="Text 34"/>
          <p:cNvSpPr txBox="1"/>
          <p:nvPr/>
        </p:nvSpPr>
        <p:spPr>
          <a:xfrm>
            <a:off x="6629400" y="2587752"/>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B</a:t>
            </a:r>
            <a:endParaRPr lang="en-US" sz="2200" dirty="0"/>
          </a:p>
        </p:txBody>
      </p:sp>
      <p:sp>
        <p:nvSpPr>
          <p:cNvPr id="45" name="Text 35"/>
          <p:cNvSpPr txBox="1"/>
          <p:nvPr/>
        </p:nvSpPr>
        <p:spPr>
          <a:xfrm>
            <a:off x="7498080" y="2496312"/>
            <a:ext cx="3959352" cy="822960"/>
          </a:xfrm>
          <a:prstGeom prst="rect">
            <a:avLst/>
          </a:prstGeom>
          <a:noFill/>
          <a:ln/>
        </p:spPr>
        <p:txBody>
          <a:bodyPr wrap="square" lIns="0" tIns="0" rIns="0" bIns="0" rtlCol="0" anchor="ctr"/>
          <a:lstStyle/>
          <a:p>
            <a:pPr indent="0" marL="0">
              <a:buNone/>
            </a:pPr>
            <a:r>
              <a:rPr lang="en-US" sz="2000" b="1" dirty="0">
                <a:solidFill>
                  <a:schemeClr val="bg1"/>
                </a:solidFill>
              </a:rPr>
              <a:t>Fix the claims first, then launch</a:t>
            </a:r>
            <a:endParaRPr lang="en-US" sz="1400" dirty="0"/>
          </a:p>
          <a:p>
            <a:pPr indent="0" marL="0">
              <a:buNone/>
            </a:pPr>
            <a:r>
              <a:rPr lang="en-US" sz="1300" dirty="0">
                <a:solidFill>
                  <a:schemeClr val="accent6"/>
                </a:solidFill>
              </a:rPr>
              <a:t>Honest wording this week; keep users supported</a:t>
            </a:r>
            <a:endParaRPr lang="en-US" sz="1400" dirty="0"/>
          </a:p>
        </p:txBody>
      </p:sp>
      <p:sp>
        <p:nvSpPr>
          <p:cNvPr id="46" name="Option C"/>
          <p:cNvSpPr/>
          <p:nvPr/>
        </p:nvSpPr>
        <p:spPr>
          <a:xfrm>
            <a:off x="6400800" y="3456432"/>
            <a:ext cx="5239512" cy="822960"/>
          </a:xfrm>
          <a:prstGeom prst="roundRect">
            <a:avLst>
              <a:gd name="adj" fmla="val 15556"/>
            </a:avLst>
          </a:prstGeom>
          <a:solidFill>
            <a:schemeClr val="bg1">
              <a:alpha val="10000"/>
            </a:schemeClr>
          </a:solidFill>
          <a:ln w="12700">
            <a:solidFill>
              <a:schemeClr val="accent6"/>
            </a:solidFill>
            <a:prstDash val="solid"/>
          </a:ln>
        </p:spPr>
      </p:sp>
      <p:sp>
        <p:nvSpPr>
          <p:cNvPr id="47" name="Badge C"/>
          <p:cNvSpPr/>
          <p:nvPr/>
        </p:nvSpPr>
        <p:spPr>
          <a:xfrm>
            <a:off x="6629400" y="3547872"/>
            <a:ext cx="640080" cy="640080"/>
          </a:xfrm>
          <a:prstGeom prst="ellipse">
            <a:avLst/>
          </a:prstGeom>
          <a:solidFill>
            <a:schemeClr val="accent2"/>
          </a:solidFill>
          <a:ln/>
        </p:spPr>
      </p:sp>
      <p:sp>
        <p:nvSpPr>
          <p:cNvPr id="48" name="Text 38"/>
          <p:cNvSpPr txBox="1"/>
          <p:nvPr/>
        </p:nvSpPr>
        <p:spPr>
          <a:xfrm>
            <a:off x="6629400" y="3547872"/>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C</a:t>
            </a:r>
            <a:endParaRPr lang="en-US" sz="2200" dirty="0"/>
          </a:p>
        </p:txBody>
      </p:sp>
      <p:sp>
        <p:nvSpPr>
          <p:cNvPr id="49" name="Text 39"/>
          <p:cNvSpPr txBox="1"/>
          <p:nvPr/>
        </p:nvSpPr>
        <p:spPr>
          <a:xfrm>
            <a:off x="7498080" y="3456432"/>
            <a:ext cx="3959352" cy="822960"/>
          </a:xfrm>
          <a:prstGeom prst="rect">
            <a:avLst/>
          </a:prstGeom>
          <a:noFill/>
          <a:ln/>
        </p:spPr>
        <p:txBody>
          <a:bodyPr wrap="square" lIns="0" tIns="0" rIns="0" bIns="0" rtlCol="0" anchor="ctr"/>
          <a:lstStyle/>
          <a:p>
            <a:pPr indent="0" marL="0">
              <a:buNone/>
            </a:pPr>
            <a:r>
              <a:rPr lang="en-US" sz="2000" b="1" dirty="0">
                <a:solidFill>
                  <a:schemeClr val="bg1"/>
                </a:solidFill>
              </a:rPr>
              <a:t>Not yet</a:t>
            </a:r>
            <a:endParaRPr lang="en-US" sz="1400" dirty="0"/>
          </a:p>
          <a:p>
            <a:pPr indent="0" marL="0">
              <a:buNone/>
            </a:pPr>
            <a:r>
              <a:rPr lang="en-US" sz="1300" dirty="0">
                <a:solidFill>
                  <a:schemeClr val="accent6"/>
                </a:solidFill>
              </a:rPr>
              <a:t>No launch until independent trials report</a:t>
            </a:r>
            <a:endParaRPr lang="en-US" sz="1400" dirty="0"/>
          </a:p>
        </p:txBody>
      </p:sp>
      <p:sp>
        <p:nvSpPr>
          <p:cNvPr id="50" name="Text 40"/>
          <p:cNvSpPr txBox="1"/>
          <p:nvPr/>
        </p:nvSpPr>
        <p:spPr>
          <a:xfrm>
            <a:off x="6400800" y="4224528"/>
            <a:ext cx="5239512" cy="347472"/>
          </a:xfrm>
          <a:prstGeom prst="rect">
            <a:avLst/>
          </a:prstGeom>
          <a:noFill/>
          <a:ln/>
        </p:spPr>
        <p:txBody>
          <a:bodyPr wrap="square" lIns="0" tIns="0" rIns="0" bIns="0" rtlCol="0" anchor="ctr"/>
          <a:lstStyle/>
          <a:p>
            <a:pPr indent="0" marL="0">
              <a:buNone/>
            </a:pPr>
            <a:r>
              <a:rPr lang="en-US" sz="950" i="1" dirty="0">
                <a:solidFill>
                  <a:schemeClr val="accent6"/>
                </a:solidFill>
              </a:rPr>
              <a:t>The codes behind each answer: UCMPMD 2024 (amended 30 Apr 2026) · DMRA 1954 · ASCI Code I.1 · IMC 2002 cl. 6.8</a:t>
            </a:r>
            <a:endParaRPr lang="en-US" sz="950" dirty="0"/>
          </a:p>
        </p:txBody>
      </p:sp>
      <p:graphicFrame>
        <p:nvGraphicFramePr>
          <p:cNvPr id="50" name="Matrix"/>
          <p:cNvGraphicFramePr>
            <a:graphicFrameLocks noGrp="1"/>
          </p:cNvGraphicFramePr>
          <p:nvPr>
            <p:extLst>
              <p:ext uri="{D42A27DB-BD31-4B8C-83A1-F6EECF244321}">
                <p14:modId xmlns:p14="http://schemas.microsoft.com/office/powerpoint/2010/main" val="1579011935"/>
              </p:ext>
            </p:extLst>
          </p:nvPr>
        </p:nvGraphicFramePr>
        <p:xfrm>
          <a:off x="548640" y="4645152"/>
          <a:ext cx="11094415" cy="914400"/>
        </p:xfrm>
        <a:graphic>
          <a:graphicData uri="http://schemas.openxmlformats.org/drawingml/2006/table">
            <a:tbl>
              <a:tblPr/>
              <a:tblGrid>
                <a:gridCol w="1600200"/>
                <a:gridCol w="4069080"/>
                <a:gridCol w="5422392"/>
              </a:tblGrid>
              <a:tr h="274320">
                <a:tc>
                  <a:txBody>
                    <a:bodyPr/>
                    <a:lstStyle/>
                    <a:p>
                      <a:pPr indent="0" marL="0">
                        <a:buNone/>
                      </a:pPr>
                      <a:r>
                        <a:rPr lang="en-US" sz="950" b="1" dirty="0">
                          <a:solidFill>
                            <a:srgbClr val="0E3B3D"/>
                          </a:solidFill>
                        </a:rPr>
                        <a:t>Brochure claim</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0962A"/>
                    </a:solidFill>
                  </a:tcPr>
                </a:tc>
                <a:tc>
                  <a:txBody>
                    <a:bodyPr/>
                    <a:lstStyle/>
                    <a:p>
                      <a:pPr indent="0" marL="0">
                        <a:buNone/>
                      </a:pPr>
                      <a:r>
                        <a:rPr lang="en-US" sz="950" b="1" dirty="0">
                          <a:solidFill>
                            <a:srgbClr val="0E3B3D"/>
                          </a:solidFill>
                        </a:rPr>
                        <a:t>Why it fails the Indian codes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0962A"/>
                    </a:solidFill>
                  </a:tcPr>
                </a:tc>
                <a:tc>
                  <a:txBody>
                    <a:bodyPr/>
                    <a:lstStyle/>
                    <a:p>
                      <a:pPr indent="0" marL="0">
                        <a:buNone/>
                      </a:pPr>
                      <a:r>
                        <a:rPr lang="en-US" sz="950" b="1" dirty="0">
                          <a:solidFill>
                            <a:srgbClr val="0E3B3D"/>
                          </a:solidFill>
                        </a:rPr>
                        <a:t>What you may say (suggested wording)</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0962A"/>
                    </a:solidFill>
                  </a:tcPr>
                </a:tc>
              </a:tr>
              <a:tr h="274320">
                <a:tc>
                  <a:txBody>
                    <a:bodyPr/>
                    <a:lstStyle/>
                    <a:p>
                      <a:pPr indent="0" marL="0">
                        <a:buNone/>
                      </a:pPr>
                      <a:r>
                        <a:rPr lang="en-US" sz="900" b="1" dirty="0">
                          <a:solidFill>
                            <a:srgbClr val="0E3B3D"/>
                          </a:solidFill>
                        </a:rPr>
                        <a:t>“Clinically proven!”</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17262B"/>
                          </a:solidFill>
                        </a:rPr>
                        <a:t>One company study (n = 82), not independently replicated; OARSI 2019 recommends against electromagnetic therapy</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17262B"/>
                          </a:solidFill>
                        </a:rPr>
                        <a:t>“In one company study of 82 adults over 45 days, average pain fell more than with comparison care. Independent trials are needed.”</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274320">
                <a:tc>
                  <a:txBody>
                    <a:bodyPr/>
                    <a:lstStyle/>
                    <a:p>
                      <a:pPr indent="0" marL="0">
                        <a:buNone/>
                      </a:pPr>
                      <a:r>
                        <a:rPr lang="en-US" sz="900" b="1" dirty="0">
                          <a:solidFill>
                            <a:srgbClr val="0E3B3D"/>
                          </a:solidFill>
                        </a:rPr>
                        <a:t>“Regrows cartilage”</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00" dirty="0">
                          <a:solidFill>
                            <a:srgbClr val="17262B"/>
                          </a:solidFill>
                        </a:rPr>
                        <a:t>Never measured; no human evidence of cartilage regeneration found</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00" dirty="0">
                          <a:solidFill>
                            <a:srgbClr val="17262B"/>
                          </a:solidFill>
                        </a:rPr>
                        <a:t>“Intended to ease pain as an adjunct to care. No effect on cartilage has been shown.”</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r h="274320">
                <a:tc>
                  <a:txBody>
                    <a:bodyPr/>
                    <a:lstStyle/>
                    <a:p>
                      <a:pPr indent="0" marL="0">
                        <a:buNone/>
                      </a:pPr>
                      <a:r>
                        <a:rPr lang="en-US" sz="900" b="1" dirty="0">
                          <a:solidFill>
                            <a:srgbClr val="0E3B3D"/>
                          </a:solidFill>
                        </a:rPr>
                        <a:t>“Doctor recommended”</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17262B"/>
                          </a:solidFill>
                        </a:rPr>
                        <a:t>Implied endorsement: UCMPMD 2024 bars inducements and unsubstantiated claims; IMC 2002 cl. 6.8 binds the doctor</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17262B"/>
                          </a:solidFill>
                        </a:rPr>
                        <a:t>“Ask your doctor whether it suits you. It does not replace the care your doctor advises.”</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274320">
                <a:tc>
                  <a:txBody>
                    <a:bodyPr/>
                    <a:lstStyle/>
                    <a:p>
                      <a:pPr indent="0" marL="0">
                        <a:buNone/>
                      </a:pPr>
                      <a:r>
                        <a:rPr lang="en-US" sz="900" b="1" dirty="0">
                          <a:solidFill>
                            <a:srgbClr val="0E3B3D"/>
                          </a:solidFill>
                        </a:rPr>
                        <a:t>“Avoid surgery forever”</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00" dirty="0">
                          <a:solidFill>
                            <a:srgbClr val="17262B"/>
                          </a:solidFill>
                        </a:rPr>
                        <a:t>An absolute cure promise; DMRA 1954 Schedule lists ‘rheumatism’; ASCI Code I.1 demands substantiation</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00" dirty="0">
                          <a:solidFill>
                            <a:srgbClr val="17262B"/>
                          </a:solidFill>
                        </a:rPr>
                        <a:t>“It does not prevent or replace surgery. If pain persists, see your orthopaedic surgeon.”</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WOULD YOU PROCEED? 5/5</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Push tonight's FoGO update?</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CDSCO/MD/GD/MDSW/01/2026 (21 Jul 2026); US FDA PCCP guidance (Dec 2024, rev. Aug 2025); FoGO project material (prototype app; false-cue rate, project-reported)</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80192" y="393192"/>
            <a:ext cx="128016" cy="128016"/>
          </a:xfrm>
          <a:prstGeom prst="ellipse">
            <a:avLst/>
          </a:prstGeom>
          <a:solidFill>
            <a:schemeClr val="accent6"/>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accent6"/>
          </a:solidFill>
          <a:ln w="12700">
            <a:solidFill>
              <a:schemeClr val="accent1"/>
            </a:solidFill>
            <a:prstDash val="solid"/>
          </a:ln>
        </p:spPr>
      </p:sp>
      <p:sp>
        <p:nvSpPr>
          <p:cNvPr id="10" name="Progress Safety"/>
          <p:cNvSpPr/>
          <p:nvPr/>
        </p:nvSpPr>
        <p:spPr>
          <a:xfrm>
            <a:off x="11365992" y="347472"/>
            <a:ext cx="219456" cy="219456"/>
          </a:xfrm>
          <a:prstGeom prst="ellipse">
            <a:avLst/>
          </a:prstGeom>
          <a:solidFill>
            <a:schemeClr val="accent1"/>
          </a:solidFill>
          <a:ln w="12700">
            <a:solidFill>
              <a:schemeClr val="accent1"/>
            </a:solidFill>
            <a:prstDash val="solid"/>
          </a:ln>
        </p:spPr>
      </p:sp>
      <p:pic>
        <p:nvPicPr>
          <p:cNvPr id="12" name="Image 0" descr="FoGO prototype app showing an active vibration cue and the research panel">    </p:cNvPr>
          <p:cNvPicPr>
            <a:picLocks noChangeAspect="1"/>
          </p:cNvPicPr>
          <p:nvPr/>
        </p:nvPicPr>
        <p:blipFill>
          <a:blip r:embed="rId1"/>
          <a:stretch>
            <a:fillRect/>
          </a:stretch>
        </p:blipFill>
        <p:spPr>
          <a:xfrm>
            <a:off x="548640" y="1536192"/>
            <a:ext cx="1371600" cy="2737725"/>
          </a:xfrm>
          <a:prstGeom prst="rect">
            <a:avLst/>
          </a:prstGeom>
        </p:spPr>
      </p:pic>
      <p:sp>
        <p:nvSpPr>
          <p:cNvPr id="13" name="Text 9"/>
          <p:cNvSpPr txBox="1"/>
          <p:nvPr/>
        </p:nvSpPr>
        <p:spPr>
          <a:xfrm>
            <a:off x="548640" y="4328781"/>
            <a:ext cx="1737360" cy="640080"/>
          </a:xfrm>
          <a:prstGeom prst="rect">
            <a:avLst/>
          </a:prstGeom>
          <a:noFill/>
          <a:ln/>
        </p:spPr>
        <p:txBody>
          <a:bodyPr wrap="square" lIns="0" tIns="0" rIns="0" bIns="0" rtlCol="0" anchor="t"/>
          <a:lstStyle/>
          <a:p>
            <a:pPr indent="0" marL="0">
              <a:buNone/>
            </a:pPr>
            <a:r>
              <a:rPr lang="en-US" sz="900" i="1" dirty="0">
                <a:solidFill>
                  <a:schemeClr val="accent6"/>
                </a:solidFill>
              </a:rPr>
              <a:t>Real prototype app: the cue fired after a debounced 2-of-3 window. Change the rule, change the device.</a:t>
            </a:r>
            <a:endParaRPr lang="en-US" sz="900" dirty="0"/>
          </a:p>
        </p:txBody>
      </p:sp>
      <p:sp>
        <p:nvSpPr>
          <p:cNvPr id="14" name="Text 10"/>
          <p:cNvSpPr txBox="1"/>
          <p:nvPr/>
        </p:nvSpPr>
        <p:spPr>
          <a:xfrm>
            <a:off x="2377440" y="1536192"/>
            <a:ext cx="3749040" cy="237744"/>
          </a:xfrm>
          <a:prstGeom prst="rect">
            <a:avLst/>
          </a:prstGeom>
          <a:noFill/>
          <a:ln/>
        </p:spPr>
        <p:txBody>
          <a:bodyPr wrap="square" lIns="0" tIns="0" rIns="0" bIns="0" rtlCol="0" anchor="t"/>
          <a:lstStyle/>
          <a:p>
            <a:pPr indent="0" marL="0">
              <a:buNone/>
            </a:pPr>
            <a:r>
              <a:rPr lang="en-US" sz="1200" b="1" dirty="0">
                <a:solidFill>
                  <a:schemeClr val="accent6"/>
                </a:solidFill>
              </a:rPr>
              <a:t>Tonight's build (hypothetical update)</a:t>
            </a:r>
            <a:endParaRPr lang="en-US" sz="1200" dirty="0"/>
          </a:p>
        </p:txBody>
      </p:sp>
      <p:sp>
        <p:nvSpPr>
          <p:cNvPr id="15" name="Icon disc LuBellOff"/>
          <p:cNvSpPr/>
          <p:nvPr/>
        </p:nvSpPr>
        <p:spPr>
          <a:xfrm>
            <a:off x="2377440" y="1874520"/>
            <a:ext cx="566928" cy="566928"/>
          </a:xfrm>
          <a:prstGeom prst="ellipse">
            <a:avLst/>
          </a:prstGeom>
          <a:solidFill>
            <a:schemeClr val="accent6"/>
          </a:solidFill>
          <a:ln/>
        </p:spPr>
      </p:sp>
      <p:pic>
        <p:nvPicPr>
          <p:cNvPr id="16" name="Image 1" descr="BellOff icon">    </p:cNvPr>
          <p:cNvPicPr>
            <a:picLocks noChangeAspect="1"/>
          </p:cNvPicPr>
          <p:nvPr/>
        </p:nvPicPr>
        <p:blipFill>
          <a:blip r:embed="rId2"/>
          <a:stretch>
            <a:fillRect/>
          </a:stretch>
        </p:blipFill>
        <p:spPr>
          <a:xfrm>
            <a:off x="2502164" y="1999244"/>
            <a:ext cx="317480" cy="317480"/>
          </a:xfrm>
          <a:prstGeom prst="rect">
            <a:avLst/>
          </a:prstGeom>
        </p:spPr>
      </p:pic>
      <p:sp>
        <p:nvSpPr>
          <p:cNvPr id="17" name="Text 12"/>
          <p:cNvSpPr txBox="1"/>
          <p:nvPr/>
        </p:nvSpPr>
        <p:spPr>
          <a:xfrm>
            <a:off x="3154680" y="1874520"/>
            <a:ext cx="2971800" cy="566928"/>
          </a:xfrm>
          <a:prstGeom prst="rect">
            <a:avLst/>
          </a:prstGeom>
          <a:noFill/>
          <a:ln/>
        </p:spPr>
        <p:txBody>
          <a:bodyPr wrap="square" lIns="0" tIns="0" rIns="0" bIns="0" rtlCol="0" anchor="ctr"/>
          <a:lstStyle/>
          <a:p>
            <a:pPr indent="0" marL="0">
              <a:buNone/>
            </a:pPr>
            <a:r>
              <a:rPr lang="en-US" sz="1300" dirty="0">
                <a:solidFill>
                  <a:schemeClr val="bg1"/>
                </a:solidFill>
              </a:rPr>
              <a:t>Fewer false cues. Today's build fires about 9–11 an hour of walking (0.15–0.18 per minute on public datasets)</a:t>
            </a:r>
            <a:endParaRPr lang="en-US" sz="1300" dirty="0"/>
          </a:p>
        </p:txBody>
      </p:sp>
      <p:sp>
        <p:nvSpPr>
          <p:cNvPr id="18" name="Icon disc LuEyeOff"/>
          <p:cNvSpPr/>
          <p:nvPr/>
        </p:nvSpPr>
        <p:spPr>
          <a:xfrm>
            <a:off x="2377440" y="2770632"/>
            <a:ext cx="566928" cy="566928"/>
          </a:xfrm>
          <a:prstGeom prst="ellipse">
            <a:avLst/>
          </a:prstGeom>
          <a:solidFill>
            <a:schemeClr val="accent6"/>
          </a:solidFill>
          <a:ln/>
        </p:spPr>
      </p:sp>
      <p:pic>
        <p:nvPicPr>
          <p:cNvPr id="19" name="Image 2" descr="EyeOff icon">    </p:cNvPr>
          <p:cNvPicPr>
            <a:picLocks noChangeAspect="1"/>
          </p:cNvPicPr>
          <p:nvPr/>
        </p:nvPicPr>
        <p:blipFill>
          <a:blip r:embed="rId3"/>
          <a:stretch>
            <a:fillRect/>
          </a:stretch>
        </p:blipFill>
        <p:spPr>
          <a:xfrm>
            <a:off x="2502164" y="2895356"/>
            <a:ext cx="317480" cy="317480"/>
          </a:xfrm>
          <a:prstGeom prst="rect">
            <a:avLst/>
          </a:prstGeom>
        </p:spPr>
      </p:pic>
      <p:sp>
        <p:nvSpPr>
          <p:cNvPr id="20" name="Text 14"/>
          <p:cNvSpPr txBox="1"/>
          <p:nvPr/>
        </p:nvSpPr>
        <p:spPr>
          <a:xfrm>
            <a:off x="3154680" y="2770632"/>
            <a:ext cx="2971800" cy="566928"/>
          </a:xfrm>
          <a:prstGeom prst="rect">
            <a:avLst/>
          </a:prstGeom>
          <a:noFill/>
          <a:ln/>
        </p:spPr>
        <p:txBody>
          <a:bodyPr wrap="square" lIns="0" tIns="0" rIns="0" bIns="0" rtlCol="0" anchor="ctr"/>
          <a:lstStyle/>
          <a:p>
            <a:pPr indent="0" marL="0">
              <a:buNone/>
            </a:pPr>
            <a:r>
              <a:rPr lang="en-US" sz="1300" dirty="0">
                <a:solidFill>
                  <a:schemeClr val="bg1"/>
                </a:solidFill>
              </a:rPr>
              <a:t>May miss more freezes: sensitivity traded for specificity</a:t>
            </a:r>
            <a:endParaRPr lang="en-US" sz="1300" dirty="0"/>
          </a:p>
        </p:txBody>
      </p:sp>
      <p:sp>
        <p:nvSpPr>
          <p:cNvPr id="21" name="Icon disc LuDatabase"/>
          <p:cNvSpPr/>
          <p:nvPr/>
        </p:nvSpPr>
        <p:spPr>
          <a:xfrm>
            <a:off x="2377440" y="3666744"/>
            <a:ext cx="566928" cy="566928"/>
          </a:xfrm>
          <a:prstGeom prst="ellipse">
            <a:avLst/>
          </a:prstGeom>
          <a:solidFill>
            <a:schemeClr val="accent6"/>
          </a:solidFill>
          <a:ln/>
        </p:spPr>
      </p:sp>
      <p:pic>
        <p:nvPicPr>
          <p:cNvPr id="22" name="Image 3" descr="Database icon">    </p:cNvPr>
          <p:cNvPicPr>
            <a:picLocks noChangeAspect="1"/>
          </p:cNvPicPr>
          <p:nvPr/>
        </p:nvPicPr>
        <p:blipFill>
          <a:blip r:embed="rId4"/>
          <a:stretch>
            <a:fillRect/>
          </a:stretch>
        </p:blipFill>
        <p:spPr>
          <a:xfrm>
            <a:off x="2502164" y="3791468"/>
            <a:ext cx="317480" cy="317480"/>
          </a:xfrm>
          <a:prstGeom prst="rect">
            <a:avLst/>
          </a:prstGeom>
        </p:spPr>
      </p:pic>
      <p:sp>
        <p:nvSpPr>
          <p:cNvPr id="23" name="Text 16"/>
          <p:cNvSpPr txBox="1"/>
          <p:nvPr/>
        </p:nvSpPr>
        <p:spPr>
          <a:xfrm>
            <a:off x="3154680" y="3666744"/>
            <a:ext cx="2971800" cy="566928"/>
          </a:xfrm>
          <a:prstGeom prst="rect">
            <a:avLst/>
          </a:prstGeom>
          <a:noFill/>
          <a:ln/>
        </p:spPr>
        <p:txBody>
          <a:bodyPr wrap="square" lIns="0" tIns="0" rIns="0" bIns="0" rtlCol="0" anchor="ctr"/>
          <a:lstStyle/>
          <a:p>
            <a:pPr indent="0" marL="0">
              <a:buNone/>
            </a:pPr>
            <a:r>
              <a:rPr lang="en-US" sz="1300" dirty="0">
                <a:solidFill>
                  <a:schemeClr val="bg1"/>
                </a:solidFill>
              </a:rPr>
              <a:t>Tested on stored data only; no user has walked with it</a:t>
            </a:r>
            <a:endParaRPr lang="en-US" sz="1300" dirty="0"/>
          </a:p>
        </p:txBody>
      </p:sp>
      <p:sp>
        <p:nvSpPr>
          <p:cNvPr id="24" name="Callout"/>
          <p:cNvSpPr/>
          <p:nvPr/>
        </p:nvSpPr>
        <p:spPr>
          <a:xfrm>
            <a:off x="2377440" y="4553712"/>
            <a:ext cx="3749040" cy="402336"/>
          </a:xfrm>
          <a:prstGeom prst="roundRect">
            <a:avLst>
              <a:gd name="adj" fmla="val 18182"/>
            </a:avLst>
          </a:prstGeom>
          <a:solidFill>
            <a:schemeClr val="accent2">
              <a:alpha val="20000"/>
            </a:schemeClr>
          </a:solidFill>
          <a:ln/>
        </p:spPr>
      </p:sp>
      <p:sp>
        <p:nvSpPr>
          <p:cNvPr id="25" name="Callout bar"/>
          <p:cNvSpPr/>
          <p:nvPr/>
        </p:nvSpPr>
        <p:spPr>
          <a:xfrm>
            <a:off x="2377440" y="4645152"/>
            <a:ext cx="64008" cy="219456"/>
          </a:xfrm>
          <a:prstGeom prst="rect">
            <a:avLst/>
          </a:prstGeom>
          <a:solidFill>
            <a:schemeClr val="accent2"/>
          </a:solidFill>
          <a:ln/>
        </p:spPr>
      </p:sp>
      <p:sp>
        <p:nvSpPr>
          <p:cNvPr id="26" name="Text 19"/>
          <p:cNvSpPr txBox="1"/>
          <p:nvPr/>
        </p:nvSpPr>
        <p:spPr>
          <a:xfrm>
            <a:off x="2651760" y="4553712"/>
            <a:ext cx="3337560" cy="402336"/>
          </a:xfrm>
          <a:prstGeom prst="rect">
            <a:avLst/>
          </a:prstGeom>
          <a:noFill/>
          <a:ln/>
        </p:spPr>
        <p:txBody>
          <a:bodyPr wrap="square" lIns="0" tIns="0" rIns="0" bIns="0" rtlCol="0" anchor="ctr"/>
          <a:lstStyle/>
          <a:p>
            <a:pPr indent="0" marL="0">
              <a:buNone/>
            </a:pPr>
            <a:r>
              <a:rPr lang="en-US" sz="1150" b="1" dirty="0">
                <a:solidFill>
                  <a:schemeClr val="bg1"/>
                </a:solidFill>
              </a:rPr>
              <a:t>Vote. Then name who in your team can pause or reverse a release.</a:t>
            </a:r>
            <a:endParaRPr lang="en-US" sz="1150" dirty="0"/>
          </a:p>
        </p:txBody>
      </p:sp>
      <p:sp>
        <p:nvSpPr>
          <p:cNvPr id="27" name="Option A"/>
          <p:cNvSpPr/>
          <p:nvPr/>
        </p:nvSpPr>
        <p:spPr>
          <a:xfrm>
            <a:off x="6400800" y="1536192"/>
            <a:ext cx="5239512" cy="868680"/>
          </a:xfrm>
          <a:prstGeom prst="roundRect">
            <a:avLst>
              <a:gd name="adj" fmla="val 14737"/>
            </a:avLst>
          </a:prstGeom>
          <a:solidFill>
            <a:schemeClr val="bg1">
              <a:alpha val="10000"/>
            </a:schemeClr>
          </a:solidFill>
          <a:ln w="12700">
            <a:solidFill>
              <a:schemeClr val="accent6"/>
            </a:solidFill>
            <a:prstDash val="solid"/>
          </a:ln>
        </p:spPr>
      </p:sp>
      <p:sp>
        <p:nvSpPr>
          <p:cNvPr id="28" name="Badge A"/>
          <p:cNvSpPr/>
          <p:nvPr/>
        </p:nvSpPr>
        <p:spPr>
          <a:xfrm>
            <a:off x="6629400" y="1650492"/>
            <a:ext cx="640080" cy="640080"/>
          </a:xfrm>
          <a:prstGeom prst="ellipse">
            <a:avLst/>
          </a:prstGeom>
          <a:solidFill>
            <a:schemeClr val="accent2"/>
          </a:solidFill>
          <a:ln/>
        </p:spPr>
      </p:sp>
      <p:sp>
        <p:nvSpPr>
          <p:cNvPr id="29" name="Text 22"/>
          <p:cNvSpPr txBox="1"/>
          <p:nvPr/>
        </p:nvSpPr>
        <p:spPr>
          <a:xfrm>
            <a:off x="6629400" y="1650492"/>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A</a:t>
            </a:r>
            <a:endParaRPr lang="en-US" sz="2200" dirty="0"/>
          </a:p>
        </p:txBody>
      </p:sp>
      <p:sp>
        <p:nvSpPr>
          <p:cNvPr id="30" name="Text 23"/>
          <p:cNvSpPr txBox="1"/>
          <p:nvPr/>
        </p:nvSpPr>
        <p:spPr>
          <a:xfrm>
            <a:off x="7498080" y="1536192"/>
            <a:ext cx="3959352" cy="868680"/>
          </a:xfrm>
          <a:prstGeom prst="rect">
            <a:avLst/>
          </a:prstGeom>
          <a:noFill/>
          <a:ln/>
        </p:spPr>
        <p:txBody>
          <a:bodyPr wrap="square" lIns="0" tIns="0" rIns="0" bIns="0" rtlCol="0" anchor="ctr"/>
          <a:lstStyle/>
          <a:p>
            <a:pPr indent="0" marL="0">
              <a:buNone/>
            </a:pPr>
            <a:r>
              <a:rPr lang="en-US" sz="2000" b="1" dirty="0">
                <a:solidFill>
                  <a:schemeClr val="bg1"/>
                </a:solidFill>
              </a:rPr>
              <a:t>Push to all users tonight</a:t>
            </a:r>
            <a:endParaRPr lang="en-US" sz="1400" dirty="0"/>
          </a:p>
          <a:p>
            <a:pPr indent="0" marL="0">
              <a:buNone/>
            </a:pPr>
            <a:r>
              <a:rPr lang="en-US" sz="1300" dirty="0">
                <a:solidFill>
                  <a:schemeClr val="accent6"/>
                </a:solidFill>
              </a:rPr>
              <a:t>Everyone gets the new threshold at once</a:t>
            </a:r>
            <a:endParaRPr lang="en-US" sz="1400" dirty="0"/>
          </a:p>
        </p:txBody>
      </p:sp>
      <p:sp>
        <p:nvSpPr>
          <p:cNvPr id="31" name="Option B"/>
          <p:cNvSpPr/>
          <p:nvPr/>
        </p:nvSpPr>
        <p:spPr>
          <a:xfrm>
            <a:off x="6400800" y="2569464"/>
            <a:ext cx="5239512" cy="868680"/>
          </a:xfrm>
          <a:prstGeom prst="roundRect">
            <a:avLst>
              <a:gd name="adj" fmla="val 14737"/>
            </a:avLst>
          </a:prstGeom>
          <a:solidFill>
            <a:schemeClr val="bg1">
              <a:alpha val="10000"/>
            </a:schemeClr>
          </a:solidFill>
          <a:ln w="12700">
            <a:solidFill>
              <a:schemeClr val="accent6"/>
            </a:solidFill>
            <a:prstDash val="solid"/>
          </a:ln>
        </p:spPr>
      </p:sp>
      <p:sp>
        <p:nvSpPr>
          <p:cNvPr id="32" name="Badge B"/>
          <p:cNvSpPr/>
          <p:nvPr/>
        </p:nvSpPr>
        <p:spPr>
          <a:xfrm>
            <a:off x="6629400" y="2683764"/>
            <a:ext cx="640080" cy="640080"/>
          </a:xfrm>
          <a:prstGeom prst="ellipse">
            <a:avLst/>
          </a:prstGeom>
          <a:solidFill>
            <a:schemeClr val="accent2"/>
          </a:solidFill>
          <a:ln/>
        </p:spPr>
      </p:sp>
      <p:sp>
        <p:nvSpPr>
          <p:cNvPr id="33" name="Text 26"/>
          <p:cNvSpPr txBox="1"/>
          <p:nvPr/>
        </p:nvSpPr>
        <p:spPr>
          <a:xfrm>
            <a:off x="6629400" y="2683764"/>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B</a:t>
            </a:r>
            <a:endParaRPr lang="en-US" sz="2200" dirty="0"/>
          </a:p>
        </p:txBody>
      </p:sp>
      <p:sp>
        <p:nvSpPr>
          <p:cNvPr id="34" name="Text 27"/>
          <p:cNvSpPr txBox="1"/>
          <p:nvPr/>
        </p:nvSpPr>
        <p:spPr>
          <a:xfrm>
            <a:off x="7498080" y="2569464"/>
            <a:ext cx="3959352" cy="868680"/>
          </a:xfrm>
          <a:prstGeom prst="rect">
            <a:avLst/>
          </a:prstGeom>
          <a:noFill/>
          <a:ln/>
        </p:spPr>
        <p:txBody>
          <a:bodyPr wrap="square" lIns="0" tIns="0" rIns="0" bIns="0" rtlCol="0" anchor="ctr"/>
          <a:lstStyle/>
          <a:p>
            <a:pPr indent="0" marL="0">
              <a:buNone/>
            </a:pPr>
            <a:r>
              <a:rPr lang="en-US" sz="2000" b="1" dirty="0">
                <a:solidFill>
                  <a:schemeClr val="bg1"/>
                </a:solidFill>
              </a:rPr>
              <a:t>Staged release after review</a:t>
            </a:r>
            <a:endParaRPr lang="en-US" sz="1400" dirty="0"/>
          </a:p>
          <a:p>
            <a:pPr indent="0" marL="0">
              <a:buNone/>
            </a:pPr>
            <a:r>
              <a:rPr lang="en-US" sz="1300" dirty="0">
                <a:solidFill>
                  <a:schemeClr val="accent6"/>
                </a:solidFill>
              </a:rPr>
              <a:t>Shadow mode, a small group, monitoring, rollback trigger</a:t>
            </a:r>
            <a:endParaRPr lang="en-US" sz="1400" dirty="0"/>
          </a:p>
        </p:txBody>
      </p:sp>
      <p:sp>
        <p:nvSpPr>
          <p:cNvPr id="35" name="Option C"/>
          <p:cNvSpPr/>
          <p:nvPr/>
        </p:nvSpPr>
        <p:spPr>
          <a:xfrm>
            <a:off x="6400800" y="3602736"/>
            <a:ext cx="5239512" cy="868680"/>
          </a:xfrm>
          <a:prstGeom prst="roundRect">
            <a:avLst>
              <a:gd name="adj" fmla="val 14737"/>
            </a:avLst>
          </a:prstGeom>
          <a:solidFill>
            <a:schemeClr val="bg1">
              <a:alpha val="10000"/>
            </a:schemeClr>
          </a:solidFill>
          <a:ln w="12700">
            <a:solidFill>
              <a:schemeClr val="accent6"/>
            </a:solidFill>
            <a:prstDash val="solid"/>
          </a:ln>
        </p:spPr>
      </p:sp>
      <p:sp>
        <p:nvSpPr>
          <p:cNvPr id="36" name="Badge C"/>
          <p:cNvSpPr/>
          <p:nvPr/>
        </p:nvSpPr>
        <p:spPr>
          <a:xfrm>
            <a:off x="6629400" y="3717036"/>
            <a:ext cx="640080" cy="640080"/>
          </a:xfrm>
          <a:prstGeom prst="ellipse">
            <a:avLst/>
          </a:prstGeom>
          <a:solidFill>
            <a:schemeClr val="accent2"/>
          </a:solidFill>
          <a:ln/>
        </p:spPr>
      </p:sp>
      <p:sp>
        <p:nvSpPr>
          <p:cNvPr id="37" name="Text 30"/>
          <p:cNvSpPr txBox="1"/>
          <p:nvPr/>
        </p:nvSpPr>
        <p:spPr>
          <a:xfrm>
            <a:off x="6629400" y="3717036"/>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C</a:t>
            </a:r>
            <a:endParaRPr lang="en-US" sz="2200" dirty="0"/>
          </a:p>
        </p:txBody>
      </p:sp>
      <p:sp>
        <p:nvSpPr>
          <p:cNvPr id="38" name="Text 31"/>
          <p:cNvSpPr txBox="1"/>
          <p:nvPr/>
        </p:nvSpPr>
        <p:spPr>
          <a:xfrm>
            <a:off x="7498080" y="3602736"/>
            <a:ext cx="3959352" cy="868680"/>
          </a:xfrm>
          <a:prstGeom prst="rect">
            <a:avLst/>
          </a:prstGeom>
          <a:noFill/>
          <a:ln/>
        </p:spPr>
        <p:txBody>
          <a:bodyPr wrap="square" lIns="0" tIns="0" rIns="0" bIns="0" rtlCol="0" anchor="ctr"/>
          <a:lstStyle/>
          <a:p>
            <a:pPr indent="0" marL="0">
              <a:buNone/>
            </a:pPr>
            <a:r>
              <a:rPr lang="en-US" sz="2000" b="1" dirty="0">
                <a:solidFill>
                  <a:schemeClr val="bg1"/>
                </a:solidFill>
              </a:rPr>
              <a:t>Not yet</a:t>
            </a:r>
            <a:endParaRPr lang="en-US" sz="1400" dirty="0"/>
          </a:p>
          <a:p>
            <a:pPr indent="0" marL="0">
              <a:buNone/>
            </a:pPr>
            <a:r>
              <a:rPr lang="en-US" sz="1300" dirty="0">
                <a:solidFill>
                  <a:schemeClr val="accent6"/>
                </a:solidFill>
              </a:rPr>
              <a:t>Validate with new users first; ask the ethics committee</a:t>
            </a:r>
            <a:endParaRPr lang="en-US" sz="1400" dirty="0"/>
          </a:p>
        </p:txBody>
      </p:sp>
      <p:sp>
        <p:nvSpPr>
          <p:cNvPr id="39" name="Text 32"/>
          <p:cNvSpPr txBox="1"/>
          <p:nvPr/>
        </p:nvSpPr>
        <p:spPr>
          <a:xfrm>
            <a:off x="6400800" y="4553712"/>
            <a:ext cx="5239512" cy="402336"/>
          </a:xfrm>
          <a:prstGeom prst="rect">
            <a:avLst/>
          </a:prstGeom>
          <a:noFill/>
          <a:ln/>
        </p:spPr>
        <p:txBody>
          <a:bodyPr wrap="square" lIns="0" tIns="0" rIns="0" bIns="0" rtlCol="0" anchor="ctr"/>
          <a:lstStyle/>
          <a:p>
            <a:pPr indent="0" marL="0">
              <a:buNone/>
            </a:pPr>
            <a:r>
              <a:rPr lang="en-US" sz="1100" i="1" dirty="0">
                <a:solidFill>
                  <a:schemeClr val="accent6"/>
                </a:solidFill>
              </a:rPr>
              <a:t>Evidence belongs to a version: results for version 1 may not cover version 2.</a:t>
            </a:r>
            <a:endParaRPr lang="en-US" sz="1100" dirty="0"/>
          </a:p>
        </p:txBody>
      </p:sp>
      <p:sp>
        <p:nvSpPr>
          <p:cNvPr id="40" name="Text 33"/>
          <p:cNvSpPr txBox="1"/>
          <p:nvPr/>
        </p:nvSpPr>
        <p:spPr>
          <a:xfrm>
            <a:off x="548640" y="5029200"/>
            <a:ext cx="5486400" cy="219456"/>
          </a:xfrm>
          <a:prstGeom prst="rect">
            <a:avLst/>
          </a:prstGeom>
          <a:noFill/>
          <a:ln/>
        </p:spPr>
        <p:txBody>
          <a:bodyPr wrap="square" lIns="0" tIns="0" rIns="0" bIns="0" rtlCol="0" anchor="t"/>
          <a:lstStyle/>
          <a:p>
            <a:pPr indent="0" marL="0">
              <a:buNone/>
            </a:pPr>
            <a:r>
              <a:rPr lang="en-US" sz="950" b="1" spc="200" kern="0" dirty="0">
                <a:solidFill>
                  <a:schemeClr val="accent2"/>
                </a:solidFill>
              </a:rPr>
              <a:t>CHANGES NEED GOVERNANCE</a:t>
            </a:r>
            <a:endParaRPr lang="en-US" sz="950" dirty="0"/>
          </a:p>
        </p:txBody>
      </p:sp>
      <p:sp>
        <p:nvSpPr>
          <p:cNvPr id="41" name="Governance CDSCO software guidance, 21 Jul 2026"/>
          <p:cNvSpPr/>
          <p:nvPr/>
        </p:nvSpPr>
        <p:spPr>
          <a:xfrm>
            <a:off x="548640" y="5266944"/>
            <a:ext cx="3576218" cy="996696"/>
          </a:xfrm>
          <a:prstGeom prst="roundRect">
            <a:avLst>
              <a:gd name="adj" fmla="val 9174"/>
            </a:avLst>
          </a:prstGeom>
          <a:solidFill>
            <a:schemeClr val="bg1">
              <a:alpha val="10000"/>
            </a:schemeClr>
          </a:solidFill>
          <a:ln w="9525">
            <a:solidFill>
              <a:schemeClr val="accent6"/>
            </a:solidFill>
            <a:prstDash val="solid"/>
          </a:ln>
        </p:spPr>
      </p:sp>
      <p:pic>
        <p:nvPicPr>
          <p:cNvPr id="42" name="Image 4" descr="IN flag">    </p:cNvPr>
          <p:cNvPicPr>
            <a:picLocks noChangeAspect="1"/>
          </p:cNvPicPr>
          <p:nvPr/>
        </p:nvPicPr>
        <p:blipFill>
          <a:blip r:embed="rId5"/>
          <a:stretch>
            <a:fillRect/>
          </a:stretch>
        </p:blipFill>
        <p:spPr>
          <a:xfrm>
            <a:off x="676656" y="5358384"/>
            <a:ext cx="384048" cy="256032"/>
          </a:xfrm>
          <a:prstGeom prst="rect">
            <a:avLst/>
          </a:prstGeom>
        </p:spPr>
      </p:pic>
      <p:sp>
        <p:nvSpPr>
          <p:cNvPr id="43" name="Text 35"/>
          <p:cNvSpPr txBox="1"/>
          <p:nvPr/>
        </p:nvSpPr>
        <p:spPr>
          <a:xfrm>
            <a:off x="1152144" y="5321808"/>
            <a:ext cx="2844698" cy="310896"/>
          </a:xfrm>
          <a:prstGeom prst="rect">
            <a:avLst/>
          </a:prstGeom>
          <a:noFill/>
          <a:ln/>
        </p:spPr>
        <p:txBody>
          <a:bodyPr wrap="square" lIns="0" tIns="0" rIns="0" bIns="0" rtlCol="0" anchor="ctr"/>
          <a:lstStyle/>
          <a:p>
            <a:pPr indent="0" marL="0">
              <a:buNone/>
            </a:pPr>
            <a:r>
              <a:rPr lang="en-US" sz="1050" b="1" dirty="0">
                <a:solidFill>
                  <a:schemeClr val="bg1"/>
                </a:solidFill>
              </a:rPr>
              <a:t>CDSCO software guidance, 21 Jul 2026</a:t>
            </a:r>
            <a:endParaRPr lang="en-US" sz="1050" dirty="0"/>
          </a:p>
        </p:txBody>
      </p:sp>
      <p:sp>
        <p:nvSpPr>
          <p:cNvPr id="44" name="Text 36"/>
          <p:cNvSpPr txBox="1"/>
          <p:nvPr/>
        </p:nvSpPr>
        <p:spPr>
          <a:xfrm>
            <a:off x="676656" y="5632704"/>
            <a:ext cx="3320186" cy="594360"/>
          </a:xfrm>
          <a:prstGeom prst="rect">
            <a:avLst/>
          </a:prstGeom>
          <a:noFill/>
          <a:ln/>
        </p:spPr>
        <p:txBody>
          <a:bodyPr wrap="square" lIns="0" tIns="0" rIns="0" bIns="0" rtlCol="0" anchor="t"/>
          <a:lstStyle/>
          <a:p>
            <a:pPr indent="0" marL="0">
              <a:buNone/>
            </a:pPr>
            <a:r>
              <a:rPr lang="en-US" sz="850" dirty="0">
                <a:solidFill>
                  <a:schemeClr val="accent6"/>
                </a:solidFill>
              </a:rPr>
              <a:t>CDSCO/MD/GD/MDSW/01/2026: lifecycle documentation, version control, verification and validation, documented change management; an Algorithm Change Protocol where applicable. Interprets MDR-2017, adds no new control.</a:t>
            </a:r>
            <a:endParaRPr lang="en-US" sz="850" dirty="0"/>
          </a:p>
        </p:txBody>
      </p:sp>
      <p:sp>
        <p:nvSpPr>
          <p:cNvPr id="45" name="Governance FDA PCCP guidance, Dec 2024 (revised Aug 2025)"/>
          <p:cNvSpPr/>
          <p:nvPr/>
        </p:nvSpPr>
        <p:spPr>
          <a:xfrm>
            <a:off x="4307738" y="5266944"/>
            <a:ext cx="3576218" cy="996696"/>
          </a:xfrm>
          <a:prstGeom prst="roundRect">
            <a:avLst>
              <a:gd name="adj" fmla="val 9174"/>
            </a:avLst>
          </a:prstGeom>
          <a:solidFill>
            <a:schemeClr val="bg1">
              <a:alpha val="10000"/>
            </a:schemeClr>
          </a:solidFill>
          <a:ln w="9525">
            <a:solidFill>
              <a:schemeClr val="accent6"/>
            </a:solidFill>
            <a:prstDash val="solid"/>
          </a:ln>
        </p:spPr>
      </p:sp>
      <p:pic>
        <p:nvPicPr>
          <p:cNvPr id="46" name="Image 5" descr="US flag">    </p:cNvPr>
          <p:cNvPicPr>
            <a:picLocks noChangeAspect="1"/>
          </p:cNvPicPr>
          <p:nvPr/>
        </p:nvPicPr>
        <p:blipFill>
          <a:blip r:embed="rId6"/>
          <a:stretch>
            <a:fillRect/>
          </a:stretch>
        </p:blipFill>
        <p:spPr>
          <a:xfrm>
            <a:off x="4435754" y="5358384"/>
            <a:ext cx="384048" cy="256032"/>
          </a:xfrm>
          <a:prstGeom prst="rect">
            <a:avLst/>
          </a:prstGeom>
        </p:spPr>
      </p:pic>
      <p:sp>
        <p:nvSpPr>
          <p:cNvPr id="47" name="Text 38"/>
          <p:cNvSpPr txBox="1"/>
          <p:nvPr/>
        </p:nvSpPr>
        <p:spPr>
          <a:xfrm>
            <a:off x="4911242" y="5321808"/>
            <a:ext cx="2844698" cy="310896"/>
          </a:xfrm>
          <a:prstGeom prst="rect">
            <a:avLst/>
          </a:prstGeom>
          <a:noFill/>
          <a:ln/>
        </p:spPr>
        <p:txBody>
          <a:bodyPr wrap="square" lIns="0" tIns="0" rIns="0" bIns="0" rtlCol="0" anchor="ctr"/>
          <a:lstStyle/>
          <a:p>
            <a:pPr indent="0" marL="0">
              <a:buNone/>
            </a:pPr>
            <a:r>
              <a:rPr lang="en-US" sz="1050" b="1" dirty="0">
                <a:solidFill>
                  <a:schemeClr val="bg1"/>
                </a:solidFill>
              </a:rPr>
              <a:t>FDA PCCP guidance, Dec 2024 (revised Aug 2025)</a:t>
            </a:r>
            <a:endParaRPr lang="en-US" sz="1050" dirty="0"/>
          </a:p>
        </p:txBody>
      </p:sp>
      <p:sp>
        <p:nvSpPr>
          <p:cNvPr id="48" name="Text 39"/>
          <p:cNvSpPr txBox="1"/>
          <p:nvPr/>
        </p:nvSpPr>
        <p:spPr>
          <a:xfrm>
            <a:off x="4435754" y="5632704"/>
            <a:ext cx="3320186" cy="594360"/>
          </a:xfrm>
          <a:prstGeom prst="rect">
            <a:avLst/>
          </a:prstGeom>
          <a:noFill/>
          <a:ln/>
        </p:spPr>
        <p:txBody>
          <a:bodyPr wrap="square" lIns="0" tIns="0" rIns="0" bIns="0" rtlCol="0" anchor="t"/>
          <a:lstStyle/>
          <a:p>
            <a:pPr indent="0" marL="0">
              <a:buNone/>
            </a:pPr>
            <a:r>
              <a:rPr lang="en-US" sz="850" dirty="0">
                <a:solidFill>
                  <a:schemeClr val="accent6"/>
                </a:solidFill>
              </a:rPr>
              <a:t>Pre-specify the planned modifications, the validation protocol and an impact assessment; changes inside the plan need no new submission. Not a blank cheque: the plan is reviewed first.</a:t>
            </a:r>
            <a:endParaRPr lang="en-US" sz="850" dirty="0"/>
          </a:p>
        </p:txBody>
      </p:sp>
      <p:sp>
        <p:nvSpPr>
          <p:cNvPr id="49" name="Governance If users are study participants"/>
          <p:cNvSpPr/>
          <p:nvPr/>
        </p:nvSpPr>
        <p:spPr>
          <a:xfrm>
            <a:off x="8066837" y="5266944"/>
            <a:ext cx="3576218" cy="996696"/>
          </a:xfrm>
          <a:prstGeom prst="roundRect">
            <a:avLst>
              <a:gd name="adj" fmla="val 9174"/>
            </a:avLst>
          </a:prstGeom>
          <a:solidFill>
            <a:schemeClr val="bg1">
              <a:alpha val="10000"/>
            </a:schemeClr>
          </a:solidFill>
          <a:ln w="9525">
            <a:solidFill>
              <a:schemeClr val="accent6"/>
            </a:solidFill>
            <a:prstDash val="solid"/>
          </a:ln>
        </p:spPr>
      </p:sp>
      <p:sp>
        <p:nvSpPr>
          <p:cNvPr id="50" name="Icon disc LuGitBranch"/>
          <p:cNvSpPr/>
          <p:nvPr/>
        </p:nvSpPr>
        <p:spPr>
          <a:xfrm>
            <a:off x="8194853" y="5340096"/>
            <a:ext cx="310896" cy="310896"/>
          </a:xfrm>
          <a:prstGeom prst="ellipse">
            <a:avLst/>
          </a:prstGeom>
          <a:solidFill>
            <a:schemeClr val="accent2"/>
          </a:solidFill>
          <a:ln/>
        </p:spPr>
      </p:sp>
      <p:pic>
        <p:nvPicPr>
          <p:cNvPr id="51" name="Image 6" descr="GitBranch icon">    </p:cNvPr>
          <p:cNvPicPr>
            <a:picLocks noChangeAspect="1"/>
          </p:cNvPicPr>
          <p:nvPr/>
        </p:nvPicPr>
        <p:blipFill>
          <a:blip r:embed="rId7"/>
          <a:stretch>
            <a:fillRect/>
          </a:stretch>
        </p:blipFill>
        <p:spPr>
          <a:xfrm>
            <a:off x="8263250" y="5408493"/>
            <a:ext cx="174102" cy="174102"/>
          </a:xfrm>
          <a:prstGeom prst="rect">
            <a:avLst/>
          </a:prstGeom>
        </p:spPr>
      </p:pic>
      <p:sp>
        <p:nvSpPr>
          <p:cNvPr id="52" name="Text 42"/>
          <p:cNvSpPr txBox="1"/>
          <p:nvPr/>
        </p:nvSpPr>
        <p:spPr>
          <a:xfrm>
            <a:off x="8670341" y="5321808"/>
            <a:ext cx="2844698" cy="310896"/>
          </a:xfrm>
          <a:prstGeom prst="rect">
            <a:avLst/>
          </a:prstGeom>
          <a:noFill/>
          <a:ln/>
        </p:spPr>
        <p:txBody>
          <a:bodyPr wrap="square" lIns="0" tIns="0" rIns="0" bIns="0" rtlCol="0" anchor="ctr"/>
          <a:lstStyle/>
          <a:p>
            <a:pPr indent="0" marL="0">
              <a:buNone/>
            </a:pPr>
            <a:r>
              <a:rPr lang="en-US" sz="1050" b="1" dirty="0">
                <a:solidFill>
                  <a:schemeClr val="bg1"/>
                </a:solidFill>
              </a:rPr>
              <a:t>If users are study participants</a:t>
            </a:r>
            <a:endParaRPr lang="en-US" sz="1050" dirty="0"/>
          </a:p>
        </p:txBody>
      </p:sp>
      <p:sp>
        <p:nvSpPr>
          <p:cNvPr id="53" name="Text 43"/>
          <p:cNvSpPr txBox="1"/>
          <p:nvPr/>
        </p:nvSpPr>
        <p:spPr>
          <a:xfrm>
            <a:off x="8194853" y="5632704"/>
            <a:ext cx="3320186" cy="594360"/>
          </a:xfrm>
          <a:prstGeom prst="rect">
            <a:avLst/>
          </a:prstGeom>
          <a:noFill/>
          <a:ln/>
        </p:spPr>
        <p:txBody>
          <a:bodyPr wrap="square" lIns="0" tIns="0" rIns="0" bIns="0" rtlCol="0" anchor="t"/>
          <a:lstStyle/>
          <a:p>
            <a:pPr indent="0" marL="0">
              <a:buNone/>
            </a:pPr>
            <a:r>
              <a:rPr lang="en-US" sz="850" dirty="0">
                <a:solidFill>
                  <a:schemeClr val="accent6"/>
                </a:solidFill>
              </a:rPr>
              <a:t>Notify the ethics committee, seek a protocol amendment, re-consent where the change could affect a participant's decision. Release well: shadow mode → small staged group → pre-set metrics → rollback trigger → tell users and clinicians.</a:t>
            </a:r>
            <a:endParaRPr lang="en-US" sz="8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SAFETY</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When harm happens, who answers?</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IPC MvPI (6 Jul 2015; MDAE form v1.2); CDSCO circular 15 May 2024; MoHFW ASR committee 19 Feb 2018; PIB 29 Nov 2018 (compensation formula); Kramer 2013; Cumberlege 2020</a:t>
            </a:r>
            <a:endParaRPr lang="en-US" sz="95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80192" y="393192"/>
            <a:ext cx="128016" cy="128016"/>
          </a:xfrm>
          <a:prstGeom prst="ellipse">
            <a:avLst/>
          </a:prstGeom>
          <a:solidFill>
            <a:schemeClr val="accent6"/>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accent6"/>
          </a:solidFill>
          <a:ln w="12700">
            <a:solidFill>
              <a:schemeClr val="accent1"/>
            </a:solidFill>
            <a:prstDash val="solid"/>
          </a:ln>
        </p:spPr>
      </p:sp>
      <p:sp>
        <p:nvSpPr>
          <p:cNvPr id="10" name="Progress Safety"/>
          <p:cNvSpPr/>
          <p:nvPr/>
        </p:nvSpPr>
        <p:spPr>
          <a:xfrm>
            <a:off x="11365992" y="347472"/>
            <a:ext cx="219456" cy="219456"/>
          </a:xfrm>
          <a:prstGeom prst="ellipse">
            <a:avLst/>
          </a:prstGeom>
          <a:solidFill>
            <a:schemeClr val="accent1"/>
          </a:solidFill>
          <a:ln w="12700">
            <a:solidFill>
              <a:schemeClr val="accent1"/>
            </a:solidFill>
            <a:prstDash val="solid"/>
          </a:ln>
        </p:spPr>
      </p:sp>
      <p:sp>
        <p:nvSpPr>
          <p:cNvPr id="12" name="Text 9"/>
          <p:cNvSpPr txBox="1"/>
          <p:nvPr/>
        </p:nvSpPr>
        <p:spPr>
          <a:xfrm>
            <a:off x="548640" y="1463040"/>
            <a:ext cx="11094415" cy="237744"/>
          </a:xfrm>
          <a:prstGeom prst="rect">
            <a:avLst/>
          </a:prstGeom>
          <a:noFill/>
          <a:ln/>
        </p:spPr>
        <p:txBody>
          <a:bodyPr wrap="square" lIns="0" tIns="0" rIns="0" bIns="0" rtlCol="0" anchor="t"/>
          <a:lstStyle/>
          <a:p>
            <a:pPr indent="0" marL="0">
              <a:buNone/>
            </a:pPr>
            <a:r>
              <a:rPr lang="en-US" sz="1200" b="1" dirty="0">
                <a:solidFill>
                  <a:schemeClr val="tx2"/>
                </a:solidFill>
              </a:rPr>
              <a:t>Suppose Ramesh falls after a missed cue. Follow the report around the loop and write an owner under each step.</a:t>
            </a:r>
            <a:endParaRPr lang="en-US" sz="1200" dirty="0"/>
          </a:p>
        </p:txBody>
      </p:sp>
      <p:sp>
        <p:nvSpPr>
          <p:cNvPr id="13" name="Step 1 · Care"/>
          <p:cNvSpPr/>
          <p:nvPr/>
        </p:nvSpPr>
        <p:spPr>
          <a:xfrm>
            <a:off x="548640" y="1755648"/>
            <a:ext cx="1788109" cy="530352"/>
          </a:xfrm>
          <a:prstGeom prst="homePlate">
            <a:avLst/>
          </a:prstGeom>
          <a:solidFill>
            <a:schemeClr val="accent3"/>
          </a:solidFill>
          <a:ln/>
        </p:spPr>
      </p:sp>
      <p:sp>
        <p:nvSpPr>
          <p:cNvPr id="14" name="Text 11"/>
          <p:cNvSpPr txBox="1"/>
          <p:nvPr/>
        </p:nvSpPr>
        <p:spPr>
          <a:xfrm>
            <a:off x="676656" y="1755648"/>
            <a:ext cx="1422349" cy="530352"/>
          </a:xfrm>
          <a:prstGeom prst="rect">
            <a:avLst/>
          </a:prstGeom>
          <a:noFill/>
          <a:ln/>
        </p:spPr>
        <p:txBody>
          <a:bodyPr wrap="square" lIns="0" tIns="0" rIns="0" bIns="0" rtlCol="0" anchor="ctr"/>
          <a:lstStyle/>
          <a:p>
            <a:pPr indent="0" marL="0">
              <a:buNone/>
            </a:pPr>
            <a:r>
              <a:rPr lang="en-US" sz="1100" b="1" dirty="0">
                <a:solidFill>
                  <a:schemeClr val="bg1"/>
                </a:solidFill>
              </a:rPr>
              <a:t>1 · Care</a:t>
            </a:r>
            <a:endParaRPr lang="en-US" sz="1100" dirty="0"/>
          </a:p>
        </p:txBody>
      </p:sp>
      <p:sp>
        <p:nvSpPr>
          <p:cNvPr id="15" name="Text 12"/>
          <p:cNvSpPr txBox="1"/>
          <p:nvPr/>
        </p:nvSpPr>
        <p:spPr>
          <a:xfrm>
            <a:off x="594360" y="2395728"/>
            <a:ext cx="1650949" cy="658368"/>
          </a:xfrm>
          <a:prstGeom prst="rect">
            <a:avLst/>
          </a:prstGeom>
          <a:noFill/>
          <a:ln/>
        </p:spPr>
        <p:txBody>
          <a:bodyPr wrap="square" lIns="0" tIns="0" rIns="0" bIns="0" rtlCol="0" anchor="t"/>
          <a:lstStyle/>
          <a:p>
            <a:pPr indent="0" marL="0">
              <a:spcAft>
                <a:spcPts val="200"/>
              </a:spcAft>
              <a:buNone/>
            </a:pPr>
            <a:r>
              <a:rPr lang="en-US" sz="950" dirty="0">
                <a:solidFill>
                  <a:schemeClr val="tx2"/>
                </a:solidFill>
              </a:rPr>
              <a:t>Meet his immediate needs; keep the device and its data; no blanket ‘stop using it’</a:t>
            </a:r>
            <a:endParaRPr lang="en-US" sz="950" dirty="0"/>
          </a:p>
        </p:txBody>
      </p:sp>
      <p:sp>
        <p:nvSpPr>
          <p:cNvPr id="16" name="Step 2 · Record"/>
          <p:cNvSpPr/>
          <p:nvPr/>
        </p:nvSpPr>
        <p:spPr>
          <a:xfrm>
            <a:off x="2409901" y="1755648"/>
            <a:ext cx="1788109" cy="530352"/>
          </a:xfrm>
          <a:prstGeom prst="chevron">
            <a:avLst/>
          </a:prstGeom>
          <a:solidFill>
            <a:schemeClr val="accent4"/>
          </a:solidFill>
          <a:ln/>
        </p:spPr>
      </p:sp>
      <p:sp>
        <p:nvSpPr>
          <p:cNvPr id="17" name="Text 14"/>
          <p:cNvSpPr txBox="1"/>
          <p:nvPr/>
        </p:nvSpPr>
        <p:spPr>
          <a:xfrm>
            <a:off x="2739085" y="1755648"/>
            <a:ext cx="1239469" cy="530352"/>
          </a:xfrm>
          <a:prstGeom prst="rect">
            <a:avLst/>
          </a:prstGeom>
          <a:noFill/>
          <a:ln/>
        </p:spPr>
        <p:txBody>
          <a:bodyPr wrap="square" lIns="0" tIns="0" rIns="0" bIns="0" rtlCol="0" anchor="ctr"/>
          <a:lstStyle/>
          <a:p>
            <a:pPr indent="0" marL="0">
              <a:buNone/>
            </a:pPr>
            <a:r>
              <a:rPr lang="en-US" sz="1100" b="1" dirty="0">
                <a:solidFill>
                  <a:schemeClr val="bg1"/>
                </a:solidFill>
              </a:rPr>
              <a:t>2 · Record</a:t>
            </a:r>
            <a:endParaRPr lang="en-US" sz="1100" dirty="0"/>
          </a:p>
        </p:txBody>
      </p:sp>
      <p:sp>
        <p:nvSpPr>
          <p:cNvPr id="18" name="Text 15"/>
          <p:cNvSpPr txBox="1"/>
          <p:nvPr/>
        </p:nvSpPr>
        <p:spPr>
          <a:xfrm>
            <a:off x="2455621" y="2395728"/>
            <a:ext cx="1650949" cy="658368"/>
          </a:xfrm>
          <a:prstGeom prst="rect">
            <a:avLst/>
          </a:prstGeom>
          <a:noFill/>
          <a:ln/>
        </p:spPr>
        <p:txBody>
          <a:bodyPr wrap="square" lIns="0" tIns="0" rIns="0" bIns="0" rtlCol="0" anchor="t"/>
          <a:lstStyle/>
          <a:p>
            <a:pPr indent="0" marL="0">
              <a:spcAft>
                <a:spcPts val="200"/>
              </a:spcAft>
              <a:buNone/>
            </a:pPr>
            <a:r>
              <a:rPr lang="en-US" sz="950" dirty="0">
                <a:solidFill>
                  <a:schemeClr val="tx2"/>
                </a:solidFill>
              </a:rPr>
              <a:t>Device identity, serial number, software version, context, outcome</a:t>
            </a:r>
            <a:endParaRPr lang="en-US" sz="950" dirty="0"/>
          </a:p>
        </p:txBody>
      </p:sp>
      <p:sp>
        <p:nvSpPr>
          <p:cNvPr id="19" name="Step 3 · Report"/>
          <p:cNvSpPr/>
          <p:nvPr/>
        </p:nvSpPr>
        <p:spPr>
          <a:xfrm>
            <a:off x="4271162" y="1755648"/>
            <a:ext cx="1788109" cy="530352"/>
          </a:xfrm>
          <a:prstGeom prst="chevron">
            <a:avLst/>
          </a:prstGeom>
          <a:solidFill>
            <a:schemeClr val="accent3"/>
          </a:solidFill>
          <a:ln/>
        </p:spPr>
      </p:sp>
      <p:sp>
        <p:nvSpPr>
          <p:cNvPr id="20" name="Text 17"/>
          <p:cNvSpPr txBox="1"/>
          <p:nvPr/>
        </p:nvSpPr>
        <p:spPr>
          <a:xfrm>
            <a:off x="4600346" y="1755648"/>
            <a:ext cx="1239469" cy="530352"/>
          </a:xfrm>
          <a:prstGeom prst="rect">
            <a:avLst/>
          </a:prstGeom>
          <a:noFill/>
          <a:ln/>
        </p:spPr>
        <p:txBody>
          <a:bodyPr wrap="square" lIns="0" tIns="0" rIns="0" bIns="0" rtlCol="0" anchor="ctr"/>
          <a:lstStyle/>
          <a:p>
            <a:pPr indent="0" marL="0">
              <a:buNone/>
            </a:pPr>
            <a:r>
              <a:rPr lang="en-US" sz="1100" b="1" dirty="0">
                <a:solidFill>
                  <a:schemeClr val="bg1"/>
                </a:solidFill>
              </a:rPr>
              <a:t>3 · Report</a:t>
            </a:r>
            <a:endParaRPr lang="en-US" sz="1100" dirty="0"/>
          </a:p>
        </p:txBody>
      </p:sp>
      <p:sp>
        <p:nvSpPr>
          <p:cNvPr id="21" name="Text 18"/>
          <p:cNvSpPr txBox="1"/>
          <p:nvPr/>
        </p:nvSpPr>
        <p:spPr>
          <a:xfrm>
            <a:off x="4316882" y="2395728"/>
            <a:ext cx="1650949" cy="658368"/>
          </a:xfrm>
          <a:prstGeom prst="rect">
            <a:avLst/>
          </a:prstGeom>
          <a:noFill/>
          <a:ln/>
        </p:spPr>
        <p:txBody>
          <a:bodyPr wrap="square" lIns="0" tIns="0" rIns="0" bIns="0" rtlCol="0" anchor="t"/>
          <a:lstStyle/>
          <a:p>
            <a:pPr indent="0" marL="0">
              <a:spcAft>
                <a:spcPts val="200"/>
              </a:spcAft>
              <a:buNone/>
            </a:pPr>
            <a:r>
              <a:rPr lang="en-US" sz="950" dirty="0">
                <a:solidFill>
                  <a:schemeClr val="tx2"/>
                </a:solidFill>
              </a:rPr>
              <a:t>MvPI MDAE form; licence holder → CDSCO ≤ 15 days; in a study → sponsor and ethics committee</a:t>
            </a:r>
            <a:endParaRPr lang="en-US" sz="950" dirty="0"/>
          </a:p>
        </p:txBody>
      </p:sp>
      <p:sp>
        <p:nvSpPr>
          <p:cNvPr id="22" name="Step 4 · Investigate"/>
          <p:cNvSpPr/>
          <p:nvPr/>
        </p:nvSpPr>
        <p:spPr>
          <a:xfrm>
            <a:off x="6132424" y="1755648"/>
            <a:ext cx="1788109" cy="530352"/>
          </a:xfrm>
          <a:prstGeom prst="chevron">
            <a:avLst/>
          </a:prstGeom>
          <a:solidFill>
            <a:schemeClr val="accent4"/>
          </a:solidFill>
          <a:ln/>
        </p:spPr>
      </p:sp>
      <p:sp>
        <p:nvSpPr>
          <p:cNvPr id="23" name="Text 20"/>
          <p:cNvSpPr txBox="1"/>
          <p:nvPr/>
        </p:nvSpPr>
        <p:spPr>
          <a:xfrm>
            <a:off x="6461608" y="1755648"/>
            <a:ext cx="1239469" cy="530352"/>
          </a:xfrm>
          <a:prstGeom prst="rect">
            <a:avLst/>
          </a:prstGeom>
          <a:noFill/>
          <a:ln/>
        </p:spPr>
        <p:txBody>
          <a:bodyPr wrap="square" lIns="0" tIns="0" rIns="0" bIns="0" rtlCol="0" anchor="ctr"/>
          <a:lstStyle/>
          <a:p>
            <a:pPr indent="0" marL="0">
              <a:buNone/>
            </a:pPr>
            <a:r>
              <a:rPr lang="en-US" sz="1100" b="1" dirty="0">
                <a:solidFill>
                  <a:schemeClr val="bg1"/>
                </a:solidFill>
              </a:rPr>
              <a:t>4 · Investigate</a:t>
            </a:r>
            <a:endParaRPr lang="en-US" sz="1100" dirty="0"/>
          </a:p>
        </p:txBody>
      </p:sp>
      <p:sp>
        <p:nvSpPr>
          <p:cNvPr id="24" name="Text 21"/>
          <p:cNvSpPr txBox="1"/>
          <p:nvPr/>
        </p:nvSpPr>
        <p:spPr>
          <a:xfrm>
            <a:off x="6178144" y="2395728"/>
            <a:ext cx="1650949" cy="658368"/>
          </a:xfrm>
          <a:prstGeom prst="rect">
            <a:avLst/>
          </a:prstGeom>
          <a:noFill/>
          <a:ln/>
        </p:spPr>
        <p:txBody>
          <a:bodyPr wrap="square" lIns="0" tIns="0" rIns="0" bIns="0" rtlCol="0" anchor="t"/>
          <a:lstStyle/>
          <a:p>
            <a:pPr indent="0" marL="0">
              <a:spcAft>
                <a:spcPts val="200"/>
              </a:spcAft>
              <a:buNone/>
            </a:pPr>
            <a:r>
              <a:rPr lang="en-US" sz="950" dirty="0">
                <a:solidFill>
                  <a:schemeClr val="tx2"/>
                </a:solidFill>
              </a:rPr>
              <a:t>Root cause and context; trend across units; update the ISO 14971 risk file</a:t>
            </a:r>
            <a:endParaRPr lang="en-US" sz="950" dirty="0"/>
          </a:p>
        </p:txBody>
      </p:sp>
      <p:sp>
        <p:nvSpPr>
          <p:cNvPr id="25" name="Step 5 · Correct"/>
          <p:cNvSpPr/>
          <p:nvPr/>
        </p:nvSpPr>
        <p:spPr>
          <a:xfrm>
            <a:off x="7993685" y="1755648"/>
            <a:ext cx="1788109" cy="530352"/>
          </a:xfrm>
          <a:prstGeom prst="chevron">
            <a:avLst/>
          </a:prstGeom>
          <a:solidFill>
            <a:schemeClr val="accent2"/>
          </a:solidFill>
          <a:ln/>
        </p:spPr>
      </p:sp>
      <p:sp>
        <p:nvSpPr>
          <p:cNvPr id="26" name="Text 23"/>
          <p:cNvSpPr txBox="1"/>
          <p:nvPr/>
        </p:nvSpPr>
        <p:spPr>
          <a:xfrm>
            <a:off x="8322869" y="1755648"/>
            <a:ext cx="1239469" cy="530352"/>
          </a:xfrm>
          <a:prstGeom prst="rect">
            <a:avLst/>
          </a:prstGeom>
          <a:noFill/>
          <a:ln/>
        </p:spPr>
        <p:txBody>
          <a:bodyPr wrap="square" lIns="0" tIns="0" rIns="0" bIns="0" rtlCol="0" anchor="ctr"/>
          <a:lstStyle/>
          <a:p>
            <a:pPr indent="0" marL="0">
              <a:buNone/>
            </a:pPr>
            <a:r>
              <a:rPr lang="en-US" sz="1100" b="1" dirty="0">
                <a:solidFill>
                  <a:schemeClr val="bg1"/>
                </a:solidFill>
              </a:rPr>
              <a:t>5 · Correct</a:t>
            </a:r>
            <a:endParaRPr lang="en-US" sz="1100" dirty="0"/>
          </a:p>
        </p:txBody>
      </p:sp>
      <p:sp>
        <p:nvSpPr>
          <p:cNvPr id="27" name="Text 24"/>
          <p:cNvSpPr txBox="1"/>
          <p:nvPr/>
        </p:nvSpPr>
        <p:spPr>
          <a:xfrm>
            <a:off x="8039405" y="2395728"/>
            <a:ext cx="1650949" cy="658368"/>
          </a:xfrm>
          <a:prstGeom prst="rect">
            <a:avLst/>
          </a:prstGeom>
          <a:noFill/>
          <a:ln/>
        </p:spPr>
        <p:txBody>
          <a:bodyPr wrap="square" lIns="0" tIns="0" rIns="0" bIns="0" rtlCol="0" anchor="t"/>
          <a:lstStyle/>
          <a:p>
            <a:pPr indent="0" marL="0">
              <a:spcAft>
                <a:spcPts val="200"/>
              </a:spcAft>
              <a:buNone/>
            </a:pPr>
            <a:r>
              <a:rPr lang="en-US" sz="950" dirty="0">
                <a:solidFill>
                  <a:schemeClr val="tx2"/>
                </a:solidFill>
              </a:rPr>
              <a:t>CAPA; labelling or software fix; recall through the FSCA form to MvPI</a:t>
            </a:r>
            <a:endParaRPr lang="en-US" sz="950" dirty="0"/>
          </a:p>
        </p:txBody>
      </p:sp>
      <p:sp>
        <p:nvSpPr>
          <p:cNvPr id="28" name="Step 6 · Follow up"/>
          <p:cNvSpPr/>
          <p:nvPr/>
        </p:nvSpPr>
        <p:spPr>
          <a:xfrm>
            <a:off x="9854946" y="1755648"/>
            <a:ext cx="1788109" cy="530352"/>
          </a:xfrm>
          <a:prstGeom prst="chevron">
            <a:avLst/>
          </a:prstGeom>
          <a:solidFill>
            <a:schemeClr val="accent1"/>
          </a:solidFill>
          <a:ln/>
        </p:spPr>
      </p:sp>
      <p:sp>
        <p:nvSpPr>
          <p:cNvPr id="29" name="Text 26"/>
          <p:cNvSpPr txBox="1"/>
          <p:nvPr/>
        </p:nvSpPr>
        <p:spPr>
          <a:xfrm>
            <a:off x="10184130" y="1755648"/>
            <a:ext cx="1239469" cy="530352"/>
          </a:xfrm>
          <a:prstGeom prst="rect">
            <a:avLst/>
          </a:prstGeom>
          <a:noFill/>
          <a:ln/>
        </p:spPr>
        <p:txBody>
          <a:bodyPr wrap="square" lIns="0" tIns="0" rIns="0" bIns="0" rtlCol="0" anchor="ctr"/>
          <a:lstStyle/>
          <a:p>
            <a:pPr indent="0" marL="0">
              <a:buNone/>
            </a:pPr>
            <a:r>
              <a:rPr lang="en-US" sz="1100" b="1" dirty="0">
                <a:solidFill>
                  <a:schemeClr val="bg1"/>
                </a:solidFill>
              </a:rPr>
              <a:t>6 · Follow up</a:t>
            </a:r>
            <a:endParaRPr lang="en-US" sz="1100" dirty="0"/>
          </a:p>
        </p:txBody>
      </p:sp>
      <p:sp>
        <p:nvSpPr>
          <p:cNvPr id="30" name="Text 27"/>
          <p:cNvSpPr txBox="1"/>
          <p:nvPr/>
        </p:nvSpPr>
        <p:spPr>
          <a:xfrm>
            <a:off x="9900666" y="2395728"/>
            <a:ext cx="1650949" cy="658368"/>
          </a:xfrm>
          <a:prstGeom prst="rect">
            <a:avLst/>
          </a:prstGeom>
          <a:noFill/>
          <a:ln/>
        </p:spPr>
        <p:txBody>
          <a:bodyPr wrap="square" lIns="0" tIns="0" rIns="0" bIns="0" rtlCol="0" anchor="t"/>
          <a:lstStyle/>
          <a:p>
            <a:pPr indent="0" marL="0">
              <a:spcAft>
                <a:spcPts val="200"/>
              </a:spcAft>
              <a:buNone/>
            </a:pPr>
            <a:r>
              <a:rPr lang="en-US" sz="950" dirty="0">
                <a:solidFill>
                  <a:schemeClr val="tx2"/>
                </a:solidFill>
              </a:rPr>
              <a:t>The person; did the fix work; PSUR 6-monthly for 2 years, then yearly for 2</a:t>
            </a:r>
            <a:endParaRPr lang="en-US" sz="950" dirty="0"/>
          </a:p>
        </p:txBody>
      </p:sp>
      <p:sp>
        <p:nvSpPr>
          <p:cNvPr id="31" name="Pill Owner: ________"/>
          <p:cNvSpPr/>
          <p:nvPr/>
        </p:nvSpPr>
        <p:spPr>
          <a:xfrm>
            <a:off x="548640" y="3072384"/>
            <a:ext cx="1788109" cy="292608"/>
          </a:xfrm>
          <a:prstGeom prst="roundRect">
            <a:avLst>
              <a:gd name="adj" fmla="val 50000"/>
            </a:avLst>
          </a:prstGeom>
          <a:solidFill>
            <a:schemeClr val="bg1"/>
          </a:solidFill>
          <a:ln w="15875">
            <a:solidFill>
              <a:schemeClr val="accent2"/>
            </a:solidFill>
            <a:prstDash val="dash"/>
          </a:ln>
        </p:spPr>
      </p:sp>
      <p:sp>
        <p:nvSpPr>
          <p:cNvPr id="32" name="Text 29"/>
          <p:cNvSpPr txBox="1"/>
          <p:nvPr/>
        </p:nvSpPr>
        <p:spPr>
          <a:xfrm>
            <a:off x="548640" y="3072384"/>
            <a:ext cx="1788109" cy="292608"/>
          </a:xfrm>
          <a:prstGeom prst="rect">
            <a:avLst/>
          </a:prstGeom>
          <a:noFill/>
          <a:ln/>
        </p:spPr>
        <p:txBody>
          <a:bodyPr wrap="square" lIns="0" tIns="0" rIns="0" bIns="0" rtlCol="0" anchor="ctr"/>
          <a:lstStyle/>
          <a:p>
            <a:pPr algn="ctr" indent="0" marL="0">
              <a:buNone/>
            </a:pPr>
            <a:r>
              <a:rPr lang="en-US" sz="950" b="1" dirty="0">
                <a:solidFill>
                  <a:schemeClr val="accent2"/>
                </a:solidFill>
              </a:rPr>
              <a:t>Owner: ________</a:t>
            </a:r>
            <a:endParaRPr lang="en-US" sz="950" dirty="0"/>
          </a:p>
        </p:txBody>
      </p:sp>
      <p:sp>
        <p:nvSpPr>
          <p:cNvPr id="33" name="Pill Owner: ________"/>
          <p:cNvSpPr/>
          <p:nvPr/>
        </p:nvSpPr>
        <p:spPr>
          <a:xfrm>
            <a:off x="2409901" y="3072384"/>
            <a:ext cx="1788109" cy="292608"/>
          </a:xfrm>
          <a:prstGeom prst="roundRect">
            <a:avLst>
              <a:gd name="adj" fmla="val 50000"/>
            </a:avLst>
          </a:prstGeom>
          <a:solidFill>
            <a:schemeClr val="bg1"/>
          </a:solidFill>
          <a:ln w="15875">
            <a:solidFill>
              <a:schemeClr val="accent2"/>
            </a:solidFill>
            <a:prstDash val="dash"/>
          </a:ln>
        </p:spPr>
      </p:sp>
      <p:sp>
        <p:nvSpPr>
          <p:cNvPr id="34" name="Text 31"/>
          <p:cNvSpPr txBox="1"/>
          <p:nvPr/>
        </p:nvSpPr>
        <p:spPr>
          <a:xfrm>
            <a:off x="2409901" y="3072384"/>
            <a:ext cx="1788109" cy="292608"/>
          </a:xfrm>
          <a:prstGeom prst="rect">
            <a:avLst/>
          </a:prstGeom>
          <a:noFill/>
          <a:ln/>
        </p:spPr>
        <p:txBody>
          <a:bodyPr wrap="square" lIns="0" tIns="0" rIns="0" bIns="0" rtlCol="0" anchor="ctr"/>
          <a:lstStyle/>
          <a:p>
            <a:pPr algn="ctr" indent="0" marL="0">
              <a:buNone/>
            </a:pPr>
            <a:r>
              <a:rPr lang="en-US" sz="950" b="1" dirty="0">
                <a:solidFill>
                  <a:schemeClr val="accent2"/>
                </a:solidFill>
              </a:rPr>
              <a:t>Owner: ________</a:t>
            </a:r>
            <a:endParaRPr lang="en-US" sz="950" dirty="0"/>
          </a:p>
        </p:txBody>
      </p:sp>
      <p:sp>
        <p:nvSpPr>
          <p:cNvPr id="35" name="Pill Owner: ________"/>
          <p:cNvSpPr/>
          <p:nvPr/>
        </p:nvSpPr>
        <p:spPr>
          <a:xfrm>
            <a:off x="4271162" y="3072384"/>
            <a:ext cx="1788109" cy="292608"/>
          </a:xfrm>
          <a:prstGeom prst="roundRect">
            <a:avLst>
              <a:gd name="adj" fmla="val 50000"/>
            </a:avLst>
          </a:prstGeom>
          <a:solidFill>
            <a:schemeClr val="bg1"/>
          </a:solidFill>
          <a:ln w="15875">
            <a:solidFill>
              <a:schemeClr val="accent2"/>
            </a:solidFill>
            <a:prstDash val="dash"/>
          </a:ln>
        </p:spPr>
      </p:sp>
      <p:sp>
        <p:nvSpPr>
          <p:cNvPr id="36" name="Text 33"/>
          <p:cNvSpPr txBox="1"/>
          <p:nvPr/>
        </p:nvSpPr>
        <p:spPr>
          <a:xfrm>
            <a:off x="4271162" y="3072384"/>
            <a:ext cx="1788109" cy="292608"/>
          </a:xfrm>
          <a:prstGeom prst="rect">
            <a:avLst/>
          </a:prstGeom>
          <a:noFill/>
          <a:ln/>
        </p:spPr>
        <p:txBody>
          <a:bodyPr wrap="square" lIns="0" tIns="0" rIns="0" bIns="0" rtlCol="0" anchor="ctr"/>
          <a:lstStyle/>
          <a:p>
            <a:pPr algn="ctr" indent="0" marL="0">
              <a:buNone/>
            </a:pPr>
            <a:r>
              <a:rPr lang="en-US" sz="950" b="1" dirty="0">
                <a:solidFill>
                  <a:schemeClr val="accent2"/>
                </a:solidFill>
              </a:rPr>
              <a:t>Owner: ________</a:t>
            </a:r>
            <a:endParaRPr lang="en-US" sz="950" dirty="0"/>
          </a:p>
        </p:txBody>
      </p:sp>
      <p:sp>
        <p:nvSpPr>
          <p:cNvPr id="37" name="Pill Owner: ________"/>
          <p:cNvSpPr/>
          <p:nvPr/>
        </p:nvSpPr>
        <p:spPr>
          <a:xfrm>
            <a:off x="6132424" y="3072384"/>
            <a:ext cx="1788109" cy="292608"/>
          </a:xfrm>
          <a:prstGeom prst="roundRect">
            <a:avLst>
              <a:gd name="adj" fmla="val 50000"/>
            </a:avLst>
          </a:prstGeom>
          <a:solidFill>
            <a:schemeClr val="bg1"/>
          </a:solidFill>
          <a:ln w="15875">
            <a:solidFill>
              <a:schemeClr val="accent2"/>
            </a:solidFill>
            <a:prstDash val="dash"/>
          </a:ln>
        </p:spPr>
      </p:sp>
      <p:sp>
        <p:nvSpPr>
          <p:cNvPr id="38" name="Text 35"/>
          <p:cNvSpPr txBox="1"/>
          <p:nvPr/>
        </p:nvSpPr>
        <p:spPr>
          <a:xfrm>
            <a:off x="6132424" y="3072384"/>
            <a:ext cx="1788109" cy="292608"/>
          </a:xfrm>
          <a:prstGeom prst="rect">
            <a:avLst/>
          </a:prstGeom>
          <a:noFill/>
          <a:ln/>
        </p:spPr>
        <p:txBody>
          <a:bodyPr wrap="square" lIns="0" tIns="0" rIns="0" bIns="0" rtlCol="0" anchor="ctr"/>
          <a:lstStyle/>
          <a:p>
            <a:pPr algn="ctr" indent="0" marL="0">
              <a:buNone/>
            </a:pPr>
            <a:r>
              <a:rPr lang="en-US" sz="950" b="1" dirty="0">
                <a:solidFill>
                  <a:schemeClr val="accent2"/>
                </a:solidFill>
              </a:rPr>
              <a:t>Owner: ________</a:t>
            </a:r>
            <a:endParaRPr lang="en-US" sz="950" dirty="0"/>
          </a:p>
        </p:txBody>
      </p:sp>
      <p:sp>
        <p:nvSpPr>
          <p:cNvPr id="39" name="Pill Owner: ________"/>
          <p:cNvSpPr/>
          <p:nvPr/>
        </p:nvSpPr>
        <p:spPr>
          <a:xfrm>
            <a:off x="7993685" y="3072384"/>
            <a:ext cx="1788109" cy="292608"/>
          </a:xfrm>
          <a:prstGeom prst="roundRect">
            <a:avLst>
              <a:gd name="adj" fmla="val 50000"/>
            </a:avLst>
          </a:prstGeom>
          <a:solidFill>
            <a:schemeClr val="bg1"/>
          </a:solidFill>
          <a:ln w="15875">
            <a:solidFill>
              <a:schemeClr val="accent2"/>
            </a:solidFill>
            <a:prstDash val="dash"/>
          </a:ln>
        </p:spPr>
      </p:sp>
      <p:sp>
        <p:nvSpPr>
          <p:cNvPr id="40" name="Text 37"/>
          <p:cNvSpPr txBox="1"/>
          <p:nvPr/>
        </p:nvSpPr>
        <p:spPr>
          <a:xfrm>
            <a:off x="7993685" y="3072384"/>
            <a:ext cx="1788109" cy="292608"/>
          </a:xfrm>
          <a:prstGeom prst="rect">
            <a:avLst/>
          </a:prstGeom>
          <a:noFill/>
          <a:ln/>
        </p:spPr>
        <p:txBody>
          <a:bodyPr wrap="square" lIns="0" tIns="0" rIns="0" bIns="0" rtlCol="0" anchor="ctr"/>
          <a:lstStyle/>
          <a:p>
            <a:pPr algn="ctr" indent="0" marL="0">
              <a:buNone/>
            </a:pPr>
            <a:r>
              <a:rPr lang="en-US" sz="950" b="1" dirty="0">
                <a:solidFill>
                  <a:schemeClr val="accent2"/>
                </a:solidFill>
              </a:rPr>
              <a:t>Owner: ________</a:t>
            </a:r>
            <a:endParaRPr lang="en-US" sz="950" dirty="0"/>
          </a:p>
        </p:txBody>
      </p:sp>
      <p:sp>
        <p:nvSpPr>
          <p:cNvPr id="41" name="Pill Owner: ________"/>
          <p:cNvSpPr/>
          <p:nvPr/>
        </p:nvSpPr>
        <p:spPr>
          <a:xfrm>
            <a:off x="9854946" y="3072384"/>
            <a:ext cx="1788109" cy="292608"/>
          </a:xfrm>
          <a:prstGeom prst="roundRect">
            <a:avLst>
              <a:gd name="adj" fmla="val 50000"/>
            </a:avLst>
          </a:prstGeom>
          <a:solidFill>
            <a:schemeClr val="bg1"/>
          </a:solidFill>
          <a:ln w="15875">
            <a:solidFill>
              <a:schemeClr val="accent2"/>
            </a:solidFill>
            <a:prstDash val="dash"/>
          </a:ln>
        </p:spPr>
      </p:sp>
      <p:sp>
        <p:nvSpPr>
          <p:cNvPr id="42" name="Text 39"/>
          <p:cNvSpPr txBox="1"/>
          <p:nvPr/>
        </p:nvSpPr>
        <p:spPr>
          <a:xfrm>
            <a:off x="9854946" y="3072384"/>
            <a:ext cx="1788109" cy="292608"/>
          </a:xfrm>
          <a:prstGeom prst="rect">
            <a:avLst/>
          </a:prstGeom>
          <a:noFill/>
          <a:ln/>
        </p:spPr>
        <p:txBody>
          <a:bodyPr wrap="square" lIns="0" tIns="0" rIns="0" bIns="0" rtlCol="0" anchor="ctr"/>
          <a:lstStyle/>
          <a:p>
            <a:pPr algn="ctr" indent="0" marL="0">
              <a:buNone/>
            </a:pPr>
            <a:r>
              <a:rPr lang="en-US" sz="950" b="1" dirty="0">
                <a:solidFill>
                  <a:schemeClr val="accent2"/>
                </a:solidFill>
              </a:rPr>
              <a:t>Owner: ________</a:t>
            </a:r>
            <a:endParaRPr lang="en-US" sz="950" dirty="0"/>
          </a:p>
        </p:txBody>
      </p:sp>
      <p:sp>
        <p:nvSpPr>
          <p:cNvPr id="43" name="ASR case panel"/>
          <p:cNvSpPr/>
          <p:nvPr/>
        </p:nvSpPr>
        <p:spPr>
          <a:xfrm>
            <a:off x="548640" y="3520440"/>
            <a:ext cx="6812280" cy="2651760"/>
          </a:xfrm>
          <a:prstGeom prst="roundRect">
            <a:avLst>
              <a:gd name="adj" fmla="val 4828"/>
            </a:avLst>
          </a:prstGeom>
          <a:solidFill>
            <a:schemeClr val="bg2"/>
          </a:solidFill>
          <a:ln/>
        </p:spPr>
      </p:sp>
      <p:sp>
        <p:nvSpPr>
          <p:cNvPr id="44" name="Text 41"/>
          <p:cNvSpPr txBox="1"/>
          <p:nvPr/>
        </p:nvSpPr>
        <p:spPr>
          <a:xfrm>
            <a:off x="713232" y="3593592"/>
            <a:ext cx="6483096" cy="274320"/>
          </a:xfrm>
          <a:prstGeom prst="rect">
            <a:avLst/>
          </a:prstGeom>
          <a:noFill/>
          <a:ln/>
        </p:spPr>
        <p:txBody>
          <a:bodyPr wrap="square" lIns="0" tIns="0" rIns="0" bIns="0" rtlCol="0" anchor="ctr"/>
          <a:lstStyle/>
          <a:p>
            <a:pPr indent="0" marL="0">
              <a:buNone/>
            </a:pPr>
            <a:r>
              <a:rPr lang="en-US" sz="1050" b="1" dirty="0">
                <a:solidFill>
                  <a:schemeClr val="accent3"/>
                </a:solidFill>
              </a:rPr>
              <a:t>India's reference case: DePuy ASR metal-on-metal hips, </a:t>
            </a:r>
            <a:pPr indent="0" marL="0">
              <a:buNone/>
            </a:pPr>
            <a:r>
              <a:rPr lang="en-US" sz="1050" dirty="0">
                <a:solidFill>
                  <a:schemeClr val="tx1"/>
                </a:solidFill>
              </a:rPr>
              <a:t>recalled worldwide in Aug 2010; CDSCO device alert Dec 2013; import licence cancelled</a:t>
            </a:r>
            <a:endParaRPr lang="en-US" sz="1050" dirty="0"/>
          </a:p>
        </p:txBody>
      </p:sp>
      <p:sp>
        <p:nvSpPr>
          <p:cNvPr id="45" name="Stat ASR hips in India"/>
          <p:cNvSpPr/>
          <p:nvPr/>
        </p:nvSpPr>
        <p:spPr>
          <a:xfrm>
            <a:off x="713232" y="3931920"/>
            <a:ext cx="2063496" cy="1627632"/>
          </a:xfrm>
          <a:prstGeom prst="roundRect">
            <a:avLst>
              <a:gd name="adj" fmla="val 6742"/>
            </a:avLst>
          </a:prstGeom>
          <a:solidFill>
            <a:schemeClr val="bg1"/>
          </a:solidFill>
          <a:ln w="9525">
            <a:solidFill>
              <a:srgbClr val="D5DFDD"/>
            </a:solidFill>
            <a:prstDash val="solid"/>
          </a:ln>
          <a:effectLst>
            <a:outerShdw sx="100000" sy="100000" kx="0" ky="0" algn="bl" rotWithShape="0" blurRad="76200" dist="25400" dir="5400000">
              <a:srgbClr val="000000">
                <a:alpha val="10000"/>
              </a:srgbClr>
            </a:outerShdw>
          </a:effectLst>
        </p:spPr>
      </p:sp>
      <p:sp>
        <p:nvSpPr>
          <p:cNvPr id="46" name="Stat accent"/>
          <p:cNvSpPr/>
          <p:nvPr/>
        </p:nvSpPr>
        <p:spPr>
          <a:xfrm>
            <a:off x="713232" y="4160520"/>
            <a:ext cx="64008" cy="1170432"/>
          </a:xfrm>
          <a:prstGeom prst="rect">
            <a:avLst/>
          </a:prstGeom>
          <a:solidFill>
            <a:schemeClr val="accent3"/>
          </a:solidFill>
          <a:ln/>
        </p:spPr>
      </p:sp>
      <p:sp>
        <p:nvSpPr>
          <p:cNvPr id="47" name="Icon disc LuUsers"/>
          <p:cNvSpPr/>
          <p:nvPr/>
        </p:nvSpPr>
        <p:spPr>
          <a:xfrm>
            <a:off x="2209800" y="4114800"/>
            <a:ext cx="402336" cy="402336"/>
          </a:xfrm>
          <a:prstGeom prst="ellipse">
            <a:avLst/>
          </a:prstGeom>
          <a:solidFill>
            <a:schemeClr val="accent3">
              <a:alpha val="15000"/>
            </a:schemeClr>
          </a:solidFill>
          <a:ln/>
        </p:spPr>
      </p:sp>
      <p:pic>
        <p:nvPicPr>
          <p:cNvPr id="48" name="Image 0" descr="Users icon">    </p:cNvPr>
          <p:cNvPicPr>
            <a:picLocks noChangeAspect="1"/>
          </p:cNvPicPr>
          <p:nvPr/>
        </p:nvPicPr>
        <p:blipFill>
          <a:blip r:embed="rId1"/>
          <a:stretch>
            <a:fillRect/>
          </a:stretch>
        </p:blipFill>
        <p:spPr>
          <a:xfrm>
            <a:off x="2298314" y="4203314"/>
            <a:ext cx="225308" cy="225308"/>
          </a:xfrm>
          <a:prstGeom prst="rect">
            <a:avLst/>
          </a:prstGeom>
        </p:spPr>
      </p:pic>
      <p:sp>
        <p:nvSpPr>
          <p:cNvPr id="49" name="Text 45"/>
          <p:cNvSpPr txBox="1"/>
          <p:nvPr/>
        </p:nvSpPr>
        <p:spPr>
          <a:xfrm>
            <a:off x="941832" y="4069080"/>
            <a:ext cx="1194816" cy="685800"/>
          </a:xfrm>
          <a:prstGeom prst="rect">
            <a:avLst/>
          </a:prstGeom>
          <a:noFill/>
          <a:ln/>
        </p:spPr>
        <p:txBody>
          <a:bodyPr wrap="square" lIns="0" tIns="0" rIns="0" bIns="0" rtlCol="0" anchor="ctr"/>
          <a:lstStyle/>
          <a:p>
            <a:pPr indent="0" marL="0">
              <a:buNone/>
            </a:pPr>
            <a:r>
              <a:rPr lang="en-US" sz="2600" b="1" dirty="0">
                <a:solidFill>
                  <a:schemeClr val="accent3"/>
                </a:solidFill>
              </a:rPr>
              <a:t>≈4,700</a:t>
            </a:r>
            <a:endParaRPr lang="en-US" sz="2600" dirty="0"/>
          </a:p>
        </p:txBody>
      </p:sp>
      <p:sp>
        <p:nvSpPr>
          <p:cNvPr id="50" name="Text 46"/>
          <p:cNvSpPr txBox="1"/>
          <p:nvPr/>
        </p:nvSpPr>
        <p:spPr>
          <a:xfrm>
            <a:off x="941832" y="4754880"/>
            <a:ext cx="1697736" cy="292608"/>
          </a:xfrm>
          <a:prstGeom prst="rect">
            <a:avLst/>
          </a:prstGeom>
          <a:noFill/>
          <a:ln/>
        </p:spPr>
        <p:txBody>
          <a:bodyPr wrap="square" lIns="0" tIns="0" rIns="0" bIns="0" rtlCol="0" anchor="t"/>
          <a:lstStyle/>
          <a:p>
            <a:pPr indent="0" marL="0">
              <a:buNone/>
            </a:pPr>
            <a:r>
              <a:rPr lang="en-US" sz="1200" b="1" dirty="0">
                <a:solidFill>
                  <a:schemeClr val="tx1"/>
                </a:solidFill>
              </a:rPr>
              <a:t>ASR hips in India</a:t>
            </a:r>
            <a:endParaRPr lang="en-US" sz="1200" dirty="0"/>
          </a:p>
        </p:txBody>
      </p:sp>
      <p:sp>
        <p:nvSpPr>
          <p:cNvPr id="51" name="Text 47"/>
          <p:cNvSpPr txBox="1"/>
          <p:nvPr/>
        </p:nvSpPr>
        <p:spPr>
          <a:xfrm>
            <a:off x="941832" y="5029200"/>
            <a:ext cx="1697736" cy="484632"/>
          </a:xfrm>
          <a:prstGeom prst="rect">
            <a:avLst/>
          </a:prstGeom>
          <a:noFill/>
          <a:ln/>
        </p:spPr>
        <p:txBody>
          <a:bodyPr wrap="square" lIns="0" tIns="0" rIns="0" bIns="0" rtlCol="0" anchor="t"/>
          <a:lstStyle/>
          <a:p>
            <a:pPr indent="0" marL="0">
              <a:buNone/>
            </a:pPr>
            <a:r>
              <a:rPr lang="en-US" sz="950" dirty="0">
                <a:solidFill>
                  <a:schemeClr val="accent5"/>
                </a:solidFill>
              </a:rPr>
              <a:t>Surgeries 2004–2010; patients had to be found through a helpline</a:t>
            </a:r>
            <a:endParaRPr lang="en-US" sz="950" dirty="0"/>
          </a:p>
        </p:txBody>
      </p:sp>
      <p:sp>
        <p:nvSpPr>
          <p:cNvPr id="52" name="Stat Traced by Aug 2018"/>
          <p:cNvSpPr/>
          <p:nvPr/>
        </p:nvSpPr>
        <p:spPr>
          <a:xfrm>
            <a:off x="2923032" y="3931920"/>
            <a:ext cx="2063496" cy="1627632"/>
          </a:xfrm>
          <a:prstGeom prst="roundRect">
            <a:avLst>
              <a:gd name="adj" fmla="val 6742"/>
            </a:avLst>
          </a:prstGeom>
          <a:solidFill>
            <a:schemeClr val="bg1"/>
          </a:solidFill>
          <a:ln w="9525">
            <a:solidFill>
              <a:srgbClr val="D5DFDD"/>
            </a:solidFill>
            <a:prstDash val="solid"/>
          </a:ln>
          <a:effectLst>
            <a:outerShdw sx="100000" sy="100000" kx="0" ky="0" algn="bl" rotWithShape="0" blurRad="76200" dist="25400" dir="5400000">
              <a:srgbClr val="000000">
                <a:alpha val="10000"/>
              </a:srgbClr>
            </a:outerShdw>
          </a:effectLst>
        </p:spPr>
      </p:sp>
      <p:sp>
        <p:nvSpPr>
          <p:cNvPr id="53" name="Stat accent"/>
          <p:cNvSpPr/>
          <p:nvPr/>
        </p:nvSpPr>
        <p:spPr>
          <a:xfrm>
            <a:off x="2923032" y="4160520"/>
            <a:ext cx="64008" cy="1170432"/>
          </a:xfrm>
          <a:prstGeom prst="rect">
            <a:avLst/>
          </a:prstGeom>
          <a:solidFill>
            <a:schemeClr val="accent4"/>
          </a:solidFill>
          <a:ln/>
        </p:spPr>
      </p:sp>
      <p:sp>
        <p:nvSpPr>
          <p:cNvPr id="54" name="Icon disc LuSearch"/>
          <p:cNvSpPr/>
          <p:nvPr/>
        </p:nvSpPr>
        <p:spPr>
          <a:xfrm>
            <a:off x="4419600" y="4114800"/>
            <a:ext cx="402336" cy="402336"/>
          </a:xfrm>
          <a:prstGeom prst="ellipse">
            <a:avLst/>
          </a:prstGeom>
          <a:solidFill>
            <a:schemeClr val="accent4">
              <a:alpha val="15000"/>
            </a:schemeClr>
          </a:solidFill>
          <a:ln/>
        </p:spPr>
      </p:sp>
      <p:pic>
        <p:nvPicPr>
          <p:cNvPr id="55" name="Image 1" descr="Search icon">    </p:cNvPr>
          <p:cNvPicPr>
            <a:picLocks noChangeAspect="1"/>
          </p:cNvPicPr>
          <p:nvPr/>
        </p:nvPicPr>
        <p:blipFill>
          <a:blip r:embed="rId2"/>
          <a:stretch>
            <a:fillRect/>
          </a:stretch>
        </p:blipFill>
        <p:spPr>
          <a:xfrm>
            <a:off x="4508114" y="4203314"/>
            <a:ext cx="225308" cy="225308"/>
          </a:xfrm>
          <a:prstGeom prst="rect">
            <a:avLst/>
          </a:prstGeom>
        </p:spPr>
      </p:pic>
      <p:sp>
        <p:nvSpPr>
          <p:cNvPr id="56" name="Text 51"/>
          <p:cNvSpPr txBox="1"/>
          <p:nvPr/>
        </p:nvSpPr>
        <p:spPr>
          <a:xfrm>
            <a:off x="3151632" y="4069080"/>
            <a:ext cx="1194816" cy="685800"/>
          </a:xfrm>
          <a:prstGeom prst="rect">
            <a:avLst/>
          </a:prstGeom>
          <a:noFill/>
          <a:ln/>
        </p:spPr>
        <p:txBody>
          <a:bodyPr wrap="square" lIns="0" tIns="0" rIns="0" bIns="0" rtlCol="0" anchor="ctr"/>
          <a:lstStyle/>
          <a:p>
            <a:pPr indent="0" marL="0">
              <a:buNone/>
            </a:pPr>
            <a:r>
              <a:rPr lang="en-US" sz="2600" b="1" dirty="0">
                <a:solidFill>
                  <a:schemeClr val="accent4"/>
                </a:solidFill>
              </a:rPr>
              <a:t>1,080</a:t>
            </a:r>
            <a:endParaRPr lang="en-US" sz="2600" dirty="0"/>
          </a:p>
        </p:txBody>
      </p:sp>
      <p:sp>
        <p:nvSpPr>
          <p:cNvPr id="57" name="Text 52"/>
          <p:cNvSpPr txBox="1"/>
          <p:nvPr/>
        </p:nvSpPr>
        <p:spPr>
          <a:xfrm>
            <a:off x="3151632" y="4754880"/>
            <a:ext cx="1697736" cy="292608"/>
          </a:xfrm>
          <a:prstGeom prst="rect">
            <a:avLst/>
          </a:prstGeom>
          <a:noFill/>
          <a:ln/>
        </p:spPr>
        <p:txBody>
          <a:bodyPr wrap="square" lIns="0" tIns="0" rIns="0" bIns="0" rtlCol="0" anchor="t"/>
          <a:lstStyle/>
          <a:p>
            <a:pPr indent="0" marL="0">
              <a:buNone/>
            </a:pPr>
            <a:r>
              <a:rPr lang="en-US" sz="1200" b="1" dirty="0">
                <a:solidFill>
                  <a:schemeClr val="tx1"/>
                </a:solidFill>
              </a:rPr>
              <a:t>Traced by Aug 2018</a:t>
            </a:r>
            <a:endParaRPr lang="en-US" sz="1200" dirty="0"/>
          </a:p>
        </p:txBody>
      </p:sp>
      <p:sp>
        <p:nvSpPr>
          <p:cNvPr id="58" name="Text 53"/>
          <p:cNvSpPr txBox="1"/>
          <p:nvPr/>
        </p:nvSpPr>
        <p:spPr>
          <a:xfrm>
            <a:off x="3151632" y="5029200"/>
            <a:ext cx="1697736" cy="484632"/>
          </a:xfrm>
          <a:prstGeom prst="rect">
            <a:avLst/>
          </a:prstGeom>
          <a:noFill/>
          <a:ln/>
        </p:spPr>
        <p:txBody>
          <a:bodyPr wrap="square" lIns="0" tIns="0" rIns="0" bIns="0" rtlCol="0" anchor="t"/>
          <a:lstStyle/>
          <a:p>
            <a:pPr indent="0" marL="0">
              <a:buNone/>
            </a:pPr>
            <a:r>
              <a:rPr lang="en-US" sz="950" dirty="0">
                <a:solidFill>
                  <a:schemeClr val="accent5"/>
                </a:solidFill>
              </a:rPr>
              <a:t>275 had revision surgery (Agarwal committee, 19 Feb 2018)</a:t>
            </a:r>
            <a:endParaRPr lang="en-US" sz="950" dirty="0"/>
          </a:p>
        </p:txBody>
      </p:sp>
      <p:sp>
        <p:nvSpPr>
          <p:cNvPr id="59" name="Stat Compensation base"/>
          <p:cNvSpPr/>
          <p:nvPr/>
        </p:nvSpPr>
        <p:spPr>
          <a:xfrm>
            <a:off x="5132832" y="3931920"/>
            <a:ext cx="2063496" cy="1627632"/>
          </a:xfrm>
          <a:prstGeom prst="roundRect">
            <a:avLst>
              <a:gd name="adj" fmla="val 6742"/>
            </a:avLst>
          </a:prstGeom>
          <a:solidFill>
            <a:schemeClr val="bg1"/>
          </a:solidFill>
          <a:ln w="9525">
            <a:solidFill>
              <a:srgbClr val="D5DFDD"/>
            </a:solidFill>
            <a:prstDash val="solid"/>
          </a:ln>
          <a:effectLst>
            <a:outerShdw sx="100000" sy="100000" kx="0" ky="0" algn="bl" rotWithShape="0" blurRad="76200" dist="25400" dir="5400000">
              <a:srgbClr val="000000">
                <a:alpha val="10000"/>
              </a:srgbClr>
            </a:outerShdw>
          </a:effectLst>
        </p:spPr>
      </p:sp>
      <p:sp>
        <p:nvSpPr>
          <p:cNvPr id="60" name="Stat accent"/>
          <p:cNvSpPr/>
          <p:nvPr/>
        </p:nvSpPr>
        <p:spPr>
          <a:xfrm>
            <a:off x="5132832" y="4160520"/>
            <a:ext cx="64008" cy="1170432"/>
          </a:xfrm>
          <a:prstGeom prst="rect">
            <a:avLst/>
          </a:prstGeom>
          <a:solidFill>
            <a:schemeClr val="accent2"/>
          </a:solidFill>
          <a:ln/>
        </p:spPr>
      </p:sp>
      <p:sp>
        <p:nvSpPr>
          <p:cNvPr id="61" name="Icon disc LuBanknote"/>
          <p:cNvSpPr/>
          <p:nvPr/>
        </p:nvSpPr>
        <p:spPr>
          <a:xfrm>
            <a:off x="6629400" y="4114800"/>
            <a:ext cx="402336" cy="402336"/>
          </a:xfrm>
          <a:prstGeom prst="ellipse">
            <a:avLst/>
          </a:prstGeom>
          <a:solidFill>
            <a:schemeClr val="accent2">
              <a:alpha val="15000"/>
            </a:schemeClr>
          </a:solidFill>
          <a:ln/>
        </p:spPr>
      </p:sp>
      <p:pic>
        <p:nvPicPr>
          <p:cNvPr id="62" name="Image 2" descr="Banknote icon">    </p:cNvPr>
          <p:cNvPicPr>
            <a:picLocks noChangeAspect="1"/>
          </p:cNvPicPr>
          <p:nvPr/>
        </p:nvPicPr>
        <p:blipFill>
          <a:blip r:embed="rId3"/>
          <a:stretch>
            <a:fillRect/>
          </a:stretch>
        </p:blipFill>
        <p:spPr>
          <a:xfrm>
            <a:off x="6717914" y="4203314"/>
            <a:ext cx="225308" cy="225308"/>
          </a:xfrm>
          <a:prstGeom prst="rect">
            <a:avLst/>
          </a:prstGeom>
        </p:spPr>
      </p:pic>
      <p:sp>
        <p:nvSpPr>
          <p:cNvPr id="63" name="Text 57"/>
          <p:cNvSpPr txBox="1"/>
          <p:nvPr/>
        </p:nvSpPr>
        <p:spPr>
          <a:xfrm>
            <a:off x="5361432" y="4069080"/>
            <a:ext cx="1194816" cy="685800"/>
          </a:xfrm>
          <a:prstGeom prst="rect">
            <a:avLst/>
          </a:prstGeom>
          <a:noFill/>
          <a:ln/>
        </p:spPr>
        <p:txBody>
          <a:bodyPr wrap="square" lIns="0" tIns="0" rIns="0" bIns="0" rtlCol="0" anchor="ctr"/>
          <a:lstStyle/>
          <a:p>
            <a:pPr indent="0" marL="0">
              <a:buNone/>
            </a:pPr>
            <a:r>
              <a:rPr lang="en-US" sz="2400" b="1" dirty="0">
                <a:solidFill>
                  <a:schemeClr val="accent2"/>
                </a:solidFill>
              </a:rPr>
              <a:t>₹20 lakh</a:t>
            </a:r>
            <a:endParaRPr lang="en-US" sz="2400" dirty="0"/>
          </a:p>
        </p:txBody>
      </p:sp>
      <p:sp>
        <p:nvSpPr>
          <p:cNvPr id="64" name="Text 58"/>
          <p:cNvSpPr txBox="1"/>
          <p:nvPr/>
        </p:nvSpPr>
        <p:spPr>
          <a:xfrm>
            <a:off x="5361432" y="4754880"/>
            <a:ext cx="1697736" cy="292608"/>
          </a:xfrm>
          <a:prstGeom prst="rect">
            <a:avLst/>
          </a:prstGeom>
          <a:noFill/>
          <a:ln/>
        </p:spPr>
        <p:txBody>
          <a:bodyPr wrap="square" lIns="0" tIns="0" rIns="0" bIns="0" rtlCol="0" anchor="t"/>
          <a:lstStyle/>
          <a:p>
            <a:pPr indent="0" marL="0">
              <a:buNone/>
            </a:pPr>
            <a:r>
              <a:rPr lang="en-US" sz="1200" b="1" dirty="0">
                <a:solidFill>
                  <a:schemeClr val="tx1"/>
                </a:solidFill>
              </a:rPr>
              <a:t>Compensation base</a:t>
            </a:r>
            <a:endParaRPr lang="en-US" sz="1200" dirty="0"/>
          </a:p>
        </p:txBody>
      </p:sp>
      <p:sp>
        <p:nvSpPr>
          <p:cNvPr id="65" name="Text 59"/>
          <p:cNvSpPr txBox="1"/>
          <p:nvPr/>
        </p:nvSpPr>
        <p:spPr>
          <a:xfrm>
            <a:off x="5361432" y="5029200"/>
            <a:ext cx="1697736" cy="484632"/>
          </a:xfrm>
          <a:prstGeom prst="rect">
            <a:avLst/>
          </a:prstGeom>
          <a:noFill/>
          <a:ln/>
        </p:spPr>
        <p:txBody>
          <a:bodyPr wrap="square" lIns="0" tIns="0" rIns="0" bIns="0" rtlCol="0" anchor="t"/>
          <a:lstStyle/>
          <a:p>
            <a:pPr indent="0" marL="0">
              <a:buNone/>
            </a:pPr>
            <a:r>
              <a:rPr lang="en-US" sz="950" dirty="0">
                <a:solidFill>
                  <a:schemeClr val="accent5"/>
                </a:solidFill>
              </a:rPr>
              <a:t>Formula approved 29 Nov 2018; awards ₹30 lakh to ₹1.23 crore by disability and age</a:t>
            </a:r>
            <a:endParaRPr lang="en-US" sz="950" dirty="0"/>
          </a:p>
        </p:txBody>
      </p:sp>
      <p:sp>
        <p:nvSpPr>
          <p:cNvPr id="66" name="Callout"/>
          <p:cNvSpPr/>
          <p:nvPr/>
        </p:nvSpPr>
        <p:spPr>
          <a:xfrm>
            <a:off x="713232" y="5641848"/>
            <a:ext cx="6483096" cy="438912"/>
          </a:xfrm>
          <a:prstGeom prst="roundRect">
            <a:avLst>
              <a:gd name="adj" fmla="val 16667"/>
            </a:avLst>
          </a:prstGeom>
          <a:solidFill>
            <a:schemeClr val="accent3">
              <a:alpha val="12000"/>
            </a:schemeClr>
          </a:solidFill>
          <a:ln/>
        </p:spPr>
      </p:sp>
      <p:sp>
        <p:nvSpPr>
          <p:cNvPr id="67" name="Callout bar"/>
          <p:cNvSpPr/>
          <p:nvPr/>
        </p:nvSpPr>
        <p:spPr>
          <a:xfrm>
            <a:off x="713232" y="5733288"/>
            <a:ext cx="64008" cy="256032"/>
          </a:xfrm>
          <a:prstGeom prst="rect">
            <a:avLst/>
          </a:prstGeom>
          <a:solidFill>
            <a:schemeClr val="accent3"/>
          </a:solidFill>
          <a:ln/>
        </p:spPr>
      </p:sp>
      <p:sp>
        <p:nvSpPr>
          <p:cNvPr id="68" name="Text 62"/>
          <p:cNvSpPr txBox="1"/>
          <p:nvPr/>
        </p:nvSpPr>
        <p:spPr>
          <a:xfrm>
            <a:off x="987552" y="5641848"/>
            <a:ext cx="6071616" cy="438912"/>
          </a:xfrm>
          <a:prstGeom prst="rect">
            <a:avLst/>
          </a:prstGeom>
          <a:noFill/>
          <a:ln/>
        </p:spPr>
        <p:txBody>
          <a:bodyPr wrap="square" lIns="0" tIns="0" rIns="0" bIns="0" rtlCol="0" anchor="ctr"/>
          <a:lstStyle/>
          <a:p>
            <a:pPr indent="0" marL="0">
              <a:buNone/>
            </a:pPr>
            <a:r>
              <a:rPr lang="en-US" sz="1000" b="1" dirty="0">
                <a:solidFill>
                  <a:schemeClr val="tx1"/>
                </a:solidFill>
              </a:rPr>
              <a:t>Traceability starts on day one: a serial number on every unit, a registry, an in-app ‘report a problem’ button, a phone line that answers.</a:t>
            </a:r>
            <a:endParaRPr lang="en-US" sz="1000" dirty="0"/>
          </a:p>
        </p:txBody>
      </p:sp>
      <p:sp>
        <p:nvSpPr>
          <p:cNvPr id="69" name="MvPI card"/>
          <p:cNvSpPr/>
          <p:nvPr/>
        </p:nvSpPr>
        <p:spPr>
          <a:xfrm>
            <a:off x="7589520" y="3520440"/>
            <a:ext cx="4053535" cy="2651760"/>
          </a:xfrm>
          <a:prstGeom prst="roundRect">
            <a:avLst>
              <a:gd name="adj" fmla="val 4828"/>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70" name="MvPI accent"/>
          <p:cNvSpPr/>
          <p:nvPr/>
        </p:nvSpPr>
        <p:spPr>
          <a:xfrm>
            <a:off x="7589520" y="3685032"/>
            <a:ext cx="64008" cy="2322576"/>
          </a:xfrm>
          <a:prstGeom prst="rect">
            <a:avLst/>
          </a:prstGeom>
          <a:solidFill>
            <a:schemeClr val="accent1"/>
          </a:solidFill>
          <a:ln/>
        </p:spPr>
      </p:sp>
      <p:sp>
        <p:nvSpPr>
          <p:cNvPr id="71" name="Text 65"/>
          <p:cNvSpPr txBox="1"/>
          <p:nvPr/>
        </p:nvSpPr>
        <p:spPr>
          <a:xfrm>
            <a:off x="7790688" y="3593592"/>
            <a:ext cx="3733495" cy="274320"/>
          </a:xfrm>
          <a:prstGeom prst="rect">
            <a:avLst/>
          </a:prstGeom>
          <a:noFill/>
          <a:ln/>
        </p:spPr>
        <p:txBody>
          <a:bodyPr wrap="square" lIns="0" tIns="0" rIns="0" bIns="0" rtlCol="0" anchor="ctr"/>
          <a:lstStyle/>
          <a:p>
            <a:pPr indent="0" marL="0">
              <a:buNone/>
            </a:pPr>
            <a:r>
              <a:rPr lang="en-US" sz="1100" b="1" dirty="0">
                <a:solidFill>
                  <a:schemeClr val="tx1"/>
                </a:solidFill>
              </a:rPr>
              <a:t>Report to MvPI (IPC Ghaziabad, since 6 Jul 2015)</a:t>
            </a:r>
            <a:endParaRPr lang="en-US" sz="1100" dirty="0"/>
          </a:p>
        </p:txBody>
      </p:sp>
      <p:sp>
        <p:nvSpPr>
          <p:cNvPr id="72" name="Icon disc LuFileText"/>
          <p:cNvSpPr/>
          <p:nvPr/>
        </p:nvSpPr>
        <p:spPr>
          <a:xfrm>
            <a:off x="7790688" y="3959352"/>
            <a:ext cx="365760" cy="365760"/>
          </a:xfrm>
          <a:prstGeom prst="ellipse">
            <a:avLst/>
          </a:prstGeom>
          <a:solidFill>
            <a:schemeClr val="accent1">
              <a:alpha val="15000"/>
            </a:schemeClr>
          </a:solidFill>
          <a:ln/>
        </p:spPr>
      </p:sp>
      <p:pic>
        <p:nvPicPr>
          <p:cNvPr id="73" name="Image 3" descr="FileText icon">    </p:cNvPr>
          <p:cNvPicPr>
            <a:picLocks noChangeAspect="1"/>
          </p:cNvPicPr>
          <p:nvPr/>
        </p:nvPicPr>
        <p:blipFill>
          <a:blip r:embed="rId4"/>
          <a:stretch>
            <a:fillRect/>
          </a:stretch>
        </p:blipFill>
        <p:spPr>
          <a:xfrm>
            <a:off x="7871155" y="4039819"/>
            <a:ext cx="204826" cy="204826"/>
          </a:xfrm>
          <a:prstGeom prst="rect">
            <a:avLst/>
          </a:prstGeom>
        </p:spPr>
      </p:pic>
      <p:sp>
        <p:nvSpPr>
          <p:cNvPr id="74" name="Text 67"/>
          <p:cNvSpPr txBox="1"/>
          <p:nvPr/>
        </p:nvSpPr>
        <p:spPr>
          <a:xfrm>
            <a:off x="8247888" y="3904488"/>
            <a:ext cx="3230575" cy="548640"/>
          </a:xfrm>
          <a:prstGeom prst="rect">
            <a:avLst/>
          </a:prstGeom>
          <a:noFill/>
          <a:ln/>
        </p:spPr>
        <p:txBody>
          <a:bodyPr wrap="square" lIns="0" tIns="0" rIns="0" bIns="0" rtlCol="0" anchor="t"/>
          <a:lstStyle/>
          <a:p>
            <a:pPr indent="0" marL="0">
              <a:buNone/>
            </a:pPr>
            <a:r>
              <a:rPr lang="en-US" sz="1000" b="1" dirty="0">
                <a:solidFill>
                  <a:schemeClr val="tx1"/>
                </a:solidFill>
              </a:rPr>
              <a:t>MDAE form v1.2</a:t>
            </a:r>
            <a:endParaRPr lang="en-US" sz="1000" dirty="0"/>
          </a:p>
          <a:p>
            <a:pPr indent="0" marL="0">
              <a:buNone/>
            </a:pPr>
            <a:r>
              <a:rPr lang="en-US" sz="900" dirty="0">
                <a:solidFill>
                  <a:schemeClr val="tx2"/>
                </a:solidFill>
              </a:rPr>
              <a:t>Open to makers, importers, distributors, clinicians and patients; FSCA form for recalls</a:t>
            </a:r>
            <a:endParaRPr lang="en-US" sz="1000" dirty="0"/>
          </a:p>
        </p:txBody>
      </p:sp>
      <p:sp>
        <p:nvSpPr>
          <p:cNvPr id="75" name="Icon disc LuPhone"/>
          <p:cNvSpPr/>
          <p:nvPr/>
        </p:nvSpPr>
        <p:spPr>
          <a:xfrm>
            <a:off x="7790688" y="4507992"/>
            <a:ext cx="365760" cy="365760"/>
          </a:xfrm>
          <a:prstGeom prst="ellipse">
            <a:avLst/>
          </a:prstGeom>
          <a:solidFill>
            <a:schemeClr val="accent1">
              <a:alpha val="15000"/>
            </a:schemeClr>
          </a:solidFill>
          <a:ln/>
        </p:spPr>
      </p:sp>
      <p:pic>
        <p:nvPicPr>
          <p:cNvPr id="76" name="Image 4" descr="Phone icon">    </p:cNvPr>
          <p:cNvPicPr>
            <a:picLocks noChangeAspect="1"/>
          </p:cNvPicPr>
          <p:nvPr/>
        </p:nvPicPr>
        <p:blipFill>
          <a:blip r:embed="rId5"/>
          <a:stretch>
            <a:fillRect/>
          </a:stretch>
        </p:blipFill>
        <p:spPr>
          <a:xfrm>
            <a:off x="7871155" y="4588459"/>
            <a:ext cx="204826" cy="204826"/>
          </a:xfrm>
          <a:prstGeom prst="rect">
            <a:avLst/>
          </a:prstGeom>
        </p:spPr>
      </p:pic>
      <p:sp>
        <p:nvSpPr>
          <p:cNvPr id="77" name="Text 69"/>
          <p:cNvSpPr txBox="1"/>
          <p:nvPr/>
        </p:nvSpPr>
        <p:spPr>
          <a:xfrm>
            <a:off x="8247888" y="4453128"/>
            <a:ext cx="3230575" cy="548640"/>
          </a:xfrm>
          <a:prstGeom prst="rect">
            <a:avLst/>
          </a:prstGeom>
          <a:noFill/>
          <a:ln/>
        </p:spPr>
        <p:txBody>
          <a:bodyPr wrap="square" lIns="0" tIns="0" rIns="0" bIns="0" rtlCol="0" anchor="t"/>
          <a:lstStyle/>
          <a:p>
            <a:pPr indent="0" marL="0">
              <a:buNone/>
            </a:pPr>
            <a:r>
              <a:rPr lang="en-US" sz="1000" b="1" dirty="0">
                <a:solidFill>
                  <a:schemeClr val="tx1"/>
                </a:solidFill>
              </a:rPr>
              <a:t>1800 180 3024 · mvpi-ipc@gov.in</a:t>
            </a:r>
            <a:endParaRPr lang="en-US" sz="1000" dirty="0"/>
          </a:p>
          <a:p>
            <a:pPr indent="0" marL="0">
              <a:buNone/>
            </a:pPr>
            <a:r>
              <a:rPr lang="en-US" sz="900" dirty="0">
                <a:solidFill>
                  <a:schemeClr val="tx2"/>
                </a:solidFill>
              </a:rPr>
              <a:t>Helpline Mon–Fri 09:00–17:30; 174 monitoring centres (2022 figure)</a:t>
            </a:r>
            <a:endParaRPr lang="en-US" sz="1000" dirty="0"/>
          </a:p>
        </p:txBody>
      </p:sp>
      <p:sp>
        <p:nvSpPr>
          <p:cNvPr id="78" name="Icon disc LuGavel"/>
          <p:cNvSpPr/>
          <p:nvPr/>
        </p:nvSpPr>
        <p:spPr>
          <a:xfrm>
            <a:off x="7790688" y="5056632"/>
            <a:ext cx="365760" cy="365760"/>
          </a:xfrm>
          <a:prstGeom prst="ellipse">
            <a:avLst/>
          </a:prstGeom>
          <a:solidFill>
            <a:schemeClr val="accent1">
              <a:alpha val="15000"/>
            </a:schemeClr>
          </a:solidFill>
          <a:ln/>
        </p:spPr>
      </p:sp>
      <p:pic>
        <p:nvPicPr>
          <p:cNvPr id="79" name="Image 5" descr="Gavel icon">    </p:cNvPr>
          <p:cNvPicPr>
            <a:picLocks noChangeAspect="1"/>
          </p:cNvPicPr>
          <p:nvPr/>
        </p:nvPicPr>
        <p:blipFill>
          <a:blip r:embed="rId6"/>
          <a:stretch>
            <a:fillRect/>
          </a:stretch>
        </p:blipFill>
        <p:spPr>
          <a:xfrm>
            <a:off x="7871155" y="5137099"/>
            <a:ext cx="204826" cy="204826"/>
          </a:xfrm>
          <a:prstGeom prst="rect">
            <a:avLst/>
          </a:prstGeom>
        </p:spPr>
      </p:pic>
      <p:sp>
        <p:nvSpPr>
          <p:cNvPr id="80" name="Text 71"/>
          <p:cNvSpPr txBox="1"/>
          <p:nvPr/>
        </p:nvSpPr>
        <p:spPr>
          <a:xfrm>
            <a:off x="8247888" y="5001768"/>
            <a:ext cx="3230575" cy="548640"/>
          </a:xfrm>
          <a:prstGeom prst="rect">
            <a:avLst/>
          </a:prstGeom>
          <a:noFill/>
          <a:ln/>
        </p:spPr>
        <p:txBody>
          <a:bodyPr wrap="square" lIns="0" tIns="0" rIns="0" bIns="0" rtlCol="0" anchor="t"/>
          <a:lstStyle/>
          <a:p>
            <a:pPr indent="0" marL="0">
              <a:buNone/>
            </a:pPr>
            <a:r>
              <a:rPr lang="en-US" sz="1000" b="1" dirty="0">
                <a:solidFill>
                  <a:schemeClr val="tx1"/>
                </a:solidFill>
              </a:rPr>
              <a:t>CDSCO circular, 15 May 2024</a:t>
            </a:r>
            <a:endParaRPr lang="en-US" sz="1000" dirty="0"/>
          </a:p>
          <a:p>
            <a:pPr indent="0" marL="0">
              <a:buNone/>
            </a:pPr>
            <a:r>
              <a:rPr lang="en-US" sz="900" dirty="0">
                <a:solidFill>
                  <a:schemeClr val="tx2"/>
                </a:solidFill>
              </a:rPr>
              <a:t>Every licence holder must report suspected unexpected serious adverse events to MvPI</a:t>
            </a:r>
            <a:endParaRPr lang="en-US" sz="1000" dirty="0"/>
          </a:p>
        </p:txBody>
      </p:sp>
      <p:sp>
        <p:nvSpPr>
          <p:cNvPr id="81" name="Icon disc LuGlobe"/>
          <p:cNvSpPr/>
          <p:nvPr/>
        </p:nvSpPr>
        <p:spPr>
          <a:xfrm>
            <a:off x="7790688" y="5605272"/>
            <a:ext cx="365760" cy="365760"/>
          </a:xfrm>
          <a:prstGeom prst="ellipse">
            <a:avLst/>
          </a:prstGeom>
          <a:solidFill>
            <a:schemeClr val="accent1">
              <a:alpha val="15000"/>
            </a:schemeClr>
          </a:solidFill>
          <a:ln/>
        </p:spPr>
      </p:sp>
      <p:pic>
        <p:nvPicPr>
          <p:cNvPr id="82" name="Image 6" descr="Globe icon">    </p:cNvPr>
          <p:cNvPicPr>
            <a:picLocks noChangeAspect="1"/>
          </p:cNvPicPr>
          <p:nvPr/>
        </p:nvPicPr>
        <p:blipFill>
          <a:blip r:embed="rId7"/>
          <a:stretch>
            <a:fillRect/>
          </a:stretch>
        </p:blipFill>
        <p:spPr>
          <a:xfrm>
            <a:off x="7871155" y="5685739"/>
            <a:ext cx="204826" cy="204826"/>
          </a:xfrm>
          <a:prstGeom prst="rect">
            <a:avLst/>
          </a:prstGeom>
        </p:spPr>
      </p:pic>
      <p:sp>
        <p:nvSpPr>
          <p:cNvPr id="83" name="Text 73"/>
          <p:cNvSpPr txBox="1"/>
          <p:nvPr/>
        </p:nvSpPr>
        <p:spPr>
          <a:xfrm>
            <a:off x="8247888" y="5550408"/>
            <a:ext cx="3230575" cy="548640"/>
          </a:xfrm>
          <a:prstGeom prst="rect">
            <a:avLst/>
          </a:prstGeom>
          <a:noFill/>
          <a:ln/>
        </p:spPr>
        <p:txBody>
          <a:bodyPr wrap="square" lIns="0" tIns="0" rIns="0" bIns="0" rtlCol="0" anchor="t"/>
          <a:lstStyle/>
          <a:p>
            <a:pPr indent="0" marL="0">
              <a:buNone/>
            </a:pPr>
            <a:r>
              <a:rPr lang="en-US" sz="1000" b="1" dirty="0">
                <a:solidFill>
                  <a:schemeClr val="tx1"/>
                </a:solidFill>
              </a:rPr>
              <a:t>Abroad: mostly passive too</a:t>
            </a:r>
            <a:endParaRPr lang="en-US" sz="1000" dirty="0"/>
          </a:p>
          <a:p>
            <a:pPr indent="0" marL="0">
              <a:buNone/>
            </a:pPr>
            <a:r>
              <a:rPr lang="en-US" sz="900" dirty="0">
                <a:solidFill>
                  <a:schemeClr val="tx2"/>
                </a:solidFill>
              </a:rPr>
              <a:t>US, EU, Japan and China rely mainly on passive reporting (Kramer 2013); the UK Cumberlege Review (2020) urged a device registry and a Patient Safety Commissioner</a:t>
            </a:r>
            <a:endParaRPr lang="en-US" sz="10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CLOSING VOTE</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bg1"/>
                </a:solidFill>
              </a:rPr>
              <a:t>Would you let a patient use it now?</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6"/>
                </a:solidFill>
              </a:rPr>
              <a:t>Sources: FoGO project material (MD-13 test licence, 25 units, 10 Aug 2026; public-dataset F1, project-reported); MDR-2017 Forms MD-12/13 and MD-22/23; NDCT Rules 2019</a:t>
            </a:r>
            <a:endParaRPr lang="en-US" sz="950" dirty="0"/>
          </a:p>
        </p:txBody>
      </p:sp>
      <p:sp>
        <p:nvSpPr>
          <p:cNvPr id="6" name="Text 3"/>
          <p:cNvSpPr txBox="1"/>
          <p:nvPr/>
        </p:nvSpPr>
        <p:spPr>
          <a:xfrm>
            <a:off x="548640" y="1536192"/>
            <a:ext cx="5486400" cy="256032"/>
          </a:xfrm>
          <a:prstGeom prst="rect">
            <a:avLst/>
          </a:prstGeom>
          <a:noFill/>
          <a:ln/>
        </p:spPr>
        <p:txBody>
          <a:bodyPr wrap="square" lIns="0" tIns="0" rIns="0" bIns="0" rtlCol="0" anchor="t"/>
          <a:lstStyle/>
          <a:p>
            <a:pPr indent="0" marL="0">
              <a:buNone/>
            </a:pPr>
            <a:r>
              <a:rPr lang="en-US" sz="1200" b="1" dirty="0">
                <a:solidFill>
                  <a:schemeClr val="accent6"/>
                </a:solidFill>
              </a:rPr>
              <a:t>The same three facts as the opening vote</a:t>
            </a:r>
            <a:endParaRPr lang="en-US" sz="1200" dirty="0"/>
          </a:p>
        </p:txBody>
      </p:sp>
      <p:sp>
        <p:nvSpPr>
          <p:cNvPr id="7" name="Icon disc LuCpu"/>
          <p:cNvSpPr/>
          <p:nvPr/>
        </p:nvSpPr>
        <p:spPr>
          <a:xfrm>
            <a:off x="548640" y="1874520"/>
            <a:ext cx="566928" cy="566928"/>
          </a:xfrm>
          <a:prstGeom prst="ellipse">
            <a:avLst/>
          </a:prstGeom>
          <a:solidFill>
            <a:schemeClr val="accent6"/>
          </a:solidFill>
          <a:ln/>
        </p:spPr>
      </p:sp>
      <p:pic>
        <p:nvPicPr>
          <p:cNvPr id="8" name="Image 0" descr="Cpu icon">    </p:cNvPr>
          <p:cNvPicPr>
            <a:picLocks noChangeAspect="1"/>
          </p:cNvPicPr>
          <p:nvPr/>
        </p:nvPicPr>
        <p:blipFill>
          <a:blip r:embed="rId1"/>
          <a:stretch>
            <a:fillRect/>
          </a:stretch>
        </p:blipFill>
        <p:spPr>
          <a:xfrm>
            <a:off x="673364" y="1999244"/>
            <a:ext cx="317480" cy="317480"/>
          </a:xfrm>
          <a:prstGeom prst="rect">
            <a:avLst/>
          </a:prstGeom>
        </p:spPr>
      </p:pic>
      <p:sp>
        <p:nvSpPr>
          <p:cNvPr id="9" name="Text 5"/>
          <p:cNvSpPr txBox="1"/>
          <p:nvPr/>
        </p:nvSpPr>
        <p:spPr>
          <a:xfrm>
            <a:off x="1325880" y="1874520"/>
            <a:ext cx="4617720" cy="566928"/>
          </a:xfrm>
          <a:prstGeom prst="rect">
            <a:avLst/>
          </a:prstGeom>
          <a:noFill/>
          <a:ln/>
        </p:spPr>
        <p:txBody>
          <a:bodyPr wrap="square" lIns="0" tIns="0" rIns="0" bIns="0" rtlCol="0" anchor="ctr"/>
          <a:lstStyle/>
          <a:p>
            <a:pPr indent="0" marL="0">
              <a:buNone/>
            </a:pPr>
            <a:r>
              <a:rPr lang="en-US" sz="1800" dirty="0">
                <a:solidFill>
                  <a:schemeClr val="bg1"/>
                </a:solidFill>
              </a:rPr>
              <a:t>A working prototype</a:t>
            </a:r>
            <a:endParaRPr lang="en-US" sz="1800" dirty="0"/>
          </a:p>
        </p:txBody>
      </p:sp>
      <p:sp>
        <p:nvSpPr>
          <p:cNvPr id="10" name="Icon disc LuDatabase"/>
          <p:cNvSpPr/>
          <p:nvPr/>
        </p:nvSpPr>
        <p:spPr>
          <a:xfrm>
            <a:off x="548640" y="2606040"/>
            <a:ext cx="566928" cy="566928"/>
          </a:xfrm>
          <a:prstGeom prst="ellipse">
            <a:avLst/>
          </a:prstGeom>
          <a:solidFill>
            <a:schemeClr val="accent6"/>
          </a:solidFill>
          <a:ln/>
        </p:spPr>
      </p:sp>
      <p:pic>
        <p:nvPicPr>
          <p:cNvPr id="11" name="Image 1" descr="Database icon">    </p:cNvPr>
          <p:cNvPicPr>
            <a:picLocks noChangeAspect="1"/>
          </p:cNvPicPr>
          <p:nvPr/>
        </p:nvPicPr>
        <p:blipFill>
          <a:blip r:embed="rId2"/>
          <a:stretch>
            <a:fillRect/>
          </a:stretch>
        </p:blipFill>
        <p:spPr>
          <a:xfrm>
            <a:off x="673364" y="2730764"/>
            <a:ext cx="317480" cy="317480"/>
          </a:xfrm>
          <a:prstGeom prst="rect">
            <a:avLst/>
          </a:prstGeom>
        </p:spPr>
      </p:pic>
      <p:sp>
        <p:nvSpPr>
          <p:cNvPr id="12" name="Text 7"/>
          <p:cNvSpPr txBox="1"/>
          <p:nvPr/>
        </p:nvSpPr>
        <p:spPr>
          <a:xfrm>
            <a:off x="1325880" y="2606040"/>
            <a:ext cx="4617720" cy="566928"/>
          </a:xfrm>
          <a:prstGeom prst="rect">
            <a:avLst/>
          </a:prstGeom>
          <a:noFill/>
          <a:ln/>
        </p:spPr>
        <p:txBody>
          <a:bodyPr wrap="square" lIns="0" tIns="0" rIns="0" bIns="0" rtlCol="0" anchor="ctr"/>
          <a:lstStyle/>
          <a:p>
            <a:pPr indent="0" marL="0">
              <a:buNone/>
            </a:pPr>
            <a:r>
              <a:rPr lang="en-US" sz="1800" dirty="0">
                <a:solidFill>
                  <a:schemeClr val="bg1"/>
                </a:solidFill>
              </a:rPr>
              <a:t>Promising results on public datasets</a:t>
            </a:r>
            <a:endParaRPr lang="en-US" sz="1800" dirty="0"/>
          </a:p>
        </p:txBody>
      </p:sp>
      <p:sp>
        <p:nvSpPr>
          <p:cNvPr id="13" name="Icon disc LuFileCheck"/>
          <p:cNvSpPr/>
          <p:nvPr/>
        </p:nvSpPr>
        <p:spPr>
          <a:xfrm>
            <a:off x="548640" y="3337560"/>
            <a:ext cx="566928" cy="566928"/>
          </a:xfrm>
          <a:prstGeom prst="ellipse">
            <a:avLst/>
          </a:prstGeom>
          <a:solidFill>
            <a:schemeClr val="accent6"/>
          </a:solidFill>
          <a:ln/>
        </p:spPr>
      </p:sp>
      <p:pic>
        <p:nvPicPr>
          <p:cNvPr id="14" name="Image 2" descr="FileCheck icon">    </p:cNvPr>
          <p:cNvPicPr>
            <a:picLocks noChangeAspect="1"/>
          </p:cNvPicPr>
          <p:nvPr/>
        </p:nvPicPr>
        <p:blipFill>
          <a:blip r:embed="rId3"/>
          <a:stretch>
            <a:fillRect/>
          </a:stretch>
        </p:blipFill>
        <p:spPr>
          <a:xfrm>
            <a:off x="673364" y="3462284"/>
            <a:ext cx="317480" cy="317480"/>
          </a:xfrm>
          <a:prstGeom prst="rect">
            <a:avLst/>
          </a:prstGeom>
        </p:spPr>
      </p:pic>
      <p:sp>
        <p:nvSpPr>
          <p:cNvPr id="15" name="Text 9"/>
          <p:cNvSpPr txBox="1"/>
          <p:nvPr/>
        </p:nvSpPr>
        <p:spPr>
          <a:xfrm>
            <a:off x="1325880" y="3337560"/>
            <a:ext cx="4617720" cy="566928"/>
          </a:xfrm>
          <a:prstGeom prst="rect">
            <a:avLst/>
          </a:prstGeom>
          <a:noFill/>
          <a:ln/>
        </p:spPr>
        <p:txBody>
          <a:bodyPr wrap="square" lIns="0" tIns="0" rIns="0" bIns="0" rtlCol="0" anchor="ctr"/>
          <a:lstStyle/>
          <a:p>
            <a:pPr indent="0" marL="0">
              <a:buNone/>
            </a:pPr>
            <a:r>
              <a:rPr lang="en-US" sz="1800" dirty="0">
                <a:solidFill>
                  <a:schemeClr val="bg1"/>
                </a:solidFill>
              </a:rPr>
              <a:t>A test licence granted</a:t>
            </a:r>
            <a:endParaRPr lang="en-US" sz="1800" dirty="0"/>
          </a:p>
        </p:txBody>
      </p:sp>
      <p:sp>
        <p:nvSpPr>
          <p:cNvPr id="16" name="Text 10"/>
          <p:cNvSpPr txBox="1"/>
          <p:nvPr/>
        </p:nvSpPr>
        <p:spPr>
          <a:xfrm>
            <a:off x="548640" y="4005072"/>
            <a:ext cx="5486400" cy="256032"/>
          </a:xfrm>
          <a:prstGeom prst="rect">
            <a:avLst/>
          </a:prstGeom>
          <a:noFill/>
          <a:ln/>
        </p:spPr>
        <p:txBody>
          <a:bodyPr wrap="square" lIns="0" tIns="0" rIns="0" bIns="0" rtlCol="0" anchor="t"/>
          <a:lstStyle/>
          <a:p>
            <a:pPr indent="0" marL="0">
              <a:buNone/>
            </a:pPr>
            <a:r>
              <a:rPr lang="en-US" sz="1200" b="1" dirty="0">
                <a:solidFill>
                  <a:schemeClr val="accent6"/>
                </a:solidFill>
              </a:rPr>
              <a:t>Four questions to answer silently before you vote</a:t>
            </a:r>
            <a:endParaRPr lang="en-US" sz="1200" dirty="0"/>
          </a:p>
        </p:txBody>
      </p:sp>
      <p:sp>
        <p:nvSpPr>
          <p:cNvPr id="17" name="Pill Which patient?"/>
          <p:cNvSpPr/>
          <p:nvPr/>
        </p:nvSpPr>
        <p:spPr>
          <a:xfrm>
            <a:off x="548640" y="4315968"/>
            <a:ext cx="2606040" cy="347472"/>
          </a:xfrm>
          <a:prstGeom prst="roundRect">
            <a:avLst>
              <a:gd name="adj" fmla="val 50000"/>
            </a:avLst>
          </a:prstGeom>
          <a:solidFill>
            <a:schemeClr val="accent2"/>
          </a:solidFill>
          <a:ln w="15875">
            <a:solidFill>
              <a:schemeClr val="accent2"/>
            </a:solidFill>
            <a:prstDash val="solid"/>
          </a:ln>
        </p:spPr>
      </p:sp>
      <p:sp>
        <p:nvSpPr>
          <p:cNvPr id="18" name="Text 12"/>
          <p:cNvSpPr txBox="1"/>
          <p:nvPr/>
        </p:nvSpPr>
        <p:spPr>
          <a:xfrm>
            <a:off x="548640" y="4315968"/>
            <a:ext cx="2606040" cy="347472"/>
          </a:xfrm>
          <a:prstGeom prst="rect">
            <a:avLst/>
          </a:prstGeom>
          <a:noFill/>
          <a:ln/>
        </p:spPr>
        <p:txBody>
          <a:bodyPr wrap="square" lIns="0" tIns="0" rIns="0" bIns="0" rtlCol="0" anchor="ctr"/>
          <a:lstStyle/>
          <a:p>
            <a:pPr algn="ctr" indent="0" marL="0">
              <a:buNone/>
            </a:pPr>
            <a:r>
              <a:rPr lang="en-US" sz="1200" b="1" dirty="0">
                <a:solidFill>
                  <a:srgbClr val="0E3B3D"/>
                </a:solidFill>
              </a:rPr>
              <a:t>Which patient?</a:t>
            </a:r>
            <a:endParaRPr lang="en-US" sz="1200" dirty="0"/>
          </a:p>
        </p:txBody>
      </p:sp>
      <p:sp>
        <p:nvSpPr>
          <p:cNvPr id="19" name="Pill Which use?"/>
          <p:cNvSpPr/>
          <p:nvPr/>
        </p:nvSpPr>
        <p:spPr>
          <a:xfrm>
            <a:off x="3273552" y="4315968"/>
            <a:ext cx="2606040" cy="347472"/>
          </a:xfrm>
          <a:prstGeom prst="roundRect">
            <a:avLst>
              <a:gd name="adj" fmla="val 50000"/>
            </a:avLst>
          </a:prstGeom>
          <a:solidFill>
            <a:schemeClr val="accent2"/>
          </a:solidFill>
          <a:ln w="15875">
            <a:solidFill>
              <a:schemeClr val="accent2"/>
            </a:solidFill>
            <a:prstDash val="solid"/>
          </a:ln>
        </p:spPr>
      </p:sp>
      <p:sp>
        <p:nvSpPr>
          <p:cNvPr id="20" name="Text 14"/>
          <p:cNvSpPr txBox="1"/>
          <p:nvPr/>
        </p:nvSpPr>
        <p:spPr>
          <a:xfrm>
            <a:off x="3273552" y="4315968"/>
            <a:ext cx="2606040" cy="347472"/>
          </a:xfrm>
          <a:prstGeom prst="rect">
            <a:avLst/>
          </a:prstGeom>
          <a:noFill/>
          <a:ln/>
        </p:spPr>
        <p:txBody>
          <a:bodyPr wrap="square" lIns="0" tIns="0" rIns="0" bIns="0" rtlCol="0" anchor="ctr"/>
          <a:lstStyle/>
          <a:p>
            <a:pPr algn="ctr" indent="0" marL="0">
              <a:buNone/>
            </a:pPr>
            <a:r>
              <a:rPr lang="en-US" sz="1200" b="1" dirty="0">
                <a:solidFill>
                  <a:srgbClr val="0E3B3D"/>
                </a:solidFill>
              </a:rPr>
              <a:t>Which use?</a:t>
            </a:r>
            <a:endParaRPr lang="en-US" sz="1200" dirty="0"/>
          </a:p>
        </p:txBody>
      </p:sp>
      <p:sp>
        <p:nvSpPr>
          <p:cNvPr id="21" name="Pill Which evidence?"/>
          <p:cNvSpPr/>
          <p:nvPr/>
        </p:nvSpPr>
        <p:spPr>
          <a:xfrm>
            <a:off x="548640" y="4736592"/>
            <a:ext cx="2606040" cy="347472"/>
          </a:xfrm>
          <a:prstGeom prst="roundRect">
            <a:avLst>
              <a:gd name="adj" fmla="val 50000"/>
            </a:avLst>
          </a:prstGeom>
          <a:solidFill>
            <a:schemeClr val="accent2"/>
          </a:solidFill>
          <a:ln w="15875">
            <a:solidFill>
              <a:schemeClr val="accent2"/>
            </a:solidFill>
            <a:prstDash val="solid"/>
          </a:ln>
        </p:spPr>
      </p:sp>
      <p:sp>
        <p:nvSpPr>
          <p:cNvPr id="22" name="Text 16"/>
          <p:cNvSpPr txBox="1"/>
          <p:nvPr/>
        </p:nvSpPr>
        <p:spPr>
          <a:xfrm>
            <a:off x="548640" y="4736592"/>
            <a:ext cx="2606040" cy="347472"/>
          </a:xfrm>
          <a:prstGeom prst="rect">
            <a:avLst/>
          </a:prstGeom>
          <a:noFill/>
          <a:ln/>
        </p:spPr>
        <p:txBody>
          <a:bodyPr wrap="square" lIns="0" tIns="0" rIns="0" bIns="0" rtlCol="0" anchor="ctr"/>
          <a:lstStyle/>
          <a:p>
            <a:pPr algn="ctr" indent="0" marL="0">
              <a:buNone/>
            </a:pPr>
            <a:r>
              <a:rPr lang="en-US" sz="1200" b="1" dirty="0">
                <a:solidFill>
                  <a:srgbClr val="0E3B3D"/>
                </a:solidFill>
              </a:rPr>
              <a:t>Which evidence?</a:t>
            </a:r>
            <a:endParaRPr lang="en-US" sz="1200" dirty="0"/>
          </a:p>
        </p:txBody>
      </p:sp>
      <p:sp>
        <p:nvSpPr>
          <p:cNvPr id="23" name="Pill Who is responsible?"/>
          <p:cNvSpPr/>
          <p:nvPr/>
        </p:nvSpPr>
        <p:spPr>
          <a:xfrm>
            <a:off x="3273552" y="4736592"/>
            <a:ext cx="2606040" cy="347472"/>
          </a:xfrm>
          <a:prstGeom prst="roundRect">
            <a:avLst>
              <a:gd name="adj" fmla="val 50000"/>
            </a:avLst>
          </a:prstGeom>
          <a:solidFill>
            <a:schemeClr val="accent2"/>
          </a:solidFill>
          <a:ln w="15875">
            <a:solidFill>
              <a:schemeClr val="accent2"/>
            </a:solidFill>
            <a:prstDash val="solid"/>
          </a:ln>
        </p:spPr>
      </p:sp>
      <p:sp>
        <p:nvSpPr>
          <p:cNvPr id="24" name="Text 18"/>
          <p:cNvSpPr txBox="1"/>
          <p:nvPr/>
        </p:nvSpPr>
        <p:spPr>
          <a:xfrm>
            <a:off x="3273552" y="4736592"/>
            <a:ext cx="2606040" cy="347472"/>
          </a:xfrm>
          <a:prstGeom prst="rect">
            <a:avLst/>
          </a:prstGeom>
          <a:noFill/>
          <a:ln/>
        </p:spPr>
        <p:txBody>
          <a:bodyPr wrap="square" lIns="0" tIns="0" rIns="0" bIns="0" rtlCol="0" anchor="ctr"/>
          <a:lstStyle/>
          <a:p>
            <a:pPr algn="ctr" indent="0" marL="0">
              <a:buNone/>
            </a:pPr>
            <a:r>
              <a:rPr lang="en-US" sz="1200" b="1" dirty="0">
                <a:solidFill>
                  <a:srgbClr val="0E3B3D"/>
                </a:solidFill>
              </a:rPr>
              <a:t>Who is responsible?</a:t>
            </a:r>
            <a:endParaRPr lang="en-US" sz="1200" dirty="0"/>
          </a:p>
        </p:txBody>
      </p:sp>
      <p:sp>
        <p:nvSpPr>
          <p:cNvPr id="25" name="Text 19"/>
          <p:cNvSpPr txBox="1"/>
          <p:nvPr/>
        </p:nvSpPr>
        <p:spPr>
          <a:xfrm>
            <a:off x="548640" y="5285232"/>
            <a:ext cx="868680" cy="329184"/>
          </a:xfrm>
          <a:prstGeom prst="rect">
            <a:avLst/>
          </a:prstGeom>
          <a:noFill/>
          <a:ln/>
        </p:spPr>
        <p:txBody>
          <a:bodyPr wrap="square" lIns="0" tIns="0" rIns="0" bIns="0" rtlCol="0" anchor="ctr"/>
          <a:lstStyle/>
          <a:p>
            <a:pPr indent="0" marL="0">
              <a:buNone/>
            </a:pPr>
            <a:r>
              <a:rPr lang="en-US" sz="1100" b="1" dirty="0">
                <a:solidFill>
                  <a:schemeClr val="accent6"/>
                </a:solidFill>
              </a:rPr>
              <a:t>Opening</a:t>
            </a:r>
            <a:endParaRPr lang="en-US" sz="1100" dirty="0"/>
          </a:p>
        </p:txBody>
      </p:sp>
      <p:sp>
        <p:nvSpPr>
          <p:cNvPr id="26" name="Pill 1 = ____"/>
          <p:cNvSpPr/>
          <p:nvPr/>
        </p:nvSpPr>
        <p:spPr>
          <a:xfrm>
            <a:off x="1463040" y="5285232"/>
            <a:ext cx="1371600" cy="329184"/>
          </a:xfrm>
          <a:prstGeom prst="roundRect">
            <a:avLst>
              <a:gd name="adj" fmla="val 50000"/>
            </a:avLst>
          </a:prstGeom>
          <a:solidFill>
            <a:schemeClr val="tx2"/>
          </a:solidFill>
          <a:ln w="15875">
            <a:solidFill>
              <a:schemeClr val="accent6"/>
            </a:solidFill>
            <a:prstDash val="dash"/>
          </a:ln>
        </p:spPr>
      </p:sp>
      <p:sp>
        <p:nvSpPr>
          <p:cNvPr id="27" name="Text 21"/>
          <p:cNvSpPr txBox="1"/>
          <p:nvPr/>
        </p:nvSpPr>
        <p:spPr>
          <a:xfrm>
            <a:off x="1463040" y="5285232"/>
            <a:ext cx="1371600" cy="329184"/>
          </a:xfrm>
          <a:prstGeom prst="rect">
            <a:avLst/>
          </a:prstGeom>
          <a:noFill/>
          <a:ln/>
        </p:spPr>
        <p:txBody>
          <a:bodyPr wrap="square" lIns="0" tIns="0" rIns="0" bIns="0" rtlCol="0" anchor="ctr"/>
          <a:lstStyle/>
          <a:p>
            <a:pPr algn="ctr" indent="0" marL="0">
              <a:buNone/>
            </a:pPr>
            <a:r>
              <a:rPr lang="en-US" sz="1200" b="1" dirty="0">
                <a:solidFill>
                  <a:schemeClr val="accent6"/>
                </a:solidFill>
              </a:rPr>
              <a:t>1 = ____</a:t>
            </a:r>
            <a:endParaRPr lang="en-US" sz="1200" dirty="0"/>
          </a:p>
        </p:txBody>
      </p:sp>
      <p:sp>
        <p:nvSpPr>
          <p:cNvPr id="28" name="Pill 2 = ____"/>
          <p:cNvSpPr/>
          <p:nvPr/>
        </p:nvSpPr>
        <p:spPr>
          <a:xfrm>
            <a:off x="2971800" y="5285232"/>
            <a:ext cx="1371600" cy="329184"/>
          </a:xfrm>
          <a:prstGeom prst="roundRect">
            <a:avLst>
              <a:gd name="adj" fmla="val 50000"/>
            </a:avLst>
          </a:prstGeom>
          <a:solidFill>
            <a:schemeClr val="tx2"/>
          </a:solidFill>
          <a:ln w="15875">
            <a:solidFill>
              <a:schemeClr val="accent6"/>
            </a:solidFill>
            <a:prstDash val="dash"/>
          </a:ln>
        </p:spPr>
      </p:sp>
      <p:sp>
        <p:nvSpPr>
          <p:cNvPr id="29" name="Text 23"/>
          <p:cNvSpPr txBox="1"/>
          <p:nvPr/>
        </p:nvSpPr>
        <p:spPr>
          <a:xfrm>
            <a:off x="2971800" y="5285232"/>
            <a:ext cx="1371600" cy="329184"/>
          </a:xfrm>
          <a:prstGeom prst="rect">
            <a:avLst/>
          </a:prstGeom>
          <a:noFill/>
          <a:ln/>
        </p:spPr>
        <p:txBody>
          <a:bodyPr wrap="square" lIns="0" tIns="0" rIns="0" bIns="0" rtlCol="0" anchor="ctr"/>
          <a:lstStyle/>
          <a:p>
            <a:pPr algn="ctr" indent="0" marL="0">
              <a:buNone/>
            </a:pPr>
            <a:r>
              <a:rPr lang="en-US" sz="1200" b="1" dirty="0">
                <a:solidFill>
                  <a:schemeClr val="accent6"/>
                </a:solidFill>
              </a:rPr>
              <a:t>2 = ____</a:t>
            </a:r>
            <a:endParaRPr lang="en-US" sz="1200" dirty="0"/>
          </a:p>
        </p:txBody>
      </p:sp>
      <p:sp>
        <p:nvSpPr>
          <p:cNvPr id="30" name="Pill 3 = ____"/>
          <p:cNvSpPr/>
          <p:nvPr/>
        </p:nvSpPr>
        <p:spPr>
          <a:xfrm>
            <a:off x="4480560" y="5285232"/>
            <a:ext cx="1371600" cy="329184"/>
          </a:xfrm>
          <a:prstGeom prst="roundRect">
            <a:avLst>
              <a:gd name="adj" fmla="val 50000"/>
            </a:avLst>
          </a:prstGeom>
          <a:solidFill>
            <a:schemeClr val="tx2"/>
          </a:solidFill>
          <a:ln w="15875">
            <a:solidFill>
              <a:schemeClr val="accent6"/>
            </a:solidFill>
            <a:prstDash val="dash"/>
          </a:ln>
        </p:spPr>
      </p:sp>
      <p:sp>
        <p:nvSpPr>
          <p:cNvPr id="31" name="Text 25"/>
          <p:cNvSpPr txBox="1"/>
          <p:nvPr/>
        </p:nvSpPr>
        <p:spPr>
          <a:xfrm>
            <a:off x="4480560" y="5285232"/>
            <a:ext cx="1371600" cy="329184"/>
          </a:xfrm>
          <a:prstGeom prst="rect">
            <a:avLst/>
          </a:prstGeom>
          <a:noFill/>
          <a:ln/>
        </p:spPr>
        <p:txBody>
          <a:bodyPr wrap="square" lIns="0" tIns="0" rIns="0" bIns="0" rtlCol="0" anchor="ctr"/>
          <a:lstStyle/>
          <a:p>
            <a:pPr algn="ctr" indent="0" marL="0">
              <a:buNone/>
            </a:pPr>
            <a:r>
              <a:rPr lang="en-US" sz="1200" b="1" dirty="0">
                <a:solidFill>
                  <a:schemeClr val="accent6"/>
                </a:solidFill>
              </a:rPr>
              <a:t>3 = ____</a:t>
            </a:r>
            <a:endParaRPr lang="en-US" sz="1200" dirty="0"/>
          </a:p>
        </p:txBody>
      </p:sp>
      <p:sp>
        <p:nvSpPr>
          <p:cNvPr id="32" name="Text 26"/>
          <p:cNvSpPr txBox="1"/>
          <p:nvPr/>
        </p:nvSpPr>
        <p:spPr>
          <a:xfrm>
            <a:off x="548640" y="5705856"/>
            <a:ext cx="868680" cy="329184"/>
          </a:xfrm>
          <a:prstGeom prst="rect">
            <a:avLst/>
          </a:prstGeom>
          <a:noFill/>
          <a:ln/>
        </p:spPr>
        <p:txBody>
          <a:bodyPr wrap="square" lIns="0" tIns="0" rIns="0" bIns="0" rtlCol="0" anchor="ctr"/>
          <a:lstStyle/>
          <a:p>
            <a:pPr indent="0" marL="0">
              <a:buNone/>
            </a:pPr>
            <a:r>
              <a:rPr lang="en-US" sz="1100" b="1" dirty="0">
                <a:solidFill>
                  <a:schemeClr val="accent6"/>
                </a:solidFill>
              </a:rPr>
              <a:t>Now</a:t>
            </a:r>
            <a:endParaRPr lang="en-US" sz="1100" dirty="0"/>
          </a:p>
        </p:txBody>
      </p:sp>
      <p:sp>
        <p:nvSpPr>
          <p:cNvPr id="33" name="Pill 1 = ____"/>
          <p:cNvSpPr/>
          <p:nvPr/>
        </p:nvSpPr>
        <p:spPr>
          <a:xfrm>
            <a:off x="1463040" y="5705856"/>
            <a:ext cx="1371600" cy="329184"/>
          </a:xfrm>
          <a:prstGeom prst="roundRect">
            <a:avLst>
              <a:gd name="adj" fmla="val 50000"/>
            </a:avLst>
          </a:prstGeom>
          <a:solidFill>
            <a:schemeClr val="tx2"/>
          </a:solidFill>
          <a:ln w="15875">
            <a:solidFill>
              <a:schemeClr val="accent6"/>
            </a:solidFill>
            <a:prstDash val="dash"/>
          </a:ln>
        </p:spPr>
      </p:sp>
      <p:sp>
        <p:nvSpPr>
          <p:cNvPr id="34" name="Text 28"/>
          <p:cNvSpPr txBox="1"/>
          <p:nvPr/>
        </p:nvSpPr>
        <p:spPr>
          <a:xfrm>
            <a:off x="1463040" y="5705856"/>
            <a:ext cx="1371600" cy="329184"/>
          </a:xfrm>
          <a:prstGeom prst="rect">
            <a:avLst/>
          </a:prstGeom>
          <a:noFill/>
          <a:ln/>
        </p:spPr>
        <p:txBody>
          <a:bodyPr wrap="square" lIns="0" tIns="0" rIns="0" bIns="0" rtlCol="0" anchor="ctr"/>
          <a:lstStyle/>
          <a:p>
            <a:pPr algn="ctr" indent="0" marL="0">
              <a:buNone/>
            </a:pPr>
            <a:r>
              <a:rPr lang="en-US" sz="1200" b="1" dirty="0">
                <a:solidFill>
                  <a:schemeClr val="accent6"/>
                </a:solidFill>
              </a:rPr>
              <a:t>1 = ____</a:t>
            </a:r>
            <a:endParaRPr lang="en-US" sz="1200" dirty="0"/>
          </a:p>
        </p:txBody>
      </p:sp>
      <p:sp>
        <p:nvSpPr>
          <p:cNvPr id="35" name="Pill 2 = ____"/>
          <p:cNvSpPr/>
          <p:nvPr/>
        </p:nvSpPr>
        <p:spPr>
          <a:xfrm>
            <a:off x="2971800" y="5705856"/>
            <a:ext cx="1371600" cy="329184"/>
          </a:xfrm>
          <a:prstGeom prst="roundRect">
            <a:avLst>
              <a:gd name="adj" fmla="val 50000"/>
            </a:avLst>
          </a:prstGeom>
          <a:solidFill>
            <a:schemeClr val="tx2"/>
          </a:solidFill>
          <a:ln w="15875">
            <a:solidFill>
              <a:schemeClr val="accent6"/>
            </a:solidFill>
            <a:prstDash val="dash"/>
          </a:ln>
        </p:spPr>
      </p:sp>
      <p:sp>
        <p:nvSpPr>
          <p:cNvPr id="36" name="Text 30"/>
          <p:cNvSpPr txBox="1"/>
          <p:nvPr/>
        </p:nvSpPr>
        <p:spPr>
          <a:xfrm>
            <a:off x="2971800" y="5705856"/>
            <a:ext cx="1371600" cy="329184"/>
          </a:xfrm>
          <a:prstGeom prst="rect">
            <a:avLst/>
          </a:prstGeom>
          <a:noFill/>
          <a:ln/>
        </p:spPr>
        <p:txBody>
          <a:bodyPr wrap="square" lIns="0" tIns="0" rIns="0" bIns="0" rtlCol="0" anchor="ctr"/>
          <a:lstStyle/>
          <a:p>
            <a:pPr algn="ctr" indent="0" marL="0">
              <a:buNone/>
            </a:pPr>
            <a:r>
              <a:rPr lang="en-US" sz="1200" b="1" dirty="0">
                <a:solidFill>
                  <a:schemeClr val="accent6"/>
                </a:solidFill>
              </a:rPr>
              <a:t>2 = ____</a:t>
            </a:r>
            <a:endParaRPr lang="en-US" sz="1200" dirty="0"/>
          </a:p>
        </p:txBody>
      </p:sp>
      <p:sp>
        <p:nvSpPr>
          <p:cNvPr id="37" name="Pill 3 = ____"/>
          <p:cNvSpPr/>
          <p:nvPr/>
        </p:nvSpPr>
        <p:spPr>
          <a:xfrm>
            <a:off x="4480560" y="5705856"/>
            <a:ext cx="1371600" cy="329184"/>
          </a:xfrm>
          <a:prstGeom prst="roundRect">
            <a:avLst>
              <a:gd name="adj" fmla="val 50000"/>
            </a:avLst>
          </a:prstGeom>
          <a:solidFill>
            <a:schemeClr val="tx2"/>
          </a:solidFill>
          <a:ln w="15875">
            <a:solidFill>
              <a:schemeClr val="accent6"/>
            </a:solidFill>
            <a:prstDash val="dash"/>
          </a:ln>
        </p:spPr>
      </p:sp>
      <p:sp>
        <p:nvSpPr>
          <p:cNvPr id="38" name="Text 32"/>
          <p:cNvSpPr txBox="1"/>
          <p:nvPr/>
        </p:nvSpPr>
        <p:spPr>
          <a:xfrm>
            <a:off x="4480560" y="5705856"/>
            <a:ext cx="1371600" cy="329184"/>
          </a:xfrm>
          <a:prstGeom prst="rect">
            <a:avLst/>
          </a:prstGeom>
          <a:noFill/>
          <a:ln/>
        </p:spPr>
        <p:txBody>
          <a:bodyPr wrap="square" lIns="0" tIns="0" rIns="0" bIns="0" rtlCol="0" anchor="ctr"/>
          <a:lstStyle/>
          <a:p>
            <a:pPr algn="ctr" indent="0" marL="0">
              <a:buNone/>
            </a:pPr>
            <a:r>
              <a:rPr lang="en-US" sz="1200" b="1" dirty="0">
                <a:solidFill>
                  <a:schemeClr val="accent6"/>
                </a:solidFill>
              </a:rPr>
              <a:t>3 = ____</a:t>
            </a:r>
            <a:endParaRPr lang="en-US" sz="1200" dirty="0"/>
          </a:p>
        </p:txBody>
      </p:sp>
      <p:sp>
        <p:nvSpPr>
          <p:cNvPr id="39" name="Text 33"/>
          <p:cNvSpPr txBox="1"/>
          <p:nvPr/>
        </p:nvSpPr>
        <p:spPr>
          <a:xfrm>
            <a:off x="6400800" y="1536192"/>
            <a:ext cx="5239512" cy="256032"/>
          </a:xfrm>
          <a:prstGeom prst="rect">
            <a:avLst/>
          </a:prstGeom>
          <a:noFill/>
          <a:ln/>
        </p:spPr>
        <p:txBody>
          <a:bodyPr wrap="square" lIns="0" tIns="0" rIns="0" bIns="0" rtlCol="0" anchor="t"/>
          <a:lstStyle/>
          <a:p>
            <a:pPr indent="0" marL="0">
              <a:buNone/>
            </a:pPr>
            <a:r>
              <a:rPr lang="en-US" sz="1200" b="1" dirty="0">
                <a:solidFill>
                  <a:schemeClr val="accent6"/>
                </a:solidFill>
              </a:rPr>
              <a:t>Same three options (one, two or three fingers)</a:t>
            </a:r>
            <a:endParaRPr lang="en-US" sz="1200" dirty="0"/>
          </a:p>
        </p:txBody>
      </p:sp>
      <p:sp>
        <p:nvSpPr>
          <p:cNvPr id="40" name="Option 1"/>
          <p:cNvSpPr/>
          <p:nvPr/>
        </p:nvSpPr>
        <p:spPr>
          <a:xfrm>
            <a:off x="6400800" y="1874520"/>
            <a:ext cx="5239512" cy="914400"/>
          </a:xfrm>
          <a:prstGeom prst="roundRect">
            <a:avLst>
              <a:gd name="adj" fmla="val 14000"/>
            </a:avLst>
          </a:prstGeom>
          <a:solidFill>
            <a:schemeClr val="bg1">
              <a:alpha val="10000"/>
            </a:schemeClr>
          </a:solidFill>
          <a:ln w="12700">
            <a:solidFill>
              <a:schemeClr val="accent6"/>
            </a:solidFill>
            <a:prstDash val="solid"/>
          </a:ln>
        </p:spPr>
      </p:sp>
      <p:sp>
        <p:nvSpPr>
          <p:cNvPr id="41" name="Badge 1"/>
          <p:cNvSpPr/>
          <p:nvPr/>
        </p:nvSpPr>
        <p:spPr>
          <a:xfrm>
            <a:off x="6629400" y="2011680"/>
            <a:ext cx="640080" cy="640080"/>
          </a:xfrm>
          <a:prstGeom prst="ellipse">
            <a:avLst/>
          </a:prstGeom>
          <a:solidFill>
            <a:schemeClr val="accent2"/>
          </a:solidFill>
          <a:ln/>
        </p:spPr>
      </p:sp>
      <p:sp>
        <p:nvSpPr>
          <p:cNvPr id="42" name="Text 36"/>
          <p:cNvSpPr txBox="1"/>
          <p:nvPr/>
        </p:nvSpPr>
        <p:spPr>
          <a:xfrm>
            <a:off x="6629400" y="201168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1</a:t>
            </a:r>
            <a:endParaRPr lang="en-US" sz="2200" dirty="0"/>
          </a:p>
        </p:txBody>
      </p:sp>
      <p:sp>
        <p:nvSpPr>
          <p:cNvPr id="43" name="Text 37"/>
          <p:cNvSpPr txBox="1"/>
          <p:nvPr/>
        </p:nvSpPr>
        <p:spPr>
          <a:xfrm>
            <a:off x="7498080" y="1874520"/>
            <a:ext cx="3959352" cy="914400"/>
          </a:xfrm>
          <a:prstGeom prst="rect">
            <a:avLst/>
          </a:prstGeom>
          <a:noFill/>
          <a:ln/>
        </p:spPr>
        <p:txBody>
          <a:bodyPr wrap="square" lIns="0" tIns="0" rIns="0" bIns="0" rtlCol="0" anchor="ctr"/>
          <a:lstStyle/>
          <a:p>
            <a:pPr indent="0" marL="0">
              <a:buNone/>
            </a:pPr>
            <a:r>
              <a:rPr lang="en-US" sz="2000" b="1" dirty="0">
                <a:solidFill>
                  <a:schemeClr val="bg1"/>
                </a:solidFill>
              </a:rPr>
              <a:t>Routine care</a:t>
            </a:r>
            <a:endParaRPr lang="en-US" sz="1400" dirty="0"/>
          </a:p>
          <a:p>
            <a:pPr indent="0" marL="0">
              <a:buNone/>
            </a:pPr>
            <a:r>
              <a:rPr lang="en-US" sz="1300" dirty="0">
                <a:solidFill>
                  <a:schemeClr val="accent6"/>
                </a:solidFill>
              </a:rPr>
              <a:t>Suitable for a clinician to recommend to patients now</a:t>
            </a:r>
            <a:endParaRPr lang="en-US" sz="1400" dirty="0"/>
          </a:p>
        </p:txBody>
      </p:sp>
      <p:sp>
        <p:nvSpPr>
          <p:cNvPr id="44" name="Option 2"/>
          <p:cNvSpPr/>
          <p:nvPr/>
        </p:nvSpPr>
        <p:spPr>
          <a:xfrm>
            <a:off x="6400800" y="2971800"/>
            <a:ext cx="5239512" cy="914400"/>
          </a:xfrm>
          <a:prstGeom prst="roundRect">
            <a:avLst>
              <a:gd name="adj" fmla="val 14000"/>
            </a:avLst>
          </a:prstGeom>
          <a:solidFill>
            <a:schemeClr val="bg1">
              <a:alpha val="10000"/>
            </a:schemeClr>
          </a:solidFill>
          <a:ln w="12700">
            <a:solidFill>
              <a:schemeClr val="accent6"/>
            </a:solidFill>
            <a:prstDash val="solid"/>
          </a:ln>
        </p:spPr>
      </p:sp>
      <p:sp>
        <p:nvSpPr>
          <p:cNvPr id="45" name="Badge 2"/>
          <p:cNvSpPr/>
          <p:nvPr/>
        </p:nvSpPr>
        <p:spPr>
          <a:xfrm>
            <a:off x="6629400" y="3108960"/>
            <a:ext cx="640080" cy="640080"/>
          </a:xfrm>
          <a:prstGeom prst="ellipse">
            <a:avLst/>
          </a:prstGeom>
          <a:solidFill>
            <a:schemeClr val="accent2"/>
          </a:solidFill>
          <a:ln/>
        </p:spPr>
      </p:sp>
      <p:sp>
        <p:nvSpPr>
          <p:cNvPr id="46" name="Text 40"/>
          <p:cNvSpPr txBox="1"/>
          <p:nvPr/>
        </p:nvSpPr>
        <p:spPr>
          <a:xfrm>
            <a:off x="6629400" y="310896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2</a:t>
            </a:r>
            <a:endParaRPr lang="en-US" sz="2200" dirty="0"/>
          </a:p>
        </p:txBody>
      </p:sp>
      <p:sp>
        <p:nvSpPr>
          <p:cNvPr id="47" name="Text 41"/>
          <p:cNvSpPr txBox="1"/>
          <p:nvPr/>
        </p:nvSpPr>
        <p:spPr>
          <a:xfrm>
            <a:off x="7498080" y="2971800"/>
            <a:ext cx="3959352" cy="914400"/>
          </a:xfrm>
          <a:prstGeom prst="rect">
            <a:avLst/>
          </a:prstGeom>
          <a:noFill/>
          <a:ln/>
        </p:spPr>
        <p:txBody>
          <a:bodyPr wrap="square" lIns="0" tIns="0" rIns="0" bIns="0" rtlCol="0" anchor="ctr"/>
          <a:lstStyle/>
          <a:p>
            <a:pPr indent="0" marL="0">
              <a:buNone/>
            </a:pPr>
            <a:r>
              <a:rPr lang="en-US" sz="2000" b="1" dirty="0">
                <a:solidFill>
                  <a:schemeClr val="bg1"/>
                </a:solidFill>
              </a:rPr>
              <a:t>Research study</a:t>
            </a:r>
            <a:endParaRPr lang="en-US" sz="1400" dirty="0"/>
          </a:p>
          <a:p>
            <a:pPr indent="0" marL="0">
              <a:buNone/>
            </a:pPr>
            <a:r>
              <a:rPr lang="en-US" sz="1300" dirty="0">
                <a:solidFill>
                  <a:schemeClr val="accent6"/>
                </a:solidFill>
              </a:rPr>
              <a:t>Suitable for a study with ethics approval and consent</a:t>
            </a:r>
            <a:endParaRPr lang="en-US" sz="1400" dirty="0"/>
          </a:p>
        </p:txBody>
      </p:sp>
      <p:sp>
        <p:nvSpPr>
          <p:cNvPr id="48" name="Option 3"/>
          <p:cNvSpPr/>
          <p:nvPr/>
        </p:nvSpPr>
        <p:spPr>
          <a:xfrm>
            <a:off x="6400800" y="4069080"/>
            <a:ext cx="5239512" cy="914400"/>
          </a:xfrm>
          <a:prstGeom prst="roundRect">
            <a:avLst>
              <a:gd name="adj" fmla="val 14000"/>
            </a:avLst>
          </a:prstGeom>
          <a:solidFill>
            <a:schemeClr val="bg1">
              <a:alpha val="10000"/>
            </a:schemeClr>
          </a:solidFill>
          <a:ln w="12700">
            <a:solidFill>
              <a:schemeClr val="accent6"/>
            </a:solidFill>
            <a:prstDash val="solid"/>
          </a:ln>
        </p:spPr>
      </p:sp>
      <p:sp>
        <p:nvSpPr>
          <p:cNvPr id="49" name="Badge 3"/>
          <p:cNvSpPr/>
          <p:nvPr/>
        </p:nvSpPr>
        <p:spPr>
          <a:xfrm>
            <a:off x="6629400" y="4206240"/>
            <a:ext cx="640080" cy="640080"/>
          </a:xfrm>
          <a:prstGeom prst="ellipse">
            <a:avLst/>
          </a:prstGeom>
          <a:solidFill>
            <a:schemeClr val="accent2"/>
          </a:solidFill>
          <a:ln/>
        </p:spPr>
      </p:sp>
      <p:sp>
        <p:nvSpPr>
          <p:cNvPr id="50" name="Text 44"/>
          <p:cNvSpPr txBox="1"/>
          <p:nvPr/>
        </p:nvSpPr>
        <p:spPr>
          <a:xfrm>
            <a:off x="6629400" y="420624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3</a:t>
            </a:r>
            <a:endParaRPr lang="en-US" sz="2200" dirty="0"/>
          </a:p>
        </p:txBody>
      </p:sp>
      <p:sp>
        <p:nvSpPr>
          <p:cNvPr id="51" name="Text 45"/>
          <p:cNvSpPr txBox="1"/>
          <p:nvPr/>
        </p:nvSpPr>
        <p:spPr>
          <a:xfrm>
            <a:off x="7498080" y="4069080"/>
            <a:ext cx="3959352" cy="914400"/>
          </a:xfrm>
          <a:prstGeom prst="rect">
            <a:avLst/>
          </a:prstGeom>
          <a:noFill/>
          <a:ln/>
        </p:spPr>
        <p:txBody>
          <a:bodyPr wrap="square" lIns="0" tIns="0" rIns="0" bIns="0" rtlCol="0" anchor="ctr"/>
          <a:lstStyle/>
          <a:p>
            <a:pPr indent="0" marL="0">
              <a:buNone/>
            </a:pPr>
            <a:r>
              <a:rPr lang="en-US" sz="2000" b="1" dirty="0">
                <a:solidFill>
                  <a:schemeClr val="bg1"/>
                </a:solidFill>
              </a:rPr>
              <a:t>Not yet</a:t>
            </a:r>
            <a:endParaRPr lang="en-US" sz="1400" dirty="0"/>
          </a:p>
          <a:p>
            <a:pPr indent="0" marL="0">
              <a:buNone/>
            </a:pPr>
            <a:r>
              <a:rPr lang="en-US" sz="1300" dirty="0">
                <a:solidFill>
                  <a:schemeClr val="accent6"/>
                </a:solidFill>
              </a:rPr>
              <a:t>I need more information before either</a:t>
            </a:r>
            <a:endParaRPr lang="en-US" sz="1400" dirty="0"/>
          </a:p>
        </p:txBody>
      </p:sp>
      <p:sp>
        <p:nvSpPr>
          <p:cNvPr id="52" name="Text 46"/>
          <p:cNvSpPr txBox="1"/>
          <p:nvPr/>
        </p:nvSpPr>
        <p:spPr>
          <a:xfrm>
            <a:off x="6400800" y="5029200"/>
            <a:ext cx="5239512" cy="237744"/>
          </a:xfrm>
          <a:prstGeom prst="rect">
            <a:avLst/>
          </a:prstGeom>
          <a:noFill/>
          <a:ln/>
        </p:spPr>
        <p:txBody>
          <a:bodyPr wrap="square" lIns="0" tIns="0" rIns="0" bIns="0" rtlCol="0" anchor="t"/>
          <a:lstStyle/>
          <a:p>
            <a:pPr indent="0" marL="0">
              <a:buNone/>
            </a:pPr>
            <a:r>
              <a:rPr lang="en-US" sz="1100" b="1" dirty="0">
                <a:solidFill>
                  <a:schemeClr val="accent6"/>
                </a:solidFill>
              </a:rPr>
              <a:t>A patient-ready decision names</a:t>
            </a:r>
            <a:endParaRPr lang="en-US" sz="1100" dirty="0"/>
          </a:p>
        </p:txBody>
      </p:sp>
      <p:sp>
        <p:nvSpPr>
          <p:cNvPr id="53" name="Pill the patient"/>
          <p:cNvSpPr/>
          <p:nvPr/>
        </p:nvSpPr>
        <p:spPr>
          <a:xfrm>
            <a:off x="6400800" y="5303520"/>
            <a:ext cx="974750" cy="310896"/>
          </a:xfrm>
          <a:prstGeom prst="roundRect">
            <a:avLst>
              <a:gd name="adj" fmla="val 50000"/>
            </a:avLst>
          </a:prstGeom>
          <a:solidFill>
            <a:schemeClr val="tx2"/>
          </a:solidFill>
          <a:ln w="15875">
            <a:solidFill>
              <a:schemeClr val="accent6"/>
            </a:solidFill>
            <a:prstDash val="solid"/>
          </a:ln>
        </p:spPr>
      </p:sp>
      <p:sp>
        <p:nvSpPr>
          <p:cNvPr id="54" name="Text 48"/>
          <p:cNvSpPr txBox="1"/>
          <p:nvPr/>
        </p:nvSpPr>
        <p:spPr>
          <a:xfrm>
            <a:off x="6400800" y="5303520"/>
            <a:ext cx="974750" cy="310896"/>
          </a:xfrm>
          <a:prstGeom prst="rect">
            <a:avLst/>
          </a:prstGeom>
          <a:noFill/>
          <a:ln/>
        </p:spPr>
        <p:txBody>
          <a:bodyPr wrap="square" lIns="0" tIns="0" rIns="0" bIns="0" rtlCol="0" anchor="ctr"/>
          <a:lstStyle/>
          <a:p>
            <a:pPr algn="ctr" indent="0" marL="0">
              <a:buNone/>
            </a:pPr>
            <a:r>
              <a:rPr lang="en-US" sz="950" b="1" dirty="0">
                <a:solidFill>
                  <a:schemeClr val="accent6"/>
                </a:solidFill>
              </a:rPr>
              <a:t>the patient</a:t>
            </a:r>
            <a:endParaRPr lang="en-US" sz="950" dirty="0"/>
          </a:p>
        </p:txBody>
      </p:sp>
      <p:sp>
        <p:nvSpPr>
          <p:cNvPr id="55" name="Pill the purpose"/>
          <p:cNvSpPr/>
          <p:nvPr/>
        </p:nvSpPr>
        <p:spPr>
          <a:xfrm>
            <a:off x="7466990" y="5303520"/>
            <a:ext cx="974750" cy="310896"/>
          </a:xfrm>
          <a:prstGeom prst="roundRect">
            <a:avLst>
              <a:gd name="adj" fmla="val 50000"/>
            </a:avLst>
          </a:prstGeom>
          <a:solidFill>
            <a:schemeClr val="tx2"/>
          </a:solidFill>
          <a:ln w="15875">
            <a:solidFill>
              <a:schemeClr val="accent6"/>
            </a:solidFill>
            <a:prstDash val="solid"/>
          </a:ln>
        </p:spPr>
      </p:sp>
      <p:sp>
        <p:nvSpPr>
          <p:cNvPr id="56" name="Text 50"/>
          <p:cNvSpPr txBox="1"/>
          <p:nvPr/>
        </p:nvSpPr>
        <p:spPr>
          <a:xfrm>
            <a:off x="7466990" y="5303520"/>
            <a:ext cx="974750" cy="310896"/>
          </a:xfrm>
          <a:prstGeom prst="rect">
            <a:avLst/>
          </a:prstGeom>
          <a:noFill/>
          <a:ln/>
        </p:spPr>
        <p:txBody>
          <a:bodyPr wrap="square" lIns="0" tIns="0" rIns="0" bIns="0" rtlCol="0" anchor="ctr"/>
          <a:lstStyle/>
          <a:p>
            <a:pPr algn="ctr" indent="0" marL="0">
              <a:buNone/>
            </a:pPr>
            <a:r>
              <a:rPr lang="en-US" sz="950" b="1" dirty="0">
                <a:solidFill>
                  <a:schemeClr val="accent6"/>
                </a:solidFill>
              </a:rPr>
              <a:t>the purpose</a:t>
            </a:r>
            <a:endParaRPr lang="en-US" sz="950" dirty="0"/>
          </a:p>
        </p:txBody>
      </p:sp>
      <p:sp>
        <p:nvSpPr>
          <p:cNvPr id="57" name="Pill the evidence"/>
          <p:cNvSpPr/>
          <p:nvPr/>
        </p:nvSpPr>
        <p:spPr>
          <a:xfrm>
            <a:off x="8533181" y="5303520"/>
            <a:ext cx="974750" cy="310896"/>
          </a:xfrm>
          <a:prstGeom prst="roundRect">
            <a:avLst>
              <a:gd name="adj" fmla="val 50000"/>
            </a:avLst>
          </a:prstGeom>
          <a:solidFill>
            <a:schemeClr val="tx2"/>
          </a:solidFill>
          <a:ln w="15875">
            <a:solidFill>
              <a:schemeClr val="accent6"/>
            </a:solidFill>
            <a:prstDash val="solid"/>
          </a:ln>
        </p:spPr>
      </p:sp>
      <p:sp>
        <p:nvSpPr>
          <p:cNvPr id="58" name="Text 52"/>
          <p:cNvSpPr txBox="1"/>
          <p:nvPr/>
        </p:nvSpPr>
        <p:spPr>
          <a:xfrm>
            <a:off x="8533181" y="5303520"/>
            <a:ext cx="974750" cy="310896"/>
          </a:xfrm>
          <a:prstGeom prst="rect">
            <a:avLst/>
          </a:prstGeom>
          <a:noFill/>
          <a:ln/>
        </p:spPr>
        <p:txBody>
          <a:bodyPr wrap="square" lIns="0" tIns="0" rIns="0" bIns="0" rtlCol="0" anchor="ctr"/>
          <a:lstStyle/>
          <a:p>
            <a:pPr algn="ctr" indent="0" marL="0">
              <a:buNone/>
            </a:pPr>
            <a:r>
              <a:rPr lang="en-US" sz="950" b="1" dirty="0">
                <a:solidFill>
                  <a:schemeClr val="accent6"/>
                </a:solidFill>
              </a:rPr>
              <a:t>the evidence</a:t>
            </a:r>
            <a:endParaRPr lang="en-US" sz="950" dirty="0"/>
          </a:p>
        </p:txBody>
      </p:sp>
      <p:sp>
        <p:nvSpPr>
          <p:cNvPr id="59" name="Pill the limits"/>
          <p:cNvSpPr/>
          <p:nvPr/>
        </p:nvSpPr>
        <p:spPr>
          <a:xfrm>
            <a:off x="9599371" y="5303520"/>
            <a:ext cx="974750" cy="310896"/>
          </a:xfrm>
          <a:prstGeom prst="roundRect">
            <a:avLst>
              <a:gd name="adj" fmla="val 50000"/>
            </a:avLst>
          </a:prstGeom>
          <a:solidFill>
            <a:schemeClr val="tx2"/>
          </a:solidFill>
          <a:ln w="15875">
            <a:solidFill>
              <a:schemeClr val="accent6"/>
            </a:solidFill>
            <a:prstDash val="solid"/>
          </a:ln>
        </p:spPr>
      </p:sp>
      <p:sp>
        <p:nvSpPr>
          <p:cNvPr id="60" name="Text 54"/>
          <p:cNvSpPr txBox="1"/>
          <p:nvPr/>
        </p:nvSpPr>
        <p:spPr>
          <a:xfrm>
            <a:off x="9599371" y="5303520"/>
            <a:ext cx="974750" cy="310896"/>
          </a:xfrm>
          <a:prstGeom prst="rect">
            <a:avLst/>
          </a:prstGeom>
          <a:noFill/>
          <a:ln/>
        </p:spPr>
        <p:txBody>
          <a:bodyPr wrap="square" lIns="0" tIns="0" rIns="0" bIns="0" rtlCol="0" anchor="ctr"/>
          <a:lstStyle/>
          <a:p>
            <a:pPr algn="ctr" indent="0" marL="0">
              <a:buNone/>
            </a:pPr>
            <a:r>
              <a:rPr lang="en-US" sz="950" b="1" dirty="0">
                <a:solidFill>
                  <a:schemeClr val="accent6"/>
                </a:solidFill>
              </a:rPr>
              <a:t>the limits</a:t>
            </a:r>
            <a:endParaRPr lang="en-US" sz="950" dirty="0"/>
          </a:p>
        </p:txBody>
      </p:sp>
      <p:sp>
        <p:nvSpPr>
          <p:cNvPr id="61" name="Pill who answers"/>
          <p:cNvSpPr/>
          <p:nvPr/>
        </p:nvSpPr>
        <p:spPr>
          <a:xfrm>
            <a:off x="10665562" y="5303520"/>
            <a:ext cx="974750" cy="310896"/>
          </a:xfrm>
          <a:prstGeom prst="roundRect">
            <a:avLst>
              <a:gd name="adj" fmla="val 50000"/>
            </a:avLst>
          </a:prstGeom>
          <a:solidFill>
            <a:schemeClr val="tx2"/>
          </a:solidFill>
          <a:ln w="15875">
            <a:solidFill>
              <a:schemeClr val="accent6"/>
            </a:solidFill>
            <a:prstDash val="solid"/>
          </a:ln>
        </p:spPr>
      </p:sp>
      <p:sp>
        <p:nvSpPr>
          <p:cNvPr id="62" name="Text 56"/>
          <p:cNvSpPr txBox="1"/>
          <p:nvPr/>
        </p:nvSpPr>
        <p:spPr>
          <a:xfrm>
            <a:off x="10665562" y="5303520"/>
            <a:ext cx="974750" cy="310896"/>
          </a:xfrm>
          <a:prstGeom prst="rect">
            <a:avLst/>
          </a:prstGeom>
          <a:noFill/>
          <a:ln/>
        </p:spPr>
        <p:txBody>
          <a:bodyPr wrap="square" lIns="0" tIns="0" rIns="0" bIns="0" rtlCol="0" anchor="ctr"/>
          <a:lstStyle/>
          <a:p>
            <a:pPr algn="ctr" indent="0" marL="0">
              <a:buNone/>
            </a:pPr>
            <a:r>
              <a:rPr lang="en-US" sz="950" b="1" dirty="0">
                <a:solidFill>
                  <a:schemeClr val="accent6"/>
                </a:solidFill>
              </a:rPr>
              <a:t>who answers</a:t>
            </a:r>
            <a:endParaRPr lang="en-US" sz="950" dirty="0"/>
          </a:p>
        </p:txBody>
      </p:sp>
      <p:sp>
        <p:nvSpPr>
          <p:cNvPr id="63" name="Callout"/>
          <p:cNvSpPr/>
          <p:nvPr/>
        </p:nvSpPr>
        <p:spPr>
          <a:xfrm>
            <a:off x="6400800" y="5760720"/>
            <a:ext cx="5239512" cy="411480"/>
          </a:xfrm>
          <a:prstGeom prst="roundRect">
            <a:avLst>
              <a:gd name="adj" fmla="val 17778"/>
            </a:avLst>
          </a:prstGeom>
          <a:solidFill>
            <a:schemeClr val="accent2">
              <a:alpha val="20000"/>
            </a:schemeClr>
          </a:solidFill>
          <a:ln/>
        </p:spPr>
      </p:sp>
      <p:sp>
        <p:nvSpPr>
          <p:cNvPr id="64" name="Callout bar"/>
          <p:cNvSpPr/>
          <p:nvPr/>
        </p:nvSpPr>
        <p:spPr>
          <a:xfrm>
            <a:off x="6400800" y="5852160"/>
            <a:ext cx="64008" cy="228600"/>
          </a:xfrm>
          <a:prstGeom prst="rect">
            <a:avLst/>
          </a:prstGeom>
          <a:solidFill>
            <a:schemeClr val="accent2"/>
          </a:solidFill>
          <a:ln/>
        </p:spPr>
      </p:sp>
      <p:sp>
        <p:nvSpPr>
          <p:cNvPr id="65" name="Text 59"/>
          <p:cNvSpPr txBox="1"/>
          <p:nvPr/>
        </p:nvSpPr>
        <p:spPr>
          <a:xfrm>
            <a:off x="6675120" y="5760720"/>
            <a:ext cx="4828032" cy="411480"/>
          </a:xfrm>
          <a:prstGeom prst="rect">
            <a:avLst/>
          </a:prstGeom>
          <a:noFill/>
          <a:ln/>
        </p:spPr>
        <p:txBody>
          <a:bodyPr wrap="square" lIns="0" tIns="0" rIns="0" bIns="0" rtlCol="0" anchor="ctr"/>
          <a:lstStyle/>
          <a:p>
            <a:pPr indent="0" marL="0">
              <a:buNone/>
            </a:pPr>
            <a:r>
              <a:rPr lang="en-US" sz="1150" b="1" dirty="0">
                <a:solidFill>
                  <a:schemeClr val="bg1"/>
                </a:solidFill>
              </a:rPr>
              <a:t>Vote again. Then two people whose vote changed: what changed your mind?</a:t>
            </a:r>
            <a:endParaRPr lang="en-US" sz="11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TAKEAWAY · 90 SECONDS</a:t>
            </a:r>
            <a:endParaRPr lang="en-US" sz="1200" dirty="0"/>
          </a:p>
        </p:txBody>
      </p:sp>
      <p:sp>
        <p:nvSpPr>
          <p:cNvPr id="3" name="Text 0"/>
          <p:cNvSpPr/>
          <p:nvPr>
            <p:ph idx="101" type="title" hasCustomPrompt="1"/>
          </p:nvPr>
        </p:nvSpPr>
        <p:spPr>
          <a:xfrm>
            <a:off x="548640" y="658368"/>
            <a:ext cx="10241280" cy="731520"/>
          </a:xfrm>
          <a:prstGeom prst="rect">
            <a:avLst/>
          </a:prstGeom>
          <a:noFill/>
          <a:ln/>
        </p:spPr>
        <p:txBody>
          <a:bodyPr wrap="square" lIns="0" tIns="0" rIns="0" bIns="0" rtlCol="0" anchor="t"/>
          <a:lstStyle/>
          <a:p>
            <a:pPr algn="l" indent="0" marL="0">
              <a:buNone/>
            </a:pPr>
            <a:r>
              <a:rPr lang="en-US" sz="3000" b="1" dirty="0">
                <a:solidFill>
                  <a:schemeClr val="tx1"/>
                </a:solidFill>
              </a:rPr>
              <a:t>Commit to one change in your own project</a:t>
            </a:r>
            <a:endParaRPr lang="en-US" sz="30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Stanford Biodesign, Principled Decision-Making (2022); CDSCO Form MD-12/MD-13 (test licence)</a:t>
            </a:r>
            <a:endParaRPr lang="en-US" sz="950" dirty="0"/>
          </a:p>
        </p:txBody>
      </p:sp>
      <p:sp>
        <p:nvSpPr>
          <p:cNvPr id="6" name="Commitment card"/>
          <p:cNvSpPr/>
          <p:nvPr/>
        </p:nvSpPr>
        <p:spPr>
          <a:xfrm>
            <a:off x="548640" y="1536192"/>
            <a:ext cx="6035040" cy="3017520"/>
          </a:xfrm>
          <a:prstGeom prst="roundRect">
            <a:avLst>
              <a:gd name="adj" fmla="val 4242"/>
            </a:avLst>
          </a:prstGeom>
          <a:solidFill>
            <a:schemeClr val="bg1"/>
          </a:solidFill>
          <a:ln w="9525">
            <a:solidFill>
              <a:srgbClr val="E3EAE8"/>
            </a:solidFill>
            <a:prstDash val="solid"/>
          </a:ln>
          <a:effectLst>
            <a:outerShdw sx="100000" sy="100000" kx="0" ky="0" algn="bl" rotWithShape="0" blurRad="76200" dist="25400" dir="5400000">
              <a:srgbClr val="000000">
                <a:alpha val="14000"/>
              </a:srgbClr>
            </a:outerShdw>
          </a:effectLst>
        </p:spPr>
      </p:sp>
      <p:sp>
        <p:nvSpPr>
          <p:cNvPr id="7" name="Card header"/>
          <p:cNvSpPr/>
          <p:nvPr/>
        </p:nvSpPr>
        <p:spPr>
          <a:xfrm>
            <a:off x="548640" y="1536192"/>
            <a:ext cx="6035040" cy="457200"/>
          </a:xfrm>
          <a:prstGeom prst="rect">
            <a:avLst/>
          </a:prstGeom>
          <a:solidFill>
            <a:schemeClr val="accent2"/>
          </a:solidFill>
          <a:ln/>
        </p:spPr>
      </p:sp>
      <p:pic>
        <p:nvPicPr>
          <p:cNvPr id="8" name="Image 0" descr="NotebookPen icon">    </p:cNvPr>
          <p:cNvPicPr>
            <a:picLocks noChangeAspect="1"/>
          </p:cNvPicPr>
          <p:nvPr/>
        </p:nvPicPr>
        <p:blipFill>
          <a:blip r:embed="rId1"/>
          <a:stretch>
            <a:fillRect/>
          </a:stretch>
        </p:blipFill>
        <p:spPr>
          <a:xfrm>
            <a:off x="731520" y="1627632"/>
            <a:ext cx="274320" cy="274320"/>
          </a:xfrm>
          <a:prstGeom prst="rect">
            <a:avLst/>
          </a:prstGeom>
        </p:spPr>
      </p:pic>
      <p:sp>
        <p:nvSpPr>
          <p:cNvPr id="9" name="Text 5"/>
          <p:cNvSpPr txBox="1"/>
          <p:nvPr/>
        </p:nvSpPr>
        <p:spPr>
          <a:xfrm>
            <a:off x="1097280" y="1536192"/>
            <a:ext cx="5303520" cy="457200"/>
          </a:xfrm>
          <a:prstGeom prst="rect">
            <a:avLst/>
          </a:prstGeom>
          <a:noFill/>
          <a:ln/>
        </p:spPr>
        <p:txBody>
          <a:bodyPr wrap="square" lIns="0" tIns="0" rIns="0" bIns="0" rtlCol="0" anchor="ctr"/>
          <a:lstStyle/>
          <a:p>
            <a:pPr indent="0" marL="0">
              <a:buNone/>
            </a:pPr>
            <a:r>
              <a:rPr lang="en-US" sz="1100" b="1" spc="100" kern="0" dirty="0">
                <a:solidFill>
                  <a:srgbClr val="0E3B3D"/>
                </a:solidFill>
              </a:rPr>
              <a:t>COMMITMENT CARD · one device, study or project you are working on</a:t>
            </a:r>
            <a:endParaRPr lang="en-US" sz="1100" dirty="0"/>
          </a:p>
        </p:txBody>
      </p:sp>
      <p:sp>
        <p:nvSpPr>
          <p:cNvPr id="10" name="Text 6"/>
          <p:cNvSpPr txBox="1"/>
          <p:nvPr/>
        </p:nvSpPr>
        <p:spPr>
          <a:xfrm>
            <a:off x="822960" y="2221992"/>
            <a:ext cx="2011680" cy="365760"/>
          </a:xfrm>
          <a:prstGeom prst="rect">
            <a:avLst/>
          </a:prstGeom>
          <a:noFill/>
          <a:ln/>
        </p:spPr>
        <p:txBody>
          <a:bodyPr wrap="square" lIns="0" tIns="0" rIns="0" bIns="0" rtlCol="0" anchor="ctr"/>
          <a:lstStyle/>
          <a:p>
            <a:pPr indent="0" marL="0">
              <a:buNone/>
            </a:pPr>
            <a:r>
              <a:rPr lang="en-US" sz="1600" b="1" dirty="0">
                <a:solidFill>
                  <a:schemeClr val="tx1"/>
                </a:solidFill>
              </a:rPr>
              <a:t>Before </a:t>
            </a:r>
            <a:endParaRPr lang="en-US" sz="1600" dirty="0"/>
          </a:p>
        </p:txBody>
      </p:sp>
      <p:sp>
        <p:nvSpPr>
          <p:cNvPr id="11" name="Blank (next step)"/>
          <p:cNvSpPr/>
          <p:nvPr/>
        </p:nvSpPr>
        <p:spPr>
          <a:xfrm>
            <a:off x="1783080" y="2569464"/>
            <a:ext cx="4526280" cy="0"/>
          </a:xfrm>
          <a:prstGeom prst="line">
            <a:avLst/>
          </a:prstGeom>
          <a:noFill/>
          <a:ln w="12700">
            <a:solidFill>
              <a:schemeClr val="accent5"/>
            </a:solidFill>
            <a:prstDash val="dash"/>
          </a:ln>
        </p:spPr>
      </p:sp>
      <p:sp>
        <p:nvSpPr>
          <p:cNvPr id="12" name="Text 8"/>
          <p:cNvSpPr txBox="1"/>
          <p:nvPr/>
        </p:nvSpPr>
        <p:spPr>
          <a:xfrm>
            <a:off x="1783080" y="2587752"/>
            <a:ext cx="4526280" cy="201168"/>
          </a:xfrm>
          <a:prstGeom prst="rect">
            <a:avLst/>
          </a:prstGeom>
          <a:noFill/>
          <a:ln/>
        </p:spPr>
        <p:txBody>
          <a:bodyPr wrap="square" lIns="0" tIns="0" rIns="0" bIns="0" rtlCol="0" anchor="t"/>
          <a:lstStyle/>
          <a:p>
            <a:pPr indent="0" marL="0">
              <a:buNone/>
            </a:pPr>
            <a:r>
              <a:rPr lang="en-US" sz="900" i="1" dirty="0">
                <a:solidFill>
                  <a:schemeClr val="accent5"/>
                </a:solidFill>
              </a:rPr>
              <a:t>(next step)</a:t>
            </a:r>
            <a:endParaRPr lang="en-US" sz="900" dirty="0"/>
          </a:p>
        </p:txBody>
      </p:sp>
      <p:sp>
        <p:nvSpPr>
          <p:cNvPr id="13" name="Text 9"/>
          <p:cNvSpPr txBox="1"/>
          <p:nvPr/>
        </p:nvSpPr>
        <p:spPr>
          <a:xfrm>
            <a:off x="6309360" y="2221992"/>
            <a:ext cx="182880" cy="365760"/>
          </a:xfrm>
          <a:prstGeom prst="rect">
            <a:avLst/>
          </a:prstGeom>
          <a:noFill/>
          <a:ln/>
        </p:spPr>
        <p:txBody>
          <a:bodyPr wrap="square" lIns="0" tIns="0" rIns="0" bIns="0" rtlCol="0" anchor="ctr"/>
          <a:lstStyle/>
          <a:p>
            <a:pPr indent="0" marL="0">
              <a:buNone/>
            </a:pPr>
            <a:r>
              <a:rPr lang="en-US" sz="1600" b="1" dirty="0">
                <a:solidFill>
                  <a:schemeClr val="tx1"/>
                </a:solidFill>
              </a:rPr>
              <a:t>,</a:t>
            </a:r>
            <a:endParaRPr lang="en-US" sz="1600" dirty="0"/>
          </a:p>
        </p:txBody>
      </p:sp>
      <p:sp>
        <p:nvSpPr>
          <p:cNvPr id="14" name="Text 10"/>
          <p:cNvSpPr txBox="1"/>
          <p:nvPr/>
        </p:nvSpPr>
        <p:spPr>
          <a:xfrm>
            <a:off x="822960" y="2825496"/>
            <a:ext cx="2011680" cy="365760"/>
          </a:xfrm>
          <a:prstGeom prst="rect">
            <a:avLst/>
          </a:prstGeom>
          <a:noFill/>
          <a:ln/>
        </p:spPr>
        <p:txBody>
          <a:bodyPr wrap="square" lIns="0" tIns="0" rIns="0" bIns="0" rtlCol="0" anchor="ctr"/>
          <a:lstStyle/>
          <a:p>
            <a:pPr indent="0" marL="0">
              <a:buNone/>
            </a:pPr>
            <a:r>
              <a:rPr lang="en-US" sz="1600" b="1" dirty="0">
                <a:solidFill>
                  <a:schemeClr val="tx1"/>
                </a:solidFill>
              </a:rPr>
              <a:t>I will </a:t>
            </a:r>
            <a:endParaRPr lang="en-US" sz="1600" dirty="0"/>
          </a:p>
        </p:txBody>
      </p:sp>
      <p:sp>
        <p:nvSpPr>
          <p:cNvPr id="15" name="Blank (action)"/>
          <p:cNvSpPr/>
          <p:nvPr/>
        </p:nvSpPr>
        <p:spPr>
          <a:xfrm>
            <a:off x="1783080" y="3172968"/>
            <a:ext cx="4526280" cy="0"/>
          </a:xfrm>
          <a:prstGeom prst="line">
            <a:avLst/>
          </a:prstGeom>
          <a:noFill/>
          <a:ln w="12700">
            <a:solidFill>
              <a:schemeClr val="accent5"/>
            </a:solidFill>
            <a:prstDash val="dash"/>
          </a:ln>
        </p:spPr>
      </p:sp>
      <p:sp>
        <p:nvSpPr>
          <p:cNvPr id="16" name="Text 12"/>
          <p:cNvSpPr txBox="1"/>
          <p:nvPr/>
        </p:nvSpPr>
        <p:spPr>
          <a:xfrm>
            <a:off x="1783080" y="3191256"/>
            <a:ext cx="4526280" cy="201168"/>
          </a:xfrm>
          <a:prstGeom prst="rect">
            <a:avLst/>
          </a:prstGeom>
          <a:noFill/>
          <a:ln/>
        </p:spPr>
        <p:txBody>
          <a:bodyPr wrap="square" lIns="0" tIns="0" rIns="0" bIns="0" rtlCol="0" anchor="t"/>
          <a:lstStyle/>
          <a:p>
            <a:pPr indent="0" marL="0">
              <a:buNone/>
            </a:pPr>
            <a:r>
              <a:rPr lang="en-US" sz="900" i="1" dirty="0">
                <a:solidFill>
                  <a:schemeClr val="accent5"/>
                </a:solidFill>
              </a:rPr>
              <a:t>(action)</a:t>
            </a:r>
            <a:endParaRPr lang="en-US" sz="900" dirty="0"/>
          </a:p>
        </p:txBody>
      </p:sp>
      <p:sp>
        <p:nvSpPr>
          <p:cNvPr id="17" name="Text 13"/>
          <p:cNvSpPr txBox="1"/>
          <p:nvPr/>
        </p:nvSpPr>
        <p:spPr>
          <a:xfrm>
            <a:off x="6309360" y="2825496"/>
            <a:ext cx="182880" cy="365760"/>
          </a:xfrm>
          <a:prstGeom prst="rect">
            <a:avLst/>
          </a:prstGeom>
          <a:noFill/>
          <a:ln/>
        </p:spPr>
        <p:txBody>
          <a:bodyPr wrap="square" lIns="0" tIns="0" rIns="0" bIns="0" rtlCol="0" anchor="ctr"/>
          <a:lstStyle/>
          <a:p>
            <a:pPr indent="0" marL="0">
              <a:buNone/>
            </a:pPr>
            <a:r>
              <a:rPr lang="en-US" sz="1600" b="1" dirty="0">
                <a:solidFill>
                  <a:schemeClr val="tx1"/>
                </a:solidFill>
              </a:rPr>
              <a:t>.</a:t>
            </a:r>
            <a:endParaRPr lang="en-US" sz="1600" dirty="0"/>
          </a:p>
        </p:txBody>
      </p:sp>
      <p:sp>
        <p:nvSpPr>
          <p:cNvPr id="18" name="Text 14"/>
          <p:cNvSpPr txBox="1"/>
          <p:nvPr/>
        </p:nvSpPr>
        <p:spPr>
          <a:xfrm>
            <a:off x="822960" y="3429000"/>
            <a:ext cx="2011680" cy="365760"/>
          </a:xfrm>
          <a:prstGeom prst="rect">
            <a:avLst/>
          </a:prstGeom>
          <a:noFill/>
          <a:ln/>
        </p:spPr>
        <p:txBody>
          <a:bodyPr wrap="square" lIns="0" tIns="0" rIns="0" bIns="0" rtlCol="0" anchor="ctr"/>
          <a:lstStyle/>
          <a:p>
            <a:pPr indent="0" marL="0">
              <a:buNone/>
            </a:pPr>
            <a:r>
              <a:rPr lang="en-US" sz="1600" b="1" dirty="0">
                <a:solidFill>
                  <a:schemeClr val="tx1"/>
                </a:solidFill>
              </a:rPr>
              <a:t>Owner: </a:t>
            </a:r>
            <a:endParaRPr lang="en-US" sz="1600" dirty="0"/>
          </a:p>
        </p:txBody>
      </p:sp>
      <p:sp>
        <p:nvSpPr>
          <p:cNvPr id="19" name="Blank (name)"/>
          <p:cNvSpPr/>
          <p:nvPr/>
        </p:nvSpPr>
        <p:spPr>
          <a:xfrm>
            <a:off x="1737360" y="3776472"/>
            <a:ext cx="4572000" cy="0"/>
          </a:xfrm>
          <a:prstGeom prst="line">
            <a:avLst/>
          </a:prstGeom>
          <a:noFill/>
          <a:ln w="12700">
            <a:solidFill>
              <a:schemeClr val="accent5"/>
            </a:solidFill>
            <a:prstDash val="dash"/>
          </a:ln>
        </p:spPr>
      </p:sp>
      <p:sp>
        <p:nvSpPr>
          <p:cNvPr id="20" name="Text 16"/>
          <p:cNvSpPr txBox="1"/>
          <p:nvPr/>
        </p:nvSpPr>
        <p:spPr>
          <a:xfrm>
            <a:off x="1737360" y="3794760"/>
            <a:ext cx="4572000" cy="201168"/>
          </a:xfrm>
          <a:prstGeom prst="rect">
            <a:avLst/>
          </a:prstGeom>
          <a:noFill/>
          <a:ln/>
        </p:spPr>
        <p:txBody>
          <a:bodyPr wrap="square" lIns="0" tIns="0" rIns="0" bIns="0" rtlCol="0" anchor="t"/>
          <a:lstStyle/>
          <a:p>
            <a:pPr indent="0" marL="0">
              <a:buNone/>
            </a:pPr>
            <a:r>
              <a:rPr lang="en-US" sz="900" i="1" dirty="0">
                <a:solidFill>
                  <a:schemeClr val="accent5"/>
                </a:solidFill>
              </a:rPr>
              <a:t>(name)</a:t>
            </a:r>
            <a:endParaRPr lang="en-US" sz="900" dirty="0"/>
          </a:p>
        </p:txBody>
      </p:sp>
      <p:sp>
        <p:nvSpPr>
          <p:cNvPr id="21" name="Text 17"/>
          <p:cNvSpPr txBox="1"/>
          <p:nvPr/>
        </p:nvSpPr>
        <p:spPr>
          <a:xfrm>
            <a:off x="6309360" y="3429000"/>
            <a:ext cx="182880" cy="365760"/>
          </a:xfrm>
          <a:prstGeom prst="rect">
            <a:avLst/>
          </a:prstGeom>
          <a:noFill/>
          <a:ln/>
        </p:spPr>
        <p:txBody>
          <a:bodyPr wrap="square" lIns="0" tIns="0" rIns="0" bIns="0" rtlCol="0" anchor="ctr"/>
          <a:lstStyle/>
          <a:p>
            <a:pPr indent="0" marL="0">
              <a:buNone/>
            </a:pPr>
            <a:endParaRPr lang="en-US" sz="1600" dirty="0"/>
          </a:p>
        </p:txBody>
      </p:sp>
      <p:sp>
        <p:nvSpPr>
          <p:cNvPr id="22" name="Text 18"/>
          <p:cNvSpPr txBox="1"/>
          <p:nvPr/>
        </p:nvSpPr>
        <p:spPr>
          <a:xfrm>
            <a:off x="822960" y="4032504"/>
            <a:ext cx="2011680" cy="365760"/>
          </a:xfrm>
          <a:prstGeom prst="rect">
            <a:avLst/>
          </a:prstGeom>
          <a:noFill/>
          <a:ln/>
        </p:spPr>
        <p:txBody>
          <a:bodyPr wrap="square" lIns="0" tIns="0" rIns="0" bIns="0" rtlCol="0" anchor="ctr"/>
          <a:lstStyle/>
          <a:p>
            <a:pPr indent="0" marL="0">
              <a:buNone/>
            </a:pPr>
            <a:r>
              <a:rPr lang="en-US" sz="1600" b="1" dirty="0">
                <a:solidFill>
                  <a:schemeClr val="tx1"/>
                </a:solidFill>
              </a:rPr>
              <a:t>I proceed only if </a:t>
            </a:r>
            <a:endParaRPr lang="en-US" sz="1600" dirty="0"/>
          </a:p>
        </p:txBody>
      </p:sp>
      <p:sp>
        <p:nvSpPr>
          <p:cNvPr id="23" name="Blank (condition)"/>
          <p:cNvSpPr/>
          <p:nvPr/>
        </p:nvSpPr>
        <p:spPr>
          <a:xfrm>
            <a:off x="2788920" y="4379976"/>
            <a:ext cx="3520440" cy="0"/>
          </a:xfrm>
          <a:prstGeom prst="line">
            <a:avLst/>
          </a:prstGeom>
          <a:noFill/>
          <a:ln w="12700">
            <a:solidFill>
              <a:schemeClr val="accent5"/>
            </a:solidFill>
            <a:prstDash val="dash"/>
          </a:ln>
        </p:spPr>
      </p:sp>
      <p:sp>
        <p:nvSpPr>
          <p:cNvPr id="24" name="Text 20"/>
          <p:cNvSpPr txBox="1"/>
          <p:nvPr/>
        </p:nvSpPr>
        <p:spPr>
          <a:xfrm>
            <a:off x="2788920" y="4398264"/>
            <a:ext cx="3520440" cy="201168"/>
          </a:xfrm>
          <a:prstGeom prst="rect">
            <a:avLst/>
          </a:prstGeom>
          <a:noFill/>
          <a:ln/>
        </p:spPr>
        <p:txBody>
          <a:bodyPr wrap="square" lIns="0" tIns="0" rIns="0" bIns="0" rtlCol="0" anchor="t"/>
          <a:lstStyle/>
          <a:p>
            <a:pPr indent="0" marL="0">
              <a:buNone/>
            </a:pPr>
            <a:r>
              <a:rPr lang="en-US" sz="900" i="1" dirty="0">
                <a:solidFill>
                  <a:schemeClr val="accent5"/>
                </a:solidFill>
              </a:rPr>
              <a:t>(condition)</a:t>
            </a:r>
            <a:endParaRPr lang="en-US" sz="900" dirty="0"/>
          </a:p>
        </p:txBody>
      </p:sp>
      <p:sp>
        <p:nvSpPr>
          <p:cNvPr id="25" name="Text 21"/>
          <p:cNvSpPr txBox="1"/>
          <p:nvPr/>
        </p:nvSpPr>
        <p:spPr>
          <a:xfrm>
            <a:off x="6309360" y="4032504"/>
            <a:ext cx="182880" cy="365760"/>
          </a:xfrm>
          <a:prstGeom prst="rect">
            <a:avLst/>
          </a:prstGeom>
          <a:noFill/>
          <a:ln/>
        </p:spPr>
        <p:txBody>
          <a:bodyPr wrap="square" lIns="0" tIns="0" rIns="0" bIns="0" rtlCol="0" anchor="ctr"/>
          <a:lstStyle/>
          <a:p>
            <a:pPr indent="0" marL="0">
              <a:buNone/>
            </a:pPr>
            <a:r>
              <a:rPr lang="en-US" sz="1600" b="1" dirty="0">
                <a:solidFill>
                  <a:schemeClr val="tx1"/>
                </a:solidFill>
              </a:rPr>
              <a:t>.</a:t>
            </a:r>
            <a:endParaRPr lang="en-US" sz="1600" dirty="0"/>
          </a:p>
        </p:txBody>
      </p:sp>
      <p:sp>
        <p:nvSpPr>
          <p:cNvPr id="26" name="Timer 90 s: write"/>
          <p:cNvSpPr/>
          <p:nvPr/>
        </p:nvSpPr>
        <p:spPr>
          <a:xfrm>
            <a:off x="548640" y="4690872"/>
            <a:ext cx="1920240" cy="457200"/>
          </a:xfrm>
          <a:prstGeom prst="roundRect">
            <a:avLst>
              <a:gd name="adj" fmla="val 50000"/>
            </a:avLst>
          </a:prstGeom>
          <a:solidFill>
            <a:schemeClr val="bg2"/>
          </a:solidFill>
          <a:ln/>
        </p:spPr>
      </p:sp>
      <p:sp>
        <p:nvSpPr>
          <p:cNvPr id="27" name="Icon disc LuTimer"/>
          <p:cNvSpPr/>
          <p:nvPr/>
        </p:nvSpPr>
        <p:spPr>
          <a:xfrm>
            <a:off x="621792" y="4754880"/>
            <a:ext cx="329184" cy="329184"/>
          </a:xfrm>
          <a:prstGeom prst="ellipse">
            <a:avLst/>
          </a:prstGeom>
          <a:solidFill>
            <a:schemeClr val="accent2"/>
          </a:solidFill>
          <a:ln/>
        </p:spPr>
      </p:sp>
      <p:pic>
        <p:nvPicPr>
          <p:cNvPr id="28" name="Image 1" descr="Timer icon">    </p:cNvPr>
          <p:cNvPicPr>
            <a:picLocks noChangeAspect="1"/>
          </p:cNvPicPr>
          <p:nvPr/>
        </p:nvPicPr>
        <p:blipFill>
          <a:blip r:embed="rId2"/>
          <a:stretch>
            <a:fillRect/>
          </a:stretch>
        </p:blipFill>
        <p:spPr>
          <a:xfrm>
            <a:off x="694212" y="4827300"/>
            <a:ext cx="184343" cy="184343"/>
          </a:xfrm>
          <a:prstGeom prst="rect">
            <a:avLst/>
          </a:prstGeom>
        </p:spPr>
      </p:pic>
      <p:sp>
        <p:nvSpPr>
          <p:cNvPr id="29" name="Text 24"/>
          <p:cNvSpPr txBox="1"/>
          <p:nvPr/>
        </p:nvSpPr>
        <p:spPr>
          <a:xfrm>
            <a:off x="1024128" y="4690872"/>
            <a:ext cx="1371600" cy="457200"/>
          </a:xfrm>
          <a:prstGeom prst="rect">
            <a:avLst/>
          </a:prstGeom>
          <a:noFill/>
          <a:ln/>
        </p:spPr>
        <p:txBody>
          <a:bodyPr wrap="square" lIns="0" tIns="0" rIns="0" bIns="0" rtlCol="0" anchor="ctr"/>
          <a:lstStyle/>
          <a:p>
            <a:pPr indent="0" marL="0">
              <a:buNone/>
            </a:pPr>
            <a:r>
              <a:rPr lang="en-US" sz="1050" b="1" dirty="0">
                <a:solidFill>
                  <a:schemeClr val="tx1"/>
                </a:solidFill>
              </a:rPr>
              <a:t>90 s: write</a:t>
            </a:r>
            <a:endParaRPr lang="en-US" sz="1050" dirty="0"/>
          </a:p>
        </p:txBody>
      </p:sp>
      <p:sp>
        <p:nvSpPr>
          <p:cNvPr id="30" name="Timer 60 s: read it to a neighbour"/>
          <p:cNvSpPr/>
          <p:nvPr/>
        </p:nvSpPr>
        <p:spPr>
          <a:xfrm>
            <a:off x="2606040" y="4690872"/>
            <a:ext cx="1920240" cy="457200"/>
          </a:xfrm>
          <a:prstGeom prst="roundRect">
            <a:avLst>
              <a:gd name="adj" fmla="val 50000"/>
            </a:avLst>
          </a:prstGeom>
          <a:solidFill>
            <a:schemeClr val="bg2"/>
          </a:solidFill>
          <a:ln/>
        </p:spPr>
      </p:sp>
      <p:sp>
        <p:nvSpPr>
          <p:cNvPr id="31" name="Icon disc LuUsersRound"/>
          <p:cNvSpPr/>
          <p:nvPr/>
        </p:nvSpPr>
        <p:spPr>
          <a:xfrm>
            <a:off x="2679192" y="4754880"/>
            <a:ext cx="329184" cy="329184"/>
          </a:xfrm>
          <a:prstGeom prst="ellipse">
            <a:avLst/>
          </a:prstGeom>
          <a:solidFill>
            <a:schemeClr val="accent2"/>
          </a:solidFill>
          <a:ln/>
        </p:spPr>
      </p:sp>
      <p:pic>
        <p:nvPicPr>
          <p:cNvPr id="32" name="Image 2" descr="UsersRound icon">    </p:cNvPr>
          <p:cNvPicPr>
            <a:picLocks noChangeAspect="1"/>
          </p:cNvPicPr>
          <p:nvPr/>
        </p:nvPicPr>
        <p:blipFill>
          <a:blip r:embed="rId3"/>
          <a:stretch>
            <a:fillRect/>
          </a:stretch>
        </p:blipFill>
        <p:spPr>
          <a:xfrm>
            <a:off x="2751612" y="4827300"/>
            <a:ext cx="184343" cy="184343"/>
          </a:xfrm>
          <a:prstGeom prst="rect">
            <a:avLst/>
          </a:prstGeom>
        </p:spPr>
      </p:pic>
      <p:sp>
        <p:nvSpPr>
          <p:cNvPr id="33" name="Text 27"/>
          <p:cNvSpPr txBox="1"/>
          <p:nvPr/>
        </p:nvSpPr>
        <p:spPr>
          <a:xfrm>
            <a:off x="3081528" y="4690872"/>
            <a:ext cx="1371600" cy="457200"/>
          </a:xfrm>
          <a:prstGeom prst="rect">
            <a:avLst/>
          </a:prstGeom>
          <a:noFill/>
          <a:ln/>
        </p:spPr>
        <p:txBody>
          <a:bodyPr wrap="square" lIns="0" tIns="0" rIns="0" bIns="0" rtlCol="0" anchor="ctr"/>
          <a:lstStyle/>
          <a:p>
            <a:pPr indent="0" marL="0">
              <a:buNone/>
            </a:pPr>
            <a:r>
              <a:rPr lang="en-US" sz="1050" b="1" dirty="0">
                <a:solidFill>
                  <a:schemeClr val="tx1"/>
                </a:solidFill>
              </a:rPr>
              <a:t>60 s: read it to a neighbour</a:t>
            </a:r>
            <a:endParaRPr lang="en-US" sz="1050" dirty="0"/>
          </a:p>
        </p:txBody>
      </p:sp>
      <p:sp>
        <p:nvSpPr>
          <p:cNvPr id="34" name="Timer Two examples for the room"/>
          <p:cNvSpPr/>
          <p:nvPr/>
        </p:nvSpPr>
        <p:spPr>
          <a:xfrm>
            <a:off x="4663440" y="4690872"/>
            <a:ext cx="1920240" cy="457200"/>
          </a:xfrm>
          <a:prstGeom prst="roundRect">
            <a:avLst>
              <a:gd name="adj" fmla="val 50000"/>
            </a:avLst>
          </a:prstGeom>
          <a:solidFill>
            <a:schemeClr val="bg2"/>
          </a:solidFill>
          <a:ln/>
        </p:spPr>
      </p:sp>
      <p:sp>
        <p:nvSpPr>
          <p:cNvPr id="35" name="Icon disc LuMegaphone"/>
          <p:cNvSpPr/>
          <p:nvPr/>
        </p:nvSpPr>
        <p:spPr>
          <a:xfrm>
            <a:off x="4736592" y="4754880"/>
            <a:ext cx="329184" cy="329184"/>
          </a:xfrm>
          <a:prstGeom prst="ellipse">
            <a:avLst/>
          </a:prstGeom>
          <a:solidFill>
            <a:schemeClr val="accent2"/>
          </a:solidFill>
          <a:ln/>
        </p:spPr>
      </p:sp>
      <p:pic>
        <p:nvPicPr>
          <p:cNvPr id="36" name="Image 3" descr="Megaphone icon">    </p:cNvPr>
          <p:cNvPicPr>
            <a:picLocks noChangeAspect="1"/>
          </p:cNvPicPr>
          <p:nvPr/>
        </p:nvPicPr>
        <p:blipFill>
          <a:blip r:embed="rId4"/>
          <a:stretch>
            <a:fillRect/>
          </a:stretch>
        </p:blipFill>
        <p:spPr>
          <a:xfrm>
            <a:off x="4809012" y="4827300"/>
            <a:ext cx="184343" cy="184343"/>
          </a:xfrm>
          <a:prstGeom prst="rect">
            <a:avLst/>
          </a:prstGeom>
        </p:spPr>
      </p:pic>
      <p:sp>
        <p:nvSpPr>
          <p:cNvPr id="37" name="Text 30"/>
          <p:cNvSpPr txBox="1"/>
          <p:nvPr/>
        </p:nvSpPr>
        <p:spPr>
          <a:xfrm>
            <a:off x="5138928" y="4690872"/>
            <a:ext cx="1371600" cy="457200"/>
          </a:xfrm>
          <a:prstGeom prst="rect">
            <a:avLst/>
          </a:prstGeom>
          <a:noFill/>
          <a:ln/>
        </p:spPr>
        <p:txBody>
          <a:bodyPr wrap="square" lIns="0" tIns="0" rIns="0" bIns="0" rtlCol="0" anchor="ctr"/>
          <a:lstStyle/>
          <a:p>
            <a:pPr indent="0" marL="0">
              <a:buNone/>
            </a:pPr>
            <a:r>
              <a:rPr lang="en-US" sz="1050" b="1" dirty="0">
                <a:solidFill>
                  <a:schemeClr val="tx1"/>
                </a:solidFill>
              </a:rPr>
              <a:t>Two examples for the room</a:t>
            </a:r>
            <a:endParaRPr lang="en-US" sz="1050" dirty="0"/>
          </a:p>
        </p:txBody>
      </p:sp>
      <p:sp>
        <p:nvSpPr>
          <p:cNvPr id="38" name="Callout"/>
          <p:cNvSpPr/>
          <p:nvPr/>
        </p:nvSpPr>
        <p:spPr>
          <a:xfrm>
            <a:off x="548640" y="5321808"/>
            <a:ext cx="6035040" cy="850392"/>
          </a:xfrm>
          <a:prstGeom prst="roundRect">
            <a:avLst>
              <a:gd name="adj" fmla="val 8602"/>
            </a:avLst>
          </a:prstGeom>
          <a:solidFill>
            <a:schemeClr val="accent4">
              <a:alpha val="12000"/>
            </a:schemeClr>
          </a:solidFill>
          <a:ln/>
        </p:spPr>
      </p:sp>
      <p:sp>
        <p:nvSpPr>
          <p:cNvPr id="39" name="Callout bar"/>
          <p:cNvSpPr/>
          <p:nvPr/>
        </p:nvSpPr>
        <p:spPr>
          <a:xfrm>
            <a:off x="548640" y="5413248"/>
            <a:ext cx="64008" cy="667512"/>
          </a:xfrm>
          <a:prstGeom prst="rect">
            <a:avLst/>
          </a:prstGeom>
          <a:solidFill>
            <a:schemeClr val="accent4"/>
          </a:solidFill>
          <a:ln/>
        </p:spPr>
      </p:sp>
      <p:sp>
        <p:nvSpPr>
          <p:cNvPr id="40" name="Text 33"/>
          <p:cNvSpPr txBox="1"/>
          <p:nvPr/>
        </p:nvSpPr>
        <p:spPr>
          <a:xfrm>
            <a:off x="822960" y="5321808"/>
            <a:ext cx="5623560" cy="850392"/>
          </a:xfrm>
          <a:prstGeom prst="rect">
            <a:avLst/>
          </a:prstGeom>
          <a:noFill/>
          <a:ln/>
        </p:spPr>
        <p:txBody>
          <a:bodyPr wrap="square" lIns="0" tIns="0" rIns="0" bIns="0" rtlCol="0" anchor="ctr"/>
          <a:lstStyle/>
          <a:p>
            <a:pPr indent="0" marL="0">
              <a:buNone/>
            </a:pPr>
            <a:r>
              <a:rPr lang="en-US" sz="1050" b="1" dirty="0">
                <a:solidFill>
                  <a:schemeClr val="tx1"/>
                </a:solidFill>
              </a:rPr>
              <a:t>Why a card: </a:t>
            </a:r>
            <a:pPr indent="0" marL="0">
              <a:buNone/>
            </a:pPr>
            <a:r>
              <a:rPr lang="en-US" sz="1050" dirty="0">
                <a:solidFill>
                  <a:schemeClr val="tx1"/>
                </a:solidFill>
              </a:rPr>
              <a:t>Stanford Biodesign's Principled Decision-Making brief advises teams to write their ethical principles down early, before the pressured moment arrives. This exercise makes that advice personal; keep the card, or copy it into the printed checklist.</a:t>
            </a:r>
            <a:endParaRPr lang="en-US" sz="1050" dirty="0"/>
          </a:p>
        </p:txBody>
      </p:sp>
      <p:sp>
        <p:nvSpPr>
          <p:cNvPr id="41" name="Worked example"/>
          <p:cNvSpPr/>
          <p:nvPr/>
        </p:nvSpPr>
        <p:spPr>
          <a:xfrm>
            <a:off x="6812280" y="1536192"/>
            <a:ext cx="4830775" cy="1371600"/>
          </a:xfrm>
          <a:prstGeom prst="roundRect">
            <a:avLst>
              <a:gd name="adj" fmla="val 9333"/>
            </a:avLst>
          </a:prstGeom>
          <a:solidFill>
            <a:schemeClr val="bg2"/>
          </a:solidFill>
          <a:ln/>
        </p:spPr>
      </p:sp>
      <p:sp>
        <p:nvSpPr>
          <p:cNvPr id="42" name="Example accent"/>
          <p:cNvSpPr/>
          <p:nvPr/>
        </p:nvSpPr>
        <p:spPr>
          <a:xfrm>
            <a:off x="6812280" y="1700784"/>
            <a:ext cx="64008" cy="1042416"/>
          </a:xfrm>
          <a:prstGeom prst="rect">
            <a:avLst/>
          </a:prstGeom>
          <a:solidFill>
            <a:schemeClr val="accent1"/>
          </a:solidFill>
          <a:ln/>
        </p:spPr>
      </p:sp>
      <p:sp>
        <p:nvSpPr>
          <p:cNvPr id="43" name="Text 36"/>
          <p:cNvSpPr txBox="1"/>
          <p:nvPr/>
        </p:nvSpPr>
        <p:spPr>
          <a:xfrm>
            <a:off x="7013448" y="1609344"/>
            <a:ext cx="4465015" cy="237744"/>
          </a:xfrm>
          <a:prstGeom prst="rect">
            <a:avLst/>
          </a:prstGeom>
          <a:noFill/>
          <a:ln/>
        </p:spPr>
        <p:txBody>
          <a:bodyPr wrap="square" lIns="0" tIns="0" rIns="0" bIns="0" rtlCol="0" anchor="t"/>
          <a:lstStyle/>
          <a:p>
            <a:pPr indent="0" marL="0">
              <a:buNone/>
            </a:pPr>
            <a:r>
              <a:rPr lang="en-US" sz="1100" b="1" dirty="0">
                <a:solidFill>
                  <a:schemeClr val="accent1"/>
                </a:solidFill>
              </a:rPr>
              <a:t>Worked example</a:t>
            </a:r>
            <a:endParaRPr lang="en-US" sz="1100" dirty="0"/>
          </a:p>
        </p:txBody>
      </p:sp>
      <p:sp>
        <p:nvSpPr>
          <p:cNvPr id="44" name="Text 37"/>
          <p:cNvSpPr txBox="1"/>
          <p:nvPr/>
        </p:nvSpPr>
        <p:spPr>
          <a:xfrm>
            <a:off x="7013448" y="1865376"/>
            <a:ext cx="4465015" cy="1005840"/>
          </a:xfrm>
          <a:prstGeom prst="rect">
            <a:avLst/>
          </a:prstGeom>
          <a:noFill/>
          <a:ln/>
        </p:spPr>
        <p:txBody>
          <a:bodyPr wrap="square" lIns="0" tIns="0" rIns="0" bIns="0" rtlCol="0" anchor="t"/>
          <a:lstStyle/>
          <a:p>
            <a:pPr indent="0" marL="0">
              <a:buNone/>
            </a:pPr>
            <a:r>
              <a:rPr lang="en-US" sz="1100" i="1" dirty="0">
                <a:solidFill>
                  <a:schemeClr val="tx1"/>
                </a:solidFill>
              </a:rPr>
              <a:t>“Before our first home test, I will register the study on CTRI. Owner: me. I proceed only if the ethics committee approves and an independent outcome assessor is named.”</a:t>
            </a:r>
            <a:endParaRPr lang="en-US" sz="1100" dirty="0"/>
          </a:p>
        </p:txBody>
      </p:sp>
      <p:sp>
        <p:nvSpPr>
          <p:cNvPr id="45" name="Text 38"/>
          <p:cNvSpPr txBox="1"/>
          <p:nvPr/>
        </p:nvSpPr>
        <p:spPr>
          <a:xfrm>
            <a:off x="6812280" y="3044952"/>
            <a:ext cx="4830775" cy="237744"/>
          </a:xfrm>
          <a:prstGeom prst="rect">
            <a:avLst/>
          </a:prstGeom>
          <a:noFill/>
          <a:ln/>
        </p:spPr>
        <p:txBody>
          <a:bodyPr wrap="square" lIns="0" tIns="0" rIns="0" bIns="0" rtlCol="0" anchor="t"/>
          <a:lstStyle/>
          <a:p>
            <a:pPr indent="0" marL="0">
              <a:buNone/>
            </a:pPr>
            <a:r>
              <a:rPr lang="en-US" sz="1200" b="1" dirty="0">
                <a:solidFill>
                  <a:schemeClr val="tx2"/>
                </a:solidFill>
              </a:rPr>
              <a:t>One example commitment per stage</a:t>
            </a:r>
            <a:endParaRPr lang="en-US" sz="1200" dirty="0"/>
          </a:p>
        </p:txBody>
      </p:sp>
      <p:sp>
        <p:nvSpPr>
          <p:cNvPr id="46" name="Rule"/>
          <p:cNvSpPr/>
          <p:nvPr/>
        </p:nvSpPr>
        <p:spPr>
          <a:xfrm>
            <a:off x="7059168" y="3621024"/>
            <a:ext cx="0" cy="2423160"/>
          </a:xfrm>
          <a:prstGeom prst="line">
            <a:avLst/>
          </a:prstGeom>
          <a:noFill/>
          <a:ln w="25400">
            <a:solidFill>
              <a:srgbClr val="C9D6D3"/>
            </a:solidFill>
            <a:prstDash val="solid"/>
          </a:ln>
        </p:spPr>
      </p:sp>
      <p:sp>
        <p:nvSpPr>
          <p:cNvPr id="47" name="Badge 1"/>
          <p:cNvSpPr/>
          <p:nvPr/>
        </p:nvSpPr>
        <p:spPr>
          <a:xfrm>
            <a:off x="6812280" y="3346704"/>
            <a:ext cx="493776" cy="493776"/>
          </a:xfrm>
          <a:prstGeom prst="ellipse">
            <a:avLst/>
          </a:prstGeom>
          <a:solidFill>
            <a:schemeClr val="accent2"/>
          </a:solidFill>
          <a:ln/>
        </p:spPr>
      </p:sp>
      <p:sp>
        <p:nvSpPr>
          <p:cNvPr id="48" name="Text 41"/>
          <p:cNvSpPr txBox="1"/>
          <p:nvPr/>
        </p:nvSpPr>
        <p:spPr>
          <a:xfrm>
            <a:off x="6812280" y="3346704"/>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49" name="Text 42"/>
          <p:cNvSpPr txBox="1"/>
          <p:nvPr/>
        </p:nvSpPr>
        <p:spPr>
          <a:xfrm>
            <a:off x="7498080" y="3328416"/>
            <a:ext cx="4144975" cy="411480"/>
          </a:xfrm>
          <a:prstGeom prst="rect">
            <a:avLst/>
          </a:prstGeom>
          <a:noFill/>
          <a:ln/>
        </p:spPr>
        <p:txBody>
          <a:bodyPr wrap="square" lIns="0" tIns="0" rIns="0" bIns="0" rtlCol="0" anchor="t"/>
          <a:lstStyle/>
          <a:p>
            <a:pPr indent="0" marL="0">
              <a:buNone/>
            </a:pPr>
            <a:r>
              <a:rPr lang="en-US" sz="1100" b="1" dirty="0">
                <a:solidFill>
                  <a:schemeClr val="tx1"/>
                </a:solidFill>
              </a:rPr>
              <a:t>Need</a:t>
            </a:r>
            <a:endParaRPr lang="en-US" sz="1100" dirty="0"/>
          </a:p>
          <a:p>
            <a:pPr indent="0" marL="0">
              <a:buNone/>
            </a:pPr>
            <a:r>
              <a:rPr lang="en-US" sz="950" dirty="0">
                <a:solidFill>
                  <a:schemeClr val="tx2"/>
                </a:solidFill>
              </a:rPr>
              <a:t>Rewrite the need statement solution-neutral; screen it with ten users before inventing further</a:t>
            </a:r>
            <a:endParaRPr lang="en-US" sz="1100" dirty="0"/>
          </a:p>
        </p:txBody>
      </p:sp>
      <p:sp>
        <p:nvSpPr>
          <p:cNvPr id="50" name="Badge 2"/>
          <p:cNvSpPr/>
          <p:nvPr/>
        </p:nvSpPr>
        <p:spPr>
          <a:xfrm>
            <a:off x="6812280" y="3831336"/>
            <a:ext cx="493776" cy="493776"/>
          </a:xfrm>
          <a:prstGeom prst="ellipse">
            <a:avLst/>
          </a:prstGeom>
          <a:solidFill>
            <a:schemeClr val="accent2"/>
          </a:solidFill>
          <a:ln/>
        </p:spPr>
      </p:sp>
      <p:sp>
        <p:nvSpPr>
          <p:cNvPr id="51" name="Text 44"/>
          <p:cNvSpPr txBox="1"/>
          <p:nvPr/>
        </p:nvSpPr>
        <p:spPr>
          <a:xfrm>
            <a:off x="6812280" y="3831336"/>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52" name="Text 45"/>
          <p:cNvSpPr txBox="1"/>
          <p:nvPr/>
        </p:nvSpPr>
        <p:spPr>
          <a:xfrm>
            <a:off x="7498080" y="3813048"/>
            <a:ext cx="4144975" cy="411480"/>
          </a:xfrm>
          <a:prstGeom prst="rect">
            <a:avLst/>
          </a:prstGeom>
          <a:noFill/>
          <a:ln/>
        </p:spPr>
        <p:txBody>
          <a:bodyPr wrap="square" lIns="0" tIns="0" rIns="0" bIns="0" rtlCol="0" anchor="t"/>
          <a:lstStyle/>
          <a:p>
            <a:pPr indent="0" marL="0">
              <a:buNone/>
            </a:pPr>
            <a:r>
              <a:rPr lang="en-US" sz="1100" b="1" dirty="0">
                <a:solidFill>
                  <a:schemeClr val="tx1"/>
                </a:solidFill>
              </a:rPr>
              <a:t>Evidence</a:t>
            </a:r>
            <a:endParaRPr lang="en-US" sz="1100" dirty="0"/>
          </a:p>
          <a:p>
            <a:pPr indent="0" marL="0">
              <a:buNone/>
            </a:pPr>
            <a:r>
              <a:rPr lang="en-US" sz="950" dirty="0">
                <a:solidFill>
                  <a:schemeClr val="tx2"/>
                </a:solidFill>
              </a:rPr>
              <a:t>No ‘detects’ claim until tested on data from Indian patients, with results by subgroup</a:t>
            </a:r>
            <a:endParaRPr lang="en-US" sz="1100" dirty="0"/>
          </a:p>
        </p:txBody>
      </p:sp>
      <p:sp>
        <p:nvSpPr>
          <p:cNvPr id="53" name="Badge 3"/>
          <p:cNvSpPr/>
          <p:nvPr/>
        </p:nvSpPr>
        <p:spPr>
          <a:xfrm>
            <a:off x="6812280" y="4315968"/>
            <a:ext cx="493776" cy="493776"/>
          </a:xfrm>
          <a:prstGeom prst="ellipse">
            <a:avLst/>
          </a:prstGeom>
          <a:solidFill>
            <a:schemeClr val="accent2"/>
          </a:solidFill>
          <a:ln/>
        </p:spPr>
      </p:sp>
      <p:sp>
        <p:nvSpPr>
          <p:cNvPr id="54" name="Text 47"/>
          <p:cNvSpPr txBox="1"/>
          <p:nvPr/>
        </p:nvSpPr>
        <p:spPr>
          <a:xfrm>
            <a:off x="6812280" y="4315968"/>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55" name="Text 48"/>
          <p:cNvSpPr txBox="1"/>
          <p:nvPr/>
        </p:nvSpPr>
        <p:spPr>
          <a:xfrm>
            <a:off x="7498080" y="4297680"/>
            <a:ext cx="4144975" cy="411480"/>
          </a:xfrm>
          <a:prstGeom prst="rect">
            <a:avLst/>
          </a:prstGeom>
          <a:noFill/>
          <a:ln/>
        </p:spPr>
        <p:txBody>
          <a:bodyPr wrap="square" lIns="0" tIns="0" rIns="0" bIns="0" rtlCol="0" anchor="t"/>
          <a:lstStyle/>
          <a:p>
            <a:pPr indent="0" marL="0">
              <a:buNone/>
            </a:pPr>
            <a:r>
              <a:rPr lang="en-US" sz="1100" b="1" dirty="0">
                <a:solidFill>
                  <a:schemeClr val="tx1"/>
                </a:solidFill>
              </a:rPr>
              <a:t>People</a:t>
            </a:r>
            <a:endParaRPr lang="en-US" sz="1100" dirty="0"/>
          </a:p>
          <a:p>
            <a:pPr indent="0" marL="0">
              <a:buNone/>
            </a:pPr>
            <a:r>
              <a:rPr lang="en-US" sz="950" dirty="0">
                <a:solidFill>
                  <a:schemeClr val="tx2"/>
                </a:solidFill>
              </a:rPr>
              <a:t>Name an independent consent-taker before anyone is approached; consent in Odia or Hindi</a:t>
            </a:r>
            <a:endParaRPr lang="en-US" sz="1100" dirty="0"/>
          </a:p>
        </p:txBody>
      </p:sp>
      <p:sp>
        <p:nvSpPr>
          <p:cNvPr id="56" name="Badge 4"/>
          <p:cNvSpPr/>
          <p:nvPr/>
        </p:nvSpPr>
        <p:spPr>
          <a:xfrm>
            <a:off x="6812280" y="4800600"/>
            <a:ext cx="493776" cy="493776"/>
          </a:xfrm>
          <a:prstGeom prst="ellipse">
            <a:avLst/>
          </a:prstGeom>
          <a:solidFill>
            <a:schemeClr val="accent2"/>
          </a:solidFill>
          <a:ln/>
        </p:spPr>
      </p:sp>
      <p:sp>
        <p:nvSpPr>
          <p:cNvPr id="57" name="Text 50"/>
          <p:cNvSpPr txBox="1"/>
          <p:nvPr/>
        </p:nvSpPr>
        <p:spPr>
          <a:xfrm>
            <a:off x="6812280" y="4800600"/>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58" name="Text 51"/>
          <p:cNvSpPr txBox="1"/>
          <p:nvPr/>
        </p:nvSpPr>
        <p:spPr>
          <a:xfrm>
            <a:off x="7498080" y="4782312"/>
            <a:ext cx="4144975" cy="411480"/>
          </a:xfrm>
          <a:prstGeom prst="rect">
            <a:avLst/>
          </a:prstGeom>
          <a:noFill/>
          <a:ln/>
        </p:spPr>
        <p:txBody>
          <a:bodyPr wrap="square" lIns="0" tIns="0" rIns="0" bIns="0" rtlCol="0" anchor="t"/>
          <a:lstStyle/>
          <a:p>
            <a:pPr indent="0" marL="0">
              <a:buNone/>
            </a:pPr>
            <a:r>
              <a:rPr lang="en-US" sz="1100" b="1" dirty="0">
                <a:solidFill>
                  <a:schemeClr val="tx1"/>
                </a:solidFill>
              </a:rPr>
              <a:t>Permission</a:t>
            </a:r>
            <a:endParaRPr lang="en-US" sz="1100" dirty="0"/>
          </a:p>
          <a:p>
            <a:pPr indent="0" marL="0">
              <a:buNone/>
            </a:pPr>
            <a:r>
              <a:rPr lang="en-US" sz="950" dirty="0">
                <a:solidFill>
                  <a:schemeClr val="tx2"/>
                </a:solidFill>
              </a:rPr>
              <a:t>Confirm the risk class and hold the MD 13 test licence before a unit leaves the lab</a:t>
            </a:r>
            <a:endParaRPr lang="en-US" sz="1100" dirty="0"/>
          </a:p>
        </p:txBody>
      </p:sp>
      <p:sp>
        <p:nvSpPr>
          <p:cNvPr id="59" name="Badge 5"/>
          <p:cNvSpPr/>
          <p:nvPr/>
        </p:nvSpPr>
        <p:spPr>
          <a:xfrm>
            <a:off x="6812280" y="5285232"/>
            <a:ext cx="493776" cy="493776"/>
          </a:xfrm>
          <a:prstGeom prst="ellipse">
            <a:avLst/>
          </a:prstGeom>
          <a:solidFill>
            <a:schemeClr val="accent2"/>
          </a:solidFill>
          <a:ln/>
        </p:spPr>
      </p:sp>
      <p:sp>
        <p:nvSpPr>
          <p:cNvPr id="60" name="Text 53"/>
          <p:cNvSpPr txBox="1"/>
          <p:nvPr/>
        </p:nvSpPr>
        <p:spPr>
          <a:xfrm>
            <a:off x="6812280" y="5285232"/>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61" name="Text 54"/>
          <p:cNvSpPr txBox="1"/>
          <p:nvPr/>
        </p:nvSpPr>
        <p:spPr>
          <a:xfrm>
            <a:off x="7498080" y="5266944"/>
            <a:ext cx="4144975" cy="411480"/>
          </a:xfrm>
          <a:prstGeom prst="rect">
            <a:avLst/>
          </a:prstGeom>
          <a:noFill/>
          <a:ln/>
        </p:spPr>
        <p:txBody>
          <a:bodyPr wrap="square" lIns="0" tIns="0" rIns="0" bIns="0" rtlCol="0" anchor="t"/>
          <a:lstStyle/>
          <a:p>
            <a:pPr indent="0" marL="0">
              <a:buNone/>
            </a:pPr>
            <a:r>
              <a:rPr lang="en-US" sz="1100" b="1" dirty="0">
                <a:solidFill>
                  <a:schemeClr val="tx1"/>
                </a:solidFill>
              </a:rPr>
              <a:t>Access</a:t>
            </a:r>
            <a:endParaRPr lang="en-US" sz="1100" dirty="0"/>
          </a:p>
          <a:p>
            <a:pPr indent="0" marL="0">
              <a:buNone/>
            </a:pPr>
            <a:r>
              <a:rPr lang="en-US" sz="950" dirty="0">
                <a:solidFill>
                  <a:schemeClr val="tx2"/>
                </a:solidFill>
              </a:rPr>
              <a:t>Cost the whole course for the household, not the device alone; decide rent or sell</a:t>
            </a:r>
            <a:endParaRPr lang="en-US" sz="1100" dirty="0"/>
          </a:p>
        </p:txBody>
      </p:sp>
      <p:sp>
        <p:nvSpPr>
          <p:cNvPr id="62" name="Badge 6"/>
          <p:cNvSpPr/>
          <p:nvPr/>
        </p:nvSpPr>
        <p:spPr>
          <a:xfrm>
            <a:off x="6812280" y="5769864"/>
            <a:ext cx="493776" cy="493776"/>
          </a:xfrm>
          <a:prstGeom prst="ellipse">
            <a:avLst/>
          </a:prstGeom>
          <a:solidFill>
            <a:schemeClr val="accent2"/>
          </a:solidFill>
          <a:ln/>
        </p:spPr>
      </p:sp>
      <p:sp>
        <p:nvSpPr>
          <p:cNvPr id="63" name="Text 56"/>
          <p:cNvSpPr txBox="1"/>
          <p:nvPr/>
        </p:nvSpPr>
        <p:spPr>
          <a:xfrm>
            <a:off x="6812280" y="5769864"/>
            <a:ext cx="493776" cy="493776"/>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64" name="Text 57"/>
          <p:cNvSpPr txBox="1"/>
          <p:nvPr/>
        </p:nvSpPr>
        <p:spPr>
          <a:xfrm>
            <a:off x="7498080" y="5751576"/>
            <a:ext cx="4144975" cy="411480"/>
          </a:xfrm>
          <a:prstGeom prst="rect">
            <a:avLst/>
          </a:prstGeom>
          <a:noFill/>
          <a:ln/>
        </p:spPr>
        <p:txBody>
          <a:bodyPr wrap="square" lIns="0" tIns="0" rIns="0" bIns="0" rtlCol="0" anchor="t"/>
          <a:lstStyle/>
          <a:p>
            <a:pPr indent="0" marL="0">
              <a:buNone/>
            </a:pPr>
            <a:r>
              <a:rPr lang="en-US" sz="1100" b="1" dirty="0">
                <a:solidFill>
                  <a:schemeClr val="tx1"/>
                </a:solidFill>
              </a:rPr>
              <a:t>Safety</a:t>
            </a:r>
            <a:endParaRPr lang="en-US" sz="1100" dirty="0"/>
          </a:p>
          <a:p>
            <a:pPr indent="0" marL="0">
              <a:buNone/>
            </a:pPr>
            <a:r>
              <a:rPr lang="en-US" sz="950" dirty="0">
                <a:solidFill>
                  <a:schemeClr val="tx2"/>
                </a:solidFill>
              </a:rPr>
              <a:t>Serial number on every unit; ‘report a problem’ in the app; name who can pause a release</a:t>
            </a:r>
            <a:endParaRPr lang="en-US" sz="11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REUSABLE TOOL</a:t>
            </a: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lIns="0" tIns="0" rIns="0" bIns="0" rtlCol="0" anchor="t"/>
          <a:lstStyle/>
          <a:p>
            <a:pPr algn="l" indent="0" marL="0">
              <a:buNone/>
            </a:pPr>
            <a:r>
              <a:rPr lang="en-US" sz="2600" b="1" dirty="0">
                <a:solidFill>
                  <a:schemeClr val="tx1"/>
                </a:solidFill>
              </a:rPr>
              <a:t>Patient-impact decision checklist</a:t>
            </a: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Stanford Biodesign; IDEAL-D; MRCT 2020; ISO 14971; Helsinki 2024; ICMR 2017; NDCT 2019; MDR-2017 (Rules 4, 44, 43A; Forms MD-3/5, 7/9, 12/13, 14/15, 22/23, 41/42); G.S.R. 777(E); CDSCO MDSW 2026; DPCO 2013; UCMPMD; DMRA; ASCI; MvPI</a:t>
            </a:r>
            <a:endParaRPr lang="en-US" sz="950" dirty="0"/>
          </a:p>
        </p:txBody>
      </p:sp>
      <p:graphicFrame>
        <p:nvGraphicFramePr>
          <p:cNvPr id="55" name="Matrix"/>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960120"/>
                <a:gridCol w="1691640"/>
                <a:gridCol w="3154680"/>
                <a:gridCol w="3410712"/>
                <a:gridCol w="822960"/>
                <a:gridCol w="1051560"/>
              </a:tblGrid>
              <a:tr h="640080">
                <a:tc>
                  <a:txBody>
                    <a:bodyPr/>
                    <a:lstStyle/>
                    <a:p>
                      <a:pPr indent="0" marL="0">
                        <a:buNone/>
                      </a:pPr>
                      <a:r>
                        <a:rPr lang="en-US" sz="950" b="1" dirty="0">
                          <a:solidFill>
                            <a:srgbClr val="FFFFFF"/>
                          </a:solidFill>
                        </a:rPr>
                        <a:t>Stage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950" b="1" dirty="0">
                          <a:solidFill>
                            <a:srgbClr val="FFFFFF"/>
                          </a:solidFill>
                        </a:rPr>
                        <a:t>The patient asks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950" b="1" dirty="0">
                          <a:solidFill>
                            <a:srgbClr val="FFFFFF"/>
                          </a:solidFill>
                        </a:rPr>
                        <a:t>Evidence to see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950" b="1" dirty="0">
                          <a:solidFill>
                            <a:srgbClr val="FFFFFF"/>
                          </a:solidFill>
                        </a:rPr>
                        <a:t>Permission in India (class · form · authority)</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950" b="1" dirty="0">
                          <a:solidFill>
                            <a:srgbClr val="FFFFFF"/>
                          </a:solidFill>
                        </a:rPr>
                        <a:t>Owner</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950" b="1" dirty="0">
                          <a:solidFill>
                            <a:srgbClr val="FFFFFF"/>
                          </a:solidFill>
                        </a:rPr>
                        <a:t>Decision</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r>
              <a:tr h="640080">
                <a:tc>
                  <a:txBody>
                    <a:bodyPr/>
                    <a:lstStyle/>
                    <a:p>
                      <a:pPr indent="0" marL="0">
                        <a:buNone/>
                      </a:pPr>
                      <a:r>
                        <a:rPr lang="en-US" sz="1100" b="1" dirty="0">
                          <a:solidFill>
                            <a:srgbClr val="FFFFFF"/>
                          </a:solidFill>
                        </a:rPr>
                        <a:t>Need</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900" dirty="0">
                          <a:solidFill>
                            <a:srgbClr val="17262B"/>
                          </a:solidFill>
                        </a:rPr>
                        <a:t>“Will it help me?”</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17262B"/>
                          </a:solidFill>
                        </a:rPr>
                        <a:t>A solution-neutral need statement; intended use and claim in one sentence. The wording of the claim sets the evidence bar (Stanford Biodesign)</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17262B"/>
                          </a:solidFill>
                        </a:rPr>
                        <a:t>Is it a device? D&amp;C Act s. 3(b)(iv): every device regulated since 1 Apr 2020. Risk class A–D by MDR-2017 Rule 4 and the First Schedule; check CDSCO's classification lists</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0E3B3D"/>
                          </a:solidFill>
                        </a:rPr>
                        <a:t>□ Go</a:t>
                      </a:r>
                      <a:endParaRPr lang="en-US" sz="950" dirty="0"/>
                    </a:p>
                    <a:p>
                      <a:pPr indent="0" marL="0">
                        <a:buNone/>
                      </a:pPr>
                      <a:r>
                        <a:rPr lang="en-US" sz="950" dirty="0">
                          <a:solidFill>
                            <a:srgbClr val="0E3B3D"/>
                          </a:solidFill>
                        </a:rPr>
                        <a:t>□ Not yet</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640080">
                <a:tc>
                  <a:txBody>
                    <a:bodyPr/>
                    <a:lstStyle/>
                    <a:p>
                      <a:pPr indent="0" marL="0">
                        <a:buNone/>
                      </a:pPr>
                      <a:r>
                        <a:rPr lang="en-US" sz="1100" b="1" dirty="0">
                          <a:solidFill>
                            <a:srgbClr val="FFFFFF"/>
                          </a:solidFill>
                        </a:rPr>
                        <a:t>Evidence</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900" dirty="0">
                          <a:solidFill>
                            <a:srgbClr val="17262B"/>
                          </a:solidFill>
                        </a:rPr>
                        <a:t>“Is it proven, for people like me?”</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00" dirty="0">
                          <a:solidFill>
                            <a:srgbClr val="17262B"/>
                          </a:solidFill>
                        </a:rPr>
                        <a:t>IDEAL-D stage reached; results by subgroup (MRCT 2020); an ISO 14971 risk file; a version log for software</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00" dirty="0">
                          <a:solidFill>
                            <a:srgbClr val="17262B"/>
                          </a:solidFill>
                        </a:rPr>
                        <a:t>Prototypes: test licence MD 12 → MD 13 (CLA; ₹500 per device; 3 years). Study: MD 22 → MD 23 with Seventh Schedule documents; CTRI before the first participant</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0E3B3D"/>
                          </a:solidFill>
                        </a:rPr>
                        <a:t>□ Go</a:t>
                      </a:r>
                      <a:endParaRPr lang="en-US" sz="950" dirty="0"/>
                    </a:p>
                    <a:p>
                      <a:pPr indent="0" marL="0">
                        <a:buNone/>
                      </a:pPr>
                      <a:r>
                        <a:rPr lang="en-US" sz="950" dirty="0">
                          <a:solidFill>
                            <a:srgbClr val="0E3B3D"/>
                          </a:solidFill>
                        </a:rPr>
                        <a:t>□ Not yet</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r h="640080">
                <a:tc>
                  <a:txBody>
                    <a:bodyPr/>
                    <a:lstStyle/>
                    <a:p>
                      <a:pPr indent="0" marL="0">
                        <a:buNone/>
                      </a:pPr>
                      <a:r>
                        <a:rPr lang="en-US" sz="1100" b="1" dirty="0">
                          <a:solidFill>
                            <a:srgbClr val="FFFFFF"/>
                          </a:solidFill>
                        </a:rPr>
                        <a:t>People</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900" dirty="0">
                          <a:solidFill>
                            <a:srgbClr val="17262B"/>
                          </a:solidFill>
                        </a:rPr>
                        <a:t>“Can I say no? Who gains if I say yes?”</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17262B"/>
                          </a:solidFill>
                        </a:rPr>
                        <a:t>Consent in the participant's language; an independent consent-taker where a patient depends on the researcher (Helsinki 2024, para 27); interests disclosed and managed (ICMR 2017)</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17262B"/>
                          </a:solidFill>
                        </a:rPr>
                        <a:t>Ethics committee registered with CDSCO (NDCT Rules 2019, Rules 7–8; MDR Rule 50). Companies: UCMPMD 2024. Doctors: IMC 2002 cl. 6.8</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0E3B3D"/>
                          </a:solidFill>
                        </a:rPr>
                        <a:t>□ Go</a:t>
                      </a:r>
                      <a:endParaRPr lang="en-US" sz="950" dirty="0"/>
                    </a:p>
                    <a:p>
                      <a:pPr indent="0" marL="0">
                        <a:buNone/>
                      </a:pPr>
                      <a:r>
                        <a:rPr lang="en-US" sz="950" dirty="0">
                          <a:solidFill>
                            <a:srgbClr val="0E3B3D"/>
                          </a:solidFill>
                        </a:rPr>
                        <a:t>□ Not yet</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640080">
                <a:tc>
                  <a:txBody>
                    <a:bodyPr/>
                    <a:lstStyle/>
                    <a:p>
                      <a:pPr indent="0" marL="0">
                        <a:buNone/>
                      </a:pPr>
                      <a:r>
                        <a:rPr lang="en-US" sz="1100" b="1" dirty="0">
                          <a:solidFill>
                            <a:srgbClr val="FFFFFF"/>
                          </a:solidFill>
                        </a:rPr>
                        <a:t>Permission</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900" dirty="0">
                          <a:solidFill>
                            <a:srgbClr val="17262B"/>
                          </a:solidFill>
                        </a:rPr>
                        <a:t>“Is it allowed for this use?”</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00" dirty="0">
                          <a:solidFill>
                            <a:srgbClr val="17262B"/>
                          </a:solidFill>
                        </a:rPr>
                        <a:t>QMS to the Fifth Schedule (ISO 13485-aligned); Essential Principles checklist; Rule 44 labelling; software lifecycle and change control (CDSCO MDSW guidance, 21 Jul 2026)</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00" dirty="0">
                          <a:solidFill>
                            <a:srgbClr val="17262B"/>
                          </a:solidFill>
                        </a:rPr>
                        <a:t>Class A/B: MD 3 → MD 5, State Licensing Authority, notified-body audit. Class C/D: MD 7 → MD 9, CDSCO. Class A non-sterile non-measuring: registration only (G.S.R. 777(E), 2022). Import, any class: MD 14 → MD 15</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0E3B3D"/>
                          </a:solidFill>
                        </a:rPr>
                        <a:t>□ Go</a:t>
                      </a:r>
                      <a:endParaRPr lang="en-US" sz="950" dirty="0"/>
                    </a:p>
                    <a:p>
                      <a:pPr indent="0" marL="0">
                        <a:buNone/>
                      </a:pPr>
                      <a:r>
                        <a:rPr lang="en-US" sz="950" dirty="0">
                          <a:solidFill>
                            <a:srgbClr val="0E3B3D"/>
                          </a:solidFill>
                        </a:rPr>
                        <a:t>□ Not yet</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r h="640080">
                <a:tc>
                  <a:txBody>
                    <a:bodyPr/>
                    <a:lstStyle/>
                    <a:p>
                      <a:pPr indent="0" marL="0">
                        <a:buNone/>
                      </a:pPr>
                      <a:r>
                        <a:rPr lang="en-US" sz="1100" b="1" dirty="0">
                          <a:solidFill>
                            <a:srgbClr val="FFFFFF"/>
                          </a:solidFill>
                        </a:rPr>
                        <a:t>Access</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900" dirty="0">
                          <a:solidFill>
                            <a:srgbClr val="17262B"/>
                          </a:solidFill>
                        </a:rPr>
                        <a:t>“Can I afford it and use it?”</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17262B"/>
                          </a:solidFill>
                        </a:rPr>
                        <a:t>A capability audit (Cambridge toolkit) plus the Indian demands; the total cost of a course and who pays each step; claims matched to evidence</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00" dirty="0">
                          <a:solidFill>
                            <a:srgbClr val="17262B"/>
                          </a:solidFill>
                        </a:rPr>
                        <a:t>NPPA under DPCO 2013: Para 19 ceilings (stents and knee implants, 2017), Para 20 MRP monitoring, trade-margin caps (2021). Claims: UCMPMD 2024, DMRA 1954, ASCI Code. Sellers: MD 41 → MD 42 (State)</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0E3B3D"/>
                          </a:solidFill>
                        </a:rPr>
                        <a:t>□ Go</a:t>
                      </a:r>
                      <a:endParaRPr lang="en-US" sz="950" dirty="0"/>
                    </a:p>
                    <a:p>
                      <a:pPr indent="0" marL="0">
                        <a:buNone/>
                      </a:pPr>
                      <a:r>
                        <a:rPr lang="en-US" sz="950" dirty="0">
                          <a:solidFill>
                            <a:srgbClr val="0E3B3D"/>
                          </a:solidFill>
                        </a:rPr>
                        <a:t>□ Not yet</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640080">
                <a:tc>
                  <a:txBody>
                    <a:bodyPr/>
                    <a:lstStyle/>
                    <a:p>
                      <a:pPr indent="0" marL="0">
                        <a:buNone/>
                      </a:pPr>
                      <a:r>
                        <a:rPr lang="en-US" sz="1100" b="1" dirty="0">
                          <a:solidFill>
                            <a:srgbClr val="FFFFFF"/>
                          </a:solidFill>
                        </a:rPr>
                        <a:t>Safety</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900" dirty="0">
                          <a:solidFill>
                            <a:srgbClr val="17262B"/>
                          </a:solidFill>
                        </a:rPr>
                        <a:t>“Who answers if it fails?”</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00" dirty="0">
                          <a:solidFill>
                            <a:srgbClr val="17262B"/>
                          </a:solidFill>
                        </a:rPr>
                        <a:t>A named owner for each step of the harm loop; serial numbers and a registry; monitoring and a rollback trigger for every software change</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00" dirty="0">
                          <a:solidFill>
                            <a:srgbClr val="17262B"/>
                          </a:solidFill>
                        </a:rPr>
                        <a:t>MvPI MDAE form (IPC; 1800 180 3024); licence holder reports serious events to CDSCO within 15 days (circular 15 May 2024); PSUR 6-monthly × 2 years, then yearly × 2; Rule 43A suspension</a:t>
                      </a: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endParaRPr lang="en-US" sz="9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0E3B3D"/>
                          </a:solidFill>
                        </a:rPr>
                        <a:t>□ Go</a:t>
                      </a:r>
                      <a:endParaRPr lang="en-US" sz="950" dirty="0"/>
                    </a:p>
                    <a:p>
                      <a:pPr indent="0" marL="0">
                        <a:buNone/>
                      </a:pPr>
                      <a:r>
                        <a:rPr lang="en-US" sz="950" dirty="0">
                          <a:solidFill>
                            <a:srgbClr val="0E3B3D"/>
                          </a:solidFill>
                        </a:rPr>
                        <a:t>□ Not yet</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bl>
          </a:graphicData>
        </a:graphic>
      </p:graphicFrame>
      <p:sp>
        <p:nvSpPr>
          <p:cNvPr id="7" name="Callout"/>
          <p:cNvSpPr/>
          <p:nvPr/>
        </p:nvSpPr>
        <p:spPr>
          <a:xfrm>
            <a:off x="548640" y="5943600"/>
            <a:ext cx="11094415" cy="329184"/>
          </a:xfrm>
          <a:prstGeom prst="roundRect">
            <a:avLst>
              <a:gd name="adj" fmla="val 22222"/>
            </a:avLst>
          </a:prstGeom>
          <a:solidFill>
            <a:schemeClr val="accent3">
              <a:alpha val="12000"/>
            </a:schemeClr>
          </a:solidFill>
          <a:ln/>
        </p:spPr>
      </p:sp>
      <p:sp>
        <p:nvSpPr>
          <p:cNvPr id="8" name="Callout bar"/>
          <p:cNvSpPr/>
          <p:nvPr/>
        </p:nvSpPr>
        <p:spPr>
          <a:xfrm>
            <a:off x="548640" y="6035040"/>
            <a:ext cx="64008" cy="146304"/>
          </a:xfrm>
          <a:prstGeom prst="rect">
            <a:avLst/>
          </a:prstGeom>
          <a:solidFill>
            <a:schemeClr val="accent3"/>
          </a:solidFill>
          <a:ln/>
        </p:spPr>
      </p:sp>
      <p:sp>
        <p:nvSpPr>
          <p:cNvPr id="9" name="Text 5"/>
          <p:cNvSpPr txBox="1"/>
          <p:nvPr/>
        </p:nvSpPr>
        <p:spPr>
          <a:xfrm>
            <a:off x="822960" y="5943600"/>
            <a:ext cx="10682935" cy="329184"/>
          </a:xfrm>
          <a:prstGeom prst="rect">
            <a:avLst/>
          </a:prstGeom>
          <a:noFill/>
          <a:ln/>
        </p:spPr>
        <p:txBody>
          <a:bodyPr wrap="square" lIns="0" tIns="0" rIns="0" bIns="0" rtlCol="0" anchor="ctr"/>
          <a:lstStyle/>
          <a:p>
            <a:pPr indent="0" marL="0">
              <a:buNone/>
            </a:pPr>
            <a:r>
              <a:rPr lang="en-US" sz="950" dirty="0">
                <a:solidFill>
                  <a:schemeClr val="tx1"/>
                </a:solidFill>
              </a:rPr>
              <a:t>A workshop synthesis, not a substitute for ethics, scientific, regulatory or quality review. Every ‘Not yet’ needs an owner and a condition for proceeding. A licence, patent, grant or famous partner is not evidence of readiness.</a:t>
            </a: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FORMS</a:t>
            </a: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lIns="0" tIns="0" rIns="0" bIns="0" rtlCol="0" anchor="t"/>
          <a:lstStyle/>
          <a:p>
            <a:pPr algn="l" indent="0" marL="0">
              <a:buNone/>
            </a:pPr>
            <a:r>
              <a:rPr lang="en-US" sz="2600" b="1" dirty="0">
                <a:solidFill>
                  <a:schemeClr val="tx1"/>
                </a:solidFill>
              </a:rPr>
              <a:t>MDR-2017 forms at a glance</a:t>
            </a: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MDR-2017 and CDSCO regulatory-pathway sheet; Forms MD-12, MD-14, MD-22 (cdsco.gov.in); G.S.R. 188(E) 6 Mar 2019; G.S.R. 754(E) 30 Sep 2022; G.S.R. 777(E) 14 Oct 2022; G.S.R. 743(E) and 744(E) 14 Aug 2026; FoGO BIRAC BIG presentation (MD-13, 10 Aug 2026)</a:t>
            </a:r>
            <a:endParaRPr lang="en-US" sz="950" dirty="0"/>
          </a:p>
        </p:txBody>
      </p:sp>
      <p:graphicFrame>
        <p:nvGraphicFramePr>
          <p:cNvPr id="56" name="Matrix"/>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417320"/>
                <a:gridCol w="2331720"/>
                <a:gridCol w="960120"/>
                <a:gridCol w="960120"/>
                <a:gridCol w="1143000"/>
                <a:gridCol w="4279392"/>
              </a:tblGrid>
              <a:tr h="310896">
                <a:tc>
                  <a:txBody>
                    <a:bodyPr/>
                    <a:lstStyle/>
                    <a:p>
                      <a:pPr indent="0" marL="0">
                        <a:buNone/>
                      </a:pPr>
                      <a:r>
                        <a:rPr lang="en-US" sz="1050" b="1" dirty="0">
                          <a:solidFill>
                            <a:srgbClr val="FFFFFF"/>
                          </a:solidFill>
                        </a:rPr>
                        <a:t>Activity</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Class or scope</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Apply in</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Granted as</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Who decides</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Rule, schedule or note</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r>
              <a:tr h="402336">
                <a:tc>
                  <a:txBody>
                    <a:bodyPr/>
                    <a:lstStyle/>
                    <a:p>
                      <a:pPr indent="0" marL="0">
                        <a:buNone/>
                      </a:pPr>
                      <a:r>
                        <a:rPr lang="en-US" sz="1000" b="1" dirty="0">
                          <a:solidFill>
                            <a:srgbClr val="0E3B3D"/>
                          </a:solidFill>
                        </a:rPr>
                        <a:t>Manufacture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17262B"/>
                          </a:solidFill>
                        </a:rPr>
                        <a:t>Class A, non-sterile and non-measuring</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950" b="1" dirty="0">
                          <a:solidFill>
                            <a:srgbClr val="0E3B3D"/>
                          </a:solidFill>
                        </a:rPr>
                        <a:t>Online registration</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950" b="1" dirty="0">
                          <a:solidFill>
                            <a:srgbClr val="0E3B3D"/>
                          </a:solidFill>
                        </a:rPr>
                        <a:t>Registration number</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950" b="1" dirty="0">
                          <a:solidFill>
                            <a:srgbClr val="0E3B3D"/>
                          </a:solidFill>
                        </a:rPr>
                        <a:t>Online portal</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17262B"/>
                          </a:solidFill>
                        </a:rPr>
                        <a:t>G.S.R. 777(E), 14 Oct 2022: self-certified Essential Principles checklist and undertaking; no licence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402336">
                <a:tc>
                  <a:txBody>
                    <a:bodyPr/>
                    <a:lstStyle/>
                    <a:p>
                      <a:pPr indent="0" marL="0">
                        <a:buNone/>
                      </a:pPr>
                      <a:r>
                        <a:rPr lang="en-US" sz="1000" b="1" dirty="0">
                          <a:solidFill>
                            <a:srgbClr val="0E3B3D"/>
                          </a:solidFill>
                        </a:rPr>
                        <a:t>Manufacture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17262B"/>
                          </a:solidFill>
                        </a:rPr>
                        <a:t>Class A sterile or measuring; Class B</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F7C74"/>
                          </a:solidFill>
                        </a:rPr>
                        <a:t>MD‑3</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F7C74"/>
                          </a:solidFill>
                        </a:rPr>
                        <a:t>MD‑5</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c>
                  <a:txBody>
                    <a:bodyPr/>
                    <a:lstStyle/>
                    <a:p>
                      <a:pPr algn="ctr" indent="0" marL="0">
                        <a:buNone/>
                      </a:pPr>
                      <a:r>
                        <a:rPr lang="en-US" sz="950" b="1" dirty="0">
                          <a:solidFill>
                            <a:srgbClr val="0F7C74"/>
                          </a:solidFill>
                        </a:rPr>
                        <a:t>State (SLA)</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c>
                  <a:txBody>
                    <a:bodyPr/>
                    <a:lstStyle/>
                    <a:p>
                      <a:pPr indent="0" marL="0">
                        <a:buNone/>
                      </a:pPr>
                      <a:r>
                        <a:rPr lang="en-US" sz="950" dirty="0">
                          <a:solidFill>
                            <a:srgbClr val="17262B"/>
                          </a:solidFill>
                        </a:rPr>
                        <a:t>Rule 20; a Rule 13 notified body audits the site against the Fifth Schedule QMS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r h="310896">
                <a:tc>
                  <a:txBody>
                    <a:bodyPr/>
                    <a:lstStyle/>
                    <a:p>
                      <a:pPr indent="0" marL="0">
                        <a:buNone/>
                      </a:pPr>
                      <a:r>
                        <a:rPr lang="en-US" sz="1000" b="1" dirty="0">
                          <a:solidFill>
                            <a:srgbClr val="0E3B3D"/>
                          </a:solidFill>
                        </a:rPr>
                        <a:t>Manufacture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17262B"/>
                          </a:solidFill>
                        </a:rPr>
                        <a:t>Class C; Class D</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100" b="1" dirty="0">
                          <a:solidFill>
                            <a:srgbClr val="3D5A80"/>
                          </a:solidFill>
                        </a:rPr>
                        <a:t>MD‑7</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algn="ctr" indent="0" marL="0">
                        <a:buNone/>
                      </a:pPr>
                      <a:r>
                        <a:rPr lang="en-US" sz="1100" b="1" dirty="0">
                          <a:solidFill>
                            <a:srgbClr val="3D5A80"/>
                          </a:solidFill>
                        </a:rPr>
                        <a:t>MD‑9</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algn="ctr" indent="0" marL="0">
                        <a:buNone/>
                      </a:pPr>
                      <a:r>
                        <a:rPr lang="en-US" sz="950" b="1" dirty="0">
                          <a:solidFill>
                            <a:srgbClr val="3D5A80"/>
                          </a:solidFill>
                        </a:rPr>
                        <a:t>Central (CLA)</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950" dirty="0">
                          <a:solidFill>
                            <a:srgbClr val="17262B"/>
                          </a:solidFill>
                        </a:rPr>
                        <a:t>Rules 21–23; CDSCO Medical Device Officers inspect the site before grant</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310896">
                <a:tc>
                  <a:txBody>
                    <a:bodyPr/>
                    <a:lstStyle/>
                    <a:p>
                      <a:pPr indent="0" marL="0">
                        <a:buNone/>
                      </a:pPr>
                      <a:r>
                        <a:rPr lang="en-US" sz="1000" b="1" dirty="0">
                          <a:solidFill>
                            <a:srgbClr val="0E3B3D"/>
                          </a:solidFill>
                        </a:rPr>
                        <a:t>Loan licence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17262B"/>
                          </a:solidFill>
                        </a:rPr>
                        <a:t>Class A; Class B</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F7C74"/>
                          </a:solidFill>
                        </a:rPr>
                        <a:t>MD‑4</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F7C74"/>
                          </a:solidFill>
                        </a:rPr>
                        <a:t>MD‑6</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c>
                  <a:txBody>
                    <a:bodyPr/>
                    <a:lstStyle/>
                    <a:p>
                      <a:pPr algn="ctr" indent="0" marL="0">
                        <a:buNone/>
                      </a:pPr>
                      <a:r>
                        <a:rPr lang="en-US" sz="950" b="1" dirty="0">
                          <a:solidFill>
                            <a:srgbClr val="0F7C74"/>
                          </a:solidFill>
                        </a:rPr>
                        <a:t>State (SLA)</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c>
                  <a:txBody>
                    <a:bodyPr/>
                    <a:lstStyle/>
                    <a:p>
                      <a:pPr indent="0" marL="0">
                        <a:buNone/>
                      </a:pPr>
                      <a:r>
                        <a:rPr lang="en-US" sz="950" dirty="0">
                          <a:solidFill>
                            <a:srgbClr val="17262B"/>
                          </a:solidFill>
                        </a:rPr>
                        <a:t>Same fee as the manufacturing licence (Second Schedule)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r h="310896">
                <a:tc>
                  <a:txBody>
                    <a:bodyPr/>
                    <a:lstStyle/>
                    <a:p>
                      <a:pPr indent="0" marL="0">
                        <a:buNone/>
                      </a:pPr>
                      <a:r>
                        <a:rPr lang="en-US" sz="1000" b="1" dirty="0">
                          <a:solidFill>
                            <a:srgbClr val="0E3B3D"/>
                          </a:solidFill>
                        </a:rPr>
                        <a:t>Loan licence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17262B"/>
                          </a:solidFill>
                        </a:rPr>
                        <a:t>Class C; Class D</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100" b="1" dirty="0">
                          <a:solidFill>
                            <a:srgbClr val="3D5A80"/>
                          </a:solidFill>
                        </a:rPr>
                        <a:t>MD‑8</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algn="ctr" indent="0" marL="0">
                        <a:buNone/>
                      </a:pPr>
                      <a:r>
                        <a:rPr lang="en-US" sz="1100" b="1" dirty="0">
                          <a:solidFill>
                            <a:srgbClr val="3D5A80"/>
                          </a:solidFill>
                        </a:rPr>
                        <a:t>MD‑10</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algn="ctr" indent="0" marL="0">
                        <a:buNone/>
                      </a:pPr>
                      <a:r>
                        <a:rPr lang="en-US" sz="950" b="1" dirty="0">
                          <a:solidFill>
                            <a:srgbClr val="3D5A80"/>
                          </a:solidFill>
                        </a:rPr>
                        <a:t>Central (CLA)</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950" dirty="0">
                          <a:solidFill>
                            <a:srgbClr val="17262B"/>
                          </a:solidFill>
                        </a:rPr>
                        <a:t>MD‑10 issued by the CLA since G.S.R. 188(E), 6 Mar 2019</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402336">
                <a:tc>
                  <a:txBody>
                    <a:bodyPr/>
                    <a:lstStyle/>
                    <a:p>
                      <a:pPr indent="0" marL="0">
                        <a:buNone/>
                      </a:pPr>
                      <a:r>
                        <a:rPr lang="en-US" sz="1000" b="1" dirty="0">
                          <a:solidFill>
                            <a:srgbClr val="0E3B3D"/>
                          </a:solidFill>
                        </a:rPr>
                        <a:t>Test licence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17262B"/>
                          </a:solidFill>
                        </a:rPr>
                        <a:t>Make units for study, test, evaluation, demonstration or training</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D5A80"/>
                          </a:solidFill>
                        </a:rPr>
                        <a:t>MD‑12</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algn="ctr" indent="0" marL="0">
                        <a:buNone/>
                      </a:pPr>
                      <a:r>
                        <a:rPr lang="en-US" sz="1100" b="1" dirty="0">
                          <a:solidFill>
                            <a:srgbClr val="3D5A80"/>
                          </a:solidFill>
                        </a:rPr>
                        <a:t>MD‑13</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algn="ctr" indent="0" marL="0">
                        <a:buNone/>
                      </a:pPr>
                      <a:r>
                        <a:rPr lang="en-US" sz="950" b="1" dirty="0">
                          <a:solidFill>
                            <a:srgbClr val="3D5A80"/>
                          </a:solidFill>
                        </a:rPr>
                        <a:t>Central (CLA)</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950" dirty="0">
                          <a:solidFill>
                            <a:srgbClr val="17262B"/>
                          </a:solidFill>
                        </a:rPr>
                        <a:t>₹500 per device. FoGO holds MD‑13 for 25 units (10 Aug 2026)</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r h="310896">
                <a:tc>
                  <a:txBody>
                    <a:bodyPr/>
                    <a:lstStyle/>
                    <a:p>
                      <a:pPr indent="0" marL="0">
                        <a:buNone/>
                      </a:pPr>
                      <a:r>
                        <a:rPr lang="en-US" sz="1000" b="1" dirty="0">
                          <a:solidFill>
                            <a:srgbClr val="0E3B3D"/>
                          </a:solidFill>
                        </a:rPr>
                        <a:t>Test licence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17262B"/>
                          </a:solidFill>
                        </a:rPr>
                        <a:t>Import units for the same purposes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100" b="1" dirty="0">
                          <a:solidFill>
                            <a:srgbClr val="3D5A80"/>
                          </a:solidFill>
                        </a:rPr>
                        <a:t>MD‑16</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algn="ctr" indent="0" marL="0">
                        <a:buNone/>
                      </a:pPr>
                      <a:r>
                        <a:rPr lang="en-US" sz="1100" b="1" dirty="0">
                          <a:solidFill>
                            <a:srgbClr val="3D5A80"/>
                          </a:solidFill>
                        </a:rPr>
                        <a:t>MD‑17</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algn="ctr" indent="0" marL="0">
                        <a:buNone/>
                      </a:pPr>
                      <a:r>
                        <a:rPr lang="en-US" sz="950" b="1" dirty="0">
                          <a:solidFill>
                            <a:srgbClr val="3D5A80"/>
                          </a:solidFill>
                        </a:rPr>
                        <a:t>Central (CLA)</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950" dirty="0">
                          <a:solidFill>
                            <a:srgbClr val="17262B"/>
                          </a:solidFill>
                        </a:rPr>
                        <a:t>US$100 per device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310896">
                <a:tc>
                  <a:txBody>
                    <a:bodyPr/>
                    <a:lstStyle/>
                    <a:p>
                      <a:pPr indent="0" marL="0">
                        <a:buNone/>
                      </a:pPr>
                      <a:r>
                        <a:rPr lang="en-US" sz="1000" b="1" dirty="0">
                          <a:solidFill>
                            <a:srgbClr val="0E3B3D"/>
                          </a:solidFill>
                        </a:rPr>
                        <a:t>Clinical investigation</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17262B"/>
                          </a:solidFill>
                        </a:rPr>
                        <a:t>Investigational device, any class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D5A80"/>
                          </a:solidFill>
                        </a:rPr>
                        <a:t>MD‑22</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algn="ctr" indent="0" marL="0">
                        <a:buNone/>
                      </a:pPr>
                      <a:r>
                        <a:rPr lang="en-US" sz="1100" b="1" dirty="0">
                          <a:solidFill>
                            <a:srgbClr val="3D5A80"/>
                          </a:solidFill>
                        </a:rPr>
                        <a:t>MD‑23</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algn="ctr" indent="0" marL="0">
                        <a:buNone/>
                      </a:pPr>
                      <a:r>
                        <a:rPr lang="en-US" sz="950" b="1" dirty="0">
                          <a:solidFill>
                            <a:srgbClr val="3D5A80"/>
                          </a:solidFill>
                        </a:rPr>
                        <a:t>Central (CLA)</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950" dirty="0">
                          <a:solidFill>
                            <a:srgbClr val="17262B"/>
                          </a:solidFill>
                        </a:rPr>
                        <a:t>Chapter VII; Seventh Schedule dossier, including the ethics committee approval</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r h="402336">
                <a:tc>
                  <a:txBody>
                    <a:bodyPr/>
                    <a:lstStyle/>
                    <a:p>
                      <a:pPr indent="0" marL="0">
                        <a:buNone/>
                      </a:pPr>
                      <a:r>
                        <a:rPr lang="en-US" sz="1000" b="1" dirty="0">
                          <a:solidFill>
                            <a:srgbClr val="0E3B3D"/>
                          </a:solidFill>
                        </a:rPr>
                        <a:t>New device, no predicate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17262B"/>
                          </a:solidFill>
                        </a:rPr>
                        <a:t>Import or manufacture under Rule 63</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100" b="1" dirty="0">
                          <a:solidFill>
                            <a:srgbClr val="3D5A80"/>
                          </a:solidFill>
                        </a:rPr>
                        <a:t>MD‑26</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algn="ctr" indent="0" marL="0">
                        <a:buNone/>
                      </a:pPr>
                      <a:r>
                        <a:rPr lang="en-US" sz="1100" b="1" dirty="0">
                          <a:solidFill>
                            <a:srgbClr val="3D5A80"/>
                          </a:solidFill>
                        </a:rPr>
                        <a:t>MD‑27</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algn="ctr" indent="0" marL="0">
                        <a:buNone/>
                      </a:pPr>
                      <a:r>
                        <a:rPr lang="en-US" sz="950" b="1" dirty="0">
                          <a:solidFill>
                            <a:srgbClr val="3D5A80"/>
                          </a:solidFill>
                        </a:rPr>
                        <a:t>Central (CLA)</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950" dirty="0">
                          <a:solidFill>
                            <a:srgbClr val="17262B"/>
                          </a:solidFill>
                        </a:rPr>
                        <a:t>Local study waivable if approved in the US, UK, Australia, Canada, Japan or EU (G.S.R. 744(E), 14 Aug 2026) and marketed 2 years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310896">
                <a:tc>
                  <a:txBody>
                    <a:bodyPr/>
                    <a:lstStyle/>
                    <a:p>
                      <a:pPr indent="0" marL="0">
                        <a:buNone/>
                      </a:pPr>
                      <a:r>
                        <a:rPr lang="en-US" sz="1000" b="1" dirty="0">
                          <a:solidFill>
                            <a:srgbClr val="0E3B3D"/>
                          </a:solidFill>
                        </a:rPr>
                        <a:t>Import</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17262B"/>
                          </a:solidFill>
                        </a:rPr>
                        <a:t>Any class, through an Indian authorised agent</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D5A80"/>
                          </a:solidFill>
                        </a:rPr>
                        <a:t>MD‑14</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algn="ctr" indent="0" marL="0">
                        <a:buNone/>
                      </a:pPr>
                      <a:r>
                        <a:rPr lang="en-US" sz="1100" b="1" dirty="0">
                          <a:solidFill>
                            <a:srgbClr val="3D5A80"/>
                          </a:solidFill>
                        </a:rPr>
                        <a:t>MD‑15</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algn="ctr" indent="0" marL="0">
                        <a:buNone/>
                      </a:pPr>
                      <a:r>
                        <a:rPr lang="en-US" sz="950" b="1" dirty="0">
                          <a:solidFill>
                            <a:srgbClr val="3D5A80"/>
                          </a:solidFill>
                        </a:rPr>
                        <a:t>Central (CLA)</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indent="0" marL="0">
                        <a:buNone/>
                      </a:pPr>
                      <a:r>
                        <a:rPr lang="en-US" sz="950" dirty="0">
                          <a:solidFill>
                            <a:srgbClr val="17262B"/>
                          </a:solidFill>
                        </a:rPr>
                        <a:t>Rules 34–36; decision within 9 months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r h="402336">
                <a:tc>
                  <a:txBody>
                    <a:bodyPr/>
                    <a:lstStyle/>
                    <a:p>
                      <a:pPr indent="0" marL="0">
                        <a:buNone/>
                      </a:pPr>
                      <a:r>
                        <a:rPr lang="en-US" sz="1000" b="1" dirty="0">
                          <a:solidFill>
                            <a:srgbClr val="0E3B3D"/>
                          </a:solidFill>
                        </a:rPr>
                        <a:t>Sale and distribution</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17262B"/>
                          </a:solidFill>
                        </a:rPr>
                        <a:t>Any device, including IVDs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100" b="1" dirty="0">
                          <a:solidFill>
                            <a:srgbClr val="0F7C74"/>
                          </a:solidFill>
                        </a:rPr>
                        <a:t>MD‑41</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F7C74"/>
                          </a:solidFill>
                        </a:rPr>
                        <a:t>MD‑42</a:t>
                      </a:r>
                      <a:endParaRPr lang="en-US" sz="11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c>
                  <a:txBody>
                    <a:bodyPr/>
                    <a:lstStyle/>
                    <a:p>
                      <a:pPr algn="ctr" indent="0" marL="0">
                        <a:buNone/>
                      </a:pPr>
                      <a:r>
                        <a:rPr lang="en-US" sz="950" b="1" dirty="0">
                          <a:solidFill>
                            <a:srgbClr val="0F7C74"/>
                          </a:solidFill>
                        </a:rPr>
                        <a:t>State (SLA)</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c>
                  <a:txBody>
                    <a:bodyPr/>
                    <a:lstStyle/>
                    <a:p>
                      <a:pPr indent="0" marL="0">
                        <a:buNone/>
                      </a:pPr>
                      <a:r>
                        <a:rPr lang="en-US" sz="950" dirty="0">
                          <a:solidFill>
                            <a:srgbClr val="17262B"/>
                          </a:solidFill>
                        </a:rPr>
                        <a:t>Rule 87A (G.S.R. 754(E), 30 Sep 2022); ₹3,000; deemed granted unless rejected in 10 days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bl>
          </a:graphicData>
        </a:graphic>
      </p:graphicFrame>
      <p:sp>
        <p:nvSpPr>
          <p:cNvPr id="7" name="Pill State · SLA (teal)"/>
          <p:cNvSpPr/>
          <p:nvPr/>
        </p:nvSpPr>
        <p:spPr>
          <a:xfrm>
            <a:off x="7863840" y="932688"/>
            <a:ext cx="1691640" cy="274320"/>
          </a:xfrm>
          <a:prstGeom prst="roundRect">
            <a:avLst>
              <a:gd name="adj" fmla="val 50000"/>
            </a:avLst>
          </a:prstGeom>
          <a:solidFill>
            <a:schemeClr val="bg1"/>
          </a:solidFill>
          <a:ln w="15875">
            <a:solidFill>
              <a:schemeClr val="accent1"/>
            </a:solidFill>
            <a:prstDash val="solid"/>
          </a:ln>
        </p:spPr>
      </p:sp>
      <p:sp>
        <p:nvSpPr>
          <p:cNvPr id="8" name="Text 4"/>
          <p:cNvSpPr txBox="1"/>
          <p:nvPr/>
        </p:nvSpPr>
        <p:spPr>
          <a:xfrm>
            <a:off x="7863840" y="932688"/>
            <a:ext cx="1691640" cy="274320"/>
          </a:xfrm>
          <a:prstGeom prst="rect">
            <a:avLst/>
          </a:prstGeom>
          <a:noFill/>
          <a:ln/>
        </p:spPr>
        <p:txBody>
          <a:bodyPr wrap="square" lIns="0" tIns="0" rIns="0" bIns="0" rtlCol="0" anchor="ctr"/>
          <a:lstStyle/>
          <a:p>
            <a:pPr algn="ctr" indent="0" marL="0">
              <a:buNone/>
            </a:pPr>
            <a:r>
              <a:rPr lang="en-US" sz="950" b="1" dirty="0">
                <a:solidFill>
                  <a:schemeClr val="accent1"/>
                </a:solidFill>
              </a:rPr>
              <a:t>State · SLA (teal)</a:t>
            </a:r>
            <a:endParaRPr lang="en-US" sz="950" dirty="0"/>
          </a:p>
        </p:txBody>
      </p:sp>
      <p:sp>
        <p:nvSpPr>
          <p:cNvPr id="9" name="Pill Central · CDSCO, CLA (indigo)"/>
          <p:cNvSpPr/>
          <p:nvPr/>
        </p:nvSpPr>
        <p:spPr>
          <a:xfrm>
            <a:off x="9646920" y="932688"/>
            <a:ext cx="1993392" cy="274320"/>
          </a:xfrm>
          <a:prstGeom prst="roundRect">
            <a:avLst>
              <a:gd name="adj" fmla="val 50000"/>
            </a:avLst>
          </a:prstGeom>
          <a:solidFill>
            <a:schemeClr val="bg1"/>
          </a:solidFill>
          <a:ln w="15875">
            <a:solidFill>
              <a:schemeClr val="accent4"/>
            </a:solidFill>
            <a:prstDash val="solid"/>
          </a:ln>
        </p:spPr>
      </p:sp>
      <p:sp>
        <p:nvSpPr>
          <p:cNvPr id="10" name="Text 6"/>
          <p:cNvSpPr txBox="1"/>
          <p:nvPr/>
        </p:nvSpPr>
        <p:spPr>
          <a:xfrm>
            <a:off x="9646920" y="932688"/>
            <a:ext cx="1993392" cy="274320"/>
          </a:xfrm>
          <a:prstGeom prst="rect">
            <a:avLst/>
          </a:prstGeom>
          <a:noFill/>
          <a:ln/>
        </p:spPr>
        <p:txBody>
          <a:bodyPr wrap="square" lIns="0" tIns="0" rIns="0" bIns="0" rtlCol="0" anchor="ctr"/>
          <a:lstStyle/>
          <a:p>
            <a:pPr algn="ctr" indent="0" marL="0">
              <a:buNone/>
            </a:pPr>
            <a:r>
              <a:rPr lang="en-US" sz="950" b="1" dirty="0">
                <a:solidFill>
                  <a:schemeClr val="accent4"/>
                </a:solidFill>
              </a:rPr>
              <a:t>Central · CDSCO, CLA (indigo)</a:t>
            </a:r>
            <a:endParaRPr lang="en-US" sz="950" dirty="0"/>
          </a:p>
        </p:txBody>
      </p:sp>
      <p:sp>
        <p:nvSpPr>
          <p:cNvPr id="11" name="Text 7"/>
          <p:cNvSpPr txBox="1"/>
          <p:nvPr/>
        </p:nvSpPr>
        <p:spPr>
          <a:xfrm>
            <a:off x="548640" y="5852160"/>
            <a:ext cx="11094415" cy="365760"/>
          </a:xfrm>
          <a:prstGeom prst="rect">
            <a:avLst/>
          </a:prstGeom>
          <a:noFill/>
          <a:ln/>
        </p:spPr>
        <p:txBody>
          <a:bodyPr wrap="square" lIns="0" tIns="0" rIns="0" bIns="0" rtlCol="0" anchor="t"/>
          <a:lstStyle/>
          <a:p>
            <a:pPr indent="0" marL="0">
              <a:buNone/>
            </a:pPr>
            <a:r>
              <a:rPr lang="en-US" sz="950" b="1" dirty="0">
                <a:solidFill>
                  <a:schemeClr val="tx1"/>
                </a:solidFill>
              </a:rPr>
              <a:t>Also named in the Rules: </a:t>
            </a:r>
            <a:pPr indent="0" marL="0">
              <a:buNone/>
            </a:pPr>
            <a:r>
              <a:rPr lang="en-US" sz="950" dirty="0">
                <a:solidFill>
                  <a:schemeClr val="tx2"/>
                </a:solidFill>
              </a:rPr>
              <a:t>MD‑2 and MD‑40 are 'Certificates of Registration' alongside MD‑42 (G.S.R. 743(E), 14 Aug 2026); MD‑44, a test-report form, is proposed in draft G.S.R. 883(E), 4 Dec 2025. IVD performance-evaluation forms are omitted because their numbers were not verified. Every application is filed on cdscomdonline.gov.in.</a:t>
            </a: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FEES AND TIMELINES</a:t>
            </a: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lIns="0" tIns="0" rIns="0" bIns="0" rtlCol="0" anchor="t"/>
          <a:lstStyle/>
          <a:p>
            <a:pPr algn="l" indent="0" marL="0">
              <a:buNone/>
            </a:pPr>
            <a:r>
              <a:rPr lang="en-US" sz="2600" b="1" dirty="0">
                <a:solidFill>
                  <a:schemeClr val="tx1"/>
                </a:solidFill>
              </a:rPr>
              <a:t>Fees and statutory clocks by class (Second Schedule)</a:t>
            </a: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Second Schedule, MDR-2017 (CDSCO portal fee file); Lawrbit and Corpseed fee pages; Applied Clinical Trials 2017; draft G.S.R. 515(E) 23 Jun 2026 (S.S. Rana; Asia Actual); G.S.R. 743(E) 14 Aug 2026; CDSCO retention-fee notice (Lexplosion 2024)</a:t>
            </a:r>
            <a:endParaRPr lang="en-US" sz="950" dirty="0"/>
          </a:p>
        </p:txBody>
      </p:sp>
      <p:sp>
        <p:nvSpPr>
          <p:cNvPr id="6" name="Class bar A"/>
          <p:cNvSpPr/>
          <p:nvPr/>
        </p:nvSpPr>
        <p:spPr>
          <a:xfrm>
            <a:off x="3063240" y="1371600"/>
            <a:ext cx="2112264" cy="64008"/>
          </a:xfrm>
          <a:prstGeom prst="rect">
            <a:avLst/>
          </a:prstGeom>
          <a:solidFill>
            <a:srgbClr val="3C9D6A"/>
          </a:solidFill>
          <a:ln/>
        </p:spPr>
      </p:sp>
      <p:sp>
        <p:nvSpPr>
          <p:cNvPr id="7" name="Class bar B"/>
          <p:cNvSpPr/>
          <p:nvPr/>
        </p:nvSpPr>
        <p:spPr>
          <a:xfrm>
            <a:off x="5212080" y="1371600"/>
            <a:ext cx="2112264" cy="64008"/>
          </a:xfrm>
          <a:prstGeom prst="rect">
            <a:avLst/>
          </a:prstGeom>
          <a:solidFill>
            <a:srgbClr val="0F7C74"/>
          </a:solidFill>
          <a:ln/>
        </p:spPr>
      </p:sp>
      <p:sp>
        <p:nvSpPr>
          <p:cNvPr id="8" name="Class bar C"/>
          <p:cNvSpPr/>
          <p:nvPr/>
        </p:nvSpPr>
        <p:spPr>
          <a:xfrm>
            <a:off x="7360920" y="1371600"/>
            <a:ext cx="2112264" cy="64008"/>
          </a:xfrm>
          <a:prstGeom prst="rect">
            <a:avLst/>
          </a:prstGeom>
          <a:solidFill>
            <a:srgbClr val="E0962A"/>
          </a:solidFill>
          <a:ln/>
        </p:spPr>
      </p:sp>
      <p:sp>
        <p:nvSpPr>
          <p:cNvPr id="9" name="Class bar D"/>
          <p:cNvSpPr/>
          <p:nvPr/>
        </p:nvSpPr>
        <p:spPr>
          <a:xfrm>
            <a:off x="9509760" y="1371600"/>
            <a:ext cx="2112264" cy="64008"/>
          </a:xfrm>
          <a:prstGeom prst="rect">
            <a:avLst/>
          </a:prstGeom>
          <a:solidFill>
            <a:srgbClr val="C2453A"/>
          </a:solidFill>
          <a:ln/>
        </p:spPr>
      </p:sp>
      <p:graphicFrame>
        <p:nvGraphicFramePr>
          <p:cNvPr id="57" name="Matrix"/>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496312"/>
                <a:gridCol w="2148840"/>
                <a:gridCol w="2148840"/>
                <a:gridCol w="2148840"/>
                <a:gridCol w="2148840"/>
              </a:tblGrid>
              <a:tr h="310896">
                <a:tc>
                  <a:txBody>
                    <a:bodyPr/>
                    <a:lstStyle/>
                    <a:p>
                      <a:pPr indent="0" marL="0">
                        <a:buNone/>
                      </a:pPr>
                      <a:r>
                        <a:rPr lang="en-US" sz="1050" b="1" dirty="0">
                          <a:solidFill>
                            <a:srgbClr val="FFFFFF"/>
                          </a:solidFill>
                        </a:rPr>
                        <a:t>Second Schedule fee</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Class A · low risk</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Class B · low–moderate</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Class C · moderate–high</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Class D · high</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r>
              <a:tr h="310896">
                <a:tc>
                  <a:txBody>
                    <a:bodyPr/>
                    <a:lstStyle/>
                    <a:p>
                      <a:pPr indent="0" marL="0">
                        <a:buNone/>
                      </a:pPr>
                      <a:r>
                        <a:rPr lang="en-US" sz="950" b="1" dirty="0">
                          <a:solidFill>
                            <a:srgbClr val="0E3B3D"/>
                          </a:solidFill>
                        </a:rPr>
                        <a:t>Who licenses manufacture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950" b="1" dirty="0">
                          <a:solidFill>
                            <a:srgbClr val="0F7C74"/>
                          </a:solidFill>
                        </a:rPr>
                        <a:t>State Licensing Authority</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c>
                  <a:txBody>
                    <a:bodyPr/>
                    <a:lstStyle/>
                    <a:p>
                      <a:pPr algn="ctr" indent="0" marL="0">
                        <a:buNone/>
                      </a:pPr>
                      <a:r>
                        <a:rPr lang="en-US" sz="950" b="1" dirty="0">
                          <a:solidFill>
                            <a:srgbClr val="0F7C74"/>
                          </a:solidFill>
                        </a:rPr>
                        <a:t>State Licensing Authority</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6F2EF"/>
                    </a:solidFill>
                  </a:tcPr>
                </a:tc>
                <a:tc>
                  <a:txBody>
                    <a:bodyPr/>
                    <a:lstStyle/>
                    <a:p>
                      <a:pPr algn="ctr" indent="0" marL="0">
                        <a:buNone/>
                      </a:pPr>
                      <a:r>
                        <a:rPr lang="en-US" sz="950" b="1" dirty="0">
                          <a:solidFill>
                            <a:srgbClr val="3D5A80"/>
                          </a:solidFill>
                        </a:rPr>
                        <a:t>Central Licensing Authority (CDSCO)</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c>
                  <a:txBody>
                    <a:bodyPr/>
                    <a:lstStyle/>
                    <a:p>
                      <a:pPr algn="ctr" indent="0" marL="0">
                        <a:buNone/>
                      </a:pPr>
                      <a:r>
                        <a:rPr lang="en-US" sz="950" b="1" dirty="0">
                          <a:solidFill>
                            <a:srgbClr val="3D5A80"/>
                          </a:solidFill>
                        </a:rPr>
                        <a:t>Central Licensing Authority (CDSCO)</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7ECF4"/>
                    </a:solidFill>
                  </a:tcPr>
                </a:tc>
              </a:tr>
              <a:tr h="420624">
                <a:tc>
                  <a:txBody>
                    <a:bodyPr/>
                    <a:lstStyle/>
                    <a:p>
                      <a:pPr indent="0" marL="0">
                        <a:buNone/>
                      </a:pPr>
                      <a:r>
                        <a:rPr lang="en-US" sz="950" b="1" dirty="0">
                          <a:solidFill>
                            <a:srgbClr val="0E3B3D"/>
                          </a:solidFill>
                        </a:rPr>
                        <a:t>Manufacturing or loan licence · MD‑5/MD‑6 (A, B) · MD‑9/MD‑10 (C, D)</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7262B"/>
                          </a:solidFill>
                        </a:rPr>
                        <a:t>₹5,000/site + ₹500/device (non-sterile, non-measuring: registration only)</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7262B"/>
                          </a:solidFill>
                        </a:rPr>
                        <a:t>₹5,000/site + ₹500/device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7262B"/>
                          </a:solidFill>
                        </a:rPr>
                        <a:t>₹50,000/site + ₹1,000/device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7262B"/>
                          </a:solidFill>
                        </a:rPr>
                        <a:t>₹50,000/site + ₹1,000/device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r h="310896">
                <a:tc>
                  <a:txBody>
                    <a:bodyPr/>
                    <a:lstStyle/>
                    <a:p>
                      <a:pPr indent="0" marL="0">
                        <a:buNone/>
                      </a:pPr>
                      <a:r>
                        <a:rPr lang="en-US" sz="950" b="1" dirty="0">
                          <a:solidFill>
                            <a:srgbClr val="0E3B3D"/>
                          </a:solidFill>
                        </a:rPr>
                        <a:t>Retention fee every 5 years (licence is perpetual)</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950" dirty="0">
                          <a:solidFill>
                            <a:srgbClr val="17262B"/>
                          </a:solidFill>
                        </a:rPr>
                        <a:t>₹5,000/site + ₹500/device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950" dirty="0">
                          <a:solidFill>
                            <a:srgbClr val="17262B"/>
                          </a:solidFill>
                        </a:rPr>
                        <a:t>₹5,000/site + ₹500/device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950" dirty="0">
                          <a:solidFill>
                            <a:srgbClr val="17262B"/>
                          </a:solidFill>
                        </a:rPr>
                        <a:t>₹50,000/site + ₹1,000/device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950" dirty="0">
                          <a:solidFill>
                            <a:srgbClr val="17262B"/>
                          </a:solidFill>
                        </a:rPr>
                        <a:t>₹50,000/site + ₹1,000/device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310896">
                <a:tc>
                  <a:txBody>
                    <a:bodyPr/>
                    <a:lstStyle/>
                    <a:p>
                      <a:pPr indent="0" marL="0">
                        <a:buNone/>
                      </a:pPr>
                      <a:r>
                        <a:rPr lang="en-US" sz="950" b="1" dirty="0">
                          <a:solidFill>
                            <a:srgbClr val="0E3B3D"/>
                          </a:solidFill>
                        </a:rPr>
                        <a:t>Import licence · MD‑15 (US dollars)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7262B"/>
                          </a:solidFill>
                        </a:rPr>
                        <a:t>US$1,000/site + US$50/device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7262B"/>
                          </a:solidFill>
                        </a:rPr>
                        <a:t>US$2,000/site + US$1,000/device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7262B"/>
                          </a:solidFill>
                        </a:rPr>
                        <a:t>US$3,000/site + US$1,500/device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7262B"/>
                          </a:solidFill>
                        </a:rPr>
                        <a:t>US$3,000/site + US$1,500/device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r h="310896">
                <a:tc>
                  <a:txBody>
                    <a:bodyPr/>
                    <a:lstStyle/>
                    <a:p>
                      <a:pPr indent="0" marL="0">
                        <a:buNone/>
                      </a:pPr>
                      <a:r>
                        <a:rPr lang="en-US" sz="950" b="1" dirty="0">
                          <a:solidFill>
                            <a:srgbClr val="0E3B3D"/>
                          </a:solidFill>
                        </a:rPr>
                        <a:t>Test licence · MD‑13 (make) · MD‑17 (import)</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gridSpan="4">
                  <a:txBody>
                    <a:bodyPr/>
                    <a:lstStyle/>
                    <a:p>
                      <a:pPr algn="ctr" indent="0" marL="0">
                        <a:buNone/>
                      </a:pPr>
                      <a:r>
                        <a:rPr lang="en-US" sz="950" dirty="0">
                          <a:solidFill>
                            <a:srgbClr val="17262B"/>
                          </a:solidFill>
                        </a:rPr>
                        <a:t>All classes: ₹500 per device to make (MD‑13) · US$100 per device to import (MD‑17)</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hMerge="1">
                  <a:tcPr/>
                </a:tc>
                <a:tc hMerge="1">
                  <a:tcPr/>
                </a:tc>
                <a:tc hMerge="1">
                  <a:tcPr/>
                </a:tc>
              </a:tr>
              <a:tr h="310896">
                <a:tc>
                  <a:txBody>
                    <a:bodyPr/>
                    <a:lstStyle/>
                    <a:p>
                      <a:pPr indent="0" marL="0">
                        <a:buNone/>
                      </a:pPr>
                      <a:r>
                        <a:rPr lang="en-US" sz="950" b="1" dirty="0">
                          <a:solidFill>
                            <a:srgbClr val="0E3B3D"/>
                          </a:solidFill>
                        </a:rPr>
                        <a:t>Sale registration · MD‑42 (Rule 87A)</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gridSpan="4">
                  <a:txBody>
                    <a:bodyPr/>
                    <a:lstStyle/>
                    <a:p>
                      <a:pPr algn="ctr" indent="0" marL="0">
                        <a:buNone/>
                      </a:pPr>
                      <a:r>
                        <a:rPr lang="en-US" sz="950" dirty="0">
                          <a:solidFill>
                            <a:srgbClr val="17262B"/>
                          </a:solidFill>
                        </a:rPr>
                        <a:t>All classes: ₹3,000, with a ₹3,000 retention fee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hMerge="1">
                  <a:tcPr/>
                </a:tc>
                <a:tc hMerge="1">
                  <a:tcPr/>
                </a:tc>
                <a:tc hMerge="1">
                  <a:tcPr/>
                </a:tc>
              </a:tr>
            </a:tbl>
          </a:graphicData>
        </a:graphic>
      </p:graphicFrame>
      <p:graphicFrame>
        <p:nvGraphicFramePr>
          <p:cNvPr id="113" name="Matrix"/>
          <p:cNvGraphicFramePr>
            <a:graphicFrameLocks noGrp="1"/>
          </p:cNvGraphicFramePr>
          <p:nvPr>
            <p:extLst>
              <p:ext uri="{D42A27DB-BD31-4B8C-83A1-F6EECF244321}">
                <p14:modId xmlns:p14="http://schemas.microsoft.com/office/powerpoint/2010/main" val="1579011935"/>
              </p:ext>
            </p:extLst>
          </p:nvPr>
        </p:nvGraphicFramePr>
        <p:xfrm>
          <a:off x="548640" y="3886200"/>
          <a:ext cx="11094415" cy="914400"/>
        </p:xfrm>
        <a:graphic>
          <a:graphicData uri="http://schemas.openxmlformats.org/drawingml/2006/table">
            <a:tbl>
              <a:tblPr/>
              <a:tblGrid>
                <a:gridCol w="2496312"/>
                <a:gridCol w="2148840"/>
                <a:gridCol w="2148840"/>
                <a:gridCol w="2148840"/>
                <a:gridCol w="2148840"/>
              </a:tblGrid>
              <a:tr h="310896">
                <a:tc>
                  <a:txBody>
                    <a:bodyPr/>
                    <a:lstStyle/>
                    <a:p>
                      <a:pPr indent="0" marL="0">
                        <a:buNone/>
                      </a:pPr>
                      <a:r>
                        <a:rPr lang="en-US" sz="1050" b="1" dirty="0">
                          <a:solidFill>
                            <a:srgbClr val="FFFFFF"/>
                          </a:solidFill>
                        </a:rPr>
                        <a:t>Statutory clock</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D5A80"/>
                    </a:solidFill>
                  </a:tcPr>
                </a:tc>
                <a:tc>
                  <a:txBody>
                    <a:bodyPr/>
                    <a:lstStyle/>
                    <a:p>
                      <a:pPr indent="0" marL="0">
                        <a:buNone/>
                      </a:pPr>
                      <a:r>
                        <a:rPr lang="en-US" sz="1050" b="1" dirty="0">
                          <a:solidFill>
                            <a:srgbClr val="FFFFFF"/>
                          </a:solidFill>
                        </a:rPr>
                        <a:t>Class A</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D5A80"/>
                    </a:solidFill>
                  </a:tcPr>
                </a:tc>
                <a:tc>
                  <a:txBody>
                    <a:bodyPr/>
                    <a:lstStyle/>
                    <a:p>
                      <a:pPr indent="0" marL="0">
                        <a:buNone/>
                      </a:pPr>
                      <a:r>
                        <a:rPr lang="en-US" sz="1050" b="1" dirty="0">
                          <a:solidFill>
                            <a:srgbClr val="FFFFFF"/>
                          </a:solidFill>
                        </a:rPr>
                        <a:t>Class B</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D5A80"/>
                    </a:solidFill>
                  </a:tcPr>
                </a:tc>
                <a:tc>
                  <a:txBody>
                    <a:bodyPr/>
                    <a:lstStyle/>
                    <a:p>
                      <a:pPr indent="0" marL="0">
                        <a:buNone/>
                      </a:pPr>
                      <a:r>
                        <a:rPr lang="en-US" sz="1050" b="1" dirty="0">
                          <a:solidFill>
                            <a:srgbClr val="FFFFFF"/>
                          </a:solidFill>
                        </a:rPr>
                        <a:t>Class C</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D5A80"/>
                    </a:solidFill>
                  </a:tcPr>
                </a:tc>
                <a:tc>
                  <a:txBody>
                    <a:bodyPr/>
                    <a:lstStyle/>
                    <a:p>
                      <a:pPr indent="0" marL="0">
                        <a:buNone/>
                      </a:pPr>
                      <a:r>
                        <a:rPr lang="en-US" sz="1050" b="1" dirty="0">
                          <a:solidFill>
                            <a:srgbClr val="FFFFFF"/>
                          </a:solidFill>
                        </a:rPr>
                        <a:t>Class D</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3D5A80"/>
                    </a:solidFill>
                  </a:tcPr>
                </a:tc>
              </a:tr>
              <a:tr h="566928">
                <a:tc>
                  <a:txBody>
                    <a:bodyPr/>
                    <a:lstStyle/>
                    <a:p>
                      <a:pPr indent="0" marL="0">
                        <a:buNone/>
                      </a:pPr>
                      <a:r>
                        <a:rPr lang="en-US" sz="950" b="1" dirty="0">
                          <a:solidFill>
                            <a:srgbClr val="0E3B3D"/>
                          </a:solidFill>
                        </a:rPr>
                        <a:t>Manufacturing licence, current rules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950" dirty="0">
                          <a:solidFill>
                            <a:srgbClr val="17262B"/>
                          </a:solidFill>
                        </a:rPr>
                        <a:t>Licence on documents within 45 days (no prior audit); notified-body audit within 120 days after grant</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950" dirty="0">
                          <a:solidFill>
                            <a:srgbClr val="17262B"/>
                          </a:solidFill>
                        </a:rPr>
                        <a:t>Notified-body audit within 90 days, before grant; reported end-to-end: up to 140 days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950" dirty="0">
                          <a:solidFill>
                            <a:srgbClr val="17262B"/>
                          </a:solidFill>
                        </a:rPr>
                        <a:t>Inspection within 60 days (Rule 23(1)); decision within 45 days of the report (Rule 21(4)); reported: 105 to 150 days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950" dirty="0">
                          <a:solidFill>
                            <a:srgbClr val="17262B"/>
                          </a:solidFill>
                        </a:rPr>
                        <a:t>As Class C</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438912">
                <a:tc>
                  <a:txBody>
                    <a:bodyPr/>
                    <a:lstStyle/>
                    <a:p>
                      <a:pPr indent="0" marL="0">
                        <a:buNone/>
                      </a:pPr>
                      <a:r>
                        <a:rPr lang="en-US" sz="950" b="1" dirty="0">
                          <a:solidFill>
                            <a:srgbClr val="0E3B3D"/>
                          </a:solidFill>
                        </a:rPr>
                        <a:t>Draft G.S.R. 515(E), 23 Jun 2026 (not final on 7 Oct 2026)</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7262B"/>
                          </a:solidFill>
                        </a:rPr>
                        <a:t>No change proposed</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F1E3"/>
                    </a:solidFill>
                  </a:tcPr>
                </a:tc>
                <a:tc>
                  <a:txBody>
                    <a:bodyPr/>
                    <a:lstStyle/>
                    <a:p>
                      <a:pPr algn="ctr" indent="0" marL="0">
                        <a:buNone/>
                      </a:pPr>
                      <a:r>
                        <a:rPr lang="en-US" sz="950" dirty="0">
                          <a:solidFill>
                            <a:srgbClr val="17262B"/>
                          </a:solidFill>
                        </a:rPr>
                        <a:t>30 + 30 + 20 + 15 + 20 days: 140 → 115 days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F1E3"/>
                    </a:solidFill>
                  </a:tcPr>
                </a:tc>
                <a:tc>
                  <a:txBody>
                    <a:bodyPr/>
                    <a:lstStyle/>
                    <a:p>
                      <a:pPr algn="ctr" indent="0" marL="0">
                        <a:buNone/>
                      </a:pPr>
                      <a:r>
                        <a:rPr lang="en-US" sz="950" dirty="0">
                          <a:solidFill>
                            <a:srgbClr val="17262B"/>
                          </a:solidFill>
                        </a:rPr>
                        <a:t>Rule 21(4) 45 → 30 days; Rule 23(1) 60 → 55 days: 105 → 90 days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F1E3"/>
                    </a:solidFill>
                  </a:tcPr>
                </a:tc>
                <a:tc>
                  <a:txBody>
                    <a:bodyPr/>
                    <a:lstStyle/>
                    <a:p>
                      <a:pPr algn="ctr" indent="0" marL="0">
                        <a:buNone/>
                      </a:pPr>
                      <a:r>
                        <a:rPr lang="en-US" sz="950" dirty="0">
                          <a:solidFill>
                            <a:srgbClr val="17262B"/>
                          </a:solidFill>
                        </a:rPr>
                        <a:t>As Class C</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F1E3"/>
                    </a:solidFill>
                  </a:tcPr>
                </a:tc>
              </a:tr>
              <a:tr h="438912">
                <a:tc>
                  <a:txBody>
                    <a:bodyPr/>
                    <a:lstStyle/>
                    <a:p>
                      <a:pPr indent="0" marL="0">
                        <a:buNone/>
                      </a:pPr>
                      <a:r>
                        <a:rPr lang="en-US" sz="950" b="1" dirty="0">
                          <a:solidFill>
                            <a:srgbClr val="0E3B3D"/>
                          </a:solidFill>
                        </a:rPr>
                        <a:t>Import licence · MD‑15; retention fee missed</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gridSpan="4">
                  <a:txBody>
                    <a:bodyPr/>
                    <a:lstStyle/>
                    <a:p>
                      <a:pPr algn="ctr" indent="0" marL="0">
                        <a:buNone/>
                      </a:pPr>
                      <a:r>
                        <a:rPr lang="en-US" sz="950" dirty="0">
                          <a:solidFill>
                            <a:srgbClr val="17262B"/>
                          </a:solidFill>
                        </a:rPr>
                        <a:t>Import: decision within 9 months of application (6 to 9 months in practice). Retention: late fee 2% a month; licence deemed cancelled after 180 days unpaid (manufacture) or 90 days (import)</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hMerge="1">
                  <a:tcPr/>
                </a:tc>
                <a:tc hMerge="1">
                  <a:tcPr/>
                </a:tc>
                <a:tc hMerge="1">
                  <a:tcPr/>
                </a:tc>
              </a:tr>
            </a:tbl>
          </a:graphicData>
        </a:graphic>
      </p:graphicFrame>
      <p:sp>
        <p:nvSpPr>
          <p:cNvPr id="12" name="Callout"/>
          <p:cNvSpPr/>
          <p:nvPr/>
        </p:nvSpPr>
        <p:spPr>
          <a:xfrm>
            <a:off x="548640" y="5779008"/>
            <a:ext cx="11094415" cy="420624"/>
          </a:xfrm>
          <a:prstGeom prst="roundRect">
            <a:avLst>
              <a:gd name="adj" fmla="val 17391"/>
            </a:avLst>
          </a:prstGeom>
          <a:solidFill>
            <a:schemeClr val="accent2">
              <a:alpha val="12000"/>
            </a:schemeClr>
          </a:solidFill>
          <a:ln/>
        </p:spPr>
      </p:sp>
      <p:sp>
        <p:nvSpPr>
          <p:cNvPr id="13" name="Callout bar"/>
          <p:cNvSpPr/>
          <p:nvPr/>
        </p:nvSpPr>
        <p:spPr>
          <a:xfrm>
            <a:off x="548640" y="5870448"/>
            <a:ext cx="64008" cy="237744"/>
          </a:xfrm>
          <a:prstGeom prst="rect">
            <a:avLst/>
          </a:prstGeom>
          <a:solidFill>
            <a:schemeClr val="accent2"/>
          </a:solidFill>
          <a:ln/>
        </p:spPr>
      </p:sp>
      <p:sp>
        <p:nvSpPr>
          <p:cNvPr id="14" name="Text 9"/>
          <p:cNvSpPr txBox="1"/>
          <p:nvPr/>
        </p:nvSpPr>
        <p:spPr>
          <a:xfrm>
            <a:off x="822960" y="5779008"/>
            <a:ext cx="10682935" cy="420624"/>
          </a:xfrm>
          <a:prstGeom prst="rect">
            <a:avLst/>
          </a:prstGeom>
          <a:noFill/>
          <a:ln/>
        </p:spPr>
        <p:txBody>
          <a:bodyPr wrap="square" lIns="0" tIns="0" rIns="0" bIns="0" rtlCol="0" anchor="ctr"/>
          <a:lstStyle/>
          <a:p>
            <a:pPr indent="0" marL="0">
              <a:buNone/>
            </a:pPr>
            <a:r>
              <a:rPr lang="en-US" sz="950" b="1" dirty="0">
                <a:solidFill>
                  <a:schemeClr val="tx1"/>
                </a:solidFill>
              </a:rPr>
              <a:t>Where the numbers come from: </a:t>
            </a:r>
            <a:pPr indent="0" marL="0">
              <a:buNone/>
            </a:pPr>
            <a:r>
              <a:rPr lang="en-US" sz="950" b="1" dirty="0">
                <a:solidFill>
                  <a:schemeClr val="tx1"/>
                </a:solidFill>
              </a:rPr>
              <a:t>Second Schedule, Medical Devices Rules 2017 (G.S.R. 78(E), 31 Jan 2017). G.S.R. 743(E), 14 Aug 2026, adds a Ninth Schedule of testing fees under Rules 19 and 69 (amounts not captured). Draft G.S.R. 883(E), 4 Dec 2025, restates perpetual validity for MD‑2, MD‑5, MD‑6, MD‑9, MD‑10 and MD‑15. Clinical-investigation (MD‑22) fee: verify on cdscomdonline.gov.in before quoting.</a:t>
            </a: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CDSCO GUIDANCE</a:t>
            </a: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lIns="0" tIns="0" rIns="0" bIns="0" rtlCol="0" anchor="t"/>
          <a:lstStyle/>
          <a:p>
            <a:pPr algn="l" indent="0" marL="0">
              <a:buNone/>
            </a:pPr>
            <a:r>
              <a:rPr lang="en-US" sz="2600" b="1" dirty="0">
                <a:solidFill>
                  <a:schemeClr val="tx1"/>
                </a:solidFill>
              </a:rPr>
              <a:t>CDSCO documents to keep at hand</a:t>
            </a: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CDSCO documents as numbered (FAQ 2018; MD-22 checklist; MDSW guidance 21 Jul 2026; draft PMS 2018; IVD PMS 7 Jul 2022; circular 15 May 2024; fee file; CMDTL gazette); classification notices 3 Sep 2020 (Freyr); G.S.R. 102(E), 918(E), 754(E), 777(E), 743(E), 744(E); drafts 883(E) and 515(E)</a:t>
            </a:r>
            <a:endParaRPr lang="en-US" sz="950" dirty="0"/>
          </a:p>
        </p:txBody>
      </p:sp>
      <p:graphicFrame>
        <p:nvGraphicFramePr>
          <p:cNvPr id="58" name="Matrix"/>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057400"/>
                <a:gridCol w="2103120"/>
                <a:gridCol w="1188720"/>
                <a:gridCol w="4736592"/>
                <a:gridCol w="1005840"/>
              </a:tblGrid>
              <a:tr h="310896">
                <a:tc>
                  <a:txBody>
                    <a:bodyPr/>
                    <a:lstStyle/>
                    <a:p>
                      <a:pPr indent="0" marL="0">
                        <a:buNone/>
                      </a:pPr>
                      <a:r>
                        <a:rPr lang="en-US" sz="1050" b="1" dirty="0">
                          <a:solidFill>
                            <a:srgbClr val="FFFFFF"/>
                          </a:solidFill>
                        </a:rPr>
                        <a:t>Document</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Number or file</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Date</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What it covers</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Status</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r>
              <a:tr h="384048">
                <a:tc>
                  <a:txBody>
                    <a:bodyPr/>
                    <a:lstStyle/>
                    <a:p>
                      <a:pPr indent="0" marL="0">
                        <a:buNone/>
                      </a:pPr>
                      <a:r>
                        <a:rPr lang="en-US" sz="1000" b="1" dirty="0">
                          <a:solidFill>
                            <a:srgbClr val="0E3B3D"/>
                          </a:solidFill>
                        </a:rPr>
                        <a:t>Medical Devices Rules, 2017 (consolidated text)</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0E3B3D"/>
                          </a:solidFill>
                        </a:rPr>
                        <a:t>G.S.R. 78(E); 'mdr, 2017' PDF on cdsco.gov.in</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0E3B3D"/>
                          </a:solidFill>
                        </a:rPr>
                        <a:t>31 Jan 2017; in force 1 Jan 2018</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17262B"/>
                          </a:solidFill>
                        </a:rPr>
                        <a:t>Classes A–D (Rule 4, First Schedule); licences by class; Fifth Schedule QMS; Rule 44 labelling; Chapter VII clinical investigation; Rule 63 devices without a predicate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000" b="1" dirty="0">
                          <a:solidFill>
                            <a:srgbClr val="0E3B3D"/>
                          </a:solidFill>
                        </a:rPr>
                        <a:t>In force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384048">
                <a:tc>
                  <a:txBody>
                    <a:bodyPr/>
                    <a:lstStyle/>
                    <a:p>
                      <a:pPr indent="0" marL="0">
                        <a:buNone/>
                      </a:pPr>
                      <a:r>
                        <a:rPr lang="en-US" sz="1000" b="1" dirty="0">
                          <a:solidFill>
                            <a:srgbClr val="0E3B3D"/>
                          </a:solidFill>
                        </a:rPr>
                        <a:t>FAQ on Medical Devices Rules, 2017</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0E3B3D"/>
                          </a:solidFill>
                        </a:rPr>
                        <a:t>CDSCO/FAQ/MD/01/2018; IVD FAQ 03-2022; addendum</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0E3B3D"/>
                          </a:solidFill>
                        </a:rPr>
                        <a:t>2018; Mar 2022</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17262B"/>
                          </a:solidFill>
                        </a:rPr>
                        <a:t>Licensing in plain language; Rule 13 notified bodies (NABCB-accredited) audit Class A and B sites; IVD examples: specimen tubes Class A, alcohol analyser Class B</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E3B3D"/>
                          </a:solidFill>
                        </a:rPr>
                        <a:t>Final</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384048">
                <a:tc>
                  <a:txBody>
                    <a:bodyPr/>
                    <a:lstStyle/>
                    <a:p>
                      <a:pPr indent="0" marL="0">
                        <a:buNone/>
                      </a:pPr>
                      <a:r>
                        <a:rPr lang="en-US" sz="1000" b="1" dirty="0">
                          <a:solidFill>
                            <a:srgbClr val="0E3B3D"/>
                          </a:solidFill>
                        </a:rPr>
                        <a:t>Regulatory pathway under MDR-2017</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0E3B3D"/>
                          </a:solidFill>
                        </a:rPr>
                        <a:t>RegulatoryMDR-2017.pdf</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0E3B3D"/>
                          </a:solidFill>
                        </a:rPr>
                        <a:t>—</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17262B"/>
                          </a:solidFill>
                        </a:rPr>
                        <a:t>One-sheet map of forms and authorities: MD‑3/MD‑5 and MD‑7/MD‑9 manufacture, MD‑14/MD‑15 import, MD‑12/MD‑13 test licence</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000" b="1" dirty="0">
                          <a:solidFill>
                            <a:srgbClr val="0E3B3D"/>
                          </a:solidFill>
                        </a:rPr>
                        <a:t>Overview</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384048">
                <a:tc>
                  <a:txBody>
                    <a:bodyPr/>
                    <a:lstStyle/>
                    <a:p>
                      <a:pPr indent="0" marL="0">
                        <a:buNone/>
                      </a:pPr>
                      <a:r>
                        <a:rPr lang="en-US" sz="1000" b="1" dirty="0">
                          <a:solidFill>
                            <a:srgbClr val="0E3B3D"/>
                          </a:solidFill>
                        </a:rPr>
                        <a:t>Device classification lists</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0E3B3D"/>
                          </a:solidFill>
                        </a:rPr>
                        <a:t>Public notices of 3 Sep 2020; category-wise lists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0E3B3D"/>
                          </a:solidFill>
                        </a:rPr>
                        <a:t>3 Sep 2020 onward</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17262B"/>
                          </a:solidFill>
                        </a:rPr>
                        <a:t>About 1,866 devices in 24 categories (Class B alone 779) and 80 IVDs in 3; later: paediatric (23 Aug 2021), cardiovascular revised (Apr 2025), interventional radiology (187)</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E3B3D"/>
                          </a:solidFill>
                        </a:rPr>
                        <a:t>Living lists</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384048">
                <a:tc>
                  <a:txBody>
                    <a:bodyPr/>
                    <a:lstStyle/>
                    <a:p>
                      <a:pPr indent="0" marL="0">
                        <a:buNone/>
                      </a:pPr>
                      <a:r>
                        <a:rPr lang="en-US" sz="1000" b="1" dirty="0">
                          <a:solidFill>
                            <a:srgbClr val="0E3B3D"/>
                          </a:solidFill>
                        </a:rPr>
                        <a:t>Checklist for Form MD‑22</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0E3B3D"/>
                          </a:solidFill>
                        </a:rPr>
                        <a:t>ChecklisFormMD‑22MD.pdf</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0E3B3D"/>
                          </a:solidFill>
                        </a:rPr>
                        <a:t>—</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17262B"/>
                          </a:solidFill>
                        </a:rPr>
                        <a:t>Seventh Schedule dossier: investigation plan, investigator's brochure, design V&amp;V, Essential Principles checklist, consent form, ethics approval; pilot, pivotal or post-marketing</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000" b="1" dirty="0">
                          <a:solidFill>
                            <a:srgbClr val="0E3B3D"/>
                          </a:solidFill>
                        </a:rPr>
                        <a:t>Checklist</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384048">
                <a:tc>
                  <a:txBody>
                    <a:bodyPr/>
                    <a:lstStyle/>
                    <a:p>
                      <a:pPr indent="0" marL="0">
                        <a:buNone/>
                      </a:pPr>
                      <a:r>
                        <a:rPr lang="en-US" sz="1000" b="1" dirty="0">
                          <a:solidFill>
                            <a:srgbClr val="0E3B3D"/>
                          </a:solidFill>
                        </a:rPr>
                        <a:t>Guidance on Medical Device Software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0E3B3D"/>
                          </a:solidFill>
                        </a:rPr>
                        <a:t>CDSCO/MD/GD/MDSW/01/2026</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0E3B3D"/>
                          </a:solidFill>
                        </a:rPr>
                        <a:t>21 Jul 2026 (draft 21 Oct 2025)</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17262B"/>
                          </a:solidFill>
                        </a:rPr>
                        <a:t>62 pages: SaMD, software in devices, cloud and networked systems, AI/ML, IVD software; class by intended use; lifecycle, cybersecurity, AI change planning, post-market duties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E3B3D"/>
                          </a:solidFill>
                        </a:rPr>
                        <a:t>Final</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384048">
                <a:tc>
                  <a:txBody>
                    <a:bodyPr/>
                    <a:lstStyle/>
                    <a:p>
                      <a:pPr indent="0" marL="0">
                        <a:buNone/>
                      </a:pPr>
                      <a:r>
                        <a:rPr lang="en-US" sz="1000" b="1" dirty="0">
                          <a:solidFill>
                            <a:srgbClr val="0E3B3D"/>
                          </a:solidFill>
                        </a:rPr>
                        <a:t>Guidance on post-market surveillance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0E3B3D"/>
                          </a:solidFill>
                        </a:rPr>
                        <a:t>'Draft Guidance on PMS' (2018); CDSCO/IVD/GD/PMS/01/2022</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0E3B3D"/>
                          </a:solidFill>
                        </a:rPr>
                        <a:t>2018; 7 Jul 2022</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17262B"/>
                          </a:solidFill>
                        </a:rPr>
                        <a:t>PMS expectations for licence holders; the IVD draft targets Class C and D and point-of-care or home-use IVDs; neither reported as finalised</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000" b="1" dirty="0">
                          <a:solidFill>
                            <a:srgbClr val="0E3B3D"/>
                          </a:solidFill>
                        </a:rPr>
                        <a:t>Draft</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384048">
                <a:tc>
                  <a:txBody>
                    <a:bodyPr/>
                    <a:lstStyle/>
                    <a:p>
                      <a:pPr indent="0" marL="0">
                        <a:buNone/>
                      </a:pPr>
                      <a:r>
                        <a:rPr lang="en-US" sz="1000" b="1" dirty="0">
                          <a:solidFill>
                            <a:srgbClr val="0E3B3D"/>
                          </a:solidFill>
                        </a:rPr>
                        <a:t>Materiovigilance circular and forms</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0E3B3D"/>
                          </a:solidFill>
                        </a:rPr>
                        <a:t>Circular of 15 May 2024; MvPI MDAE form v1.2; IPC draft IVD-MD AE form</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0E3B3D"/>
                          </a:solidFill>
                        </a:rPr>
                        <a:t>15 May 2024; 17 Feb 2025</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17262B"/>
                          </a:solidFill>
                        </a:rPr>
                        <a:t>Every licence holder reports suspected unexpected serious adverse events to MvPI (IPC; helpline 1800-180-3024); FSCA form for recalls and corrections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E3B3D"/>
                          </a:solidFill>
                        </a:rPr>
                        <a:t>Circular</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384048">
                <a:tc>
                  <a:txBody>
                    <a:bodyPr/>
                    <a:lstStyle/>
                    <a:p>
                      <a:pPr indent="0" marL="0">
                        <a:buNone/>
                      </a:pPr>
                      <a:r>
                        <a:rPr lang="en-US" sz="1000" b="1" dirty="0">
                          <a:solidFill>
                            <a:srgbClr val="0E3B3D"/>
                          </a:solidFill>
                        </a:rPr>
                        <a:t>Fee help file; testing laboratories</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0E3B3D"/>
                          </a:solidFill>
                        </a:rPr>
                        <a:t>nmd_fee.pdf (cdscomdonline.gov.in); gazette 2237.pdf</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0E3B3D"/>
                          </a:solidFill>
                        </a:rPr>
                        <a:t>2017; 2018</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17262B"/>
                          </a:solidFill>
                        </a:rPr>
                        <a:t>Second Schedule fees by class; Central Medical Device Testing Laboratories: NIB Noida (IVDs), CDTL Chennai, CDL Kolkata, RDTL Guwahati, CDTL Mumbai</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algn="ctr" indent="0" marL="0">
                        <a:buNone/>
                      </a:pPr>
                      <a:r>
                        <a:rPr lang="en-US" sz="1000" b="1" dirty="0">
                          <a:solidFill>
                            <a:srgbClr val="0E3B3D"/>
                          </a:solidFill>
                        </a:rPr>
                        <a:t>Reference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bl>
          </a:graphicData>
        </a:graphic>
      </p:graphicFrame>
      <p:sp>
        <p:nvSpPr>
          <p:cNvPr id="7" name="Text 3"/>
          <p:cNvSpPr txBox="1"/>
          <p:nvPr/>
        </p:nvSpPr>
        <p:spPr>
          <a:xfrm>
            <a:off x="548640" y="5358384"/>
            <a:ext cx="5486400" cy="201168"/>
          </a:xfrm>
          <a:prstGeom prst="rect">
            <a:avLst/>
          </a:prstGeom>
          <a:noFill/>
          <a:ln/>
        </p:spPr>
        <p:txBody>
          <a:bodyPr wrap="square" lIns="0" tIns="0" rIns="0" bIns="0" rtlCol="0" anchor="t"/>
          <a:lstStyle/>
          <a:p>
            <a:pPr indent="0" marL="0">
              <a:buNone/>
            </a:pPr>
            <a:r>
              <a:rPr lang="en-US" sz="950" b="1" dirty="0">
                <a:solidFill>
                  <a:schemeClr val="accent5"/>
                </a:solidFill>
              </a:rPr>
              <a:t>Amendments to know, by gazette number</a:t>
            </a:r>
            <a:endParaRPr lang="en-US" sz="950" dirty="0"/>
          </a:p>
        </p:txBody>
      </p:sp>
      <p:sp>
        <p:nvSpPr>
          <p:cNvPr id="8" name="Amendment G.S.R. 102(E)"/>
          <p:cNvSpPr/>
          <p:nvPr/>
        </p:nvSpPr>
        <p:spPr>
          <a:xfrm>
            <a:off x="548640" y="5577840"/>
            <a:ext cx="1742389" cy="640080"/>
          </a:xfrm>
          <a:prstGeom prst="roundRect">
            <a:avLst>
              <a:gd name="adj" fmla="val 20000"/>
            </a:avLst>
          </a:prstGeom>
          <a:solidFill>
            <a:schemeClr val="bg2"/>
          </a:solidFill>
          <a:ln/>
        </p:spPr>
      </p:sp>
      <p:sp>
        <p:nvSpPr>
          <p:cNvPr id="9" name="Amendment bar"/>
          <p:cNvSpPr/>
          <p:nvPr/>
        </p:nvSpPr>
        <p:spPr>
          <a:xfrm>
            <a:off x="548640" y="5669280"/>
            <a:ext cx="54864" cy="457200"/>
          </a:xfrm>
          <a:prstGeom prst="rect">
            <a:avLst/>
          </a:prstGeom>
          <a:solidFill>
            <a:schemeClr val="accent4"/>
          </a:solidFill>
          <a:ln/>
        </p:spPr>
      </p:sp>
      <p:sp>
        <p:nvSpPr>
          <p:cNvPr id="10" name="Text 6"/>
          <p:cNvSpPr txBox="1"/>
          <p:nvPr/>
        </p:nvSpPr>
        <p:spPr>
          <a:xfrm>
            <a:off x="694944" y="5623560"/>
            <a:ext cx="1522933" cy="548640"/>
          </a:xfrm>
          <a:prstGeom prst="rect">
            <a:avLst/>
          </a:prstGeom>
          <a:noFill/>
          <a:ln/>
        </p:spPr>
        <p:txBody>
          <a:bodyPr wrap="square" lIns="0" tIns="0" rIns="0" bIns="0" rtlCol="0" anchor="ctr"/>
          <a:lstStyle/>
          <a:p>
            <a:pPr indent="0" marL="0">
              <a:spcAft>
                <a:spcPts val="100"/>
              </a:spcAft>
              <a:buNone/>
            </a:pPr>
            <a:r>
              <a:rPr lang="en-US" sz="900" b="1" dirty="0">
                <a:solidFill>
                  <a:schemeClr val="accent4"/>
                </a:solidFill>
              </a:rPr>
              <a:t>G.S.R. 102(E) · </a:t>
            </a:r>
            <a:pPr indent="0" marL="0">
              <a:spcAft>
                <a:spcPts val="100"/>
              </a:spcAft>
              <a:buNone/>
            </a:pPr>
            <a:r>
              <a:rPr lang="en-US" sz="900" dirty="0">
                <a:solidFill>
                  <a:schemeClr val="accent5"/>
                </a:solidFill>
              </a:rPr>
              <a:t>11 Feb 2020</a:t>
            </a:r>
            <a:endParaRPr lang="en-US" sz="900" dirty="0"/>
          </a:p>
          <a:p>
            <a:pPr indent="0" marL="0">
              <a:spcAft>
                <a:spcPts val="100"/>
              </a:spcAft>
              <a:buNone/>
            </a:pPr>
            <a:r>
              <a:rPr lang="en-US" sz="900" dirty="0">
                <a:solidFill>
                  <a:schemeClr val="tx1"/>
                </a:solidFill>
              </a:rPr>
              <a:t>All devices regulated from 1 Apr 2020; Chapter IIIA registration</a:t>
            </a:r>
            <a:endParaRPr lang="en-US" sz="900" dirty="0"/>
          </a:p>
        </p:txBody>
      </p:sp>
      <p:sp>
        <p:nvSpPr>
          <p:cNvPr id="11" name="Amendment G.S.R. 754(E)"/>
          <p:cNvSpPr/>
          <p:nvPr/>
        </p:nvSpPr>
        <p:spPr>
          <a:xfrm>
            <a:off x="2419045" y="5577840"/>
            <a:ext cx="1742389" cy="640080"/>
          </a:xfrm>
          <a:prstGeom prst="roundRect">
            <a:avLst>
              <a:gd name="adj" fmla="val 20000"/>
            </a:avLst>
          </a:prstGeom>
          <a:solidFill>
            <a:schemeClr val="bg2"/>
          </a:solidFill>
          <a:ln/>
        </p:spPr>
      </p:sp>
      <p:sp>
        <p:nvSpPr>
          <p:cNvPr id="12" name="Amendment bar"/>
          <p:cNvSpPr/>
          <p:nvPr/>
        </p:nvSpPr>
        <p:spPr>
          <a:xfrm>
            <a:off x="2419045" y="5669280"/>
            <a:ext cx="54864" cy="457200"/>
          </a:xfrm>
          <a:prstGeom prst="rect">
            <a:avLst/>
          </a:prstGeom>
          <a:solidFill>
            <a:schemeClr val="accent4"/>
          </a:solidFill>
          <a:ln/>
        </p:spPr>
      </p:sp>
      <p:sp>
        <p:nvSpPr>
          <p:cNvPr id="13" name="Text 9"/>
          <p:cNvSpPr txBox="1"/>
          <p:nvPr/>
        </p:nvSpPr>
        <p:spPr>
          <a:xfrm>
            <a:off x="2565349" y="5623560"/>
            <a:ext cx="1522933" cy="548640"/>
          </a:xfrm>
          <a:prstGeom prst="rect">
            <a:avLst/>
          </a:prstGeom>
          <a:noFill/>
          <a:ln/>
        </p:spPr>
        <p:txBody>
          <a:bodyPr wrap="square" lIns="0" tIns="0" rIns="0" bIns="0" rtlCol="0" anchor="ctr"/>
          <a:lstStyle/>
          <a:p>
            <a:pPr indent="0" marL="0">
              <a:spcAft>
                <a:spcPts val="100"/>
              </a:spcAft>
              <a:buNone/>
            </a:pPr>
            <a:r>
              <a:rPr lang="en-US" sz="900" b="1" dirty="0">
                <a:solidFill>
                  <a:schemeClr val="accent4"/>
                </a:solidFill>
              </a:rPr>
              <a:t>G.S.R. 754(E) · </a:t>
            </a:r>
            <a:pPr indent="0" marL="0">
              <a:spcAft>
                <a:spcPts val="100"/>
              </a:spcAft>
              <a:buNone/>
            </a:pPr>
            <a:r>
              <a:rPr lang="en-US" sz="900" dirty="0">
                <a:solidFill>
                  <a:schemeClr val="accent5"/>
                </a:solidFill>
              </a:rPr>
              <a:t>30 Sep 2022</a:t>
            </a:r>
            <a:endParaRPr lang="en-US" sz="900" dirty="0"/>
          </a:p>
          <a:p>
            <a:pPr indent="0" marL="0">
              <a:spcAft>
                <a:spcPts val="100"/>
              </a:spcAft>
              <a:buNone/>
            </a:pPr>
            <a:r>
              <a:rPr lang="en-US" sz="900" dirty="0">
                <a:solidFill>
                  <a:schemeClr val="tx1"/>
                </a:solidFill>
              </a:rPr>
              <a:t>Rule 87A: MD‑41 → MD‑42 for sale, stocking and distribution</a:t>
            </a:r>
            <a:endParaRPr lang="en-US" sz="900" dirty="0"/>
          </a:p>
        </p:txBody>
      </p:sp>
      <p:sp>
        <p:nvSpPr>
          <p:cNvPr id="14" name="Amendment G.S.R. 777(E)"/>
          <p:cNvSpPr/>
          <p:nvPr/>
        </p:nvSpPr>
        <p:spPr>
          <a:xfrm>
            <a:off x="4289450" y="5577840"/>
            <a:ext cx="1742389" cy="640080"/>
          </a:xfrm>
          <a:prstGeom prst="roundRect">
            <a:avLst>
              <a:gd name="adj" fmla="val 20000"/>
            </a:avLst>
          </a:prstGeom>
          <a:solidFill>
            <a:schemeClr val="bg2"/>
          </a:solidFill>
          <a:ln/>
        </p:spPr>
      </p:sp>
      <p:sp>
        <p:nvSpPr>
          <p:cNvPr id="15" name="Amendment bar"/>
          <p:cNvSpPr/>
          <p:nvPr/>
        </p:nvSpPr>
        <p:spPr>
          <a:xfrm>
            <a:off x="4289450" y="5669280"/>
            <a:ext cx="54864" cy="457200"/>
          </a:xfrm>
          <a:prstGeom prst="rect">
            <a:avLst/>
          </a:prstGeom>
          <a:solidFill>
            <a:schemeClr val="accent4"/>
          </a:solidFill>
          <a:ln/>
        </p:spPr>
      </p:sp>
      <p:sp>
        <p:nvSpPr>
          <p:cNvPr id="16" name="Text 12"/>
          <p:cNvSpPr txBox="1"/>
          <p:nvPr/>
        </p:nvSpPr>
        <p:spPr>
          <a:xfrm>
            <a:off x="4435754" y="5623560"/>
            <a:ext cx="1522933" cy="548640"/>
          </a:xfrm>
          <a:prstGeom prst="rect">
            <a:avLst/>
          </a:prstGeom>
          <a:noFill/>
          <a:ln/>
        </p:spPr>
        <p:txBody>
          <a:bodyPr wrap="square" lIns="0" tIns="0" rIns="0" bIns="0" rtlCol="0" anchor="ctr"/>
          <a:lstStyle/>
          <a:p>
            <a:pPr indent="0" marL="0">
              <a:spcAft>
                <a:spcPts val="100"/>
              </a:spcAft>
              <a:buNone/>
            </a:pPr>
            <a:r>
              <a:rPr lang="en-US" sz="900" b="1" dirty="0">
                <a:solidFill>
                  <a:schemeClr val="accent4"/>
                </a:solidFill>
              </a:rPr>
              <a:t>G.S.R. 777(E) · </a:t>
            </a:r>
            <a:pPr indent="0" marL="0">
              <a:spcAft>
                <a:spcPts val="100"/>
              </a:spcAft>
              <a:buNone/>
            </a:pPr>
            <a:r>
              <a:rPr lang="en-US" sz="900" dirty="0">
                <a:solidFill>
                  <a:schemeClr val="accent5"/>
                </a:solidFill>
              </a:rPr>
              <a:t>14 Oct 2022</a:t>
            </a:r>
            <a:endParaRPr lang="en-US" sz="900" dirty="0"/>
          </a:p>
          <a:p>
            <a:pPr indent="0" marL="0">
              <a:spcAft>
                <a:spcPts val="100"/>
              </a:spcAft>
              <a:buNone/>
            </a:pPr>
            <a:r>
              <a:rPr lang="en-US" sz="900" dirty="0">
                <a:solidFill>
                  <a:schemeClr val="tx1"/>
                </a:solidFill>
              </a:rPr>
              <a:t>Class A non-sterile non-measuring: registration, no licence</a:t>
            </a:r>
            <a:endParaRPr lang="en-US" sz="900" dirty="0"/>
          </a:p>
        </p:txBody>
      </p:sp>
      <p:sp>
        <p:nvSpPr>
          <p:cNvPr id="17" name="Amendment G.S.R. 743(E)"/>
          <p:cNvSpPr/>
          <p:nvPr/>
        </p:nvSpPr>
        <p:spPr>
          <a:xfrm>
            <a:off x="6159856" y="5577840"/>
            <a:ext cx="1742389" cy="640080"/>
          </a:xfrm>
          <a:prstGeom prst="roundRect">
            <a:avLst>
              <a:gd name="adj" fmla="val 20000"/>
            </a:avLst>
          </a:prstGeom>
          <a:solidFill>
            <a:schemeClr val="bg2"/>
          </a:solidFill>
          <a:ln/>
        </p:spPr>
      </p:sp>
      <p:sp>
        <p:nvSpPr>
          <p:cNvPr id="18" name="Amendment bar"/>
          <p:cNvSpPr/>
          <p:nvPr/>
        </p:nvSpPr>
        <p:spPr>
          <a:xfrm>
            <a:off x="6159856" y="5669280"/>
            <a:ext cx="54864" cy="457200"/>
          </a:xfrm>
          <a:prstGeom prst="rect">
            <a:avLst/>
          </a:prstGeom>
          <a:solidFill>
            <a:schemeClr val="accent1"/>
          </a:solidFill>
          <a:ln/>
        </p:spPr>
      </p:sp>
      <p:sp>
        <p:nvSpPr>
          <p:cNvPr id="19" name="Text 15"/>
          <p:cNvSpPr txBox="1"/>
          <p:nvPr/>
        </p:nvSpPr>
        <p:spPr>
          <a:xfrm>
            <a:off x="6306160" y="5623560"/>
            <a:ext cx="1522933" cy="548640"/>
          </a:xfrm>
          <a:prstGeom prst="rect">
            <a:avLst/>
          </a:prstGeom>
          <a:noFill/>
          <a:ln/>
        </p:spPr>
        <p:txBody>
          <a:bodyPr wrap="square" lIns="0" tIns="0" rIns="0" bIns="0" rtlCol="0" anchor="ctr"/>
          <a:lstStyle/>
          <a:p>
            <a:pPr indent="0" marL="0">
              <a:spcAft>
                <a:spcPts val="100"/>
              </a:spcAft>
              <a:buNone/>
            </a:pPr>
            <a:r>
              <a:rPr lang="en-US" sz="900" b="1" dirty="0">
                <a:solidFill>
                  <a:schemeClr val="accent1"/>
                </a:solidFill>
              </a:rPr>
              <a:t>G.S.R. 743(E) · </a:t>
            </a:r>
            <a:pPr indent="0" marL="0">
              <a:spcAft>
                <a:spcPts val="100"/>
              </a:spcAft>
              <a:buNone/>
            </a:pPr>
            <a:r>
              <a:rPr lang="en-US" sz="900" dirty="0">
                <a:solidFill>
                  <a:schemeClr val="accent5"/>
                </a:solidFill>
              </a:rPr>
              <a:t>14 Aug 2026</a:t>
            </a:r>
            <a:endParaRPr lang="en-US" sz="900" dirty="0"/>
          </a:p>
          <a:p>
            <a:pPr indent="0" marL="0">
              <a:spcAft>
                <a:spcPts val="100"/>
              </a:spcAft>
              <a:buNone/>
            </a:pPr>
            <a:r>
              <a:rPr lang="en-US" sz="900" dirty="0">
                <a:solidFill>
                  <a:schemeClr val="tx1"/>
                </a:solidFill>
              </a:rPr>
              <a:t>Rule 44(p) sterilisation-site label from 14 Feb 2027; Ninth Schedule</a:t>
            </a:r>
            <a:endParaRPr lang="en-US" sz="900" dirty="0"/>
          </a:p>
        </p:txBody>
      </p:sp>
      <p:sp>
        <p:nvSpPr>
          <p:cNvPr id="20" name="Amendment G.S.R. 744(E)"/>
          <p:cNvSpPr/>
          <p:nvPr/>
        </p:nvSpPr>
        <p:spPr>
          <a:xfrm>
            <a:off x="8030261" y="5577840"/>
            <a:ext cx="1742389" cy="640080"/>
          </a:xfrm>
          <a:prstGeom prst="roundRect">
            <a:avLst>
              <a:gd name="adj" fmla="val 20000"/>
            </a:avLst>
          </a:prstGeom>
          <a:solidFill>
            <a:schemeClr val="bg2"/>
          </a:solidFill>
          <a:ln/>
        </p:spPr>
      </p:sp>
      <p:sp>
        <p:nvSpPr>
          <p:cNvPr id="21" name="Amendment bar"/>
          <p:cNvSpPr/>
          <p:nvPr/>
        </p:nvSpPr>
        <p:spPr>
          <a:xfrm>
            <a:off x="8030261" y="5669280"/>
            <a:ext cx="54864" cy="457200"/>
          </a:xfrm>
          <a:prstGeom prst="rect">
            <a:avLst/>
          </a:prstGeom>
          <a:solidFill>
            <a:schemeClr val="accent1"/>
          </a:solidFill>
          <a:ln/>
        </p:spPr>
      </p:sp>
      <p:sp>
        <p:nvSpPr>
          <p:cNvPr id="22" name="Text 18"/>
          <p:cNvSpPr txBox="1"/>
          <p:nvPr/>
        </p:nvSpPr>
        <p:spPr>
          <a:xfrm>
            <a:off x="8176565" y="5623560"/>
            <a:ext cx="1522933" cy="548640"/>
          </a:xfrm>
          <a:prstGeom prst="rect">
            <a:avLst/>
          </a:prstGeom>
          <a:noFill/>
          <a:ln/>
        </p:spPr>
        <p:txBody>
          <a:bodyPr wrap="square" lIns="0" tIns="0" rIns="0" bIns="0" rtlCol="0" anchor="ctr"/>
          <a:lstStyle/>
          <a:p>
            <a:pPr indent="0" marL="0">
              <a:spcAft>
                <a:spcPts val="100"/>
              </a:spcAft>
              <a:buNone/>
            </a:pPr>
            <a:r>
              <a:rPr lang="en-US" sz="900" b="1" dirty="0">
                <a:solidFill>
                  <a:schemeClr val="accent1"/>
                </a:solidFill>
              </a:rPr>
              <a:t>G.S.R. 744(E) · </a:t>
            </a:r>
            <a:pPr indent="0" marL="0">
              <a:spcAft>
                <a:spcPts val="100"/>
              </a:spcAft>
              <a:buNone/>
            </a:pPr>
            <a:r>
              <a:rPr lang="en-US" sz="900" dirty="0">
                <a:solidFill>
                  <a:schemeClr val="accent5"/>
                </a:solidFill>
              </a:rPr>
              <a:t>14 Aug 2026</a:t>
            </a:r>
            <a:endParaRPr lang="en-US" sz="900" dirty="0"/>
          </a:p>
          <a:p>
            <a:pPr indent="0" marL="0">
              <a:spcAft>
                <a:spcPts val="100"/>
              </a:spcAft>
              <a:buNone/>
            </a:pPr>
            <a:r>
              <a:rPr lang="en-US" sz="900" dirty="0">
                <a:solidFill>
                  <a:schemeClr val="tx1"/>
                </a:solidFill>
              </a:rPr>
              <a:t>EU approvals added to the Rule 63 waiver; Class A QMS self-certification</a:t>
            </a:r>
            <a:endParaRPr lang="en-US" sz="900" dirty="0"/>
          </a:p>
        </p:txBody>
      </p:sp>
      <p:sp>
        <p:nvSpPr>
          <p:cNvPr id="23" name="Amendment Drafts"/>
          <p:cNvSpPr/>
          <p:nvPr/>
        </p:nvSpPr>
        <p:spPr>
          <a:xfrm>
            <a:off x="9900666" y="5577840"/>
            <a:ext cx="1742389" cy="640080"/>
          </a:xfrm>
          <a:prstGeom prst="roundRect">
            <a:avLst>
              <a:gd name="adj" fmla="val 20000"/>
            </a:avLst>
          </a:prstGeom>
          <a:solidFill>
            <a:schemeClr val="bg2"/>
          </a:solidFill>
          <a:ln/>
        </p:spPr>
      </p:sp>
      <p:sp>
        <p:nvSpPr>
          <p:cNvPr id="24" name="Amendment bar"/>
          <p:cNvSpPr/>
          <p:nvPr/>
        </p:nvSpPr>
        <p:spPr>
          <a:xfrm>
            <a:off x="9900666" y="5669280"/>
            <a:ext cx="54864" cy="457200"/>
          </a:xfrm>
          <a:prstGeom prst="rect">
            <a:avLst/>
          </a:prstGeom>
          <a:solidFill>
            <a:schemeClr val="accent2"/>
          </a:solidFill>
          <a:ln/>
        </p:spPr>
      </p:sp>
      <p:sp>
        <p:nvSpPr>
          <p:cNvPr id="25" name="Text 21"/>
          <p:cNvSpPr txBox="1"/>
          <p:nvPr/>
        </p:nvSpPr>
        <p:spPr>
          <a:xfrm>
            <a:off x="10046970" y="5623560"/>
            <a:ext cx="1522933" cy="548640"/>
          </a:xfrm>
          <a:prstGeom prst="rect">
            <a:avLst/>
          </a:prstGeom>
          <a:noFill/>
          <a:ln/>
        </p:spPr>
        <p:txBody>
          <a:bodyPr wrap="square" lIns="0" tIns="0" rIns="0" bIns="0" rtlCol="0" anchor="ctr"/>
          <a:lstStyle/>
          <a:p>
            <a:pPr indent="0" marL="0">
              <a:spcAft>
                <a:spcPts val="100"/>
              </a:spcAft>
              <a:buNone/>
            </a:pPr>
            <a:r>
              <a:rPr lang="en-US" sz="900" b="1" dirty="0">
                <a:solidFill>
                  <a:schemeClr val="accent2"/>
                </a:solidFill>
              </a:rPr>
              <a:t>Drafts · </a:t>
            </a:r>
            <a:pPr indent="0" marL="0">
              <a:spcAft>
                <a:spcPts val="100"/>
              </a:spcAft>
              <a:buNone/>
            </a:pPr>
            <a:r>
              <a:rPr lang="en-US" sz="900" dirty="0">
                <a:solidFill>
                  <a:schemeClr val="accent5"/>
                </a:solidFill>
              </a:rPr>
              <a:t>4 Dec 2025 · 23 Jun 2026</a:t>
            </a:r>
            <a:endParaRPr lang="en-US" sz="900" dirty="0"/>
          </a:p>
          <a:p>
            <a:pPr indent="0" marL="0">
              <a:spcAft>
                <a:spcPts val="100"/>
              </a:spcAft>
              <a:buNone/>
            </a:pPr>
            <a:r>
              <a:rPr lang="en-US" sz="900" dirty="0">
                <a:solidFill>
                  <a:schemeClr val="tx1"/>
                </a:solidFill>
              </a:rPr>
              <a:t>G.S.R. 883(E): perpetual validity, MD‑44. G.S.R. 515(E): licence clocks</a:t>
            </a:r>
            <a:endParaRPr lang="en-US" sz="9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CASE REVIEW</a:t>
            </a: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lIns="0" tIns="0" rIns="0" bIns="0" rtlCol="0" anchor="t"/>
          <a:lstStyle/>
          <a:p>
            <a:pPr algn="l" indent="0" marL="0">
              <a:buNone/>
            </a:pPr>
            <a:r>
              <a:rPr lang="en-US" sz="2600" b="1" dirty="0">
                <a:solidFill>
                  <a:schemeClr val="tx1"/>
                </a:solidFill>
              </a:rPr>
              <a:t>Evidence to request before stronger claims</a:t>
            </a: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Sources: FoGO BIRAC BIG presentation (project-reported); Swayogya evidence page (company-reported); Bächlin 2010; Nieuwboer 2007; Silva de Lima 2017; Tubach 2005; Li, Cochrane 2013; OARSI 2019; NICE NG226; Pal 2016; ISO 14971, IEC 62366-1, ISO 14155; CDSCO MDSW guidance 2026; IDEAL-D</a:t>
            </a:r>
            <a:endParaRPr lang="en-US" sz="950" dirty="0"/>
          </a:p>
        </p:txBody>
      </p:sp>
      <p:graphicFrame>
        <p:nvGraphicFramePr>
          <p:cNvPr id="59" name="Matrix"/>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325880"/>
                <a:gridCol w="3520440"/>
                <a:gridCol w="3520440"/>
                <a:gridCol w="2724912"/>
              </a:tblGrid>
              <a:tr h="329184">
                <a:tc>
                  <a:txBody>
                    <a:bodyPr/>
                    <a:lstStyle/>
                    <a:p>
                      <a:pPr indent="0" marL="0">
                        <a:buNone/>
                      </a:pPr>
                      <a:r>
                        <a:rPr lang="en-US" sz="1050" b="1" dirty="0">
                          <a:solidFill>
                            <a:srgbClr val="FFFFFF"/>
                          </a:solidFill>
                        </a:rPr>
                        <a:t>Question</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FoGO · freezing-of-gait wearable (Class B, proposed)</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SwaKnee · PEMF knee system</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050" b="1" dirty="0">
                          <a:solidFill>
                            <a:srgbClr val="FFFFFF"/>
                          </a:solidFill>
                        </a:rPr>
                        <a:t>Benchmark or standard</a:t>
                      </a:r>
                      <a:endParaRPr lang="en-US" sz="10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r>
              <a:tr h="530352">
                <a:tc>
                  <a:txBody>
                    <a:bodyPr/>
                    <a:lstStyle/>
                    <a:p>
                      <a:pPr indent="0" marL="0">
                        <a:buNone/>
                      </a:pPr>
                      <a:r>
                        <a:rPr lang="en-US" sz="1000" b="1" dirty="0">
                          <a:solidFill>
                            <a:srgbClr val="0E3B3D"/>
                          </a:solidFill>
                        </a:rPr>
                        <a:t>Outcome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000" dirty="0">
                          <a:solidFill>
                            <a:srgbClr val="17262B"/>
                          </a:solidFill>
                        </a:rPr>
                        <a:t>Freeze detection against video-annotated events; then falls, confidence and walking outcomes, not only an F1 score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000" dirty="0">
                          <a:solidFill>
                            <a:srgbClr val="17262B"/>
                          </a:solidFill>
                        </a:rPr>
                        <a:t>Pain and function against patient-important thresholds; structural (cartilage) outcomes only if structural claims are made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0E3B3D"/>
                          </a:solidFill>
                        </a:rPr>
                        <a:t>Daphnet benchmark: 10 patients, 237 video-labelled events, laboratory (2010). Knee-OA pain MCII: −19.9 mm, −40.8% (Tubach 2005)</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530352">
                <a:tc>
                  <a:txBody>
                    <a:bodyPr/>
                    <a:lstStyle/>
                    <a:p>
                      <a:pPr indent="0" marL="0">
                        <a:buNone/>
                      </a:pPr>
                      <a:r>
                        <a:rPr lang="en-US" sz="1000" b="1" dirty="0">
                          <a:solidFill>
                            <a:srgbClr val="0E3B3D"/>
                          </a:solidFill>
                        </a:rPr>
                        <a:t>Comparison</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rPr>
                        <a:t>Participant-level validation on unseen users; cue versus no-cue or sham cue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rPr>
                        <a:t>Randomised, blinded, sham-controlled; prospectively registered (CTRI); co-interventions recorded</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0E3B3D"/>
                          </a:solidFill>
                        </a:rPr>
                        <a:t>RESCUE trial: n = 153, home cueing, modest gait gains, falls not counted (2007). Cochrane 2013: 9 trials, 636 adults, pain about 15/100 better than sham</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r h="530352">
                <a:tc>
                  <a:txBody>
                    <a:bodyPr/>
                    <a:lstStyle/>
                    <a:p>
                      <a:pPr indent="0" marL="0">
                        <a:buNone/>
                      </a:pPr>
                      <a:r>
                        <a:rPr lang="en-US" sz="1000" b="1" dirty="0">
                          <a:solidFill>
                            <a:srgbClr val="0E3B3D"/>
                          </a:solidFill>
                        </a:rPr>
                        <a:t>Who and where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000" dirty="0">
                          <a:solidFill>
                            <a:srgbClr val="17262B"/>
                          </a:solidFill>
                        </a:rPr>
                        <a:t>Disease stage, walking aids; homes, turns and doorways, not only the laboratory</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000" dirty="0">
                          <a:solidFill>
                            <a:srgbClr val="17262B"/>
                          </a:solidFill>
                        </a:rPr>
                        <a:t>Age, BMI, severity, comorbidities; rural access and supervision</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0E3B3D"/>
                          </a:solidFill>
                        </a:rPr>
                        <a:t>Wearable reviews: sensitivity 73–100%, specificity 67–100%, mostly laboratory (2017). Knee OA 28.7% in a five-site Indian community survey (2016)</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530352">
                <a:tc>
                  <a:txBody>
                    <a:bodyPr/>
                    <a:lstStyle/>
                    <a:p>
                      <a:pPr indent="0" marL="0">
                        <a:buNone/>
                      </a:pPr>
                      <a:r>
                        <a:rPr lang="en-US" sz="1000" b="1" dirty="0">
                          <a:solidFill>
                            <a:srgbClr val="0E3B3D"/>
                          </a:solidFill>
                        </a:rPr>
                        <a:t>Burden and harm</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rPr>
                        <a:t>False cues per hour and latency in real use; missed events, signal loss, skin, data</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rPr>
                        <a:t>Adverse events; adherence to 45-minute daily sessions over 45 days; support needs; durability after the course</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0E3B3D"/>
                          </a:solidFill>
                        </a:rPr>
                        <a:t>ISO 14971:2019 risk management; IEC 62366-1 usability engineering; ISO 14155:2026 good clinical practice for device studies</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0E3B3D"/>
                          </a:solidFill>
                        </a:rPr>
                        <a:t>Version</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000" dirty="0">
                          <a:solidFill>
                            <a:srgbClr val="17262B"/>
                          </a:solidFill>
                        </a:rPr>
                        <a:t>Firmware and model version stated for every result</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000" dirty="0">
                          <a:solidFill>
                            <a:srgbClr val="17262B"/>
                          </a:solidFill>
                        </a:rPr>
                        <a:t>Controller and applicator version stated for every result</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950" dirty="0">
                          <a:solidFill>
                            <a:srgbClr val="0E3B3D"/>
                          </a:solidFill>
                        </a:rPr>
                        <a:t>CDSCO software guidance (21 Jul 2026): software lifecycle and AI change planning</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658368">
                <a:tc>
                  <a:txBody>
                    <a:bodyPr/>
                    <a:lstStyle/>
                    <a:p>
                      <a:pPr indent="0" marL="0">
                        <a:buNone/>
                      </a:pPr>
                      <a:r>
                        <a:rPr lang="en-US" sz="1000" b="1" dirty="0">
                          <a:solidFill>
                            <a:srgbClr val="0E3B3D"/>
                          </a:solidFill>
                        </a:rPr>
                        <a:t>Status today</a:t>
                      </a:r>
                      <a:endParaRPr lang="en-US" sz="100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950" dirty="0">
                          <a:solidFill>
                            <a:srgbClr val="17262B"/>
                          </a:solidFill>
                        </a:rPr>
                        <a:t>Public datasets only: F1 0.83–0.85 subject-wise, 0.74–0.80 cross-dataset; 0.15–0.18 false alarms per minute; MD‑13 test licence for 25 units (10 Aug 2026); AIIMS Bhubaneswar proof-of-concept planned</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F1E3"/>
                    </a:solidFill>
                  </a:tcPr>
                </a:tc>
                <a:tc>
                  <a:txBody>
                    <a:bodyPr/>
                    <a:lstStyle/>
                    <a:p>
                      <a:pPr indent="0" marL="0">
                        <a:buNone/>
                      </a:pPr>
                      <a:r>
                        <a:rPr lang="en-US" sz="950" dirty="0">
                          <a:solidFill>
                            <a:srgbClr val="17262B"/>
                          </a:solidFill>
                        </a:rPr>
                        <a:t>Company-reported 45-day comparison: n = 40 vs 42, about 32% vs 14% VAS pain reduction; not peer-reviewed; OARSI 2019 and NICE NG226 advise against electrotherapy for OA</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F1E3"/>
                    </a:solidFill>
                  </a:tcPr>
                </a:tc>
                <a:tc>
                  <a:txBody>
                    <a:bodyPr/>
                    <a:lstStyle/>
                    <a:p>
                      <a:pPr indent="0" marL="0">
                        <a:buNone/>
                      </a:pPr>
                      <a:r>
                        <a:rPr lang="en-US" sz="950" dirty="0">
                          <a:solidFill>
                            <a:srgbClr val="17262B"/>
                          </a:solidFill>
                        </a:rPr>
                        <a:t>IDEAL-D: evaluate devices in stages, with the claim matched to the stage (Sedrakyan 2016)</a:t>
                      </a:r>
                      <a:endParaRPr lang="en-US" sz="950" dirty="0"/>
                    </a:p>
                  </a:txBody>
                  <a:tcPr marL="73152" marR="73152"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BF1E3"/>
                    </a:solidFill>
                  </a:tcPr>
                </a:tc>
              </a:tr>
            </a:tbl>
          </a:graphicData>
        </a:graphic>
      </p:graphicFrame>
      <p:sp>
        <p:nvSpPr>
          <p:cNvPr id="7" name="Status FoGO"/>
          <p:cNvSpPr/>
          <p:nvPr/>
        </p:nvSpPr>
        <p:spPr>
          <a:xfrm>
            <a:off x="548640" y="5230368"/>
            <a:ext cx="3576218" cy="969264"/>
          </a:xfrm>
          <a:prstGeom prst="roundRect">
            <a:avLst>
              <a:gd name="adj" fmla="val 13208"/>
            </a:avLst>
          </a:prstGeom>
          <a:solidFill>
            <a:schemeClr val="bg2"/>
          </a:solidFill>
          <a:ln/>
        </p:spPr>
      </p:sp>
      <p:sp>
        <p:nvSpPr>
          <p:cNvPr id="8" name="Icon disc LuFootprints"/>
          <p:cNvSpPr/>
          <p:nvPr/>
        </p:nvSpPr>
        <p:spPr>
          <a:xfrm>
            <a:off x="694944" y="5358384"/>
            <a:ext cx="365760" cy="365760"/>
          </a:xfrm>
          <a:prstGeom prst="ellipse">
            <a:avLst/>
          </a:prstGeom>
          <a:solidFill>
            <a:schemeClr val="accent1">
              <a:alpha val="15000"/>
            </a:schemeClr>
          </a:solidFill>
          <a:ln/>
        </p:spPr>
      </p:sp>
      <p:pic>
        <p:nvPicPr>
          <p:cNvPr id="9" name="Image 0" descr="Footprints icon">    </p:cNvPr>
          <p:cNvPicPr>
            <a:picLocks noChangeAspect="1"/>
          </p:cNvPicPr>
          <p:nvPr/>
        </p:nvPicPr>
        <p:blipFill>
          <a:blip r:embed="rId1"/>
          <a:stretch>
            <a:fillRect/>
          </a:stretch>
        </p:blipFill>
        <p:spPr>
          <a:xfrm>
            <a:off x="775411" y="5438851"/>
            <a:ext cx="204826" cy="204826"/>
          </a:xfrm>
          <a:prstGeom prst="rect">
            <a:avLst/>
          </a:prstGeom>
        </p:spPr>
      </p:pic>
      <p:sp>
        <p:nvSpPr>
          <p:cNvPr id="10" name="Text 5"/>
          <p:cNvSpPr txBox="1"/>
          <p:nvPr/>
        </p:nvSpPr>
        <p:spPr>
          <a:xfrm>
            <a:off x="1152144" y="5358384"/>
            <a:ext cx="970178" cy="365760"/>
          </a:xfrm>
          <a:prstGeom prst="rect">
            <a:avLst/>
          </a:prstGeom>
          <a:noFill/>
          <a:ln/>
        </p:spPr>
        <p:txBody>
          <a:bodyPr wrap="square" lIns="0" tIns="0" rIns="0" bIns="0" rtlCol="0" anchor="ctr"/>
          <a:lstStyle/>
          <a:p>
            <a:pPr indent="0" marL="0">
              <a:buNone/>
            </a:pPr>
            <a:r>
              <a:rPr lang="en-US" sz="1150" b="1" dirty="0">
                <a:solidFill>
                  <a:schemeClr val="tx1"/>
                </a:solidFill>
              </a:rPr>
              <a:t>FoGO</a:t>
            </a:r>
            <a:endParaRPr lang="en-US" sz="1150" dirty="0"/>
          </a:p>
        </p:txBody>
      </p:sp>
      <p:sp>
        <p:nvSpPr>
          <p:cNvPr id="11" name="Pill Reported, preliminary"/>
          <p:cNvSpPr/>
          <p:nvPr/>
        </p:nvSpPr>
        <p:spPr>
          <a:xfrm>
            <a:off x="2296058" y="5385816"/>
            <a:ext cx="1691640" cy="310896"/>
          </a:xfrm>
          <a:prstGeom prst="roundRect">
            <a:avLst>
              <a:gd name="adj" fmla="val 50000"/>
            </a:avLst>
          </a:prstGeom>
          <a:solidFill>
            <a:schemeClr val="bg1"/>
          </a:solidFill>
          <a:ln w="15875">
            <a:solidFill>
              <a:schemeClr val="accent1"/>
            </a:solidFill>
            <a:prstDash val="solid"/>
          </a:ln>
        </p:spPr>
      </p:sp>
      <p:sp>
        <p:nvSpPr>
          <p:cNvPr id="12" name="Text 7"/>
          <p:cNvSpPr txBox="1"/>
          <p:nvPr/>
        </p:nvSpPr>
        <p:spPr>
          <a:xfrm>
            <a:off x="2296058" y="5385816"/>
            <a:ext cx="1691640" cy="310896"/>
          </a:xfrm>
          <a:prstGeom prst="rect">
            <a:avLst/>
          </a:prstGeom>
          <a:noFill/>
          <a:ln/>
        </p:spPr>
        <p:txBody>
          <a:bodyPr wrap="square" lIns="0" tIns="0" rIns="0" bIns="0" rtlCol="0" anchor="ctr"/>
          <a:lstStyle/>
          <a:p>
            <a:pPr algn="ctr" indent="0" marL="0">
              <a:buNone/>
            </a:pPr>
            <a:r>
              <a:rPr lang="en-US" sz="1100" b="1" dirty="0">
                <a:solidFill>
                  <a:schemeClr val="accent1"/>
                </a:solidFill>
              </a:rPr>
              <a:t>Reported, preliminary</a:t>
            </a:r>
            <a:endParaRPr lang="en-US" sz="1100" dirty="0"/>
          </a:p>
        </p:txBody>
      </p:sp>
      <p:sp>
        <p:nvSpPr>
          <p:cNvPr id="13" name="Text 8"/>
          <p:cNvSpPr txBox="1"/>
          <p:nvPr/>
        </p:nvSpPr>
        <p:spPr>
          <a:xfrm>
            <a:off x="694944" y="5779008"/>
            <a:ext cx="3283610" cy="365760"/>
          </a:xfrm>
          <a:prstGeom prst="rect">
            <a:avLst/>
          </a:prstGeom>
          <a:noFill/>
          <a:ln/>
        </p:spPr>
        <p:txBody>
          <a:bodyPr wrap="square" lIns="0" tIns="0" rIns="0" bIns="0" rtlCol="0" anchor="t"/>
          <a:lstStyle/>
          <a:p>
            <a:pPr indent="0" marL="0">
              <a:buNone/>
            </a:pPr>
            <a:r>
              <a:rPr lang="en-US" sz="950" dirty="0">
                <a:solidFill>
                  <a:schemeClr val="tx2"/>
                </a:solidFill>
              </a:rPr>
              <a:t>Detection on public data and a bench cue study; no person with Parkinson's has yet used it at home. The claim today: 'being developed to detect and cue'.</a:t>
            </a:r>
            <a:endParaRPr lang="en-US" sz="950" dirty="0"/>
          </a:p>
        </p:txBody>
      </p:sp>
      <p:sp>
        <p:nvSpPr>
          <p:cNvPr id="14" name="Status SwaKnee"/>
          <p:cNvSpPr/>
          <p:nvPr/>
        </p:nvSpPr>
        <p:spPr>
          <a:xfrm>
            <a:off x="4307738" y="5230368"/>
            <a:ext cx="3576218" cy="969264"/>
          </a:xfrm>
          <a:prstGeom prst="roundRect">
            <a:avLst>
              <a:gd name="adj" fmla="val 13208"/>
            </a:avLst>
          </a:prstGeom>
          <a:solidFill>
            <a:schemeClr val="bg2"/>
          </a:solidFill>
          <a:ln/>
        </p:spPr>
      </p:sp>
      <p:sp>
        <p:nvSpPr>
          <p:cNvPr id="15" name="Icon disc LuBone"/>
          <p:cNvSpPr/>
          <p:nvPr/>
        </p:nvSpPr>
        <p:spPr>
          <a:xfrm>
            <a:off x="4454042" y="5358384"/>
            <a:ext cx="365760" cy="365760"/>
          </a:xfrm>
          <a:prstGeom prst="ellipse">
            <a:avLst/>
          </a:prstGeom>
          <a:solidFill>
            <a:schemeClr val="accent2">
              <a:alpha val="15000"/>
            </a:schemeClr>
          </a:solidFill>
          <a:ln/>
        </p:spPr>
      </p:sp>
      <p:pic>
        <p:nvPicPr>
          <p:cNvPr id="16" name="Image 1" descr="Bone icon">    </p:cNvPr>
          <p:cNvPicPr>
            <a:picLocks noChangeAspect="1"/>
          </p:cNvPicPr>
          <p:nvPr/>
        </p:nvPicPr>
        <p:blipFill>
          <a:blip r:embed="rId2"/>
          <a:stretch>
            <a:fillRect/>
          </a:stretch>
        </p:blipFill>
        <p:spPr>
          <a:xfrm>
            <a:off x="4534510" y="5438851"/>
            <a:ext cx="204826" cy="204826"/>
          </a:xfrm>
          <a:prstGeom prst="rect">
            <a:avLst/>
          </a:prstGeom>
        </p:spPr>
      </p:pic>
      <p:sp>
        <p:nvSpPr>
          <p:cNvPr id="17" name="Text 11"/>
          <p:cNvSpPr txBox="1"/>
          <p:nvPr/>
        </p:nvSpPr>
        <p:spPr>
          <a:xfrm>
            <a:off x="4911242" y="5358384"/>
            <a:ext cx="970178" cy="365760"/>
          </a:xfrm>
          <a:prstGeom prst="rect">
            <a:avLst/>
          </a:prstGeom>
          <a:noFill/>
          <a:ln/>
        </p:spPr>
        <p:txBody>
          <a:bodyPr wrap="square" lIns="0" tIns="0" rIns="0" bIns="0" rtlCol="0" anchor="ctr"/>
          <a:lstStyle/>
          <a:p>
            <a:pPr indent="0" marL="0">
              <a:buNone/>
            </a:pPr>
            <a:r>
              <a:rPr lang="en-US" sz="1150" b="1" dirty="0">
                <a:solidFill>
                  <a:schemeClr val="tx1"/>
                </a:solidFill>
              </a:rPr>
              <a:t>SwaKnee</a:t>
            </a:r>
            <a:endParaRPr lang="en-US" sz="1150" dirty="0"/>
          </a:p>
        </p:txBody>
      </p:sp>
      <p:sp>
        <p:nvSpPr>
          <p:cNvPr id="18" name="Pill Reported, preliminary"/>
          <p:cNvSpPr/>
          <p:nvPr/>
        </p:nvSpPr>
        <p:spPr>
          <a:xfrm>
            <a:off x="6055157" y="5385816"/>
            <a:ext cx="1691640" cy="310896"/>
          </a:xfrm>
          <a:prstGeom prst="roundRect">
            <a:avLst>
              <a:gd name="adj" fmla="val 50000"/>
            </a:avLst>
          </a:prstGeom>
          <a:solidFill>
            <a:schemeClr val="bg1"/>
          </a:solidFill>
          <a:ln w="15875">
            <a:solidFill>
              <a:schemeClr val="accent1"/>
            </a:solidFill>
            <a:prstDash val="solid"/>
          </a:ln>
        </p:spPr>
      </p:sp>
      <p:sp>
        <p:nvSpPr>
          <p:cNvPr id="19" name="Text 13"/>
          <p:cNvSpPr txBox="1"/>
          <p:nvPr/>
        </p:nvSpPr>
        <p:spPr>
          <a:xfrm>
            <a:off x="6055157" y="5385816"/>
            <a:ext cx="1691640" cy="310896"/>
          </a:xfrm>
          <a:prstGeom prst="rect">
            <a:avLst/>
          </a:prstGeom>
          <a:noFill/>
          <a:ln/>
        </p:spPr>
        <p:txBody>
          <a:bodyPr wrap="square" lIns="0" tIns="0" rIns="0" bIns="0" rtlCol="0" anchor="ctr"/>
          <a:lstStyle/>
          <a:p>
            <a:pPr algn="ctr" indent="0" marL="0">
              <a:buNone/>
            </a:pPr>
            <a:r>
              <a:rPr lang="en-US" sz="1100" b="1" dirty="0">
                <a:solidFill>
                  <a:schemeClr val="accent1"/>
                </a:solidFill>
              </a:rPr>
              <a:t>Reported, preliminary</a:t>
            </a:r>
            <a:endParaRPr lang="en-US" sz="1100" dirty="0"/>
          </a:p>
        </p:txBody>
      </p:sp>
      <p:sp>
        <p:nvSpPr>
          <p:cNvPr id="20" name="Text 14"/>
          <p:cNvSpPr txBox="1"/>
          <p:nvPr/>
        </p:nvSpPr>
        <p:spPr>
          <a:xfrm>
            <a:off x="4454042" y="5779008"/>
            <a:ext cx="3283610" cy="365760"/>
          </a:xfrm>
          <a:prstGeom prst="rect">
            <a:avLst/>
          </a:prstGeom>
          <a:noFill/>
          <a:ln/>
        </p:spPr>
        <p:txBody>
          <a:bodyPr wrap="square" lIns="0" tIns="0" rIns="0" bIns="0" rtlCol="0" anchor="t"/>
          <a:lstStyle/>
          <a:p>
            <a:pPr indent="0" marL="0">
              <a:buNone/>
            </a:pPr>
            <a:r>
              <a:rPr lang="en-US" sz="950" dirty="0">
                <a:solidFill>
                  <a:schemeClr val="tx2"/>
                </a:solidFill>
              </a:rPr>
              <a:t>One company-reported comparison, not peer-reviewed; OARSI and NICE guidelines advise against the modality. The claim today: 'reported pain reduction in one study'.</a:t>
            </a:r>
            <a:endParaRPr lang="en-US" sz="950" dirty="0"/>
          </a:p>
        </p:txBody>
      </p:sp>
      <p:sp>
        <p:nvSpPr>
          <p:cNvPr id="21" name="Status Rule for the Q&amp;A"/>
          <p:cNvSpPr/>
          <p:nvPr/>
        </p:nvSpPr>
        <p:spPr>
          <a:xfrm>
            <a:off x="8066837" y="5230368"/>
            <a:ext cx="3576218" cy="969264"/>
          </a:xfrm>
          <a:prstGeom prst="roundRect">
            <a:avLst>
              <a:gd name="adj" fmla="val 13208"/>
            </a:avLst>
          </a:prstGeom>
          <a:solidFill>
            <a:schemeClr val="bg2"/>
          </a:solidFill>
          <a:ln/>
        </p:spPr>
      </p:sp>
      <p:sp>
        <p:nvSpPr>
          <p:cNvPr id="22" name="Icon disc LuScale"/>
          <p:cNvSpPr/>
          <p:nvPr/>
        </p:nvSpPr>
        <p:spPr>
          <a:xfrm>
            <a:off x="8213141" y="5358384"/>
            <a:ext cx="365760" cy="365760"/>
          </a:xfrm>
          <a:prstGeom prst="ellipse">
            <a:avLst/>
          </a:prstGeom>
          <a:solidFill>
            <a:schemeClr val="accent4">
              <a:alpha val="15000"/>
            </a:schemeClr>
          </a:solidFill>
          <a:ln/>
        </p:spPr>
      </p:sp>
      <p:pic>
        <p:nvPicPr>
          <p:cNvPr id="23" name="Image 2" descr="Scale icon">    </p:cNvPr>
          <p:cNvPicPr>
            <a:picLocks noChangeAspect="1"/>
          </p:cNvPicPr>
          <p:nvPr/>
        </p:nvPicPr>
        <p:blipFill>
          <a:blip r:embed="rId3"/>
          <a:stretch>
            <a:fillRect/>
          </a:stretch>
        </p:blipFill>
        <p:spPr>
          <a:xfrm>
            <a:off x="8293608" y="5438851"/>
            <a:ext cx="204826" cy="204826"/>
          </a:xfrm>
          <a:prstGeom prst="rect">
            <a:avLst/>
          </a:prstGeom>
        </p:spPr>
      </p:pic>
      <p:sp>
        <p:nvSpPr>
          <p:cNvPr id="24" name="Text 17"/>
          <p:cNvSpPr txBox="1"/>
          <p:nvPr/>
        </p:nvSpPr>
        <p:spPr>
          <a:xfrm>
            <a:off x="8670341" y="5358384"/>
            <a:ext cx="2753258" cy="365760"/>
          </a:xfrm>
          <a:prstGeom prst="rect">
            <a:avLst/>
          </a:prstGeom>
          <a:noFill/>
          <a:ln/>
        </p:spPr>
        <p:txBody>
          <a:bodyPr wrap="square" lIns="0" tIns="0" rIns="0" bIns="0" rtlCol="0" anchor="ctr"/>
          <a:lstStyle/>
          <a:p>
            <a:pPr indent="0" marL="0">
              <a:buNone/>
            </a:pPr>
            <a:r>
              <a:rPr lang="en-US" sz="1150" b="1" dirty="0">
                <a:solidFill>
                  <a:schemeClr val="tx1"/>
                </a:solidFill>
              </a:rPr>
              <a:t>Rule for the Q&amp;A</a:t>
            </a:r>
            <a:endParaRPr lang="en-US" sz="1150" dirty="0"/>
          </a:p>
        </p:txBody>
      </p:sp>
      <p:sp>
        <p:nvSpPr>
          <p:cNvPr id="25" name="Text 18"/>
          <p:cNvSpPr txBox="1"/>
          <p:nvPr/>
        </p:nvSpPr>
        <p:spPr>
          <a:xfrm>
            <a:off x="8213141" y="5779008"/>
            <a:ext cx="3283610" cy="365760"/>
          </a:xfrm>
          <a:prstGeom prst="rect">
            <a:avLst/>
          </a:prstGeom>
          <a:noFill/>
          <a:ln/>
        </p:spPr>
        <p:txBody>
          <a:bodyPr wrap="square" lIns="0" tIns="0" rIns="0" bIns="0" rtlCol="0" anchor="t"/>
          <a:lstStyle/>
          <a:p>
            <a:pPr indent="0" marL="0">
              <a:buNone/>
            </a:pPr>
            <a:r>
              <a:rPr lang="en-US" sz="950" dirty="0">
                <a:solidFill>
                  <a:schemeClr val="tx2"/>
                </a:solidFill>
              </a:rPr>
              <a:t>Before accepting a stronger adjective (validated, proven, safe), ask which row above it rests on, and which device version produced the number.</a:t>
            </a:r>
            <a:endParaRPr lang="en-US" sz="95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lIns="0" tIns="0" rIns="0" bIns="0" rtlCol="0" anchor="t"/>
          <a:lstStyle/>
          <a:p>
            <a:pPr algn="l" indent="0" marL="0">
              <a:buNone/>
            </a:pPr>
            <a:r>
              <a:rPr lang="en-US" sz="2600" b="1" dirty="0">
                <a:solidFill>
                  <a:schemeClr val="tx1"/>
                </a:solidFill>
              </a:rPr>
              <a:t>Teaching materials: Stanford Biodesign and Harvard</a:t>
            </a: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Click a title to open the source. No institution listed has evaluated or endorsed FoGO or SwaKnee. Full citations: docs/References.pdf.</a:t>
            </a:r>
            <a:endParaRPr lang="en-US" sz="950" dirty="0"/>
          </a:p>
        </p:txBody>
      </p:sp>
      <p:sp>
        <p:nvSpPr>
          <p:cNvPr id="6" name="Text 3"/>
          <p:cNvSpPr txBox="1"/>
          <p:nvPr/>
        </p:nvSpPr>
        <p:spPr>
          <a:xfrm>
            <a:off x="548640" y="1371600"/>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 invalidUrl="" action="" tgtFrame="" tooltip="https://biodesign.stanford.edu/about-us/process.html" history="1" highlightClick="0" endSnd="0">
                  <a:extLst>
                    <a:ext uri="{A12FA001-AC4F-418D-AE19-62706E023703}">
                      <ahyp:hlinkClr xmlns:ahyp="http://schemas.microsoft.com/office/drawing/2018/hyperlinkcolor" val="tx"/>
                    </a:ext>
                  </a:extLst>
                </a:hlinkClick>
              </a:rPr>
              <a:t>Stanford Biodesign, Our Process</a:t>
            </a:r>
            <a:endParaRPr lang="en-US" sz="1400" dirty="0"/>
          </a:p>
          <a:p>
            <a:pPr indent="0" marL="0">
              <a:buNone/>
            </a:pPr>
            <a:r>
              <a:rPr lang="en-US" sz="850" dirty="0">
                <a:solidFill>
                  <a:schemeClr val="tx2"/>
                </a:solidFill>
              </a:rPr>
              <a:t>Stanford Mussallem Center for Biodesign. Our Process: Identify, Invent, Implement.</a:t>
            </a:r>
            <a:endParaRPr lang="en-US" sz="1400" dirty="0"/>
          </a:p>
        </p:txBody>
      </p:sp>
      <p:sp>
        <p:nvSpPr>
          <p:cNvPr id="7" name="Text 4"/>
          <p:cNvSpPr txBox="1"/>
          <p:nvPr/>
        </p:nvSpPr>
        <p:spPr>
          <a:xfrm>
            <a:off x="548640" y="1929384"/>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2" invalidUrl="" action="" tgtFrame="" tooltip="https://biodesignguide.stanford.edu/wp-content/uploads/2022/07/Need-Statements-v2.pdf" history="1" highlightClick="0" endSnd="0">
                  <a:extLst>
                    <a:ext uri="{A12FA001-AC4F-418D-AE19-62706E023703}">
                      <ahyp:hlinkClr xmlns:ahyp="http://schemas.microsoft.com/office/drawing/2018/hyperlinkcolor" val="tx"/>
                    </a:ext>
                  </a:extLst>
                </a:hlinkClick>
              </a:rPr>
              <a:t>Stanford Biodesign, Need Statements (2022)</a:t>
            </a:r>
            <a:endParaRPr lang="en-US" sz="1400" dirty="0"/>
          </a:p>
          <a:p>
            <a:pPr indent="0" marL="0">
              <a:buNone/>
            </a:pPr>
            <a:r>
              <a:rPr lang="en-US" sz="850" dirty="0">
                <a:solidFill>
                  <a:schemeClr val="tx2"/>
                </a:solidFill>
              </a:rPr>
              <a:t>Stanford Biodesign. Need Statements. Student Guide to Biodesign; 2022.</a:t>
            </a:r>
            <a:endParaRPr lang="en-US" sz="1400" dirty="0"/>
          </a:p>
        </p:txBody>
      </p:sp>
      <p:sp>
        <p:nvSpPr>
          <p:cNvPr id="8" name="Text 5"/>
          <p:cNvSpPr txBox="1"/>
          <p:nvPr/>
        </p:nvSpPr>
        <p:spPr>
          <a:xfrm>
            <a:off x="548640" y="2487168"/>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3" invalidUrl="" action="" tgtFrame="" tooltip="https://biodesignguide.stanford.edu/wp-content/uploads/2022/08/Principled-Decision-Making-v1.pdf" history="1" highlightClick="0" endSnd="0">
                  <a:extLst>
                    <a:ext uri="{A12FA001-AC4F-418D-AE19-62706E023703}">
                      <ahyp:hlinkClr xmlns:ahyp="http://schemas.microsoft.com/office/drawing/2018/hyperlinkcolor" val="tx"/>
                    </a:ext>
                  </a:extLst>
                </a:hlinkClick>
              </a:rPr>
              <a:t>Stanford Biodesign, Principled Decision-Making (2022)</a:t>
            </a:r>
            <a:endParaRPr lang="en-US" sz="1400" dirty="0"/>
          </a:p>
          <a:p>
            <a:pPr indent="0" marL="0">
              <a:buNone/>
            </a:pPr>
            <a:r>
              <a:rPr lang="en-US" sz="850" dirty="0">
                <a:solidFill>
                  <a:schemeClr val="tx2"/>
                </a:solidFill>
              </a:rPr>
              <a:t>Stanford Biodesign. Principled Decision-Making. Student Guide to Biodesign; 2022.</a:t>
            </a:r>
            <a:endParaRPr lang="en-US" sz="1400" dirty="0"/>
          </a:p>
        </p:txBody>
      </p:sp>
      <p:sp>
        <p:nvSpPr>
          <p:cNvPr id="9" name="Text 6"/>
          <p:cNvSpPr txBox="1"/>
          <p:nvPr/>
        </p:nvSpPr>
        <p:spPr>
          <a:xfrm>
            <a:off x="548640" y="304495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4" invalidUrl="" action="" tgtFrame="" tooltip="https://journalofethics.ama-assn.org/article/patient-centered-ethical-approach-medical-device-innovation/2010-02" history="1" highlightClick="0" endSnd="0">
                  <a:extLst>
                    <a:ext uri="{A12FA001-AC4F-418D-AE19-62706E023703}">
                      <ahyp:hlinkClr xmlns:ahyp="http://schemas.microsoft.com/office/drawing/2018/hyperlinkcolor" val="tx"/>
                    </a:ext>
                  </a:extLst>
                </a:hlinkClick>
              </a:rPr>
              <a:t>Chao, Riskin &amp; Krummel (2010)</a:t>
            </a:r>
            <a:endParaRPr lang="en-US" sz="1400" dirty="0"/>
          </a:p>
          <a:p>
            <a:pPr indent="0" marL="0">
              <a:buNone/>
            </a:pPr>
            <a:r>
              <a:rPr lang="en-US" sz="850" dirty="0">
                <a:solidFill>
                  <a:schemeClr val="tx2"/>
                </a:solidFill>
              </a:rPr>
              <a:t>Chao KZ, Riskin DJ, Krummel TM. A patient-centered, ethical approach to medical device innovation. Virtual Mentor (now AMA J Ethics). …</a:t>
            </a:r>
            <a:endParaRPr lang="en-US" sz="1400" dirty="0"/>
          </a:p>
        </p:txBody>
      </p:sp>
      <p:sp>
        <p:nvSpPr>
          <p:cNvPr id="10" name="Text 7"/>
          <p:cNvSpPr txBox="1"/>
          <p:nvPr/>
        </p:nvSpPr>
        <p:spPr>
          <a:xfrm>
            <a:off x="548640" y="373532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5" invalidUrl="" action="" tgtFrame="" tooltip="https://www.gsb.stanford.edu/faculty-research/case-studies/role-physicians-device-innovation-critical-success-factor-or-conflict" history="1" highlightClick="0" endSnd="0">
                  <a:extLst>
                    <a:ext uri="{A12FA001-AC4F-418D-AE19-62706E023703}">
                      <ahyp:hlinkClr xmlns:ahyp="http://schemas.microsoft.com/office/drawing/2018/hyperlinkcolor" val="tx"/>
                    </a:ext>
                  </a:extLst>
                </a:hlinkClick>
              </a:rPr>
              <a:t>Stanford GSB case OIT105 (2011)</a:t>
            </a:r>
            <a:endParaRPr lang="en-US" sz="1400" dirty="0"/>
          </a:p>
          <a:p>
            <a:pPr indent="0" marL="0">
              <a:buNone/>
            </a:pPr>
            <a:r>
              <a:rPr lang="en-US" sz="850" dirty="0">
                <a:solidFill>
                  <a:schemeClr val="tx2"/>
                </a:solidFill>
              </a:rPr>
              <a:t>Burns L, Denend L, Zenios S. The Role of Physicians in Device Innovation: Critical Success Factor or Conflict of Interest? Stanford GSB case OIT105; …</a:t>
            </a:r>
            <a:endParaRPr lang="en-US" sz="1400" dirty="0"/>
          </a:p>
        </p:txBody>
      </p:sp>
      <p:sp>
        <p:nvSpPr>
          <p:cNvPr id="11" name="Text 8"/>
          <p:cNvSpPr txBox="1"/>
          <p:nvPr/>
        </p:nvSpPr>
        <p:spPr>
          <a:xfrm>
            <a:off x="548640" y="442569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6" invalidUrl="" action="" tgtFrame="" tooltip="https://biodesign.stanford.edu/content/dam/sm/biodesign/documents/programs/global-initiatives/founders-forum/Stanford-Bioesign-in-India.pdf" history="1" highlightClick="0" endSnd="0">
                  <a:extLst>
                    <a:ext uri="{A12FA001-AC4F-418D-AE19-62706E023703}">
                      <ahyp:hlinkClr xmlns:ahyp="http://schemas.microsoft.com/office/drawing/2018/hyperlinkcolor" val="tx"/>
                    </a:ext>
                  </a:extLst>
                </a:hlinkClick>
              </a:rPr>
              <a:t>Stanford Biodesign in India</a:t>
            </a:r>
            <a:endParaRPr lang="en-US" sz="1400" dirty="0"/>
          </a:p>
          <a:p>
            <a:pPr indent="0" marL="0">
              <a:buNone/>
            </a:pPr>
            <a:r>
              <a:rPr lang="en-US" sz="850" dirty="0">
                <a:solidFill>
                  <a:schemeClr val="tx2"/>
                </a:solidFill>
              </a:rPr>
              <a:t>Stanford Biodesign. Stanford Biodesign in India (Stanford-India Biodesign, 2007–2014; now School of International Biodesign, AIIMS and IIT Delhi).</a:t>
            </a:r>
            <a:endParaRPr lang="en-US" sz="1400" dirty="0"/>
          </a:p>
        </p:txBody>
      </p:sp>
      <p:sp>
        <p:nvSpPr>
          <p:cNvPr id="12" name="Text 9"/>
          <p:cNvSpPr txBox="1"/>
          <p:nvPr/>
        </p:nvSpPr>
        <p:spPr>
          <a:xfrm>
            <a:off x="548640" y="511606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7" invalidUrl="" action="" tgtFrame="" tooltip="https://innovations.bmj.com/content/1/3/81" history="1" highlightClick="0" endSnd="0">
                  <a:extLst>
                    <a:ext uri="{A12FA001-AC4F-418D-AE19-62706E023703}">
                      <ahyp:hlinkClr xmlns:ahyp="http://schemas.microsoft.com/office/drawing/2018/hyperlinkcolor" val="tx"/>
                    </a:ext>
                  </a:extLst>
                </a:hlinkClick>
              </a:rPr>
              <a:t>Chaturvedi et al., BMJ Innovations (2015)</a:t>
            </a:r>
            <a:endParaRPr lang="en-US" sz="1400" dirty="0"/>
          </a:p>
          <a:p>
            <a:pPr indent="0" marL="0">
              <a:buNone/>
            </a:pPr>
            <a:r>
              <a:rPr lang="en-US" sz="850" dirty="0">
                <a:solidFill>
                  <a:schemeClr val="tx2"/>
                </a:solidFill>
              </a:rPr>
              <a:t>Chaturvedi J, Logan A, Narayan G, Kuttappa S. A structured process for unmet clinical need analysis for medical device innovation in India: early …</a:t>
            </a:r>
            <a:endParaRPr lang="en-US" sz="1400" dirty="0"/>
          </a:p>
        </p:txBody>
      </p:sp>
      <p:sp>
        <p:nvSpPr>
          <p:cNvPr id="13" name="Text 10"/>
          <p:cNvSpPr txBox="1"/>
          <p:nvPr/>
        </p:nvSpPr>
        <p:spPr>
          <a:xfrm>
            <a:off x="4322978" y="1371600"/>
            <a:ext cx="3545738" cy="333756"/>
          </a:xfrm>
          <a:prstGeom prst="rect">
            <a:avLst/>
          </a:prstGeom>
          <a:noFill/>
          <a:ln/>
        </p:spPr>
        <p:txBody>
          <a:bodyPr wrap="square" lIns="0" tIns="0" rIns="0" bIns="0" rtlCol="0" anchor="t"/>
          <a:lstStyle/>
          <a:p>
            <a:pPr indent="0" marL="0">
              <a:buNone/>
            </a:pPr>
            <a:r>
              <a:rPr lang="en-US" sz="1000" b="1" u="sng" dirty="0">
                <a:solidFill>
                  <a:schemeClr val="accent1"/>
                </a:solidFill>
                <a:hlinkClick r:id="rId8" invalidUrl="" action="" tgtFrame="" tooltip="https://biodesign.stanford.edu/programs/health-equity.html" history="1" highlightClick="0" endSnd="0">
                  <a:extLst>
                    <a:ext uri="{A12FA001-AC4F-418D-AE19-62706E023703}">
                      <ahyp:hlinkClr xmlns:ahyp="http://schemas.microsoft.com/office/drawing/2018/hyperlinkcolor" val="tx"/>
                    </a:ext>
                  </a:extLst>
                </a:hlinkClick>
              </a:rPr>
              <a:t>Stanford Biodesign, Health Equity</a:t>
            </a:r>
            <a:endParaRPr lang="en-US" sz="1400" dirty="0"/>
          </a:p>
          <a:p>
            <a:pPr indent="0" marL="0">
              <a:buNone/>
            </a:pPr>
            <a:r>
              <a:rPr lang="en-US" sz="850" dirty="0">
                <a:solidFill>
                  <a:schemeClr val="tx2"/>
                </a:solidFill>
              </a:rPr>
              <a:t>Stanford Biodesign. Health Equity programme and resources.</a:t>
            </a:r>
            <a:endParaRPr lang="en-US" sz="1400" dirty="0"/>
          </a:p>
        </p:txBody>
      </p:sp>
      <p:sp>
        <p:nvSpPr>
          <p:cNvPr id="14" name="Text 11"/>
          <p:cNvSpPr txBox="1"/>
          <p:nvPr/>
        </p:nvSpPr>
        <p:spPr>
          <a:xfrm>
            <a:off x="4322978" y="1796796"/>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9" invalidUrl="" action="" tgtFrame="" tooltip="https://bioethics.hms.harvard.edu/education/fellowship-bioethics/curriculum" history="1" highlightClick="0" endSnd="0">
                  <a:extLst>
                    <a:ext uri="{A12FA001-AC4F-418D-AE19-62706E023703}">
                      <ahyp:hlinkClr xmlns:ahyp="http://schemas.microsoft.com/office/drawing/2018/hyperlinkcolor" val="tx"/>
                    </a:ext>
                  </a:extLst>
                </a:hlinkClick>
              </a:rPr>
              <a:t>HMS Center for Bioethics</a:t>
            </a:r>
            <a:endParaRPr lang="en-US" sz="1400" dirty="0"/>
          </a:p>
          <a:p>
            <a:pPr indent="0" marL="0">
              <a:buNone/>
            </a:pPr>
            <a:r>
              <a:rPr lang="en-US" sz="850" dirty="0">
                <a:solidFill>
                  <a:schemeClr val="tx2"/>
                </a:solidFill>
              </a:rPr>
              <a:t>Harvard Medical School Center for Bioethics. Fellowship in Bioethics: curriculum.</a:t>
            </a:r>
            <a:endParaRPr lang="en-US" sz="1400" dirty="0"/>
          </a:p>
        </p:txBody>
      </p:sp>
      <p:sp>
        <p:nvSpPr>
          <p:cNvPr id="15" name="Text 12"/>
          <p:cNvSpPr txBox="1"/>
          <p:nvPr/>
        </p:nvSpPr>
        <p:spPr>
          <a:xfrm>
            <a:off x="4322978" y="235458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0" invalidUrl="" action="" tgtFrame="" tooltip="https://mrctcenter.org/diversity-in-clinical-research/" history="1" highlightClick="0" endSnd="0">
                  <a:extLst>
                    <a:ext uri="{A12FA001-AC4F-418D-AE19-62706E023703}">
                      <ahyp:hlinkClr xmlns:ahyp="http://schemas.microsoft.com/office/drawing/2018/hyperlinkcolor" val="tx"/>
                    </a:ext>
                  </a:extLst>
                </a:hlinkClick>
              </a:rPr>
              <a:t>MRCT Center, Diversity guidance (2020)</a:t>
            </a:r>
            <a:endParaRPr lang="en-US" sz="1400" dirty="0"/>
          </a:p>
          <a:p>
            <a:pPr indent="0" marL="0">
              <a:buNone/>
            </a:pPr>
            <a:r>
              <a:rPr lang="en-US" sz="850" dirty="0">
                <a:solidFill>
                  <a:schemeClr val="tx2"/>
                </a:solidFill>
              </a:rPr>
              <a:t>MRCT Center of Brigham and Women's Hospital and Harvard. Achieving Diversity, Inclusion, and Equity in Clinical Research: Guidance Document and …</a:t>
            </a:r>
            <a:endParaRPr lang="en-US" sz="1400" dirty="0"/>
          </a:p>
        </p:txBody>
      </p:sp>
      <p:sp>
        <p:nvSpPr>
          <p:cNvPr id="16" name="Text 13"/>
          <p:cNvSpPr txBox="1"/>
          <p:nvPr/>
        </p:nvSpPr>
        <p:spPr>
          <a:xfrm>
            <a:off x="4322978" y="3044952"/>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1" invalidUrl="" action="" tgtFrame="" tooltip="https://mrctcenter.org/resource/accessibility-by-design-abd-toolkit-release/" history="1" highlightClick="0" endSnd="0">
                  <a:extLst>
                    <a:ext uri="{A12FA001-AC4F-418D-AE19-62706E023703}">
                      <ahyp:hlinkClr xmlns:ahyp="http://schemas.microsoft.com/office/drawing/2018/hyperlinkcolor" val="tx"/>
                    </a:ext>
                  </a:extLst>
                </a:hlinkClick>
              </a:rPr>
              <a:t>MRCT Center, Accessibility by Design (2023)</a:t>
            </a:r>
            <a:endParaRPr lang="en-US" sz="1400" dirty="0"/>
          </a:p>
          <a:p>
            <a:pPr indent="0" marL="0">
              <a:buNone/>
            </a:pPr>
            <a:r>
              <a:rPr lang="en-US" sz="850" dirty="0">
                <a:solidFill>
                  <a:schemeClr val="tx2"/>
                </a:solidFill>
              </a:rPr>
              <a:t>MRCT Center. Accessibility by Design in Clinical Research Toolkit; 2023.</a:t>
            </a:r>
            <a:endParaRPr lang="en-US" sz="1400" dirty="0"/>
          </a:p>
        </p:txBody>
      </p:sp>
      <p:sp>
        <p:nvSpPr>
          <p:cNvPr id="17" name="Text 14"/>
          <p:cNvSpPr txBox="1"/>
          <p:nvPr/>
        </p:nvSpPr>
        <p:spPr>
          <a:xfrm>
            <a:off x="4322978" y="3602736"/>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2" invalidUrl="" action="" tgtFrame="" tooltip="https://mrctcenter.org/glossary/" history="1" highlightClick="0" endSnd="0">
                  <a:extLst>
                    <a:ext uri="{A12FA001-AC4F-418D-AE19-62706E023703}">
                      <ahyp:hlinkClr xmlns:ahyp="http://schemas.microsoft.com/office/drawing/2018/hyperlinkcolor" val="tx"/>
                    </a:ext>
                  </a:extLst>
                </a:hlinkClick>
              </a:rPr>
              <a:t>MRCT Center, Clinical Research Glossary</a:t>
            </a:r>
            <a:endParaRPr lang="en-US" sz="1400" dirty="0"/>
          </a:p>
          <a:p>
            <a:pPr indent="0" marL="0">
              <a:buNone/>
            </a:pPr>
            <a:r>
              <a:rPr lang="en-US" sz="850" dirty="0">
                <a:solidFill>
                  <a:schemeClr val="tx2"/>
                </a:solidFill>
              </a:rPr>
              <a:t>MRCT Center. Clinical Research Glossary (plain-language definitions; v3.0, 2025).</a:t>
            </a:r>
            <a:endParaRPr lang="en-US" sz="1400" dirty="0"/>
          </a:p>
        </p:txBody>
      </p:sp>
      <p:sp>
        <p:nvSpPr>
          <p:cNvPr id="18" name="Text 15"/>
          <p:cNvSpPr txBox="1"/>
          <p:nvPr/>
        </p:nvSpPr>
        <p:spPr>
          <a:xfrm>
            <a:off x="4322978" y="416052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3" invalidUrl="" action="" tgtFrame="" tooltip="https://mrctcenter.org/wp-content/uploads/2025/04/2025-04-23c-Responsibilities-Framework_Devices.pdf" history="1" highlightClick="0" endSnd="0">
                  <a:extLst>
                    <a:ext uri="{A12FA001-AC4F-418D-AE19-62706E023703}">
                      <ahyp:hlinkClr xmlns:ahyp="http://schemas.microsoft.com/office/drawing/2018/hyperlinkcolor" val="tx"/>
                    </a:ext>
                  </a:extLst>
                </a:hlinkClick>
              </a:rPr>
              <a:t>MRCT Center, post-trial access for devices (2025)</a:t>
            </a:r>
            <a:endParaRPr lang="en-US" sz="1400" dirty="0"/>
          </a:p>
          <a:p>
            <a:pPr indent="0" marL="0">
              <a:buNone/>
            </a:pPr>
            <a:r>
              <a:rPr lang="en-US" sz="850" dirty="0">
                <a:solidFill>
                  <a:schemeClr val="tx2"/>
                </a:solidFill>
              </a:rPr>
              <a:t>MRCT Center Post-trial Continued Access Task Force. Post-trial, Continued Access Responsibilities to Investigational Significant-Risk Devices: …</a:t>
            </a:r>
            <a:endParaRPr lang="en-US" sz="1400" dirty="0"/>
          </a:p>
        </p:txBody>
      </p:sp>
      <p:sp>
        <p:nvSpPr>
          <p:cNvPr id="19" name="Text 16"/>
          <p:cNvSpPr txBox="1"/>
          <p:nvPr/>
        </p:nvSpPr>
        <p:spPr>
          <a:xfrm>
            <a:off x="4322978" y="4850892"/>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4" invalidUrl="" action="" tgtFrame="" tooltip="https://mrctcenter.org/wp-content/uploads/2023/03/2017-12-07-MRCT-Return-of-Aggregate-Results-Toolkit-3.1.pdf" history="1" highlightClick="0" endSnd="0">
                  <a:extLst>
                    <a:ext uri="{A12FA001-AC4F-418D-AE19-62706E023703}">
                      <ahyp:hlinkClr xmlns:ahyp="http://schemas.microsoft.com/office/drawing/2018/hyperlinkcolor" val="tx"/>
                    </a:ext>
                  </a:extLst>
                </a:hlinkClick>
              </a:rPr>
              <a:t>MRCT Center, Return of Aggregate Results (2017)</a:t>
            </a:r>
            <a:endParaRPr lang="en-US" sz="1400" dirty="0"/>
          </a:p>
          <a:p>
            <a:pPr indent="0" marL="0">
              <a:buNone/>
            </a:pPr>
            <a:r>
              <a:rPr lang="en-US" sz="850" dirty="0">
                <a:solidFill>
                  <a:schemeClr val="tx2"/>
                </a:solidFill>
              </a:rPr>
              <a:t>MRCT Center. Return of Aggregate Results to Participants: Guidance Document and Toolkit, v3.1; 2017.</a:t>
            </a:r>
            <a:endParaRPr lang="en-US" sz="1400" dirty="0"/>
          </a:p>
        </p:txBody>
      </p:sp>
      <p:sp>
        <p:nvSpPr>
          <p:cNvPr id="20" name="Text 17"/>
          <p:cNvSpPr txBox="1"/>
          <p:nvPr/>
        </p:nvSpPr>
        <p:spPr>
          <a:xfrm>
            <a:off x="8097317"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5" invalidUrl="" action="" tgtFrame="" tooltip="https://www.milbank.org/quarterly/articles/ethical-and-legal-implications-of-remote-monitoring-of-medical-devices/" history="1" highlightClick="0" endSnd="0">
                  <a:extLst>
                    <a:ext uri="{A12FA001-AC4F-418D-AE19-62706E023703}">
                      <ahyp:hlinkClr xmlns:ahyp="http://schemas.microsoft.com/office/drawing/2018/hyperlinkcolor" val="tx"/>
                    </a:ext>
                  </a:extLst>
                </a:hlinkClick>
              </a:rPr>
              <a:t>Cohen, Gerke &amp; Kramer, Milbank Q (2020)</a:t>
            </a:r>
            <a:endParaRPr lang="en-US" sz="1400" dirty="0"/>
          </a:p>
          <a:p>
            <a:pPr indent="0" marL="0">
              <a:buNone/>
            </a:pPr>
            <a:r>
              <a:rPr lang="en-US" sz="850" dirty="0">
                <a:solidFill>
                  <a:schemeClr val="tx2"/>
                </a:solidFill>
              </a:rPr>
              <a:t>Cohen IG, Gerke S, Kramer DB. Ethical and legal implications of remote monitoring of medical devices. Milbank Q. 2020;98(4):1257–1289.</a:t>
            </a:r>
            <a:endParaRPr lang="en-US" sz="1400" dirty="0"/>
          </a:p>
        </p:txBody>
      </p:sp>
      <p:sp>
        <p:nvSpPr>
          <p:cNvPr id="21" name="Text 18"/>
          <p:cNvSpPr txBox="1"/>
          <p:nvPr/>
        </p:nvSpPr>
        <p:spPr>
          <a:xfrm>
            <a:off x="8097317"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6" invalidUrl="" action="" tgtFrame="" tooltip="https://petrieflom.law.harvard.edu/diagnosing-in-the-home/" history="1" highlightClick="0" endSnd="0">
                  <a:extLst>
                    <a:ext uri="{A12FA001-AC4F-418D-AE19-62706E023703}">
                      <ahyp:hlinkClr xmlns:ahyp="http://schemas.microsoft.com/office/drawing/2018/hyperlinkcolor" val="tx"/>
                    </a:ext>
                  </a:extLst>
                </a:hlinkClick>
              </a:rPr>
              <a:t>Petrie-Flom, Diagnosing in the Home</a:t>
            </a:r>
            <a:endParaRPr lang="en-US" sz="1400" dirty="0"/>
          </a:p>
          <a:p>
            <a:pPr indent="0" marL="0">
              <a:buNone/>
            </a:pPr>
            <a:r>
              <a:rPr lang="en-US" sz="850" dirty="0">
                <a:solidFill>
                  <a:schemeClr val="tx2"/>
                </a:solidFill>
              </a:rPr>
              <a:t>Petrie-Flom Center, Harvard Law School. Diagnosing in the Home: the ethical, legal and regulatory challenges of digital home health (2021–2024).</a:t>
            </a:r>
            <a:endParaRPr lang="en-US" sz="1400" dirty="0"/>
          </a:p>
        </p:txBody>
      </p:sp>
      <p:sp>
        <p:nvSpPr>
          <p:cNvPr id="22" name="Text 19"/>
          <p:cNvSpPr txBox="1"/>
          <p:nvPr/>
        </p:nvSpPr>
        <p:spPr>
          <a:xfrm>
            <a:off x="8097317"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7" invalidUrl="" action="" tgtFrame="" tooltip="https://hls.harvard.edu/bibliography/the-need-for-a-system-view-to-regulate-artificial-intelligence-machine-learning-based-software-as-medical-device" history="1" highlightClick="0" endSnd="0">
                  <a:extLst>
                    <a:ext uri="{A12FA001-AC4F-418D-AE19-62706E023703}">
                      <ahyp:hlinkClr xmlns:ahyp="http://schemas.microsoft.com/office/drawing/2018/hyperlinkcolor" val="tx"/>
                    </a:ext>
                  </a:extLst>
                </a:hlinkClick>
              </a:rPr>
              <a:t>Gerke, Babic, Evgeniou &amp; Cohen (2020)</a:t>
            </a:r>
            <a:endParaRPr lang="en-US" sz="1400" dirty="0"/>
          </a:p>
          <a:p>
            <a:pPr indent="0" marL="0">
              <a:buNone/>
            </a:pPr>
            <a:r>
              <a:rPr lang="en-US" sz="850" dirty="0">
                <a:solidFill>
                  <a:schemeClr val="tx2"/>
                </a:solidFill>
              </a:rPr>
              <a:t>Gerke S, Babic B, Evgeniou T, Cohen IG. The need for a system view to regulate artificial intelligence/machine learning-based software as medical …</a:t>
            </a:r>
            <a:endParaRPr lang="en-US" sz="1400" dirty="0"/>
          </a:p>
        </p:txBody>
      </p:sp>
      <p:sp>
        <p:nvSpPr>
          <p:cNvPr id="23" name="Text 20"/>
          <p:cNvSpPr txBox="1"/>
          <p:nvPr/>
        </p:nvSpPr>
        <p:spPr>
          <a:xfrm>
            <a:off x="8097317"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8" invalidUrl="" action="" tgtFrame="" tooltip="https://hls.harvard.edu/bibliography/unsettled-liability-issues-for-prediagnostic-wearables-and-health-related-products" history="1" highlightClick="0" endSnd="0">
                  <a:extLst>
                    <a:ext uri="{A12FA001-AC4F-418D-AE19-62706E023703}">
                      <ahyp:hlinkClr xmlns:ahyp="http://schemas.microsoft.com/office/drawing/2018/hyperlinkcolor" val="tx"/>
                    </a:ext>
                  </a:extLst>
                </a:hlinkClick>
              </a:rPr>
              <a:t>Simon, Shachar &amp; Cohen, JAMA (2022)</a:t>
            </a:r>
            <a:endParaRPr lang="en-US" sz="1400" dirty="0"/>
          </a:p>
          <a:p>
            <a:pPr indent="0" marL="0">
              <a:buNone/>
            </a:pPr>
            <a:r>
              <a:rPr lang="en-US" sz="850" dirty="0">
                <a:solidFill>
                  <a:schemeClr val="tx2"/>
                </a:solidFill>
              </a:rPr>
              <a:t>Simon DA, Shachar C, Cohen IG. Unsettled liability issues for 'prediagnostic' wearables and health-related products. JAMA. 2022;328:1391.</a:t>
            </a:r>
            <a:endParaRPr lang="en-US" sz="1400" dirty="0"/>
          </a:p>
        </p:txBody>
      </p:sp>
      <p:sp>
        <p:nvSpPr>
          <p:cNvPr id="24" name="Text 21"/>
          <p:cNvSpPr txBox="1"/>
          <p:nvPr/>
        </p:nvSpPr>
        <p:spPr>
          <a:xfrm>
            <a:off x="8097317"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9" invalidUrl="" action="" tgtFrame="" tooltip="https://pmc.ncbi.nlm.nih.gov/articles/PMC3815401/" history="1" highlightClick="0" endSnd="0">
                  <a:extLst>
                    <a:ext uri="{A12FA001-AC4F-418D-AE19-62706E023703}">
                      <ahyp:hlinkClr xmlns:ahyp="http://schemas.microsoft.com/office/drawing/2018/hyperlinkcolor" val="tx"/>
                    </a:ext>
                  </a:extLst>
                </a:hlinkClick>
              </a:rPr>
              <a:t>Kramer et al., PLoS Med (2013)</a:t>
            </a:r>
            <a:endParaRPr lang="en-US" sz="1400" dirty="0"/>
          </a:p>
          <a:p>
            <a:pPr indent="0" marL="0">
              <a:buNone/>
            </a:pPr>
            <a:r>
              <a:rPr lang="en-US" sz="850" dirty="0">
                <a:solidFill>
                  <a:schemeClr val="tx2"/>
                </a:solidFill>
              </a:rPr>
              <a:t>Kramer DB, Tan YT, Sato C, Kesselheim AS. Postmarket surveillance of medical devices: a comparison of strategies in the US, EU, Japan, and China. …</a:t>
            </a:r>
            <a:endParaRPr lang="en-US" sz="1400" dirty="0"/>
          </a:p>
        </p:txBody>
      </p:sp>
      <p:sp>
        <p:nvSpPr>
          <p:cNvPr id="25" name="Text 22"/>
          <p:cNvSpPr txBox="1"/>
          <p:nvPr/>
        </p:nvSpPr>
        <p:spPr>
          <a:xfrm>
            <a:off x="8097317" y="4823460"/>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20" invalidUrl="" action="" tgtFrame="" tooltip="https://hms.harvard.edu/news/changes-conflicts-policy-heighten-transparency" history="1" highlightClick="0" endSnd="0">
                  <a:extLst>
                    <a:ext uri="{A12FA001-AC4F-418D-AE19-62706E023703}">
                      <ahyp:hlinkClr xmlns:ahyp="http://schemas.microsoft.com/office/drawing/2018/hyperlinkcolor" val="tx"/>
                    </a:ext>
                  </a:extLst>
                </a:hlinkClick>
              </a:rPr>
              <a:t>HMS conflict-of-interest policy (2010)</a:t>
            </a:r>
            <a:endParaRPr lang="en-US" sz="1400" dirty="0"/>
          </a:p>
          <a:p>
            <a:pPr indent="0" marL="0">
              <a:buNone/>
            </a:pPr>
            <a:r>
              <a:rPr lang="en-US" sz="850" dirty="0">
                <a:solidFill>
                  <a:schemeClr val="tx2"/>
                </a:solidFill>
              </a:rPr>
              <a:t>Harvard Medical School. Policy on Conflicts of Interest and Commitment (2010 revision).</a:t>
            </a:r>
            <a:endParaRPr lang="en-US" sz="1400" dirty="0"/>
          </a:p>
        </p:txBody>
      </p:sp>
      <p:sp>
        <p:nvSpPr>
          <p:cNvPr id="26" name="Text 23"/>
          <p:cNvSpPr txBox="1"/>
          <p:nvPr/>
        </p:nvSpPr>
        <p:spPr>
          <a:xfrm>
            <a:off x="8097317" y="5381244"/>
            <a:ext cx="3545738" cy="466344"/>
          </a:xfrm>
          <a:prstGeom prst="rect">
            <a:avLst/>
          </a:prstGeom>
          <a:noFill/>
          <a:ln/>
        </p:spPr>
        <p:txBody>
          <a:bodyPr wrap="square" lIns="0" tIns="0" rIns="0" bIns="0" rtlCol="0" anchor="t"/>
          <a:lstStyle/>
          <a:p>
            <a:pPr indent="0" marL="0">
              <a:buNone/>
            </a:pPr>
            <a:r>
              <a:rPr lang="en-US" sz="1000" b="1" dirty="0">
                <a:solidFill>
                  <a:schemeClr val="accent1"/>
                </a:solidFill>
              </a:rPr>
              <a:t>HBS case, Aravind Eye Hospital (1993) · no public link</a:t>
            </a:r>
            <a:endParaRPr lang="en-US" sz="1400" dirty="0"/>
          </a:p>
          <a:p>
            <a:pPr indent="0" marL="0">
              <a:buNone/>
            </a:pPr>
            <a:r>
              <a:rPr lang="en-US" sz="850" dirty="0">
                <a:solidFill>
                  <a:schemeClr val="tx2"/>
                </a:solidFill>
              </a:rPr>
              <a:t>Rangan VK. The Aravind Eye Hospital, Madurai, India: In Service for Sight. Harvard Business School case 593-098; 1993.</a:t>
            </a:r>
            <a:endParaRPr lang="en-US" sz="14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lIns="0" tIns="0" rIns="0" bIns="0" rtlCol="0" anchor="t"/>
          <a:lstStyle/>
          <a:p>
            <a:pPr algn="l" indent="0" marL="0">
              <a:buNone/>
            </a:pPr>
            <a:r>
              <a:rPr lang="en-US" sz="2600" b="1" dirty="0">
                <a:solidFill>
                  <a:schemeClr val="tx1"/>
                </a:solidFill>
              </a:rPr>
              <a:t>Teaching materials: Cambridge, and evaluation frameworks</a:t>
            </a: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Engineering Better Care: RAEng, AMS and RCP (Cambridge-chaired). IDEAL is Oxford-led. Kellmeyer et al. is a Cambridge University Press journal paper, not University of Cambridge material. Full citations: docs/References.pdf.</a:t>
            </a:r>
            <a:endParaRPr lang="en-US" sz="950" dirty="0"/>
          </a:p>
        </p:txBody>
      </p:sp>
      <p:sp>
        <p:nvSpPr>
          <p:cNvPr id="6" name="Text 3"/>
          <p:cNvSpPr txBox="1"/>
          <p:nvPr/>
        </p:nvSpPr>
        <p:spPr>
          <a:xfrm>
            <a:off x="548640"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 invalidUrl="" action="" tgtFrame="" tooltip="https://www-edc.eng.cam.ac.uk/research/inclusive-design" history="1" highlightClick="0" endSnd="0">
                  <a:extLst>
                    <a:ext uri="{A12FA001-AC4F-418D-AE19-62706E023703}">
                      <ahyp:hlinkClr xmlns:ahyp="http://schemas.microsoft.com/office/drawing/2018/hyperlinkcolor" val="tx"/>
                    </a:ext>
                  </a:extLst>
                </a:hlinkClick>
              </a:rPr>
              <a:t>Cambridge EDC, Inclusive Design Toolkit</a:t>
            </a:r>
            <a:endParaRPr lang="en-US" sz="1400" dirty="0"/>
          </a:p>
          <a:p>
            <a:pPr indent="0" marL="0">
              <a:buNone/>
            </a:pPr>
            <a:r>
              <a:rPr lang="en-US" sz="850" dirty="0">
                <a:solidFill>
                  <a:schemeClr val="tx2"/>
                </a:solidFill>
              </a:rPr>
              <a:t>University of Cambridge Engineering Design Centre. Inclusive Design Toolkit and Exclusion Calculator (Clarkson, Waller, Coleman).</a:t>
            </a:r>
            <a:endParaRPr lang="en-US" sz="1400" dirty="0"/>
          </a:p>
        </p:txBody>
      </p:sp>
      <p:sp>
        <p:nvSpPr>
          <p:cNvPr id="7" name="Text 4"/>
          <p:cNvSpPr txBox="1"/>
          <p:nvPr/>
        </p:nvSpPr>
        <p:spPr>
          <a:xfrm>
            <a:off x="548640"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2" invalidUrl="" action="" tgtFrame="" tooltip="https://raeng.org.uk/publications/reports/engineering-better-care" history="1" highlightClick="0" endSnd="0">
                  <a:extLst>
                    <a:ext uri="{A12FA001-AC4F-418D-AE19-62706E023703}">
                      <ahyp:hlinkClr xmlns:ahyp="http://schemas.microsoft.com/office/drawing/2018/hyperlinkcolor" val="tx"/>
                    </a:ext>
                  </a:extLst>
                </a:hlinkClick>
              </a:rPr>
              <a:t>Engineering Better Care (2017)</a:t>
            </a:r>
            <a:endParaRPr lang="en-US" sz="1400" dirty="0"/>
          </a:p>
          <a:p>
            <a:pPr indent="0" marL="0">
              <a:buNone/>
            </a:pPr>
            <a:r>
              <a:rPr lang="en-US" sz="850" dirty="0">
                <a:solidFill>
                  <a:schemeClr val="tx2"/>
                </a:solidFill>
              </a:rPr>
              <a:t>Royal Academy of Engineering, Academy of Medical Sciences, Royal College of Physicians. Engineering Better Care: a systems approach to health and …</a:t>
            </a:r>
            <a:endParaRPr lang="en-US" sz="1400" dirty="0"/>
          </a:p>
        </p:txBody>
      </p:sp>
      <p:sp>
        <p:nvSpPr>
          <p:cNvPr id="8" name="Text 5"/>
          <p:cNvSpPr txBox="1"/>
          <p:nvPr/>
        </p:nvSpPr>
        <p:spPr>
          <a:xfrm>
            <a:off x="4322978"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3" invalidUrl="" action="" tgtFrame="" tooltip="https://teaching.eng.cam.ac.uk/content/engineering-tripos-part-iib-4g9-biomedical-engineering-2024-25" history="1" highlightClick="0" endSnd="0">
                  <a:extLst>
                    <a:ext uri="{A12FA001-AC4F-418D-AE19-62706E023703}">
                      <ahyp:hlinkClr xmlns:ahyp="http://schemas.microsoft.com/office/drawing/2018/hyperlinkcolor" val="tx"/>
                    </a:ext>
                  </a:extLst>
                </a:hlinkClick>
              </a:rPr>
              <a:t>Cambridge Engineering module 4G9</a:t>
            </a:r>
            <a:endParaRPr lang="en-US" sz="1400" dirty="0"/>
          </a:p>
          <a:p>
            <a:pPr indent="0" marL="0">
              <a:buNone/>
            </a:pPr>
            <a:r>
              <a:rPr lang="en-US" sz="850" dirty="0">
                <a:solidFill>
                  <a:schemeClr val="tx2"/>
                </a:solidFill>
              </a:rPr>
              <a:t>University of Cambridge Department of Engineering. Part IIB module 4G9: Biomedical Engineering / Biomedical Innovation (syllabus).</a:t>
            </a:r>
            <a:endParaRPr lang="en-US" sz="1400" dirty="0"/>
          </a:p>
        </p:txBody>
      </p:sp>
      <p:sp>
        <p:nvSpPr>
          <p:cNvPr id="9" name="Text 6"/>
          <p:cNvSpPr txBox="1"/>
          <p:nvPr/>
        </p:nvSpPr>
        <p:spPr>
          <a:xfrm>
            <a:off x="4322978" y="2061972"/>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4" invalidUrl="" action="" tgtFrame="" tooltip="https://www.cam.ac.uk/research/news/new-cambridge-institute-will-support-high-value-medical-device-translation" history="1" highlightClick="0" endSnd="0">
                  <a:extLst>
                    <a:ext uri="{A12FA001-AC4F-418D-AE19-62706E023703}">
                      <ahyp:hlinkClr xmlns:ahyp="http://schemas.microsoft.com/office/drawing/2018/hyperlinkcolor" val="tx"/>
                    </a:ext>
                  </a:extLst>
                </a:hlinkClick>
              </a:rPr>
              <a:t>Cambridge Institute for Biomedical Innovation (2026)</a:t>
            </a:r>
            <a:endParaRPr lang="en-US" sz="1400" dirty="0"/>
          </a:p>
          <a:p>
            <a:pPr indent="0" marL="0">
              <a:buNone/>
            </a:pPr>
            <a:r>
              <a:rPr lang="en-US" sz="850" dirty="0">
                <a:solidFill>
                  <a:schemeClr val="tx2"/>
                </a:solidFill>
              </a:rPr>
              <a:t>University of Cambridge. New Cambridge institute will support high-value medical device translation; January 2026.</a:t>
            </a:r>
            <a:endParaRPr lang="en-US" sz="1400" dirty="0"/>
          </a:p>
        </p:txBody>
      </p:sp>
      <p:sp>
        <p:nvSpPr>
          <p:cNvPr id="10" name="Text 7"/>
          <p:cNvSpPr txBox="1"/>
          <p:nvPr/>
        </p:nvSpPr>
        <p:spPr>
          <a:xfrm>
            <a:off x="8097317" y="1371600"/>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5" invalidUrl="" action="" tgtFrame="" tooltip="https://www.jbs.cam.ac.uk/centres/health/" history="1" highlightClick="0" endSnd="0">
                  <a:extLst>
                    <a:ext uri="{A12FA001-AC4F-418D-AE19-62706E023703}">
                      <ahyp:hlinkClr xmlns:ahyp="http://schemas.microsoft.com/office/drawing/2018/hyperlinkcolor" val="tx"/>
                    </a:ext>
                  </a:extLst>
                </a:hlinkClick>
              </a:rPr>
              <a:t>Cambridge Judge, CCHLE</a:t>
            </a:r>
            <a:endParaRPr lang="en-US" sz="1400" dirty="0"/>
          </a:p>
          <a:p>
            <a:pPr indent="0" marL="0">
              <a:buNone/>
            </a:pPr>
            <a:r>
              <a:rPr lang="en-US" sz="850" dirty="0">
                <a:solidFill>
                  <a:schemeClr val="tx2"/>
                </a:solidFill>
              </a:rPr>
              <a:t>Cambridge Judge Business School. Centre for Health Leadership and Enterprise.</a:t>
            </a:r>
            <a:endParaRPr lang="en-US" sz="1400" dirty="0"/>
          </a:p>
        </p:txBody>
      </p:sp>
      <p:sp>
        <p:nvSpPr>
          <p:cNvPr id="11" name="Text 8"/>
          <p:cNvSpPr txBox="1"/>
          <p:nvPr/>
        </p:nvSpPr>
        <p:spPr>
          <a:xfrm>
            <a:off x="8097317" y="1929384"/>
            <a:ext cx="3545738" cy="333756"/>
          </a:xfrm>
          <a:prstGeom prst="rect">
            <a:avLst/>
          </a:prstGeom>
          <a:noFill/>
          <a:ln/>
        </p:spPr>
        <p:txBody>
          <a:bodyPr wrap="square" lIns="0" tIns="0" rIns="0" bIns="0" rtlCol="0" anchor="t"/>
          <a:lstStyle/>
          <a:p>
            <a:pPr indent="0" marL="0">
              <a:buNone/>
            </a:pPr>
            <a:r>
              <a:rPr lang="en-US" sz="1000" b="1" u="sng" dirty="0">
                <a:solidFill>
                  <a:schemeClr val="accent1"/>
                </a:solidFill>
                <a:hlinkClick r:id="rId6" invalidUrl="" action="" tgtFrame="" tooltip="https://www.governanceandcompliance.admin.cam.ac.uk/files/conflict_of_interest_policy.pdf" history="1" highlightClick="0" endSnd="0">
                  <a:extLst>
                    <a:ext uri="{A12FA001-AC4F-418D-AE19-62706E023703}">
                      <ahyp:hlinkClr xmlns:ahyp="http://schemas.microsoft.com/office/drawing/2018/hyperlinkcolor" val="tx"/>
                    </a:ext>
                  </a:extLst>
                </a:hlinkClick>
              </a:rPr>
              <a:t>University of Cambridge COI policy</a:t>
            </a:r>
            <a:endParaRPr lang="en-US" sz="1400" dirty="0"/>
          </a:p>
          <a:p>
            <a:pPr indent="0" marL="0">
              <a:buNone/>
            </a:pPr>
            <a:r>
              <a:rPr lang="en-US" sz="850" dirty="0">
                <a:solidFill>
                  <a:schemeClr val="tx2"/>
                </a:solidFill>
              </a:rPr>
              <a:t>University of Cambridge. Conflict of Interest Policy.</a:t>
            </a:r>
            <a:endParaRPr lang="en-US" sz="1400" dirty="0"/>
          </a:p>
        </p:txBody>
      </p:sp>
      <p:sp>
        <p:nvSpPr>
          <p:cNvPr id="12" name="Text 9"/>
          <p:cNvSpPr txBox="1"/>
          <p:nvPr/>
        </p:nvSpPr>
        <p:spPr>
          <a:xfrm>
            <a:off x="8097317" y="2354580"/>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7" invalidUrl="" action="" tgtFrame="" tooltip="https://ie.cam.ac.uk/wp-content/uploads/2024/04/H2G-3-Spinouts_V2_ISSUU.pdf" history="1" highlightClick="0" endSnd="0">
                  <a:extLst>
                    <a:ext uri="{A12FA001-AC4F-418D-AE19-62706E023703}">
                      <ahyp:hlinkClr xmlns:ahyp="http://schemas.microsoft.com/office/drawing/2018/hyperlinkcolor" val="tx"/>
                    </a:ext>
                  </a:extLst>
                </a:hlinkClick>
              </a:rPr>
              <a:t>IE Cambridge, How to Guide: Spinouts (2024)</a:t>
            </a:r>
            <a:endParaRPr lang="en-US" sz="1400" dirty="0"/>
          </a:p>
          <a:p>
            <a:pPr indent="0" marL="0">
              <a:buNone/>
            </a:pPr>
            <a:r>
              <a:rPr lang="en-US" sz="850" dirty="0">
                <a:solidFill>
                  <a:schemeClr val="tx2"/>
                </a:solidFill>
              </a:rPr>
              <a:t>University of Cambridge Innovation and Entrepreneurship. How to Guide 3: Spinouts; 2024.</a:t>
            </a:r>
            <a:endParaRPr lang="en-US" sz="14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lIns="0" tIns="0" rIns="0" bIns="0" rtlCol="0" anchor="t"/>
          <a:lstStyle/>
          <a:p>
            <a:pPr algn="l" indent="0" marL="0">
              <a:buNone/>
            </a:pPr>
            <a:r>
              <a:rPr lang="en-US" sz="2600" b="1" dirty="0">
                <a:solidFill>
                  <a:schemeClr val="tx1"/>
                </a:solidFill>
              </a:rPr>
              <a:t>India: regulation, guidance, pricing and safety (1/7)</a:t>
            </a: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Checked October 2026. Verify current amendments and extensions before use. Full citations: docs/References.pdf.</a:t>
            </a:r>
            <a:endParaRPr lang="en-US" sz="950" dirty="0"/>
          </a:p>
        </p:txBody>
      </p:sp>
      <p:sp>
        <p:nvSpPr>
          <p:cNvPr id="6" name="Text 3"/>
          <p:cNvSpPr txBox="1"/>
          <p:nvPr/>
        </p:nvSpPr>
        <p:spPr>
          <a:xfrm>
            <a:off x="548640"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 invalidUrl="" action="" tgtFrame="" tooltip="https://mohfw.gov.in/press-info/7775" history="1" highlightClick="0" endSnd="0">
                  <a:extLst>
                    <a:ext uri="{A12FA001-AC4F-418D-AE19-62706E023703}">
                      <ahyp:hlinkClr xmlns:ahyp="http://schemas.microsoft.com/office/drawing/2018/hyperlinkcolor" val="tx"/>
                    </a:ext>
                  </a:extLst>
                </a:hlinkClick>
              </a:rPr>
              <a:t>MoHFW: CDSCO becomes IMDRF Affiliate Member (3 Oct 2024)</a:t>
            </a:r>
            <a:endParaRPr lang="en-US" sz="1400" dirty="0"/>
          </a:p>
          <a:p>
            <a:pPr indent="0" marL="0">
              <a:buNone/>
            </a:pPr>
            <a:r>
              <a:rPr lang="en-US" sz="850" dirty="0">
                <a:solidFill>
                  <a:schemeClr val="tx2"/>
                </a:solidFill>
              </a:rPr>
              <a:t>Ministry of Health and Family Welfare. Press release: CDSCO becomes Affiliate Member of the International Medical Device Regulators Forum (approved …</a:t>
            </a:r>
            <a:endParaRPr lang="en-US" sz="1400" dirty="0"/>
          </a:p>
        </p:txBody>
      </p:sp>
      <p:sp>
        <p:nvSpPr>
          <p:cNvPr id="7" name="Text 4"/>
          <p:cNvSpPr txBox="1"/>
          <p:nvPr/>
        </p:nvSpPr>
        <p:spPr>
          <a:xfrm>
            <a:off x="548640"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2" invalidUrl="" action="" tgtFrame="" tooltip="https://www.cdsco.gov.in/opencms/export/sites/CDSCO_WEB/Pdf-documents/medical-device/Classificationg1.pdf" history="1" highlightClick="0" endSnd="0">
                  <a:extLst>
                    <a:ext uri="{A12FA001-AC4F-418D-AE19-62706E023703}">
                      <ahyp:hlinkClr xmlns:ahyp="http://schemas.microsoft.com/office/drawing/2018/hyperlinkcolor" val="tx"/>
                    </a:ext>
                  </a:extLst>
                </a:hlinkClick>
              </a:rPr>
              <a:t>CDSCO classification of medical devices (Classes A to D)</a:t>
            </a:r>
            <a:endParaRPr lang="en-US" sz="1400" dirty="0"/>
          </a:p>
          <a:p>
            <a:pPr indent="0" marL="0">
              <a:buNone/>
            </a:pPr>
            <a:r>
              <a:rPr lang="en-US" sz="850" dirty="0">
                <a:solidFill>
                  <a:schemeClr val="tx2"/>
                </a:solidFill>
              </a:rPr>
              <a:t>Central Drugs Standard Control Organisation. Classification of medical devices under the Medical Devices Rules, 2017: Class A low risk, B …</a:t>
            </a:r>
            <a:endParaRPr lang="en-US" sz="1400" dirty="0"/>
          </a:p>
        </p:txBody>
      </p:sp>
      <p:sp>
        <p:nvSpPr>
          <p:cNvPr id="8" name="Text 5"/>
          <p:cNvSpPr txBox="1"/>
          <p:nvPr/>
        </p:nvSpPr>
        <p:spPr>
          <a:xfrm>
            <a:off x="548640"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3" invalidUrl="" action="" tgtFrame="" tooltip="https://cdscomdonline.gov.in/NewMedDev/resources/app_srv/NMD/global/helpfiles/nmd_fee.pdf/" history="1" highlightClick="0" endSnd="0">
                  <a:extLst>
                    <a:ext uri="{A12FA001-AC4F-418D-AE19-62706E023703}">
                      <ahyp:hlinkClr xmlns:ahyp="http://schemas.microsoft.com/office/drawing/2018/hyperlinkcolor" val="tx"/>
                    </a:ext>
                  </a:extLst>
                </a:hlinkClick>
              </a:rPr>
              <a:t>CDSCO medical device portal fee schedule (Second Schedule)</a:t>
            </a:r>
            <a:endParaRPr lang="en-US" sz="1400" dirty="0"/>
          </a:p>
          <a:p>
            <a:pPr indent="0" marL="0">
              <a:buNone/>
            </a:pPr>
            <a:r>
              <a:rPr lang="en-US" sz="850" dirty="0">
                <a:solidFill>
                  <a:schemeClr val="tx2"/>
                </a:solidFill>
              </a:rPr>
              <a:t>CDSCO Medical Device online portal. Fee help file (Second Schedule, MDR-2017): manufacturing licence Class A/B Rs 5,000 per site + Rs 500 per device; …</a:t>
            </a:r>
            <a:endParaRPr lang="en-US" sz="1400" dirty="0"/>
          </a:p>
        </p:txBody>
      </p:sp>
      <p:sp>
        <p:nvSpPr>
          <p:cNvPr id="9" name="Text 6"/>
          <p:cNvSpPr txBox="1"/>
          <p:nvPr/>
        </p:nvSpPr>
        <p:spPr>
          <a:xfrm>
            <a:off x="548640"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4" invalidUrl="" action="" tgtFrame="" tooltip="https://www.lawrbit.com/industry-specific/medical-device-import-license-india-procedure/" history="1" highlightClick="0" endSnd="0">
                  <a:extLst>
                    <a:ext uri="{A12FA001-AC4F-418D-AE19-62706E023703}">
                      <ahyp:hlinkClr xmlns:ahyp="http://schemas.microsoft.com/office/drawing/2018/hyperlinkcolor" val="tx"/>
                    </a:ext>
                  </a:extLst>
                </a:hlinkClick>
              </a:rPr>
              <a:t>Lawrbit, medical device import licence (MD-14/MD-15) fees</a:t>
            </a:r>
            <a:endParaRPr lang="en-US" sz="1400" dirty="0"/>
          </a:p>
          <a:p>
            <a:pPr indent="0" marL="0">
              <a:buNone/>
            </a:pPr>
            <a:r>
              <a:rPr lang="en-US" sz="850" dirty="0">
                <a:solidFill>
                  <a:schemeClr val="tx2"/>
                </a:solidFill>
              </a:rPr>
              <a:t>Lawrbit. Medical device import licence India procedure: Form MD-14 to MD-15; fees US$1,000 (A), $2,000 (B), $3,000 (C/D) per site plus $50 / $1,000 / …</a:t>
            </a:r>
            <a:endParaRPr lang="en-US" sz="1400" dirty="0"/>
          </a:p>
        </p:txBody>
      </p:sp>
      <p:sp>
        <p:nvSpPr>
          <p:cNvPr id="10" name="Text 7"/>
          <p:cNvSpPr txBox="1"/>
          <p:nvPr/>
        </p:nvSpPr>
        <p:spPr>
          <a:xfrm>
            <a:off x="548640"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5" invalidUrl="" action="" tgtFrame="" tooltip="https://azbpartners.com/bank/medical-devices-rules-2017" history="1" highlightClick="0" endSnd="0">
                  <a:extLst>
                    <a:ext uri="{A12FA001-AC4F-418D-AE19-62706E023703}">
                      <ahyp:hlinkClr xmlns:ahyp="http://schemas.microsoft.com/office/drawing/2018/hyperlinkcolor" val="tx"/>
                    </a:ext>
                  </a:extLst>
                </a:hlinkClick>
              </a:rPr>
              <a:t>AZB Partners, Medical Devices Rules 2017 summary</a:t>
            </a:r>
            <a:endParaRPr lang="en-US" sz="1400" dirty="0"/>
          </a:p>
          <a:p>
            <a:pPr indent="0" marL="0">
              <a:buNone/>
            </a:pPr>
            <a:r>
              <a:rPr lang="en-US" sz="850" dirty="0">
                <a:solidFill>
                  <a:schemeClr val="tx2"/>
                </a:solidFill>
              </a:rPr>
              <a:t>AZB Partners. Medical Devices Rules, 2017: State Licensing Authority for Class A and B manufacture; Central Licensing Authority for Class C and D and …</a:t>
            </a:r>
            <a:endParaRPr lang="en-US" sz="1400" dirty="0"/>
          </a:p>
        </p:txBody>
      </p:sp>
      <p:sp>
        <p:nvSpPr>
          <p:cNvPr id="11" name="Text 8"/>
          <p:cNvSpPr txBox="1"/>
          <p:nvPr/>
        </p:nvSpPr>
        <p:spPr>
          <a:xfrm>
            <a:off x="548640" y="482346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6" invalidUrl="" action="" tgtFrame="" tooltip="https://www.appliedclinicaltrialsonline.com/view/new-regulations-medical-devices-india" history="1" highlightClick="0" endSnd="0">
                  <a:extLst>
                    <a:ext uri="{A12FA001-AC4F-418D-AE19-62706E023703}">
                      <ahyp:hlinkClr xmlns:ahyp="http://schemas.microsoft.com/office/drawing/2018/hyperlinkcolor" val="tx"/>
                    </a:ext>
                  </a:extLst>
                </a:hlinkClick>
              </a:rPr>
              <a:t>Applied Clinical Trials, new regulations for medical devices in India (2017)</a:t>
            </a:r>
            <a:endParaRPr lang="en-US" sz="1400" dirty="0"/>
          </a:p>
          <a:p>
            <a:pPr indent="0" marL="0">
              <a:buNone/>
            </a:pPr>
            <a:r>
              <a:rPr lang="en-US" sz="850" dirty="0">
                <a:solidFill>
                  <a:schemeClr val="tx2"/>
                </a:solidFill>
              </a:rPr>
              <a:t>Applied Clinical Trials. New regulations for medical devices in India: Class A licence within 45 days with audit within 120 days after grant; Class B …</a:t>
            </a:r>
            <a:endParaRPr lang="en-US" sz="1400" dirty="0"/>
          </a:p>
        </p:txBody>
      </p:sp>
      <p:sp>
        <p:nvSpPr>
          <p:cNvPr id="12" name="Text 9"/>
          <p:cNvSpPr txBox="1"/>
          <p:nvPr/>
        </p:nvSpPr>
        <p:spPr>
          <a:xfrm>
            <a:off x="4322978"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7" invalidUrl="" action="" tgtFrame="" tooltip="https://ssrana.in/articles/medical-devices-rules-faster-manufacturing-licence-approvals/" history="1" highlightClick="0" endSnd="0">
                  <a:extLst>
                    <a:ext uri="{A12FA001-AC4F-418D-AE19-62706E023703}">
                      <ahyp:hlinkClr xmlns:ahyp="http://schemas.microsoft.com/office/drawing/2018/hyperlinkcolor" val="tx"/>
                    </a:ext>
                  </a:extLst>
                </a:hlinkClick>
              </a:rPr>
              <a:t>S.S. Rana, faster manufacturing licence approvals (draft 2026 amendment)</a:t>
            </a:r>
            <a:endParaRPr lang="en-US" sz="1400" dirty="0"/>
          </a:p>
          <a:p>
            <a:pPr indent="0" marL="0">
              <a:buNone/>
            </a:pPr>
            <a:r>
              <a:rPr lang="en-US" sz="850" dirty="0">
                <a:solidFill>
                  <a:schemeClr val="tx2"/>
                </a:solidFill>
              </a:rPr>
              <a:t>S.S. Rana &amp; Co. Medical Devices Rules: faster manufacturing licence approvals (draft G.S.R. 515(E), 23 June 2026; current Class C/D timeline up to …</a:t>
            </a:r>
            <a:endParaRPr lang="en-US" sz="1400" dirty="0"/>
          </a:p>
        </p:txBody>
      </p:sp>
      <p:sp>
        <p:nvSpPr>
          <p:cNvPr id="13" name="Text 10"/>
          <p:cNvSpPr txBox="1"/>
          <p:nvPr/>
        </p:nvSpPr>
        <p:spPr>
          <a:xfrm>
            <a:off x="4322978"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8" invalidUrl="" action="" tgtFrame="" tooltip="https://www.corpseed.com/knowledge-centre/permission-to-import-medical-devices-form-md-14-and-form-md-15" history="1" highlightClick="0" endSnd="0">
                  <a:extLst>
                    <a:ext uri="{A12FA001-AC4F-418D-AE19-62706E023703}">
                      <ahyp:hlinkClr xmlns:ahyp="http://schemas.microsoft.com/office/drawing/2018/hyperlinkcolor" val="tx"/>
                    </a:ext>
                  </a:extLst>
                </a:hlinkClick>
              </a:rPr>
              <a:t>Corpseed, import licence Form MD-14 and MD-15</a:t>
            </a:r>
            <a:endParaRPr lang="en-US" sz="1400" dirty="0"/>
          </a:p>
          <a:p>
            <a:pPr indent="0" marL="0">
              <a:buNone/>
            </a:pPr>
            <a:r>
              <a:rPr lang="en-US" sz="850" dirty="0">
                <a:solidFill>
                  <a:schemeClr val="tx2"/>
                </a:solidFill>
              </a:rPr>
              <a:t>Corpseed. Permission to import medical devices, Form MD-14 and Form MD-15: Central Licensing Authority decides within 9 months; 6 to 9 months in …</a:t>
            </a:r>
            <a:endParaRPr lang="en-US" sz="1400" dirty="0"/>
          </a:p>
        </p:txBody>
      </p:sp>
      <p:sp>
        <p:nvSpPr>
          <p:cNvPr id="14" name="Text 11"/>
          <p:cNvSpPr txBox="1"/>
          <p:nvPr/>
        </p:nvSpPr>
        <p:spPr>
          <a:xfrm>
            <a:off x="4322978"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9" invalidUrl="" action="" tgtFrame="" tooltip="https://www.scconline.com/blog/post/2021/12/24/draft-medical-devices-amendment-rules-2021-introduces-unique-device-identification-of-the-medical-device/" history="1" highlightClick="0" endSnd="0">
                  <a:extLst>
                    <a:ext uri="{A12FA001-AC4F-418D-AE19-62706E023703}">
                      <ahyp:hlinkClr xmlns:ahyp="http://schemas.microsoft.com/office/drawing/2018/hyperlinkcolor" val="tx"/>
                    </a:ext>
                  </a:extLst>
                </a:hlinkClick>
              </a:rPr>
              <a:t>SCC Online, Medical Devices (Amendment) Rules 2021 and UDI (Rule 46)</a:t>
            </a:r>
            <a:endParaRPr lang="en-US" sz="1400" dirty="0"/>
          </a:p>
          <a:p>
            <a:pPr indent="0" marL="0">
              <a:buNone/>
            </a:pPr>
            <a:r>
              <a:rPr lang="en-US" sz="850" dirty="0">
                <a:solidFill>
                  <a:schemeClr val="tx2"/>
                </a:solidFill>
              </a:rPr>
              <a:t>SCC Online. Draft Medical Devices (Amendment) Rules 2021 introduces unique device identification (Rule 46; final G.S.R. 918(E), 31 December 2021 …</a:t>
            </a:r>
            <a:endParaRPr lang="en-US" sz="1400" dirty="0"/>
          </a:p>
        </p:txBody>
      </p:sp>
      <p:sp>
        <p:nvSpPr>
          <p:cNvPr id="15" name="Text 12"/>
          <p:cNvSpPr txBox="1"/>
          <p:nvPr/>
        </p:nvSpPr>
        <p:spPr>
          <a:xfrm>
            <a:off x="4322978"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0" invalidUrl="" action="" tgtFrame="" tooltip="https://navigator.global/gb/library/india-educational-series-medical-device-registration-and-post-market-compliance" history="1" highlightClick="0" endSnd="0">
                  <a:extLst>
                    <a:ext uri="{A12FA001-AC4F-418D-AE19-62706E023703}">
                      <ahyp:hlinkClr xmlns:ahyp="http://schemas.microsoft.com/office/drawing/2018/hyperlinkcolor" val="tx"/>
                    </a:ext>
                  </a:extLst>
                </a:hlinkClick>
              </a:rPr>
              <a:t>Navigator Global, India registration and post-market compliance</a:t>
            </a:r>
            <a:endParaRPr lang="en-US" sz="1400" dirty="0"/>
          </a:p>
          <a:p>
            <a:pPr indent="0" marL="0">
              <a:buNone/>
            </a:pPr>
            <a:r>
              <a:rPr lang="en-US" sz="850" dirty="0">
                <a:solidFill>
                  <a:schemeClr val="tx2"/>
                </a:solidFill>
              </a:rPr>
              <a:t>Navigator Global. India educational series: medical device registration and post-market compliance (PSUR every 6 months for 2 years, then annually …</a:t>
            </a:r>
            <a:endParaRPr lang="en-US" sz="1400" dirty="0"/>
          </a:p>
        </p:txBody>
      </p:sp>
      <p:sp>
        <p:nvSpPr>
          <p:cNvPr id="16" name="Text 13"/>
          <p:cNvSpPr txBox="1"/>
          <p:nvPr/>
        </p:nvSpPr>
        <p:spPr>
          <a:xfrm>
            <a:off x="4322978"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1" invalidUrl="" action="" tgtFrame="" tooltip="https://cdsco.gov.in/opencms/resources/UploadCDSCOWeb/2018/UploadImmunization/FAQmd2018.pdf" history="1" highlightClick="0" endSnd="0">
                  <a:extLst>
                    <a:ext uri="{A12FA001-AC4F-418D-AE19-62706E023703}">
                      <ahyp:hlinkClr xmlns:ahyp="http://schemas.microsoft.com/office/drawing/2018/hyperlinkcolor" val="tx"/>
                    </a:ext>
                  </a:extLst>
                </a:hlinkClick>
              </a:rPr>
              <a:t>CDSCO FAQ on medical devices (2018): notified bodies</a:t>
            </a:r>
            <a:endParaRPr lang="en-US" sz="1400" dirty="0"/>
          </a:p>
          <a:p>
            <a:pPr indent="0" marL="0">
              <a:buNone/>
            </a:pPr>
            <a:r>
              <a:rPr lang="en-US" sz="850" dirty="0">
                <a:solidFill>
                  <a:schemeClr val="tx2"/>
                </a:solidFill>
              </a:rPr>
              <a:t>CDSCO. FAQ on Medical Devices, 2018: Rule 13 notified bodies registered with the CLA audit Class A and B manufacturing sites (Fifth Schedule QMS); …</a:t>
            </a:r>
            <a:endParaRPr lang="en-US" sz="1400" dirty="0"/>
          </a:p>
        </p:txBody>
      </p:sp>
      <p:sp>
        <p:nvSpPr>
          <p:cNvPr id="17" name="Text 14"/>
          <p:cNvSpPr txBox="1"/>
          <p:nvPr/>
        </p:nvSpPr>
        <p:spPr>
          <a:xfrm>
            <a:off x="4322978" y="482346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2" invalidUrl="" action="" tgtFrame="" tooltip="https://medicaldialogues.in/nppa-asks-for-price-movement-details-of-orthopedic-implants" history="1" highlightClick="0" endSnd="0">
                  <a:extLst>
                    <a:ext uri="{A12FA001-AC4F-418D-AE19-62706E023703}">
                      <ahyp:hlinkClr xmlns:ahyp="http://schemas.microsoft.com/office/drawing/2018/hyperlinkcolor" val="tx"/>
                    </a:ext>
                  </a:extLst>
                </a:hlinkClick>
              </a:rPr>
              <a:t>Medical Dialogues (2017): NPPA's DPCO 2013 powers over devices</a:t>
            </a:r>
            <a:endParaRPr lang="en-US" sz="1400" dirty="0"/>
          </a:p>
          <a:p>
            <a:pPr indent="0" marL="0">
              <a:buNone/>
            </a:pPr>
            <a:r>
              <a:rPr lang="en-US" sz="850" dirty="0">
                <a:solidFill>
                  <a:schemeClr val="tx2"/>
                </a:solidFill>
              </a:rPr>
              <a:t>Medical Dialogues. NPPA asks for price movement details of orthopaedic implants; 2017 (devices are 'drugs' under the Drugs and Cosmetics Act 1940, so …</a:t>
            </a:r>
            <a:endParaRPr lang="en-US" sz="1400" dirty="0"/>
          </a:p>
        </p:txBody>
      </p:sp>
      <p:sp>
        <p:nvSpPr>
          <p:cNvPr id="18" name="Text 15"/>
          <p:cNvSpPr txBox="1"/>
          <p:nvPr/>
        </p:nvSpPr>
        <p:spPr>
          <a:xfrm>
            <a:off x="8097317"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3" invalidUrl="" action="" tgtFrame="" tooltip="https://www.pib.gov.in/PressReleaseIframePage.aspx?PRID=1738484&amp;reg=3&amp;lang=2" history="1" highlightClick="0" endSnd="0">
                  <a:extLst>
                    <a:ext uri="{A12FA001-AC4F-418D-AE19-62706E023703}">
                      <ahyp:hlinkClr xmlns:ahyp="http://schemas.microsoft.com/office/drawing/2018/hyperlinkcolor" val="tx"/>
                    </a:ext>
                  </a:extLst>
                </a:hlinkClick>
              </a:rPr>
              <a:t>PIB (Jul 2021): 91% of brands of five devices cut prices after the trade-margin cap</a:t>
            </a:r>
            <a:endParaRPr lang="en-US" sz="1400" dirty="0"/>
          </a:p>
          <a:p>
            <a:pPr indent="0" marL="0">
              <a:buNone/>
            </a:pPr>
            <a:r>
              <a:rPr lang="en-US" sz="850" dirty="0">
                <a:solidFill>
                  <a:schemeClr val="tx2"/>
                </a:solidFill>
              </a:rPr>
              <a:t>Press Information Bureau. On capping of trade margin, 91% of brands of five medical devices report downward revision of prices up to 88% (684 brands …</a:t>
            </a:r>
            <a:endParaRPr lang="en-US" sz="1400" dirty="0"/>
          </a:p>
        </p:txBody>
      </p:sp>
      <p:sp>
        <p:nvSpPr>
          <p:cNvPr id="19" name="Text 16"/>
          <p:cNvSpPr txBox="1"/>
          <p:nvPr/>
        </p:nvSpPr>
        <p:spPr>
          <a:xfrm>
            <a:off x="8097317"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4" invalidUrl="" action="" tgtFrame="" tooltip="https://scroll.in/latest/847453/after-cardiac-stents-the-government-now-caps-prices-of-knee-implants" history="1" highlightClick="0" endSnd="0">
                  <a:extLst>
                    <a:ext uri="{A12FA001-AC4F-418D-AE19-62706E023703}">
                      <ahyp:hlinkClr xmlns:ahyp="http://schemas.microsoft.com/office/drawing/2018/hyperlinkcolor" val="tx"/>
                    </a:ext>
                  </a:extLst>
                </a:hlinkClick>
              </a:rPr>
              <a:t>Scroll.in (16 Aug 2017): knee implant caps and the 313% average trade margin</a:t>
            </a:r>
            <a:endParaRPr lang="en-US" sz="1400" dirty="0"/>
          </a:p>
          <a:p>
            <a:pPr indent="0" marL="0">
              <a:buNone/>
            </a:pPr>
            <a:r>
              <a:rPr lang="en-US" sz="850" dirty="0">
                <a:solidFill>
                  <a:schemeClr val="tx2"/>
                </a:solidFill>
              </a:rPr>
              <a:t>Scroll.in. After cardiac stents, the government now caps prices of knee implants: cobalt-chromium complete kit Rs 54,720 plus tax against Rs 1,58,324 …</a:t>
            </a:r>
            <a:endParaRPr lang="en-US" sz="1400" dirty="0"/>
          </a:p>
        </p:txBody>
      </p:sp>
      <p:sp>
        <p:nvSpPr>
          <p:cNvPr id="20" name="Text 17"/>
          <p:cNvSpPr txBox="1"/>
          <p:nvPr/>
        </p:nvSpPr>
        <p:spPr>
          <a:xfrm>
            <a:off x="8097317"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5" invalidUrl="" action="" tgtFrame="" tooltip="https://medicaldialogues.in/news/industry/medical-devices/nppa-revises-coronary-stent-prices-des-at-rs-39186-and-bms-at-rs-10762-from-april-2026-168192" history="1" highlightClick="0" endSnd="0">
                  <a:extLst>
                    <a:ext uri="{A12FA001-AC4F-418D-AE19-62706E023703}">
                      <ahyp:hlinkClr xmlns:ahyp="http://schemas.microsoft.com/office/drawing/2018/hyperlinkcolor" val="tx"/>
                    </a:ext>
                  </a:extLst>
                </a:hlinkClick>
              </a:rPr>
              <a:t>Medical Dialogues (Mar 2026): revised coronary stent ceilings from 1 Apr 2026</a:t>
            </a:r>
            <a:endParaRPr lang="en-US" sz="1400" dirty="0"/>
          </a:p>
          <a:p>
            <a:pPr indent="0" marL="0">
              <a:buNone/>
            </a:pPr>
            <a:r>
              <a:rPr lang="en-US" sz="850" dirty="0">
                <a:solidFill>
                  <a:schemeClr val="tx2"/>
                </a:solidFill>
              </a:rPr>
              <a:t>Medical Dialogues. NPPA revises coronary stent prices: drug-eluting stents Rs 39,186.03 and bare-metal stents Rs 10,762.15 per unit (exclusive of …</a:t>
            </a:r>
            <a:endParaRPr lang="en-US" sz="1400" dirty="0"/>
          </a:p>
        </p:txBody>
      </p:sp>
      <p:sp>
        <p:nvSpPr>
          <p:cNvPr id="21" name="Text 18"/>
          <p:cNvSpPr txBox="1"/>
          <p:nvPr/>
        </p:nvSpPr>
        <p:spPr>
          <a:xfrm>
            <a:off x="8097317"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6" invalidUrl="" action="" tgtFrame="" tooltip="https://thewire.in/health/cdsco-directs-johnson-johnson-to-pay-rs-74-5-lakh-to-first-patient-with-faulty-hip-implant" history="1" highlightClick="0" endSnd="0">
                  <a:extLst>
                    <a:ext uri="{A12FA001-AC4F-418D-AE19-62706E023703}">
                      <ahyp:hlinkClr xmlns:ahyp="http://schemas.microsoft.com/office/drawing/2018/hyperlinkcolor" val="tx"/>
                    </a:ext>
                  </a:extLst>
                </a:hlinkClick>
              </a:rPr>
              <a:t>The Wire (2019): first ASR award of Rs 74.5 lakh; range Rs 30 lakh–1.23 crore</a:t>
            </a:r>
            <a:endParaRPr lang="en-US" sz="1400" dirty="0"/>
          </a:p>
          <a:p>
            <a:pPr indent="0" marL="0">
              <a:buNone/>
            </a:pPr>
            <a:r>
              <a:rPr lang="en-US" sz="850" dirty="0">
                <a:solidFill>
                  <a:schemeClr val="tx2"/>
                </a:solidFill>
              </a:rPr>
              <a:t>The Wire. CDSCO directs Johnson &amp; Johnson to pay Rs 74.5 lakh to first patient with faulty hip implant; 2019 (approved compensation between Rs 30 …</a:t>
            </a:r>
            <a:endParaRPr lang="en-US" sz="1400" dirty="0"/>
          </a:p>
        </p:txBody>
      </p:sp>
      <p:sp>
        <p:nvSpPr>
          <p:cNvPr id="22" name="Text 19"/>
          <p:cNvSpPr txBox="1"/>
          <p:nvPr/>
        </p:nvSpPr>
        <p:spPr>
          <a:xfrm>
            <a:off x="8097317"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7" invalidUrl="" action="" tgtFrame="" tooltip="https://www.mondaq.com/reassessing-india's-medical-device-recall-framework-regulatory-gaps-and-the-case-for-reform/1751304" history="1" highlightClick="0" endSnd="0">
                  <a:extLst>
                    <a:ext uri="{A12FA001-AC4F-418D-AE19-62706E023703}">
                      <ahyp:hlinkClr xmlns:ahyp="http://schemas.microsoft.com/office/drawing/2018/hyperlinkcolor" val="tx"/>
                    </a:ext>
                  </a:extLst>
                </a:hlinkClick>
              </a:rPr>
              <a:t>Mondaq (2025): India's device recall framework and the ASR alert of Dec 2013</a:t>
            </a:r>
            <a:endParaRPr lang="en-US" sz="1400" dirty="0"/>
          </a:p>
          <a:p>
            <a:pPr indent="0" marL="0">
              <a:buNone/>
            </a:pPr>
            <a:r>
              <a:rPr lang="en-US" sz="850" dirty="0">
                <a:solidFill>
                  <a:schemeClr val="tx2"/>
                </a:solidFill>
              </a:rPr>
              <a:t>Mondaq. Reassessing India's Medical Device Recall Framework: Regulatory Gaps and the Case for Reform; 2025 (CDSCO medical device alert on the DePuy …</a:t>
            </a:r>
            <a:endParaRPr lang="en-US" sz="1400" dirty="0"/>
          </a:p>
        </p:txBody>
      </p:sp>
      <p:sp>
        <p:nvSpPr>
          <p:cNvPr id="23" name="Text 20"/>
          <p:cNvSpPr txBox="1"/>
          <p:nvPr/>
        </p:nvSpPr>
        <p:spPr>
          <a:xfrm>
            <a:off x="8097317" y="482346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8" invalidUrl="" action="" tgtFrame="" tooltip="https://www.business-standard.com/health/medical-device-bodies-welcome-cdsco-order-on-self-reporting-adverse-effects-124052101276_1.html" history="1" highlightClick="0" endSnd="0">
                  <a:extLst>
                    <a:ext uri="{A12FA001-AC4F-418D-AE19-62706E023703}">
                      <ahyp:hlinkClr xmlns:ahyp="http://schemas.microsoft.com/office/drawing/2018/hyperlinkcolor" val="tx"/>
                    </a:ext>
                  </a:extLst>
                </a:hlinkClick>
              </a:rPr>
              <a:t>Business Standard (21 May 2024): CDSCO circular on reporting adverse events to MvPI</a:t>
            </a:r>
            <a:endParaRPr lang="en-US" sz="1400" dirty="0"/>
          </a:p>
          <a:p>
            <a:pPr indent="0" marL="0">
              <a:buNone/>
            </a:pPr>
            <a:r>
              <a:rPr lang="en-US" sz="850" dirty="0">
                <a:solidFill>
                  <a:schemeClr val="tx2"/>
                </a:solidFill>
              </a:rPr>
              <a:t>Business Standard. Medical device bodies welcome CDSCO order on self-reporting adverse effects; 21 May 2024 (CDSCO circular of 15 May 2024: all …</a:t>
            </a:r>
            <a:endParaRPr lang="en-US" sz="14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lIns="0" tIns="0" rIns="0" bIns="0" rtlCol="0" anchor="t"/>
          <a:lstStyle/>
          <a:p>
            <a:pPr algn="l" indent="0" marL="0">
              <a:buNone/>
            </a:pPr>
            <a:r>
              <a:rPr lang="en-US" sz="2600" b="1" dirty="0">
                <a:solidFill>
                  <a:schemeClr val="tx1"/>
                </a:solidFill>
              </a:rPr>
              <a:t>India: regulation, guidance, pricing and safety (2/7)</a:t>
            </a: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Checked October 2026. Verify current amendments and extensions before use. Full citations: docs/References.pdf.</a:t>
            </a:r>
            <a:endParaRPr lang="en-US" sz="950" dirty="0"/>
          </a:p>
        </p:txBody>
      </p:sp>
      <p:sp>
        <p:nvSpPr>
          <p:cNvPr id="6" name="Text 3"/>
          <p:cNvSpPr txBox="1"/>
          <p:nvPr/>
        </p:nvSpPr>
        <p:spPr>
          <a:xfrm>
            <a:off x="548640"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 invalidUrl="" action="" tgtFrame="" tooltip="https://www.ovid.com/jnls/iphr/fulltext/10.4103/ijp.ijp_837_21~materiovigilance-programme-of-india-current-status-and-way" history="1" highlightClick="0" endSnd="0">
                  <a:extLst>
                    <a:ext uri="{A12FA001-AC4F-418D-AE19-62706E023703}">
                      <ahyp:hlinkClr xmlns:ahyp="http://schemas.microsoft.com/office/drawing/2018/hyperlinkcolor" val="tx"/>
                    </a:ext>
                  </a:extLst>
                </a:hlinkClick>
              </a:rPr>
              <a:t>Indian J Pharmacol (2022): MvPI status, 174 monitoring centres</a:t>
            </a:r>
            <a:endParaRPr lang="en-US" sz="1400" dirty="0"/>
          </a:p>
          <a:p>
            <a:pPr indent="0" marL="0">
              <a:buNone/>
            </a:pPr>
            <a:r>
              <a:rPr lang="en-US" sz="850" dirty="0">
                <a:solidFill>
                  <a:schemeClr val="tx2"/>
                </a:solidFill>
              </a:rPr>
              <a:t>Materiovigilance Programme of India: current status and way forward. Indian Journal of Pharmacology; 2022 (174 Medical Device Adverse Event …</a:t>
            </a:r>
            <a:endParaRPr lang="en-US" sz="1400" dirty="0"/>
          </a:p>
        </p:txBody>
      </p:sp>
      <p:sp>
        <p:nvSpPr>
          <p:cNvPr id="7" name="Text 4"/>
          <p:cNvSpPr txBox="1"/>
          <p:nvPr/>
        </p:nvSpPr>
        <p:spPr>
          <a:xfrm>
            <a:off x="548640"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2" invalidUrl="" action="" tgtFrame="" tooltip="https://www.scconline.com/blog/?p=274997" history="1" highlightClick="0" endSnd="0">
                  <a:extLst>
                    <a:ext uri="{A12FA001-AC4F-418D-AE19-62706E023703}">
                      <ahyp:hlinkClr xmlns:ahyp="http://schemas.microsoft.com/office/drawing/2018/hyperlinkcolor" val="tx"/>
                    </a:ext>
                  </a:extLst>
                </a:hlinkClick>
              </a:rPr>
              <a:t>SCC Online (2022): G.S.R. 754(E), Rule 87A, Forms MD-41/MD-42 for sellers</a:t>
            </a:r>
            <a:endParaRPr lang="en-US" sz="1400" dirty="0"/>
          </a:p>
          <a:p>
            <a:pPr indent="0" marL="0">
              <a:buNone/>
            </a:pPr>
            <a:r>
              <a:rPr lang="en-US" sz="850" dirty="0">
                <a:solidFill>
                  <a:schemeClr val="tx2"/>
                </a:solidFill>
              </a:rPr>
              <a:t>SCC Online blog. Medical Devices (Fifth Amendment) Rules 2022, G.S.R. 754(E) of 30 September 2022: Rule 87A requires anyone selling, stocking, …</a:t>
            </a:r>
            <a:endParaRPr lang="en-US" sz="1400" dirty="0"/>
          </a:p>
        </p:txBody>
      </p:sp>
      <p:sp>
        <p:nvSpPr>
          <p:cNvPr id="8" name="Text 5"/>
          <p:cNvSpPr txBox="1"/>
          <p:nvPr/>
        </p:nvSpPr>
        <p:spPr>
          <a:xfrm>
            <a:off x="548640"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3" invalidUrl="" action="" tgtFrame="" tooltip="https://morulaa.com/knowledge-hub/regulations/india/cdsco-medical-device-classification-rehabilitation" history="1" highlightClick="0" endSnd="0">
                  <a:extLst>
                    <a:ext uri="{A12FA001-AC4F-418D-AE19-62706E023703}">
                      <ahyp:hlinkClr xmlns:ahyp="http://schemas.microsoft.com/office/drawing/2018/hyperlinkcolor" val="tx"/>
                    </a:ext>
                  </a:extLst>
                </a:hlinkClick>
              </a:rPr>
              <a:t>Morulaa: CDSCO rehabilitation classification list (electromagnetic stimulation = Class A)</a:t>
            </a:r>
            <a:endParaRPr lang="en-US" sz="1400" dirty="0"/>
          </a:p>
          <a:p>
            <a:pPr indent="0" marL="0">
              <a:buNone/>
            </a:pPr>
            <a:r>
              <a:rPr lang="en-US" sz="850" dirty="0">
                <a:solidFill>
                  <a:schemeClr val="tx2"/>
                </a:solidFill>
              </a:rPr>
              <a:t>Morulaa. Rehabilitation equipment categorisation parameters, quoting CDSCO's rehabilitation classification list: 'deep-tissue electromagnetic …</a:t>
            </a:r>
            <a:endParaRPr lang="en-US" sz="1400" dirty="0"/>
          </a:p>
        </p:txBody>
      </p:sp>
      <p:sp>
        <p:nvSpPr>
          <p:cNvPr id="9" name="Text 6"/>
          <p:cNvSpPr txBox="1"/>
          <p:nvPr/>
        </p:nvSpPr>
        <p:spPr>
          <a:xfrm>
            <a:off x="548640"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4" invalidUrl="" action="" tgtFrame="" tooltip="https://www.freyrsolutions.com/blog/samd-regulation-in-india-cdsco-classification-class-a-d-registration-requirements-emerging-market-strategy" history="1" highlightClick="0" endSnd="0">
                  <a:extLst>
                    <a:ext uri="{A12FA001-AC4F-418D-AE19-62706E023703}">
                      <ahyp:hlinkClr xmlns:ahyp="http://schemas.microsoft.com/office/drawing/2018/hyperlinkcolor" val="tx"/>
                    </a:ext>
                  </a:extLst>
                </a:hlinkClick>
              </a:rPr>
              <a:t>Freyr, SaMD classification in India</a:t>
            </a:r>
            <a:endParaRPr lang="en-US" sz="1400" dirty="0"/>
          </a:p>
          <a:p>
            <a:pPr indent="0" marL="0">
              <a:buNone/>
            </a:pPr>
            <a:r>
              <a:rPr lang="en-US" sz="850" dirty="0">
                <a:solidFill>
                  <a:schemeClr val="tx2"/>
                </a:solidFill>
              </a:rPr>
              <a:t>Freyr Solutions. SaMD regulation in India: CDSCO classification (Class A–D) and registration requirements (consultancy reading; examples by class).</a:t>
            </a:r>
            <a:endParaRPr lang="en-US" sz="1400" dirty="0"/>
          </a:p>
        </p:txBody>
      </p:sp>
      <p:sp>
        <p:nvSpPr>
          <p:cNvPr id="10" name="Text 7"/>
          <p:cNvSpPr txBox="1"/>
          <p:nvPr/>
        </p:nvSpPr>
        <p:spPr>
          <a:xfrm>
            <a:off x="548640"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5" invalidUrl="" action="" tgtFrame="" tooltip="https://www.pureglobal.com/news/india-cdsco-medical-device-software-guidance-2026" history="1" highlightClick="0" endSnd="0">
                  <a:extLst>
                    <a:ext uri="{A12FA001-AC4F-418D-AE19-62706E023703}">
                      <ahyp:hlinkClr xmlns:ahyp="http://schemas.microsoft.com/office/drawing/2018/hyperlinkcolor" val="tx"/>
                    </a:ext>
                  </a:extLst>
                </a:hlinkClick>
              </a:rPr>
              <a:t>Pure Global (2026): summary of CDSCO's Medical Device Software guidance</a:t>
            </a:r>
            <a:endParaRPr lang="en-US" sz="1400" dirty="0"/>
          </a:p>
          <a:p>
            <a:pPr indent="0" marL="0">
              <a:buNone/>
            </a:pPr>
            <a:r>
              <a:rPr lang="en-US" sz="850" dirty="0">
                <a:solidFill>
                  <a:schemeClr val="tx2"/>
                </a:solidFill>
              </a:rPr>
              <a:t>Pure Global. India CDSCO Medical Device Software Guidance 2026: classification by medical purpose, significance of the information and severity of …</a:t>
            </a:r>
            <a:endParaRPr lang="en-US" sz="1400" dirty="0"/>
          </a:p>
        </p:txBody>
      </p:sp>
      <p:sp>
        <p:nvSpPr>
          <p:cNvPr id="11" name="Text 8"/>
          <p:cNvSpPr txBox="1"/>
          <p:nvPr/>
        </p:nvSpPr>
        <p:spPr>
          <a:xfrm>
            <a:off x="548640" y="482346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6" invalidUrl="" action="" tgtFrame="" tooltip="https://operonstrategist.com/understanding-the-significance-of-form-md-3-and-md-7-in-cdsco/" history="1" highlightClick="0" endSnd="0">
                  <a:extLst>
                    <a:ext uri="{A12FA001-AC4F-418D-AE19-62706E023703}">
                      <ahyp:hlinkClr xmlns:ahyp="http://schemas.microsoft.com/office/drawing/2018/hyperlinkcolor" val="tx"/>
                    </a:ext>
                  </a:extLst>
                </a:hlinkClick>
              </a:rPr>
              <a:t>Operon Strategist, Forms MD-3 and MD-7</a:t>
            </a:r>
            <a:endParaRPr lang="en-US" sz="1400" dirty="0"/>
          </a:p>
          <a:p>
            <a:pPr indent="0" marL="0">
              <a:buNone/>
            </a:pPr>
            <a:r>
              <a:rPr lang="en-US" sz="850" dirty="0">
                <a:solidFill>
                  <a:schemeClr val="tx2"/>
                </a:solidFill>
              </a:rPr>
              <a:t>Operon Strategist. Understanding the significance of Form MD-3 and MD-7 in CDSCO: Class A/B manufacture MD-3 → MD-5 (State Licensing Authority); …</a:t>
            </a:r>
            <a:endParaRPr lang="en-US" sz="1400" dirty="0"/>
          </a:p>
        </p:txBody>
      </p:sp>
      <p:sp>
        <p:nvSpPr>
          <p:cNvPr id="12" name="Text 9"/>
          <p:cNvSpPr txBox="1"/>
          <p:nvPr/>
        </p:nvSpPr>
        <p:spPr>
          <a:xfrm>
            <a:off x="4322978"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7" invalidUrl="" action="" tgtFrame="" tooltip="https://www.lawrbit.com/industry-specific/loan-licence-class-c-d-medical-devices-procedure/" history="1" highlightClick="0" endSnd="0">
                  <a:extLst>
                    <a:ext uri="{A12FA001-AC4F-418D-AE19-62706E023703}">
                      <ahyp:hlinkClr xmlns:ahyp="http://schemas.microsoft.com/office/drawing/2018/hyperlinkcolor" val="tx"/>
                    </a:ext>
                  </a:extLst>
                </a:hlinkClick>
              </a:rPr>
              <a:t>Lawrbit, loan licence Class C and D (MD-8 → MD-10)</a:t>
            </a:r>
            <a:endParaRPr lang="en-US" sz="1400" dirty="0"/>
          </a:p>
          <a:p>
            <a:pPr indent="0" marL="0">
              <a:buNone/>
            </a:pPr>
            <a:r>
              <a:rPr lang="en-US" sz="850" dirty="0">
                <a:solidFill>
                  <a:schemeClr val="tx2"/>
                </a:solidFill>
              </a:rPr>
              <a:t>Lawrbit. Loan licence for Class C and D medical devices: procedure under MDR-2017 (application Form MD-8, licence Form MD-10, Central Licensing …</a:t>
            </a:r>
            <a:endParaRPr lang="en-US" sz="1400" dirty="0"/>
          </a:p>
        </p:txBody>
      </p:sp>
      <p:sp>
        <p:nvSpPr>
          <p:cNvPr id="13" name="Text 10"/>
          <p:cNvSpPr txBox="1"/>
          <p:nvPr/>
        </p:nvSpPr>
        <p:spPr>
          <a:xfrm>
            <a:off x="4322978"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8" invalidUrl="" action="" tgtFrame="" tooltip="https://cdsco.gov.in/opencms/resources/UploadCDSCOWeb/2022/Draft_Noti/MDR_G.S.R.188(E)%20dt_06.03.2019_Amendment%20in%20Form%20MD-10%20to%20replace%20the%20SLA%20as%20issuing%20authority%20with%20CLA%20in%20MDR,%202017.pdf" history="1" highlightClick="0" endSnd="0">
                  <a:extLst>
                    <a:ext uri="{A12FA001-AC4F-418D-AE19-62706E023703}">
                      <ahyp:hlinkClr xmlns:ahyp="http://schemas.microsoft.com/office/drawing/2018/hyperlinkcolor" val="tx"/>
                    </a:ext>
                  </a:extLst>
                </a:hlinkClick>
              </a:rPr>
              <a:t>CDSCO, G.S.R. 188(E) of 6 Mar 2019 (Form MD-10 issued by CLA)</a:t>
            </a:r>
            <a:endParaRPr lang="en-US" sz="1400" dirty="0"/>
          </a:p>
          <a:p>
            <a:pPr indent="0" marL="0">
              <a:buNone/>
            </a:pPr>
            <a:r>
              <a:rPr lang="en-US" sz="850" dirty="0">
                <a:solidFill>
                  <a:schemeClr val="tx2"/>
                </a:solidFill>
              </a:rPr>
              <a:t>Ministry of Health and Family Welfare. G.S.R. 188(E), 6 March 2019: amendment of Form MD-10 to replace the State Licensing Authority with the Central …</a:t>
            </a:r>
            <a:endParaRPr lang="en-US" sz="1400" dirty="0"/>
          </a:p>
        </p:txBody>
      </p:sp>
      <p:sp>
        <p:nvSpPr>
          <p:cNvPr id="14" name="Text 11"/>
          <p:cNvSpPr txBox="1"/>
          <p:nvPr/>
        </p:nvSpPr>
        <p:spPr>
          <a:xfrm>
            <a:off x="4322978"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9" invalidUrl="" action="" tgtFrame="" tooltip="https://cdsco.gov.in/opencms/export/sites/CDSCO_WEB/Pdf-documents/medical-device/14MD.pdf" history="1" highlightClick="0" endSnd="0">
                  <a:extLst>
                    <a:ext uri="{A12FA001-AC4F-418D-AE19-62706E023703}">
                      <ahyp:hlinkClr xmlns:ahyp="http://schemas.microsoft.com/office/drawing/2018/hyperlinkcolor" val="tx"/>
                    </a:ext>
                  </a:extLst>
                </a:hlinkClick>
              </a:rPr>
              <a:t>CDSCO Form MD-14 (import licence application)</a:t>
            </a:r>
            <a:endParaRPr lang="en-US" sz="1400" dirty="0"/>
          </a:p>
          <a:p>
            <a:pPr indent="0" marL="0">
              <a:buNone/>
            </a:pPr>
            <a:r>
              <a:rPr lang="en-US" sz="850" dirty="0">
                <a:solidFill>
                  <a:schemeClr val="tx2"/>
                </a:solidFill>
              </a:rPr>
              <a:t>CDSCO. Form MD-14: application for licence to import medical devices (licence in Form MD-15; Central Licensing Authority; Rules 34–36).</a:t>
            </a:r>
            <a:endParaRPr lang="en-US" sz="1400" dirty="0"/>
          </a:p>
        </p:txBody>
      </p:sp>
      <p:sp>
        <p:nvSpPr>
          <p:cNvPr id="15" name="Text 12"/>
          <p:cNvSpPr txBox="1"/>
          <p:nvPr/>
        </p:nvSpPr>
        <p:spPr>
          <a:xfrm>
            <a:off x="4322978"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0" invalidUrl="" action="" tgtFrame="" tooltip="https://corpbiz.io/learning/grant-of-test-license-for-manufacture-under-mdr-2017/" history="1" highlightClick="0" endSnd="0">
                  <a:extLst>
                    <a:ext uri="{A12FA001-AC4F-418D-AE19-62706E023703}">
                      <ahyp:hlinkClr xmlns:ahyp="http://schemas.microsoft.com/office/drawing/2018/hyperlinkcolor" val="tx"/>
                    </a:ext>
                  </a:extLst>
                </a:hlinkClick>
              </a:rPr>
              <a:t>Corpbiz, test licence for manufacture (MD-12 → MD-13)</a:t>
            </a:r>
            <a:endParaRPr lang="en-US" sz="1400" dirty="0"/>
          </a:p>
          <a:p>
            <a:pPr indent="0" marL="0">
              <a:buNone/>
            </a:pPr>
            <a:r>
              <a:rPr lang="en-US" sz="850" dirty="0">
                <a:solidFill>
                  <a:schemeClr val="tx2"/>
                </a:solidFill>
              </a:rPr>
              <a:t>Corpbiz. Grant of test licence for manufacture under MDR-2017: Form MD-12 application, Form MD-13 licence, for clinical investigation, test, …</a:t>
            </a:r>
            <a:endParaRPr lang="en-US" sz="1400" dirty="0"/>
          </a:p>
        </p:txBody>
      </p:sp>
      <p:sp>
        <p:nvSpPr>
          <p:cNvPr id="16" name="Text 13"/>
          <p:cNvSpPr txBox="1"/>
          <p:nvPr/>
        </p:nvSpPr>
        <p:spPr>
          <a:xfrm>
            <a:off x="4322978"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1" invalidUrl="" action="" tgtFrame="" tooltip="https://www.lawrbit.com/industry-specific/test-license-import-medical-devices-india-procedure/" history="1" highlightClick="0" endSnd="0">
                  <a:extLst>
                    <a:ext uri="{A12FA001-AC4F-418D-AE19-62706E023703}">
                      <ahyp:hlinkClr xmlns:ahyp="http://schemas.microsoft.com/office/drawing/2018/hyperlinkcolor" val="tx"/>
                    </a:ext>
                  </a:extLst>
                </a:hlinkClick>
              </a:rPr>
              <a:t>Lawrbit, test licence to import (MD-16 → MD-17)</a:t>
            </a:r>
            <a:endParaRPr lang="en-US" sz="1400" dirty="0"/>
          </a:p>
          <a:p>
            <a:pPr indent="0" marL="0">
              <a:buNone/>
            </a:pPr>
            <a:r>
              <a:rPr lang="en-US" sz="850" dirty="0">
                <a:solidFill>
                  <a:schemeClr val="tx2"/>
                </a:solidFill>
              </a:rPr>
              <a:t>Lawrbit. Test licence to import medical devices in India: Form MD-16 application, Form MD-17 licence; fee US$100 per distinct device.</a:t>
            </a:r>
            <a:endParaRPr lang="en-US" sz="1400" dirty="0"/>
          </a:p>
        </p:txBody>
      </p:sp>
      <p:sp>
        <p:nvSpPr>
          <p:cNvPr id="17" name="Text 14"/>
          <p:cNvSpPr txBox="1"/>
          <p:nvPr/>
        </p:nvSpPr>
        <p:spPr>
          <a:xfrm>
            <a:off x="4322978" y="482346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2" invalidUrl="" action="" tgtFrame="" tooltip="https://corpseed.com/knowledge-centre/medical-device-wholesalers-traders-and-retailers-registration-cdsco-form-md-42" history="1" highlightClick="0" endSnd="0">
                  <a:extLst>
                    <a:ext uri="{A12FA001-AC4F-418D-AE19-62706E023703}">
                      <ahyp:hlinkClr xmlns:ahyp="http://schemas.microsoft.com/office/drawing/2018/hyperlinkcolor" val="tx"/>
                    </a:ext>
                  </a:extLst>
                </a:hlinkClick>
              </a:rPr>
              <a:t>Corpseed, Form MD-42 registration (fee and 10-day window)</a:t>
            </a:r>
            <a:endParaRPr lang="en-US" sz="1400" dirty="0"/>
          </a:p>
          <a:p>
            <a:pPr indent="0" marL="0">
              <a:buNone/>
            </a:pPr>
            <a:r>
              <a:rPr lang="en-US" sz="850" dirty="0">
                <a:solidFill>
                  <a:schemeClr val="tx2"/>
                </a:solidFill>
              </a:rPr>
              <a:t>Corpseed. Medical device wholesalers, traders and retailers registration (CDSCO Form MD-42): fee Rs 3,000, retention Rs 3,000; the State Licensing …</a:t>
            </a:r>
            <a:endParaRPr lang="en-US" sz="1400" dirty="0"/>
          </a:p>
        </p:txBody>
      </p:sp>
      <p:sp>
        <p:nvSpPr>
          <p:cNvPr id="18" name="Text 15"/>
          <p:cNvSpPr txBox="1"/>
          <p:nvPr/>
        </p:nvSpPr>
        <p:spPr>
          <a:xfrm>
            <a:off x="8097317"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3" invalidUrl="" action="" tgtFrame="" tooltip="https://www.teamleaseregtech.com/updates/article/19622/medical-devices-sixth-amendment-rules-2022" history="1" highlightClick="0" endSnd="0">
                  <a:extLst>
                    <a:ext uri="{A12FA001-AC4F-418D-AE19-62706E023703}">
                      <ahyp:hlinkClr xmlns:ahyp="http://schemas.microsoft.com/office/drawing/2018/hyperlinkcolor" val="tx"/>
                    </a:ext>
                  </a:extLst>
                </a:hlinkClick>
              </a:rPr>
              <a:t>TeamLease RegTech, Medical Devices (Sixth Amendment) Rules 2022</a:t>
            </a:r>
            <a:endParaRPr lang="en-US" sz="1400" dirty="0"/>
          </a:p>
          <a:p>
            <a:pPr indent="0" marL="0">
              <a:buNone/>
            </a:pPr>
            <a:r>
              <a:rPr lang="en-US" sz="850" dirty="0">
                <a:solidFill>
                  <a:schemeClr val="tx2"/>
                </a:solidFill>
              </a:rPr>
              <a:t>TeamLease RegTech. Medical Devices (Sixth Amendment) Rules, 2022, G.S.R. 777(E), 14 October 2022: Class A non-sterile, non-measuring devices …</a:t>
            </a:r>
            <a:endParaRPr lang="en-US" sz="1400" dirty="0"/>
          </a:p>
        </p:txBody>
      </p:sp>
      <p:sp>
        <p:nvSpPr>
          <p:cNvPr id="19" name="Text 16"/>
          <p:cNvSpPr txBox="1"/>
          <p:nvPr/>
        </p:nvSpPr>
        <p:spPr>
          <a:xfrm>
            <a:off x="8097317"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4" invalidUrl="" action="" tgtFrame="" tooltip="https://operonstrategist.com/exemption-for-investigational-medical-devices-eu-approval/" history="1" highlightClick="0" endSnd="0">
                  <a:extLst>
                    <a:ext uri="{A12FA001-AC4F-418D-AE19-62706E023703}">
                      <ahyp:hlinkClr xmlns:ahyp="http://schemas.microsoft.com/office/drawing/2018/hyperlinkcolor" val="tx"/>
                    </a:ext>
                  </a:extLst>
                </a:hlinkClick>
              </a:rPr>
              <a:t>Operon Strategist, Rule 63 waiver of local clinical investigation</a:t>
            </a:r>
            <a:endParaRPr lang="en-US" sz="1400" dirty="0"/>
          </a:p>
          <a:p>
            <a:pPr indent="0" marL="0">
              <a:buNone/>
            </a:pPr>
            <a:r>
              <a:rPr lang="en-US" sz="850" dirty="0">
                <a:solidFill>
                  <a:schemeClr val="tx2"/>
                </a:solidFill>
              </a:rPr>
              <a:t>Operon Strategist. India waives local trials: exemption for investigational devices with EU clearance (Rule 63, Form MD-26 → MD-27; approval by US, …</a:t>
            </a:r>
            <a:endParaRPr lang="en-US" sz="1400" dirty="0"/>
          </a:p>
        </p:txBody>
      </p:sp>
      <p:sp>
        <p:nvSpPr>
          <p:cNvPr id="20" name="Text 17"/>
          <p:cNvSpPr txBox="1"/>
          <p:nvPr/>
        </p:nvSpPr>
        <p:spPr>
          <a:xfrm>
            <a:off x="8097317"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5" invalidUrl="" action="" tgtFrame="" tooltip="https://www.pureglobal.com/news/india-gsr-744e-eu-rule-63-class-a-qms-2026" history="1" highlightClick="0" endSnd="0">
                  <a:extLst>
                    <a:ext uri="{A12FA001-AC4F-418D-AE19-62706E023703}">
                      <ahyp:hlinkClr xmlns:ahyp="http://schemas.microsoft.com/office/drawing/2018/hyperlinkcolor" val="tx"/>
                    </a:ext>
                  </a:extLst>
                </a:hlinkClick>
              </a:rPr>
              <a:t>Pure Global, G.S.R. 744(E) (EU in Rule 63; Class A QMS)</a:t>
            </a:r>
            <a:endParaRPr lang="en-US" sz="1400" dirty="0"/>
          </a:p>
          <a:p>
            <a:pPr indent="0" marL="0">
              <a:buNone/>
            </a:pPr>
            <a:r>
              <a:rPr lang="en-US" sz="850" dirty="0">
                <a:solidFill>
                  <a:schemeClr val="tx2"/>
                </a:solidFill>
              </a:rPr>
              <a:t>Pure Global. India G.S.R. 744(E), Medical Devices (Third Amendment) Rules, 2026, 14 August 2026: 'or European Union countries' added to Rule 63(1) …</a:t>
            </a:r>
            <a:endParaRPr lang="en-US" sz="1400" dirty="0"/>
          </a:p>
        </p:txBody>
      </p:sp>
      <p:sp>
        <p:nvSpPr>
          <p:cNvPr id="21" name="Text 18"/>
          <p:cNvSpPr txBox="1"/>
          <p:nvPr/>
        </p:nvSpPr>
        <p:spPr>
          <a:xfrm>
            <a:off x="8097317"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6" invalidUrl="" action="" tgtFrame="" tooltip="https://www.pureglobal.com/news/india-gsr-743e-sterilisation-label-ninth-schedule-2026" history="1" highlightClick="0" endSnd="0">
                  <a:extLst>
                    <a:ext uri="{A12FA001-AC4F-418D-AE19-62706E023703}">
                      <ahyp:hlinkClr xmlns:ahyp="http://schemas.microsoft.com/office/drawing/2018/hyperlinkcolor" val="tx"/>
                    </a:ext>
                  </a:extLst>
                </a:hlinkClick>
              </a:rPr>
              <a:t>Pure Global, G.S.R. 743(E) (sterilisation label; Ninth Schedule)</a:t>
            </a:r>
            <a:endParaRPr lang="en-US" sz="1400" dirty="0"/>
          </a:p>
          <a:p>
            <a:pPr indent="0" marL="0">
              <a:buNone/>
            </a:pPr>
            <a:r>
              <a:rPr lang="en-US" sz="850" dirty="0">
                <a:solidFill>
                  <a:schemeClr val="tx2"/>
                </a:solidFill>
              </a:rPr>
              <a:t>Pure Global. India G.S.R. 743(E), Medical Devices (Second Amendment) Rules, 2026, 14 August 2026: Rule 44(p) sterilisation-site licence number on the …</a:t>
            </a:r>
            <a:endParaRPr lang="en-US" sz="1400" dirty="0"/>
          </a:p>
        </p:txBody>
      </p:sp>
      <p:sp>
        <p:nvSpPr>
          <p:cNvPr id="22" name="Text 19"/>
          <p:cNvSpPr txBox="1"/>
          <p:nvPr/>
        </p:nvSpPr>
        <p:spPr>
          <a:xfrm>
            <a:off x="8097317"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7" invalidUrl="" action="" tgtFrame="" tooltip="https://cliniexperts.com/regulatory-update/2025-12-04_-g-s-r-883e_draft-notification-for-amendment-in-medical-device-rules-2017/" history="1" highlightClick="0" endSnd="0">
                  <a:extLst>
                    <a:ext uri="{A12FA001-AC4F-418D-AE19-62706E023703}">
                      <ahyp:hlinkClr xmlns:ahyp="http://schemas.microsoft.com/office/drawing/2018/hyperlinkcolor" val="tx"/>
                    </a:ext>
                  </a:extLst>
                </a:hlinkClick>
              </a:rPr>
              <a:t>CliniExperts, draft G.S.R. 883(E) of 4 Dec 2025</a:t>
            </a:r>
            <a:endParaRPr lang="en-US" sz="1400" dirty="0"/>
          </a:p>
          <a:p>
            <a:pPr indent="0" marL="0">
              <a:buNone/>
            </a:pPr>
            <a:r>
              <a:rPr lang="en-US" sz="850" dirty="0">
                <a:solidFill>
                  <a:schemeClr val="tx2"/>
                </a:solidFill>
              </a:rPr>
              <a:t>CliniExperts. MoHFW issues draft amendment to MDR-2017, G.S.R. 883(E), 4 December 2025: perpetual validity of Forms MD-2, MD-5, MD-6, MD-9, MD-10 and …</a:t>
            </a:r>
            <a:endParaRPr lang="en-US" sz="1400" dirty="0"/>
          </a:p>
        </p:txBody>
      </p:sp>
      <p:sp>
        <p:nvSpPr>
          <p:cNvPr id="23" name="Text 20"/>
          <p:cNvSpPr txBox="1"/>
          <p:nvPr/>
        </p:nvSpPr>
        <p:spPr>
          <a:xfrm>
            <a:off x="8097317" y="482346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8" invalidUrl="" action="" tgtFrame="" tooltip="https://www.lawrbit.com/industry-specific/class-a-b-medical-device-manufacturing-license-india/" history="1" highlightClick="0" endSnd="0">
                  <a:extLst>
                    <a:ext uri="{A12FA001-AC4F-418D-AE19-62706E023703}">
                      <ahyp:hlinkClr xmlns:ahyp="http://schemas.microsoft.com/office/drawing/2018/hyperlinkcolor" val="tx"/>
                    </a:ext>
                  </a:extLst>
                </a:hlinkClick>
              </a:rPr>
              <a:t>Lawrbit, Class A and B manufacturing licence (perpetual validity)</a:t>
            </a:r>
            <a:endParaRPr lang="en-US" sz="1400" dirty="0"/>
          </a:p>
          <a:p>
            <a:pPr indent="0" marL="0">
              <a:buNone/>
            </a:pPr>
            <a:r>
              <a:rPr lang="en-US" sz="850" dirty="0">
                <a:solidFill>
                  <a:schemeClr val="tx2"/>
                </a:solidFill>
              </a:rPr>
              <a:t>Lawrbit. Class A and B medical device manufacturing licence in India: MD-3 → MD-5; licence valid indefinitely subject to the retention fee every 5 …</a:t>
            </a:r>
            <a:endParaRPr lang="en-US" sz="14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lIns="0" tIns="0" rIns="0" bIns="0" rtlCol="0" anchor="t"/>
          <a:lstStyle/>
          <a:p>
            <a:pPr algn="l" indent="0" marL="0">
              <a:buNone/>
            </a:pPr>
            <a:r>
              <a:rPr lang="en-US" sz="2600" b="1" dirty="0">
                <a:solidFill>
                  <a:schemeClr val="tx1"/>
                </a:solidFill>
              </a:rPr>
              <a:t>India: regulation, guidance, pricing and safety (3/7)</a:t>
            </a: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Checked October 2026. Verify current amendments and extensions before use. Full citations: docs/References.pdf.</a:t>
            </a:r>
            <a:endParaRPr lang="en-US" sz="950" dirty="0"/>
          </a:p>
        </p:txBody>
      </p:sp>
      <p:sp>
        <p:nvSpPr>
          <p:cNvPr id="6" name="Text 3"/>
          <p:cNvSpPr txBox="1"/>
          <p:nvPr/>
        </p:nvSpPr>
        <p:spPr>
          <a:xfrm>
            <a:off x="548640"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 invalidUrl="" action="" tgtFrame="" tooltip="https://lexplosion.in/stakeholders-in-medical-devices-sector-urged-by-cdsco-to-ensure-timely-payment-of-retention-fees-to-maintain-validity-of-licenses-and-certificates/" history="1" highlightClick="0" endSnd="0">
                  <a:extLst>
                    <a:ext uri="{A12FA001-AC4F-418D-AE19-62706E023703}">
                      <ahyp:hlinkClr xmlns:ahyp="http://schemas.microsoft.com/office/drawing/2018/hyperlinkcolor" val="tx"/>
                    </a:ext>
                  </a:extLst>
                </a:hlinkClick>
              </a:rPr>
              <a:t>Lexplosion, CDSCO notice on timely payment of retention fees</a:t>
            </a:r>
            <a:endParaRPr lang="en-US" sz="1400" dirty="0"/>
          </a:p>
          <a:p>
            <a:pPr indent="0" marL="0">
              <a:buNone/>
            </a:pPr>
            <a:r>
              <a:rPr lang="en-US" sz="850" dirty="0">
                <a:solidFill>
                  <a:schemeClr val="tx2"/>
                </a:solidFill>
              </a:rPr>
              <a:t>Lexplosion. Stakeholders in the medical devices sector urged by CDSCO to ensure timely payment of retention fees to maintain validity of licences and …</a:t>
            </a:r>
            <a:endParaRPr lang="en-US" sz="1400" dirty="0"/>
          </a:p>
        </p:txBody>
      </p:sp>
      <p:sp>
        <p:nvSpPr>
          <p:cNvPr id="7" name="Text 4"/>
          <p:cNvSpPr txBox="1"/>
          <p:nvPr/>
        </p:nvSpPr>
        <p:spPr>
          <a:xfrm>
            <a:off x="548640"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2" invalidUrl="" action="" tgtFrame="" tooltip="https://asiaactual.com/blog/india-proposes-targeted-amendments-to-medical-devices-rules/" history="1" highlightClick="0" endSnd="0">
                  <a:extLst>
                    <a:ext uri="{A12FA001-AC4F-418D-AE19-62706E023703}">
                      <ahyp:hlinkClr xmlns:ahyp="http://schemas.microsoft.com/office/drawing/2018/hyperlinkcolor" val="tx"/>
                    </a:ext>
                  </a:extLst>
                </a:hlinkClick>
              </a:rPr>
              <a:t>Asia Actual, India proposes targeted amendments (June 2026)</a:t>
            </a:r>
            <a:endParaRPr lang="en-US" sz="1400" dirty="0"/>
          </a:p>
          <a:p>
            <a:pPr indent="0" marL="0">
              <a:buNone/>
            </a:pPr>
            <a:r>
              <a:rPr lang="en-US" sz="850" dirty="0">
                <a:solidFill>
                  <a:schemeClr val="tx2"/>
                </a:solidFill>
              </a:rPr>
              <a:t>Asia Actual. India proposes targeted amendments to the Medical Devices Rules: draft G.S.R. 515(E), 23 June 2026, cuts manufacturing-licence timelines …</a:t>
            </a:r>
            <a:endParaRPr lang="en-US" sz="1400" dirty="0"/>
          </a:p>
        </p:txBody>
      </p:sp>
      <p:sp>
        <p:nvSpPr>
          <p:cNvPr id="8" name="Text 5"/>
          <p:cNvSpPr txBox="1"/>
          <p:nvPr/>
        </p:nvSpPr>
        <p:spPr>
          <a:xfrm>
            <a:off x="548640" y="2752344"/>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3" invalidUrl="" action="" tgtFrame="" tooltip="https://www.fdanews.com/articles/12833-indias-cdsco-responds-to-questions-on-medical-device-rule-2017" history="1" highlightClick="0" endSnd="0">
                  <a:extLst>
                    <a:ext uri="{A12FA001-AC4F-418D-AE19-62706E023703}">
                      <ahyp:hlinkClr xmlns:ahyp="http://schemas.microsoft.com/office/drawing/2018/hyperlinkcolor" val="tx"/>
                    </a:ext>
                  </a:extLst>
                </a:hlinkClick>
              </a:rPr>
              <a:t>FDAnews on the CDSCO FAQ document number (2018)</a:t>
            </a:r>
            <a:endParaRPr lang="en-US" sz="1400" dirty="0"/>
          </a:p>
          <a:p>
            <a:pPr indent="0" marL="0">
              <a:buNone/>
            </a:pPr>
            <a:r>
              <a:rPr lang="en-US" sz="850" dirty="0">
                <a:solidFill>
                  <a:schemeClr val="tx2"/>
                </a:solidFill>
              </a:rPr>
              <a:t>FDAnews. India's CDSCO responds to questions on the Medical Device Rules 2017 (document CDSCO/FAQ/MD/01/2018); 2018.</a:t>
            </a:r>
            <a:endParaRPr lang="en-US" sz="1400" dirty="0"/>
          </a:p>
        </p:txBody>
      </p:sp>
      <p:sp>
        <p:nvSpPr>
          <p:cNvPr id="9" name="Text 6"/>
          <p:cNvSpPr txBox="1"/>
          <p:nvPr/>
        </p:nvSpPr>
        <p:spPr>
          <a:xfrm>
            <a:off x="548640" y="331012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4" invalidUrl="" action="" tgtFrame="" tooltip="https://cdsco.gov.in/opencms/export/sites/CDSCO_WEB/Pdf-documents/IVD/FAQs/CDSCO-IVD-FAQ-03-2022-.pdf" history="1" highlightClick="0" endSnd="0">
                  <a:extLst>
                    <a:ext uri="{A12FA001-AC4F-418D-AE19-62706E023703}">
                      <ahyp:hlinkClr xmlns:ahyp="http://schemas.microsoft.com/office/drawing/2018/hyperlinkcolor" val="tx"/>
                    </a:ext>
                  </a:extLst>
                </a:hlinkClick>
              </a:rPr>
              <a:t>CDSCO IVD FAQ (March 2022)</a:t>
            </a:r>
            <a:endParaRPr lang="en-US" sz="1400" dirty="0"/>
          </a:p>
          <a:p>
            <a:pPr indent="0" marL="0">
              <a:buNone/>
            </a:pPr>
            <a:r>
              <a:rPr lang="en-US" sz="850" dirty="0">
                <a:solidFill>
                  <a:schemeClr val="tx2"/>
                </a:solidFill>
              </a:rPr>
              <a:t>CDSCO. Frequently Asked Questions on in vitro diagnostic medical devices (CDSCO-IVD-FAQ-03-2022): classification examples under First Schedule Part …</a:t>
            </a:r>
            <a:endParaRPr lang="en-US" sz="1400" dirty="0"/>
          </a:p>
        </p:txBody>
      </p:sp>
      <p:sp>
        <p:nvSpPr>
          <p:cNvPr id="10" name="Text 7"/>
          <p:cNvSpPr txBox="1"/>
          <p:nvPr/>
        </p:nvSpPr>
        <p:spPr>
          <a:xfrm>
            <a:off x="548640" y="40005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5" invalidUrl="" action="" tgtFrame="" tooltip="https://www.freyrsolutions.com/blog/classification-of-non-notified-medical-devices-and-ivds-in-india-decode-cdscos-new-notices" history="1" highlightClick="0" endSnd="0">
                  <a:extLst>
                    <a:ext uri="{A12FA001-AC4F-418D-AE19-62706E023703}">
                      <ahyp:hlinkClr xmlns:ahyp="http://schemas.microsoft.com/office/drawing/2018/hyperlinkcolor" val="tx"/>
                    </a:ext>
                  </a:extLst>
                </a:hlinkClick>
              </a:rPr>
              <a:t>Freyr, CDSCO classification notices of 3 Sep 2020</a:t>
            </a:r>
            <a:endParaRPr lang="en-US" sz="1400" dirty="0"/>
          </a:p>
          <a:p>
            <a:pPr indent="0" marL="0">
              <a:buNone/>
            </a:pPr>
            <a:r>
              <a:rPr lang="en-US" sz="850" dirty="0">
                <a:solidFill>
                  <a:schemeClr val="tx2"/>
                </a:solidFill>
              </a:rPr>
              <a:t>Freyr Solutions. Classification of non-notified medical devices and IVDs in India: decoding CDSCO's notices of 3 September 2020 (about 1,866 devices …</a:t>
            </a:r>
            <a:endParaRPr lang="en-US" sz="1400" dirty="0"/>
          </a:p>
        </p:txBody>
      </p:sp>
      <p:sp>
        <p:nvSpPr>
          <p:cNvPr id="11" name="Text 8"/>
          <p:cNvSpPr txBox="1"/>
          <p:nvPr/>
        </p:nvSpPr>
        <p:spPr>
          <a:xfrm>
            <a:off x="548640" y="4690872"/>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6" invalidUrl="" action="" tgtFrame="" tooltip="https://www.business-standard.com/health/cdsco-issues-revised-risk-classification-list-for-cardiovascular-devices-125040201067_1.html" history="1" highlightClick="0" endSnd="0">
                  <a:extLst>
                    <a:ext uri="{A12FA001-AC4F-418D-AE19-62706E023703}">
                      <ahyp:hlinkClr xmlns:ahyp="http://schemas.microsoft.com/office/drawing/2018/hyperlinkcolor" val="tx"/>
                    </a:ext>
                  </a:extLst>
                </a:hlinkClick>
              </a:rPr>
              <a:t>Business Standard, revised cardiovascular classification list (Apr 2025)</a:t>
            </a:r>
            <a:endParaRPr lang="en-US" sz="1400" dirty="0"/>
          </a:p>
          <a:p>
            <a:pPr indent="0" marL="0">
              <a:buNone/>
            </a:pPr>
            <a:r>
              <a:rPr lang="en-US" sz="850" dirty="0">
                <a:solidFill>
                  <a:schemeClr val="tx2"/>
                </a:solidFill>
              </a:rPr>
              <a:t>Business Standard. CDSCO issues revised risk classification list for cardiovascular devices; 2 April 2025.</a:t>
            </a:r>
            <a:endParaRPr lang="en-US" sz="1400" dirty="0"/>
          </a:p>
        </p:txBody>
      </p:sp>
      <p:sp>
        <p:nvSpPr>
          <p:cNvPr id="12" name="Text 9"/>
          <p:cNvSpPr txBox="1"/>
          <p:nvPr/>
        </p:nvSpPr>
        <p:spPr>
          <a:xfrm>
            <a:off x="4322978"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7" invalidUrl="" action="" tgtFrame="" tooltip="https://corpbiz.io/learning/cdsco-medical-device-registration-for-paediatrics-and-neonatology/" history="1" highlightClick="0" endSnd="0">
                  <a:extLst>
                    <a:ext uri="{A12FA001-AC4F-418D-AE19-62706E023703}">
                      <ahyp:hlinkClr xmlns:ahyp="http://schemas.microsoft.com/office/drawing/2018/hyperlinkcolor" val="tx"/>
                    </a:ext>
                  </a:extLst>
                </a:hlinkClick>
              </a:rPr>
              <a:t>Corpbiz, paediatric and neonatology classification list (23 Aug 2021)</a:t>
            </a:r>
            <a:endParaRPr lang="en-US" sz="1400" dirty="0"/>
          </a:p>
          <a:p>
            <a:pPr indent="0" marL="0">
              <a:buNone/>
            </a:pPr>
            <a:r>
              <a:rPr lang="en-US" sz="850" dirty="0">
                <a:solidFill>
                  <a:schemeClr val="tx2"/>
                </a:solidFill>
              </a:rPr>
              <a:t>Corpbiz. CDSCO medical device registration for paediatrics and neonatology: category classification list issued by the DCGI on 23 August 2021.</a:t>
            </a:r>
            <a:endParaRPr lang="en-US" sz="1400" dirty="0"/>
          </a:p>
        </p:txBody>
      </p:sp>
      <p:sp>
        <p:nvSpPr>
          <p:cNvPr id="13" name="Text 10"/>
          <p:cNvSpPr txBox="1"/>
          <p:nvPr/>
        </p:nvSpPr>
        <p:spPr>
          <a:xfrm>
            <a:off x="4322978"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8" invalidUrl="" action="" tgtFrame="" tooltip="https://www.cdsco.gov.in/opencms/export/sites/CDSCO_WEB/Pdf-documents/medical-device/ChecklisFormMD-22MD.pdf" history="1" highlightClick="0" endSnd="0">
                  <a:extLst>
                    <a:ext uri="{A12FA001-AC4F-418D-AE19-62706E023703}">
                      <ahyp:hlinkClr xmlns:ahyp="http://schemas.microsoft.com/office/drawing/2018/hyperlinkcolor" val="tx"/>
                    </a:ext>
                  </a:extLst>
                </a:hlinkClick>
              </a:rPr>
              <a:t>CDSCO checklist for Form MD-22</a:t>
            </a:r>
            <a:endParaRPr lang="en-US" sz="1400" dirty="0"/>
          </a:p>
          <a:p>
            <a:pPr indent="0" marL="0">
              <a:buNone/>
            </a:pPr>
            <a:r>
              <a:rPr lang="en-US" sz="850" dirty="0">
                <a:solidFill>
                  <a:schemeClr val="tx2"/>
                </a:solidFill>
              </a:rPr>
              <a:t>CDSCO. Checklist for Form MD-22 (clinical investigation): Seventh Schedule documents including the clinical investigation plan, investigator's …</a:t>
            </a:r>
            <a:endParaRPr lang="en-US" sz="1400" dirty="0"/>
          </a:p>
        </p:txBody>
      </p:sp>
      <p:sp>
        <p:nvSpPr>
          <p:cNvPr id="14" name="Text 11"/>
          <p:cNvSpPr txBox="1"/>
          <p:nvPr/>
        </p:nvSpPr>
        <p:spPr>
          <a:xfrm>
            <a:off x="4322978"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9" invalidUrl="" action="" tgtFrame="" tooltip="https://www.raps.org/resource/asia-pacific-roundup-india-releases-a-trio-of-ivd.html" history="1" highlightClick="0" endSnd="0">
                  <a:extLst>
                    <a:ext uri="{A12FA001-AC4F-418D-AE19-62706E023703}">
                      <ahyp:hlinkClr xmlns:ahyp="http://schemas.microsoft.com/office/drawing/2018/hyperlinkcolor" val="tx"/>
                    </a:ext>
                  </a:extLst>
                </a:hlinkClick>
              </a:rPr>
              <a:t>RAPS, CDSCO trio of draft IVD guidances (July 2022)</a:t>
            </a:r>
            <a:endParaRPr lang="en-US" sz="1400" dirty="0"/>
          </a:p>
          <a:p>
            <a:pPr indent="0" marL="0">
              <a:buNone/>
            </a:pPr>
            <a:r>
              <a:rPr lang="en-US" sz="850" dirty="0">
                <a:solidFill>
                  <a:schemeClr val="tx2"/>
                </a:solidFill>
              </a:rPr>
              <a:t>RAPS. Asia-Pacific roundup: India releases a trio of IVD guidances, including Guidance on Post-Market Surveillance of IVD Medical Devices …</a:t>
            </a:r>
            <a:endParaRPr lang="en-US" sz="1400" dirty="0"/>
          </a:p>
        </p:txBody>
      </p:sp>
      <p:sp>
        <p:nvSpPr>
          <p:cNvPr id="15" name="Text 12"/>
          <p:cNvSpPr txBox="1"/>
          <p:nvPr/>
        </p:nvSpPr>
        <p:spPr>
          <a:xfrm>
            <a:off x="4322978"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0" invalidUrl="" action="" tgtFrame="" tooltip="https://www.ipc.gov.in/images/Inviting_stakeholders_comments_for_Invitro_Diagnostic_Medical_Device_adverse_event_reporting_form.pdf" history="1" highlightClick="0" endSnd="0">
                  <a:extLst>
                    <a:ext uri="{A12FA001-AC4F-418D-AE19-62706E023703}">
                      <ahyp:hlinkClr xmlns:ahyp="http://schemas.microsoft.com/office/drawing/2018/hyperlinkcolor" val="tx"/>
                    </a:ext>
                  </a:extLst>
                </a:hlinkClick>
              </a:rPr>
              <a:t>IPC, draft IVD medical device adverse event reporting form (Feb 2025)</a:t>
            </a:r>
            <a:endParaRPr lang="en-US" sz="1400" dirty="0"/>
          </a:p>
          <a:p>
            <a:pPr indent="0" marL="0">
              <a:buNone/>
            </a:pPr>
            <a:r>
              <a:rPr lang="en-US" sz="850" dirty="0">
                <a:solidFill>
                  <a:schemeClr val="tx2"/>
                </a:solidFill>
              </a:rPr>
              <a:t>Indian Pharmacopoeia Commission. Inviting stakeholder comments on the in vitro diagnostic medical device adverse event reporting form; 17 February …</a:t>
            </a:r>
            <a:endParaRPr lang="en-US" sz="1400" dirty="0"/>
          </a:p>
        </p:txBody>
      </p:sp>
      <p:sp>
        <p:nvSpPr>
          <p:cNvPr id="16" name="Text 13"/>
          <p:cNvSpPr txBox="1"/>
          <p:nvPr/>
        </p:nvSpPr>
        <p:spPr>
          <a:xfrm>
            <a:off x="4322978"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1" invalidUrl="" action="" tgtFrame="" tooltip="https://cdsco.gov.in/opencms/resources/UploadCDSCOWeb/2018/UploadGazette_NotificationsFiles/2237.pdf" history="1" highlightClick="0" endSnd="0">
                  <a:extLst>
                    <a:ext uri="{A12FA001-AC4F-418D-AE19-62706E023703}">
                      <ahyp:hlinkClr xmlns:ahyp="http://schemas.microsoft.com/office/drawing/2018/hyperlinkcolor" val="tx"/>
                    </a:ext>
                  </a:extLst>
                </a:hlinkClick>
              </a:rPr>
              <a:t>CDSCO gazette: Central Medical Device Testing Laboratories</a:t>
            </a:r>
            <a:endParaRPr lang="en-US" sz="1400" dirty="0"/>
          </a:p>
          <a:p>
            <a:pPr indent="0" marL="0">
              <a:buNone/>
            </a:pPr>
            <a:r>
              <a:rPr lang="en-US" sz="850" dirty="0">
                <a:solidFill>
                  <a:schemeClr val="tx2"/>
                </a:solidFill>
              </a:rPr>
              <a:t>Ministry of Health and Family Welfare. Gazette notification designating Central Medical Device Testing Laboratories under Rule 19 of MDR-2017: NIB …</a:t>
            </a:r>
            <a:endParaRPr lang="en-US" sz="1400" dirty="0"/>
          </a:p>
        </p:txBody>
      </p:sp>
      <p:sp>
        <p:nvSpPr>
          <p:cNvPr id="17" name="Text 14"/>
          <p:cNvSpPr txBox="1"/>
          <p:nvPr/>
        </p:nvSpPr>
        <p:spPr>
          <a:xfrm>
            <a:off x="4322978" y="482346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2" invalidUrl="" action="" tgtFrame="" tooltip="https://www.legitquest.com/act/medical-devices-amendment-rules-2020/9813" history="1" highlightClick="0" endSnd="0">
                  <a:extLst>
                    <a:ext uri="{A12FA001-AC4F-418D-AE19-62706E023703}">
                      <ahyp:hlinkClr xmlns:ahyp="http://schemas.microsoft.com/office/drawing/2018/hyperlinkcolor" val="tx"/>
                    </a:ext>
                  </a:extLst>
                </a:hlinkClick>
              </a:rPr>
              <a:t>LegitQuest, Medical Devices (Amendment) Rules 2020 (G.S.R. 102(E))</a:t>
            </a:r>
            <a:endParaRPr lang="en-US" sz="1400" dirty="0"/>
          </a:p>
          <a:p>
            <a:pPr indent="0" marL="0">
              <a:buNone/>
            </a:pPr>
            <a:r>
              <a:rPr lang="en-US" sz="850" dirty="0">
                <a:solidFill>
                  <a:schemeClr val="tx2"/>
                </a:solidFill>
              </a:rPr>
              <a:t>LegitQuest. Medical Devices (Amendment) Rules, 2020, G.S.R. 102(E), 11 February 2020: Chapter IIIA registration of newly notified devices (voluntary …</a:t>
            </a:r>
            <a:endParaRPr lang="en-US" sz="1400" dirty="0"/>
          </a:p>
        </p:txBody>
      </p:sp>
      <p:sp>
        <p:nvSpPr>
          <p:cNvPr id="18" name="Text 15"/>
          <p:cNvSpPr txBox="1"/>
          <p:nvPr/>
        </p:nvSpPr>
        <p:spPr>
          <a:xfrm>
            <a:off x="8097317"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3" invalidUrl="" action="" tgtFrame="" tooltip="https://cdsco.gov.in/opencms/export/sites/CDSCO_WEB/Pdf-documents/mdgsr.pdf" history="1" highlightClick="0" endSnd="0">
                  <a:extLst>
                    <a:ext uri="{A12FA001-AC4F-418D-AE19-62706E023703}">
                      <ahyp:hlinkClr xmlns:ahyp="http://schemas.microsoft.com/office/drawing/2018/hyperlinkcolor" val="tx"/>
                    </a:ext>
                  </a:extLst>
                </a:hlinkClick>
              </a:rPr>
              <a:t>CDSCO notice on S.O. 648(E) and G.S.R. 102(E)</a:t>
            </a:r>
            <a:endParaRPr lang="en-US" sz="1400" dirty="0"/>
          </a:p>
          <a:p>
            <a:pPr indent="0" marL="0">
              <a:buNone/>
            </a:pPr>
            <a:r>
              <a:rPr lang="en-US" sz="850" dirty="0">
                <a:solidFill>
                  <a:schemeClr val="tx2"/>
                </a:solidFill>
              </a:rPr>
              <a:t>CDSCO. Notice on S.O. 648(E) of 11 February 2020 (all medical devices notified as drugs with effect from 1 April 2020) and G.S.R. 102(E).</a:t>
            </a:r>
            <a:endParaRPr lang="en-US" sz="1400" dirty="0"/>
          </a:p>
        </p:txBody>
      </p:sp>
      <p:sp>
        <p:nvSpPr>
          <p:cNvPr id="19" name="Text 16"/>
          <p:cNvSpPr txBox="1"/>
          <p:nvPr/>
        </p:nvSpPr>
        <p:spPr>
          <a:xfrm>
            <a:off x="8097317"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4" invalidUrl="" action="" tgtFrame="" tooltip="https://cliniexperts.com/regulatory-update/license-applications-for-class-c-and-d-medical-devices-deemed-valid-for-upto-6-months/" history="1" highlightClick="0" endSnd="0">
                  <a:extLst>
                    <a:ext uri="{A12FA001-AC4F-418D-AE19-62706E023703}">
                      <ahyp:hlinkClr xmlns:ahyp="http://schemas.microsoft.com/office/drawing/2018/hyperlinkcolor" val="tx"/>
                    </a:ext>
                  </a:extLst>
                </a:hlinkClick>
              </a:rPr>
              <a:t>CliniExperts, CDSCO order of 12 Oct 2023 on Class C and D applications</a:t>
            </a:r>
            <a:endParaRPr lang="en-US" sz="1400" dirty="0"/>
          </a:p>
          <a:p>
            <a:pPr indent="0" marL="0">
              <a:buNone/>
            </a:pPr>
            <a:r>
              <a:rPr lang="en-US" sz="850" dirty="0">
                <a:solidFill>
                  <a:schemeClr val="tx2"/>
                </a:solidFill>
              </a:rPr>
              <a:t>CliniExperts. Licence applications for Class C and D medical devices deemed valid for up to 6 months (CDSCO order of 12 October 2023; no general …</a:t>
            </a:r>
            <a:endParaRPr lang="en-US" sz="1400" dirty="0"/>
          </a:p>
        </p:txBody>
      </p:sp>
      <p:sp>
        <p:nvSpPr>
          <p:cNvPr id="20" name="Text 17"/>
          <p:cNvSpPr txBox="1"/>
          <p:nvPr/>
        </p:nvSpPr>
        <p:spPr>
          <a:xfrm>
            <a:off x="8097317"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5" invalidUrl="" action="" tgtFrame="" tooltip="https://www.cdsco.gov.in/opencms/resources/UploadCDSCOWeb/2018/UploadPublic_NoticesFiles/fmd.pdf" history="1" highlightClick="0" endSnd="0">
                  <a:extLst>
                    <a:ext uri="{A12FA001-AC4F-418D-AE19-62706E023703}">
                      <ahyp:hlinkClr xmlns:ahyp="http://schemas.microsoft.com/office/drawing/2018/hyperlinkcolor" val="tx"/>
                    </a:ext>
                  </a:extLst>
                </a:hlinkClick>
              </a:rPr>
              <a:t>CDSCO public notice on the Medical Device online portal</a:t>
            </a:r>
            <a:endParaRPr lang="en-US" sz="1400" dirty="0"/>
          </a:p>
          <a:p>
            <a:pPr indent="0" marL="0">
              <a:buNone/>
            </a:pPr>
            <a:r>
              <a:rPr lang="en-US" sz="850" dirty="0">
                <a:solidFill>
                  <a:schemeClr val="tx2"/>
                </a:solidFill>
              </a:rPr>
              <a:t>CDSCO. Public notice on the Medical Device online system (cdscomdonline.gov.in) for MDR-2017 applications: licences, registrations, test licences and …</a:t>
            </a:r>
            <a:endParaRPr lang="en-US" sz="1400" dirty="0"/>
          </a:p>
        </p:txBody>
      </p:sp>
      <p:sp>
        <p:nvSpPr>
          <p:cNvPr id="21" name="Text 18"/>
          <p:cNvSpPr txBox="1"/>
          <p:nvPr/>
        </p:nvSpPr>
        <p:spPr>
          <a:xfrm>
            <a:off x="8097317"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6" invalidUrl="" action="" tgtFrame="" tooltip="https://www.bis.gov.in/bis-publishes-is-23485-medical-devices-quality-management-system-requirements-and-essential-principles-of-safety-performance-for-medical-devices" history="1" highlightClick="0" endSnd="0">
                  <a:extLst>
                    <a:ext uri="{A12FA001-AC4F-418D-AE19-62706E023703}">
                      <ahyp:hlinkClr xmlns:ahyp="http://schemas.microsoft.com/office/drawing/2018/hyperlinkcolor" val="tx"/>
                    </a:ext>
                  </a:extLst>
                </a:hlinkClick>
              </a:rPr>
              <a:t>BIS, IS 23485 (QMS and Essential Principles)</a:t>
            </a:r>
            <a:endParaRPr lang="en-US" sz="1400" dirty="0"/>
          </a:p>
          <a:p>
            <a:pPr indent="0" marL="0">
              <a:buNone/>
            </a:pPr>
            <a:r>
              <a:rPr lang="en-US" sz="850" dirty="0">
                <a:solidFill>
                  <a:schemeClr val="tx2"/>
                </a:solidFill>
              </a:rPr>
              <a:t>Bureau of Indian Standards. BIS publishes IS 23485: Medical devices, quality management system requirements and essential principles of safety and …</a:t>
            </a:r>
            <a:endParaRPr lang="en-US" sz="1400" dirty="0"/>
          </a:p>
        </p:txBody>
      </p:sp>
      <p:sp>
        <p:nvSpPr>
          <p:cNvPr id="22" name="Text 19"/>
          <p:cNvSpPr txBox="1"/>
          <p:nvPr/>
        </p:nvSpPr>
        <p:spPr>
          <a:xfrm>
            <a:off x="8097317"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7" invalidUrl="" action="" tgtFrame="" tooltip="https://www.cdsco.gov.in/opencms/resources/UploadCDSCOWeb/2018/UploadPublic_NoticesFiles/notified_body_notice_70.pdf" history="1" highlightClick="0" endSnd="0">
                  <a:extLst>
                    <a:ext uri="{A12FA001-AC4F-418D-AE19-62706E023703}">
                      <ahyp:hlinkClr xmlns:ahyp="http://schemas.microsoft.com/office/drawing/2018/hyperlinkcolor" val="tx"/>
                    </a:ext>
                  </a:extLst>
                </a:hlinkClick>
              </a:rPr>
              <a:t>CDSCO notice on registered notified bodies (4 May 2018)</a:t>
            </a:r>
            <a:endParaRPr lang="en-US" sz="1400" dirty="0"/>
          </a:p>
          <a:p>
            <a:pPr indent="0" marL="0">
              <a:buNone/>
            </a:pPr>
            <a:r>
              <a:rPr lang="en-US" sz="850" dirty="0">
                <a:solidFill>
                  <a:schemeClr val="tx2"/>
                </a:solidFill>
              </a:rPr>
              <a:t>CDSCO. Public notice on notified bodies registered under Rule 13 of MDR-2017 (first registrations: Intertek India and TUV Rheinland India; later six …</a:t>
            </a:r>
            <a:endParaRPr lang="en-US" sz="1400" dirty="0"/>
          </a:p>
        </p:txBody>
      </p:sp>
      <p:sp>
        <p:nvSpPr>
          <p:cNvPr id="23" name="Text 20"/>
          <p:cNvSpPr txBox="1"/>
          <p:nvPr/>
        </p:nvSpPr>
        <p:spPr>
          <a:xfrm>
            <a:off x="8097317" y="482346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8" invalidUrl="" action="" tgtFrame="" tooltip="https://conventuslaw.com/report/india-cdsco-to-regulate-all-medical-devices-in/" history="1" highlightClick="0" endSnd="0">
                  <a:extLst>
                    <a:ext uri="{A12FA001-AC4F-418D-AE19-62706E023703}">
                      <ahyp:hlinkClr xmlns:ahyp="http://schemas.microsoft.com/office/drawing/2018/hyperlinkcolor" val="tx"/>
                    </a:ext>
                  </a:extLst>
                </a:hlinkClick>
              </a:rPr>
              <a:t>Conventus Law (Mar 2020): all medical devices regulated from 1 Apr 2020</a:t>
            </a:r>
            <a:endParaRPr lang="en-US" sz="1400" dirty="0"/>
          </a:p>
          <a:p>
            <a:pPr indent="0" marL="0">
              <a:buNone/>
            </a:pPr>
            <a:r>
              <a:rPr lang="en-US" sz="850" dirty="0">
                <a:solidFill>
                  <a:schemeClr val="tx2"/>
                </a:solidFill>
              </a:rPr>
              <a:t>Conventus Law. India: CDSCO to regulate all medical devices; 27 March 2020 (MoHFW notifications of 11 February 2020 bringing all medical devices …</a:t>
            </a:r>
            <a:endParaRPr lang="en-US" sz="14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lIns="0" tIns="0" rIns="0" bIns="0" rtlCol="0" anchor="t"/>
          <a:lstStyle/>
          <a:p>
            <a:pPr algn="l" indent="0" marL="0">
              <a:buNone/>
            </a:pPr>
            <a:r>
              <a:rPr lang="en-US" sz="2600" b="1" dirty="0">
                <a:solidFill>
                  <a:schemeClr val="tx1"/>
                </a:solidFill>
              </a:rPr>
              <a:t>India: regulation, guidance, pricing and safety (4/7)</a:t>
            </a: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Checked October 2026. Verify current amendments and extensions before use. Full citations: docs/References.pdf.</a:t>
            </a:r>
            <a:endParaRPr lang="en-US" sz="950" dirty="0"/>
          </a:p>
        </p:txBody>
      </p:sp>
      <p:sp>
        <p:nvSpPr>
          <p:cNvPr id="6" name="Text 3"/>
          <p:cNvSpPr txBox="1"/>
          <p:nvPr/>
        </p:nvSpPr>
        <p:spPr>
          <a:xfrm>
            <a:off x="548640"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 invalidUrl="" action="" tgtFrame="" tooltip="https://lexplosion.in/ministry-of-health-amends-the-medical-devices-rules-2017-prescribes-suspension-and-cancellation-of-licence-for-manufacturer-or-licensee-for-failure-to-comply-with-conditions-of-an-import-license-ef/" history="1" highlightClick="0" endSnd="0">
                  <a:extLst>
                    <a:ext uri="{A12FA001-AC4F-418D-AE19-62706E023703}">
                      <ahyp:hlinkClr xmlns:ahyp="http://schemas.microsoft.com/office/drawing/2018/hyperlinkcolor" val="tx"/>
                    </a:ext>
                  </a:extLst>
                </a:hlinkClick>
              </a:rPr>
              <a:t>Lexplosion, Rule 43A suspension and cancellation (2022)</a:t>
            </a:r>
            <a:endParaRPr lang="en-US" sz="1400" dirty="0"/>
          </a:p>
          <a:p>
            <a:pPr indent="0" marL="0">
              <a:buNone/>
            </a:pPr>
            <a:r>
              <a:rPr lang="en-US" sz="850" dirty="0">
                <a:solidFill>
                  <a:schemeClr val="tx2"/>
                </a:solidFill>
              </a:rPr>
              <a:t>Lexplosion. Ministry of Health amends MDR 2017: Rule 43A prescribes suspension and cancellation of a licence for non-compliance (Third Amendment …</a:t>
            </a:r>
            <a:endParaRPr lang="en-US" sz="1400" dirty="0"/>
          </a:p>
        </p:txBody>
      </p:sp>
      <p:sp>
        <p:nvSpPr>
          <p:cNvPr id="7" name="Text 4"/>
          <p:cNvSpPr txBox="1"/>
          <p:nvPr/>
        </p:nvSpPr>
        <p:spPr>
          <a:xfrm>
            <a:off x="548640"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2" invalidUrl="" action="" tgtFrame="" tooltip="https://bhattandjoshiassociates.com/medical-device-regulation-in-india-a-comprehensive-overview/" history="1" highlightClick="0" endSnd="0">
                  <a:extLst>
                    <a:ext uri="{A12FA001-AC4F-418D-AE19-62706E023703}">
                      <ahyp:hlinkClr xmlns:ahyp="http://schemas.microsoft.com/office/drawing/2018/hyperlinkcolor" val="tx"/>
                    </a:ext>
                  </a:extLst>
                </a:hlinkClick>
              </a:rPr>
              <a:t>Bhatt &amp; Joshi, First Schedule classification overview (2026)</a:t>
            </a:r>
            <a:endParaRPr lang="en-US" sz="1400" dirty="0"/>
          </a:p>
          <a:p>
            <a:pPr indent="0" marL="0">
              <a:buNone/>
            </a:pPr>
            <a:r>
              <a:rPr lang="en-US" sz="850" dirty="0">
                <a:solidFill>
                  <a:schemeClr val="tx2"/>
                </a:solidFill>
              </a:rPr>
              <a:t>Bhatt &amp; Joshi Associates. Medical Device Regulations India 2026: CDSCO, MDR 2017, Compliance Guide (paraphrase of First Schedule Part I …</a:t>
            </a:r>
            <a:endParaRPr lang="en-US" sz="1400" dirty="0"/>
          </a:p>
        </p:txBody>
      </p:sp>
      <p:sp>
        <p:nvSpPr>
          <p:cNvPr id="8" name="Text 5"/>
          <p:cNvSpPr txBox="1"/>
          <p:nvPr/>
        </p:nvSpPr>
        <p:spPr>
          <a:xfrm>
            <a:off x="548640"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3" invalidUrl="" action="" tgtFrame="" tooltip="https://cdsco.gov.in/opencms/opencms/en/About-us/Introduction/" history="1" highlightClick="0" endSnd="0">
                  <a:extLst>
                    <a:ext uri="{A12FA001-AC4F-418D-AE19-62706E023703}">
                      <ahyp:hlinkClr xmlns:ahyp="http://schemas.microsoft.com/office/drawing/2018/hyperlinkcolor" val="tx"/>
                    </a:ext>
                  </a:extLst>
                </a:hlinkClick>
              </a:rPr>
              <a:t>CDSCO, Introduction (organisation)</a:t>
            </a:r>
            <a:endParaRPr lang="en-US" sz="1400" dirty="0"/>
          </a:p>
          <a:p>
            <a:pPr indent="0" marL="0">
              <a:buNone/>
            </a:pPr>
            <a:r>
              <a:rPr lang="en-US" sz="850" dirty="0">
                <a:solidFill>
                  <a:schemeClr val="tx2"/>
                </a:solidFill>
              </a:rPr>
              <a:t>Central Drugs Standard Control Organization. Introduction: headquarters under the DCGI, zonal, sub-zonal and port offices, laboratories.</a:t>
            </a:r>
            <a:endParaRPr lang="en-US" sz="1400" dirty="0"/>
          </a:p>
        </p:txBody>
      </p:sp>
      <p:sp>
        <p:nvSpPr>
          <p:cNvPr id="9" name="Text 6"/>
          <p:cNvSpPr txBox="1"/>
          <p:nvPr/>
        </p:nvSpPr>
        <p:spPr>
          <a:xfrm>
            <a:off x="548640" y="3442716"/>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4" invalidUrl="" action="" tgtFrame="" tooltip="https://www.iitm.ac.in/sites/default/files/Others/medicaldevicesrules2017.pdf" history="1" highlightClick="0" endSnd="0">
                  <a:extLst>
                    <a:ext uri="{A12FA001-AC4F-418D-AE19-62706E023703}">
                      <ahyp:hlinkClr xmlns:ahyp="http://schemas.microsoft.com/office/drawing/2018/hyperlinkcolor" val="tx"/>
                    </a:ext>
                  </a:extLst>
                </a:hlinkClick>
              </a:rPr>
              <a:t>MDR-2017 full text (IIT Madras mirror)</a:t>
            </a:r>
            <a:endParaRPr lang="en-US" sz="1400" dirty="0"/>
          </a:p>
          <a:p>
            <a:pPr indent="0" marL="0">
              <a:buNone/>
            </a:pPr>
            <a:r>
              <a:rPr lang="en-US" sz="850" dirty="0">
                <a:solidFill>
                  <a:schemeClr val="tx2"/>
                </a:solidFill>
              </a:rPr>
              <a:t>Medical Devices Rules, 2017: full text (IIT Madras mirror PDF), for checking rule numbers.</a:t>
            </a:r>
            <a:endParaRPr lang="en-US" sz="1400" dirty="0"/>
          </a:p>
        </p:txBody>
      </p:sp>
      <p:sp>
        <p:nvSpPr>
          <p:cNvPr id="10" name="Text 7"/>
          <p:cNvSpPr txBox="1"/>
          <p:nvPr/>
        </p:nvSpPr>
        <p:spPr>
          <a:xfrm>
            <a:off x="548640" y="40005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5" invalidUrl="" action="" tgtFrame="" tooltip="https://corpbiz.io/learning/process-of-application-for-clinical-investigation-under-mdr-2017/" history="1" highlightClick="0" endSnd="0">
                  <a:extLst>
                    <a:ext uri="{A12FA001-AC4F-418D-AE19-62706E023703}">
                      <ahyp:hlinkClr xmlns:ahyp="http://schemas.microsoft.com/office/drawing/2018/hyperlinkcolor" val="tx"/>
                    </a:ext>
                  </a:extLst>
                </a:hlinkClick>
              </a:rPr>
              <a:t>Corpbiz, clinical investigation application process</a:t>
            </a:r>
            <a:endParaRPr lang="en-US" sz="1400" dirty="0"/>
          </a:p>
          <a:p>
            <a:pPr indent="0" marL="0">
              <a:buNone/>
            </a:pPr>
            <a:r>
              <a:rPr lang="en-US" sz="850" dirty="0">
                <a:solidFill>
                  <a:schemeClr val="tx2"/>
                </a:solidFill>
              </a:rPr>
              <a:t>Corpbiz. Process of application for clinical investigation under MDR 2017 (pilot and pivotal definitions; Form MD-22 to the CLA).</a:t>
            </a:r>
            <a:endParaRPr lang="en-US" sz="1400" dirty="0"/>
          </a:p>
        </p:txBody>
      </p:sp>
      <p:sp>
        <p:nvSpPr>
          <p:cNvPr id="11" name="Text 8"/>
          <p:cNvSpPr txBox="1"/>
          <p:nvPr/>
        </p:nvSpPr>
        <p:spPr>
          <a:xfrm>
            <a:off x="548640" y="4690872"/>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6" invalidUrl="" action="" tgtFrame="" tooltip="https://www.legalraasta.com/blog/role-md-22-md-23-medical-devices-market/" history="1" highlightClick="0" endSnd="0">
                  <a:extLst>
                    <a:ext uri="{A12FA001-AC4F-418D-AE19-62706E023703}">
                      <ahyp:hlinkClr xmlns:ahyp="http://schemas.microsoft.com/office/drawing/2018/hyperlinkcolor" val="tx"/>
                    </a:ext>
                  </a:extLst>
                </a:hlinkClick>
              </a:rPr>
              <a:t>LegalRaasta, MD-22 and MD-23</a:t>
            </a:r>
            <a:endParaRPr lang="en-US" sz="1400" dirty="0"/>
          </a:p>
          <a:p>
            <a:pPr indent="0" marL="0">
              <a:buNone/>
            </a:pPr>
            <a:r>
              <a:rPr lang="en-US" sz="850" dirty="0">
                <a:solidFill>
                  <a:schemeClr val="tx2"/>
                </a:solidFill>
              </a:rPr>
              <a:t>LegalRaasta. From lab to clinic: the role of MD-22 and MD-23 (test licence MD-13 valid for 3 years from issue).</a:t>
            </a:r>
            <a:endParaRPr lang="en-US" sz="1400" dirty="0"/>
          </a:p>
        </p:txBody>
      </p:sp>
      <p:sp>
        <p:nvSpPr>
          <p:cNvPr id="12" name="Text 9"/>
          <p:cNvSpPr txBox="1"/>
          <p:nvPr/>
        </p:nvSpPr>
        <p:spPr>
          <a:xfrm>
            <a:off x="4322978"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7" invalidUrl="" action="" tgtFrame="" tooltip="https://www.corpseed.com/knowledge-centre/cdsco-md-5-license-for-class-a-and-b-medical-devices-manufacturing" history="1" highlightClick="0" endSnd="0">
                  <a:extLst>
                    <a:ext uri="{A12FA001-AC4F-418D-AE19-62706E023703}">
                      <ahyp:hlinkClr xmlns:ahyp="http://schemas.microsoft.com/office/drawing/2018/hyperlinkcolor" val="tx"/>
                    </a:ext>
                  </a:extLst>
                </a:hlinkClick>
              </a:rPr>
              <a:t>Corpseed, MD-5 licence for Class A/B</a:t>
            </a:r>
            <a:endParaRPr lang="en-US" sz="1400" dirty="0"/>
          </a:p>
          <a:p>
            <a:pPr indent="0" marL="0">
              <a:buNone/>
            </a:pPr>
            <a:r>
              <a:rPr lang="en-US" sz="850" dirty="0">
                <a:solidFill>
                  <a:schemeClr val="tx2"/>
                </a:solidFill>
              </a:rPr>
              <a:t>Corpseed. CDSCO MD-5 licence for Class A and B medical device manufacturing (fees; 4–5 month consultancy estimate including the notified-body audit).</a:t>
            </a:r>
            <a:endParaRPr lang="en-US" sz="1400" dirty="0"/>
          </a:p>
        </p:txBody>
      </p:sp>
      <p:sp>
        <p:nvSpPr>
          <p:cNvPr id="13" name="Text 10"/>
          <p:cNvSpPr txBox="1"/>
          <p:nvPr/>
        </p:nvSpPr>
        <p:spPr>
          <a:xfrm>
            <a:off x="4322978" y="2061972"/>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8" invalidUrl="" action="" tgtFrame="" tooltip="https://www.incorpx.io/iso-13485-certification" history="1" highlightClick="0" endSnd="0">
                  <a:extLst>
                    <a:ext uri="{A12FA001-AC4F-418D-AE19-62706E023703}">
                      <ahyp:hlinkClr xmlns:ahyp="http://schemas.microsoft.com/office/drawing/2018/hyperlinkcolor" val="tx"/>
                    </a:ext>
                  </a:extLst>
                </a:hlinkClick>
              </a:rPr>
              <a:t>IncorpX, ISO 13485 certification cost</a:t>
            </a:r>
            <a:endParaRPr lang="en-US" sz="1400" dirty="0"/>
          </a:p>
          <a:p>
            <a:pPr indent="0" marL="0">
              <a:buNone/>
            </a:pPr>
            <a:r>
              <a:rPr lang="en-US" sz="850" dirty="0">
                <a:solidFill>
                  <a:schemeClr val="tx2"/>
                </a:solidFill>
              </a:rPr>
              <a:t>IncorpX. ISO 13485 certification: about Rs 3–8 lakh and 3–6 months for an Indian device start-up (consultancy estimate).</a:t>
            </a:r>
            <a:endParaRPr lang="en-US" sz="1400" dirty="0"/>
          </a:p>
        </p:txBody>
      </p:sp>
      <p:sp>
        <p:nvSpPr>
          <p:cNvPr id="14" name="Text 11"/>
          <p:cNvSpPr txBox="1"/>
          <p:nvPr/>
        </p:nvSpPr>
        <p:spPr>
          <a:xfrm>
            <a:off x="4322978" y="261975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9" invalidUrl="" action="" tgtFrame="" tooltip="https://cliniexperts.com/iso-13485-for-indian-medical-device-manufacturers-what-it-means-for-cdsco-compliance/" history="1" highlightClick="0" endSnd="0">
                  <a:extLst>
                    <a:ext uri="{A12FA001-AC4F-418D-AE19-62706E023703}">
                      <ahyp:hlinkClr xmlns:ahyp="http://schemas.microsoft.com/office/drawing/2018/hyperlinkcolor" val="tx"/>
                    </a:ext>
                  </a:extLst>
                </a:hlinkClick>
              </a:rPr>
              <a:t>CliniExperts, ISO 13485 and CDSCO compliance</a:t>
            </a:r>
            <a:endParaRPr lang="en-US" sz="1400" dirty="0"/>
          </a:p>
          <a:p>
            <a:pPr indent="0" marL="0">
              <a:buNone/>
            </a:pPr>
            <a:r>
              <a:rPr lang="en-US" sz="850" dirty="0">
                <a:solidFill>
                  <a:schemeClr val="tx2"/>
                </a:solidFill>
              </a:rPr>
              <a:t>CliniExperts. ISO 13485 for Indian medical device manufacturers: Fifth Schedule QMS; a certificate is not a statutory precondition but audits expect …</a:t>
            </a:r>
            <a:endParaRPr lang="en-US" sz="1400" dirty="0"/>
          </a:p>
        </p:txBody>
      </p:sp>
      <p:sp>
        <p:nvSpPr>
          <p:cNvPr id="15" name="Text 12"/>
          <p:cNvSpPr txBox="1"/>
          <p:nvPr/>
        </p:nvSpPr>
        <p:spPr>
          <a:xfrm>
            <a:off x="4322978" y="331012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0" invalidUrl="" action="" tgtFrame="" tooltip="https://vidhilegalpolicy.in/wp-content/uploads/2020/07/180323_CommentsonClinicalTrialsRules.pdf" history="1" highlightClick="0" endSnd="0">
                  <a:extLst>
                    <a:ext uri="{A12FA001-AC4F-418D-AE19-62706E023703}">
                      <ahyp:hlinkClr xmlns:ahyp="http://schemas.microsoft.com/office/drawing/2018/hyperlinkcolor" val="tx"/>
                    </a:ext>
                  </a:extLst>
                </a:hlinkClick>
              </a:rPr>
              <a:t>Vidhi, comments on the clinical trials rules (2018)</a:t>
            </a:r>
            <a:endParaRPr lang="en-US" sz="1400" dirty="0"/>
          </a:p>
          <a:p>
            <a:pPr indent="0" marL="0">
              <a:buNone/>
            </a:pPr>
            <a:r>
              <a:rPr lang="en-US" sz="850" dirty="0">
                <a:solidFill>
                  <a:schemeClr val="tx2"/>
                </a:solidFill>
              </a:rPr>
              <a:t>Vidhi Centre for Legal Policy. Comments on the draft clinical trials rules (the 'academic clinical trial' concept, now in NDCT Rules 2019); 23 March …</a:t>
            </a:r>
            <a:endParaRPr lang="en-US" sz="1400" dirty="0"/>
          </a:p>
        </p:txBody>
      </p:sp>
      <p:sp>
        <p:nvSpPr>
          <p:cNvPr id="16" name="Text 13"/>
          <p:cNvSpPr txBox="1"/>
          <p:nvPr/>
        </p:nvSpPr>
        <p:spPr>
          <a:xfrm>
            <a:off x="4322978" y="4000500"/>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1" invalidUrl="" action="" tgtFrame="" tooltip="https://ipc.gov.in/mandates/materiovigilance-programme-of-india-mvpi/8-category-en/432-launch-of-materiovigilance-programme-of-india-mvpi.html" history="1" highlightClick="0" endSnd="0">
                  <a:extLst>
                    <a:ext uri="{A12FA001-AC4F-418D-AE19-62706E023703}">
                      <ahyp:hlinkClr xmlns:ahyp="http://schemas.microsoft.com/office/drawing/2018/hyperlinkcolor" val="tx"/>
                    </a:ext>
                  </a:extLst>
                </a:hlinkClick>
              </a:rPr>
              <a:t>IPC, launch of MvPI (6 Jul 2015)</a:t>
            </a:r>
            <a:endParaRPr lang="en-US" sz="1400" dirty="0"/>
          </a:p>
          <a:p>
            <a:pPr indent="0" marL="0">
              <a:buNone/>
            </a:pPr>
            <a:r>
              <a:rPr lang="en-US" sz="850" dirty="0">
                <a:solidFill>
                  <a:schemeClr val="tx2"/>
                </a:solidFill>
              </a:rPr>
              <a:t>Indian Pharmacopoeia Commission. Launch of the Materiovigilance Programme of India (MvPI) at IPC Ghaziabad, 6 July 2015.</a:t>
            </a:r>
            <a:endParaRPr lang="en-US" sz="1400" dirty="0"/>
          </a:p>
        </p:txBody>
      </p:sp>
      <p:sp>
        <p:nvSpPr>
          <p:cNvPr id="17" name="Text 14"/>
          <p:cNvSpPr txBox="1"/>
          <p:nvPr/>
        </p:nvSpPr>
        <p:spPr>
          <a:xfrm>
            <a:off x="4322978" y="455828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2" invalidUrl="" action="" tgtFrame="" tooltip="https://www.ncbi.nlm.nih.gov/pmc/articles/PMC7047028/" history="1" highlightClick="0" endSnd="0">
                  <a:extLst>
                    <a:ext uri="{A12FA001-AC4F-418D-AE19-62706E023703}">
                      <ahyp:hlinkClr xmlns:ahyp="http://schemas.microsoft.com/office/drawing/2018/hyperlinkcolor" val="tx"/>
                    </a:ext>
                  </a:extLst>
                </a:hlinkClick>
              </a:rPr>
              <a:t>Bull World Health Organ, device adverse-event reporting in India (2020)</a:t>
            </a:r>
            <a:endParaRPr lang="en-US" sz="1400" dirty="0"/>
          </a:p>
          <a:p>
            <a:pPr indent="0" marL="0">
              <a:buNone/>
            </a:pPr>
            <a:r>
              <a:rPr lang="en-US" sz="850" dirty="0">
                <a:solidFill>
                  <a:schemeClr val="tx2"/>
                </a:solidFill>
              </a:rPr>
              <a:t>Implementation of adverse event reporting for medical devices, India. Bulletin of the World Health Organization (PMC7047028): 1,931 reports July …</a:t>
            </a:r>
            <a:endParaRPr lang="en-US" sz="1400" dirty="0"/>
          </a:p>
        </p:txBody>
      </p:sp>
      <p:sp>
        <p:nvSpPr>
          <p:cNvPr id="18" name="Text 15"/>
          <p:cNvSpPr txBox="1"/>
          <p:nvPr/>
        </p:nvSpPr>
        <p:spPr>
          <a:xfrm>
            <a:off x="8097317"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3" invalidUrl="" action="" tgtFrame="" tooltip="https://link.springer.com/article/10.1007/s44174-026-00666-5" history="1" highlightClick="0" endSnd="0">
                  <a:extLst>
                    <a:ext uri="{A12FA001-AC4F-418D-AE19-62706E023703}">
                      <ahyp:hlinkClr xmlns:ahyp="http://schemas.microsoft.com/office/drawing/2018/hyperlinkcolor" val="tx"/>
                    </a:ext>
                  </a:extLst>
                </a:hlinkClick>
              </a:rPr>
              <a:t>Springer 2026, retrospective study of MvPI device reports</a:t>
            </a:r>
            <a:endParaRPr lang="en-US" sz="1400" dirty="0"/>
          </a:p>
          <a:p>
            <a:pPr indent="0" marL="0">
              <a:buNone/>
            </a:pPr>
            <a:r>
              <a:rPr lang="en-US" sz="850" dirty="0">
                <a:solidFill>
                  <a:schemeClr val="tx2"/>
                </a:solidFill>
              </a:rPr>
              <a:t>The Silent Signals of Device Defects: a retrospective study of adverse events in common medical devices in India. Springer; 2026 (35,391 …</a:t>
            </a:r>
            <a:endParaRPr lang="en-US" sz="1400" dirty="0"/>
          </a:p>
        </p:txBody>
      </p:sp>
      <p:sp>
        <p:nvSpPr>
          <p:cNvPr id="19" name="Text 16"/>
          <p:cNvSpPr txBox="1"/>
          <p:nvPr/>
        </p:nvSpPr>
        <p:spPr>
          <a:xfrm>
            <a:off x="8097317"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4" invalidUrl="" action="" tgtFrame="" tooltip="https://pmc.ncbi.nlm.nih.gov/articles/PMC12883217/" history="1" highlightClick="0" endSnd="0">
                  <a:extLst>
                    <a:ext uri="{A12FA001-AC4F-418D-AE19-62706E023703}">
                      <ahyp:hlinkClr xmlns:ahyp="http://schemas.microsoft.com/office/drawing/2018/hyperlinkcolor" val="tx"/>
                    </a:ext>
                  </a:extLst>
                </a:hlinkClick>
              </a:rPr>
              <a:t>PMC 2025, sources of MvPI reports</a:t>
            </a:r>
            <a:endParaRPr lang="en-US" sz="1400" dirty="0"/>
          </a:p>
          <a:p>
            <a:pPr indent="0" marL="0">
              <a:buNone/>
            </a:pPr>
            <a:r>
              <a:rPr lang="en-US" sz="850" dirty="0">
                <a:solidFill>
                  <a:schemeClr val="tx2"/>
                </a:solidFill>
              </a:rPr>
              <a:t>Study of adverse events associated with the use of medical devices reported under MvPI in a tertiary care teaching hospital (PMC12883217): monitoring …</a:t>
            </a:r>
            <a:endParaRPr lang="en-US" sz="1400" dirty="0"/>
          </a:p>
        </p:txBody>
      </p:sp>
      <p:sp>
        <p:nvSpPr>
          <p:cNvPr id="20" name="Text 17"/>
          <p:cNvSpPr txBox="1"/>
          <p:nvPr/>
        </p:nvSpPr>
        <p:spPr>
          <a:xfrm>
            <a:off x="8097317"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5" invalidUrl="" action="" tgtFrame="" tooltip="https://www.pacificbridgemedical.com/publication/india-medical-device-regulations-2025-update/" history="1" highlightClick="0" endSnd="0">
                  <a:extLst>
                    <a:ext uri="{A12FA001-AC4F-418D-AE19-62706E023703}">
                      <ahyp:hlinkClr xmlns:ahyp="http://schemas.microsoft.com/office/drawing/2018/hyperlinkcolor" val="tx"/>
                    </a:ext>
                  </a:extLst>
                </a:hlinkClick>
              </a:rPr>
              <a:t>Pacific Bridge Medical, India device regulations 2025 update</a:t>
            </a:r>
            <a:endParaRPr lang="en-US" sz="1400" dirty="0"/>
          </a:p>
          <a:p>
            <a:pPr indent="0" marL="0">
              <a:buNone/>
            </a:pPr>
            <a:r>
              <a:rPr lang="en-US" sz="850" dirty="0">
                <a:solidFill>
                  <a:schemeClr val="tx2"/>
                </a:solidFill>
              </a:rPr>
              <a:t>Pacific Bridge Medical. India's medical device regulations: a 2025 update (MvPI revisions of 4 November 2024; expert committee, March 2025; NMC …</a:t>
            </a:r>
            <a:endParaRPr lang="en-US" sz="1400" dirty="0"/>
          </a:p>
        </p:txBody>
      </p:sp>
      <p:sp>
        <p:nvSpPr>
          <p:cNvPr id="21" name="Text 18"/>
          <p:cNvSpPr txBox="1"/>
          <p:nvPr/>
        </p:nvSpPr>
        <p:spPr>
          <a:xfrm>
            <a:off x="8097317"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6" invalidUrl="" action="" tgtFrame="" tooltip="https://www.qualio.com/blog/cdsco-registration-india-2026-update" history="1" highlightClick="0" endSnd="0">
                  <a:extLst>
                    <a:ext uri="{A12FA001-AC4F-418D-AE19-62706E023703}">
                      <ahyp:hlinkClr xmlns:ahyp="http://schemas.microsoft.com/office/drawing/2018/hyperlinkcolor" val="tx"/>
                    </a:ext>
                  </a:extLst>
                </a:hlinkClick>
              </a:rPr>
              <a:t>Qualio, CDSCO 2026 update on change notification</a:t>
            </a:r>
            <a:endParaRPr lang="en-US" sz="1400" dirty="0"/>
          </a:p>
          <a:p>
            <a:pPr indent="0" marL="0">
              <a:buNone/>
            </a:pPr>
            <a:r>
              <a:rPr lang="en-US" sz="850" dirty="0">
                <a:solidFill>
                  <a:schemeClr val="tx2"/>
                </a:solidFill>
              </a:rPr>
              <a:t>Qualio. CDSCO registration India 2026 update: major (prior approval) versus minor (notification) post-approval changes. Single vendor source; verify.</a:t>
            </a:r>
            <a:endParaRPr lang="en-US" sz="1400" dirty="0"/>
          </a:p>
        </p:txBody>
      </p:sp>
      <p:sp>
        <p:nvSpPr>
          <p:cNvPr id="22" name="Text 19"/>
          <p:cNvSpPr txBox="1"/>
          <p:nvPr/>
        </p:nvSpPr>
        <p:spPr>
          <a:xfrm>
            <a:off x="8097317" y="4133088"/>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7" invalidUrl="" action="" tgtFrame="" tooltip="https://www.registerkaro.in/post/cdsco-guidelines-for-medical-devices" history="1" highlightClick="0" endSnd="0">
                  <a:extLst>
                    <a:ext uri="{A12FA001-AC4F-418D-AE19-62706E023703}">
                      <ahyp:hlinkClr xmlns:ahyp="http://schemas.microsoft.com/office/drawing/2018/hyperlinkcolor" val="tx"/>
                    </a:ext>
                  </a:extLst>
                </a:hlinkClick>
              </a:rPr>
              <a:t>RegisterKaro, CDSCO device examples by class (2025)</a:t>
            </a:r>
            <a:endParaRPr lang="en-US" sz="1400" dirty="0"/>
          </a:p>
          <a:p>
            <a:pPr indent="0" marL="0">
              <a:buNone/>
            </a:pPr>
            <a:r>
              <a:rPr lang="en-US" sz="850" dirty="0">
                <a:solidFill>
                  <a:schemeClr val="tx2"/>
                </a:solidFill>
              </a:rPr>
              <a:t>RegisterKaro. CDSCO guidelines for medical devices: examples by class (lists digital thermometer under Class B).</a:t>
            </a:r>
            <a:endParaRPr lang="en-US" sz="1400" dirty="0"/>
          </a:p>
        </p:txBody>
      </p:sp>
      <p:sp>
        <p:nvSpPr>
          <p:cNvPr id="23" name="Text 20"/>
          <p:cNvSpPr txBox="1"/>
          <p:nvPr/>
        </p:nvSpPr>
        <p:spPr>
          <a:xfrm>
            <a:off x="8097317" y="4690872"/>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8" invalidUrl="" action="" tgtFrame="" tooltip="https://operonstrategist.com/examples-of-medical-device-classifications/" history="1" highlightClick="0" endSnd="0">
                  <a:extLst>
                    <a:ext uri="{A12FA001-AC4F-418D-AE19-62706E023703}">
                      <ahyp:hlinkClr xmlns:ahyp="http://schemas.microsoft.com/office/drawing/2018/hyperlinkcolor" val="tx"/>
                    </a:ext>
                  </a:extLst>
                </a:hlinkClick>
              </a:rPr>
              <a:t>Operon Strategist, examples of device classifications</a:t>
            </a:r>
            <a:endParaRPr lang="en-US" sz="1400" dirty="0"/>
          </a:p>
          <a:p>
            <a:pPr indent="0" marL="0">
              <a:buNone/>
            </a:pPr>
            <a:r>
              <a:rPr lang="en-US" sz="850" dirty="0">
                <a:solidFill>
                  <a:schemeClr val="tx2"/>
                </a:solidFill>
              </a:rPr>
              <a:t>Operon Strategist. Examples of medical device classifications (digital and clinical thermometers cited as Class A).</a:t>
            </a:r>
            <a:endParaRPr lang="en-US" sz="1400" dirty="0"/>
          </a:p>
        </p:txBody>
      </p:sp>
      <p:sp>
        <p:nvSpPr>
          <p:cNvPr id="24" name="Text 21"/>
          <p:cNvSpPr txBox="1"/>
          <p:nvPr/>
        </p:nvSpPr>
        <p:spPr>
          <a:xfrm>
            <a:off x="8097317" y="5248656"/>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9" invalidUrl="" action="" tgtFrame="" tooltip="https://corpseed.com/knowledge-centre/classification-of-medical-devices-by-cdsco-in-india" history="1" highlightClick="0" endSnd="0">
                  <a:extLst>
                    <a:ext uri="{A12FA001-AC4F-418D-AE19-62706E023703}">
                      <ahyp:hlinkClr xmlns:ahyp="http://schemas.microsoft.com/office/drawing/2018/hyperlinkcolor" val="tx"/>
                    </a:ext>
                  </a:extLst>
                </a:hlinkClick>
              </a:rPr>
              <a:t>Corpseed, classification of medical devices by CDSCO</a:t>
            </a:r>
            <a:endParaRPr lang="en-US" sz="1400" dirty="0"/>
          </a:p>
          <a:p>
            <a:pPr indent="0" marL="0">
              <a:buNone/>
            </a:pPr>
            <a:r>
              <a:rPr lang="en-US" sz="850" dirty="0">
                <a:solidFill>
                  <a:schemeClr val="tx2"/>
                </a:solidFill>
              </a:rPr>
              <a:t>Corpseed. An overview of classification of medical devices by CDSCO (examples by class; licensing authority by class).</a:t>
            </a:r>
            <a:endParaRPr lang="en-US" sz="14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lIns="0" tIns="0" rIns="0" bIns="0" rtlCol="0" anchor="t"/>
          <a:lstStyle/>
          <a:p>
            <a:pPr algn="l" indent="0" marL="0">
              <a:buNone/>
            </a:pPr>
            <a:r>
              <a:rPr lang="en-US" sz="2600" b="1" dirty="0">
                <a:solidFill>
                  <a:schemeClr val="tx1"/>
                </a:solidFill>
              </a:rPr>
              <a:t>India: regulation, guidance, pricing and safety (5/7)</a:t>
            </a: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Checked October 2026. Verify current amendments and extensions before use. Full citations: docs/References.pdf.</a:t>
            </a:r>
            <a:endParaRPr lang="en-US" sz="950" dirty="0"/>
          </a:p>
        </p:txBody>
      </p:sp>
      <p:sp>
        <p:nvSpPr>
          <p:cNvPr id="6" name="Text 3"/>
          <p:cNvSpPr txBox="1"/>
          <p:nvPr/>
        </p:nvSpPr>
        <p:spPr>
          <a:xfrm>
            <a:off x="548640" y="1371600"/>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 invalidUrl="" action="" tgtFrame="" tooltip="https://www.agileregulatory.com/blogs/cdsco-classification-of-medical-devices-2026-update" history="1" highlightClick="0" endSnd="0">
                  <a:extLst>
                    <a:ext uri="{A12FA001-AC4F-418D-AE19-62706E023703}">
                      <ahyp:hlinkClr xmlns:ahyp="http://schemas.microsoft.com/office/drawing/2018/hyperlinkcolor" val="tx"/>
                    </a:ext>
                  </a:extLst>
                </a:hlinkClick>
              </a:rPr>
              <a:t>Agile Regulatory, CDSCO classification 2026 update</a:t>
            </a:r>
            <a:endParaRPr lang="en-US" sz="1400" dirty="0"/>
          </a:p>
          <a:p>
            <a:pPr indent="0" marL="0">
              <a:buNone/>
            </a:pPr>
            <a:r>
              <a:rPr lang="en-US" sz="850" dirty="0">
                <a:solidFill>
                  <a:schemeClr val="tx2"/>
                </a:solidFill>
              </a:rPr>
              <a:t>Agile Regulatory. CDSCO classification of medical devices: 2026 update (Class B examples; coronary stent as Class D).</a:t>
            </a:r>
            <a:endParaRPr lang="en-US" sz="1400" dirty="0"/>
          </a:p>
        </p:txBody>
      </p:sp>
      <p:sp>
        <p:nvSpPr>
          <p:cNvPr id="7" name="Text 4"/>
          <p:cNvSpPr txBox="1"/>
          <p:nvPr/>
        </p:nvSpPr>
        <p:spPr>
          <a:xfrm>
            <a:off x="548640" y="192938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2" invalidUrl="" action="" tgtFrame="" tooltip="https://www.cdsco.gov.in/opencms/resources/UploadCDSCOWeb/2018/UploadPublic_NoticesFiles/MDmergeclassification15oct25.pdf" history="1" highlightClick="0" endSnd="0">
                  <a:extLst>
                    <a:ext uri="{A12FA001-AC4F-418D-AE19-62706E023703}">
                      <ahyp:hlinkClr xmlns:ahyp="http://schemas.microsoft.com/office/drawing/2018/hyperlinkcolor" val="tx"/>
                    </a:ext>
                  </a:extLst>
                </a:hlinkClick>
              </a:rPr>
              <a:t>CDSCO merged classification list (15 Oct 2025)</a:t>
            </a:r>
            <a:endParaRPr lang="en-US" sz="1400" dirty="0"/>
          </a:p>
          <a:p>
            <a:pPr indent="0" marL="0">
              <a:buNone/>
            </a:pPr>
            <a:r>
              <a:rPr lang="en-US" sz="850" dirty="0">
                <a:solidFill>
                  <a:schemeClr val="tx2"/>
                </a:solidFill>
              </a:rPr>
              <a:t>CDSCO. Merged specialty-wise risk classification list of medical devices, 15 October 2025: the canonical lookup for any example.</a:t>
            </a:r>
            <a:endParaRPr lang="en-US" sz="1400" dirty="0"/>
          </a:p>
        </p:txBody>
      </p:sp>
      <p:sp>
        <p:nvSpPr>
          <p:cNvPr id="8" name="Text 5"/>
          <p:cNvSpPr txBox="1"/>
          <p:nvPr/>
        </p:nvSpPr>
        <p:spPr>
          <a:xfrm>
            <a:off x="548640" y="261975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3" invalidUrl="" action="" tgtFrame="" tooltip="https://medicaldialogues.in/amp/news/industry/medical-devices/low-risk-medical-device-makers-get-clarity-cdsco-publishes-class-a-risk-classification-list-under-mdr-2017-158033" history="1" highlightClick="0" endSnd="0">
                  <a:extLst>
                    <a:ext uri="{A12FA001-AC4F-418D-AE19-62706E023703}">
                      <ahyp:hlinkClr xmlns:ahyp="http://schemas.microsoft.com/office/drawing/2018/hyperlinkcolor" val="tx"/>
                    </a:ext>
                  </a:extLst>
                </a:hlinkClick>
              </a:rPr>
              <a:t>Medical Dialogues, CDSCO Class A list (2025)</a:t>
            </a:r>
            <a:endParaRPr lang="en-US" sz="1400" dirty="0"/>
          </a:p>
          <a:p>
            <a:pPr indent="0" marL="0">
              <a:buNone/>
            </a:pPr>
            <a:r>
              <a:rPr lang="en-US" sz="850" dirty="0">
                <a:solidFill>
                  <a:schemeClr val="tx2"/>
                </a:solidFill>
              </a:rPr>
              <a:t>Medical Dialogues. Low-risk medical device makers get clarity: CDSCO publishes a Class A risk classification list (803 devices) under MDR 2017; 2025.</a:t>
            </a:r>
            <a:endParaRPr lang="en-US" sz="1400" dirty="0"/>
          </a:p>
        </p:txBody>
      </p:sp>
      <p:sp>
        <p:nvSpPr>
          <p:cNvPr id="9" name="Text 6"/>
          <p:cNvSpPr txBox="1"/>
          <p:nvPr/>
        </p:nvSpPr>
        <p:spPr>
          <a:xfrm>
            <a:off x="548640" y="331012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4" invalidUrl="" action="" tgtFrame="" tooltip="https://dfda.goa.gov.in/category/notifications/page/3/" history="1" highlightClick="0" endSnd="0">
                  <a:extLst>
                    <a:ext uri="{A12FA001-AC4F-418D-AE19-62706E023703}">
                      <ahyp:hlinkClr xmlns:ahyp="http://schemas.microsoft.com/office/drawing/2018/hyperlinkcolor" val="tx"/>
                    </a:ext>
                  </a:extLst>
                </a:hlinkClick>
              </a:rPr>
              <a:t>Goa FDA, S.O. 5980(E): four home devices notified</a:t>
            </a:r>
            <a:endParaRPr lang="en-US" sz="1400" dirty="0"/>
          </a:p>
          <a:p>
            <a:pPr indent="0" marL="0">
              <a:buNone/>
            </a:pPr>
            <a:r>
              <a:rPr lang="en-US" sz="850" dirty="0">
                <a:solidFill>
                  <a:schemeClr val="tx2"/>
                </a:solidFill>
              </a:rPr>
              <a:t>Goa FDA notifications page: S.O. 5980(E) notifying nebulisers, blood-pressure monitors, digital thermometers and glucometers as drugs, effective 1 …</a:t>
            </a:r>
            <a:endParaRPr lang="en-US" sz="1400" dirty="0"/>
          </a:p>
        </p:txBody>
      </p:sp>
      <p:sp>
        <p:nvSpPr>
          <p:cNvPr id="10" name="Text 7"/>
          <p:cNvSpPr txBox="1"/>
          <p:nvPr/>
        </p:nvSpPr>
        <p:spPr>
          <a:xfrm>
            <a:off x="548640" y="40005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5" invalidUrl="" action="" tgtFrame="" tooltip="https://biovoicenews.com/bureau-of-indian-standards-to-develop-standards-for-214-critical-medical-devices-by-december-2025/" history="1" highlightClick="0" endSnd="0">
                  <a:extLst>
                    <a:ext uri="{A12FA001-AC4F-418D-AE19-62706E023703}">
                      <ahyp:hlinkClr xmlns:ahyp="http://schemas.microsoft.com/office/drawing/2018/hyperlinkcolor" val="tx"/>
                    </a:ext>
                  </a:extLst>
                </a:hlinkClick>
              </a:rPr>
              <a:t>BioVoice, BIS standards for 214 critical devices (Nov 2024)</a:t>
            </a:r>
            <a:endParaRPr lang="en-US" sz="1400" dirty="0"/>
          </a:p>
          <a:p>
            <a:pPr indent="0" marL="0">
              <a:buNone/>
            </a:pPr>
            <a:r>
              <a:rPr lang="en-US" sz="850" dirty="0">
                <a:solidFill>
                  <a:schemeClr val="tx2"/>
                </a:solidFill>
              </a:rPr>
              <a:t>BioVoice News. Bureau of Indian Standards to develop standards for 214 critical medical devices by December 2025 (1,700+ medical standards, about …</a:t>
            </a:r>
            <a:endParaRPr lang="en-US" sz="1400" dirty="0"/>
          </a:p>
        </p:txBody>
      </p:sp>
      <p:sp>
        <p:nvSpPr>
          <p:cNvPr id="11" name="Text 8"/>
          <p:cNvSpPr txBox="1"/>
          <p:nvPr/>
        </p:nvSpPr>
        <p:spPr>
          <a:xfrm>
            <a:off x="548640" y="46908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6" invalidUrl="" action="" tgtFrame="" tooltip="https://corporate.cyrilamarchandblogs.com/2025/02/double-check-decoding-indias-dual-framework-for-medical-device-labelling/" history="1" highlightClick="0" endSnd="0">
                  <a:extLst>
                    <a:ext uri="{A12FA001-AC4F-418D-AE19-62706E023703}">
                      <ahyp:hlinkClr xmlns:ahyp="http://schemas.microsoft.com/office/drawing/2018/hyperlinkcolor" val="tx"/>
                    </a:ext>
                  </a:extLst>
                </a:hlinkClick>
              </a:rPr>
              <a:t>Cyril Amarchand, device labelling framework (Feb 2025)</a:t>
            </a:r>
            <a:endParaRPr lang="en-US" sz="1400" dirty="0"/>
          </a:p>
          <a:p>
            <a:pPr indent="0" marL="0">
              <a:buNone/>
            </a:pPr>
            <a:r>
              <a:rPr lang="en-US" sz="850" dirty="0">
                <a:solidFill>
                  <a:schemeClr val="tx2"/>
                </a:solidFill>
              </a:rPr>
              <a:t>Cyril Amarchand Mangaldas. Decoding India's dual framework for medical device labelling (Rule 44 particulars; Rule 46); February 2025.</a:t>
            </a:r>
            <a:endParaRPr lang="en-US" sz="1400" dirty="0"/>
          </a:p>
        </p:txBody>
      </p:sp>
      <p:sp>
        <p:nvSpPr>
          <p:cNvPr id="12" name="Text 9"/>
          <p:cNvSpPr txBox="1"/>
          <p:nvPr/>
        </p:nvSpPr>
        <p:spPr>
          <a:xfrm>
            <a:off x="4322978"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7" invalidUrl="" action="" tgtFrame="" tooltip="https://www.etvbharat.com/en/!bharat/parliamentary-panel-raps-ministry-of-chemical-and-fertilizer-for-import-of-high-end-medical-devices-enn24031105786" history="1" highlightClick="0" endSnd="0">
                  <a:extLst>
                    <a:ext uri="{A12FA001-AC4F-418D-AE19-62706E023703}">
                      <ahyp:hlinkClr xmlns:ahyp="http://schemas.microsoft.com/office/drawing/2018/hyperlinkcolor" val="tx"/>
                    </a:ext>
                  </a:extLst>
                </a:hlinkClick>
              </a:rPr>
              <a:t>ETV Bharat, parliamentary panel on device imports (Mar 2024)</a:t>
            </a:r>
            <a:endParaRPr lang="en-US" sz="1400" dirty="0"/>
          </a:p>
          <a:p>
            <a:pPr indent="0" marL="0">
              <a:buNone/>
            </a:pPr>
            <a:r>
              <a:rPr lang="en-US" sz="850" dirty="0">
                <a:solidFill>
                  <a:schemeClr val="tx2"/>
                </a:solidFill>
              </a:rPr>
              <a:t>ETV Bharat. Parliamentary panel raps Ministry of Chemicals and Fertilizers for import of high-end medical devices (about 70% of requirement …</a:t>
            </a:r>
            <a:endParaRPr lang="en-US" sz="1400" dirty="0"/>
          </a:p>
        </p:txBody>
      </p:sp>
      <p:sp>
        <p:nvSpPr>
          <p:cNvPr id="13" name="Text 10"/>
          <p:cNvSpPr txBox="1"/>
          <p:nvPr/>
        </p:nvSpPr>
        <p:spPr>
          <a:xfrm>
            <a:off x="4322978" y="2061972"/>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8" invalidUrl="" action="" tgtFrame="" tooltip="https://medicalbuyer.co.in/amid-domestic-push-india-imported-medical-devices-worth-8-18b-in-fy24/" history="1" highlightClick="0" endSnd="0">
                  <a:extLst>
                    <a:ext uri="{A12FA001-AC4F-418D-AE19-62706E023703}">
                      <ahyp:hlinkClr xmlns:ahyp="http://schemas.microsoft.com/office/drawing/2018/hyperlinkcolor" val="tx"/>
                    </a:ext>
                  </a:extLst>
                </a:hlinkClick>
              </a:rPr>
              <a:t>Medical Buyer: device imports of US$8.18 bn in FY2023-24</a:t>
            </a:r>
            <a:endParaRPr lang="en-US" sz="1400" dirty="0"/>
          </a:p>
          <a:p>
            <a:pPr indent="0" marL="0">
              <a:buNone/>
            </a:pPr>
            <a:r>
              <a:rPr lang="en-US" sz="850" dirty="0">
                <a:solidFill>
                  <a:schemeClr val="tx2"/>
                </a:solidFill>
              </a:rPr>
              <a:t>Medical Buyer. Amid domestic push, India imported medical devices worth $8.18B in FY24; 2024.</a:t>
            </a:r>
            <a:endParaRPr lang="en-US" sz="1400" dirty="0"/>
          </a:p>
        </p:txBody>
      </p:sp>
      <p:sp>
        <p:nvSpPr>
          <p:cNvPr id="14" name="Text 11"/>
          <p:cNvSpPr txBox="1"/>
          <p:nvPr/>
        </p:nvSpPr>
        <p:spPr>
          <a:xfrm>
            <a:off x="4322978" y="261975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9" invalidUrl="" action="" tgtFrame="" tooltip="https://biovoicenews.com/indias-medical-devices-industry-likely-to-triple-to-50-billion-by-2030-rubix-industry-insights/" history="1" highlightClick="0" endSnd="0">
                  <a:extLst>
                    <a:ext uri="{A12FA001-AC4F-418D-AE19-62706E023703}">
                      <ahyp:hlinkClr xmlns:ahyp="http://schemas.microsoft.com/office/drawing/2018/hyperlinkcolor" val="tx"/>
                    </a:ext>
                  </a:extLst>
                </a:hlinkClick>
              </a:rPr>
              <a:t>BioVoice/Rubix, exports and 2030 outlook (Feb 2026)</a:t>
            </a:r>
            <a:endParaRPr lang="en-US" sz="1400" dirty="0"/>
          </a:p>
          <a:p>
            <a:pPr indent="0" marL="0">
              <a:buNone/>
            </a:pPr>
            <a:r>
              <a:rPr lang="en-US" sz="850" dirty="0">
                <a:solidFill>
                  <a:schemeClr val="tx2"/>
                </a:solidFill>
              </a:rPr>
              <a:t>BioVoice News. India's medical devices industry likely to triple to US$50 billion by 2030: Rubix Industry Insights (exports about US$4.1 billion in …</a:t>
            </a:r>
            <a:endParaRPr lang="en-US" sz="1400" dirty="0"/>
          </a:p>
        </p:txBody>
      </p:sp>
      <p:sp>
        <p:nvSpPr>
          <p:cNvPr id="15" name="Text 12"/>
          <p:cNvSpPr txBox="1"/>
          <p:nvPr/>
        </p:nvSpPr>
        <p:spPr>
          <a:xfrm>
            <a:off x="4322978" y="331012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0" invalidUrl="" action="" tgtFrame="" tooltip="https://newsonair.gov.in/union-minister-dr-jitendra-singh-says-govt-hopes-to-increase-indias-market-share-to-10-12-over-next-25-years" history="1" highlightClick="0" endSnd="0">
                  <a:extLst>
                    <a:ext uri="{A12FA001-AC4F-418D-AE19-62706E023703}">
                      <ahyp:hlinkClr xmlns:ahyp="http://schemas.microsoft.com/office/drawing/2018/hyperlinkcolor" val="tx"/>
                    </a:ext>
                  </a:extLst>
                </a:hlinkClick>
              </a:rPr>
              <a:t>News on AIR: India holds ~1.5% of the global device market (2024)</a:t>
            </a:r>
            <a:endParaRPr lang="en-US" sz="1400" dirty="0"/>
          </a:p>
          <a:p>
            <a:pPr indent="0" marL="0">
              <a:buNone/>
            </a:pPr>
            <a:r>
              <a:rPr lang="en-US" sz="850" dirty="0">
                <a:solidFill>
                  <a:schemeClr val="tx2"/>
                </a:solidFill>
              </a:rPr>
              <a:t>News on AIR. Union Minister Dr Jitendra Singh says the government hopes to increase India's share of the global medical devices market from about …</a:t>
            </a:r>
            <a:endParaRPr lang="en-US" sz="1400" dirty="0"/>
          </a:p>
        </p:txBody>
      </p:sp>
      <p:sp>
        <p:nvSpPr>
          <p:cNvPr id="16" name="Text 13"/>
          <p:cNvSpPr txBox="1"/>
          <p:nvPr/>
        </p:nvSpPr>
        <p:spPr>
          <a:xfrm>
            <a:off x="4322978" y="40005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1" invalidUrl="" action="" tgtFrame="" tooltip="https://www.business-standard.com/health/house-panel-flags-licensing-delays-forcing-medical-device-firms-abroad-125031300999_1.html" history="1" highlightClick="0" endSnd="0">
                  <a:extLst>
                    <a:ext uri="{A12FA001-AC4F-418D-AE19-62706E023703}">
                      <ahyp:hlinkClr xmlns:ahyp="http://schemas.microsoft.com/office/drawing/2018/hyperlinkcolor" val="tx"/>
                    </a:ext>
                  </a:extLst>
                </a:hlinkClick>
              </a:rPr>
              <a:t>Business Standard, parliamentary panel on CDSCO licensing delays (Mar 2025)</a:t>
            </a:r>
            <a:endParaRPr lang="en-US" sz="1400" dirty="0"/>
          </a:p>
          <a:p>
            <a:pPr indent="0" marL="0">
              <a:buNone/>
            </a:pPr>
            <a:r>
              <a:rPr lang="en-US" sz="850" dirty="0">
                <a:solidFill>
                  <a:schemeClr val="tx2"/>
                </a:solidFill>
              </a:rPr>
              <a:t>Business Standard. House panel flags licensing delays forcing medical device firms abroad (Standing Committee on Health, 170th report, 16 March 2025; …</a:t>
            </a:r>
            <a:endParaRPr lang="en-US" sz="1400" dirty="0"/>
          </a:p>
        </p:txBody>
      </p:sp>
      <p:sp>
        <p:nvSpPr>
          <p:cNvPr id="17" name="Text 14"/>
          <p:cNvSpPr txBox="1"/>
          <p:nvPr/>
        </p:nvSpPr>
        <p:spPr>
          <a:xfrm>
            <a:off x="4322978" y="46908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2" invalidUrl="" action="" tgtFrame="" tooltip="https://narendramodi.in/cabinet-approves-the-policy-for-the-medical-devices-sector-569642" history="1" highlightClick="0" endSnd="0">
                  <a:extLst>
                    <a:ext uri="{A12FA001-AC4F-418D-AE19-62706E023703}">
                      <ahyp:hlinkClr xmlns:ahyp="http://schemas.microsoft.com/office/drawing/2018/hyperlinkcolor" val="tx"/>
                    </a:ext>
                  </a:extLst>
                </a:hlinkClick>
              </a:rPr>
              <a:t>Cabinet release, National Medical Devices Policy 2023 (26 Apr 2023)</a:t>
            </a:r>
            <a:endParaRPr lang="en-US" sz="1400" dirty="0"/>
          </a:p>
          <a:p>
            <a:pPr indent="0" marL="0">
              <a:buNone/>
            </a:pPr>
            <a:r>
              <a:rPr lang="en-US" sz="850" dirty="0">
                <a:solidFill>
                  <a:schemeClr val="tx2"/>
                </a:solidFill>
              </a:rPr>
              <a:t>Cabinet approves the Policy for the Medical Devices Sector (National Medical Devices Policy 2023): about US$11 billion sector, US$50 billion target …</a:t>
            </a:r>
            <a:endParaRPr lang="en-US" sz="1400" dirty="0"/>
          </a:p>
        </p:txBody>
      </p:sp>
      <p:sp>
        <p:nvSpPr>
          <p:cNvPr id="18" name="Text 15"/>
          <p:cNvSpPr txBox="1"/>
          <p:nvPr/>
        </p:nvSpPr>
        <p:spPr>
          <a:xfrm>
            <a:off x="8097317"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3" invalidUrl="" action="" tgtFrame="" tooltip="https://investindia.gov.in/blogs/pli-scheme-medical-devices-unleashing-potential-make-india-make-world" history="1" highlightClick="0" endSnd="0">
                  <a:extLst>
                    <a:ext uri="{A12FA001-AC4F-418D-AE19-62706E023703}">
                      <ahyp:hlinkClr xmlns:ahyp="http://schemas.microsoft.com/office/drawing/2018/hyperlinkcolor" val="tx"/>
                    </a:ext>
                  </a:extLst>
                </a:hlinkClick>
              </a:rPr>
              <a:t>Invest India, PLI scheme for medical devices</a:t>
            </a:r>
            <a:endParaRPr lang="en-US" sz="1400" dirty="0"/>
          </a:p>
          <a:p>
            <a:pPr indent="0" marL="0">
              <a:buNone/>
            </a:pPr>
            <a:r>
              <a:rPr lang="en-US" sz="850" dirty="0">
                <a:solidFill>
                  <a:schemeClr val="tx2"/>
                </a:solidFill>
              </a:rPr>
              <a:t>Invest India. PLI Scheme for Medical Devices: unleashing the potential (Rs 3,420 crore; FY2020-21 to FY2027-28; 5% incentive; four target segments).</a:t>
            </a:r>
            <a:endParaRPr lang="en-US" sz="1400" dirty="0"/>
          </a:p>
        </p:txBody>
      </p:sp>
      <p:sp>
        <p:nvSpPr>
          <p:cNvPr id="19" name="Text 16"/>
          <p:cNvSpPr txBox="1"/>
          <p:nvPr/>
        </p:nvSpPr>
        <p:spPr>
          <a:xfrm>
            <a:off x="8097317"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4" invalidUrl="" action="" tgtFrame="" tooltip="https://www.indianpharmapost.com/policy/indias-medical-devices-pli-scheme-attracts-rs-1153-crore-investment-27-projects-approved-21113" history="1" highlightClick="0" endSnd="0">
                  <a:extLst>
                    <a:ext uri="{A12FA001-AC4F-418D-AE19-62706E023703}">
                      <ahyp:hlinkClr xmlns:ahyp="http://schemas.microsoft.com/office/drawing/2018/hyperlinkcolor" val="tx"/>
                    </a:ext>
                  </a:extLst>
                </a:hlinkClick>
              </a:rPr>
              <a:t>Indian Pharma Post, PLI results to March 2025</a:t>
            </a:r>
            <a:endParaRPr lang="en-US" sz="1400" dirty="0"/>
          </a:p>
          <a:p>
            <a:pPr indent="0" marL="0">
              <a:buNone/>
            </a:pPr>
            <a:r>
              <a:rPr lang="en-US" sz="850" dirty="0">
                <a:solidFill>
                  <a:schemeClr val="tx2"/>
                </a:solidFill>
              </a:rPr>
              <a:t>Indian Pharma Post. India's medical devices PLI scheme attracts Rs 1,153 crore investment, 27 projects approved, 54 products in production; 2025.</a:t>
            </a:r>
            <a:endParaRPr lang="en-US" sz="1400" dirty="0"/>
          </a:p>
        </p:txBody>
      </p:sp>
      <p:sp>
        <p:nvSpPr>
          <p:cNvPr id="20" name="Text 17"/>
          <p:cNvSpPr txBox="1"/>
          <p:nvPr/>
        </p:nvSpPr>
        <p:spPr>
          <a:xfrm>
            <a:off x="8097317"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5" invalidUrl="" action="" tgtFrame="" tooltip="https://www.business-standard.com/article/economy-policy/centre-notifies-scheme-for-promotion-of-medical-device-parks-121092401048_1.html" history="1" highlightClick="0" endSnd="0">
                  <a:extLst>
                    <a:ext uri="{A12FA001-AC4F-418D-AE19-62706E023703}">
                      <ahyp:hlinkClr xmlns:ahyp="http://schemas.microsoft.com/office/drawing/2018/hyperlinkcolor" val="tx"/>
                    </a:ext>
                  </a:extLst>
                </a:hlinkClick>
              </a:rPr>
              <a:t>Business Standard, medical device parks scheme (Sep 2021)</a:t>
            </a:r>
            <a:endParaRPr lang="en-US" sz="1400" dirty="0"/>
          </a:p>
          <a:p>
            <a:pPr indent="0" marL="0">
              <a:buNone/>
            </a:pPr>
            <a:r>
              <a:rPr lang="en-US" sz="850" dirty="0">
                <a:solidFill>
                  <a:schemeClr val="tx2"/>
                </a:solidFill>
              </a:rPr>
              <a:t>Business Standard. Centre notifies scheme for promotion of medical device parks (Rs 400 crore; up to Rs 100 crore per park; Himachal Pradesh, Tamil …</a:t>
            </a:r>
            <a:endParaRPr lang="en-US" sz="1400" dirty="0"/>
          </a:p>
        </p:txBody>
      </p:sp>
      <p:sp>
        <p:nvSpPr>
          <p:cNvPr id="21" name="Text 18"/>
          <p:cNvSpPr txBox="1"/>
          <p:nvPr/>
        </p:nvSpPr>
        <p:spPr>
          <a:xfrm>
            <a:off x="8097317"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6" invalidUrl="" action="" tgtFrame="" tooltip="https://en.vikaspedia.in/viewcontent/health/nrhm/scheme-for-strengthening-the-medical-device-industry?lgn=en" history="1" highlightClick="0" endSnd="0">
                  <a:extLst>
                    <a:ext uri="{A12FA001-AC4F-418D-AE19-62706E023703}">
                      <ahyp:hlinkClr xmlns:ahyp="http://schemas.microsoft.com/office/drawing/2018/hyperlinkcolor" val="tx"/>
                    </a:ext>
                  </a:extLst>
                </a:hlinkClick>
              </a:rPr>
              <a:t>Vikaspedia, PRIP and the Scheme for Strengthening the Medical Device Industry</a:t>
            </a:r>
            <a:endParaRPr lang="en-US" sz="1400" dirty="0"/>
          </a:p>
          <a:p>
            <a:pPr indent="0" marL="0">
              <a:buNone/>
            </a:pPr>
            <a:r>
              <a:rPr lang="en-US" sz="850" dirty="0">
                <a:solidFill>
                  <a:schemeClr val="tx2"/>
                </a:solidFill>
              </a:rPr>
              <a:t>Vikaspedia. Scheme for Strengthening the Medical Device Industry; Promotion of Research and Innovation in Pharma MedTech (PRIP), Rs 5,000 crore; 2024.</a:t>
            </a:r>
            <a:endParaRPr lang="en-US" sz="1400" dirty="0"/>
          </a:p>
        </p:txBody>
      </p:sp>
      <p:sp>
        <p:nvSpPr>
          <p:cNvPr id="22" name="Text 19"/>
          <p:cNvSpPr txBox="1"/>
          <p:nvPr/>
        </p:nvSpPr>
        <p:spPr>
          <a:xfrm>
            <a:off x="8097317"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7" invalidUrl="" action="" tgtFrame="" tooltip="https://biospectrumindia.com/news/22/25334/govt-launches-scheme-for-strengthening-medical-device-industry.html" history="1" highlightClick="0" endSnd="0">
                  <a:extLst>
                    <a:ext uri="{A12FA001-AC4F-418D-AE19-62706E023703}">
                      <ahyp:hlinkClr xmlns:ahyp="http://schemas.microsoft.com/office/drawing/2018/hyperlinkcolor" val="tx"/>
                    </a:ext>
                  </a:extLst>
                </a:hlinkClick>
              </a:rPr>
              <a:t>BioSpectrum, Scheme for Strengthening Medical Device Industry (Nov 2024)</a:t>
            </a:r>
            <a:endParaRPr lang="en-US" sz="1400" dirty="0"/>
          </a:p>
          <a:p>
            <a:pPr indent="0" marL="0">
              <a:buNone/>
            </a:pPr>
            <a:r>
              <a:rPr lang="en-US" sz="850" dirty="0">
                <a:solidFill>
                  <a:schemeClr val="tx2"/>
                </a:solidFill>
              </a:rPr>
              <a:t>BioSpectrum India. Government launches the Scheme for Strengthening the Medical Device Industry (Rs 500 crore; five sub-schemes including …</a:t>
            </a:r>
            <a:endParaRPr lang="en-US" sz="1400" dirty="0"/>
          </a:p>
        </p:txBody>
      </p:sp>
      <p:sp>
        <p:nvSpPr>
          <p:cNvPr id="23" name="Text 20"/>
          <p:cNvSpPr txBox="1"/>
          <p:nvPr/>
        </p:nvSpPr>
        <p:spPr>
          <a:xfrm>
            <a:off x="8097317" y="482346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8" invalidUrl="" action="" tgtFrame="" tooltip="https://seair.co.in/exim-news/central-government-launched-export-promotion-council-for-medical-devices.aspx" history="1" highlightClick="0" endSnd="0">
                  <a:extLst>
                    <a:ext uri="{A12FA001-AC4F-418D-AE19-62706E023703}">
                      <ahyp:hlinkClr xmlns:ahyp="http://schemas.microsoft.com/office/drawing/2018/hyperlinkcolor" val="tx"/>
                    </a:ext>
                  </a:extLst>
                </a:hlinkClick>
              </a:rPr>
              <a:t>Seair Exim, Export Promotion Council for Medical Devices (Sep 2022)</a:t>
            </a:r>
            <a:endParaRPr lang="en-US" sz="1400" dirty="0"/>
          </a:p>
          <a:p>
            <a:pPr indent="0" marL="0">
              <a:buNone/>
            </a:pPr>
            <a:r>
              <a:rPr lang="en-US" sz="850" dirty="0">
                <a:solidFill>
                  <a:schemeClr val="tx2"/>
                </a:solidFill>
              </a:rPr>
              <a:t>Seair Exim. Central Government launched the Export Promotion Council for Medical Devices, 22 September 2022, headquartered at YEIDA, Greater Noida.</a:t>
            </a:r>
            <a:endParaRPr lang="en-US" sz="14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lIns="0" tIns="0" rIns="0" bIns="0" rtlCol="0" anchor="t"/>
          <a:lstStyle/>
          <a:p>
            <a:pPr algn="l" indent="0" marL="0">
              <a:buNone/>
            </a:pPr>
            <a:r>
              <a:rPr lang="en-US" sz="2600" b="1" dirty="0">
                <a:solidFill>
                  <a:schemeClr val="tx1"/>
                </a:solidFill>
              </a:rPr>
              <a:t>India: regulation, guidance, pricing and safety (6/7)</a:t>
            </a: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Checked October 2026. Verify current amendments and extensions before use. Full citations: docs/References.pdf.</a:t>
            </a:r>
            <a:endParaRPr lang="en-US" sz="950" dirty="0"/>
          </a:p>
        </p:txBody>
      </p:sp>
      <p:sp>
        <p:nvSpPr>
          <p:cNvPr id="6" name="Text 3"/>
          <p:cNvSpPr txBox="1"/>
          <p:nvPr/>
        </p:nvSpPr>
        <p:spPr>
          <a:xfrm>
            <a:off x="548640"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 invalidUrl="" action="" tgtFrame="" tooltip="https://en.wikipedia.org/wiki/Andhra_Pradesh_Medtech_Zone" history="1" highlightClick="0" endSnd="0">
                  <a:extLst>
                    <a:ext uri="{A12FA001-AC4F-418D-AE19-62706E023703}">
                      <ahyp:hlinkClr xmlns:ahyp="http://schemas.microsoft.com/office/drawing/2018/hyperlinkcolor" val="tx"/>
                    </a:ext>
                  </a:extLst>
                </a:hlinkClick>
              </a:rPr>
              <a:t>Andhra Pradesh MedTech Zone, Visakhapatnam</a:t>
            </a:r>
            <a:endParaRPr lang="en-US" sz="1400" dirty="0"/>
          </a:p>
          <a:p>
            <a:pPr indent="0" marL="0">
              <a:buNone/>
            </a:pPr>
            <a:r>
              <a:rPr lang="en-US" sz="850" dirty="0">
                <a:solidFill>
                  <a:schemeClr val="tx2"/>
                </a:solidFill>
              </a:rPr>
              <a:t>Andhra Pradesh MedTech Zone (AMTZ), Visakhapatnam: common labs for EMC and electrical-safety testing, biomaterials, 3D printing, lasers, gamma …</a:t>
            </a:r>
            <a:endParaRPr lang="en-US" sz="1400" dirty="0"/>
          </a:p>
        </p:txBody>
      </p:sp>
      <p:sp>
        <p:nvSpPr>
          <p:cNvPr id="7" name="Text 4"/>
          <p:cNvSpPr txBox="1"/>
          <p:nvPr/>
        </p:nvSpPr>
        <p:spPr>
          <a:xfrm>
            <a:off x="548640"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2" invalidUrl="" action="" tgtFrame="" tooltip="https://www.indiascienceandtechnology.gov.in/programme-schemes/biotechnology-ignition-grant-scheme-big-0" history="1" highlightClick="0" endSnd="0">
                  <a:extLst>
                    <a:ext uri="{A12FA001-AC4F-418D-AE19-62706E023703}">
                      <ahyp:hlinkClr xmlns:ahyp="http://schemas.microsoft.com/office/drawing/2018/hyperlinkcolor" val="tx"/>
                    </a:ext>
                  </a:extLst>
                </a:hlinkClick>
              </a:rPr>
              <a:t>BIRAC Biotechnology Ignition Grant</a:t>
            </a:r>
            <a:endParaRPr lang="en-US" sz="1400" dirty="0"/>
          </a:p>
          <a:p>
            <a:pPr indent="0" marL="0">
              <a:buNone/>
            </a:pPr>
            <a:r>
              <a:rPr lang="en-US" sz="850" dirty="0">
                <a:solidFill>
                  <a:schemeClr val="tx2"/>
                </a:solidFill>
              </a:rPr>
              <a:t>India Science, Technology and Innovation portal. Biotechnology Ignition Grant (BIG): up to Rs 50 lakh for 18 months for individual innovators and …</a:t>
            </a:r>
            <a:endParaRPr lang="en-US" sz="1400" dirty="0"/>
          </a:p>
        </p:txBody>
      </p:sp>
      <p:sp>
        <p:nvSpPr>
          <p:cNvPr id="8" name="Text 5"/>
          <p:cNvSpPr txBox="1"/>
          <p:nvPr/>
        </p:nvSpPr>
        <p:spPr>
          <a:xfrm>
            <a:off x="548640"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3" invalidUrl="" action="" tgtFrame="" tooltip="https://medtechmitra.icmr.org.in/about" history="1" highlightClick="0" endSnd="0">
                  <a:extLst>
                    <a:ext uri="{A12FA001-AC4F-418D-AE19-62706E023703}">
                      <ahyp:hlinkClr xmlns:ahyp="http://schemas.microsoft.com/office/drawing/2018/hyperlinkcolor" val="tx"/>
                    </a:ext>
                  </a:extLst>
                </a:hlinkClick>
              </a:rPr>
              <a:t>ICMR MedTech Mitra</a:t>
            </a:r>
            <a:endParaRPr lang="en-US" sz="1400" dirty="0"/>
          </a:p>
          <a:p>
            <a:pPr indent="0" marL="0">
              <a:buNone/>
            </a:pPr>
            <a:r>
              <a:rPr lang="en-US" sz="850" dirty="0">
                <a:solidFill>
                  <a:schemeClr val="tx2"/>
                </a:solidFill>
              </a:rPr>
              <a:t>ICMR. About MedTech Mitra: hand-holding for innovators on clinical evaluation, regulatory facilitation and uptake, run with CDSCO under NITI Aayog …</a:t>
            </a:r>
            <a:endParaRPr lang="en-US" sz="1400" dirty="0"/>
          </a:p>
        </p:txBody>
      </p:sp>
      <p:sp>
        <p:nvSpPr>
          <p:cNvPr id="9" name="Text 6"/>
          <p:cNvSpPr txBox="1"/>
          <p:nvPr/>
        </p:nvSpPr>
        <p:spPr>
          <a:xfrm>
            <a:off x="548640"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4" invalidUrl="" action="" tgtFrame="" tooltip="https://mondaq.com/india/food-and-drugs-law/668254/dcgi-notifies-the-medical-devices-and-in-vitro-diagnostic-ivd-medical-devices-classification-under-medical-device-rule-2017" history="1" highlightClick="0" endSnd="0">
                  <a:extLst>
                    <a:ext uri="{A12FA001-AC4F-418D-AE19-62706E023703}">
                      <ahyp:hlinkClr xmlns:ahyp="http://schemas.microsoft.com/office/drawing/2018/hyperlinkcolor" val="tx"/>
                    </a:ext>
                  </a:extLst>
                </a:hlinkClick>
              </a:rPr>
              <a:t>Mondaq: DCGI notifies device and IVD classification under MDR 2017 (Jan 2017)</a:t>
            </a:r>
            <a:endParaRPr lang="en-US" sz="1400" dirty="0"/>
          </a:p>
          <a:p>
            <a:pPr indent="0" marL="0">
              <a:buNone/>
            </a:pPr>
            <a:r>
              <a:rPr lang="en-US" sz="850" dirty="0">
                <a:solidFill>
                  <a:schemeClr val="tx2"/>
                </a:solidFill>
              </a:rPr>
              <a:t>Mondaq. DCGI notifies the medical devices and in-vitro diagnostic medical devices classification under the Medical Devices Rules 2017: Rule 4 and …</a:t>
            </a:r>
            <a:endParaRPr lang="en-US" sz="1400" dirty="0"/>
          </a:p>
        </p:txBody>
      </p:sp>
      <p:sp>
        <p:nvSpPr>
          <p:cNvPr id="10" name="Text 7"/>
          <p:cNvSpPr txBox="1"/>
          <p:nvPr/>
        </p:nvSpPr>
        <p:spPr>
          <a:xfrm>
            <a:off x="548640"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5" invalidUrl="" action="" tgtFrame="" tooltip="https://www.unigoa.ac.in/uploads/confg_docs/20201229.073758~ICMR_2017_INFORMED_CONSENT_PROCESS.pdf" history="1" highlightClick="0" endSnd="0">
                  <a:extLst>
                    <a:ext uri="{A12FA001-AC4F-418D-AE19-62706E023703}">
                      <ahyp:hlinkClr xmlns:ahyp="http://schemas.microsoft.com/office/drawing/2018/hyperlinkcolor" val="tx"/>
                    </a:ext>
                  </a:extLst>
                </a:hlinkClick>
              </a:rPr>
              <a:t>Goa University summary of ICMR 2017 informed consent process</a:t>
            </a:r>
            <a:endParaRPr lang="en-US" sz="1400" dirty="0"/>
          </a:p>
          <a:p>
            <a:pPr indent="0" marL="0">
              <a:buNone/>
            </a:pPr>
            <a:r>
              <a:rPr lang="en-US" sz="850" dirty="0">
                <a:solidFill>
                  <a:schemeClr val="tx2"/>
                </a:solidFill>
              </a:rPr>
              <a:t>Goa University (institutional summary). ICMR 2017 National Ethical Guidelines, Section 5: informed consent process; impartial literate witness when …</a:t>
            </a:r>
            <a:endParaRPr lang="en-US" sz="1400" dirty="0"/>
          </a:p>
        </p:txBody>
      </p:sp>
      <p:sp>
        <p:nvSpPr>
          <p:cNvPr id="11" name="Text 8"/>
          <p:cNvSpPr txBox="1"/>
          <p:nvPr/>
        </p:nvSpPr>
        <p:spPr>
          <a:xfrm>
            <a:off x="548640" y="482346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6" invalidUrl="" action="" tgtFrame="" tooltip="https://www.kem.edu/wp-content/uploads/2022/08/27.Audio-Visual-Consent-Recording.pdf" history="1" highlightClick="0" endSnd="0">
                  <a:extLst>
                    <a:ext uri="{A12FA001-AC4F-418D-AE19-62706E023703}">
                      <ahyp:hlinkClr xmlns:ahyp="http://schemas.microsoft.com/office/drawing/2018/hyperlinkcolor" val="tx"/>
                    </a:ext>
                  </a:extLst>
                </a:hlinkClick>
              </a:rPr>
              <a:t>KEM Hospital IEC SOP: audio-visual consent recording</a:t>
            </a:r>
            <a:endParaRPr lang="en-US" sz="1400" dirty="0"/>
          </a:p>
          <a:p>
            <a:pPr indent="0" marL="0">
              <a:buNone/>
            </a:pPr>
            <a:r>
              <a:rPr lang="en-US" sz="850" dirty="0">
                <a:solidFill>
                  <a:schemeClr val="tx2"/>
                </a:solidFill>
              </a:rPr>
              <a:t>KEM Hospital and Seth GS Medical College, Institutional Ethics Committee. SOP 27: Audio-Visual Consent Recording (requirement introduced by the 2013 …</a:t>
            </a:r>
            <a:endParaRPr lang="en-US" sz="1400" dirty="0"/>
          </a:p>
        </p:txBody>
      </p:sp>
      <p:sp>
        <p:nvSpPr>
          <p:cNvPr id="12" name="Text 9"/>
          <p:cNvSpPr txBox="1"/>
          <p:nvPr/>
        </p:nvSpPr>
        <p:spPr>
          <a:xfrm>
            <a:off x="4322978"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7" invalidUrl="" action="" tgtFrame="" tooltip="https://www.icmr.gov.in/icmrobject/uploads/Static/1784177629_draftguidance-non-regulatoryclinicaltrials_latest_v2.pdf" history="1" highlightClick="0" endSnd="0">
                  <a:extLst>
                    <a:ext uri="{A12FA001-AC4F-418D-AE19-62706E023703}">
                      <ahyp:hlinkClr xmlns:ahyp="http://schemas.microsoft.com/office/drawing/2018/hyperlinkcolor" val="tx"/>
                    </a:ext>
                  </a:extLst>
                </a:hlinkClick>
              </a:rPr>
              <a:t>ICMR draft guidance on non-regulatory clinical trials</a:t>
            </a:r>
            <a:endParaRPr lang="en-US" sz="1400" dirty="0"/>
          </a:p>
          <a:p>
            <a:pPr indent="0" marL="0">
              <a:buNone/>
            </a:pPr>
            <a:r>
              <a:rPr lang="en-US" sz="850" dirty="0">
                <a:solidFill>
                  <a:schemeClr val="tx2"/>
                </a:solidFill>
              </a:rPr>
              <a:t>Indian Council of Medical Research. Ethical Guidance for Non-Regulatory Clinical Trials (draft, v2): non-regulatory clinical trials start only after …</a:t>
            </a:r>
            <a:endParaRPr lang="en-US" sz="1400" dirty="0"/>
          </a:p>
        </p:txBody>
      </p:sp>
      <p:sp>
        <p:nvSpPr>
          <p:cNvPr id="13" name="Text 10"/>
          <p:cNvSpPr txBox="1"/>
          <p:nvPr/>
        </p:nvSpPr>
        <p:spPr>
          <a:xfrm>
            <a:off x="4322978"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8" invalidUrl="" action="" tgtFrame="" tooltip="https://www.nmc.org.in/rules-regulations-nmc/" history="1" highlightClick="0" endSnd="0">
                  <a:extLst>
                    <a:ext uri="{A12FA001-AC4F-418D-AE19-62706E023703}">
                      <ahyp:hlinkClr xmlns:ahyp="http://schemas.microsoft.com/office/drawing/2018/hyperlinkcolor" val="tx"/>
                    </a:ext>
                  </a:extLst>
                </a:hlinkClick>
              </a:rPr>
              <a:t>NMC rules and regulations page</a:t>
            </a:r>
            <a:endParaRPr lang="en-US" sz="1400" dirty="0"/>
          </a:p>
          <a:p>
            <a:pPr indent="0" marL="0">
              <a:buNone/>
            </a:pPr>
            <a:r>
              <a:rPr lang="en-US" sz="850" dirty="0">
                <a:solidFill>
                  <a:schemeClr val="tx2"/>
                </a:solidFill>
              </a:rPr>
              <a:t>National Medical Commission. Rules and Regulations (check for any replacement of the 2023 Registered Medical Practitioner conduct regulations, in …</a:t>
            </a:r>
            <a:endParaRPr lang="en-US" sz="1400" dirty="0"/>
          </a:p>
        </p:txBody>
      </p:sp>
      <p:sp>
        <p:nvSpPr>
          <p:cNvPr id="14" name="Text 11"/>
          <p:cNvSpPr txBox="1"/>
          <p:nvPr/>
        </p:nvSpPr>
        <p:spPr>
          <a:xfrm>
            <a:off x="4322978"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9" invalidUrl="" action="" tgtFrame="" tooltip="https://pharma-dept.gov.in/sites/default/files/ucmpmd%20circular%20with%20amended%20code_1_0.pdf" history="1" highlightClick="0" endSnd="0">
                  <a:extLst>
                    <a:ext uri="{A12FA001-AC4F-418D-AE19-62706E023703}">
                      <ahyp:hlinkClr xmlns:ahyp="http://schemas.microsoft.com/office/drawing/2018/hyperlinkcolor" val="tx"/>
                    </a:ext>
                  </a:extLst>
                </a:hlinkClick>
              </a:rPr>
              <a:t>DoP circular 6 Sep 2024: UCMPMD with amended code</a:t>
            </a:r>
            <a:endParaRPr lang="en-US" sz="1400" dirty="0"/>
          </a:p>
          <a:p>
            <a:pPr indent="0" marL="0">
              <a:buNone/>
            </a:pPr>
            <a:r>
              <a:rPr lang="en-US" sz="850" dirty="0">
                <a:solidFill>
                  <a:schemeClr val="tx2"/>
                </a:solidFill>
              </a:rPr>
              <a:t>Department of Pharmaceuticals. Uniform Code for Marketing Practices in Medical Devices (UCMPMD), 2024: circular F. No. 31026/23/2022-Policy dated 6 …</a:t>
            </a:r>
            <a:endParaRPr lang="en-US" sz="1400" dirty="0"/>
          </a:p>
        </p:txBody>
      </p:sp>
      <p:sp>
        <p:nvSpPr>
          <p:cNvPr id="15" name="Text 12"/>
          <p:cNvSpPr txBox="1"/>
          <p:nvPr/>
        </p:nvSpPr>
        <p:spPr>
          <a:xfrm>
            <a:off x="4322978" y="3442716"/>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0" invalidUrl="" action="" tgtFrame="" tooltip="https://cdsco.gov.in/opencms/resources/UploadCDSCOWeb/2022/m_device/mdr,%202017%20(1).pdf" history="1" highlightClick="0" endSnd="0">
                  <a:extLst>
                    <a:ext uri="{A12FA001-AC4F-418D-AE19-62706E023703}">
                      <ahyp:hlinkClr xmlns:ahyp="http://schemas.microsoft.com/office/drawing/2018/hyperlinkcolor" val="tx"/>
                    </a:ext>
                  </a:extLst>
                </a:hlinkClick>
              </a:rPr>
              <a:t>Medical Devices Rules, 2017</a:t>
            </a:r>
            <a:endParaRPr lang="en-US" sz="1400" dirty="0"/>
          </a:p>
          <a:p>
            <a:pPr indent="0" marL="0">
              <a:buNone/>
            </a:pPr>
            <a:r>
              <a:rPr lang="en-US" sz="850" dirty="0">
                <a:solidFill>
                  <a:schemeClr val="tx2"/>
                </a:solidFill>
              </a:rPr>
              <a:t>Ministry of Health and Family Welfare. Medical Devices Rules, 2017 (as amended), consolidated text, CDSCO.</a:t>
            </a:r>
            <a:endParaRPr lang="en-US" sz="1400" dirty="0"/>
          </a:p>
        </p:txBody>
      </p:sp>
      <p:sp>
        <p:nvSpPr>
          <p:cNvPr id="16" name="Text 13"/>
          <p:cNvSpPr txBox="1"/>
          <p:nvPr/>
        </p:nvSpPr>
        <p:spPr>
          <a:xfrm>
            <a:off x="4322978" y="40005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1" invalidUrl="" action="" tgtFrame="" tooltip="https://cdsco.gov.in/opencms/export/sites/CDSCO_WEB/Pdf-documents/medical-device/12MD.pdf" history="1" highlightClick="0" endSnd="0">
                  <a:extLst>
                    <a:ext uri="{A12FA001-AC4F-418D-AE19-62706E023703}">
                      <ahyp:hlinkClr xmlns:ahyp="http://schemas.microsoft.com/office/drawing/2018/hyperlinkcolor" val="tx"/>
                    </a:ext>
                  </a:extLst>
                </a:hlinkClick>
              </a:rPr>
              <a:t>CDSCO Form MD-12 (test licence application)</a:t>
            </a:r>
            <a:endParaRPr lang="en-US" sz="1400" dirty="0"/>
          </a:p>
          <a:p>
            <a:pPr indent="0" marL="0">
              <a:buNone/>
            </a:pPr>
            <a:r>
              <a:rPr lang="en-US" sz="850" dirty="0">
                <a:solidFill>
                  <a:schemeClr val="tx2"/>
                </a:solidFill>
              </a:rPr>
              <a:t>CDSCO. Form MD-12: application for licence to manufacture medical devices for clinical investigation, test, evaluation, examination, demonstration or …</a:t>
            </a:r>
            <a:endParaRPr lang="en-US" sz="1400" dirty="0"/>
          </a:p>
        </p:txBody>
      </p:sp>
      <p:sp>
        <p:nvSpPr>
          <p:cNvPr id="17" name="Text 14"/>
          <p:cNvSpPr txBox="1"/>
          <p:nvPr/>
        </p:nvSpPr>
        <p:spPr>
          <a:xfrm>
            <a:off x="4322978" y="4690872"/>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2" invalidUrl="" action="" tgtFrame="" tooltip="https://cdsco.gov.in/opencms/export/sites/CDSCO_WEB/Pdf-documents/medical-device/22MD.pdf" history="1" highlightClick="0" endSnd="0">
                  <a:extLst>
                    <a:ext uri="{A12FA001-AC4F-418D-AE19-62706E023703}">
                      <ahyp:hlinkClr xmlns:ahyp="http://schemas.microsoft.com/office/drawing/2018/hyperlinkcolor" val="tx"/>
                    </a:ext>
                  </a:extLst>
                </a:hlinkClick>
              </a:rPr>
              <a:t>CDSCO Form MD-22 (clinical investigation)</a:t>
            </a:r>
            <a:endParaRPr lang="en-US" sz="1400" dirty="0"/>
          </a:p>
          <a:p>
            <a:pPr indent="0" marL="0">
              <a:buNone/>
            </a:pPr>
            <a:r>
              <a:rPr lang="en-US" sz="850" dirty="0">
                <a:solidFill>
                  <a:schemeClr val="tx2"/>
                </a:solidFill>
              </a:rPr>
              <a:t>CDSCO. Form MD-22: application for permission to conduct clinical investigation (permission in Form MD-23).</a:t>
            </a:r>
            <a:endParaRPr lang="en-US" sz="1400" dirty="0"/>
          </a:p>
        </p:txBody>
      </p:sp>
      <p:sp>
        <p:nvSpPr>
          <p:cNvPr id="18" name="Text 15"/>
          <p:cNvSpPr txBox="1"/>
          <p:nvPr/>
        </p:nvSpPr>
        <p:spPr>
          <a:xfrm>
            <a:off x="4322978" y="5248656"/>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3" invalidUrl="" action="" tgtFrame="" tooltip="https://cdsco.gov.in/opencms/export/sites/CDSCO_WEB/Pdf-documents/medical-device/RegulatoryMDR-2017.pdf" history="1" highlightClick="0" endSnd="0">
                  <a:extLst>
                    <a:ext uri="{A12FA001-AC4F-418D-AE19-62706E023703}">
                      <ahyp:hlinkClr xmlns:ahyp="http://schemas.microsoft.com/office/drawing/2018/hyperlinkcolor" val="tx"/>
                    </a:ext>
                  </a:extLst>
                </a:hlinkClick>
              </a:rPr>
              <a:t>CDSCO, Regulatory pathway under MDR-2017</a:t>
            </a:r>
            <a:endParaRPr lang="en-US" sz="1400" dirty="0"/>
          </a:p>
          <a:p>
            <a:pPr indent="0" marL="0">
              <a:buNone/>
            </a:pPr>
            <a:r>
              <a:rPr lang="en-US" sz="850" dirty="0">
                <a:solidFill>
                  <a:schemeClr val="tx2"/>
                </a:solidFill>
              </a:rPr>
              <a:t>CDSCO. Regulatory pathway under the Medical Devices Rules, 2017 (overview).</a:t>
            </a:r>
            <a:endParaRPr lang="en-US" sz="1400" dirty="0"/>
          </a:p>
        </p:txBody>
      </p:sp>
      <p:sp>
        <p:nvSpPr>
          <p:cNvPr id="19" name="Text 16"/>
          <p:cNvSpPr txBox="1"/>
          <p:nvPr/>
        </p:nvSpPr>
        <p:spPr>
          <a:xfrm>
            <a:off x="8097317"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4" invalidUrl="" action="" tgtFrame="" tooltip="https://cdsco.gov.in/opencms/export/sites/CDSCO_WEB/Pdf-documents/Guidance-document-on-Medical-Device-Software-under-MDR-2017.pdf" history="1" highlightClick="0" endSnd="0">
                  <a:extLst>
                    <a:ext uri="{A12FA001-AC4F-418D-AE19-62706E023703}">
                      <ahyp:hlinkClr xmlns:ahyp="http://schemas.microsoft.com/office/drawing/2018/hyperlinkcolor" val="tx"/>
                    </a:ext>
                  </a:extLst>
                </a:hlinkClick>
              </a:rPr>
              <a:t>CDSCO, Medical Device Software guidance (21 Jul 2026)</a:t>
            </a:r>
            <a:endParaRPr lang="en-US" sz="1400" dirty="0"/>
          </a:p>
          <a:p>
            <a:pPr indent="0" marL="0">
              <a:buNone/>
            </a:pPr>
            <a:r>
              <a:rPr lang="en-US" sz="850" dirty="0">
                <a:solidFill>
                  <a:schemeClr val="tx2"/>
                </a:solidFill>
              </a:rPr>
              <a:t>CDSCO. Guidance Document on Medical Device Software under the Medical Devices Rules, 2017 (CDSCO/MD/GD/MDSW/01/2026); 21 July 2026.</a:t>
            </a:r>
            <a:endParaRPr lang="en-US" sz="1400" dirty="0"/>
          </a:p>
        </p:txBody>
      </p:sp>
      <p:sp>
        <p:nvSpPr>
          <p:cNvPr id="20" name="Text 17"/>
          <p:cNvSpPr txBox="1"/>
          <p:nvPr/>
        </p:nvSpPr>
        <p:spPr>
          <a:xfrm>
            <a:off x="8097317"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5" invalidUrl="" action="" tgtFrame="" tooltip="https://nhsrcindia.org/hi/node/10346" history="1" highlightClick="0" endSnd="0">
                  <a:extLst>
                    <a:ext uri="{A12FA001-AC4F-418D-AE19-62706E023703}">
                      <ahyp:hlinkClr xmlns:ahyp="http://schemas.microsoft.com/office/drawing/2018/hyperlinkcolor" val="tx"/>
                    </a:ext>
                  </a:extLst>
                </a:hlinkClick>
              </a:rPr>
              <a:t>Materiovigilance Programme of India</a:t>
            </a:r>
            <a:endParaRPr lang="en-US" sz="1400" dirty="0"/>
          </a:p>
          <a:p>
            <a:pPr indent="0" marL="0">
              <a:buNone/>
            </a:pPr>
            <a:r>
              <a:rPr lang="en-US" sz="850" dirty="0">
                <a:solidFill>
                  <a:schemeClr val="tx2"/>
                </a:solidFill>
              </a:rPr>
              <a:t>Indian Pharmacopoeia Commission (National Coordination Centre). Materiovigilance Programme of India (MvPI), launched 6 July 2015.</a:t>
            </a:r>
            <a:endParaRPr lang="en-US" sz="1400" dirty="0"/>
          </a:p>
        </p:txBody>
      </p:sp>
      <p:sp>
        <p:nvSpPr>
          <p:cNvPr id="21" name="Text 18"/>
          <p:cNvSpPr txBox="1"/>
          <p:nvPr/>
        </p:nvSpPr>
        <p:spPr>
          <a:xfrm>
            <a:off x="8097317"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6" invalidUrl="" action="" tgtFrame="" tooltip="https://static.pib.gov.in/WriteReadData/specificdocs/documents/2025/nov/doc20251117695301.pdf" history="1" highlightClick="0" endSnd="0">
                  <a:extLst>
                    <a:ext uri="{A12FA001-AC4F-418D-AE19-62706E023703}">
                      <ahyp:hlinkClr xmlns:ahyp="http://schemas.microsoft.com/office/drawing/2018/hyperlinkcolor" val="tx"/>
                    </a:ext>
                  </a:extLst>
                </a:hlinkClick>
              </a:rPr>
              <a:t>DPDP Rules, 2025</a:t>
            </a:r>
            <a:endParaRPr lang="en-US" sz="1400" dirty="0"/>
          </a:p>
          <a:p>
            <a:pPr indent="0" marL="0">
              <a:buNone/>
            </a:pPr>
            <a:r>
              <a:rPr lang="en-US" sz="850" dirty="0">
                <a:solidFill>
                  <a:schemeClr val="tx2"/>
                </a:solidFill>
              </a:rPr>
              <a:t>Ministry of Electronics and Information Technology. Digital Personal Data Protection Rules, 2025 (notified November 2025; phased commencement).</a:t>
            </a:r>
            <a:endParaRPr lang="en-US" sz="1400" dirty="0"/>
          </a:p>
        </p:txBody>
      </p:sp>
      <p:sp>
        <p:nvSpPr>
          <p:cNvPr id="22" name="Text 19"/>
          <p:cNvSpPr txBox="1"/>
          <p:nvPr/>
        </p:nvSpPr>
        <p:spPr>
          <a:xfrm>
            <a:off x="8097317"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7" invalidUrl="" action="" tgtFrame="" tooltip="https://ethics.ncdirindia.org/asset/pdf/ICMR_National_Ethical_Guidelines.pdf" history="1" highlightClick="0" endSnd="0">
                  <a:extLst>
                    <a:ext uri="{A12FA001-AC4F-418D-AE19-62706E023703}">
                      <ahyp:hlinkClr xmlns:ahyp="http://schemas.microsoft.com/office/drawing/2018/hyperlinkcolor" val="tx"/>
                    </a:ext>
                  </a:extLst>
                </a:hlinkClick>
              </a:rPr>
              <a:t>ICMR National Ethical Guidelines (2017)</a:t>
            </a:r>
            <a:endParaRPr lang="en-US" sz="1400" dirty="0"/>
          </a:p>
          <a:p>
            <a:pPr indent="0" marL="0">
              <a:buNone/>
            </a:pPr>
            <a:r>
              <a:rPr lang="en-US" sz="850" dirty="0">
                <a:solidFill>
                  <a:schemeClr val="tx2"/>
                </a:solidFill>
              </a:rPr>
              <a:t>Indian Council of Medical Research. National Ethical Guidelines for Biomedical and Health Research Involving Human Participants. New Delhi: ICMR; …</a:t>
            </a:r>
            <a:endParaRPr lang="en-US" sz="1400" dirty="0"/>
          </a:p>
        </p:txBody>
      </p:sp>
      <p:sp>
        <p:nvSpPr>
          <p:cNvPr id="23" name="Text 20"/>
          <p:cNvSpPr txBox="1"/>
          <p:nvPr/>
        </p:nvSpPr>
        <p:spPr>
          <a:xfrm>
            <a:off x="8097317"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8" invalidUrl="" action="" tgtFrame="" tooltip="https://cdsco.gov.in/opencms/resources/UploadCDSCOWeb/2022/new_DC_rules/NEW%20DRUGS%20ANDctrS%20RULE,%202019.pdf" history="1" highlightClick="0" endSnd="0">
                  <a:extLst>
                    <a:ext uri="{A12FA001-AC4F-418D-AE19-62706E023703}">
                      <ahyp:hlinkClr xmlns:ahyp="http://schemas.microsoft.com/office/drawing/2018/hyperlinkcolor" val="tx"/>
                    </a:ext>
                  </a:extLst>
                </a:hlinkClick>
              </a:rPr>
              <a:t>New Drugs and Clinical Trials Rules, 2019</a:t>
            </a:r>
            <a:endParaRPr lang="en-US" sz="1400" dirty="0"/>
          </a:p>
          <a:p>
            <a:pPr indent="0" marL="0">
              <a:buNone/>
            </a:pPr>
            <a:r>
              <a:rPr lang="en-US" sz="850" dirty="0">
                <a:solidFill>
                  <a:schemeClr val="tx2"/>
                </a:solidFill>
              </a:rPr>
              <a:t>Ministry of Health and Family Welfare. New Drugs and Clinical Trials Rules, 2019 (ethics committee registration: Rules 7–8 with CDSCO; Rules 16–17 …</a:t>
            </a:r>
            <a:endParaRPr lang="en-US" sz="1400" dirty="0"/>
          </a:p>
        </p:txBody>
      </p:sp>
      <p:sp>
        <p:nvSpPr>
          <p:cNvPr id="24" name="Text 21"/>
          <p:cNvSpPr txBox="1"/>
          <p:nvPr/>
        </p:nvSpPr>
        <p:spPr>
          <a:xfrm>
            <a:off x="8097317" y="4823460"/>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9" invalidUrl="" action="" tgtFrame="" tooltip="https://cdsco.gov.in/opencms/resources/UploadCDSCOWeb/2018/UploadPublic_NoticesFiles/Draft%20guidance%20document%20on%20Medical%20Device%20Software%2021%2010%202025.pdf" history="1" highlightClick="0" endSnd="0">
                  <a:extLst>
                    <a:ext uri="{A12FA001-AC4F-418D-AE19-62706E023703}">
                      <ahyp:hlinkClr xmlns:ahyp="http://schemas.microsoft.com/office/drawing/2018/hyperlinkcolor" val="tx"/>
                    </a:ext>
                  </a:extLst>
                </a:hlinkClick>
              </a:rPr>
              <a:t>CDSCO draft software guidance (21 Oct 2025)</a:t>
            </a:r>
            <a:endParaRPr lang="en-US" sz="1400" dirty="0"/>
          </a:p>
          <a:p>
            <a:pPr indent="0" marL="0">
              <a:buNone/>
            </a:pPr>
            <a:r>
              <a:rPr lang="en-US" sz="850" dirty="0">
                <a:solidFill>
                  <a:schemeClr val="tx2"/>
                </a:solidFill>
              </a:rPr>
              <a:t>CDSCO. Draft Guidance Document on Medical Device Software; 21 October 2025.</a:t>
            </a:r>
            <a:endParaRPr lang="en-US" sz="14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lIns="0" tIns="0" rIns="0" bIns="0" rtlCol="0" anchor="t"/>
          <a:lstStyle/>
          <a:p>
            <a:pPr algn="l" indent="0" marL="0">
              <a:buNone/>
            </a:pPr>
            <a:r>
              <a:rPr lang="en-US" sz="2600" b="1" dirty="0">
                <a:solidFill>
                  <a:schemeClr val="tx1"/>
                </a:solidFill>
              </a:rPr>
              <a:t>India: regulation, guidance, pricing and safety (7/7)</a:t>
            </a: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Checked October 2026. Verify current amendments and extensions before use. Full citations: docs/References.pdf.</a:t>
            </a:r>
            <a:endParaRPr lang="en-US" sz="950" dirty="0"/>
          </a:p>
        </p:txBody>
      </p:sp>
      <p:sp>
        <p:nvSpPr>
          <p:cNvPr id="6" name="Text 3"/>
          <p:cNvSpPr txBox="1"/>
          <p:nvPr/>
        </p:nvSpPr>
        <p:spPr>
          <a:xfrm>
            <a:off x="548640" y="1371600"/>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 invalidUrl="" action="" tgtFrame="" tooltip="https://cdsco.gov.in/opencms/resources/UploadCDSCOWeb/2018/UploadPublic_NoticesFiles/2Draft%20Guidance%20on%20PMS.pdf" history="1" highlightClick="0" endSnd="0">
                  <a:extLst>
                    <a:ext uri="{A12FA001-AC4F-418D-AE19-62706E023703}">
                      <ahyp:hlinkClr xmlns:ahyp="http://schemas.microsoft.com/office/drawing/2018/hyperlinkcolor" val="tx"/>
                    </a:ext>
                  </a:extLst>
                </a:hlinkClick>
              </a:rPr>
              <a:t>CDSCO draft guidance on post-market surveillance (2018)</a:t>
            </a:r>
            <a:endParaRPr lang="en-US" sz="1400" dirty="0"/>
          </a:p>
          <a:p>
            <a:pPr indent="0" marL="0">
              <a:buNone/>
            </a:pPr>
            <a:r>
              <a:rPr lang="en-US" sz="850" dirty="0">
                <a:solidFill>
                  <a:schemeClr val="tx2"/>
                </a:solidFill>
              </a:rPr>
              <a:t>CDSCO. Draft Guidance on Post Market Surveillance of Medical Devices; 2018.</a:t>
            </a:r>
            <a:endParaRPr lang="en-US" sz="1400" dirty="0"/>
          </a:p>
        </p:txBody>
      </p:sp>
      <p:sp>
        <p:nvSpPr>
          <p:cNvPr id="7" name="Text 4"/>
          <p:cNvSpPr txBox="1"/>
          <p:nvPr/>
        </p:nvSpPr>
        <p:spPr>
          <a:xfrm>
            <a:off x="548640" y="192938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2" invalidUrl="" action="" tgtFrame="" tooltip="https://ipc.gov.in/mandates/materiovigilance-programme-of-india-mvpi/about-us.html" history="1" highlightClick="0" endSnd="0">
                  <a:extLst>
                    <a:ext uri="{A12FA001-AC4F-418D-AE19-62706E023703}">
                      <ahyp:hlinkClr xmlns:ahyp="http://schemas.microsoft.com/office/drawing/2018/hyperlinkcolor" val="tx"/>
                    </a:ext>
                  </a:extLst>
                </a:hlinkClick>
              </a:rPr>
              <a:t>IPC, Materiovigilance Programme of India</a:t>
            </a:r>
            <a:endParaRPr lang="en-US" sz="1400" dirty="0"/>
          </a:p>
          <a:p>
            <a:pPr indent="0" marL="0">
              <a:buNone/>
            </a:pPr>
            <a:r>
              <a:rPr lang="en-US" sz="850" dirty="0">
                <a:solidFill>
                  <a:schemeClr val="tx2"/>
                </a:solidFill>
              </a:rPr>
              <a:t>Indian Pharmacopoeia Commission. Materiovigilance Programme of India (MvPI): About us. Launched 6 July 2015; helpline 1800-180-3024; mvpi-ipc@gov.in.</a:t>
            </a:r>
            <a:endParaRPr lang="en-US" sz="1400" dirty="0"/>
          </a:p>
        </p:txBody>
      </p:sp>
      <p:sp>
        <p:nvSpPr>
          <p:cNvPr id="8" name="Text 5"/>
          <p:cNvSpPr txBox="1"/>
          <p:nvPr/>
        </p:nvSpPr>
        <p:spPr>
          <a:xfrm>
            <a:off x="548640" y="261975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3" invalidUrl="" action="" tgtFrame="" tooltip="https://nhsrcindia.org/sites/default/files/Medical-Devices-Adverse-Event-Reporting-Form-(Version-1.2).pdf" history="1" highlightClick="0" endSnd="0">
                  <a:extLst>
                    <a:ext uri="{A12FA001-AC4F-418D-AE19-62706E023703}">
                      <ahyp:hlinkClr xmlns:ahyp="http://schemas.microsoft.com/office/drawing/2018/hyperlinkcolor" val="tx"/>
                    </a:ext>
                  </a:extLst>
                </a:hlinkClick>
              </a:rPr>
              <a:t>MvPI Medical Device Adverse Event Reporting Form</a:t>
            </a:r>
            <a:endParaRPr lang="en-US" sz="1400" dirty="0"/>
          </a:p>
          <a:p>
            <a:pPr indent="0" marL="0">
              <a:buNone/>
            </a:pPr>
            <a:r>
              <a:rPr lang="en-US" sz="850" dirty="0">
                <a:solidFill>
                  <a:schemeClr val="tx2"/>
                </a:solidFill>
              </a:rPr>
              <a:t>Indian Pharmacopoeia Commission. Medical Device Adverse Event Reporting Form, version 1.2 (open to manufacturers, importers, distributors, healthcare …</a:t>
            </a:r>
            <a:endParaRPr lang="en-US" sz="1400" dirty="0"/>
          </a:p>
        </p:txBody>
      </p:sp>
      <p:sp>
        <p:nvSpPr>
          <p:cNvPr id="9" name="Text 6"/>
          <p:cNvSpPr txBox="1"/>
          <p:nvPr/>
        </p:nvSpPr>
        <p:spPr>
          <a:xfrm>
            <a:off x="548640" y="331012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4" invalidUrl="" action="" tgtFrame="" tooltip="https://www.pib.gov.in/newsite/PrintRelease.aspx?relid=158452" history="1" highlightClick="0" endSnd="0">
                  <a:extLst>
                    <a:ext uri="{A12FA001-AC4F-418D-AE19-62706E023703}">
                      <ahyp:hlinkClr xmlns:ahyp="http://schemas.microsoft.com/office/drawing/2018/hyperlinkcolor" val="tx"/>
                    </a:ext>
                  </a:extLst>
                </a:hlinkClick>
              </a:rPr>
              <a:t>PIB/NPPA: coronary stent ceiling prices (13 Feb 2017)</a:t>
            </a:r>
            <a:endParaRPr lang="en-US" sz="1400" dirty="0"/>
          </a:p>
          <a:p>
            <a:pPr indent="0" marL="0">
              <a:buNone/>
            </a:pPr>
            <a:r>
              <a:rPr lang="en-US" sz="850" dirty="0">
                <a:solidFill>
                  <a:schemeClr val="tx2"/>
                </a:solidFill>
              </a:rPr>
              <a:t>Press Information Bureau. NPPA ceiling prices for coronary stents: Rs 7,260 (bare-metal) and Rs 29,600 (drug-eluting); 13 February 2017.</a:t>
            </a:r>
            <a:endParaRPr lang="en-US" sz="1400" dirty="0"/>
          </a:p>
        </p:txBody>
      </p:sp>
      <p:sp>
        <p:nvSpPr>
          <p:cNvPr id="10" name="Text 7"/>
          <p:cNvSpPr txBox="1"/>
          <p:nvPr/>
        </p:nvSpPr>
        <p:spPr>
          <a:xfrm>
            <a:off x="548640" y="40005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5" invalidUrl="" action="" tgtFrame="" tooltip="https://www.pib.gov.in/newsite/PrintRelease.aspx?relid=170040" history="1" highlightClick="0" endSnd="0">
                  <a:extLst>
                    <a:ext uri="{A12FA001-AC4F-418D-AE19-62706E023703}">
                      <ahyp:hlinkClr xmlns:ahyp="http://schemas.microsoft.com/office/drawing/2018/hyperlinkcolor" val="tx"/>
                    </a:ext>
                  </a:extLst>
                </a:hlinkClick>
              </a:rPr>
              <a:t>PIB/NPPA: knee implant ceiling prices (16 Aug 2017)</a:t>
            </a:r>
            <a:endParaRPr lang="en-US" sz="1400" dirty="0"/>
          </a:p>
          <a:p>
            <a:pPr indent="0" marL="0">
              <a:buNone/>
            </a:pPr>
            <a:r>
              <a:rPr lang="en-US" sz="850" dirty="0">
                <a:solidFill>
                  <a:schemeClr val="tx2"/>
                </a:solidFill>
              </a:rPr>
              <a:t>Press Information Bureau. Government fixes ceiling prices of knee implants (cobalt-chromium primary knee: average MRP Rs 1,58,324 to Rs 54,720, 65%; …</a:t>
            </a:r>
            <a:endParaRPr lang="en-US" sz="1400" dirty="0"/>
          </a:p>
        </p:txBody>
      </p:sp>
      <p:sp>
        <p:nvSpPr>
          <p:cNvPr id="11" name="Text 8"/>
          <p:cNvSpPr txBox="1"/>
          <p:nvPr/>
        </p:nvSpPr>
        <p:spPr>
          <a:xfrm>
            <a:off x="548640" y="46908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6" invalidUrl="" action="" tgtFrame="" tooltip="https://medicaldialogues.in/news/industry/medical-devices/nppa-continues-price-cap-on-orthopedic-knee-replacement-implants-for-another-year-till-november-15-2026-158881" history="1" highlightClick="0" endSnd="0">
                  <a:extLst>
                    <a:ext uri="{A12FA001-AC4F-418D-AE19-62706E023703}">
                      <ahyp:hlinkClr xmlns:ahyp="http://schemas.microsoft.com/office/drawing/2018/hyperlinkcolor" val="tx"/>
                    </a:ext>
                  </a:extLst>
                </a:hlinkClick>
              </a:rPr>
              <a:t>Knee implant cap extended to 15 Nov 2026</a:t>
            </a:r>
            <a:endParaRPr lang="en-US" sz="1400" dirty="0"/>
          </a:p>
          <a:p>
            <a:pPr indent="0" marL="0">
              <a:buNone/>
            </a:pPr>
            <a:r>
              <a:rPr lang="en-US" sz="850" dirty="0">
                <a:solidFill>
                  <a:schemeClr val="tx2"/>
                </a:solidFill>
              </a:rPr>
              <a:t>Medical Dialogues. NPPA continues price cap on orthopaedic knee replacement implants for another year, till 15 November 2026.</a:t>
            </a:r>
            <a:endParaRPr lang="en-US" sz="1400" dirty="0"/>
          </a:p>
        </p:txBody>
      </p:sp>
      <p:sp>
        <p:nvSpPr>
          <p:cNvPr id="12" name="Text 9"/>
          <p:cNvSpPr txBox="1"/>
          <p:nvPr/>
        </p:nvSpPr>
        <p:spPr>
          <a:xfrm>
            <a:off x="4322978"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7" invalidUrl="" action="" tgtFrame="" tooltip="https://www.pib.gov.in/PressReleasePage.aspx?PRID=1735430" history="1" highlightClick="0" endSnd="0">
                  <a:extLst>
                    <a:ext uri="{A12FA001-AC4F-418D-AE19-62706E023703}">
                      <ahyp:hlinkClr xmlns:ahyp="http://schemas.microsoft.com/office/drawing/2018/hyperlinkcolor" val="tx"/>
                    </a:ext>
                  </a:extLst>
                </a:hlinkClick>
              </a:rPr>
              <a:t>PIB/NPPA: trade-margin cap on five home-use devices (13 Jul 2021)</a:t>
            </a:r>
            <a:endParaRPr lang="en-US" sz="1400" dirty="0"/>
          </a:p>
          <a:p>
            <a:pPr indent="0" marL="0">
              <a:buNone/>
            </a:pPr>
            <a:r>
              <a:rPr lang="en-US" sz="850" dirty="0">
                <a:solidFill>
                  <a:schemeClr val="tx2"/>
                </a:solidFill>
              </a:rPr>
              <a:t>Press Information Bureau. Government caps trade margin up to 70% on price-to-distributor for pulse oximeters, BP monitors, nebulisers, digital …</a:t>
            </a:r>
            <a:endParaRPr lang="en-US" sz="1400" dirty="0"/>
          </a:p>
        </p:txBody>
      </p:sp>
      <p:sp>
        <p:nvSpPr>
          <p:cNvPr id="13" name="Text 10"/>
          <p:cNvSpPr txBox="1"/>
          <p:nvPr/>
        </p:nvSpPr>
        <p:spPr>
          <a:xfrm>
            <a:off x="4322978"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8" invalidUrl="" action="" tgtFrame="" tooltip="https://www.tctmd.com/news/stents-essential-medicine-indias-cap-stent-prices-could-have-ripples-around-globe" history="1" highlightClick="0" endSnd="0">
                  <a:extLst>
                    <a:ext uri="{A12FA001-AC4F-418D-AE19-62706E023703}">
                      <ahyp:hlinkClr xmlns:ahyp="http://schemas.microsoft.com/office/drawing/2018/hyperlinkcolor" val="tx"/>
                    </a:ext>
                  </a:extLst>
                </a:hlinkClick>
              </a:rPr>
              <a:t>TCTMD: manufacturers’ responses to India’s stent cap</a:t>
            </a:r>
            <a:endParaRPr lang="en-US" sz="1400" dirty="0"/>
          </a:p>
          <a:p>
            <a:pPr indent="0" marL="0">
              <a:buNone/>
            </a:pPr>
            <a:r>
              <a:rPr lang="en-US" sz="850" dirty="0">
                <a:solidFill>
                  <a:schemeClr val="tx2"/>
                </a:solidFill>
              </a:rPr>
              <a:t>TCTMD. Stents as essential medicine: India’s cap on stent prices could have ripples around the globe; 2017 (withdrawal applications refused).</a:t>
            </a:r>
            <a:endParaRPr lang="en-US" sz="1400" dirty="0"/>
          </a:p>
        </p:txBody>
      </p:sp>
      <p:sp>
        <p:nvSpPr>
          <p:cNvPr id="14" name="Text 11"/>
          <p:cNvSpPr txBox="1"/>
          <p:nvPr/>
        </p:nvSpPr>
        <p:spPr>
          <a:xfrm>
            <a:off x="4322978"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9" invalidUrl="" action="" tgtFrame="" tooltip="https://www.businesstoday.in/amp/latest/economy-politics/story/johnson-johnson-faulty-hip-implants-surgeries-compensation-109085-2018-08-25" history="1" highlightClick="0" endSnd="0">
                  <a:extLst>
                    <a:ext uri="{A12FA001-AC4F-418D-AE19-62706E023703}">
                      <ahyp:hlinkClr xmlns:ahyp="http://schemas.microsoft.com/office/drawing/2018/hyperlinkcolor" val="tx"/>
                    </a:ext>
                  </a:extLst>
                </a:hlinkClick>
              </a:rPr>
              <a:t>ASR hip implants: MoHFW expert committee (2018)</a:t>
            </a:r>
            <a:endParaRPr lang="en-US" sz="1400" dirty="0"/>
          </a:p>
          <a:p>
            <a:pPr indent="0" marL="0">
              <a:buNone/>
            </a:pPr>
            <a:r>
              <a:rPr lang="en-US" sz="850" dirty="0">
                <a:solidFill>
                  <a:schemeClr val="tx2"/>
                </a:solidFill>
              </a:rPr>
              <a:t>Business Today. Govt to ask Johnson &amp; Johnson to compensate for faulty hip implants (Agarwal committee report, 19 Feb 2018: about 4,700 ASR surgeries …</a:t>
            </a:r>
            <a:endParaRPr lang="en-US" sz="1400" dirty="0"/>
          </a:p>
        </p:txBody>
      </p:sp>
      <p:sp>
        <p:nvSpPr>
          <p:cNvPr id="15" name="Text 12"/>
          <p:cNvSpPr txBox="1"/>
          <p:nvPr/>
        </p:nvSpPr>
        <p:spPr>
          <a:xfrm>
            <a:off x="4322978"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0" invalidUrl="" action="" tgtFrame="" tooltip="https://www.pib.gov.in/Pressreleaseshare.aspx?PRID=1554266" history="1" highlightClick="0" endSnd="0">
                  <a:extLst>
                    <a:ext uri="{A12FA001-AC4F-418D-AE19-62706E023703}">
                      <ahyp:hlinkClr xmlns:ahyp="http://schemas.microsoft.com/office/drawing/2018/hyperlinkcolor" val="tx"/>
                    </a:ext>
                  </a:extLst>
                </a:hlinkClick>
              </a:rPr>
              <a:t>PIB: compensation formula for ASR hip implant cases (29 Nov 2018)</a:t>
            </a:r>
            <a:endParaRPr lang="en-US" sz="1400" dirty="0"/>
          </a:p>
          <a:p>
            <a:pPr indent="0" marL="0">
              <a:buNone/>
            </a:pPr>
            <a:r>
              <a:rPr lang="en-US" sz="850" dirty="0">
                <a:solidFill>
                  <a:schemeClr val="tx2"/>
                </a:solidFill>
              </a:rPr>
              <a:t>Press Information Bureau. Health Ministry approves compensation formula for hip implant cases (Central Expert Committee; base amount Rs 20 lakh …</a:t>
            </a:r>
            <a:endParaRPr lang="en-US" sz="1400" dirty="0"/>
          </a:p>
        </p:txBody>
      </p:sp>
      <p:sp>
        <p:nvSpPr>
          <p:cNvPr id="16" name="Text 13"/>
          <p:cNvSpPr txBox="1"/>
          <p:nvPr/>
        </p:nvSpPr>
        <p:spPr>
          <a:xfrm>
            <a:off x="4322978"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1" invalidUrl="" action="" tgtFrame="" tooltip="https://www.ascionline.in/wp-content/uploads/2022/09/asci_june-17_ccc_recomm_press_release.pdf" history="1" highlightClick="0" endSnd="0">
                  <a:extLst>
                    <a:ext uri="{A12FA001-AC4F-418D-AE19-62706E023703}">
                      <ahyp:hlinkClr xmlns:ahyp="http://schemas.microsoft.com/office/drawing/2018/hyperlinkcolor" val="tx"/>
                    </a:ext>
                  </a:extLst>
                </a:hlinkClick>
              </a:rPr>
              <a:t>ASCI Code, Chapter I.1 (CCC press release)</a:t>
            </a:r>
            <a:endParaRPr lang="en-US" sz="1400" dirty="0"/>
          </a:p>
          <a:p>
            <a:pPr indent="0" marL="0">
              <a:buNone/>
            </a:pPr>
            <a:r>
              <a:rPr lang="en-US" sz="850" dirty="0">
                <a:solidFill>
                  <a:schemeClr val="tx2"/>
                </a:solidFill>
              </a:rPr>
              <a:t>Advertising Standards Council of India. Consumer Complaints Council recommendations press release (June 2022): health advertisements assessed under …</a:t>
            </a:r>
            <a:endParaRPr lang="en-US" sz="1400" dirty="0"/>
          </a:p>
        </p:txBody>
      </p:sp>
      <p:sp>
        <p:nvSpPr>
          <p:cNvPr id="17" name="Text 14"/>
          <p:cNvSpPr txBox="1"/>
          <p:nvPr/>
        </p:nvSpPr>
        <p:spPr>
          <a:xfrm>
            <a:off x="4322978" y="482346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2" invalidUrl="" action="" tgtFrame="" tooltip="https://pharma-dept.gov.in/sites/default/files/UCMDMD%20circular%201-2026+UCMDMP%20code%20as%20amended%20on%2030.4.2026%20(1).pdf" history="1" highlightClick="0" endSnd="0">
                  <a:extLst>
                    <a:ext uri="{A12FA001-AC4F-418D-AE19-62706E023703}">
                      <ahyp:hlinkClr xmlns:ahyp="http://schemas.microsoft.com/office/drawing/2018/hyperlinkcolor" val="tx"/>
                    </a:ext>
                  </a:extLst>
                </a:hlinkClick>
              </a:rPr>
              <a:t>Uniform Code for Marketing Practices in Medical Devices (2024, amended 2026)</a:t>
            </a:r>
            <a:endParaRPr lang="en-US" sz="1400" dirty="0"/>
          </a:p>
          <a:p>
            <a:pPr indent="0" marL="0">
              <a:buNone/>
            </a:pPr>
            <a:r>
              <a:rPr lang="en-US" sz="850" dirty="0">
                <a:solidFill>
                  <a:schemeClr val="tx2"/>
                </a:solidFill>
              </a:rPr>
              <a:t>Department of Pharmaceuticals. Uniform Code for Marketing Practices in Medical Devices, 2024 (circular of 6 September 2024; as amended on 30 April …</a:t>
            </a:r>
            <a:endParaRPr lang="en-US" sz="1400" dirty="0"/>
          </a:p>
        </p:txBody>
      </p:sp>
      <p:sp>
        <p:nvSpPr>
          <p:cNvPr id="18" name="Text 15"/>
          <p:cNvSpPr txBox="1"/>
          <p:nvPr/>
        </p:nvSpPr>
        <p:spPr>
          <a:xfrm>
            <a:off x="8097317"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3" invalidUrl="" action="" tgtFrame="" tooltip="https://www.delhimedicalcouncil.org/pdf/EthicsRegulations-2002.pdf" history="1" highlightClick="0" endSnd="0">
                  <a:extLst>
                    <a:ext uri="{A12FA001-AC4F-418D-AE19-62706E023703}">
                      <ahyp:hlinkClr xmlns:ahyp="http://schemas.microsoft.com/office/drawing/2018/hyperlinkcolor" val="tx"/>
                    </a:ext>
                  </a:extLst>
                </a:hlinkClick>
              </a:rPr>
              <a:t>IMC Professional Conduct Regulations 2002, clause 6.8</a:t>
            </a:r>
            <a:endParaRPr lang="en-US" sz="1400" dirty="0"/>
          </a:p>
          <a:p>
            <a:pPr indent="0" marL="0">
              <a:buNone/>
            </a:pPr>
            <a:r>
              <a:rPr lang="en-US" sz="850" dirty="0">
                <a:solidFill>
                  <a:schemeClr val="tx2"/>
                </a:solidFill>
              </a:rPr>
              <a:t>Medical Council of India. Indian Medical Council (Professional Conduct, Etiquette and Ethics) Regulations, 2002, clause 6.8 (inserted 2009); …</a:t>
            </a:r>
            <a:endParaRPr lang="en-US" sz="1400" dirty="0"/>
          </a:p>
        </p:txBody>
      </p:sp>
      <p:sp>
        <p:nvSpPr>
          <p:cNvPr id="19" name="Text 16"/>
          <p:cNvSpPr txBox="1"/>
          <p:nvPr/>
        </p:nvSpPr>
        <p:spPr>
          <a:xfrm>
            <a:off x="8097317" y="2061972"/>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4" invalidUrl="" action="" tgtFrame="" tooltip="https://thewire.in/health/nmc-puts-new-guidelines-on-doctors-ethics-in-abeyance-after-imas-meeting-with-health-minister" history="1" highlightClick="0" endSnd="0">
                  <a:extLst>
                    <a:ext uri="{A12FA001-AC4F-418D-AE19-62706E023703}">
                      <ahyp:hlinkClr xmlns:ahyp="http://schemas.microsoft.com/office/drawing/2018/hyperlinkcolor" val="tx"/>
                    </a:ext>
                  </a:extLst>
                </a:hlinkClick>
              </a:rPr>
              <a:t>NMC 2023 conduct regulations in abeyance</a:t>
            </a:r>
            <a:endParaRPr lang="en-US" sz="1400" dirty="0"/>
          </a:p>
          <a:p>
            <a:pPr indent="0" marL="0">
              <a:buNone/>
            </a:pPr>
            <a:r>
              <a:rPr lang="en-US" sz="850" dirty="0">
                <a:solidFill>
                  <a:schemeClr val="tx2"/>
                </a:solidFill>
              </a:rPr>
              <a:t>The Wire. NMC puts new guidelines on doctors’ ethics in abeyance; August 2023.</a:t>
            </a:r>
            <a:endParaRPr lang="en-US" sz="1400" dirty="0"/>
          </a:p>
        </p:txBody>
      </p:sp>
      <p:sp>
        <p:nvSpPr>
          <p:cNvPr id="20" name="Text 17"/>
          <p:cNvSpPr txBox="1"/>
          <p:nvPr/>
        </p:nvSpPr>
        <p:spPr>
          <a:xfrm>
            <a:off x="8097317" y="2619756"/>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5" invalidUrl="" action="" tgtFrame="" tooltip="https://www.indiacode.nic.in/indiacode/bitstream/123456789/1412/1/A1954-21.pdf" history="1" highlightClick="0" endSnd="0">
                  <a:extLst>
                    <a:ext uri="{A12FA001-AC4F-418D-AE19-62706E023703}">
                      <ahyp:hlinkClr xmlns:ahyp="http://schemas.microsoft.com/office/drawing/2018/hyperlinkcolor" val="tx"/>
                    </a:ext>
                  </a:extLst>
                </a:hlinkClick>
              </a:rPr>
              <a:t>Drugs and Magic Remedies (Objectionable Advertisements) Act, 1954</a:t>
            </a:r>
            <a:endParaRPr lang="en-US" sz="1400" dirty="0"/>
          </a:p>
          <a:p>
            <a:pPr indent="0" marL="0">
              <a:buNone/>
            </a:pPr>
            <a:r>
              <a:rPr lang="en-US" sz="850" dirty="0">
                <a:solidFill>
                  <a:schemeClr val="tx2"/>
                </a:solidFill>
              </a:rPr>
              <a:t>Drugs and Magic Remedies (Objectionable Advertisements) Act, 1954 (Schedule includes ‘rheumatism’).</a:t>
            </a:r>
            <a:endParaRPr lang="en-US" sz="1400" dirty="0"/>
          </a:p>
        </p:txBody>
      </p:sp>
      <p:sp>
        <p:nvSpPr>
          <p:cNvPr id="21" name="Text 18"/>
          <p:cNvSpPr txBox="1"/>
          <p:nvPr/>
        </p:nvSpPr>
        <p:spPr>
          <a:xfrm>
            <a:off x="8097317" y="317754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6" invalidUrl="" action="" tgtFrame="" tooltip="https://pmc.ncbi.nlm.nih.gov/articles/PMC5017174" history="1" highlightClick="0" endSnd="0">
                  <a:extLst>
                    <a:ext uri="{A12FA001-AC4F-418D-AE19-62706E023703}">
                      <ahyp:hlinkClr xmlns:ahyp="http://schemas.microsoft.com/office/drawing/2018/hyperlinkcolor" val="tx"/>
                    </a:ext>
                  </a:extLst>
                </a:hlinkClick>
              </a:rPr>
              <a:t>Pal et al., Indian J Orthop (2016)</a:t>
            </a:r>
            <a:endParaRPr lang="en-US" sz="1400" dirty="0"/>
          </a:p>
          <a:p>
            <a:pPr indent="0" marL="0">
              <a:buNone/>
            </a:pPr>
            <a:r>
              <a:rPr lang="en-US" sz="850" dirty="0">
                <a:solidFill>
                  <a:schemeClr val="tx2"/>
                </a:solidFill>
              </a:rPr>
              <a:t>Pal CP, Singh P, Chaturvedi S, Pruthi KK, Vij A. Epidemiology of knee osteoarthritis in India and related factors. Indian J Orthop. …</a:t>
            </a:r>
            <a:endParaRPr lang="en-US" sz="1400" dirty="0"/>
          </a:p>
        </p:txBody>
      </p:sp>
      <p:sp>
        <p:nvSpPr>
          <p:cNvPr id="22" name="Text 19"/>
          <p:cNvSpPr txBox="1"/>
          <p:nvPr/>
        </p:nvSpPr>
        <p:spPr>
          <a:xfrm>
            <a:off x="8097317" y="386791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7" invalidUrl="" action="" tgtFrame="" tooltip="https://www.ncbi.nlm.nih.gov/pmc/articles/PMC8295043/" history="1" highlightClick="0" endSnd="0">
                  <a:extLst>
                    <a:ext uri="{A12FA001-AC4F-418D-AE19-62706E023703}">
                      <ahyp:hlinkClr xmlns:ahyp="http://schemas.microsoft.com/office/drawing/2018/hyperlinkcolor" val="tx"/>
                    </a:ext>
                  </a:extLst>
                </a:hlinkClick>
              </a:rPr>
              <a:t>India State-Level Disease Burden Initiative, Lancet Glob Health (2021)</a:t>
            </a:r>
            <a:endParaRPr lang="en-US" sz="1400" dirty="0"/>
          </a:p>
          <a:p>
            <a:pPr indent="0" marL="0">
              <a:buNone/>
            </a:pPr>
            <a:r>
              <a:rPr lang="en-US" sz="850" dirty="0">
                <a:solidFill>
                  <a:schemeClr val="tx2"/>
                </a:solidFill>
              </a:rPr>
              <a:t>India State-Level Disease Burden Initiative Neurological Disorders Collaborators. The burden of neurological disorders across the states of India: …</a:t>
            </a:r>
            <a:endParaRPr lang="en-US" sz="14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lIns="0" tIns="0" rIns="0" bIns="0" rtlCol="0" anchor="t"/>
          <a:lstStyle/>
          <a:p>
            <a:pPr algn="l" indent="0" marL="0">
              <a:buNone/>
            </a:pPr>
            <a:r>
              <a:rPr lang="en-US" sz="2600" b="1" dirty="0">
                <a:solidFill>
                  <a:schemeClr val="tx1"/>
                </a:solidFill>
              </a:rPr>
              <a:t>Regulation abroad, ethics and standards (1/2)</a:t>
            </a: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International sources are comparators; Indian law and guidance govern practice in India. Full citations: docs/References.pdf.</a:t>
            </a:r>
            <a:endParaRPr lang="en-US" sz="950" dirty="0"/>
          </a:p>
        </p:txBody>
      </p:sp>
      <p:sp>
        <p:nvSpPr>
          <p:cNvPr id="6" name="Text 3"/>
          <p:cNvSpPr txBox="1"/>
          <p:nvPr/>
        </p:nvSpPr>
        <p:spPr>
          <a:xfrm>
            <a:off x="548640"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 invalidUrl="" action="" tgtFrame="" tooltip="https://www.fda.gov/medical-device-user-fee-amendments-mdufa" history="1" highlightClick="0" endSnd="0">
                  <a:extLst>
                    <a:ext uri="{A12FA001-AC4F-418D-AE19-62706E023703}">
                      <ahyp:hlinkClr xmlns:ahyp="http://schemas.microsoft.com/office/drawing/2018/hyperlinkcolor" val="tx"/>
                    </a:ext>
                  </a:extLst>
                </a:hlinkClick>
              </a:rPr>
              <a:t>FDA MDUFA fees FY2026</a:t>
            </a:r>
            <a:endParaRPr lang="en-US" sz="1400" dirty="0"/>
          </a:p>
          <a:p>
            <a:pPr indent="0" marL="0">
              <a:buNone/>
            </a:pPr>
            <a:r>
              <a:rPr lang="en-US" sz="850" dirty="0">
                <a:solidFill>
                  <a:schemeClr val="tx2"/>
                </a:solidFill>
              </a:rPr>
              <a:t>US FDA. Medical Device User Fee Amendments (MDUFA): user fees for FY2026 (1 October 2025 to 30 September 2026); small-business threshold US$100 …</a:t>
            </a:r>
            <a:endParaRPr lang="en-US" sz="1400" dirty="0"/>
          </a:p>
        </p:txBody>
      </p:sp>
      <p:sp>
        <p:nvSpPr>
          <p:cNvPr id="7" name="Text 4"/>
          <p:cNvSpPr txBox="1"/>
          <p:nvPr/>
        </p:nvSpPr>
        <p:spPr>
          <a:xfrm>
            <a:off x="548640"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2" invalidUrl="" action="" tgtFrame="" tooltip="https://www.fda.gov/quality-systems-regulation" history="1" highlightClick="0" endSnd="0">
                  <a:extLst>
                    <a:ext uri="{A12FA001-AC4F-418D-AE19-62706E023703}">
                      <ahyp:hlinkClr xmlns:ahyp="http://schemas.microsoft.com/office/drawing/2018/hyperlinkcolor" val="tx"/>
                    </a:ext>
                  </a:extLst>
                </a:hlinkClick>
              </a:rPr>
              <a:t>FDA Quality Management System Regulation (QMSR)</a:t>
            </a:r>
            <a:endParaRPr lang="en-US" sz="1400" dirty="0"/>
          </a:p>
          <a:p>
            <a:pPr indent="0" marL="0">
              <a:buNone/>
            </a:pPr>
            <a:r>
              <a:rPr lang="en-US" sz="850" dirty="0">
                <a:solidFill>
                  <a:schemeClr val="tx2"/>
                </a:solidFill>
              </a:rPr>
              <a:t>US FDA. Quality Management System Regulation: 21 CFR Part 820 incorporating ISO 13485:2016 by reference; final rule February 2024, effective 2 …</a:t>
            </a:r>
            <a:endParaRPr lang="en-US" sz="1400" dirty="0"/>
          </a:p>
        </p:txBody>
      </p:sp>
      <p:sp>
        <p:nvSpPr>
          <p:cNvPr id="8" name="Text 5"/>
          <p:cNvSpPr txBox="1"/>
          <p:nvPr/>
        </p:nvSpPr>
        <p:spPr>
          <a:xfrm>
            <a:off x="548640"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3" invalidUrl="" action="" tgtFrame="" tooltip="https://www.emergobyul.com/news/us-fda-issues-2025-annual-report-medical-device-regulatory-activities" history="1" highlightClick="0" endSnd="0">
                  <a:extLst>
                    <a:ext uri="{A12FA001-AC4F-418D-AE19-62706E023703}">
                      <ahyp:hlinkClr xmlns:ahyp="http://schemas.microsoft.com/office/drawing/2018/hyperlinkcolor" val="tx"/>
                    </a:ext>
                  </a:extLst>
                </a:hlinkClick>
              </a:rPr>
              <a:t>Emergo by UL on FDA CDRH 2025 annual report</a:t>
            </a:r>
            <a:endParaRPr lang="en-US" sz="1400" dirty="0"/>
          </a:p>
          <a:p>
            <a:pPr indent="0" marL="0">
              <a:buNone/>
            </a:pPr>
            <a:r>
              <a:rPr lang="en-US" sz="850" dirty="0">
                <a:solidFill>
                  <a:schemeClr val="tx2"/>
                </a:solidFill>
              </a:rPr>
              <a:t>Emergo by UL. US FDA issues 2025 annual report on medical device regulatory activities (3,238 510(k) clearances, 27 De Novo grants, 41 original PMAs, …</a:t>
            </a:r>
            <a:endParaRPr lang="en-US" sz="1400" dirty="0"/>
          </a:p>
        </p:txBody>
      </p:sp>
      <p:sp>
        <p:nvSpPr>
          <p:cNvPr id="9" name="Text 6"/>
          <p:cNvSpPr txBox="1"/>
          <p:nvPr/>
        </p:nvSpPr>
        <p:spPr>
          <a:xfrm>
            <a:off x="548640"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4" invalidUrl="" action="" tgtFrame="" tooltip="https://www.fda.gov/medical-devices/how-study-and-market-your-device/breakthrough-devices-program" history="1" highlightClick="0" endSnd="0">
                  <a:extLst>
                    <a:ext uri="{A12FA001-AC4F-418D-AE19-62706E023703}">
                      <ahyp:hlinkClr xmlns:ahyp="http://schemas.microsoft.com/office/drawing/2018/hyperlinkcolor" val="tx"/>
                    </a:ext>
                  </a:extLst>
                </a:hlinkClick>
              </a:rPr>
              <a:t>FDA Breakthrough Devices Program metrics</a:t>
            </a:r>
            <a:endParaRPr lang="en-US" sz="1400" dirty="0"/>
          </a:p>
          <a:p>
            <a:pPr indent="0" marL="0">
              <a:buNone/>
            </a:pPr>
            <a:r>
              <a:rPr lang="en-US" sz="850" dirty="0">
                <a:solidFill>
                  <a:schemeClr val="tx2"/>
                </a:solidFill>
              </a:rPr>
              <a:t>US FDA. Breakthrough Devices Program: 1,246 designations granted to 31 December 2025; 185 devices with marketing authorisation; 136 designations in …</a:t>
            </a:r>
            <a:endParaRPr lang="en-US" sz="1400" dirty="0"/>
          </a:p>
        </p:txBody>
      </p:sp>
      <p:sp>
        <p:nvSpPr>
          <p:cNvPr id="10" name="Text 7"/>
          <p:cNvSpPr txBox="1"/>
          <p:nvPr/>
        </p:nvSpPr>
        <p:spPr>
          <a:xfrm>
            <a:off x="548640"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5" invalidUrl="" action="" tgtFrame="" tooltip="https://www.fda.gov/media/191127/download" history="1" highlightClick="0" endSnd="0">
                  <a:extLst>
                    <a:ext uri="{A12FA001-AC4F-418D-AE19-62706E023703}">
                      <ahyp:hlinkClr xmlns:ahyp="http://schemas.microsoft.com/office/drawing/2018/hyperlinkcolor" val="tx"/>
                    </a:ext>
                  </a:extLst>
                </a:hlinkClick>
              </a:rPr>
              <a:t>FDA MDUFA V performance report (Sept 2025)</a:t>
            </a:r>
            <a:endParaRPr lang="en-US" sz="1400" dirty="0"/>
          </a:p>
          <a:p>
            <a:pPr indent="0" marL="0">
              <a:buNone/>
            </a:pPr>
            <a:r>
              <a:rPr lang="en-US" sz="850" dirty="0">
                <a:solidFill>
                  <a:schemeClr val="tx2"/>
                </a:solidFill>
              </a:rPr>
              <a:t>US FDA. MDUFA performance report to Congress, 30 September 2025: 510(k) goal 95% within 90 FDA days; original PMA total time to decision goal 285 …</a:t>
            </a:r>
            <a:endParaRPr lang="en-US" sz="1400" dirty="0"/>
          </a:p>
        </p:txBody>
      </p:sp>
      <p:sp>
        <p:nvSpPr>
          <p:cNvPr id="11" name="Text 8"/>
          <p:cNvSpPr txBox="1"/>
          <p:nvPr/>
        </p:nvSpPr>
        <p:spPr>
          <a:xfrm>
            <a:off x="548640" y="4823460"/>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6" invalidUrl="" action="" tgtFrame="" tooltip="https://www.fda.gov/device-approvals-and-clearances" history="1" highlightClick="0" endSnd="0">
                  <a:extLst>
                    <a:ext uri="{A12FA001-AC4F-418D-AE19-62706E023703}">
                      <ahyp:hlinkClr xmlns:ahyp="http://schemas.microsoft.com/office/drawing/2018/hyperlinkcolor" val="tx"/>
                    </a:ext>
                  </a:extLst>
                </a:hlinkClick>
              </a:rPr>
              <a:t>FDA device approvals and clearances</a:t>
            </a:r>
            <a:endParaRPr lang="en-US" sz="1400" dirty="0"/>
          </a:p>
          <a:p>
            <a:pPr indent="0" marL="0">
              <a:buNone/>
            </a:pPr>
            <a:r>
              <a:rPr lang="en-US" sz="850" dirty="0">
                <a:solidFill>
                  <a:schemeClr val="tx2"/>
                </a:solidFill>
              </a:rPr>
              <a:t>US FDA. Device approvals and clearances: Class I, II and III; 510(k), De Novo, PMA, HDE and IDE pathways.</a:t>
            </a:r>
            <a:endParaRPr lang="en-US" sz="1400" dirty="0"/>
          </a:p>
        </p:txBody>
      </p:sp>
      <p:sp>
        <p:nvSpPr>
          <p:cNvPr id="12" name="Text 9"/>
          <p:cNvSpPr txBox="1"/>
          <p:nvPr/>
        </p:nvSpPr>
        <p:spPr>
          <a:xfrm>
            <a:off x="548640" y="53812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7" invalidUrl="" action="" tgtFrame="" tooltip="https://legacy.registrarcorp.com/an-overview-of-fdas-updated-udi-requirements-for-class-1-medical-devices/" history="1" highlightClick="0" endSnd="0">
                  <a:extLst>
                    <a:ext uri="{A12FA001-AC4F-418D-AE19-62706E023703}">
                      <ahyp:hlinkClr xmlns:ahyp="http://schemas.microsoft.com/office/drawing/2018/hyperlinkcolor" val="tx"/>
                    </a:ext>
                  </a:extLst>
                </a:hlinkClick>
              </a:rPr>
              <a:t>Registrar Corp on FDA UDI and GUDID (2025)</a:t>
            </a:r>
            <a:endParaRPr lang="en-US" sz="1400" dirty="0"/>
          </a:p>
          <a:p>
            <a:pPr indent="0" marL="0">
              <a:buNone/>
            </a:pPr>
            <a:r>
              <a:rPr lang="en-US" sz="850" dirty="0">
                <a:solidFill>
                  <a:schemeClr val="tx2"/>
                </a:solidFill>
              </a:rPr>
              <a:t>Registrar Corp. An overview of FDA's updated UDI requirements for Class I medical devices (GUDID; July 2022 guidance); 12 May 2025.</a:t>
            </a:r>
            <a:endParaRPr lang="en-US" sz="1400" dirty="0"/>
          </a:p>
        </p:txBody>
      </p:sp>
      <p:sp>
        <p:nvSpPr>
          <p:cNvPr id="13" name="Text 10"/>
          <p:cNvSpPr txBox="1"/>
          <p:nvPr/>
        </p:nvSpPr>
        <p:spPr>
          <a:xfrm>
            <a:off x="4322978"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8" invalidUrl="" action="" tgtFrame="" tooltip="https://www.medtechdive.com/trendline/medical-device-safety-recalls-fda/502" history="1" highlightClick="0" endSnd="0">
                  <a:extLst>
                    <a:ext uri="{A12FA001-AC4F-418D-AE19-62706E023703}">
                      <ahyp:hlinkClr xmlns:ahyp="http://schemas.microsoft.com/office/drawing/2018/hyperlinkcolor" val="tx"/>
                    </a:ext>
                  </a:extLst>
                </a:hlinkClick>
              </a:rPr>
              <a:t>MedTech Dive, device safety and recalls trendline</a:t>
            </a:r>
            <a:endParaRPr lang="en-US" sz="1400" dirty="0"/>
          </a:p>
          <a:p>
            <a:pPr indent="0" marL="0">
              <a:buNone/>
            </a:pPr>
            <a:r>
              <a:rPr lang="en-US" sz="850" dirty="0">
                <a:solidFill>
                  <a:schemeClr val="tx2"/>
                </a:solidFill>
              </a:rPr>
              <a:t>MedTech Dive. Medical device safety and recalls (MAUDE, recalls; about a quarter of Class I recall notices 2018 to 2022 carried UDI); 2025.</a:t>
            </a:r>
            <a:endParaRPr lang="en-US" sz="1400" dirty="0"/>
          </a:p>
        </p:txBody>
      </p:sp>
      <p:sp>
        <p:nvSpPr>
          <p:cNvPr id="14" name="Text 11"/>
          <p:cNvSpPr txBox="1"/>
          <p:nvPr/>
        </p:nvSpPr>
        <p:spPr>
          <a:xfrm>
            <a:off x="4322978"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9" invalidUrl="" action="" tgtFrame="" tooltip="https://simplerqms.com/eu-mdr-medical-device-classification/" history="1" highlightClick="0" endSnd="0">
                  <a:extLst>
                    <a:ext uri="{A12FA001-AC4F-418D-AE19-62706E023703}">
                      <ahyp:hlinkClr xmlns:ahyp="http://schemas.microsoft.com/office/drawing/2018/hyperlinkcolor" val="tx"/>
                    </a:ext>
                  </a:extLst>
                </a:hlinkClick>
              </a:rPr>
              <a:t>SimplerQMS, EU MDR classification</a:t>
            </a:r>
            <a:endParaRPr lang="en-US" sz="1400" dirty="0"/>
          </a:p>
          <a:p>
            <a:pPr indent="0" marL="0">
              <a:buNone/>
            </a:pPr>
            <a:r>
              <a:rPr lang="en-US" sz="850" dirty="0">
                <a:solidFill>
                  <a:schemeClr val="tx2"/>
                </a:solidFill>
              </a:rPr>
              <a:t>SimplerQMS. EU MDR medical device classification: Classes I (Is, Im, Ir), IIa, IIb, III under the 22 rules of Annex VIII; 2025.</a:t>
            </a:r>
            <a:endParaRPr lang="en-US" sz="1400" dirty="0"/>
          </a:p>
        </p:txBody>
      </p:sp>
      <p:sp>
        <p:nvSpPr>
          <p:cNvPr id="15" name="Text 12"/>
          <p:cNvSpPr txBox="1"/>
          <p:nvPr/>
        </p:nvSpPr>
        <p:spPr>
          <a:xfrm>
            <a:off x="4322978"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0" invalidUrl="" action="" tgtFrame="" tooltip="https://meddeviceguide.com/blog/eu-mdr-notified-body-certificate-expiry-cliff-eudamed-nando-analysis-2026" history="1" highlightClick="0" endSnd="0">
                  <a:extLst>
                    <a:ext uri="{A12FA001-AC4F-418D-AE19-62706E023703}">
                      <ahyp:hlinkClr xmlns:ahyp="http://schemas.microsoft.com/office/drawing/2018/hyperlinkcolor" val="tx"/>
                    </a:ext>
                  </a:extLst>
                </a:hlinkClick>
              </a:rPr>
              <a:t>Meddeviceguide, NANDO notified-body analysis (2026)</a:t>
            </a:r>
            <a:endParaRPr lang="en-US" sz="1400" dirty="0"/>
          </a:p>
          <a:p>
            <a:pPr indent="0" marL="0">
              <a:buNone/>
            </a:pPr>
            <a:r>
              <a:rPr lang="en-US" sz="850" dirty="0">
                <a:solidFill>
                  <a:schemeClr val="tx2"/>
                </a:solidFill>
              </a:rPr>
              <a:t>Meddeviceguide. EU MDR notified-body certificate expiry cliff: NANDO analysis 2026 (about 48 MDR-designated notified bodies; 45 to 50 range).</a:t>
            </a:r>
            <a:endParaRPr lang="en-US" sz="1400" dirty="0"/>
          </a:p>
        </p:txBody>
      </p:sp>
      <p:sp>
        <p:nvSpPr>
          <p:cNvPr id="16" name="Text 13"/>
          <p:cNvSpPr txBox="1"/>
          <p:nvPr/>
        </p:nvSpPr>
        <p:spPr>
          <a:xfrm>
            <a:off x="4322978"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1" invalidUrl="" action="" tgtFrame="" tooltip="https://www.raps.org/resource/team-nb-survey-shows-slowdown-in-growth-of-mdr-and-ivdr-certificates-issued-in-2025.html" history="1" highlightClick="0" endSnd="0">
                  <a:extLst>
                    <a:ext uri="{A12FA001-AC4F-418D-AE19-62706E023703}">
                      <ahyp:hlinkClr xmlns:ahyp="http://schemas.microsoft.com/office/drawing/2018/hyperlinkcolor" val="tx"/>
                    </a:ext>
                  </a:extLst>
                </a:hlinkClick>
              </a:rPr>
              <a:t>RAPS on the Team-NB 2025 survey</a:t>
            </a:r>
            <a:endParaRPr lang="en-US" sz="1400" dirty="0"/>
          </a:p>
          <a:p>
            <a:pPr indent="0" marL="0">
              <a:buNone/>
            </a:pPr>
            <a:r>
              <a:rPr lang="en-US" sz="850" dirty="0">
                <a:solidFill>
                  <a:schemeClr val="tx2"/>
                </a:solidFill>
              </a:rPr>
              <a:t>RAPS. Team-NB survey shows slowdown in growth of MDR and IVDR certificates issued in 2025 (17,260 certificates; 25,978 MDR applications vs 13,953 MDR …</a:t>
            </a:r>
            <a:endParaRPr lang="en-US" sz="1400" dirty="0"/>
          </a:p>
        </p:txBody>
      </p:sp>
      <p:sp>
        <p:nvSpPr>
          <p:cNvPr id="17" name="Text 14"/>
          <p:cNvSpPr txBox="1"/>
          <p:nvPr/>
        </p:nvSpPr>
        <p:spPr>
          <a:xfrm>
            <a:off x="4322978"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2" invalidUrl="" action="" tgtFrame="" tooltip="https://www.bsigroup.com/it-IT/Dispositivi-Medici/news-centre/enews/2023-news/mdr-transition-timelines-extended/" history="1" highlightClick="0" endSnd="0">
                  <a:extLst>
                    <a:ext uri="{A12FA001-AC4F-418D-AE19-62706E023703}">
                      <ahyp:hlinkClr xmlns:ahyp="http://schemas.microsoft.com/office/drawing/2018/hyperlinkcolor" val="tx"/>
                    </a:ext>
                  </a:extLst>
                </a:hlinkClick>
              </a:rPr>
              <a:t>BSI on Regulation (EU) 2023/607</a:t>
            </a:r>
            <a:endParaRPr lang="en-US" sz="1400" dirty="0"/>
          </a:p>
          <a:p>
            <a:pPr indent="0" marL="0">
              <a:buNone/>
            </a:pPr>
            <a:r>
              <a:rPr lang="en-US" sz="850" dirty="0">
                <a:solidFill>
                  <a:schemeClr val="tx2"/>
                </a:solidFill>
              </a:rPr>
              <a:t>BSI. MDR transition timelines extended: Regulation (EU) 2023/607 (Class III custom-made implantables to 26 May 2026; other Class III and IIb …</a:t>
            </a:r>
            <a:endParaRPr lang="en-US" sz="1400" dirty="0"/>
          </a:p>
        </p:txBody>
      </p:sp>
      <p:sp>
        <p:nvSpPr>
          <p:cNvPr id="18" name="Text 15"/>
          <p:cNvSpPr txBox="1"/>
          <p:nvPr/>
        </p:nvSpPr>
        <p:spPr>
          <a:xfrm>
            <a:off x="4322978" y="482346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3" invalidUrl="" action="" tgtFrame="" tooltip="https://www.tuev-nord.de/en/knowledge/standards-in-focus/eudamed-mandatory-use-of-first-four-modules-from-may-28-2026/" history="1" highlightClick="0" endSnd="0">
                  <a:extLst>
                    <a:ext uri="{A12FA001-AC4F-418D-AE19-62706E023703}">
                      <ahyp:hlinkClr xmlns:ahyp="http://schemas.microsoft.com/office/drawing/2018/hyperlinkcolor" val="tx"/>
                    </a:ext>
                  </a:extLst>
                </a:hlinkClick>
              </a:rPr>
              <a:t>TÜV NORD on EUDAMED mandatory use (28 May 2026)</a:t>
            </a:r>
            <a:endParaRPr lang="en-US" sz="1400" dirty="0"/>
          </a:p>
          <a:p>
            <a:pPr indent="0" marL="0">
              <a:buNone/>
            </a:pPr>
            <a:r>
              <a:rPr lang="en-US" sz="850" dirty="0">
                <a:solidFill>
                  <a:schemeClr val="tx2"/>
                </a:solidFill>
              </a:rPr>
              <a:t>TÜV NORD. EUDAMED: mandatory use of the first four modules (actor registration/SRN, UDI/device registration, notified bodies and certificates, market …</a:t>
            </a:r>
            <a:endParaRPr lang="en-US" sz="1400" dirty="0"/>
          </a:p>
        </p:txBody>
      </p:sp>
      <p:sp>
        <p:nvSpPr>
          <p:cNvPr id="19" name="Text 16"/>
          <p:cNvSpPr txBox="1"/>
          <p:nvPr/>
        </p:nvSpPr>
        <p:spPr>
          <a:xfrm>
            <a:off x="4322978" y="551383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4" invalidUrl="" action="" tgtFrame="" tooltip="https://www.fieldfisher.com/en/locations/belgium/insights/breaking-the-bottleneck-the-commission-s-proposal" history="1" highlightClick="0" endSnd="0">
                  <a:extLst>
                    <a:ext uri="{A12FA001-AC4F-418D-AE19-62706E023703}">
                      <ahyp:hlinkClr xmlns:ahyp="http://schemas.microsoft.com/office/drawing/2018/hyperlinkcolor" val="tx"/>
                    </a:ext>
                  </a:extLst>
                </a:hlinkClick>
              </a:rPr>
              <a:t>Fieldfisher on the Commission's MDR/IVDR proposal (Dec 2025)</a:t>
            </a:r>
            <a:endParaRPr lang="en-US" sz="1400" dirty="0"/>
          </a:p>
          <a:p>
            <a:pPr indent="0" marL="0">
              <a:buNone/>
            </a:pPr>
            <a:r>
              <a:rPr lang="en-US" sz="850" dirty="0">
                <a:solidFill>
                  <a:schemeClr val="tx2"/>
                </a:solidFill>
              </a:rPr>
              <a:t>Fieldfisher. Breaking the bottleneck: the Commission's proposal for targeted MDR/IVDR amendments (broader clinical evidence, predetermined change …</a:t>
            </a:r>
            <a:endParaRPr lang="en-US" sz="1400" dirty="0"/>
          </a:p>
        </p:txBody>
      </p:sp>
      <p:sp>
        <p:nvSpPr>
          <p:cNvPr id="20" name="Text 17"/>
          <p:cNvSpPr txBox="1"/>
          <p:nvPr/>
        </p:nvSpPr>
        <p:spPr>
          <a:xfrm>
            <a:off x="8097317"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5" invalidUrl="" action="" tgtFrame="" tooltip="https://www.tuvsud.com/en-us/industries/healthcare-and-medical-devices/medical-devices-and-ivd/medical-device-market-approval-and-certification/ukca-for-medical-devices" history="1" highlightClick="0" endSnd="0">
                  <a:extLst>
                    <a:ext uri="{A12FA001-AC4F-418D-AE19-62706E023703}">
                      <ahyp:hlinkClr xmlns:ahyp="http://schemas.microsoft.com/office/drawing/2018/hyperlinkcolor" val="tx"/>
                    </a:ext>
                  </a:extLst>
                </a:hlinkClick>
              </a:rPr>
              <a:t>TÜV SÜD, UKCA for medical devices</a:t>
            </a:r>
            <a:endParaRPr lang="en-US" sz="1400" dirty="0"/>
          </a:p>
          <a:p>
            <a:pPr indent="0" marL="0">
              <a:buNone/>
            </a:pPr>
            <a:r>
              <a:rPr lang="en-US" sz="850" dirty="0">
                <a:solidFill>
                  <a:schemeClr val="tx2"/>
                </a:solidFill>
              </a:rPr>
              <a:t>TÜV SÜD. UKCA for medical devices: CE-marked devices accepted in Great Britain to 30 June 2028 (MDD/AIMDD) and 30 June 2030 (MDR/IVDR); about 90% of …</a:t>
            </a:r>
            <a:endParaRPr lang="en-US" sz="1400" dirty="0"/>
          </a:p>
        </p:txBody>
      </p:sp>
      <p:sp>
        <p:nvSpPr>
          <p:cNvPr id="21" name="Text 18"/>
          <p:cNvSpPr txBox="1"/>
          <p:nvPr/>
        </p:nvSpPr>
        <p:spPr>
          <a:xfrm>
            <a:off x="8097317"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6" invalidUrl="" action="" tgtFrame="" tooltip="https://www.gov.uk/government/news/first-major-overhaul-of-medical-device-regulation-comes-into-force-across-great-britain" history="1" highlightClick="0" endSnd="0">
                  <a:extLst>
                    <a:ext uri="{A12FA001-AC4F-418D-AE19-62706E023703}">
                      <ahyp:hlinkClr xmlns:ahyp="http://schemas.microsoft.com/office/drawing/2018/hyperlinkcolor" val="tx"/>
                    </a:ext>
                  </a:extLst>
                </a:hlinkClick>
              </a:rPr>
              <a:t>GOV.UK, GB post-market surveillance regulations (16 Jun 2025)</a:t>
            </a:r>
            <a:endParaRPr lang="en-US" sz="1400" dirty="0"/>
          </a:p>
          <a:p>
            <a:pPr indent="0" marL="0">
              <a:buNone/>
            </a:pPr>
            <a:r>
              <a:rPr lang="en-US" sz="850" dirty="0">
                <a:solidFill>
                  <a:schemeClr val="tx2"/>
                </a:solidFill>
              </a:rPr>
              <a:t>GOV.UK. First major overhaul of medical device regulation comes into force across Great Britain: Medical Devices (Post-market Surveillance …</a:t>
            </a:r>
            <a:endParaRPr lang="en-US" sz="1400" dirty="0"/>
          </a:p>
        </p:txBody>
      </p:sp>
      <p:sp>
        <p:nvSpPr>
          <p:cNvPr id="22" name="Text 19"/>
          <p:cNvSpPr txBox="1"/>
          <p:nvPr/>
        </p:nvSpPr>
        <p:spPr>
          <a:xfrm>
            <a:off x="8097317"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7" invalidUrl="" action="" tgtFrame="" tooltip="https://www.lw.com/en/insights/uk-mhra-launches-consultation-on-indefinite-recognition-of-ce-marked-medical-devices" history="1" highlightClick="0" endSnd="0">
                  <a:extLst>
                    <a:ext uri="{A12FA001-AC4F-418D-AE19-62706E023703}">
                      <ahyp:hlinkClr xmlns:ahyp="http://schemas.microsoft.com/office/drawing/2018/hyperlinkcolor" val="tx"/>
                    </a:ext>
                  </a:extLst>
                </a:hlinkClick>
              </a:rPr>
              <a:t>Latham &amp; Watkins on MHRA's indefinite CE recognition consultation (Feb 2026)</a:t>
            </a:r>
            <a:endParaRPr lang="en-US" sz="1400" dirty="0"/>
          </a:p>
          <a:p>
            <a:pPr indent="0" marL="0">
              <a:buNone/>
            </a:pPr>
            <a:r>
              <a:rPr lang="en-US" sz="850" dirty="0">
                <a:solidFill>
                  <a:schemeClr val="tx2"/>
                </a:solidFill>
              </a:rPr>
              <a:t>Latham &amp; Watkins. UK MHRA launches consultation on indefinite recognition of CE-marked medical devices and an international reliance route; February …</a:t>
            </a:r>
            <a:endParaRPr lang="en-US" sz="1400" dirty="0"/>
          </a:p>
        </p:txBody>
      </p:sp>
      <p:sp>
        <p:nvSpPr>
          <p:cNvPr id="23" name="Text 20"/>
          <p:cNvSpPr txBox="1"/>
          <p:nvPr/>
        </p:nvSpPr>
        <p:spPr>
          <a:xfrm>
            <a:off x="8097317"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8" invalidUrl="" action="" tgtFrame="" tooltip="https://www.raps.org/resource/mhra-to-move-forward-with-medical-device-reliance.html" history="1" highlightClick="0" endSnd="0">
                  <a:extLst>
                    <a:ext uri="{A12FA001-AC4F-418D-AE19-62706E023703}">
                      <ahyp:hlinkClr xmlns:ahyp="http://schemas.microsoft.com/office/drawing/2018/hyperlinkcolor" val="tx"/>
                    </a:ext>
                  </a:extLst>
                </a:hlinkClick>
              </a:rPr>
              <a:t>RAPS, MHRA to move forward with device reliance</a:t>
            </a:r>
            <a:endParaRPr lang="en-US" sz="1400" dirty="0"/>
          </a:p>
          <a:p>
            <a:pPr indent="0" marL="0">
              <a:buNone/>
            </a:pPr>
            <a:r>
              <a:rPr lang="en-US" sz="850" dirty="0">
                <a:solidFill>
                  <a:schemeClr val="tx2"/>
                </a:solidFill>
              </a:rPr>
              <a:t>RAPS. MHRA to move forward with medical device reliance on comparable regulators (US FDA, Health Canada, Australia TGA, EU CE); 2025.</a:t>
            </a:r>
            <a:endParaRPr lang="en-US" sz="1400" dirty="0"/>
          </a:p>
        </p:txBody>
      </p:sp>
      <p:sp>
        <p:nvSpPr>
          <p:cNvPr id="24" name="Text 21"/>
          <p:cNvSpPr txBox="1"/>
          <p:nvPr/>
        </p:nvSpPr>
        <p:spPr>
          <a:xfrm>
            <a:off x="8097317"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9" invalidUrl="" action="" tgtFrame="" tooltip="https://www.pmda.go.jp/english/review-services/reviews/0004.html" history="1" highlightClick="0" endSnd="0">
                  <a:extLst>
                    <a:ext uri="{A12FA001-AC4F-418D-AE19-62706E023703}">
                      <ahyp:hlinkClr xmlns:ahyp="http://schemas.microsoft.com/office/drawing/2018/hyperlinkcolor" val="tx"/>
                    </a:ext>
                  </a:extLst>
                </a:hlinkClick>
              </a:rPr>
              <a:t>PMDA, regulations and approval/certification of medical devices</a:t>
            </a:r>
            <a:endParaRPr lang="en-US" sz="1400" dirty="0"/>
          </a:p>
          <a:p>
            <a:pPr indent="0" marL="0">
              <a:buNone/>
            </a:pPr>
            <a:r>
              <a:rPr lang="en-US" sz="850" dirty="0">
                <a:solidFill>
                  <a:schemeClr val="tx2"/>
                </a:solidFill>
              </a:rPr>
              <a:t>Pharmaceuticals and Medical Devices Agency (Japan). Regulations and approval/certification of medical devices under the PMD Act: Classes I to IV; …</a:t>
            </a:r>
            <a:endParaRPr lang="en-US" sz="1400" dirty="0"/>
          </a:p>
        </p:txBody>
      </p:sp>
      <p:sp>
        <p:nvSpPr>
          <p:cNvPr id="25" name="Text 22"/>
          <p:cNvSpPr txBox="1"/>
          <p:nvPr/>
        </p:nvSpPr>
        <p:spPr>
          <a:xfrm>
            <a:off x="8097317" y="482346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20" invalidUrl="" action="" tgtFrame="" tooltip="https://www.ropesgray.com/en/newsroom/alerts/2021/March/China-Unveils-New-Medical-Device-Regulations" history="1" highlightClick="0" endSnd="0">
                  <a:extLst>
                    <a:ext uri="{A12FA001-AC4F-418D-AE19-62706E023703}">
                      <ahyp:hlinkClr xmlns:ahyp="http://schemas.microsoft.com/office/drawing/2018/hyperlinkcolor" val="tx"/>
                    </a:ext>
                  </a:extLst>
                </a:hlinkClick>
              </a:rPr>
              <a:t>Ropes &amp; Gray on China State Council Order 739 (2021)</a:t>
            </a:r>
            <a:endParaRPr lang="en-US" sz="1400" dirty="0"/>
          </a:p>
          <a:p>
            <a:pPr indent="0" marL="0">
              <a:buNone/>
            </a:pPr>
            <a:r>
              <a:rPr lang="en-US" sz="850" dirty="0">
                <a:solidFill>
                  <a:schemeClr val="tx2"/>
                </a:solidFill>
              </a:rPr>
              <a:t>Ropes &amp; Gray. China unveils new medical device regulations: Regulations on the Supervision and Administration of Medical Devices, State Council Order …</a:t>
            </a:r>
            <a:endParaRPr lang="en-US" sz="1400" dirty="0"/>
          </a:p>
        </p:txBody>
      </p:sp>
      <p:sp>
        <p:nvSpPr>
          <p:cNvPr id="26" name="Text 23"/>
          <p:cNvSpPr txBox="1"/>
          <p:nvPr/>
        </p:nvSpPr>
        <p:spPr>
          <a:xfrm>
            <a:off x="8097317" y="551383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21" invalidUrl="" action="" tgtFrame="" tooltip="https://www.morganlewis.com/pubs/overview-of-medical-device-regulation-in-china" history="1" highlightClick="0" endSnd="0">
                  <a:extLst>
                    <a:ext uri="{A12FA001-AC4F-418D-AE19-62706E023703}">
                      <ahyp:hlinkClr xmlns:ahyp="http://schemas.microsoft.com/office/drawing/2018/hyperlinkcolor" val="tx"/>
                    </a:ext>
                  </a:extLst>
                </a:hlinkClick>
              </a:rPr>
              <a:t>Morgan Lewis, overview of medical device regulation in China</a:t>
            </a:r>
            <a:endParaRPr lang="en-US" sz="1400" dirty="0"/>
          </a:p>
          <a:p>
            <a:pPr indent="0" marL="0">
              <a:buNone/>
            </a:pPr>
            <a:r>
              <a:rPr lang="en-US" sz="850" dirty="0">
                <a:solidFill>
                  <a:schemeClr val="tx2"/>
                </a:solidFill>
              </a:rPr>
              <a:t>Morgan Lewis. Overview of medical device regulation in China: Class I filing, Class II provincial registration, Class III central NMPA registration; …</a:t>
            </a:r>
            <a:endParaRPr lang="en-US" sz="14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lIns="0" tIns="0" rIns="0" bIns="0" rtlCol="0" anchor="t"/>
          <a:lstStyle/>
          <a:p>
            <a:pPr algn="l" indent="0" marL="0">
              <a:buNone/>
            </a:pPr>
            <a:r>
              <a:rPr lang="en-US" sz="2600" b="1" dirty="0">
                <a:solidFill>
                  <a:schemeClr val="tx1"/>
                </a:solidFill>
              </a:rPr>
              <a:t>Regulation abroad, ethics and standards (2/2)</a:t>
            </a: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International sources are comparators; Indian law and guidance govern practice in India. Full citations: docs/References.pdf.</a:t>
            </a:r>
            <a:endParaRPr lang="en-US" sz="950" dirty="0"/>
          </a:p>
        </p:txBody>
      </p:sp>
      <p:sp>
        <p:nvSpPr>
          <p:cNvPr id="6" name="Text 3"/>
          <p:cNvSpPr txBox="1"/>
          <p:nvPr/>
        </p:nvSpPr>
        <p:spPr>
          <a:xfrm>
            <a:off x="548640"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 invalidUrl="" action="" tgtFrame="" tooltip="https://www.tga.gov.au/resources/decision-trees/what-classification-my-medical-device" history="1" highlightClick="0" endSnd="0">
                  <a:extLst>
                    <a:ext uri="{A12FA001-AC4F-418D-AE19-62706E023703}">
                      <ahyp:hlinkClr xmlns:ahyp="http://schemas.microsoft.com/office/drawing/2018/hyperlinkcolor" val="tx"/>
                    </a:ext>
                  </a:extLst>
                </a:hlinkClick>
              </a:rPr>
              <a:t>TGA, what classification is my medical device?</a:t>
            </a:r>
            <a:endParaRPr lang="en-US" sz="1400" dirty="0"/>
          </a:p>
          <a:p>
            <a:pPr indent="0" marL="0">
              <a:buNone/>
            </a:pPr>
            <a:r>
              <a:rPr lang="en-US" sz="850" dirty="0">
                <a:solidFill>
                  <a:schemeClr val="tx2"/>
                </a:solidFill>
              </a:rPr>
              <a:t>Therapeutic Goods Administration (Australia). What classification is my medical device? Decision tree: Classes I, Is, Im, Ir, IIa, IIb, III …</a:t>
            </a:r>
            <a:endParaRPr lang="en-US" sz="1400" dirty="0"/>
          </a:p>
        </p:txBody>
      </p:sp>
      <p:sp>
        <p:nvSpPr>
          <p:cNvPr id="7" name="Text 4"/>
          <p:cNvSpPr txBox="1"/>
          <p:nvPr/>
        </p:nvSpPr>
        <p:spPr>
          <a:xfrm>
            <a:off x="548640"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2" invalidUrl="" action="" tgtFrame="" tooltip="https://www.tga.gov.au/sites/default/files/use-market-authorisation-evidence-comparable-overseas-regulators-assessment-bodies-medical-devices-including-ivds.pdf" history="1" highlightClick="0" endSnd="0">
                  <a:extLst>
                    <a:ext uri="{A12FA001-AC4F-418D-AE19-62706E023703}">
                      <ahyp:hlinkClr xmlns:ahyp="http://schemas.microsoft.com/office/drawing/2018/hyperlinkcolor" val="tx"/>
                    </a:ext>
                  </a:extLst>
                </a:hlinkClick>
              </a:rPr>
              <a:t>TGA, use of comparable overseas regulator evidence</a:t>
            </a:r>
            <a:endParaRPr lang="en-US" sz="1400" dirty="0"/>
          </a:p>
          <a:p>
            <a:pPr indent="0" marL="0">
              <a:buNone/>
            </a:pPr>
            <a:r>
              <a:rPr lang="en-US" sz="850" dirty="0">
                <a:solidFill>
                  <a:schemeClr val="tx2"/>
                </a:solidFill>
              </a:rPr>
              <a:t>Therapeutic Goods Administration (Australia). Use of market authorisation evidence from comparable overseas regulators / assessment bodies for …</a:t>
            </a:r>
            <a:endParaRPr lang="en-US" sz="1400" dirty="0"/>
          </a:p>
        </p:txBody>
      </p:sp>
      <p:sp>
        <p:nvSpPr>
          <p:cNvPr id="8" name="Text 5"/>
          <p:cNvSpPr txBox="1"/>
          <p:nvPr/>
        </p:nvSpPr>
        <p:spPr>
          <a:xfrm>
            <a:off x="548640"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3" invalidUrl="" action="" tgtFrame="" tooltip="https://www.casrai.org/guides/health-canada-medical-device-license-mdl-mdall" history="1" highlightClick="0" endSnd="0">
                  <a:extLst>
                    <a:ext uri="{A12FA001-AC4F-418D-AE19-62706E023703}">
                      <ahyp:hlinkClr xmlns:ahyp="http://schemas.microsoft.com/office/drawing/2018/hyperlinkcolor" val="tx"/>
                    </a:ext>
                  </a:extLst>
                </a:hlinkClick>
              </a:rPr>
              <a:t>CASRAI guide to Health Canada medical device licences</a:t>
            </a:r>
            <a:endParaRPr lang="en-US" sz="1400" dirty="0"/>
          </a:p>
          <a:p>
            <a:pPr indent="0" marL="0">
              <a:buNone/>
            </a:pPr>
            <a:r>
              <a:rPr lang="en-US" sz="850" dirty="0">
                <a:solidFill>
                  <a:schemeClr val="tx2"/>
                </a:solidFill>
              </a:rPr>
              <a:t>CASRAI. Health Canada medical device licence (MDL) and MDALL guide: Classes I to IV; MDEL for Class I; MDL for Classes II to IV; Regulatory Enrolment …</a:t>
            </a:r>
            <a:endParaRPr lang="en-US" sz="1400" dirty="0"/>
          </a:p>
        </p:txBody>
      </p:sp>
      <p:sp>
        <p:nvSpPr>
          <p:cNvPr id="9" name="Text 6"/>
          <p:cNvSpPr txBox="1"/>
          <p:nvPr/>
        </p:nvSpPr>
        <p:spPr>
          <a:xfrm>
            <a:off x="548640"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4" invalidUrl="" action="" tgtFrame="" tooltip="https://www.freyrsolutions.com/medical-devices/health-canada-medical-device-registration" history="1" highlightClick="0" endSnd="0">
                  <a:extLst>
                    <a:ext uri="{A12FA001-AC4F-418D-AE19-62706E023703}">
                      <ahyp:hlinkClr xmlns:ahyp="http://schemas.microsoft.com/office/drawing/2018/hyperlinkcolor" val="tx"/>
                    </a:ext>
                  </a:extLst>
                </a:hlinkClick>
              </a:rPr>
              <a:t>Freyr, Health Canada medical device registration</a:t>
            </a:r>
            <a:endParaRPr lang="en-US" sz="1400" dirty="0"/>
          </a:p>
          <a:p>
            <a:pPr indent="0" marL="0">
              <a:buNone/>
            </a:pPr>
            <a:r>
              <a:rPr lang="en-US" sz="850" dirty="0">
                <a:solidFill>
                  <a:schemeClr val="tx2"/>
                </a:solidFill>
              </a:rPr>
              <a:t>Freyr Solutions. Health Canada medical device registration: MDSAP certificate required for Class II to IV licences (sole QMS route since 2019); 2025.</a:t>
            </a:r>
            <a:endParaRPr lang="en-US" sz="1400" dirty="0"/>
          </a:p>
        </p:txBody>
      </p:sp>
      <p:sp>
        <p:nvSpPr>
          <p:cNvPr id="10" name="Text 7"/>
          <p:cNvSpPr txBox="1"/>
          <p:nvPr/>
        </p:nvSpPr>
        <p:spPr>
          <a:xfrm>
            <a:off x="548640"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5" invalidUrl="" action="" tgtFrame="" tooltip="https://www.swissmedic.ch/swissmedic/en/home/news/mitteilungen/smc-mitglied-management-committee-imdrf.html" history="1" highlightClick="0" endSnd="0">
                  <a:extLst>
                    <a:ext uri="{A12FA001-AC4F-418D-AE19-62706E023703}">
                      <ahyp:hlinkClr xmlns:ahyp="http://schemas.microsoft.com/office/drawing/2018/hyperlinkcolor" val="tx"/>
                    </a:ext>
                  </a:extLst>
                </a:hlinkClick>
              </a:rPr>
              <a:t>Swissmedic joins the IMDRF Management Committee (Mar 2025)</a:t>
            </a:r>
            <a:endParaRPr lang="en-US" sz="1400" dirty="0"/>
          </a:p>
          <a:p>
            <a:pPr indent="0" marL="0">
              <a:buNone/>
            </a:pPr>
            <a:r>
              <a:rPr lang="en-US" sz="850" dirty="0">
                <a:solidFill>
                  <a:schemeClr val="tx2"/>
                </a:solidFill>
              </a:rPr>
              <a:t>Swissmedic. Swissmedic joins the Management Committee of the International Medical Device Regulators Forum (27th MC meeting, Tokyo, 10 to 14 March …</a:t>
            </a:r>
            <a:endParaRPr lang="en-US" sz="1400" dirty="0"/>
          </a:p>
        </p:txBody>
      </p:sp>
      <p:sp>
        <p:nvSpPr>
          <p:cNvPr id="11" name="Text 8"/>
          <p:cNvSpPr txBox="1"/>
          <p:nvPr/>
        </p:nvSpPr>
        <p:spPr>
          <a:xfrm>
            <a:off x="548640" y="482346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6" invalidUrl="" action="" tgtFrame="" tooltip="https://www.imdrf.org/sites/default/files/docs/ghtf/final/sg1/technical-docs/ghtf-sg1-n77-2012-principles-medical-devices-classification-121102.pdf" history="1" highlightClick="0" endSnd="0">
                  <a:extLst>
                    <a:ext uri="{A12FA001-AC4F-418D-AE19-62706E023703}">
                      <ahyp:hlinkClr xmlns:ahyp="http://schemas.microsoft.com/office/drawing/2018/hyperlinkcolor" val="tx"/>
                    </a:ext>
                  </a:extLst>
                </a:hlinkClick>
              </a:rPr>
              <a:t>GHTF/SG1/N77:2012, Principles of Medical Devices Classification</a:t>
            </a:r>
            <a:endParaRPr lang="en-US" sz="1400" dirty="0"/>
          </a:p>
          <a:p>
            <a:pPr indent="0" marL="0">
              <a:buNone/>
            </a:pPr>
            <a:r>
              <a:rPr lang="en-US" sz="850" dirty="0">
                <a:solidFill>
                  <a:schemeClr val="tx2"/>
                </a:solidFill>
              </a:rPr>
              <a:t>Global Harmonization Task Force (now IMDRF). GHTF/SG1/N77:2012 Principles of Medical Devices Classification (Classes A to D); endorsed 2 November …</a:t>
            </a:r>
            <a:endParaRPr lang="en-US" sz="1400" dirty="0"/>
          </a:p>
        </p:txBody>
      </p:sp>
      <p:sp>
        <p:nvSpPr>
          <p:cNvPr id="12" name="Text 9"/>
          <p:cNvSpPr txBox="1"/>
          <p:nvPr/>
        </p:nvSpPr>
        <p:spPr>
          <a:xfrm>
            <a:off x="548640" y="551383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7" invalidUrl="" action="" tgtFrame="" tooltip="https://www.tuvsud.com/en-us/industries/healthcare-and-medical-devices/medical-devices-and-ivd/medical-device-market-approval-and-certification/medical-device-single-audit-program-mdsap" history="1" highlightClick="0" endSnd="0">
                  <a:extLst>
                    <a:ext uri="{A12FA001-AC4F-418D-AE19-62706E023703}">
                      <ahyp:hlinkClr xmlns:ahyp="http://schemas.microsoft.com/office/drawing/2018/hyperlinkcolor" val="tx"/>
                    </a:ext>
                  </a:extLst>
                </a:hlinkClick>
              </a:rPr>
              <a:t>TÜV SÜD, Medical Device Single Audit Program</a:t>
            </a:r>
            <a:endParaRPr lang="en-US" sz="1400" dirty="0"/>
          </a:p>
          <a:p>
            <a:pPr indent="0" marL="0">
              <a:buNone/>
            </a:pPr>
            <a:r>
              <a:rPr lang="en-US" sz="850" dirty="0">
                <a:solidFill>
                  <a:schemeClr val="tx2"/>
                </a:solidFill>
              </a:rPr>
              <a:t>TÜV SÜD. Medical Device Single Audit Program (MDSAP): one audit for TGA, ANVISA, Health Canada, MHLW/PMDA and US FDA; observers EU, Singapore HSA, UK …</a:t>
            </a:r>
            <a:endParaRPr lang="en-US" sz="1400" dirty="0"/>
          </a:p>
        </p:txBody>
      </p:sp>
      <p:sp>
        <p:nvSpPr>
          <p:cNvPr id="13" name="Text 10"/>
          <p:cNvSpPr txBox="1"/>
          <p:nvPr/>
        </p:nvSpPr>
        <p:spPr>
          <a:xfrm>
            <a:off x="4322978"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8" invalidUrl="" action="" tgtFrame="" tooltip="https://www.who.int/publications/i/item/9789241512350" history="1" highlightClick="0" endSnd="0">
                  <a:extLst>
                    <a:ext uri="{A12FA001-AC4F-418D-AE19-62706E023703}">
                      <ahyp:hlinkClr xmlns:ahyp="http://schemas.microsoft.com/office/drawing/2018/hyperlinkcolor" val="tx"/>
                    </a:ext>
                  </a:extLst>
                </a:hlinkClick>
              </a:rPr>
              <a:t>WHO Global Model Regulatory Framework for Medical Devices (2017)</a:t>
            </a:r>
            <a:endParaRPr lang="en-US" sz="1400" dirty="0"/>
          </a:p>
          <a:p>
            <a:pPr indent="0" marL="0">
              <a:buNone/>
            </a:pPr>
            <a:r>
              <a:rPr lang="en-US" sz="850" dirty="0">
                <a:solidFill>
                  <a:schemeClr val="tx2"/>
                </a:solidFill>
              </a:rPr>
              <a:t>World Health Organization. WHO Global Model Regulatory Framework for Medical Devices including in vitro diagnostic medical devices; 2017 (basic-level …</a:t>
            </a:r>
            <a:endParaRPr lang="en-US" sz="1400" dirty="0"/>
          </a:p>
        </p:txBody>
      </p:sp>
      <p:sp>
        <p:nvSpPr>
          <p:cNvPr id="14" name="Text 11"/>
          <p:cNvSpPr txBox="1"/>
          <p:nvPr/>
        </p:nvSpPr>
        <p:spPr>
          <a:xfrm>
            <a:off x="4322978"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9" invalidUrl="" action="" tgtFrame="" tooltip="https://www.who.int/news/item/07-08-2025-who-designates-new-who-listed-authorities--strengthening-global-access-to-quality-assured-medical-products" history="1" highlightClick="0" endSnd="0">
                  <a:extLst>
                    <a:ext uri="{A12FA001-AC4F-418D-AE19-62706E023703}">
                      <ahyp:hlinkClr xmlns:ahyp="http://schemas.microsoft.com/office/drawing/2018/hyperlinkcolor" val="tx"/>
                    </a:ext>
                  </a:extLst>
                </a:hlinkClick>
              </a:rPr>
              <a:t>WHO designates new WHO-Listed Authorities (7 Aug 2025)</a:t>
            </a:r>
            <a:endParaRPr lang="en-US" sz="1400" dirty="0"/>
          </a:p>
          <a:p>
            <a:pPr indent="0" marL="0">
              <a:buNone/>
            </a:pPr>
            <a:r>
              <a:rPr lang="en-US" sz="850" dirty="0">
                <a:solidFill>
                  <a:schemeClr val="tx2"/>
                </a:solidFill>
              </a:rPr>
              <a:t>World Health Organization. WHO designates new WHO-Listed Authorities (Health Canada, Japan MHLW/PMDA, UK MHRA; 39 agencies listed); 7 August 2025. …</a:t>
            </a:r>
            <a:endParaRPr lang="en-US" sz="1400" dirty="0"/>
          </a:p>
        </p:txBody>
      </p:sp>
      <p:sp>
        <p:nvSpPr>
          <p:cNvPr id="15" name="Text 12"/>
          <p:cNvSpPr txBox="1"/>
          <p:nvPr/>
        </p:nvSpPr>
        <p:spPr>
          <a:xfrm>
            <a:off x="4322978"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0" invalidUrl="" action="" tgtFrame="" tooltip="https://cdn.presencis.com/regulations/iso-13485/timeline/" history="1" highlightClick="0" endSnd="0">
                  <a:extLst>
                    <a:ext uri="{A12FA001-AC4F-418D-AE19-62706E023703}">
                      <ahyp:hlinkClr xmlns:ahyp="http://schemas.microsoft.com/office/drawing/2018/hyperlinkcolor" val="tx"/>
                    </a:ext>
                  </a:extLst>
                </a:hlinkClick>
              </a:rPr>
              <a:t>ISO 13485 revision timeline (Presencis, 2026)</a:t>
            </a:r>
            <a:endParaRPr lang="en-US" sz="1400" dirty="0"/>
          </a:p>
          <a:p>
            <a:pPr indent="0" marL="0">
              <a:buNone/>
            </a:pPr>
            <a:r>
              <a:rPr lang="en-US" sz="850" dirty="0">
                <a:solidFill>
                  <a:schemeClr val="tx2"/>
                </a:solidFill>
              </a:rPr>
              <a:t>Presencis. ISO 13485 timeline: 2016 edition confirmed by systematic review (decision recorded 31 October 2025); no revised edition published as of …</a:t>
            </a:r>
            <a:endParaRPr lang="en-US" sz="1400" dirty="0"/>
          </a:p>
        </p:txBody>
      </p:sp>
      <p:sp>
        <p:nvSpPr>
          <p:cNvPr id="16" name="Text 13"/>
          <p:cNvSpPr txBox="1"/>
          <p:nvPr/>
        </p:nvSpPr>
        <p:spPr>
          <a:xfrm>
            <a:off x="4322978"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1" invalidUrl="" action="" tgtFrame="" tooltip="https://incompliancemag.com/the-iec-60601-amendment-updates-have-published-changes-and-impacts/" history="1" highlightClick="0" endSnd="0">
                  <a:extLst>
                    <a:ext uri="{A12FA001-AC4F-418D-AE19-62706E023703}">
                      <ahyp:hlinkClr xmlns:ahyp="http://schemas.microsoft.com/office/drawing/2018/hyperlinkcolor" val="tx"/>
                    </a:ext>
                  </a:extLst>
                </a:hlinkClick>
              </a:rPr>
              <a:t>In Compliance, IEC 60601-1 Amendment 2 (2020)</a:t>
            </a:r>
            <a:endParaRPr lang="en-US" sz="1400" dirty="0"/>
          </a:p>
          <a:p>
            <a:pPr indent="0" marL="0">
              <a:buNone/>
            </a:pPr>
            <a:r>
              <a:rPr lang="en-US" sz="850" dirty="0">
                <a:solidFill>
                  <a:schemeClr val="tx2"/>
                </a:solidFill>
              </a:rPr>
              <a:t>In Compliance Magazine. The IEC 60601 amendment updates have published: IEC 60601-1:2005 + A1:2012 + A2:2020 (edition 3.2); 2020.</a:t>
            </a:r>
            <a:endParaRPr lang="en-US" sz="1400" dirty="0"/>
          </a:p>
        </p:txBody>
      </p:sp>
      <p:sp>
        <p:nvSpPr>
          <p:cNvPr id="17" name="Text 14"/>
          <p:cNvSpPr txBox="1"/>
          <p:nvPr/>
        </p:nvSpPr>
        <p:spPr>
          <a:xfrm>
            <a:off x="4322978"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2" invalidUrl="" action="" tgtFrame="" tooltip="https://asd.criticalsoftware.com/en/newsroom/iec-62304-edition-2-changes-august-2026" history="1" highlightClick="0" endSnd="0">
                  <a:extLst>
                    <a:ext uri="{A12FA001-AC4F-418D-AE19-62706E023703}">
                      <ahyp:hlinkClr xmlns:ahyp="http://schemas.microsoft.com/office/drawing/2018/hyperlinkcolor" val="tx"/>
                    </a:ext>
                  </a:extLst>
                </a:hlinkClick>
              </a:rPr>
              <a:t>Critical Software on IEC 62304 Edition 2 (Aug 2026)</a:t>
            </a:r>
            <a:endParaRPr lang="en-US" sz="1400" dirty="0"/>
          </a:p>
          <a:p>
            <a:pPr indent="0" marL="0">
              <a:buNone/>
            </a:pPr>
            <a:r>
              <a:rPr lang="en-US" sz="850" dirty="0">
                <a:solidFill>
                  <a:schemeClr val="tx2"/>
                </a:solidFill>
              </a:rPr>
              <a:t>Critical Software. IEC 62304 Edition 2 changes, August 2026: two software safety classes, wider health-software scope, AI/ML life cycle; publication …</a:t>
            </a:r>
            <a:endParaRPr lang="en-US" sz="1400" dirty="0"/>
          </a:p>
        </p:txBody>
      </p:sp>
      <p:sp>
        <p:nvSpPr>
          <p:cNvPr id="18" name="Text 15"/>
          <p:cNvSpPr txBox="1"/>
          <p:nvPr/>
        </p:nvSpPr>
        <p:spPr>
          <a:xfrm>
            <a:off x="4322978" y="482346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3" invalidUrl="" action="" tgtFrame="" tooltip="https://www.dqsglobal.com/en/explore/blog/mdr-iec-81001-5-1" history="1" highlightClick="0" endSnd="0">
                  <a:extLst>
                    <a:ext uri="{A12FA001-AC4F-418D-AE19-62706E023703}">
                      <ahyp:hlinkClr xmlns:ahyp="http://schemas.microsoft.com/office/drawing/2018/hyperlinkcolor" val="tx"/>
                    </a:ext>
                  </a:extLst>
                </a:hlinkClick>
              </a:rPr>
              <a:t>DQS on MDR and IEC 81001-5-1</a:t>
            </a:r>
            <a:endParaRPr lang="en-US" sz="1400" dirty="0"/>
          </a:p>
          <a:p>
            <a:pPr indent="0" marL="0">
              <a:buNone/>
            </a:pPr>
            <a:r>
              <a:rPr lang="en-US" sz="850" dirty="0">
                <a:solidFill>
                  <a:schemeClr val="tx2"/>
                </a:solidFill>
              </a:rPr>
              <a:t>DQS. MDR and IEC 81001-5-1:2021 (health software security activities in the product life cycle): FDA-recognised consensus standard; EU harmonisation …</a:t>
            </a:r>
            <a:endParaRPr lang="en-US" sz="1400" dirty="0"/>
          </a:p>
        </p:txBody>
      </p:sp>
      <p:sp>
        <p:nvSpPr>
          <p:cNvPr id="19" name="Text 16"/>
          <p:cNvSpPr txBox="1"/>
          <p:nvPr/>
        </p:nvSpPr>
        <p:spPr>
          <a:xfrm>
            <a:off x="4322978" y="551383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4" invalidUrl="" action="" tgtFrame="" tooltip="https://www.emergobyul.com/news/us-fda-and-eu-risk-classification-medical-devices" history="1" highlightClick="0" endSnd="0">
                  <a:extLst>
                    <a:ext uri="{A12FA001-AC4F-418D-AE19-62706E023703}">
                      <ahyp:hlinkClr xmlns:ahyp="http://schemas.microsoft.com/office/drawing/2018/hyperlinkcolor" val="tx"/>
                    </a:ext>
                  </a:extLst>
                </a:hlinkClick>
              </a:rPr>
              <a:t>Emergo by UL, US FDA and EU risk classification compared</a:t>
            </a:r>
            <a:endParaRPr lang="en-US" sz="1400" dirty="0"/>
          </a:p>
          <a:p>
            <a:pPr indent="0" marL="0">
              <a:buNone/>
            </a:pPr>
            <a:r>
              <a:rPr lang="en-US" sz="850" dirty="0">
                <a:solidFill>
                  <a:schemeClr val="tx2"/>
                </a:solidFill>
              </a:rPr>
              <a:t>Emergo by UL. US FDA and EU risk classification of medical devices: three US classes by product code vs four EU classes by rule; Class II absorbs …</a:t>
            </a:r>
            <a:endParaRPr lang="en-US" sz="1400" dirty="0"/>
          </a:p>
        </p:txBody>
      </p:sp>
      <p:sp>
        <p:nvSpPr>
          <p:cNvPr id="20" name="Text 17"/>
          <p:cNvSpPr txBox="1"/>
          <p:nvPr/>
        </p:nvSpPr>
        <p:spPr>
          <a:xfrm>
            <a:off x="8097317"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5" invalidUrl="" action="" tgtFrame="" tooltip="https://www.cms.gov/files/document/applicable-manufacturer-fact-sheetpdf" history="1" highlightClick="0" endSnd="0">
                  <a:extLst>
                    <a:ext uri="{A12FA001-AC4F-418D-AE19-62706E023703}">
                      <ahyp:hlinkClr xmlns:ahyp="http://schemas.microsoft.com/office/drawing/2018/hyperlinkcolor" val="tx"/>
                    </a:ext>
                  </a:extLst>
                </a:hlinkClick>
              </a:rPr>
              <a:t>CMS Open Payments: applicable-manufacturer fact sheet</a:t>
            </a:r>
            <a:endParaRPr lang="en-US" sz="1400" dirty="0"/>
          </a:p>
          <a:p>
            <a:pPr indent="0" marL="0">
              <a:buNone/>
            </a:pPr>
            <a:r>
              <a:rPr lang="en-US" sz="850" dirty="0">
                <a:solidFill>
                  <a:schemeClr val="tx2"/>
                </a:solidFill>
              </a:rPr>
              <a:t>Centers for Medicare &amp; Medicaid Services. Open Payments: Applicable Manufacturer Fact Sheet (annual reporting of consulting fees, honoraria, food, …</a:t>
            </a:r>
            <a:endParaRPr lang="en-US" sz="1400" dirty="0"/>
          </a:p>
        </p:txBody>
      </p:sp>
      <p:sp>
        <p:nvSpPr>
          <p:cNvPr id="21" name="Text 18"/>
          <p:cNvSpPr txBox="1"/>
          <p:nvPr/>
        </p:nvSpPr>
        <p:spPr>
          <a:xfrm>
            <a:off x="8097317"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6" invalidUrl="" action="" tgtFrame="" tooltip="https://jamanetwork.com/journals/jama/fullarticle/2825290" history="1" highlightClick="0" endSnd="0">
                  <a:extLst>
                    <a:ext uri="{A12FA001-AC4F-418D-AE19-62706E023703}">
                      <ahyp:hlinkClr xmlns:ahyp="http://schemas.microsoft.com/office/drawing/2018/hyperlinkcolor" val="tx"/>
                    </a:ext>
                  </a:extLst>
                </a:hlinkClick>
              </a:rPr>
              <a:t>Declaration of Helsinki 2024, JAMA publication</a:t>
            </a:r>
            <a:endParaRPr lang="en-US" sz="1400" dirty="0"/>
          </a:p>
          <a:p>
            <a:pPr indent="0" marL="0">
              <a:buNone/>
            </a:pPr>
            <a:r>
              <a:rPr lang="en-US" sz="850" dirty="0">
                <a:solidFill>
                  <a:schemeClr val="tx2"/>
                </a:solidFill>
              </a:rPr>
              <a:t>World Medical Association. World Medical Association Declaration of Helsinki: Ethical Principles for Medical Research Involving Human Participants. …</a:t>
            </a:r>
            <a:endParaRPr lang="en-US" sz="1400" dirty="0"/>
          </a:p>
        </p:txBody>
      </p:sp>
      <p:sp>
        <p:nvSpPr>
          <p:cNvPr id="22" name="Text 19"/>
          <p:cNvSpPr txBox="1"/>
          <p:nvPr/>
        </p:nvSpPr>
        <p:spPr>
          <a:xfrm>
            <a:off x="8097317"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7" invalidUrl="" action="" tgtFrame="" tooltip="https://www.gmc-uk.org/professional-standards/the-professional-standards/making-and-using-visual-and-audio-recordings-of-patients/recordings-for-use-in-widely-accessible-public-media---television-radio-internet-print" history="1" highlightClick="0" endSnd="0">
                  <a:extLst>
                    <a:ext uri="{A12FA001-AC4F-418D-AE19-62706E023703}">
                      <ahyp:hlinkClr xmlns:ahyp="http://schemas.microsoft.com/office/drawing/2018/hyperlinkcolor" val="tx"/>
                    </a:ext>
                  </a:extLst>
                </a:hlinkClick>
              </a:rPr>
              <a:t>GMC: recordings for use in public media</a:t>
            </a:r>
            <a:endParaRPr lang="en-US" sz="1400" dirty="0"/>
          </a:p>
          <a:p>
            <a:pPr indent="0" marL="0">
              <a:buNone/>
            </a:pPr>
            <a:r>
              <a:rPr lang="en-US" sz="850" dirty="0">
                <a:solidFill>
                  <a:schemeClr val="tx2"/>
                </a:solidFill>
              </a:rPr>
              <a:t>General Medical Council (UK). Making and using visual and audio recordings of patients: recordings for use in widely accessible public media …</a:t>
            </a:r>
            <a:endParaRPr lang="en-US" sz="14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lIns="0" tIns="0" rIns="0" bIns="0" rtlCol="0" anchor="t"/>
          <a:lstStyle/>
          <a:p>
            <a:pPr algn="l" indent="0" marL="0">
              <a:buNone/>
            </a:pPr>
            <a:r>
              <a:rPr lang="en-US" sz="2600" b="1" dirty="0">
                <a:solidFill>
                  <a:schemeClr val="tx1"/>
                </a:solidFill>
              </a:rPr>
              <a:t>Case evidence, media and status labels (1/2)</a:t>
            </a: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Status labels: Demonstrated · Reported, preliminary · Planned · Not established. Full citations: docs/References.pdf.</a:t>
            </a:r>
            <a:endParaRPr lang="en-US" sz="950" dirty="0"/>
          </a:p>
        </p:txBody>
      </p:sp>
      <p:sp>
        <p:nvSpPr>
          <p:cNvPr id="6" name="Text 3"/>
          <p:cNvSpPr txBox="1"/>
          <p:nvPr/>
        </p:nvSpPr>
        <p:spPr>
          <a:xfrm>
            <a:off x="548640"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 invalidUrl="" action="" tgtFrame="" tooltip="https://www.research-collection.ethz.ch/handle/20.500.11850/126117" history="1" highlightClick="0" endSnd="0">
                  <a:extLst>
                    <a:ext uri="{A12FA001-AC4F-418D-AE19-62706E023703}">
                      <ahyp:hlinkClr xmlns:ahyp="http://schemas.microsoft.com/office/drawing/2018/hyperlinkcolor" val="tx"/>
                    </a:ext>
                  </a:extLst>
                </a:hlinkClick>
              </a:rPr>
              <a:t>Kellmeyer et al., Camb Q Healthc Ethics (2016)</a:t>
            </a:r>
            <a:endParaRPr lang="en-US" sz="1400" dirty="0"/>
          </a:p>
          <a:p>
            <a:pPr indent="0" marL="0">
              <a:buNone/>
            </a:pPr>
            <a:r>
              <a:rPr lang="en-US" sz="850" dirty="0">
                <a:solidFill>
                  <a:schemeClr val="tx2"/>
                </a:solidFill>
              </a:rPr>
              <a:t>Kellmeyer P, Cochrane T, Müller O, et al. The effects of closed-loop medical devices on the autonomy and accountability of persons and systems. Camb …</a:t>
            </a:r>
            <a:endParaRPr lang="en-US" sz="1400" dirty="0"/>
          </a:p>
        </p:txBody>
      </p:sp>
      <p:sp>
        <p:nvSpPr>
          <p:cNvPr id="7" name="Text 4"/>
          <p:cNvSpPr txBox="1"/>
          <p:nvPr/>
        </p:nvSpPr>
        <p:spPr>
          <a:xfrm>
            <a:off x="548640"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2" invalidUrl="" action="" tgtFrame="" tooltip="https://www.ideal-collaboration.net/the-ideal-framework/" history="1" highlightClick="0" endSnd="0">
                  <a:extLst>
                    <a:ext uri="{A12FA001-AC4F-418D-AE19-62706E023703}">
                      <ahyp:hlinkClr xmlns:ahyp="http://schemas.microsoft.com/office/drawing/2018/hyperlinkcolor" val="tx"/>
                    </a:ext>
                  </a:extLst>
                </a:hlinkClick>
              </a:rPr>
              <a:t>McCulloch et al., Lancet (2009), IDEAL</a:t>
            </a:r>
            <a:endParaRPr lang="en-US" sz="1400" dirty="0"/>
          </a:p>
          <a:p>
            <a:pPr indent="0" marL="0">
              <a:buNone/>
            </a:pPr>
            <a:r>
              <a:rPr lang="en-US" sz="850" dirty="0">
                <a:solidFill>
                  <a:schemeClr val="tx2"/>
                </a:solidFill>
              </a:rPr>
              <a:t>McCulloch P, Altman DG, Campbell WB, et al. No surgical innovation without evaluation: the IDEAL recommendations. Lancet. 2009;374:1105–1112 (IDEAL …</a:t>
            </a:r>
            <a:endParaRPr lang="en-US" sz="1400" dirty="0"/>
          </a:p>
        </p:txBody>
      </p:sp>
      <p:sp>
        <p:nvSpPr>
          <p:cNvPr id="8" name="Text 5"/>
          <p:cNvSpPr txBox="1"/>
          <p:nvPr/>
        </p:nvSpPr>
        <p:spPr>
          <a:xfrm>
            <a:off x="548640"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3" invalidUrl="" action="" tgtFrame="" tooltip="https://pubmed.ncbi.nlm.nih.gov/27283585/" history="1" highlightClick="0" endSnd="0">
                  <a:extLst>
                    <a:ext uri="{A12FA001-AC4F-418D-AE19-62706E023703}">
                      <ahyp:hlinkClr xmlns:ahyp="http://schemas.microsoft.com/office/drawing/2018/hyperlinkcolor" val="tx"/>
                    </a:ext>
                  </a:extLst>
                </a:hlinkClick>
              </a:rPr>
              <a:t>Sedrakyan et al., BMJ (2016), IDEAL-D</a:t>
            </a:r>
            <a:endParaRPr lang="en-US" sz="1400" dirty="0"/>
          </a:p>
          <a:p>
            <a:pPr indent="0" marL="0">
              <a:buNone/>
            </a:pPr>
            <a:r>
              <a:rPr lang="en-US" sz="850" dirty="0">
                <a:solidFill>
                  <a:schemeClr val="tx2"/>
                </a:solidFill>
              </a:rPr>
              <a:t>Sedrakyan A, Campbell B, Merino JG, Kuntz R, Hirst A, McCulloch P. IDEAL-D: a rational framework for evaluating and regulating the use of medical …</a:t>
            </a:r>
            <a:endParaRPr lang="en-US" sz="1400" dirty="0"/>
          </a:p>
        </p:txBody>
      </p:sp>
      <p:sp>
        <p:nvSpPr>
          <p:cNvPr id="9" name="Text 6"/>
          <p:cNvSpPr txBox="1"/>
          <p:nvPr/>
        </p:nvSpPr>
        <p:spPr>
          <a:xfrm>
            <a:off x="548640" y="3442716"/>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4" invalidUrl="" action="" tgtFrame="" tooltip="https://jme.bmj.com/content/38/1/9" history="1" highlightClick="0" endSnd="0">
                  <a:extLst>
                    <a:ext uri="{A12FA001-AC4F-418D-AE19-62706E023703}">
                      <ahyp:hlinkClr xmlns:ahyp="http://schemas.microsoft.com/office/drawing/2018/hyperlinkcolor" val="tx"/>
                    </a:ext>
                  </a:extLst>
                </a:hlinkClick>
              </a:rPr>
              <a:t>Johnson &amp; Rogers, J Med Ethics (2012)</a:t>
            </a:r>
            <a:endParaRPr lang="en-US" sz="1400" dirty="0"/>
          </a:p>
          <a:p>
            <a:pPr indent="0" marL="0">
              <a:buNone/>
            </a:pPr>
            <a:r>
              <a:rPr lang="en-US" sz="850" dirty="0">
                <a:solidFill>
                  <a:schemeClr val="tx2"/>
                </a:solidFill>
              </a:rPr>
              <a:t>Johnson J, Rogers W. Innovative surgery: the ethical challenges. J Med Ethics. 2012;38(1):9–12.</a:t>
            </a:r>
            <a:endParaRPr lang="en-US" sz="1400" dirty="0"/>
          </a:p>
        </p:txBody>
      </p:sp>
      <p:sp>
        <p:nvSpPr>
          <p:cNvPr id="10" name="Text 7"/>
          <p:cNvSpPr txBox="1"/>
          <p:nvPr/>
        </p:nvSpPr>
        <p:spPr>
          <a:xfrm>
            <a:off x="548640" y="40005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5" invalidUrl="" action="" tgtFrame="" tooltip="https://www.ncbi.nlm.nih.gov/pmc/articles/PMC10122640/" history="1" highlightClick="0" endSnd="0">
                  <a:extLst>
                    <a:ext uri="{A12FA001-AC4F-418D-AE19-62706E023703}">
                      <ahyp:hlinkClr xmlns:ahyp="http://schemas.microsoft.com/office/drawing/2018/hyperlinkcolor" val="tx"/>
                    </a:ext>
                  </a:extLst>
                </a:hlinkClick>
              </a:rPr>
              <a:t>Wexler &amp; Largent, Nat Commun (2023)</a:t>
            </a:r>
            <a:endParaRPr lang="en-US" sz="1400" dirty="0"/>
          </a:p>
          <a:p>
            <a:pPr indent="0" marL="0">
              <a:buNone/>
            </a:pPr>
            <a:r>
              <a:rPr lang="en-US" sz="850" dirty="0">
                <a:solidFill>
                  <a:schemeClr val="tx2"/>
                </a:solidFill>
              </a:rPr>
              <a:t>Wexler A, Largent E. Ethical considerations for researchers developing and testing minimal-risk devices. Nat Commun. 2023;14.</a:t>
            </a:r>
            <a:endParaRPr lang="en-US" sz="1400" dirty="0"/>
          </a:p>
        </p:txBody>
      </p:sp>
      <p:sp>
        <p:nvSpPr>
          <p:cNvPr id="11" name="Text 8"/>
          <p:cNvSpPr txBox="1"/>
          <p:nvPr/>
        </p:nvSpPr>
        <p:spPr>
          <a:xfrm>
            <a:off x="548640" y="46908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6" invalidUrl="" action="" tgtFrame="" tooltip="https://www.nejm.org/doi/full/10.1056/NEJMc2029240" history="1" highlightClick="0" endSnd="0">
                  <a:extLst>
                    <a:ext uri="{A12FA001-AC4F-418D-AE19-62706E023703}">
                      <ahyp:hlinkClr xmlns:ahyp="http://schemas.microsoft.com/office/drawing/2018/hyperlinkcolor" val="tx"/>
                    </a:ext>
                  </a:extLst>
                </a:hlinkClick>
              </a:rPr>
              <a:t>Sjoding et al., NEJM (2020)</a:t>
            </a:r>
            <a:endParaRPr lang="en-US" sz="1400" dirty="0"/>
          </a:p>
          <a:p>
            <a:pPr indent="0" marL="0">
              <a:buNone/>
            </a:pPr>
            <a:r>
              <a:rPr lang="en-US" sz="850" dirty="0">
                <a:solidFill>
                  <a:schemeClr val="tx2"/>
                </a:solidFill>
              </a:rPr>
              <a:t>Sjoding MW, Dickson RP, Iwashyna TJ, Gay SE, Valley TS. Racial bias in pulse oximetry measurement. N Engl J Med. 2020;383(25):2477–2478. …</a:t>
            </a:r>
            <a:endParaRPr lang="en-US" sz="1400" dirty="0"/>
          </a:p>
        </p:txBody>
      </p:sp>
      <p:sp>
        <p:nvSpPr>
          <p:cNvPr id="12" name="Text 9"/>
          <p:cNvSpPr txBox="1"/>
          <p:nvPr/>
        </p:nvSpPr>
        <p:spPr>
          <a:xfrm>
            <a:off x="548640" y="53812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7" invalidUrl="" action="" tgtFrame="" tooltip="https://www.wma.net/policies-post/wma-declaration-of-helsinki/" history="1" highlightClick="0" endSnd="0">
                  <a:extLst>
                    <a:ext uri="{A12FA001-AC4F-418D-AE19-62706E023703}">
                      <ahyp:hlinkClr xmlns:ahyp="http://schemas.microsoft.com/office/drawing/2018/hyperlinkcolor" val="tx"/>
                    </a:ext>
                  </a:extLst>
                </a:hlinkClick>
              </a:rPr>
              <a:t>WMA Declaration of Helsinki (2024)</a:t>
            </a:r>
            <a:endParaRPr lang="en-US" sz="1400" dirty="0"/>
          </a:p>
          <a:p>
            <a:pPr indent="0" marL="0">
              <a:buNone/>
            </a:pPr>
            <a:r>
              <a:rPr lang="en-US" sz="850" dirty="0">
                <a:solidFill>
                  <a:schemeClr val="tx2"/>
                </a:solidFill>
              </a:rPr>
              <a:t>World Medical Association. Declaration of Helsinki: Ethical Principles for Medical Research Involving Human Participants. 75th General Assembly, …</a:t>
            </a:r>
            <a:endParaRPr lang="en-US" sz="1400" dirty="0"/>
          </a:p>
        </p:txBody>
      </p:sp>
      <p:sp>
        <p:nvSpPr>
          <p:cNvPr id="13" name="Text 10"/>
          <p:cNvSpPr txBox="1"/>
          <p:nvPr/>
        </p:nvSpPr>
        <p:spPr>
          <a:xfrm>
            <a:off x="4322978"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8" invalidUrl="" action="" tgtFrame="" tooltip="https://cioms.ch/wp-content/uploads/2017/01/WEB-CIOMS-EthicalGuidelines.pdf" history="1" highlightClick="0" endSnd="0">
                  <a:extLst>
                    <a:ext uri="{A12FA001-AC4F-418D-AE19-62706E023703}">
                      <ahyp:hlinkClr xmlns:ahyp="http://schemas.microsoft.com/office/drawing/2018/hyperlinkcolor" val="tx"/>
                    </a:ext>
                  </a:extLst>
                </a:hlinkClick>
              </a:rPr>
              <a:t>CIOMS International Ethical Guidelines (2016)</a:t>
            </a:r>
            <a:endParaRPr lang="en-US" sz="1400" dirty="0"/>
          </a:p>
          <a:p>
            <a:pPr indent="0" marL="0">
              <a:buNone/>
            </a:pPr>
            <a:r>
              <a:rPr lang="en-US" sz="850" dirty="0">
                <a:solidFill>
                  <a:schemeClr val="tx2"/>
                </a:solidFill>
              </a:rPr>
              <a:t>CIOMS with WHO. International Ethical Guidelines for Health-related Research Involving Humans. 4th ed. Geneva; 2016 (Guideline 9 consent; Guideline …</a:t>
            </a:r>
            <a:endParaRPr lang="en-US" sz="1400" dirty="0"/>
          </a:p>
        </p:txBody>
      </p:sp>
      <p:sp>
        <p:nvSpPr>
          <p:cNvPr id="14" name="Text 11"/>
          <p:cNvSpPr txBox="1"/>
          <p:nvPr/>
        </p:nvSpPr>
        <p:spPr>
          <a:xfrm>
            <a:off x="4322978"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9" invalidUrl="" action="" tgtFrame="" tooltip="https://pubmed.ncbi.nlm.nih.gov/28207928/" history="1" highlightClick="0" endSnd="0">
                  <a:extLst>
                    <a:ext uri="{A12FA001-AC4F-418D-AE19-62706E023703}">
                      <ahyp:hlinkClr xmlns:ahyp="http://schemas.microsoft.com/office/drawing/2018/hyperlinkcolor" val="tx"/>
                    </a:ext>
                  </a:extLst>
                </a:hlinkClick>
              </a:rPr>
              <a:t>Lundh et al., Cochrane (2017)</a:t>
            </a:r>
            <a:endParaRPr lang="en-US" sz="1400" dirty="0"/>
          </a:p>
          <a:p>
            <a:pPr indent="0" marL="0">
              <a:buNone/>
            </a:pPr>
            <a:r>
              <a:rPr lang="en-US" sz="850" dirty="0">
                <a:solidFill>
                  <a:schemeClr val="tx2"/>
                </a:solidFill>
              </a:rPr>
              <a:t>Lundh A, Lexchin J, Mintzes B, Schroll JB, Bero L. Industry sponsorship and research outcome. Cochrane Database Syst Rev. 2017;(2):MR000033 (drug and …</a:t>
            </a:r>
            <a:endParaRPr lang="en-US" sz="1400" dirty="0"/>
          </a:p>
        </p:txBody>
      </p:sp>
      <p:sp>
        <p:nvSpPr>
          <p:cNvPr id="15" name="Text 12"/>
          <p:cNvSpPr txBox="1"/>
          <p:nvPr/>
        </p:nvSpPr>
        <p:spPr>
          <a:xfrm>
            <a:off x="4322978"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0" invalidUrl="" action="" tgtFrame="" tooltip="https://www.nationalacademies.org/read/12598/chapter/11" history="1" highlightClick="0" endSnd="0">
                  <a:extLst>
                    <a:ext uri="{A12FA001-AC4F-418D-AE19-62706E023703}">
                      <ahyp:hlinkClr xmlns:ahyp="http://schemas.microsoft.com/office/drawing/2018/hyperlinkcolor" val="tx"/>
                    </a:ext>
                  </a:extLst>
                </a:hlinkClick>
              </a:rPr>
              <a:t>Institute of Medicine (2009), Conflict of Interest</a:t>
            </a:r>
            <a:endParaRPr lang="en-US" sz="1400" dirty="0"/>
          </a:p>
          <a:p>
            <a:pPr indent="0" marL="0">
              <a:buNone/>
            </a:pPr>
            <a:r>
              <a:rPr lang="en-US" sz="850" dirty="0">
                <a:solidFill>
                  <a:schemeClr val="tx2"/>
                </a:solidFill>
              </a:rPr>
              <a:t>Institute of Medicine; Lo B, Field MJ, eds. Conflict of Interest in Medical Research, Education, and Practice. National Academies Press; 2009.</a:t>
            </a:r>
            <a:endParaRPr lang="en-US" sz="1400" dirty="0"/>
          </a:p>
        </p:txBody>
      </p:sp>
      <p:sp>
        <p:nvSpPr>
          <p:cNvPr id="16" name="Text 13"/>
          <p:cNvSpPr txBox="1"/>
          <p:nvPr/>
        </p:nvSpPr>
        <p:spPr>
          <a:xfrm>
            <a:off x="4322978"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1" invalidUrl="" action="" tgtFrame="" tooltip="https://psychnews.psychiatryonline.org/doi/10.1176/appi.pn.2021.7.30" history="1" highlightClick="0" endSnd="0">
                  <a:extLst>
                    <a:ext uri="{A12FA001-AC4F-418D-AE19-62706E023703}">
                      <ahyp:hlinkClr xmlns:ahyp="http://schemas.microsoft.com/office/drawing/2018/hyperlinkcolor" val="tx"/>
                    </a:ext>
                  </a:extLst>
                </a:hlinkClick>
              </a:rPr>
              <a:t>Appelbaum et al., Int J Law Psychiatry (1982)</a:t>
            </a:r>
            <a:endParaRPr lang="en-US" sz="1400" dirty="0"/>
          </a:p>
          <a:p>
            <a:pPr indent="0" marL="0">
              <a:buNone/>
            </a:pPr>
            <a:r>
              <a:rPr lang="en-US" sz="850" dirty="0">
                <a:solidFill>
                  <a:schemeClr val="tx2"/>
                </a:solidFill>
              </a:rPr>
              <a:t>Appelbaum PS, Roth LH, Lidz C. The therapeutic misconception: informed consent in psychiatric research. Int J Law Psychiatry. 1982;5(3–4):319–329.</a:t>
            </a:r>
            <a:endParaRPr lang="en-US" sz="1400" dirty="0"/>
          </a:p>
        </p:txBody>
      </p:sp>
      <p:sp>
        <p:nvSpPr>
          <p:cNvPr id="17" name="Text 14"/>
          <p:cNvSpPr txBox="1"/>
          <p:nvPr/>
        </p:nvSpPr>
        <p:spPr>
          <a:xfrm>
            <a:off x="4322978"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2" invalidUrl="" action="" tgtFrame="" tooltip="https://philpapers.org/rec/APPFHA" history="1" highlightClick="0" endSnd="0">
                  <a:extLst>
                    <a:ext uri="{A12FA001-AC4F-418D-AE19-62706E023703}">
                      <ahyp:hlinkClr xmlns:ahyp="http://schemas.microsoft.com/office/drawing/2018/hyperlinkcolor" val="tx"/>
                    </a:ext>
                  </a:extLst>
                </a:hlinkClick>
              </a:rPr>
              <a:t>Appelbaum et al., Hastings Cent Rep (1987)</a:t>
            </a:r>
            <a:endParaRPr lang="en-US" sz="1400" dirty="0"/>
          </a:p>
          <a:p>
            <a:pPr indent="0" marL="0">
              <a:buNone/>
            </a:pPr>
            <a:r>
              <a:rPr lang="en-US" sz="850" dirty="0">
                <a:solidFill>
                  <a:schemeClr val="tx2"/>
                </a:solidFill>
              </a:rPr>
              <a:t>Appelbaum PS, Roth LH, Lidz CW, Benson P, Winslade W. False hopes and best data: consent to research and the therapeutic misconception. Hastings Cent …</a:t>
            </a:r>
            <a:endParaRPr lang="en-US" sz="1400" dirty="0"/>
          </a:p>
        </p:txBody>
      </p:sp>
      <p:sp>
        <p:nvSpPr>
          <p:cNvPr id="18" name="Text 15"/>
          <p:cNvSpPr txBox="1"/>
          <p:nvPr/>
        </p:nvSpPr>
        <p:spPr>
          <a:xfrm>
            <a:off x="4322978" y="482346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3" invalidUrl="" action="" tgtFrame="" tooltip="https://www.gmc-uk.org/professional-standards/the-professional-standards/making-and-using-visual-and-audio-recordings-of-patients" history="1" highlightClick="0" endSnd="0">
                  <a:extLst>
                    <a:ext uri="{A12FA001-AC4F-418D-AE19-62706E023703}">
                      <ahyp:hlinkClr xmlns:ahyp="http://schemas.microsoft.com/office/drawing/2018/hyperlinkcolor" val="tx"/>
                    </a:ext>
                  </a:extLst>
                </a:hlinkClick>
              </a:rPr>
              <a:t>GMC, recordings of patients (2011, updated 2024)</a:t>
            </a:r>
            <a:endParaRPr lang="en-US" sz="1400" dirty="0"/>
          </a:p>
          <a:p>
            <a:pPr indent="0" marL="0">
              <a:buNone/>
            </a:pPr>
            <a:r>
              <a:rPr lang="en-US" sz="850" dirty="0">
                <a:solidFill>
                  <a:schemeClr val="tx2"/>
                </a:solidFill>
              </a:rPr>
              <a:t>General Medical Council (UK). Making and using visual and audio recordings of patients (effective 2011; updated December 2024). International …</a:t>
            </a:r>
            <a:endParaRPr lang="en-US" sz="1400" dirty="0"/>
          </a:p>
        </p:txBody>
      </p:sp>
      <p:sp>
        <p:nvSpPr>
          <p:cNvPr id="19" name="Text 16"/>
          <p:cNvSpPr txBox="1"/>
          <p:nvPr/>
        </p:nvSpPr>
        <p:spPr>
          <a:xfrm>
            <a:off x="4322978" y="551383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4" invalidUrl="" action="" tgtFrame="" tooltip="https://www.ecfr.gov/current/title-45/subtitle-A/subchapter-A/part-46/subpart-A/section-46.116" history="1" highlightClick="0" endSnd="0">
                  <a:extLst>
                    <a:ext uri="{A12FA001-AC4F-418D-AE19-62706E023703}">
                      <ahyp:hlinkClr xmlns:ahyp="http://schemas.microsoft.com/office/drawing/2018/hyperlinkcolor" val="tx"/>
                    </a:ext>
                  </a:extLst>
                </a:hlinkClick>
              </a:rPr>
              <a:t>US Common Rule, key information first (45 CFR 46.116)</a:t>
            </a:r>
            <a:endParaRPr lang="en-US" sz="1400" dirty="0"/>
          </a:p>
          <a:p>
            <a:pPr indent="0" marL="0">
              <a:buNone/>
            </a:pPr>
            <a:r>
              <a:rPr lang="en-US" sz="850" dirty="0">
                <a:solidFill>
                  <a:schemeClr val="tx2"/>
                </a:solidFill>
              </a:rPr>
              <a:t>US HHS. Protection of Human Subjects, 45 CFR 46.116(a)(5)(i): consent must begin with a concise presentation of key information. International …</a:t>
            </a:r>
            <a:endParaRPr lang="en-US" sz="1400" dirty="0"/>
          </a:p>
        </p:txBody>
      </p:sp>
      <p:sp>
        <p:nvSpPr>
          <p:cNvPr id="20" name="Text 17"/>
          <p:cNvSpPr txBox="1"/>
          <p:nvPr/>
        </p:nvSpPr>
        <p:spPr>
          <a:xfrm>
            <a:off x="8097317"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5" invalidUrl="" action="" tgtFrame="" tooltip="https://www.fda.gov/regulatory-information/search-fda-guidance-documents/marketing-submission-recommendations-predetermined-change-control-plan-artificial-intelligence" history="1" highlightClick="0" endSnd="0">
                  <a:extLst>
                    <a:ext uri="{A12FA001-AC4F-418D-AE19-62706E023703}">
                      <ahyp:hlinkClr xmlns:ahyp="http://schemas.microsoft.com/office/drawing/2018/hyperlinkcolor" val="tx"/>
                    </a:ext>
                  </a:extLst>
                </a:hlinkClick>
              </a:rPr>
              <a:t>US FDA, PCCP guidance for AI-enabled device software (Dec 2024)</a:t>
            </a:r>
            <a:endParaRPr lang="en-US" sz="1400" dirty="0"/>
          </a:p>
          <a:p>
            <a:pPr indent="0" marL="0">
              <a:buNone/>
            </a:pPr>
            <a:r>
              <a:rPr lang="en-US" sz="850" dirty="0">
                <a:solidFill>
                  <a:schemeClr val="tx2"/>
                </a:solidFill>
              </a:rPr>
              <a:t>US FDA. Marketing Submission Recommendations for a Predetermined Change Control Plan for Artificial Intelligence-Enabled Device Software Functions. …</a:t>
            </a:r>
            <a:endParaRPr lang="en-US" sz="1400" dirty="0"/>
          </a:p>
        </p:txBody>
      </p:sp>
      <p:sp>
        <p:nvSpPr>
          <p:cNvPr id="21" name="Text 18"/>
          <p:cNvSpPr txBox="1"/>
          <p:nvPr/>
        </p:nvSpPr>
        <p:spPr>
          <a:xfrm>
            <a:off x="8097317"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6" invalidUrl="" action="" tgtFrame="" tooltip="https://www.fda.gov/regulatory-information/search-fda-guidance-documents/pulse-oximeters-medical-purposes-non-clinical-and-clinical-performance-testing-labeling-and" history="1" highlightClick="0" endSnd="0">
                  <a:extLst>
                    <a:ext uri="{A12FA001-AC4F-418D-AE19-62706E023703}">
                      <ahyp:hlinkClr xmlns:ahyp="http://schemas.microsoft.com/office/drawing/2018/hyperlinkcolor" val="tx"/>
                    </a:ext>
                  </a:extLst>
                </a:hlinkClick>
              </a:rPr>
              <a:t>US FDA, pulse oximeter draft guidance (Jan 2025)</a:t>
            </a:r>
            <a:endParaRPr lang="en-US" sz="1400" dirty="0"/>
          </a:p>
          <a:p>
            <a:pPr indent="0" marL="0">
              <a:buNone/>
            </a:pPr>
            <a:r>
              <a:rPr lang="en-US" sz="850" dirty="0">
                <a:solidFill>
                  <a:schemeClr val="tx2"/>
                </a:solidFill>
              </a:rPr>
              <a:t>US FDA. Pulse Oximeters for Medical Purposes: Non-Clinical and Clinical Performance Testing, Labeling, and Premarket Submission Recommendations. …</a:t>
            </a:r>
            <a:endParaRPr lang="en-US" sz="1400" dirty="0"/>
          </a:p>
        </p:txBody>
      </p:sp>
      <p:sp>
        <p:nvSpPr>
          <p:cNvPr id="22" name="Text 19"/>
          <p:cNvSpPr txBox="1"/>
          <p:nvPr/>
        </p:nvSpPr>
        <p:spPr>
          <a:xfrm>
            <a:off x="8097317" y="2752344"/>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7" invalidUrl="" action="" tgtFrame="" tooltip="https://www.fda.gov/files/about%20fda/published/Significant-Risk-and-Nonsignificant-Risk-Medical-Device-Studies---Information-Sheet.pdf" history="1" highlightClick="0" endSnd="0">
                  <a:extLst>
                    <a:ext uri="{A12FA001-AC4F-418D-AE19-62706E023703}">
                      <ahyp:hlinkClr xmlns:ahyp="http://schemas.microsoft.com/office/drawing/2018/hyperlinkcolor" val="tx"/>
                    </a:ext>
                  </a:extLst>
                </a:hlinkClick>
              </a:rPr>
              <a:t>US FDA, significant vs non-significant risk device studies</a:t>
            </a:r>
            <a:endParaRPr lang="en-US" sz="1400" dirty="0"/>
          </a:p>
          <a:p>
            <a:pPr indent="0" marL="0">
              <a:buNone/>
            </a:pPr>
            <a:r>
              <a:rPr lang="en-US" sz="850" dirty="0">
                <a:solidFill>
                  <a:schemeClr val="tx2"/>
                </a:solidFill>
              </a:rPr>
              <a:t>US FDA. Information Sheet: Significant Risk and Nonsignificant Risk Medical Device Studies (21 CFR 812).</a:t>
            </a:r>
            <a:endParaRPr lang="en-US" sz="1400" dirty="0"/>
          </a:p>
        </p:txBody>
      </p:sp>
      <p:sp>
        <p:nvSpPr>
          <p:cNvPr id="23" name="Text 20"/>
          <p:cNvSpPr txBox="1"/>
          <p:nvPr/>
        </p:nvSpPr>
        <p:spPr>
          <a:xfrm>
            <a:off x="8097317" y="331012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8" invalidUrl="" action="" tgtFrame="" tooltip="https://eur-lex.europa.eu/eli/reg/2017/745/2023-03-20" history="1" highlightClick="0" endSnd="0">
                  <a:extLst>
                    <a:ext uri="{A12FA001-AC4F-418D-AE19-62706E023703}">
                      <ahyp:hlinkClr xmlns:ahyp="http://schemas.microsoft.com/office/drawing/2018/hyperlinkcolor" val="tx"/>
                    </a:ext>
                  </a:extLst>
                </a:hlinkClick>
              </a:rPr>
              <a:t>EU MDR 2017/745 (as amended by 2023/607)</a:t>
            </a:r>
            <a:endParaRPr lang="en-US" sz="1400" dirty="0"/>
          </a:p>
          <a:p>
            <a:pPr indent="0" marL="0">
              <a:buNone/>
            </a:pPr>
            <a:r>
              <a:rPr lang="en-US" sz="850" dirty="0">
                <a:solidFill>
                  <a:schemeClr val="tx2"/>
                </a:solidFill>
              </a:rPr>
              <a:t>Regulation (EU) 2017/745 on medical devices, Art. 61 and Annex XIV Part B (post-market clinical follow-up); transition extended to 2027/2028 by …</a:t>
            </a:r>
            <a:endParaRPr lang="en-US" sz="1400" dirty="0"/>
          </a:p>
        </p:txBody>
      </p:sp>
      <p:sp>
        <p:nvSpPr>
          <p:cNvPr id="24" name="Text 21"/>
          <p:cNvSpPr txBox="1"/>
          <p:nvPr/>
        </p:nvSpPr>
        <p:spPr>
          <a:xfrm>
            <a:off x="8097317" y="40005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9" invalidUrl="" action="" tgtFrame="" tooltip="https://eur-lex.europa.eu/legal-content/EN/TXT/HTML/?uri=CELEX:52025PC1023" history="1" highlightClick="0" endSnd="0">
                  <a:extLst>
                    <a:ext uri="{A12FA001-AC4F-418D-AE19-62706E023703}">
                      <ahyp:hlinkClr xmlns:ahyp="http://schemas.microsoft.com/office/drawing/2018/hyperlinkcolor" val="tx"/>
                    </a:ext>
                  </a:extLst>
                </a:hlinkClick>
              </a:rPr>
              <a:t>European Commission targeted MDR/IVDR revision proposal (Dec 2025)</a:t>
            </a:r>
            <a:endParaRPr lang="en-US" sz="1400" dirty="0"/>
          </a:p>
          <a:p>
            <a:pPr indent="0" marL="0">
              <a:buNone/>
            </a:pPr>
            <a:r>
              <a:rPr lang="en-US" sz="850" dirty="0">
                <a:solidFill>
                  <a:schemeClr val="tx2"/>
                </a:solidFill>
              </a:rPr>
              <a:t>European Commission. Proposal for a targeted revision of the medical device regulations, COM(2025) 1023 final, 16 December 2025 (under negotiation).</a:t>
            </a:r>
            <a:endParaRPr lang="en-US" sz="1400" dirty="0"/>
          </a:p>
        </p:txBody>
      </p:sp>
      <p:sp>
        <p:nvSpPr>
          <p:cNvPr id="25" name="Text 22"/>
          <p:cNvSpPr txBox="1"/>
          <p:nvPr/>
        </p:nvSpPr>
        <p:spPr>
          <a:xfrm>
            <a:off x="8097317" y="4690872"/>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20" invalidUrl="" action="" tgtFrame="" tooltip="https://www.immdsreview.org.uk/downloads/IMMDSReview_Web.pdf" history="1" highlightClick="0" endSnd="0">
                  <a:extLst>
                    <a:ext uri="{A12FA001-AC4F-418D-AE19-62706E023703}">
                      <ahyp:hlinkClr xmlns:ahyp="http://schemas.microsoft.com/office/drawing/2018/hyperlinkcolor" val="tx"/>
                    </a:ext>
                  </a:extLst>
                </a:hlinkClick>
              </a:rPr>
              <a:t>Cumberlege Review, First Do No Harm (2020)</a:t>
            </a:r>
            <a:endParaRPr lang="en-US" sz="1400" dirty="0"/>
          </a:p>
          <a:p>
            <a:pPr indent="0" marL="0">
              <a:buNone/>
            </a:pPr>
            <a:r>
              <a:rPr lang="en-US" sz="850" dirty="0">
                <a:solidFill>
                  <a:schemeClr val="tx2"/>
                </a:solidFill>
              </a:rPr>
              <a:t>Independent Medicines and Medical Devices Safety Review (chair Baroness Cumberlege). First Do No Harm; 8 July 2020.</a:t>
            </a:r>
            <a:endParaRPr lang="en-US" sz="1400" dirty="0"/>
          </a:p>
        </p:txBody>
      </p:sp>
      <p:sp>
        <p:nvSpPr>
          <p:cNvPr id="26" name="Text 23"/>
          <p:cNvSpPr txBox="1"/>
          <p:nvPr/>
        </p:nvSpPr>
        <p:spPr>
          <a:xfrm>
            <a:off x="8097317" y="524865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21" invalidUrl="" action="" tgtFrame="" tooltip="https://www.cms.gov/files/document/physician-fact-sheetpdf" history="1" highlightClick="0" endSnd="0">
                  <a:extLst>
                    <a:ext uri="{A12FA001-AC4F-418D-AE19-62706E023703}">
                      <ahyp:hlinkClr xmlns:ahyp="http://schemas.microsoft.com/office/drawing/2018/hyperlinkcolor" val="tx"/>
                    </a:ext>
                  </a:extLst>
                </a:hlinkClick>
              </a:rPr>
              <a:t>CMS Open Payments (US Sunshine Act)</a:t>
            </a:r>
            <a:endParaRPr lang="en-US" sz="1400" dirty="0"/>
          </a:p>
          <a:p>
            <a:pPr indent="0" marL="0">
              <a:buNone/>
            </a:pPr>
            <a:r>
              <a:rPr lang="en-US" sz="850" dirty="0">
                <a:solidFill>
                  <a:schemeClr val="tx2"/>
                </a:solidFill>
              </a:rPr>
              <a:t>Centers for Medicare &amp; Medicaid Services. Open Payments: public reporting of industry payments to physicians and teaching hospitals.</a:t>
            </a:r>
            <a:endParaRPr lang="en-US" sz="14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58368"/>
            <a:ext cx="10789920" cy="640080"/>
          </a:xfrm>
          <a:prstGeom prst="rect">
            <a:avLst/>
          </a:prstGeom>
          <a:noFill/>
          <a:ln/>
        </p:spPr>
        <p:txBody>
          <a:bodyPr wrap="square" lIns="0" tIns="0" rIns="0" bIns="0" rtlCol="0" anchor="t"/>
          <a:lstStyle/>
          <a:p>
            <a:pPr algn="l" indent="0" marL="0">
              <a:buNone/>
            </a:pPr>
            <a:r>
              <a:rPr lang="en-US" sz="2600" b="1" dirty="0">
                <a:solidFill>
                  <a:schemeClr val="tx1"/>
                </a:solidFill>
              </a:rPr>
              <a:t>Case evidence, media and status labels (2/2)</a:t>
            </a:r>
            <a:endParaRPr lang="en-US" sz="2600" dirty="0"/>
          </a:p>
        </p:txBody>
      </p:sp>
      <p:sp>
        <p:nvSpPr>
          <p:cNvPr id="4" name="Text 0"/>
          <p:cNvSpPr/>
          <p:nvPr>
            <p:ph idx="102" type="body" hasCustomPrompt="1"/>
          </p:nvPr>
        </p:nvSpPr>
        <p:spPr>
          <a:xfrm>
            <a:off x="548640" y="6400800"/>
            <a:ext cx="10332720" cy="274320"/>
          </a:xfrm>
          <a:prstGeom prst="rect">
            <a:avLst/>
          </a:prstGeom>
          <a:noFill/>
          <a:ln/>
        </p:spPr>
        <p:txBody>
          <a:bodyPr wrap="square" lIns="0" tIns="0" rIns="0" bIns="0" rtlCol="0" anchor="t"/>
          <a:lstStyle/>
          <a:p>
            <a:pPr algn="l" indent="0" marL="0">
              <a:buNone/>
            </a:pPr>
            <a:r>
              <a:rPr lang="en-US" sz="950" dirty="0">
                <a:solidFill>
                  <a:schemeClr val="accent5"/>
                </a:solidFill>
              </a:rPr>
              <a:t>Status labels: Demonstrated · Reported, preliminary · Planned · Not established. Full citations: docs/References.pdf.</a:t>
            </a:r>
            <a:endParaRPr lang="en-US" sz="950" dirty="0"/>
          </a:p>
        </p:txBody>
      </p:sp>
      <p:sp>
        <p:nvSpPr>
          <p:cNvPr id="6" name="Text 3"/>
          <p:cNvSpPr txBox="1"/>
          <p:nvPr/>
        </p:nvSpPr>
        <p:spPr>
          <a:xfrm>
            <a:off x="548640" y="1371600"/>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 invalidUrl="" action="" tgtFrame="" tooltip="https://www.iso.org/standard/72704.html" history="1" highlightClick="0" endSnd="0">
                  <a:extLst>
                    <a:ext uri="{A12FA001-AC4F-418D-AE19-62706E023703}">
                      <ahyp:hlinkClr xmlns:ahyp="http://schemas.microsoft.com/office/drawing/2018/hyperlinkcolor" val="tx"/>
                    </a:ext>
                  </a:extLst>
                </a:hlinkClick>
              </a:rPr>
              <a:t>ISO 14971:2019, risk management</a:t>
            </a:r>
            <a:endParaRPr lang="en-US" sz="1400" dirty="0"/>
          </a:p>
          <a:p>
            <a:pPr indent="0" marL="0">
              <a:buNone/>
            </a:pPr>
            <a:r>
              <a:rPr lang="en-US" sz="850" dirty="0">
                <a:solidFill>
                  <a:schemeClr val="tx2"/>
                </a:solidFill>
              </a:rPr>
              <a:t>ISO 14971:2019. Medical devices — Application of risk management to medical devices.</a:t>
            </a:r>
            <a:endParaRPr lang="en-US" sz="1400" dirty="0"/>
          </a:p>
        </p:txBody>
      </p:sp>
      <p:sp>
        <p:nvSpPr>
          <p:cNvPr id="7" name="Text 4"/>
          <p:cNvSpPr txBox="1"/>
          <p:nvPr/>
        </p:nvSpPr>
        <p:spPr>
          <a:xfrm>
            <a:off x="548640" y="192938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2" invalidUrl="" action="" tgtFrame="" tooltip="https://www.iso.org/standard/83968.html" history="1" highlightClick="0" endSnd="0">
                  <a:extLst>
                    <a:ext uri="{A12FA001-AC4F-418D-AE19-62706E023703}">
                      <ahyp:hlinkClr xmlns:ahyp="http://schemas.microsoft.com/office/drawing/2018/hyperlinkcolor" val="tx"/>
                    </a:ext>
                  </a:extLst>
                </a:hlinkClick>
              </a:rPr>
              <a:t>ISO 14155:2026, device clinical investigation GCP</a:t>
            </a:r>
            <a:endParaRPr lang="en-US" sz="1400" dirty="0"/>
          </a:p>
          <a:p>
            <a:pPr indent="0" marL="0">
              <a:buNone/>
            </a:pPr>
            <a:r>
              <a:rPr lang="en-US" sz="850" dirty="0">
                <a:solidFill>
                  <a:schemeClr val="tx2"/>
                </a:solidFill>
              </a:rPr>
              <a:t>ISO 14155:2026. Clinical investigation of medical devices for human subjects — Good clinical practice (supersedes ISO 14155:2020).</a:t>
            </a:r>
            <a:endParaRPr lang="en-US" sz="1400" dirty="0"/>
          </a:p>
        </p:txBody>
      </p:sp>
      <p:sp>
        <p:nvSpPr>
          <p:cNvPr id="8" name="Text 5"/>
          <p:cNvSpPr txBox="1"/>
          <p:nvPr/>
        </p:nvSpPr>
        <p:spPr>
          <a:xfrm>
            <a:off x="548640" y="2619756"/>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3" invalidUrl="" action="" tgtFrame="" tooltip="https://webstore.iec.ch/en/publication/67220" history="1" highlightClick="0" endSnd="0">
                  <a:extLst>
                    <a:ext uri="{A12FA001-AC4F-418D-AE19-62706E023703}">
                      <ahyp:hlinkClr xmlns:ahyp="http://schemas.microsoft.com/office/drawing/2018/hyperlinkcolor" val="tx"/>
                    </a:ext>
                  </a:extLst>
                </a:hlinkClick>
              </a:rPr>
              <a:t>IEC 62366-1:2015+A1:2020, usability engineering</a:t>
            </a:r>
            <a:endParaRPr lang="en-US" sz="1400" dirty="0"/>
          </a:p>
          <a:p>
            <a:pPr indent="0" marL="0">
              <a:buNone/>
            </a:pPr>
            <a:r>
              <a:rPr lang="en-US" sz="850" dirty="0">
                <a:solidFill>
                  <a:schemeClr val="tx2"/>
                </a:solidFill>
              </a:rPr>
              <a:t>IEC 62366-1:2015+AMD1:2020. Medical devices — Part 1: Application of usability engineering to medical devices.</a:t>
            </a:r>
            <a:endParaRPr lang="en-US" sz="1400" dirty="0"/>
          </a:p>
        </p:txBody>
      </p:sp>
      <p:sp>
        <p:nvSpPr>
          <p:cNvPr id="9" name="Text 6"/>
          <p:cNvSpPr txBox="1"/>
          <p:nvPr/>
        </p:nvSpPr>
        <p:spPr>
          <a:xfrm>
            <a:off x="548640" y="317754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4" invalidUrl="" action="" tgtFrame="" tooltip="https://www.acpjournals.org/doi/10.7326/ANNALS-24-00724" history="1" highlightClick="0" endSnd="0">
                  <a:extLst>
                    <a:ext uri="{A12FA001-AC4F-418D-AE19-62706E023703}">
                      <ahyp:hlinkClr xmlns:ahyp="http://schemas.microsoft.com/office/drawing/2018/hyperlinkcolor" val="tx"/>
                    </a:ext>
                  </a:extLst>
                </a:hlinkClick>
              </a:rPr>
              <a:t>Kadakia et al., Ann Intern Med (2024)</a:t>
            </a:r>
            <a:endParaRPr lang="en-US" sz="1400" dirty="0"/>
          </a:p>
          <a:p>
            <a:pPr indent="0" marL="0">
              <a:buNone/>
            </a:pPr>
            <a:r>
              <a:rPr lang="en-US" sz="850" dirty="0">
                <a:solidFill>
                  <a:schemeClr val="tx2"/>
                </a:solidFill>
              </a:rPr>
              <a:t>Kadakia KT, et al. Class I recalls of cardiovascular devices between 2013 and 2022: a cross-sectional analysis. Ann Intern Med. 2024;177(11) (19.1% …</a:t>
            </a:r>
            <a:endParaRPr lang="en-US" sz="1400" dirty="0"/>
          </a:p>
        </p:txBody>
      </p:sp>
      <p:sp>
        <p:nvSpPr>
          <p:cNvPr id="10" name="Text 7"/>
          <p:cNvSpPr txBox="1"/>
          <p:nvPr/>
        </p:nvSpPr>
        <p:spPr>
          <a:xfrm>
            <a:off x="548640" y="386791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5" invalidUrl="" action="" tgtFrame="" tooltip="https://folia.unifr.ch/global/documents/222920" history="1" highlightClick="0" endSnd="0">
                  <a:extLst>
                    <a:ext uri="{A12FA001-AC4F-418D-AE19-62706E023703}">
                      <ahyp:hlinkClr xmlns:ahyp="http://schemas.microsoft.com/office/drawing/2018/hyperlinkcolor" val="tx"/>
                    </a:ext>
                  </a:extLst>
                </a:hlinkClick>
              </a:rPr>
              <a:t>Bächlin et al. (2010), Daphnet dataset</a:t>
            </a:r>
            <a:endParaRPr lang="en-US" sz="1400" dirty="0"/>
          </a:p>
          <a:p>
            <a:pPr indent="0" marL="0">
              <a:buNone/>
            </a:pPr>
            <a:r>
              <a:rPr lang="en-US" sz="850" dirty="0">
                <a:solidFill>
                  <a:schemeClr val="tx2"/>
                </a:solidFill>
              </a:rPr>
              <a:t>Bächlin M, Plotnik M, Roggen D, et al. Wearable assistant for Parkinson's disease patients with the freezing of gait symptom. IEEE Trans Inf Technol …</a:t>
            </a:r>
            <a:endParaRPr lang="en-US" sz="1400" dirty="0"/>
          </a:p>
        </p:txBody>
      </p:sp>
      <p:sp>
        <p:nvSpPr>
          <p:cNvPr id="11" name="Text 8"/>
          <p:cNvSpPr txBox="1"/>
          <p:nvPr/>
        </p:nvSpPr>
        <p:spPr>
          <a:xfrm>
            <a:off x="548640" y="455828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6" invalidUrl="" action="" tgtFrame="" tooltip="https://www.ncbi.nlm.nih.gov/pmc/articles/PMC6928783/" history="1" highlightClick="0" endSnd="0">
                  <a:extLst>
                    <a:ext uri="{A12FA001-AC4F-418D-AE19-62706E023703}">
                      <ahyp:hlinkClr xmlns:ahyp="http://schemas.microsoft.com/office/drawing/2018/hyperlinkcolor" val="tx"/>
                    </a:ext>
                  </a:extLst>
                </a:hlinkClick>
              </a:rPr>
              <a:t>Pardoel et al., Sensors (2019)</a:t>
            </a:r>
            <a:endParaRPr lang="en-US" sz="1400" dirty="0"/>
          </a:p>
          <a:p>
            <a:pPr indent="0" marL="0">
              <a:buNone/>
            </a:pPr>
            <a:r>
              <a:rPr lang="en-US" sz="850" dirty="0">
                <a:solidFill>
                  <a:schemeClr val="tx2"/>
                </a:solidFill>
              </a:rPr>
              <a:t>Pardoel S, Kofman J, Nantel J, Lemaire ED. Wearable-sensor-based detection and prediction of freezing of gait in Parkinson's disease: a review. …</a:t>
            </a:r>
            <a:endParaRPr lang="en-US" sz="1400" dirty="0"/>
          </a:p>
        </p:txBody>
      </p:sp>
      <p:sp>
        <p:nvSpPr>
          <p:cNvPr id="12" name="Text 9"/>
          <p:cNvSpPr txBox="1"/>
          <p:nvPr/>
        </p:nvSpPr>
        <p:spPr>
          <a:xfrm>
            <a:off x="548640" y="524865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7" invalidUrl="" action="" tgtFrame="" tooltip="https://www.ncbi.nlm.nih.gov/pmc/articles/PMC5533840/" history="1" highlightClick="0" endSnd="0">
                  <a:extLst>
                    <a:ext uri="{A12FA001-AC4F-418D-AE19-62706E023703}">
                      <ahyp:hlinkClr xmlns:ahyp="http://schemas.microsoft.com/office/drawing/2018/hyperlinkcolor" val="tx"/>
                    </a:ext>
                  </a:extLst>
                </a:hlinkClick>
              </a:rPr>
              <a:t>Silva de Lima et al., J Neurol (2017)</a:t>
            </a:r>
            <a:endParaRPr lang="en-US" sz="1400" dirty="0"/>
          </a:p>
          <a:p>
            <a:pPr indent="0" marL="0">
              <a:buNone/>
            </a:pPr>
            <a:r>
              <a:rPr lang="en-US" sz="850" dirty="0">
                <a:solidFill>
                  <a:schemeClr val="tx2"/>
                </a:solidFill>
              </a:rPr>
              <a:t>Silva de Lima AL, Evers LJW, Hahn T, et al. Freezing of gait and fall detection in Parkinson's disease using wearable sensors: a systematic review. J …</a:t>
            </a:r>
            <a:endParaRPr lang="en-US" sz="1400" dirty="0"/>
          </a:p>
        </p:txBody>
      </p:sp>
      <p:sp>
        <p:nvSpPr>
          <p:cNvPr id="13" name="Text 10"/>
          <p:cNvSpPr txBox="1"/>
          <p:nvPr/>
        </p:nvSpPr>
        <p:spPr>
          <a:xfrm>
            <a:off x="4322978"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8" invalidUrl="" action="" tgtFrame="" tooltip="https://pubmed.ncbi.nlm.nih.gov/28890341/" history="1" highlightClick="0" endSnd="0">
                  <a:extLst>
                    <a:ext uri="{A12FA001-AC4F-418D-AE19-62706E023703}">
                      <ahyp:hlinkClr xmlns:ahyp="http://schemas.microsoft.com/office/drawing/2018/hyperlinkcolor" val="tx"/>
                    </a:ext>
                  </a:extLst>
                </a:hlinkClick>
              </a:rPr>
              <a:t>Ginis et al., Ann Phys Rehabil Med (2018)</a:t>
            </a:r>
            <a:endParaRPr lang="en-US" sz="1400" dirty="0"/>
          </a:p>
          <a:p>
            <a:pPr indent="0" marL="0">
              <a:buNone/>
            </a:pPr>
            <a:r>
              <a:rPr lang="en-US" sz="850" dirty="0">
                <a:solidFill>
                  <a:schemeClr val="tx2"/>
                </a:solidFill>
              </a:rPr>
              <a:t>Ginis P, Nackaerts E, Nieuwboer A, Heremans E. Cueing for people with Parkinson's disease with freezing of gait: a narrative review. Ann Phys Rehabil …</a:t>
            </a:r>
            <a:endParaRPr lang="en-US" sz="1400" dirty="0"/>
          </a:p>
        </p:txBody>
      </p:sp>
      <p:sp>
        <p:nvSpPr>
          <p:cNvPr id="14" name="Text 11"/>
          <p:cNvSpPr txBox="1"/>
          <p:nvPr/>
        </p:nvSpPr>
        <p:spPr>
          <a:xfrm>
            <a:off x="4322978"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9" invalidUrl="" action="" tgtFrame="" tooltip="https://jnnp.bmj.com/content/78/2/134" history="1" highlightClick="0" endSnd="0">
                  <a:extLst>
                    <a:ext uri="{A12FA001-AC4F-418D-AE19-62706E023703}">
                      <ahyp:hlinkClr xmlns:ahyp="http://schemas.microsoft.com/office/drawing/2018/hyperlinkcolor" val="tx"/>
                    </a:ext>
                  </a:extLst>
                </a:hlinkClick>
              </a:rPr>
              <a:t>Nieuwboer et al., RESCUE trial (2007)</a:t>
            </a:r>
            <a:endParaRPr lang="en-US" sz="1400" dirty="0"/>
          </a:p>
          <a:p>
            <a:pPr indent="0" marL="0">
              <a:buNone/>
            </a:pPr>
            <a:r>
              <a:rPr lang="en-US" sz="850" dirty="0">
                <a:solidFill>
                  <a:schemeClr val="tx2"/>
                </a:solidFill>
              </a:rPr>
              <a:t>Nieuwboer A, et al. Cueing training in the home improves gait-related mobility in Parkinson's disease: the RESCUE trial. J Neurol Neurosurg …</a:t>
            </a:r>
            <a:endParaRPr lang="en-US" sz="1400" dirty="0"/>
          </a:p>
        </p:txBody>
      </p:sp>
      <p:sp>
        <p:nvSpPr>
          <p:cNvPr id="15" name="Text 12"/>
          <p:cNvSpPr txBox="1"/>
          <p:nvPr/>
        </p:nvSpPr>
        <p:spPr>
          <a:xfrm>
            <a:off x="4322978" y="27523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0" invalidUrl="" action="" tgtFrame="" tooltip="https://www.cochrane.org/evidence/CD003523_electromagnetic-fields-treatment-osteoarthritis" history="1" highlightClick="0" endSnd="0">
                  <a:extLst>
                    <a:ext uri="{A12FA001-AC4F-418D-AE19-62706E023703}">
                      <ahyp:hlinkClr xmlns:ahyp="http://schemas.microsoft.com/office/drawing/2018/hyperlinkcolor" val="tx"/>
                    </a:ext>
                  </a:extLst>
                </a:hlinkClick>
              </a:rPr>
              <a:t>Li et al., Cochrane (2013), electromagnetic fields for OA</a:t>
            </a:r>
            <a:endParaRPr lang="en-US" sz="1400" dirty="0"/>
          </a:p>
          <a:p>
            <a:pPr indent="0" marL="0">
              <a:buNone/>
            </a:pPr>
            <a:r>
              <a:rPr lang="en-US" sz="850" dirty="0">
                <a:solidFill>
                  <a:schemeClr val="tx2"/>
                </a:solidFill>
              </a:rPr>
              <a:t>Li S, Yu B, Zhou D, et al. Electromagnetic fields for treating osteoarthritis. Cochrane Database Syst Rev. 2013;(12):CD003523 (9 trials, 636 adults: …</a:t>
            </a:r>
            <a:endParaRPr lang="en-US" sz="1400" dirty="0"/>
          </a:p>
        </p:txBody>
      </p:sp>
      <p:sp>
        <p:nvSpPr>
          <p:cNvPr id="16" name="Text 13"/>
          <p:cNvSpPr txBox="1"/>
          <p:nvPr/>
        </p:nvSpPr>
        <p:spPr>
          <a:xfrm>
            <a:off x="4322978" y="3442716"/>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1" invalidUrl="" action="" tgtFrame="" tooltip="https://medicaljournals.se/jrm/content/abstract/10.2340/16501977-2613" history="1" highlightClick="0" endSnd="0">
                  <a:extLst>
                    <a:ext uri="{A12FA001-AC4F-418D-AE19-62706E023703}">
                      <ahyp:hlinkClr xmlns:ahyp="http://schemas.microsoft.com/office/drawing/2018/hyperlinkcolor" val="tx"/>
                    </a:ext>
                  </a:extLst>
                </a:hlinkClick>
              </a:rPr>
              <a:t>Chen et al., J Rehabil Med (2019)</a:t>
            </a:r>
            <a:endParaRPr lang="en-US" sz="1400" dirty="0"/>
          </a:p>
          <a:p>
            <a:pPr indent="0" marL="0">
              <a:buNone/>
            </a:pPr>
            <a:r>
              <a:rPr lang="en-US" sz="850" dirty="0">
                <a:solidFill>
                  <a:schemeClr val="tx2"/>
                </a:solidFill>
              </a:rPr>
              <a:t>Chen L, Duan X, Xing F, et al. Effects of pulsed electromagnetic field therapy on pain, stiffness and physical function in patients with knee …</a:t>
            </a:r>
            <a:endParaRPr lang="en-US" sz="1400" dirty="0"/>
          </a:p>
        </p:txBody>
      </p:sp>
      <p:sp>
        <p:nvSpPr>
          <p:cNvPr id="17" name="Text 14"/>
          <p:cNvSpPr txBox="1"/>
          <p:nvPr/>
        </p:nvSpPr>
        <p:spPr>
          <a:xfrm>
            <a:off x="4322978"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2" invalidUrl="" action="" tgtFrame="" tooltip="https://pubmed.ncbi.nlm.nih.gov/32251502/" history="1" highlightClick="0" endSnd="0">
                  <a:extLst>
                    <a:ext uri="{A12FA001-AC4F-418D-AE19-62706E023703}">
                      <ahyp:hlinkClr xmlns:ahyp="http://schemas.microsoft.com/office/drawing/2018/hyperlinkcolor" val="tx"/>
                    </a:ext>
                  </a:extLst>
                </a:hlinkClick>
              </a:rPr>
              <a:t>Yang et al., Phys Ther (2020)</a:t>
            </a:r>
            <a:endParaRPr lang="en-US" sz="1400" dirty="0"/>
          </a:p>
          <a:p>
            <a:pPr indent="0" marL="0">
              <a:buNone/>
            </a:pPr>
            <a:r>
              <a:rPr lang="en-US" sz="850" dirty="0">
                <a:solidFill>
                  <a:schemeClr val="tx2"/>
                </a:solidFill>
              </a:rPr>
              <a:t>Yang X, He H, Ye W, Perry TA, He C. Effects of pulsed electromagnetic field therapy on pain, stiffness, physical function, and quality of life in …</a:t>
            </a:r>
            <a:endParaRPr lang="en-US" sz="1400" dirty="0"/>
          </a:p>
        </p:txBody>
      </p:sp>
      <p:sp>
        <p:nvSpPr>
          <p:cNvPr id="18" name="Text 15"/>
          <p:cNvSpPr txBox="1"/>
          <p:nvPr/>
        </p:nvSpPr>
        <p:spPr>
          <a:xfrm>
            <a:off x="4322978" y="482346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3" invalidUrl="" action="" tgtFrame="" tooltip="https://www.ncbi.nlm.nih.gov/pmc/articles/PMC9213303/" history="1" highlightClick="0" endSnd="0">
                  <a:extLst>
                    <a:ext uri="{A12FA001-AC4F-418D-AE19-62706E023703}">
                      <ahyp:hlinkClr xmlns:ahyp="http://schemas.microsoft.com/office/drawing/2018/hyperlinkcolor" val="tx"/>
                    </a:ext>
                  </a:extLst>
                </a:hlinkClick>
              </a:rPr>
              <a:t>Markovic et al., Wien Klin Wochenschr (2022)</a:t>
            </a:r>
            <a:endParaRPr lang="en-US" sz="1400" dirty="0"/>
          </a:p>
          <a:p>
            <a:pPr indent="0" marL="0">
              <a:buNone/>
            </a:pPr>
            <a:r>
              <a:rPr lang="en-US" sz="850" dirty="0">
                <a:solidFill>
                  <a:schemeClr val="tx2"/>
                </a:solidFill>
              </a:rPr>
              <a:t>Markovic L, Wagner B, Crevenna R. Effects of pulsed electromagnetic field therapy on outcomes associated with osteoarthritis: a systematic review of …</a:t>
            </a:r>
            <a:endParaRPr lang="en-US" sz="1400" dirty="0"/>
          </a:p>
        </p:txBody>
      </p:sp>
      <p:sp>
        <p:nvSpPr>
          <p:cNvPr id="19" name="Text 16"/>
          <p:cNvSpPr txBox="1"/>
          <p:nvPr/>
        </p:nvSpPr>
        <p:spPr>
          <a:xfrm>
            <a:off x="4322978" y="551383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4" invalidUrl="" action="" tgtFrame="" tooltip="https://www.esceo.org/sites/esceo/files/pdf/Bannuru_O%26C_OARSIguidelines_2019.pdf" history="1" highlightClick="0" endSnd="0">
                  <a:extLst>
                    <a:ext uri="{A12FA001-AC4F-418D-AE19-62706E023703}">
                      <ahyp:hlinkClr xmlns:ahyp="http://schemas.microsoft.com/office/drawing/2018/hyperlinkcolor" val="tx"/>
                    </a:ext>
                  </a:extLst>
                </a:hlinkClick>
              </a:rPr>
              <a:t>OARSI guideline (2019)</a:t>
            </a:r>
            <a:endParaRPr lang="en-US" sz="1400" dirty="0"/>
          </a:p>
          <a:p>
            <a:pPr indent="0" marL="0">
              <a:buNone/>
            </a:pPr>
            <a:r>
              <a:rPr lang="en-US" sz="850" dirty="0">
                <a:solidFill>
                  <a:schemeClr val="tx2"/>
                </a:solidFill>
              </a:rPr>
              <a:t>Bannuru RR, Osani MC, Vaysbrot EE, et al. OARSI guidelines for the non-surgical management of knee, hip, and polyarticular osteoarthritis. …</a:t>
            </a:r>
            <a:endParaRPr lang="en-US" sz="1400" dirty="0"/>
          </a:p>
        </p:txBody>
      </p:sp>
      <p:sp>
        <p:nvSpPr>
          <p:cNvPr id="20" name="Text 17"/>
          <p:cNvSpPr txBox="1"/>
          <p:nvPr/>
        </p:nvSpPr>
        <p:spPr>
          <a:xfrm>
            <a:off x="8097317" y="1371600"/>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5" invalidUrl="" action="" tgtFrame="" tooltip="https://www.nice.org.uk/guidance/ng226/chapter/Recommendations" history="1" highlightClick="0" endSnd="0">
                  <a:extLst>
                    <a:ext uri="{A12FA001-AC4F-418D-AE19-62706E023703}">
                      <ahyp:hlinkClr xmlns:ahyp="http://schemas.microsoft.com/office/drawing/2018/hyperlinkcolor" val="tx"/>
                    </a:ext>
                  </a:extLst>
                </a:hlinkClick>
              </a:rPr>
              <a:t>NICE NG226 (2022)</a:t>
            </a:r>
            <a:endParaRPr lang="en-US" sz="1400" dirty="0"/>
          </a:p>
          <a:p>
            <a:pPr indent="0" marL="0">
              <a:buNone/>
            </a:pPr>
            <a:r>
              <a:rPr lang="en-US" sz="850" dirty="0">
                <a:solidFill>
                  <a:schemeClr val="tx2"/>
                </a:solidFill>
              </a:rPr>
              <a:t>NICE. Osteoarthritis in over 16s: diagnosis and management (NG226); October 2022 (do not offer listed electrotherapies: insufficient evidence of …</a:t>
            </a:r>
            <a:endParaRPr lang="en-US" sz="1400" dirty="0"/>
          </a:p>
        </p:txBody>
      </p:sp>
      <p:sp>
        <p:nvSpPr>
          <p:cNvPr id="21" name="Text 18"/>
          <p:cNvSpPr txBox="1"/>
          <p:nvPr/>
        </p:nvSpPr>
        <p:spPr>
          <a:xfrm>
            <a:off x="8097317" y="2061972"/>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6" invalidUrl="" action="" tgtFrame="" tooltip="https://ard.bmj.com/content/64/1/29.full.pdf" history="1" highlightClick="0" endSnd="0">
                  <a:extLst>
                    <a:ext uri="{A12FA001-AC4F-418D-AE19-62706E023703}">
                      <ahyp:hlinkClr xmlns:ahyp="http://schemas.microsoft.com/office/drawing/2018/hyperlinkcolor" val="tx"/>
                    </a:ext>
                  </a:extLst>
                </a:hlinkClick>
              </a:rPr>
              <a:t>Tubach et al., Ann Rheum Dis (2005)</a:t>
            </a:r>
            <a:endParaRPr lang="en-US" sz="1400" dirty="0"/>
          </a:p>
          <a:p>
            <a:pPr indent="0" marL="0">
              <a:buNone/>
            </a:pPr>
            <a:r>
              <a:rPr lang="en-US" sz="850" dirty="0">
                <a:solidFill>
                  <a:schemeClr val="tx2"/>
                </a:solidFill>
              </a:rPr>
              <a:t>Tubach F, Ravaud P, Baron G, et al. Evaluation of clinically relevant changes in patient reported outcomes in knee and hip osteoarthritis: the …</a:t>
            </a:r>
            <a:endParaRPr lang="en-US" sz="1400" dirty="0"/>
          </a:p>
        </p:txBody>
      </p:sp>
      <p:sp>
        <p:nvSpPr>
          <p:cNvPr id="22" name="Text 19"/>
          <p:cNvSpPr txBox="1"/>
          <p:nvPr/>
        </p:nvSpPr>
        <p:spPr>
          <a:xfrm>
            <a:off x="8097317" y="2752344"/>
            <a:ext cx="3545738" cy="598932"/>
          </a:xfrm>
          <a:prstGeom prst="rect">
            <a:avLst/>
          </a:prstGeom>
          <a:noFill/>
          <a:ln/>
        </p:spPr>
        <p:txBody>
          <a:bodyPr wrap="square" lIns="0" tIns="0" rIns="0" bIns="0" rtlCol="0" anchor="t"/>
          <a:lstStyle/>
          <a:p>
            <a:pPr indent="0" marL="0">
              <a:buNone/>
            </a:pPr>
            <a:r>
              <a:rPr lang="en-US" sz="1000" b="1" dirty="0">
                <a:solidFill>
                  <a:schemeClr val="accent1"/>
                </a:solidFill>
              </a:rPr>
              <a:t>FoGO BIRAC BIG project presentation, supplied</a:t>
            </a:r>
            <a:endParaRPr lang="en-US" sz="1400" dirty="0"/>
          </a:p>
          <a:p>
            <a:pPr indent="0" marL="0">
              <a:buNone/>
            </a:pPr>
            <a:r>
              <a:rPr lang="en-US" sz="850" dirty="0">
                <a:solidFill>
                  <a:schemeClr val="tx2"/>
                </a:solidFill>
              </a:rPr>
              <a:t>Ahilaya Biomedicals. FoGO BIRAC BIG presentation (supplied, 2026): alpha prototype; public-dataset F1 0.83–0.85; MD-13 test licence (25 units, Aug …</a:t>
            </a:r>
            <a:endParaRPr lang="en-US" sz="1400" dirty="0"/>
          </a:p>
        </p:txBody>
      </p:sp>
      <p:sp>
        <p:nvSpPr>
          <p:cNvPr id="23" name="Text 20"/>
          <p:cNvSpPr txBox="1"/>
          <p:nvPr/>
        </p:nvSpPr>
        <p:spPr>
          <a:xfrm>
            <a:off x="8097317" y="3442716"/>
            <a:ext cx="3545738" cy="598932"/>
          </a:xfrm>
          <a:prstGeom prst="rect">
            <a:avLst/>
          </a:prstGeom>
          <a:noFill/>
          <a:ln/>
        </p:spPr>
        <p:txBody>
          <a:bodyPr wrap="square" lIns="0" tIns="0" rIns="0" bIns="0" rtlCol="0" anchor="t"/>
          <a:lstStyle/>
          <a:p>
            <a:pPr indent="0" marL="0">
              <a:buNone/>
            </a:pPr>
            <a:r>
              <a:rPr lang="en-US" sz="1000" b="1" dirty="0">
                <a:solidFill>
                  <a:schemeClr val="accent1"/>
                </a:solidFill>
              </a:rPr>
              <a:t>SwaKnee leaflet, supplied</a:t>
            </a:r>
            <a:endParaRPr lang="en-US" sz="1400" dirty="0"/>
          </a:p>
          <a:p>
            <a:pPr indent="0" marL="0">
              <a:buNone/>
            </a:pPr>
            <a:r>
              <a:rPr lang="en-US" sz="850" dirty="0">
                <a:solidFill>
                  <a:schemeClr val="tx2"/>
                </a:solidFill>
              </a:rPr>
              <a:t>Swa knee_Leaflet.pdf. Supplied product material: 45-minute daily sessions over 45 days (illustration of time burden, not a prescription).</a:t>
            </a:r>
            <a:endParaRPr lang="en-US" sz="1400" dirty="0"/>
          </a:p>
        </p:txBody>
      </p:sp>
      <p:sp>
        <p:nvSpPr>
          <p:cNvPr id="24" name="Text 21"/>
          <p:cNvSpPr txBox="1"/>
          <p:nvPr/>
        </p:nvSpPr>
        <p:spPr>
          <a:xfrm>
            <a:off x="8097317" y="4133088"/>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7" invalidUrl="" action="" tgtFrame="" tooltip="https://www.swayogya.in/evidence.html" history="1" highlightClick="0" endSnd="0">
                  <a:extLst>
                    <a:ext uri="{A12FA001-AC4F-418D-AE19-62706E023703}">
                      <ahyp:hlinkClr xmlns:ahyp="http://schemas.microsoft.com/office/drawing/2018/hyperlinkcolor" val="tx"/>
                    </a:ext>
                  </a:extLst>
                </a:hlinkClick>
              </a:rPr>
              <a:t>Swayogya evidence page (company-reported)</a:t>
            </a:r>
            <a:endParaRPr lang="en-US" sz="1400" dirty="0"/>
          </a:p>
          <a:p>
            <a:pPr indent="0" marL="0">
              <a:buNone/>
            </a:pPr>
            <a:r>
              <a:rPr lang="en-US" sz="850" dirty="0">
                <a:solidFill>
                  <a:schemeClr val="tx2"/>
                </a:solidFill>
              </a:rPr>
              <a:t>Swayogya Rehab Solutions. SwaKnee evidence page: company-reported comparative 45-day study, device n=40 vs comparison n=42, ≈32% vs ≈14% average VAS …</a:t>
            </a:r>
            <a:endParaRPr lang="en-US" sz="1400" dirty="0"/>
          </a:p>
        </p:txBody>
      </p:sp>
      <p:sp>
        <p:nvSpPr>
          <p:cNvPr id="25" name="Text 22"/>
          <p:cNvSpPr txBox="1"/>
          <p:nvPr/>
        </p:nvSpPr>
        <p:spPr>
          <a:xfrm>
            <a:off x="8097317" y="4823460"/>
            <a:ext cx="3545738" cy="466344"/>
          </a:xfrm>
          <a:prstGeom prst="rect">
            <a:avLst/>
          </a:prstGeom>
          <a:noFill/>
          <a:ln/>
        </p:spPr>
        <p:txBody>
          <a:bodyPr wrap="square" lIns="0" tIns="0" rIns="0" bIns="0" rtlCol="0" anchor="t"/>
          <a:lstStyle/>
          <a:p>
            <a:pPr indent="0" marL="0">
              <a:buNone/>
            </a:pPr>
            <a:r>
              <a:rPr lang="en-US" sz="1000" b="1" u="sng" dirty="0">
                <a:solidFill>
                  <a:schemeClr val="accent1"/>
                </a:solidFill>
                <a:hlinkClick r:id="rId18" invalidUrl="" action="" tgtFrame="" tooltip="https://www.youtube.com/watch?v=IfQyVm8Kftc" history="1" highlightClick="0" endSnd="0">
                  <a:extLst>
                    <a:ext uri="{A12FA001-AC4F-418D-AE19-62706E023703}">
                      <ahyp:hlinkClr xmlns:ahyp="http://schemas.microsoft.com/office/drawing/2018/hyperlinkcolor" val="tx"/>
                    </a:ext>
                  </a:extLst>
                </a:hlinkClick>
              </a:rPr>
              <a:t>SwaKnee explainer video (company, optional)</a:t>
            </a:r>
            <a:endParaRPr lang="en-US" sz="1400" dirty="0"/>
          </a:p>
          <a:p>
            <a:pPr indent="0" marL="0">
              <a:buNone/>
            </a:pPr>
            <a:r>
              <a:rPr lang="en-US" sz="850" dirty="0">
                <a:solidFill>
                  <a:schemeClr val="tx2"/>
                </a:solidFill>
              </a:rPr>
              <a:t>Swayogya Rehab Solutions. SwaKnee explainer video on YouTube (company material; optional, longer than the embedded clip).</a:t>
            </a:r>
            <a:endParaRPr lang="en-US" sz="1400" dirty="0"/>
          </a:p>
        </p:txBody>
      </p:sp>
      <p:sp>
        <p:nvSpPr>
          <p:cNvPr id="26" name="Text 23"/>
          <p:cNvSpPr txBox="1"/>
          <p:nvPr/>
        </p:nvSpPr>
        <p:spPr>
          <a:xfrm>
            <a:off x="8097317" y="5381244"/>
            <a:ext cx="3545738" cy="598932"/>
          </a:xfrm>
          <a:prstGeom prst="rect">
            <a:avLst/>
          </a:prstGeom>
          <a:noFill/>
          <a:ln/>
        </p:spPr>
        <p:txBody>
          <a:bodyPr wrap="square" lIns="0" tIns="0" rIns="0" bIns="0" rtlCol="0" anchor="t"/>
          <a:lstStyle/>
          <a:p>
            <a:pPr indent="0" marL="0">
              <a:buNone/>
            </a:pPr>
            <a:r>
              <a:rPr lang="en-US" sz="1000" b="1" u="sng" dirty="0">
                <a:solidFill>
                  <a:schemeClr val="accent1"/>
                </a:solidFill>
                <a:hlinkClick r:id="rId19" invalidUrl="" action="" tgtFrame="" tooltip="https://www.swayogya.in/product.html" history="1" highlightClick="0" endSnd="0">
                  <a:extLst>
                    <a:ext uri="{A12FA001-AC4F-418D-AE19-62706E023703}">
                      <ahyp:hlinkClr xmlns:ahyp="http://schemas.microsoft.com/office/drawing/2018/hyperlinkcolor" val="tx"/>
                    </a:ext>
                  </a:extLst>
                </a:hlinkClick>
              </a:rPr>
              <a:t>SwaKnee photographs and step videos</a:t>
            </a:r>
            <a:endParaRPr lang="en-US" sz="1400" dirty="0"/>
          </a:p>
          <a:p>
            <a:pPr indent="0" marL="0">
              <a:buNone/>
            </a:pPr>
            <a:r>
              <a:rPr lang="en-US" sz="850" dirty="0">
                <a:solidFill>
                  <a:schemeClr val="tx2"/>
                </a:solidFill>
              </a:rPr>
              <a:t>Swayogya website assets (ivikasjha/swayogya_website): product photographs and three 'How to use' step videos, edited into a 20 s silent clip with …</a:t>
            </a:r>
            <a:endParaRPr lang="en-US" sz="14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71</a:t>
            </a:fld>
            <a:endParaRPr lang="en-US"/>
          </a:p>
        </p:txBody>
      </p:sp>
    </p:spTree>
  </p:cSld>
  <p:clrMapOvr>
    <a:masterClrMapping/>
  </p:clrMapOvr>
</p:sld>
</file>

<file path=ppt/theme/theme1.xml><?xml version="1.0" encoding="utf-8"?>
<a:theme xmlns:a="http://schemas.openxmlformats.org/drawingml/2006/main" name="Patient Impact">
  <a:themeElements>
    <a:clrScheme name="Patient Impact">
      <a:dk1>
        <a:srgbClr val="17262B"/>
      </a:dk1>
      <a:lt1>
        <a:srgbClr val="FFFFFF"/>
      </a:lt1>
      <a:dk2>
        <a:srgbClr val="0E3B3D"/>
      </a:dk2>
      <a:lt2>
        <a:srgbClr val="EEF3F2"/>
      </a:lt2>
      <a:accent1>
        <a:srgbClr val="0F7C74"/>
      </a:accent1>
      <a:accent2>
        <a:srgbClr val="E0962A"/>
      </a:accent2>
      <a:accent3>
        <a:srgbClr val="C2453A"/>
      </a:accent3>
      <a:accent4>
        <a:srgbClr val="3D5A80"/>
      </a:accent4>
      <a:accent5>
        <a:srgbClr val="6E7F7D"/>
      </a:accent5>
      <a:accent6>
        <a:srgbClr val="A9D5CE"/>
      </a:accent6>
      <a:hlink>
        <a:srgbClr val="0F7C74"/>
      </a:hlink>
      <a:folHlink>
        <a:srgbClr val="3D5A80"/>
      </a:folHlink>
    </a:clrScheme>
    <a:fontScheme name="Patient Impac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KIIT University, Bhubaneswar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Bridging the Gap: From Innovation to Patient Impact</dc:title>
  <dc:subject>Ethics, Evidence, Regulation and Responsible Medical Device Translation</dc:subject>
  <dc:creator>Dr Vikas Kumar Jha</dc:creator>
  <cp:lastModifiedBy>Dr Vikas Kumar Jha</cp:lastModifiedBy>
  <cp:revision>1</cp:revision>
  <dcterms:created xsi:type="dcterms:W3CDTF">2026-10-07T11:25:18Z</dcterms:created>
  <dcterms:modified xsi:type="dcterms:W3CDTF">2026-10-07T11:25:18Z</dcterms:modified>
</cp:coreProperties>
</file>