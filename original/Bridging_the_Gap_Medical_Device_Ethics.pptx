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mp4" ContentType="video/mp4"/>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124e27dc64c43f8" /><Relationship Type="http://schemas.openxmlformats.org/officeDocument/2006/relationships/extended-properties" Target="/docProps/app.xml" Id="R431cb309a7d449ac" /><Relationship Type="http://schemas.openxmlformats.org/officeDocument/2006/relationships/officeDocument" Target="/ppt/presentation.xml" Id="R1fb407e2e34e40a2" /></Relationships>
</file>

<file path=ppt/presentation.xml><?xml version="1.0" encoding="utf-8"?>
<p:presentation xmlns:p="http://schemas.openxmlformats.org/presentationml/2006/main">
  <p:sldMasterIdLst>
    <p:sldMasterId xmlns:r="http://schemas.openxmlformats.org/officeDocument/2006/relationships" id="2147483648" r:id="R5ead7941ea184f2e"/>
  </p:sldMasterIdLst>
  <p:notesMasterIdLst>
    <p:notesMasterId xmlns:r="http://schemas.openxmlformats.org/officeDocument/2006/relationships" r:id="R57705701e7ab4208"/>
  </p:notesMasterIdLst>
  <p:sldIdLst>
    <p:sldId xmlns:r="http://schemas.openxmlformats.org/officeDocument/2006/relationships" id="256" r:id="R1794f3f88d9344e1"/>
    <p:sldId xmlns:r="http://schemas.openxmlformats.org/officeDocument/2006/relationships" id="257" r:id="Rbd1cf9c130d84647"/>
    <p:sldId xmlns:r="http://schemas.openxmlformats.org/officeDocument/2006/relationships" id="258" r:id="R641df7e1b039403e"/>
    <p:sldId xmlns:r="http://schemas.openxmlformats.org/officeDocument/2006/relationships" id="259" r:id="R037702f664204063"/>
    <p:sldId xmlns:r="http://schemas.openxmlformats.org/officeDocument/2006/relationships" id="260" r:id="Rea481a41a77a428e"/>
    <p:sldId xmlns:r="http://schemas.openxmlformats.org/officeDocument/2006/relationships" id="261" r:id="R1bb9a797e15345d4"/>
    <p:sldId xmlns:r="http://schemas.openxmlformats.org/officeDocument/2006/relationships" id="262" r:id="Rda4f45b61ef04dd6"/>
    <p:sldId xmlns:r="http://schemas.openxmlformats.org/officeDocument/2006/relationships" id="263" r:id="Rb48dd1035f8e4fe3"/>
    <p:sldId xmlns:r="http://schemas.openxmlformats.org/officeDocument/2006/relationships" id="264" r:id="Rf381bc65c4654c91"/>
    <p:sldId xmlns:r="http://schemas.openxmlformats.org/officeDocument/2006/relationships" id="265" r:id="Rdde69b6a31d847ab"/>
    <p:sldId xmlns:r="http://schemas.openxmlformats.org/officeDocument/2006/relationships" id="266" r:id="Ra98d0137ea1f4d86"/>
    <p:sldId xmlns:r="http://schemas.openxmlformats.org/officeDocument/2006/relationships" id="267" r:id="Rc42eea391a004783"/>
    <p:sldId xmlns:r="http://schemas.openxmlformats.org/officeDocument/2006/relationships" id="268" r:id="R7e2b5864b1c44c2a"/>
    <p:sldId xmlns:r="http://schemas.openxmlformats.org/officeDocument/2006/relationships" id="269" r:id="R8252895d317e4e5a"/>
    <p:sldId xmlns:r="http://schemas.openxmlformats.org/officeDocument/2006/relationships" id="270" r:id="Ra322025628994697"/>
    <p:sldId xmlns:r="http://schemas.openxmlformats.org/officeDocument/2006/relationships" id="271" r:id="Rec2ea170515743df"/>
    <p:sldId xmlns:r="http://schemas.openxmlformats.org/officeDocument/2006/relationships" id="272" r:id="Ra92f74ec46b042c0"/>
    <p:sldId xmlns:r="http://schemas.openxmlformats.org/officeDocument/2006/relationships" id="273" r:id="Ra7fadbb8c77c4a7c"/>
    <p:sldId xmlns:r="http://schemas.openxmlformats.org/officeDocument/2006/relationships" id="274" r:id="R48e78bc49f8b4e73"/>
    <p:sldId xmlns:r="http://schemas.openxmlformats.org/officeDocument/2006/relationships" id="275" r:id="R23a585b49f454a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4726cb11e44d69" /><Relationship Type="http://schemas.openxmlformats.org/officeDocument/2006/relationships/slideMaster" Target="/ppt/slideMasters/slideMaster1.xml" Id="R5ead7941ea184f2e" /><Relationship Type="http://schemas.openxmlformats.org/officeDocument/2006/relationships/notesMaster" Target="/ppt/notesMasters/notesMaster1.xml" Id="R57705701e7ab4208" /><Relationship Type="http://schemas.openxmlformats.org/officeDocument/2006/relationships/presProps" Target="/ppt/presProps.xml" Id="Re48e8589aad7478a" /><Relationship Type="http://schemas.openxmlformats.org/officeDocument/2006/relationships/tableStyles" Target="/ppt/tableStyles.xml" Id="R0d79be01567d465b" /><Relationship Type="http://schemas.openxmlformats.org/officeDocument/2006/relationships/slide" Target="/ppt/slides/slide1.xml" Id="R1794f3f88d9344e1" /><Relationship Type="http://schemas.openxmlformats.org/officeDocument/2006/relationships/slide" Target="/ppt/slides/slide2.xml" Id="Rbd1cf9c130d84647" /><Relationship Type="http://schemas.openxmlformats.org/officeDocument/2006/relationships/slide" Target="/ppt/slides/slide3.xml" Id="R641df7e1b039403e" /><Relationship Type="http://schemas.openxmlformats.org/officeDocument/2006/relationships/slide" Target="/ppt/slides/slide4.xml" Id="R037702f664204063" /><Relationship Type="http://schemas.openxmlformats.org/officeDocument/2006/relationships/slide" Target="/ppt/slides/slide5.xml" Id="Rea481a41a77a428e" /><Relationship Type="http://schemas.openxmlformats.org/officeDocument/2006/relationships/slide" Target="/ppt/slides/slide6.xml" Id="R1bb9a797e15345d4" /><Relationship Type="http://schemas.openxmlformats.org/officeDocument/2006/relationships/slide" Target="/ppt/slides/slide7.xml" Id="Rda4f45b61ef04dd6" /><Relationship Type="http://schemas.openxmlformats.org/officeDocument/2006/relationships/slide" Target="/ppt/slides/slide8.xml" Id="Rb48dd1035f8e4fe3" /><Relationship Type="http://schemas.openxmlformats.org/officeDocument/2006/relationships/slide" Target="/ppt/slides/slide9.xml" Id="Rf381bc65c4654c91" /><Relationship Type="http://schemas.openxmlformats.org/officeDocument/2006/relationships/slide" Target="/ppt/slides/slide10.xml" Id="Rdde69b6a31d847ab" /><Relationship Type="http://schemas.openxmlformats.org/officeDocument/2006/relationships/slide" Target="/ppt/slides/slide11.xml" Id="Ra98d0137ea1f4d86" /><Relationship Type="http://schemas.openxmlformats.org/officeDocument/2006/relationships/slide" Target="/ppt/slides/slide12.xml" Id="Rc42eea391a004783" /><Relationship Type="http://schemas.openxmlformats.org/officeDocument/2006/relationships/slide" Target="/ppt/slides/slide13.xml" Id="R7e2b5864b1c44c2a" /><Relationship Type="http://schemas.openxmlformats.org/officeDocument/2006/relationships/slide" Target="/ppt/slides/slide14.xml" Id="R8252895d317e4e5a" /><Relationship Type="http://schemas.openxmlformats.org/officeDocument/2006/relationships/slide" Target="/ppt/slides/slide15.xml" Id="Ra322025628994697" /><Relationship Type="http://schemas.openxmlformats.org/officeDocument/2006/relationships/slide" Target="/ppt/slides/slide16.xml" Id="Rec2ea170515743df" /><Relationship Type="http://schemas.openxmlformats.org/officeDocument/2006/relationships/slide" Target="/ppt/slides/slide17.xml" Id="Ra92f74ec46b042c0" /><Relationship Type="http://schemas.openxmlformats.org/officeDocument/2006/relationships/slide" Target="/ppt/slides/slide18.xml" Id="Ra7fadbb8c77c4a7c" /><Relationship Type="http://schemas.openxmlformats.org/officeDocument/2006/relationships/slide" Target="/ppt/slides/slide19.xml" Id="R48e78bc49f8b4e73" /><Relationship Type="http://schemas.openxmlformats.org/officeDocument/2006/relationships/slide" Target="/ppt/slides/slide20.xml" Id="R23a585b49f454a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30de48655b4b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5b79bbfe1643ab" /><Relationship Type="http://schemas.openxmlformats.org/officeDocument/2006/relationships/notesMaster" Target="/ppt/notesMasters/notesMaster1.xml" Id="Ra75bbacfbfb04e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f5d3349a35404d" /><Relationship Type="http://schemas.openxmlformats.org/officeDocument/2006/relationships/notesMaster" Target="/ppt/notesMasters/notesMaster1.xml" Id="R29f043d4322c47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b39485b1d94187" /><Relationship Type="http://schemas.openxmlformats.org/officeDocument/2006/relationships/notesMaster" Target="/ppt/notesMasters/notesMaster1.xml" Id="R7bdd3f88d65a4a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90cb31f2154ccd" /><Relationship Type="http://schemas.openxmlformats.org/officeDocument/2006/relationships/notesMaster" Target="/ppt/notesMasters/notesMaster1.xml" Id="R01b84bcc4d4045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d34ebc80404fba" /><Relationship Type="http://schemas.openxmlformats.org/officeDocument/2006/relationships/notesMaster" Target="/ppt/notesMasters/notesMaster1.xml" Id="Rcda68e55eb774d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b06646d1cd4101" /><Relationship Type="http://schemas.openxmlformats.org/officeDocument/2006/relationships/notesMaster" Target="/ppt/notesMasters/notesMaster1.xml" Id="Ra3cfc12c802444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347e89134b478a" /><Relationship Type="http://schemas.openxmlformats.org/officeDocument/2006/relationships/notesMaster" Target="/ppt/notesMasters/notesMaster1.xml" Id="R7ea1735e4dee42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c3986c816848ec" /><Relationship Type="http://schemas.openxmlformats.org/officeDocument/2006/relationships/notesMaster" Target="/ppt/notesMasters/notesMaster1.xml" Id="R65a2b0c2377f42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de77477a9344c8" /><Relationship Type="http://schemas.openxmlformats.org/officeDocument/2006/relationships/notesMaster" Target="/ppt/notesMasters/notesMaster1.xml" Id="R1f7a11ff5ac848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65a02bd8d74a19" /><Relationship Type="http://schemas.openxmlformats.org/officeDocument/2006/relationships/notesMaster" Target="/ppt/notesMasters/notesMaster1.xml" Id="Rc284cae688ff40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70b8e0d3224148" /><Relationship Type="http://schemas.openxmlformats.org/officeDocument/2006/relationships/notesMaster" Target="/ppt/notesMasters/notesMaster1.xml" Id="R136fc7b5b20f46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e4c175fbc04e72" /><Relationship Type="http://schemas.openxmlformats.org/officeDocument/2006/relationships/notesMaster" Target="/ppt/notesMasters/notesMaster1.xml" Id="R5454b44e5f9943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c2f242e9014db4" /><Relationship Type="http://schemas.openxmlformats.org/officeDocument/2006/relationships/notesMaster" Target="/ppt/notesMasters/notesMaster1.xml" Id="R67ad57022fd24c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7d491a3e7a4980" /><Relationship Type="http://schemas.openxmlformats.org/officeDocument/2006/relationships/notesMaster" Target="/ppt/notesMasters/notesMaster1.xml" Id="R92482e26f9ee4d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d68f084da746c7" /><Relationship Type="http://schemas.openxmlformats.org/officeDocument/2006/relationships/notesMaster" Target="/ppt/notesMasters/notesMaster1.xml" Id="R1df79fd91727477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53b3e1eb369453b" /><Relationship Type="http://schemas.openxmlformats.org/officeDocument/2006/relationships/notesMaster" Target="/ppt/notesMasters/notesMaster1.xml" Id="Rc9e59b87f02c42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7c8f91e61e409c" /><Relationship Type="http://schemas.openxmlformats.org/officeDocument/2006/relationships/notesMaster" Target="/ppt/notesMasters/notesMaster1.xml" Id="Reef497b99dd2487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4ae1a2d6921451f" /><Relationship Type="http://schemas.openxmlformats.org/officeDocument/2006/relationships/notesMaster" Target="/ppt/notesMasters/notesMaster1.xml" Id="Rd66f8543af2a4a9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7181ed0904c4b5d" /><Relationship Type="http://schemas.openxmlformats.org/officeDocument/2006/relationships/notesMaster" Target="/ppt/notesMasters/notesMaster1.xml" Id="R0e6a9e2fd6d84d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ae9bfc9e1c94e16" /><Relationship Type="http://schemas.openxmlformats.org/officeDocument/2006/relationships/notesMaster" Target="/ppt/notesMasters/notesMaster1.xml" Id="R89568a87cbe844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Bridging the Gap: From Innovation to Patients</a:t>
            </a:r>
          </a:p>
          <a:p xmlns:a="http://schemas.openxmlformats.org/drawingml/2006/main">
            <a:r>
              <a:t>TIME: 1 minute</a:t>
            </a:r>
          </a:p>
          <a:p xmlns:a="http://schemas.openxmlformats.org/drawingml/2006/main">
            <a:r>
              <a:t>ACTIVITY: Opening and disclosure</a:t>
            </a:r>
          </a:p>
          <a:p xmlns:a="http://schemas.openxmlformats.org/drawingml/2006/main">
            <a:r>
              <a:t/>
            </a:r>
          </a:p>
          <a:p xmlns:a="http://schemas.openxmlformats.org/drawingml/2006/main">
            <a:r>
              <a:t>Open with: "Imagine that the prototype on your desk is about to become a device in someone's home. What would you need to know before recommending it?"</a:t>
            </a:r>
          </a:p>
          <a:p xmlns:a="http://schemas.openxmlformats.org/drawingml/2006/main">
            <a:r>
              <a:t>Explain that this session uses FoGO and SwaKnee from our development work. I have professional interests in these examples, and I invite the audience to examine their evidence and limitations critically. Explain any relevant financial interests orally. Technical achievement is worth showing, while patient readiness remains a separate question.</a:t>
            </a:r>
          </a:p>
          <a:p xmlns:a="http://schemas.openxmlformats.org/drawingml/2006/main">
            <a:r>
              <a:t>The learning outcome is practical: participants should leave able to identify the intended use, judge what evidence supports a claim, recognise burdens and conflicts, and assign responsibility for unresolved risks.</a:t>
            </a:r>
          </a:p>
          <a:p xmlns:a="http://schemas.openxmlformats.org/drawingml/2006/main">
            <a:r>
              <a:t>The five-question framework is a workshop synthesis. It is not an official regulatory checklist or certification.</a:t>
            </a:r>
          </a:p>
          <a:p xmlns:a="http://schemas.openxmlformats.org/drawingml/2006/main">
            <a:r>
              <a:t>Transition: "Let's make a decision before we look at the details."</a:t>
            </a:r>
          </a:p>
          <a:p xmlns:a="http://schemas.openxmlformats.org/drawingml/2006/main">
            <a:r>
              <a:t/>
            </a:r>
          </a:p>
          <a:p xmlns:a="http://schemas.openxmlformats.org/drawingml/2006/main">
            <a:r>
              <a:t>SOURCES</a:t>
            </a:r>
          </a:p>
          <a:p xmlns:a="http://schemas.openxmlformats.org/drawingml/2006/main">
            <a:r>
              <a:t>https://ethics.ncdirindia.org/asset/pdf/ICMR_National_Ethical_Guidelines.pdf</a:t>
            </a:r>
          </a:p>
          <a:p xmlns:a="http://schemas.openxmlformats.org/drawingml/2006/main">
            <a:r>
              <a:t>https://biodesignguide.stanford.edu/wp-content/uploads/2022/08/Principled-Decision-Making-v1.pdf</a:t>
            </a:r>
          </a:p>
          <a:p xmlns:a="http://schemas.openxmlformats.org/drawingml/2006/main">
            <a:r>
              <a:t>FoGO_BIRAC_BIG_Final_v2_with_script(1).pptx, supplied project material, retrieved 7 October 2026</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Would you let a patient use it?</a:t>
            </a:r>
          </a:p>
          <a:p xmlns:a="http://schemas.openxmlformats.org/drawingml/2006/main">
            <a:r>
              <a:t>TIME: 2 minutes</a:t>
            </a:r>
          </a:p>
          <a:p xmlns:a="http://schemas.openxmlformats.org/drawingml/2006/main">
            <a:r>
              <a:t>ACTIVITY: Opening vote</a:t>
            </a:r>
          </a:p>
          <a:p xmlns:a="http://schemas.openxmlformats.org/drawingml/2006/main">
            <a:r>
              <a:t/>
            </a:r>
          </a:p>
          <a:p xmlns:a="http://schemas.openxmlformats.org/drawingml/2006/main">
            <a:r>
              <a:t>This is a hypothetical teaching case, not a claim about the approval status or clinical performance of either project.</a:t>
            </a:r>
          </a:p>
          <a:p xmlns:a="http://schemas.openxmlformats.org/drawingml/2006/main">
            <a:r>
              <a:t>Read the three facts on screen. Ask for a show of hands: suitable for a research study, suitable for routine care, or more information needed? Do not supply an answer immediately. Ask one participant from each group what changed their decision.</a:t>
            </a:r>
          </a:p>
          <a:p xmlns:a="http://schemas.openxmlformats.org/drawingml/2006/main">
            <a:r>
              <a:t>Debrief: readiness depends on the proposed use. The information is insufficient even to authorise a patient study without knowing the protocol, risks, safeguards and required permissions. Routine care needs evidence and legal status appropriate to the intended use. A test licence alone does not settle either question.</a:t>
            </a:r>
          </a:p>
          <a:p xmlns:a="http://schemas.openxmlformats.org/drawingml/2006/main">
            <a:r>
              <a:t>Record two missing items verbally and promise to revisit the vote. Avoid suggesting that technical performance, a licence or a compelling demonstration is a complete patient-readiness assessment.</a:t>
            </a:r>
          </a:p>
          <a:p xmlns:a="http://schemas.openxmlformats.org/drawingml/2006/main">
            <a:r>
              <a:t/>
            </a:r>
          </a:p>
          <a:p xmlns:a="http://schemas.openxmlformats.org/drawingml/2006/main">
            <a:r>
              <a:t>SOURCES</a:t>
            </a:r>
          </a:p>
          <a:p xmlns:a="http://schemas.openxmlformats.org/drawingml/2006/main">
            <a:r>
              <a:t>https://cdsco.gov.in/opencms/resources/UploadCDSCOWeb/2022/m_device/Medical%20Devices%20Rules%2C%202017.pdf</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The patient’s five questions</a:t>
            </a:r>
          </a:p>
          <a:p xmlns:a="http://schemas.openxmlformats.org/drawingml/2006/main">
            <a:r>
              <a:t>TIME: 2 minutes</a:t>
            </a:r>
          </a:p>
          <a:p xmlns:a="http://schemas.openxmlformats.org/drawingml/2006/main">
            <a:r>
              <a:t>ACTIVITY: Patient perspective</a:t>
            </a:r>
          </a:p>
          <a:p xmlns:a="http://schemas.openxmlformats.org/drawingml/2006/main">
            <a:r>
              <a:t/>
            </a:r>
          </a:p>
          <a:p xmlns:a="http://schemas.openxmlformats.org/drawingml/2006/main">
            <a:r>
              <a:t>Ask participants to view the development programme through the person who may use the device.</a:t>
            </a:r>
          </a:p>
          <a:p xmlns:a="http://schemas.openxmlformats.org/drawingml/2006/main">
            <a:r>
              <a:t>Will it help me? Define the unmet need and the benefit that matters to that patient. How could it harm me? Consider direct injury, misleading reassurance, missed care and burden. Can I freely choose? Explain uncertainty and alternatives in a form the person can understand. Can I actually use it? Consider fitting, cost, literacy, access, support and disability. Who stays responsible? Name the people and organisations that will respond to complaints, updates and harms.</a:t>
            </a:r>
          </a:p>
          <a:p xmlns:a="http://schemas.openxmlformats.org/drawingml/2006/main">
            <a:r>
              <a:t>These questions adapt research-ethics ideas for a development workshop. ICMR's principles govern research involving human participants. Applying them to broader design choices here is an educational interpretation, not a new regulatory requirement.</a:t>
            </a:r>
          </a:p>
          <a:p xmlns:a="http://schemas.openxmlformats.org/drawingml/2006/main">
            <a:r>
              <a:t>Return to these questions when reviewing both project cases. Ask which question the audience sees least often in device proposals.</a:t>
            </a:r>
          </a:p>
          <a:p xmlns:a="http://schemas.openxmlformats.org/drawingml/2006/main">
            <a:r>
              <a:t/>
            </a:r>
          </a:p>
          <a:p xmlns:a="http://schemas.openxmlformats.org/drawingml/2006/main">
            <a:r>
              <a:t>SOURCES</a:t>
            </a:r>
          </a:p>
          <a:p xmlns:a="http://schemas.openxmlformats.org/drawingml/2006/main">
            <a:r>
              <a:t>https://ethics.ncdirindia.org/asset/pdf/ICMR_National_Ethical_Guidelines.pdf</a:t>
            </a:r>
          </a:p>
          <a:p xmlns:a="http://schemas.openxmlformats.org/drawingml/2006/main">
            <a:r>
              <a:t>https://biodesignguide.stanford.edu/wp-content/uploads/2022/08/Principled-Decision-Making-v1.pdf</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The claim defines the promise</a:t>
            </a:r>
          </a:p>
          <a:p xmlns:a="http://schemas.openxmlformats.org/drawingml/2006/main">
            <a:r>
              <a:t>TIME: 3 minutes</a:t>
            </a:r>
          </a:p>
          <a:p xmlns:a="http://schemas.openxmlformats.org/drawingml/2006/main">
            <a:r>
              <a:t>ACTIVITY: Intended-use exercise</a:t>
            </a:r>
          </a:p>
          <a:p xmlns:a="http://schemas.openxmlformats.org/drawingml/2006/main">
            <a:r>
              <a:t/>
            </a:r>
          </a:p>
          <a:p xmlns:a="http://schemas.openxmlformats.org/drawingml/2006/main">
            <a:r>
              <a:t>The two statements are deliberately incomplete hypothetical claims. Invite the room to identify the words that change the purpose: detecting a disease-associated event in a defined population carries a different promise from displaying activity patterns.</a:t>
            </a:r>
          </a:p>
          <a:p xmlns:a="http://schemas.openxmlformats.org/drawingml/2006/main">
            <a:r>
              <a:t>Ask four questions: for whom, what does the device do, in which setting, and what clinical decision or action follows? A credible intended-use statement needs these boundaries.</a:t>
            </a:r>
          </a:p>
          <a:p xmlns:a="http://schemas.openxmlformats.org/drawingml/2006/main">
            <a:r>
              <a:t>CDSCO's July 2026 software guidance emphasises intended medical purpose. General-wellness wording cannot be used to bypass obligations when the actual intended use is medical. Classification also depends on the complete function, claims and risks, not this sentence alone.</a:t>
            </a:r>
          </a:p>
          <a:p xmlns:a="http://schemas.openxmlformats.org/drawingml/2006/main">
            <a:r>
              <a:t>Transition to FoGO: "A sensing system has to show that it supports the exact use we promise."</a:t>
            </a:r>
          </a:p>
          <a:p xmlns:a="http://schemas.openxmlformats.org/drawingml/2006/main">
            <a:r>
              <a:t/>
            </a:r>
          </a:p>
          <a:p xmlns:a="http://schemas.openxmlformats.org/drawingml/2006/main">
            <a:r>
              <a:t>SOURCES</a:t>
            </a:r>
          </a:p>
          <a:p xmlns:a="http://schemas.openxmlformats.org/drawingml/2006/main">
            <a:r>
              <a:t>https://cdsco.gov.in/opencms/export/sites/CDSCO_WEB/Pdf-documents/Guidance-document-on-Medical-Device-Software-under-MDR-2017.pdf</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FoGO: what does the prototype show?</a:t>
            </a:r>
          </a:p>
          <a:p xmlns:a="http://schemas.openxmlformats.org/drawingml/2006/main">
            <a:r>
              <a:t>TIME: 2 minutes</a:t>
            </a:r>
          </a:p>
          <a:p xmlns:a="http://schemas.openxmlformats.org/drawingml/2006/main">
            <a:r>
              <a:t>ACTIVITY: Embedded 12-second prototype clip</a:t>
            </a:r>
          </a:p>
          <a:p xmlns:a="http://schemas.openxmlformats.org/drawingml/2006/main">
            <a:r>
              <a:t/>
            </a:r>
          </a:p>
          <a:p xmlns:a="http://schemas.openxmlformats.org/drawingml/2006/main">
            <a:r>
              <a:t>Introduce FoGO as a development project addressing detection of freezing of gait and responsive vibrotactile cueing in Parkinson's disease. The current project architecture describes ankle motion sensing, detection in the phone app and a chest cue module.</a:t>
            </a:r>
          </a:p>
          <a:p xmlns:a="http://schemas.openxmlformats.org/drawingml/2006/main">
            <a:r>
              <a:t>Play the 12.4-second clip from the supplied deck. The source identifies the person as a volunteer and the freeze as simulated. The face is obscured. This is a staged prototype demonstration, not footage proving treatment efficacy or reduced falls. Prototype iterations may have different sensor configurations.</a:t>
            </a:r>
          </a:p>
          <a:p xmlns:a="http://schemas.openxmlformats.org/drawingml/2006/main">
            <a:r>
              <a:t>Ask: "What did you see? What did you infer?" Separate visible system behaviour from unproven clinical benefit. A response to a simulated event does not establish detection reliability in people with Parkinson's or improvement in daily life.</a:t>
            </a:r>
          </a:p>
          <a:p xmlns:a="http://schemas.openxmlformats.org/drawingml/2006/main">
            <a:r>
              <a:t>Use the video to make the system understandable. Discuss efficacy only with appropriate study evidence.</a:t>
            </a:r>
          </a:p>
          <a:p xmlns:a="http://schemas.openxmlformats.org/drawingml/2006/main">
            <a:r>
              <a:t/>
            </a:r>
          </a:p>
          <a:p xmlns:a="http://schemas.openxmlformats.org/drawingml/2006/main">
            <a:r>
              <a:t>SOURCES</a:t>
            </a:r>
          </a:p>
          <a:p xmlns:a="http://schemas.openxmlformats.org/drawingml/2006/main">
            <a:r>
              <a:t>FoGO_BIRAC_BIG_Final_v2_with_script(1).pptx, supplied project material, retrieved 7 October 2026</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What have we shown? What remains?</a:t>
            </a:r>
          </a:p>
          <a:p xmlns:a="http://schemas.openxmlformats.org/drawingml/2006/main">
            <a:r>
              <a:t>TIME: 2 minutes</a:t>
            </a:r>
          </a:p>
          <a:p xmlns:a="http://schemas.openxmlformats.org/drawingml/2006/main">
            <a:r>
              <a:t>ACTIVITY: Evidence progression</a:t>
            </a:r>
          </a:p>
          <a:p xmlns:a="http://schemas.openxmlformats.org/drawingml/2006/main">
            <a:r>
              <a:t/>
            </a:r>
          </a:p>
          <a:p xmlns:a="http://schemas.openxmlformats.org/drawingml/2006/main">
            <a:r>
              <a:t>The supplied FoGO deck reports a working prototype and preliminary testing on public datasets, including subject-wise and cross-dataset evaluation. It describes prospective clinical proof of concept as future work. Do not describe the planned study or its success targets as completed results.</a:t>
            </a:r>
          </a:p>
          <a:p xmlns:a="http://schemas.openxmlformats.org/drawingml/2006/main">
            <a:r>
              <a:t>The diagram shows different questions, rather than a universal mandatory ladder. A prototype answers whether components can work together. Dataset testing assesses performance under specified evaluation conditions. Prospective patient evaluation asks whether the system works in the intended population and setting. Daily-life evaluation asks whether benefit and burden remain acceptable during real use.</a:t>
            </a:r>
          </a:p>
          <a:p xmlns:a="http://schemas.openxmlformats.org/drawingml/2006/main">
            <a:r>
              <a:t>Ask which gap would matter most before routine use. Discuss independent participant-level testing, event definitions, false alarms, detection delay, cue tolerability and meaningful outcomes. A favourable average score does not replace those assessments.</a:t>
            </a:r>
          </a:p>
          <a:p xmlns:a="http://schemas.openxmlformats.org/drawingml/2006/main">
            <a:r>
              <a:t>Transition: "The important result may be the failure the headline number hides."</a:t>
            </a:r>
          </a:p>
          <a:p xmlns:a="http://schemas.openxmlformats.org/drawingml/2006/main">
            <a:r>
              <a:t/>
            </a:r>
          </a:p>
          <a:p xmlns:a="http://schemas.openxmlformats.org/drawingml/2006/main">
            <a:r>
              <a:t>SOURCES</a:t>
            </a:r>
          </a:p>
          <a:p xmlns:a="http://schemas.openxmlformats.org/drawingml/2006/main">
            <a:r>
              <a:t>FoGO_BIRAC_BIG_Final_v2_with_script(1).pptx, supplied project material, retrieved 7 October 2026</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When FoGO gets it wrong</a:t>
            </a:r>
          </a:p>
          <a:p xmlns:a="http://schemas.openxmlformats.org/drawingml/2006/main">
            <a:r>
              <a:t>TIME: 3 minutes</a:t>
            </a:r>
          </a:p>
          <a:p xmlns:a="http://schemas.openxmlformats.org/drawingml/2006/main">
            <a:r>
              <a:t>ACTIVITY: Failure-priority vote</a:t>
            </a:r>
          </a:p>
          <a:p xmlns:a="http://schemas.openxmlformats.org/drawingml/2006/main">
            <a:r>
              <a:t/>
            </a:r>
          </a:p>
          <a:p xmlns:a="http://schemas.openxmlformats.org/drawingml/2006/main">
            <a:r>
              <a:t>All consequences and controls on this slide are proposed teaching examples. They are not measured FoGO adverse-event rates and do not imply that the listed controls have been validated in the final product.</a:t>
            </a:r>
          </a:p>
          <a:p xmlns:a="http://schemas.openxmlformats.org/drawingml/2006/main">
            <a:r>
              <a:t>Ask the room to prioritise missed freezes, false cues or loss of connection. Explain that priority needs both severity and probability. A missed event could leave the person without an expected cue. An unnecessary cue could distract or irritate. A lost connection could create false reassurance if monitoring failure is not apparent.</a:t>
            </a:r>
          </a:p>
          <a:p xmlns:a="http://schemas.openxmlformats.org/drawingml/2006/main">
            <a:r>
              <a:t>Ask what test would demonstrate that a control works. Include bench fault injection, performance during turning and with walking aids, participant feedback and clear loss-of-monitoring states. Consider cue limits and a usable stop control.</a:t>
            </a:r>
          </a:p>
          <a:p xmlns:a="http://schemas.openxmlformats.org/drawingml/2006/main">
            <a:r>
              <a:t>Keep the distinction between detection performance and fall prevention clear. Also ask how little personal data the system needs and who can access its event log.</a:t>
            </a:r>
          </a:p>
          <a:p xmlns:a="http://schemas.openxmlformats.org/drawingml/2006/main">
            <a:r>
              <a:t/>
            </a:r>
          </a:p>
          <a:p xmlns:a="http://schemas.openxmlformats.org/drawingml/2006/main">
            <a:r>
              <a:t>SOURCES</a:t>
            </a:r>
          </a:p>
          <a:p xmlns:a="http://schemas.openxmlformats.org/drawingml/2006/main">
            <a:r>
              <a:t>FoGO_BIRAC_BIG_Final_v2_with_script(1).pptx, supplied project material, retrieved 7 October 2026</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SwaKnee: a device, a routine, a burden</a:t>
            </a:r>
          </a:p>
          <a:p xmlns:a="http://schemas.openxmlformats.org/drawingml/2006/main">
            <a:r>
              <a:t>TIME: 2 minutes</a:t>
            </a:r>
          </a:p>
          <a:p xmlns:a="http://schemas.openxmlformats.org/drawingml/2006/main">
            <a:r>
              <a:t>ACTIVITY: Embedded 20-second product overview</a:t>
            </a:r>
          </a:p>
          <a:p xmlns:a="http://schemas.openxmlformats.org/drawingml/2006/main">
            <a:r>
              <a:t/>
            </a:r>
          </a:p>
          <a:p xmlns:a="http://schemas.openxmlformats.org/drawingml/2006/main">
            <a:r>
              <a:t>Introduce SwaKnee as a knee applicator and controller applying pulsed electromagnetic fields, with an intended adjunctive role in knee osteoarthritis care.</a:t>
            </a:r>
          </a:p>
          <a:p xmlns:a="http://schemas.openxmlformats.org/drawingml/2006/main">
            <a:r>
              <a:t>The embedded clip is an authored overview using original product images. It shows hardware and prompts about use. It is not a recording of a clinical response. The company’s longer online explainer is linked on the slide and in the reference section as optional additional material.</a:t>
            </a:r>
          </a:p>
          <a:p xmlns:a="http://schemas.openxmlformats.org/drawingml/2006/main">
            <a:r>
              <a:t>Ask the audience to identify the steps a person must understand: fitting the applicator, connecting and operating the controller, following the appropriate instructions, recognising problems and accessing support. Discussion of fitting or duration here is not an instruction for an individual patient.</a:t>
            </a:r>
          </a:p>
          <a:p xmlns:a="http://schemas.openxmlformats.org/drawingml/2006/main">
            <a:r>
              <a:t>The supplied leaflet describes 45-minute daily sessions over 45 days. Use that as an illustration of time burden, not a current prescription or a guarantee of effect. Current instructions and clinician advice must define actual use.</a:t>
            </a:r>
          </a:p>
          <a:p xmlns:a="http://schemas.openxmlformats.org/drawingml/2006/main">
            <a:r>
              <a:t/>
            </a:r>
          </a:p>
          <a:p xmlns:a="http://schemas.openxmlformats.org/drawingml/2006/main">
            <a:r>
              <a:t>SOURCES</a:t>
            </a:r>
          </a:p>
          <a:p xmlns:a="http://schemas.openxmlformats.org/drawingml/2006/main">
            <a:r>
              <a:t>https://www.swayogya.in/product.html</a:t>
            </a:r>
          </a:p>
          <a:p xmlns:a="http://schemas.openxmlformats.org/drawingml/2006/main">
            <a:r>
              <a:t>Swa knee_Leaflet.pdf, supplied project material, retrieved 7 October 2026</a:t>
            </a:r>
          </a:p>
          <a:p xmlns:a="http://schemas.openxmlformats.org/drawingml/2006/main">
            <a:r>
              <a:t>https://www.youtube.com/watch?v=IfQyVm8Kftc</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Which claim can the evidence carry?</a:t>
            </a:r>
          </a:p>
          <a:p xmlns:a="http://schemas.openxmlformats.org/drawingml/2006/main">
            <a:r>
              <a:t>TIME: 3 minutes</a:t>
            </a:r>
          </a:p>
          <a:p xmlns:a="http://schemas.openxmlformats.org/drawingml/2006/main">
            <a:r>
              <a:t>ACTIVITY: Claim challenge</a:t>
            </a:r>
          </a:p>
          <a:p xmlns:a="http://schemas.openxmlformats.org/drawingml/2006/main">
            <a:r>
              <a:t/>
            </a:r>
          </a:p>
          <a:p xmlns:a="http://schemas.openxmlformats.org/drawingml/2006/main">
            <a:r>
              <a:t>The chart reproduces rounded public company-reported average pain changes from a comparative 45-day study: device group n=40, comparison group n=42, about 32% versus 14% reduction in VAS pain from baseline. These are relative average changes, not the percentage of participants who benefited. The slide is not an independently audited efficacy analysis.</a:t>
            </a:r>
          </a:p>
          <a:p xmlns:a="http://schemas.openxmlformats.org/drawingml/2006/main">
            <a:r>
              <a:t>The public evidence page does not provide enough information to establish randomisation, blinding, complete outcome handling or precision from this summary. It lists no independently published SwaKnee-specific paper. Ask for the protocol, absolute baseline and follow-up values, between-group estimates with uncertainty, attrition, co-interventions, adverse events and follow-up duration.</a:t>
            </a:r>
          </a:p>
          <a:p xmlns:a="http://schemas.openxmlformats.org/drawingml/2006/main">
            <a:r>
              <a:t>Invite a participant to defend a cautious symptom claim and another to challenge "regrows cartilage." Pain improvement cannot establish structural regeneration. A stronger claim needs evidence that directly measures that outcome.</a:t>
            </a:r>
          </a:p>
          <a:p xmlns:a="http://schemas.openxmlformats.org/drawingml/2006/main">
            <a:r>
              <a:t>This 82-participant public summary is not merged with other internal reports or studies. Avoid claims of universal relief, permanent benefit or avoided surgery.</a:t>
            </a:r>
          </a:p>
          <a:p xmlns:a="http://schemas.openxmlformats.org/drawingml/2006/main">
            <a:r>
              <a:t/>
            </a:r>
          </a:p>
          <a:p xmlns:a="http://schemas.openxmlformats.org/drawingml/2006/main">
            <a:r>
              <a:t>SOURCES</a:t>
            </a:r>
          </a:p>
          <a:p xmlns:a="http://schemas.openxmlformats.org/drawingml/2006/main">
            <a:r>
              <a:t>https://www.swayogya.in/evidence.html</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An average can hide a patient</a:t>
            </a:r>
          </a:p>
          <a:p xmlns:a="http://schemas.openxmlformats.org/drawingml/2006/main">
            <a:r>
              <a:t>TIME: 3 minutes</a:t>
            </a:r>
          </a:p>
          <a:p xmlns:a="http://schemas.openxmlformats.org/drawingml/2006/main">
            <a:r>
              <a:t>ACTIVITY: Independent published case</a:t>
            </a:r>
          </a:p>
          <a:p xmlns:a="http://schemas.openxmlformats.org/drawingml/2006/main">
            <a:r>
              <a:t/>
            </a:r>
          </a:p>
          <a:p xmlns:a="http://schemas.openxmlformats.org/drawingml/2006/main">
            <a:r>
              <a:t>Use the University of Michigan cohort in Sjoding and colleagues, NEJM 2020. In qualifying paired measurements with pulse-oximeter SpO2 of 92–96%, arterial SaO2 below 88% occurred in 88/749 measurements for Black patients (11.7%, 95% CI 8.5–16.0) and 99/2778 for White patients (3.6%, 95% CI 2.7–4.7).</a:t>
            </a:r>
          </a:p>
          <a:p xmlns:a="http://schemas.openxmlformats.org/drawingml/2006/main">
            <a:r>
              <a:t>The unit is paired measurements, not all patients. The study used recorded race, not direct skin-pigmentation measurement. It was observational and does not establish that every person or every oximeter has this error. It does not justify a simple race-based correction.</a:t>
            </a:r>
          </a:p>
          <a:p xmlns:a="http://schemas.openxmlformats.org/drawingml/2006/main">
            <a:r>
              <a:t>Ask: "Which users and conditions could our validation overlook?" For FoGO, consider walking aids, disease severity and real settings. For SwaKnee, consider fit, comorbidities, adherence and access. The lesson is to identify relevant variation and examine subgroup performance rather than rely on one overall number.</a:t>
            </a:r>
          </a:p>
          <a:p xmlns:a="http://schemas.openxmlformats.org/drawingml/2006/main">
            <a:r>
              <a:t/>
            </a:r>
          </a:p>
          <a:p xmlns:a="http://schemas.openxmlformats.org/drawingml/2006/main">
            <a:r>
              <a:t>SOURCES</a:t>
            </a:r>
          </a:p>
          <a:p xmlns:a="http://schemas.openxmlformats.org/drawingml/2006/main">
            <a:r>
              <a:t>https://pmc.ncbi.nlm.nih.gov/articles/PMC7808260/</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Can a patient comfortably say no?</a:t>
            </a:r>
          </a:p>
          <a:p xmlns:a="http://schemas.openxmlformats.org/drawingml/2006/main">
            <a:r>
              <a:t>TIME: 3 minutes</a:t>
            </a:r>
          </a:p>
          <a:p xmlns:a="http://schemas.openxmlformats.org/drawingml/2006/main">
            <a:r>
              <a:t>ACTIVITY: Brief role-play</a:t>
            </a:r>
          </a:p>
          <a:p xmlns:a="http://schemas.openxmlformats.org/drawingml/2006/main">
            <a:r>
              <a:t/>
            </a:r>
          </a:p>
          <a:p xmlns:a="http://schemas.openxmlformats.org/drawingml/2006/main">
            <a:r>
              <a:t>The vignette is fictional and does not describe either project's actual consent procedures.</a:t>
            </a:r>
          </a:p>
          <a:p xmlns:a="http://schemas.openxmlformats.org/drawingml/2006/main">
            <a:r>
              <a:t>Ask one participant to be the patient and another the researcher. The treating clinician also has an inventor interest. The patient asks whether refusal will affect care and whether the clip will appear in a public talk. Invite a third participant to propose a safer consent process.</a:t>
            </a:r>
          </a:p>
          <a:p xmlns:a="http://schemas.openxmlformats.org/drawingml/2006/main">
            <a:r>
              <a:t>Helsinki 2024 calls for an appropriately qualified person independent of a dependent relationship to seek research consent in that situation. Explain the inventor interest, uncertain benefit, alternatives and withdrawal rights. Research participation must not become a condition of ordinary care.</a:t>
            </a:r>
          </a:p>
          <a:p xmlns:a="http://schemas.openxmlformats.org/drawingml/2006/main">
            <a:r>
              <a:t>Separate consent for research from permission to use identifiable images or video for teaching or publicity. A study-consent signature does not automatically authorise every future audience or reuse. Protect identity and limit collection, access and secondary use of data. Check understanding through a brief teach-back question.</a:t>
            </a:r>
          </a:p>
          <a:p xmlns:a="http://schemas.openxmlformats.org/drawingml/2006/main">
            <a:r>
              <a:t/>
            </a:r>
          </a:p>
          <a:p xmlns:a="http://schemas.openxmlformats.org/drawingml/2006/main">
            <a:r>
              <a:t>SOURCES</a:t>
            </a:r>
          </a:p>
          <a:p xmlns:a="http://schemas.openxmlformats.org/drawingml/2006/main">
            <a:r>
              <a:t>https://www.wma.net/policies-post/wma-declaration-of-helsinki/</a:t>
            </a:r>
          </a:p>
          <a:p xmlns:a="http://schemas.openxmlformats.org/drawingml/2006/main">
            <a:r>
              <a:t>https://ethics.ncdirindia.org/asset/pdf/ICMR_National_Ethical_Guidelines.pdf</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Different permissions answer different questions</a:t>
            </a:r>
          </a:p>
          <a:p xmlns:a="http://schemas.openxmlformats.org/drawingml/2006/main">
            <a:r>
              <a:t>TIME: 2 minutes</a:t>
            </a:r>
          </a:p>
          <a:p xmlns:a="http://schemas.openxmlformats.org/drawingml/2006/main">
            <a:r>
              <a:t>ACTIVITY: Indian pathway comparison</a:t>
            </a:r>
          </a:p>
          <a:p xmlns:a="http://schemas.openxmlformats.org/drawingml/2006/main">
            <a:r>
              <a:t/>
            </a:r>
          </a:p>
          <a:p xmlns:a="http://schemas.openxmlformats.org/drawingml/2006/main">
            <a:r>
              <a:t>The table simplifies distinct decisions and is not an exhaustive pathway for every class of device.</a:t>
            </a:r>
          </a:p>
          <a:p xmlns:a="http://schemas.openxmlformats.org/drawingml/2006/main">
            <a:r>
              <a:t>MDR-2017 distinguishes test manufacture for specified evaluation purposes from clinical-investigation permission and manufacture or import for sale or distribution. MD-13 is a test licence, not proof of permission for routine use or sale.</a:t>
            </a:r>
          </a:p>
          <a:p xmlns:a="http://schemas.openxmlformats.org/drawingml/2006/main">
            <a:r>
              <a:t>For applicable investigational-device studies, consider Central Licensing Authority permission through the MD-22/MD-23 pathway, registered ethics-committee approval, prospective CTRI registration, safety reporting and arrangements for medical management and compensation. Rule 51(3) has a conditional exemption for qualifying academic studies on licensed devices with ethics approval and data not used for marketing submissions.</a:t>
            </a:r>
          </a:p>
          <a:p xmlns:a="http://schemas.openxmlformats.org/drawingml/2006/main">
            <a:r>
              <a:t>The applicable route depends on the device, its class, intended use and study. State or central responsibilities and specific exemptions must be checked. Keep forms in the notes so this remains a discussion about distinct questions and responsibilities, rather than a forms lecture.</a:t>
            </a:r>
          </a:p>
          <a:p xmlns:a="http://schemas.openxmlformats.org/drawingml/2006/main">
            <a:r>
              <a:t/>
            </a:r>
          </a:p>
          <a:p xmlns:a="http://schemas.openxmlformats.org/drawingml/2006/main">
            <a:r>
              <a:t>SOURCES</a:t>
            </a:r>
          </a:p>
          <a:p xmlns:a="http://schemas.openxmlformats.org/drawingml/2006/main">
            <a:r>
              <a:t>https://cdsco.gov.in/opencms/resources/UploadCDSCOWeb/2022/m_device/Medical%20Devices%20Rules%2C%202017.pdf</a:t>
            </a:r>
          </a:p>
          <a:p xmlns:a="http://schemas.openxmlformats.org/drawingml/2006/main">
            <a:r>
              <a:t>https://cdsco.gov.in/opencms/export/sites/CDSCO_WEB/Pdf-documents/Guidance-document-on-Medical-Device-Software-under-MDR-2017.pdf</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Can someone actually live with it?</a:t>
            </a:r>
          </a:p>
          <a:p xmlns:a="http://schemas.openxmlformats.org/drawingml/2006/main">
            <a:r>
              <a:t>TIME: 2 minutes</a:t>
            </a:r>
          </a:p>
          <a:p xmlns:a="http://schemas.openxmlformats.org/drawingml/2006/main">
            <a:r>
              <a:t>ACTIVITY: Burden-of-use discussion</a:t>
            </a:r>
          </a:p>
          <a:p xmlns:a="http://schemas.openxmlformats.org/drawingml/2006/main">
            <a:r>
              <a:t/>
            </a:r>
          </a:p>
          <a:p xmlns:a="http://schemas.openxmlformats.org/drawingml/2006/main">
            <a:r>
              <a:t>Use the device journey to expand the discussion beyond purchase price. These are review questions, not cost estimates for either project.</a:t>
            </a:r>
          </a:p>
          <a:p xmlns:a="http://schemas.openxmlformats.org/drawingml/2006/main">
            <a:r>
              <a:t>At acquisition, ask who pays and whether the price excludes required accessories or service. At setup, ask who teaches the user and whether instructions work for that person's language, vision and literacy. During use, ask about fit, cleaning, charging, consumables, time and caregiver labour. When a problem occurs, ask where repairs happen, how long the person is without the device and how care continues.</a:t>
            </a:r>
          </a:p>
          <a:p xmlns:a="http://schemas.openxmlformats.org/drawingml/2006/main">
            <a:r>
              <a:t>Invite the room to imagine a person who lives far from a specialist service. What part of this pathway becomes the limiting burden? A rental or lower purchase price may help, but also needs a workable support arrangement.</a:t>
            </a:r>
          </a:p>
          <a:p xmlns:a="http://schemas.openxmlformats.org/drawingml/2006/main">
            <a:r>
              <a:t>Discuss reimbursement and sustainable service without turning this into a pricing pitch. A clinically valuable product needs a realistic plan for use in the intended setting.</a:t>
            </a:r>
          </a:p>
          <a:p xmlns:a="http://schemas.openxmlformats.org/drawingml/2006/main">
            <a:r>
              <a:t/>
            </a:r>
          </a:p>
          <a:p xmlns:a="http://schemas.openxmlformats.org/drawingml/2006/main">
            <a:r>
              <a:t>SOURCES</a:t>
            </a:r>
          </a:p>
          <a:p xmlns:a="http://schemas.openxmlformats.org/drawingml/2006/main">
            <a:r>
              <a:t>https://ethics.ncdirindia.org/asset/pdf/ICMR_National_Ethical_Guidelines.pdf</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The device changes. Does the evidence still apply?</a:t>
            </a:r>
          </a:p>
          <a:p xmlns:a="http://schemas.openxmlformats.org/drawingml/2006/main">
            <a:r>
              <a:t>TIME: 2 minutes</a:t>
            </a:r>
          </a:p>
          <a:p xmlns:a="http://schemas.openxmlformats.org/drawingml/2006/main">
            <a:r>
              <a:t>ACTIVITY: Hypothetical software-update decision</a:t>
            </a:r>
          </a:p>
          <a:p xmlns:a="http://schemas.openxmlformats.org/drawingml/2006/main">
            <a:r>
              <a:t/>
            </a:r>
          </a:p>
          <a:p xmlns:a="http://schemas.openxmlformats.org/drawingml/2006/main">
            <a:r>
              <a:t>This is a hypothetical FoGO update, not a report of an actual release. Suppose a new detection threshold reduces nuisance cues but could miss more freezes. Ask whether the original evidence still covers this behaviour.</a:t>
            </a:r>
          </a:p>
          <a:p xmlns:a="http://schemas.openxmlformats.org/drawingml/2006/main">
            <a:r>
              <a:t>CDSCO's 2026 software guidance discusses lifecycle risk and documented change management, including version tracking, validation, communication and rollback planning. Guidance reflects current practice under MDR-2017 rather than creating a new legal control.</a:t>
            </a:r>
          </a:p>
          <a:p xmlns:a="http://schemas.openxmlformats.org/drawingml/2006/main">
            <a:r>
              <a:t>Review the revised benefit-risk balance before deployment, retain version-specific evidence and determine any applicable regulatory and ethics requirements. Communicate material changes to the right users and reviewers. Re-consent may be appropriate if a study change affects a participant's decision to continue.</a:t>
            </a:r>
          </a:p>
          <a:p xmlns:a="http://schemas.openxmlformats.org/drawingml/2006/main">
            <a:r>
              <a:t>Ask who can pause or reverse the release. An algorithm-change protocol, where relevant, is not a blanket exemption from applicable permission or review.</a:t>
            </a:r>
          </a:p>
          <a:p xmlns:a="http://schemas.openxmlformats.org/drawingml/2006/main">
            <a:r>
              <a:t/>
            </a:r>
          </a:p>
          <a:p xmlns:a="http://schemas.openxmlformats.org/drawingml/2006/main">
            <a:r>
              <a:t>SOURCES</a:t>
            </a:r>
          </a:p>
          <a:p xmlns:a="http://schemas.openxmlformats.org/drawingml/2006/main">
            <a:r>
              <a:t>https://cdsco.gov.in/opencms/export/sites/CDSCO_WEB/Pdf-documents/Guidance-document-on-Medical-Device-Software-under-MDR-2017.pdf</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Who responds when a device harms someone?</a:t>
            </a:r>
          </a:p>
          <a:p xmlns:a="http://schemas.openxmlformats.org/drawingml/2006/main">
            <a:r>
              <a:t>TIME: 2 minutes</a:t>
            </a:r>
          </a:p>
          <a:p xmlns:a="http://schemas.openxmlformats.org/drawingml/2006/main">
            <a:r>
              <a:t>ACTIVITY: Responsibility assignment</a:t>
            </a:r>
          </a:p>
          <a:p xmlns:a="http://schemas.openxmlformats.org/drawingml/2006/main">
            <a:r>
              <a:t/>
            </a:r>
          </a:p>
          <a:p xmlns:a="http://schemas.openxmlformats.org/drawingml/2006/main">
            <a:r>
              <a:t>Ask the audience to follow a reported problem through the loop. Who addresses the person's immediate clinical needs? Who records the device identity, version, context and event? Who reports through the applicable channels, investigates, implements a correction and follows up?</a:t>
            </a:r>
          </a:p>
          <a:p xmlns:a="http://schemas.openxmlformats.org/drawingml/2006/main">
            <a:r>
              <a:t>MvPI's current resource page includes hospital guidance and reporting resources. Use the link for the reporting pathway rather than treating a complaint register as the endpoint. Regulatory, sponsor and institutional reporting obligations may also apply and must be followed.</a:t>
            </a:r>
          </a:p>
          <a:p xmlns:a="http://schemas.openxmlformats.org/drawingml/2006/main">
            <a:r>
              <a:t>The proposed loop is a teaching workflow, not an official six-step MvPI algorithm. Manufacturer quality systems need to translate evidence into corrective action and monitor whether it works. Complaints about discomfort, loss of function or persistent false alerts can be informative even when no serious injury occurs.</a:t>
            </a:r>
          </a:p>
          <a:p xmlns:a="http://schemas.openxmlformats.org/drawingml/2006/main">
            <a:r>
              <a:t>Avoid a blanket instruction to stop a needed device. Safety decisions need appropriate clinical assessment and continuity of care. End with: "Who will still answer the phone after the sale?"</a:t>
            </a:r>
          </a:p>
          <a:p xmlns:a="http://schemas.openxmlformats.org/drawingml/2006/main">
            <a:r>
              <a:t/>
            </a:r>
          </a:p>
          <a:p xmlns:a="http://schemas.openxmlformats.org/drawingml/2006/main">
            <a:r>
              <a:t>SOURCES</a:t>
            </a:r>
          </a:p>
          <a:p xmlns:a="http://schemas.openxmlformats.org/drawingml/2006/main">
            <a:r>
              <a:t>https://ipc.gov.in/mandates/materiovigilance-programme-of-india-mvpi/mvpi-resource-material.html</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Would you let a patient use it now?</a:t>
            </a:r>
          </a:p>
          <a:p xmlns:a="http://schemas.openxmlformats.org/drawingml/2006/main">
            <a:r>
              <a:t>TIME: 3 minutes</a:t>
            </a:r>
          </a:p>
          <a:p xmlns:a="http://schemas.openxmlformats.org/drawingml/2006/main">
            <a:r>
              <a:t>ACTIVITY: Closing vote and pair exercise</a:t>
            </a:r>
          </a:p>
          <a:p xmlns:a="http://schemas.openxmlformats.org/drawingml/2006/main">
            <a:r>
              <a:t/>
            </a:r>
          </a:p>
          <a:p xmlns:a="http://schemas.openxmlformats.org/drawingml/2006/main">
            <a:r>
              <a:t>Return to the same hypothetical prototype from slide 2. Ask the room to vote again. The objective is better reasons, not agreement with the speaker.</a:t>
            </a:r>
          </a:p>
          <a:p xmlns:a="http://schemas.openxmlformats.org/drawingml/2006/main">
            <a:r>
              <a:t>Give pairs 60 seconds. They must name one item they need before proceeding, who owns it and a condition under which use could be acceptable. Take two responses and ask whether each concerns a supervised study or routine clinical care.</a:t>
            </a:r>
          </a:p>
          <a:p xmlns:a="http://schemas.openxmlformats.org/drawingml/2006/main">
            <a:r>
              <a:t>Draw the distinction between delaying use to resolve important uncertainty and blocking potentially helpful research unnecessarily. The evidence and safeguards should be proportionate to the exact use and risk. Access and continuity remain part of the decision.</a:t>
            </a:r>
          </a:p>
          <a:p xmlns:a="http://schemas.openxmlformats.org/drawingml/2006/main">
            <a:r>
              <a:t>Close with: "A patient-ready decision names the patient, the purpose, the evidence, the limits and the person responsible. What would make you change your decision?"</a:t>
            </a:r>
          </a:p>
          <a:p xmlns:a="http://schemas.openxmlformats.org/drawingml/2006/main">
            <a:r>
              <a:t>Offer the review worksheet and reference slides for further discussion.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A patient-readiness review</a:t>
            </a:r>
          </a:p>
          <a:p xmlns:a="http://schemas.openxmlformats.org/drawingml/2006/main">
            <a:r>
              <a:t>TIME: Reference slide</a:t>
            </a:r>
          </a:p>
          <a:p xmlns:a="http://schemas.openxmlformats.org/drawingml/2006/main">
            <a:r>
              <a:t>ACTIVITY: Reusable worksheet</a:t>
            </a:r>
          </a:p>
          <a:p xmlns:a="http://schemas.openxmlformats.org/drawingml/2006/main">
            <a:r>
              <a:t/>
            </a:r>
          </a:p>
          <a:p xmlns:a="http://schemas.openxmlformats.org/drawingml/2006/main">
            <a:r>
              <a:t>Use this worksheet when reviewing a development programme, study or adoption proposal. The evidence column should link to actual documents. The responsibility column should identify a person or team and a condition for proceeding.</a:t>
            </a:r>
          </a:p>
          <a:p xmlns:a="http://schemas.openxmlformats.org/drawingml/2006/main">
            <a:r>
              <a:t>The five questions are a workshop synthesis and not a substitute for the applicable ethics, scientific, regulatory or quality review. The same device may meet the conditions for one narrowly defined use and remain unsuitable for another.</a:t>
            </a:r>
          </a:p>
          <a:p xmlns:a="http://schemas.openxmlformats.org/drawingml/2006/main">
            <a:r>
              <a:t>Participants can copy the table into their own review document. Ask them to mark unresolved items clearly rather than infer completion from a licence, patent, grant or institutional association.</a:t>
            </a:r>
          </a:p>
          <a:p xmlns:a="http://schemas.openxmlformats.org/drawingml/2006/main">
            <a:r>
              <a:t/>
            </a:r>
          </a:p>
          <a:p xmlns:a="http://schemas.openxmlformats.org/drawingml/2006/main">
            <a:r>
              <a:t>SOURCES</a:t>
            </a:r>
          </a:p>
          <a:p xmlns:a="http://schemas.openxmlformats.org/drawingml/2006/main">
            <a:r>
              <a:t>https://ethics.ncdirindia.org/asset/pdf/ICMR_National_Ethical_Guidelines.pdf</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What evidence would you ask for?</a:t>
            </a:r>
          </a:p>
          <a:p xmlns:a="http://schemas.openxmlformats.org/drawingml/2006/main">
            <a:r>
              <a:t>TIME: Reference slide</a:t>
            </a:r>
          </a:p>
          <a:p xmlns:a="http://schemas.openxmlformats.org/drawingml/2006/main">
            <a:r>
              <a:t>ACTIVITY: Case review prompts</a:t>
            </a:r>
          </a:p>
          <a:p xmlns:a="http://schemas.openxmlformats.org/drawingml/2006/main">
            <a:r>
              <a:t/>
            </a:r>
          </a:p>
          <a:p xmlns:a="http://schemas.openxmlformats.org/drawingml/2006/main">
            <a:r>
              <a:t>For FoGO, request a clear event definition and reference standard, participant-level evaluation, false-alarm burden and timing, loss-of-monitoring handling, cue tolerability and clinically meaningful outcomes in the intended setting. Detection performance alone cannot establish reduced falls.</a:t>
            </a:r>
          </a:p>
          <a:p xmlns:a="http://schemas.openxmlformats.org/drawingml/2006/main">
            <a:r>
              <a:t>For SwaKnee, request the full comparative-study design and absolute outcome values, effect estimates with uncertainty, attrition and co-interventions, safety accounting, adherence and longer follow-up. Symptom change alone cannot establish cartilage regeneration.</a:t>
            </a:r>
          </a:p>
          <a:p xmlns:a="http://schemas.openxmlformats.org/drawingml/2006/main">
            <a:r>
              <a:t>For either device, examine who was represented, how independence and conflicts were handled and which version was evaluated. A feasibility study may appropriately answer an early question if its design and participant exposure are proportionate. Confirmatory claims require evidence designed to support those claims.</a:t>
            </a:r>
          </a:p>
          <a:p xmlns:a="http://schemas.openxmlformats.org/drawingml/2006/main">
            <a:r>
              <a:t/>
            </a:r>
          </a:p>
          <a:p xmlns:a="http://schemas.openxmlformats.org/drawingml/2006/main">
            <a:r>
              <a:t>SOURCES</a:t>
            </a:r>
          </a:p>
          <a:p xmlns:a="http://schemas.openxmlformats.org/drawingml/2006/main">
            <a:r>
              <a:t>FoGO_BIRAC_BIG_Final_v2_with_script(1).pptx, supplied project material, retrieved 7 October 2026</a:t>
            </a:r>
          </a:p>
          <a:p xmlns:a="http://schemas.openxmlformats.org/drawingml/2006/main">
            <a:r>
              <a:t>https://www.swayogya.in/evidence.html</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Sources for practice in India</a:t>
            </a:r>
          </a:p>
          <a:p xmlns:a="http://schemas.openxmlformats.org/drawingml/2006/main">
            <a:r>
              <a:t>TIME: Reference slide</a:t>
            </a:r>
          </a:p>
          <a:p xmlns:a="http://schemas.openxmlformats.org/drawingml/2006/main">
            <a:r>
              <a:t>ACTIVITY: Clickable primary references</a:t>
            </a:r>
          </a:p>
          <a:p xmlns:a="http://schemas.openxmlformats.org/drawingml/2006/main">
            <a:r>
              <a:t/>
            </a:r>
          </a:p>
          <a:p xmlns:a="http://schemas.openxmlformats.org/drawingml/2006/main">
            <a:r>
              <a:t>References checked 7 October 2026.</a:t>
            </a:r>
          </a:p>
          <a:p xmlns:a="http://schemas.openxmlformats.org/drawingml/2006/main">
            <a:r>
              <a:t>ICMR National Ethical Guidelines for Biomedical and Health Research Involving Human Participants, 2017, especially general principles, consent, conflicts and device trials.</a:t>
            </a:r>
          </a:p>
          <a:p xmlns:a="http://schemas.openxmlformats.org/drawingml/2006/main">
            <a:r>
              <a:t>Medical Devices Rules, 2017, including the applicable amendments and notifications, especially test licensing and clinical-investigation provisions.</a:t>
            </a:r>
          </a:p>
          <a:p xmlns:a="http://schemas.openxmlformats.org/drawingml/2006/main">
            <a:r>
              <a:t>CDSCO Guidance Document on Medical Device Software under MDR-2017, issued 21 July 2026, especially intended use and lifecycle risk/change management. This guidance does not replace the statutory rules.</a:t>
            </a:r>
          </a:p>
          <a:p xmlns:a="http://schemas.openxmlformats.org/drawingml/2006/main">
            <a:r>
              <a:t>Indian Pharmacopoeia Commission, MvPI resource material, including hospital safety-monitoring guidance and reporting resources. The page's update date is not evidence that every listed policy is new.</a:t>
            </a:r>
          </a:p>
          <a:p xmlns:a="http://schemas.openxmlformats.org/drawingml/2006/main">
            <a:r>
              <a:t>The visible titles are clickable.</a:t>
            </a:r>
          </a:p>
          <a:p xmlns:a="http://schemas.openxmlformats.org/drawingml/2006/main">
            <a:r>
              <a:t/>
            </a:r>
          </a:p>
          <a:p xmlns:a="http://schemas.openxmlformats.org/drawingml/2006/main">
            <a:r>
              <a:t>SOURCES</a:t>
            </a:r>
          </a:p>
          <a:p xmlns:a="http://schemas.openxmlformats.org/drawingml/2006/main">
            <a:r>
              <a:t>https://ethics.ncdirindia.org/asset/pdf/ICMR_National_Ethical_Guidelines.pdf</a:t>
            </a:r>
          </a:p>
          <a:p xmlns:a="http://schemas.openxmlformats.org/drawingml/2006/main">
            <a:r>
              <a:t>https://cdsco.gov.in/opencms/resources/UploadCDSCOWeb/2022/m_device/Medical%20Devices%20Rules%2C%202017.pdf</a:t>
            </a:r>
          </a:p>
          <a:p xmlns:a="http://schemas.openxmlformats.org/drawingml/2006/main">
            <a:r>
              <a:t>https://cdsco.gov.in/opencms/export/sites/CDSCO_WEB/Pdf-documents/Guidance-document-on-Medical-Device-Software-under-MDR-2017.pdf</a:t>
            </a:r>
          </a:p>
          <a:p xmlns:a="http://schemas.openxmlformats.org/drawingml/2006/main">
            <a:r>
              <a:t>https://ipc.gov.in/mandates/materiovigilance-programme-of-india-mvpi/mvpi-resource-material.html</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Cases, media and further reading</a:t>
            </a:r>
          </a:p>
          <a:p xmlns:a="http://schemas.openxmlformats.org/drawingml/2006/main">
            <a:r>
              <a:t>TIME: Reference slide</a:t>
            </a:r>
          </a:p>
          <a:p xmlns:a="http://schemas.openxmlformats.org/drawingml/2006/main">
            <a:r>
              <a:t>ACTIVITY: Source and media credits</a:t>
            </a:r>
          </a:p>
          <a:p xmlns:a="http://schemas.openxmlformats.org/drawingml/2006/main">
            <a:r>
              <a:t/>
            </a:r>
          </a:p>
          <a:p xmlns:a="http://schemas.openxmlformats.org/drawingml/2006/main">
            <a:r>
              <a:t>Sjoding MW, Dickson RP, Iwashyna TJ, Gay SE, Valley TS. Racial Bias in Pulse Oximetry Measurement. N Engl J Med. 2020;383:2477–2478. DOI: 10.1056/NEJMc2029240.</a:t>
            </a:r>
          </a:p>
          <a:p xmlns:a="http://schemas.openxmlformats.org/drawingml/2006/main">
            <a:r>
              <a:t>WMA Declaration of Helsinki, 2024 revision, for current research-consent principles.</a:t>
            </a:r>
          </a:p>
          <a:p xmlns:a="http://schemas.openxmlformats.org/drawingml/2006/main">
            <a:r>
              <a:t>Stanford Biodesign, Principled Decision-Making, 2022, as further reading on medical-technology decisions. No affiliation or endorsement is implied.</a:t>
            </a:r>
          </a:p>
          <a:p xmlns:a="http://schemas.openxmlformats.org/drawingml/2006/main">
            <a:r>
              <a:t>FoGO media and project status come from the supplied project deck. The embedded clip is a staged prototype demonstration with a simulated freeze, and the face is obscured. SwaKnee hardware images come from supplied product material and the company product site. The embedded SwaKnee sequence is a product-image overview, not a clinical-outcome video. Its original online explainer is an optional external link.</a:t>
            </a:r>
          </a:p>
          <a:p xmlns:a="http://schemas.openxmlformats.org/drawingml/2006/main">
            <a:r>
              <a:t>The SwaKnee result on slide 9 is attributed to the company's public evidence page and labelled company-reported throughout.</a:t>
            </a:r>
          </a:p>
          <a:p xmlns:a="http://schemas.openxmlformats.org/drawingml/2006/main">
            <a:r>
              <a:t/>
            </a:r>
          </a:p>
          <a:p xmlns:a="http://schemas.openxmlformats.org/drawingml/2006/main">
            <a:r>
              <a:t>SOURCES</a:t>
            </a:r>
          </a:p>
          <a:p xmlns:a="http://schemas.openxmlformats.org/drawingml/2006/main">
            <a:r>
              <a:t>https://pmc.ncbi.nlm.nih.gov/articles/PMC7808260/</a:t>
            </a:r>
          </a:p>
          <a:p xmlns:a="http://schemas.openxmlformats.org/drawingml/2006/main">
            <a:r>
              <a:t>https://www.wma.net/policies-post/wma-declaration-of-helsinki/</a:t>
            </a:r>
          </a:p>
          <a:p xmlns:a="http://schemas.openxmlformats.org/drawingml/2006/main">
            <a:r>
              <a:t>https://biodesignguide.stanford.edu/wp-content/uploads/2022/08/Principled-Decision-Making-v1.pdf</a:t>
            </a:r>
          </a:p>
          <a:p xmlns:a="http://schemas.openxmlformats.org/drawingml/2006/main">
            <a:r>
              <a:t>FoGO_BIRAC_BIG_Final_v2_with_script(1).pptx, supplied project material, retrieved 7 October 2026</a:t>
            </a:r>
          </a:p>
          <a:p xmlns:a="http://schemas.openxmlformats.org/drawingml/2006/main">
            <a:r>
              <a:t>https://www.swayogya.in/evidence.html</a:t>
            </a:r>
          </a:p>
          <a:p xmlns:a="http://schemas.openxmlformats.org/drawingml/2006/main">
            <a:r>
              <a:t>https://www.youtube.com/watch?v=IfQyVm8Kftc</a:t>
            </a:r>
          </a:p>
          <a:p xmlns:a="http://schemas.openxmlformats.org/drawingml/2006/main">
            <a:r>
              <a:t/>
            </a:r>
          </a:p>
          <a:p xmlns:a="http://schemas.openxmlformats.org/drawingml/2006/main">
            <a:r>
              <a:t>Reference check: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36ec8000714d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1f1e26f91c44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6c7d8f10c749c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ac89eb6b074c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41a375b9bc4d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e1b14b6515740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7E83D81-1407-4702-B9C4-A761A8AD727A}"/>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9BFE618-492E-4290-9624-63881FEB3A3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D283B6B-7998-4D83-B226-E6D88E199B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EB22601-3449-4D53-8D51-DB6A6D81B9A1}"/>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A21DDF61-F162-4AD4-80D3-D8B65B2F321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83A649F-DC3B-47C7-BCCD-E3F99448640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50B636E-3B14-43A3-AD73-9F27E637FB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F9815E42-439E-4A9C-B6EF-FAD08FC1CD2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2EF86996-8B8A-4C23-AD18-5CE04C1C172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2D30734-6D78-472B-A74E-D388335330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3597AD8-E4A3-404A-8449-91EE8FCAF0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A8032C5-74D2-4A4B-8C74-5EF3CA7DCDE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7398FBD-A17F-457D-9F26-26A3E9B8403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92FE7CF-711F-4793-8BBA-A89941A6DF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36FDD6C-A2F6-4480-9368-2E942A9A67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99a9e8252b4a49" /><Relationship Type="http://schemas.openxmlformats.org/officeDocument/2006/relationships/slideLayout" Target="/ppt/slideLayouts/slideLayout1.xml" Id="R458ca29f133a477e" /><Relationship Type="http://schemas.openxmlformats.org/officeDocument/2006/relationships/slideLayout" Target="/ppt/slideLayouts/slideLayout2.xml" Id="R40cbc5f6c8664933" /><Relationship Type="http://schemas.openxmlformats.org/officeDocument/2006/relationships/slideLayout" Target="/ppt/slideLayouts/slideLayout3.xml" Id="R45bb184a366d4c87" /><Relationship Type="http://schemas.openxmlformats.org/officeDocument/2006/relationships/slideLayout" Target="/ppt/slideLayouts/slideLayout4.xml" Id="Rd7e33c22759a4883" /><Relationship Type="http://schemas.openxmlformats.org/officeDocument/2006/relationships/slideLayout" Target="/ppt/slideLayouts/slideLayout5.xml" Id="R5271b5fbaf304ddc" /><Relationship Type="http://schemas.openxmlformats.org/officeDocument/2006/relationships/slideLayout" Target="/ppt/slideLayouts/slideLayout6.xml" Id="Rab713d5a3df943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8ca29f133a477e"/>
    <p:sldLayoutId xmlns:r="http://schemas.openxmlformats.org/officeDocument/2006/relationships" id="2147483650" r:id="R40cbc5f6c8664933"/>
    <p:sldLayoutId xmlns:r="http://schemas.openxmlformats.org/officeDocument/2006/relationships" id="2147483651" r:id="R45bb184a366d4c87"/>
    <p:sldLayoutId xmlns:r="http://schemas.openxmlformats.org/officeDocument/2006/relationships" id="2147483652" r:id="Rd7e33c22759a4883"/>
    <p:sldLayoutId xmlns:r="http://schemas.openxmlformats.org/officeDocument/2006/relationships" id="2147483653" r:id="R5271b5fbaf304ddc"/>
    <p:sldLayoutId xmlns:r="http://schemas.openxmlformats.org/officeDocument/2006/relationships" id="2147483654" r:id="Rab713d5a3df943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1d4da7893246d2" /><Relationship Type="http://schemas.openxmlformats.org/officeDocument/2006/relationships/image" Target="/ppt/media/image.jpeg" Id="R2bca1c470480488b" /><Relationship Type="http://schemas.openxmlformats.org/officeDocument/2006/relationships/notesSlide" Target="/ppt/notesSlides/notesSlide1.xml" Id="R906906c0096c42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5d0ee780d70456f" /><Relationship Type="http://schemas.openxmlformats.org/officeDocument/2006/relationships/notesSlide" Target="/ppt/notesSlides/notesSlide2.xml" Id="R85052fc0bfde46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626551443d44f6" /><Relationship Type="http://schemas.openxmlformats.org/officeDocument/2006/relationships/notesSlide" Target="/ppt/notesSlides/notesSlide3.xml" Id="R5ce64b4091e941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b11b9e8528240ae" /><Relationship Type="http://schemas.openxmlformats.org/officeDocument/2006/relationships/notesSlide" Target="/ppt/notesSlides/notesSlide4.xml" Id="R06ad8873697d4323" /></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6.xml" Id="Rda2849c1f0764e19" /><ns0:Relationship Type="http://schemas.openxmlformats.org/officeDocument/2006/relationships/image" Target="/ppt/media/image2.jpeg" Id="R1e185caf037343cb" /><ns0:Relationship Type="http://schemas.openxmlformats.org/officeDocument/2006/relationships/notesSlide" Target="/ppt/notesSlides/notesSlide5.xml" Id="R8d3256de42fa4d78" /><ns0:Relationship Id="rId1" Type="http://schemas.microsoft.com/office/2007/relationships/media" Target="../media/fogo_prototype.mp4" /><ns0:Relationship Id="rId2" Type="http://schemas.openxmlformats.org/officeDocument/2006/relationships/video" Target="../media/fogo_prototype.mp4" /></ns0: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d87cdd3333b4227" /><Relationship Type="http://schemas.openxmlformats.org/officeDocument/2006/relationships/notesSlide" Target="/ppt/notesSlides/notesSlide6.xml" Id="Rdb8ff122170d4f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8ae05ebeb9344b2" /><Relationship Type="http://schemas.openxmlformats.org/officeDocument/2006/relationships/notesSlide" Target="/ppt/notesSlides/notesSlide7.xml" Id="R4ab28ef2ef524afb" /></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6.xml" Id="Rb9f31a8393f84aa9" /><ns0:Relationship Type="http://schemas.openxmlformats.org/officeDocument/2006/relationships/image" Target="/ppt/media/image3.jpeg" Id="R606c97668f0940f8" /><ns0:Relationship Type="http://schemas.openxmlformats.org/officeDocument/2006/relationships/hyperlink" Target="https://www.youtube.com/watch?v=IfQyVm8Kftc" TargetMode="External" Id="R1199e600860840c8" /><ns0:Relationship Type="http://schemas.openxmlformats.org/officeDocument/2006/relationships/notesSlide" Target="/ppt/notesSlides/notesSlide8.xml" Id="R4e8e18b9e6ed4051" /><ns0:Relationship Id="rId1" Type="http://schemas.microsoft.com/office/2007/relationships/media" Target="../media/swaknee_overview.mp4" /><ns0:Relationship Id="rId2" Type="http://schemas.openxmlformats.org/officeDocument/2006/relationships/video" Target="../media/swaknee_overview.mp4" /></ns0: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72d77e931954965" /><Relationship Type="http://schemas.openxmlformats.org/officeDocument/2006/relationships/chart" Target="/ppt/slides/charts/chart1.xml" Id="Re527cf1e8f434231" /><Relationship Type="http://schemas.openxmlformats.org/officeDocument/2006/relationships/notesSlide" Target="/ppt/notesSlides/notesSlide9.xml" Id="R417a395cc97e43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a6303852ae648ab" /><Relationship Type="http://schemas.openxmlformats.org/officeDocument/2006/relationships/chart" Target="/ppt/slides/charts/chart2.xml" Id="R463ab78da2aa47a3" /><Relationship Type="http://schemas.openxmlformats.org/officeDocument/2006/relationships/notesSlide" Target="/ppt/notesSlides/notesSlide10.xml" Id="R3e186f7d2c4946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6e5596a507c4cb2" /><Relationship Type="http://schemas.openxmlformats.org/officeDocument/2006/relationships/notesSlide" Target="/ppt/notesSlides/notesSlide11.xml" Id="R1186bd6d07ab46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4f57026e0f94977" /><Relationship Type="http://schemas.openxmlformats.org/officeDocument/2006/relationships/notesSlide" Target="/ppt/notesSlides/notesSlide12.xml" Id="Rde6e3167d6d64a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36db242764744b8" /><Relationship Type="http://schemas.openxmlformats.org/officeDocument/2006/relationships/notesSlide" Target="/ppt/notesSlides/notesSlide13.xml" Id="Rdbe8eb5689e440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d2be38562444a26" /><Relationship Type="http://schemas.openxmlformats.org/officeDocument/2006/relationships/notesSlide" Target="/ppt/notesSlides/notesSlide14.xml" Id="R38b57122feda48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34c21dde4324792" /><Relationship Type="http://schemas.openxmlformats.org/officeDocument/2006/relationships/hyperlink" Target="https://ipc.gov.in/mandates/materiovigilance-programme-of-india-mvpi/mvpi-resource-material.html" TargetMode="External" Id="R142eace92eff470e" /><Relationship Type="http://schemas.openxmlformats.org/officeDocument/2006/relationships/notesSlide" Target="/ppt/notesSlides/notesSlide15.xml" Id="R2c0dde19842941e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150106523dc4be2" /><Relationship Type="http://schemas.openxmlformats.org/officeDocument/2006/relationships/notesSlide" Target="/ppt/notesSlides/notesSlide16.xml" Id="R48a69ad0db5a45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baf94fe87834016" /><Relationship Type="http://schemas.openxmlformats.org/officeDocument/2006/relationships/notesSlide" Target="/ppt/notesSlides/notesSlide17.xml" Id="Rc394a71a04d1453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63057f8782f4ed5" /><Relationship Type="http://schemas.openxmlformats.org/officeDocument/2006/relationships/notesSlide" Target="/ppt/notesSlides/notesSlide18.xml" Id="R0d063c906ab9458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28ac60d30814a3f" /><Relationship Type="http://schemas.openxmlformats.org/officeDocument/2006/relationships/hyperlink" Target="https://ethics.ncdirindia.org/asset/pdf/ICMR_National_Ethical_Guidelines.pdf" TargetMode="External" Id="R0e165589c99c4ab8" /><Relationship Type="http://schemas.openxmlformats.org/officeDocument/2006/relationships/hyperlink" Target="https://cdsco.gov.in/opencms/resources/UploadCDSCOWeb/2022/m_device/Medical%20Devices%20Rules%2C%202017.pdf" TargetMode="External" Id="R935e089e207d4ec9" /><Relationship Type="http://schemas.openxmlformats.org/officeDocument/2006/relationships/hyperlink" Target="https://cdsco.gov.in/opencms/export/sites/CDSCO_WEB/Pdf-documents/Guidance-document-on-Medical-Device-Software-under-MDR-2017.pdf" TargetMode="External" Id="R856f4e6727fe4bf9" /><Relationship Type="http://schemas.openxmlformats.org/officeDocument/2006/relationships/hyperlink" Target="https://ipc.gov.in/mandates/materiovigilance-programme-of-india-mvpi/mvpi-resource-material.html" TargetMode="External" Id="R3f3460216c3c4032" /><Relationship Type="http://schemas.openxmlformats.org/officeDocument/2006/relationships/notesSlide" Target="/ppt/notesSlides/notesSlide19.xml" Id="R01a7121d90534d0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aaa108eb5314a58" /><Relationship Type="http://schemas.openxmlformats.org/officeDocument/2006/relationships/hyperlink" Target="https://pmc.ncbi.nlm.nih.gov/articles/PMC7808260/" TargetMode="External" Id="Rb9fef55889a948ca" /><Relationship Type="http://schemas.openxmlformats.org/officeDocument/2006/relationships/hyperlink" Target="https://www.wma.net/policies-post/wma-declaration-of-helsinki/" TargetMode="External" Id="R5ea98e2fd3aa4bef" /><Relationship Type="http://schemas.openxmlformats.org/officeDocument/2006/relationships/hyperlink" Target="https://www.swayogya.in/evidence.html" TargetMode="External" Id="R44558ff532c64cb5" /><Relationship Type="http://schemas.openxmlformats.org/officeDocument/2006/relationships/hyperlink" Target="https://biodesignguide.stanford.edu/wp-content/uploads/2022/08/Principled-Decision-Making-v1.pdf" TargetMode="External" Id="R7d1c8adfcc4541d0" /><Relationship Type="http://schemas.openxmlformats.org/officeDocument/2006/relationships/notesSlide" Target="/ppt/notesSlides/notesSlide20.xml" Id="R6f9e2381d61c404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23339"/>
                </a:solidFill>
                <a:latin typeface="Nimbus Sans"/>
                <a:ea typeface="Nimbus Sans"/>
                <a:cs typeface="Nimbus Sans"/>
              </a:rPr>
              <a:t>Reported average pain reduction at day 45 (%)</a:t>
            </a:r>
          </a:p>
        </c:rich>
      </c:tx>
      <c:overlay val="0"/>
      <c:txPr>
        <a:bodyPr xmlns:a="http://schemas.openxmlformats.org/drawingml/2006/main" anchorCtr="1"/>
        <a:lstStyle xmlns:a="http://schemas.openxmlformats.org/drawingml/2006/main"/>
        <a:p xmlns:a="http://schemas.openxmlformats.org/drawingml/2006/main">
          <a:pPr>
            <a:defRPr sz="1950" b="1">
              <a:solidFill>
                <a:srgbClr val="123339"/>
              </a:solidFill>
              <a:latin typeface="Nimbus Sans"/>
              <a:ea typeface="Nimbus Sans"/>
              <a:cs typeface="Nimbus Sans"/>
            </a:defRPr>
          </a:pPr>
        </a:p>
      </c:txPr>
    </c:title>
    <c:plotArea>
      <c:barChart>
        <c:barDir val="col"/>
        <c:grouping val="clustered"/>
        <c:varyColors val="0"/>
        <c:ser>
          <c:idx val="0"/>
          <c:order val="0"/>
          <c:tx>
            <c:v>Average reduction from baseline</c:v>
          </c:tx>
          <c:spPr>
            <a:solidFill xmlns:a="http://schemas.openxmlformats.org/drawingml/2006/main">
              <a:srgbClr val="087F7C"/>
            </a:solidFill>
          </c:spPr>
          <c:dPt>
            <c:idx val="0"/>
            <c:invertIfNegative val="0"/>
            <c:spPr>
              <a:solidFill xmlns:a="http://schemas.openxmlformats.org/drawingml/2006/main">
                <a:srgbClr val="087F7C"/>
              </a:solidFill>
            </c:spPr>
          </c:dPt>
          <c:dPt>
            <c:idx val="1"/>
            <c:invertIfNegative val="0"/>
            <c:spPr>
              <a:solidFill xmlns:a="http://schemas.openxmlformats.org/drawingml/2006/main">
                <a:srgbClr val="98AEAA"/>
              </a:solidFill>
            </c:spPr>
          </c:dPt>
          <c:cat>
            <c:strRef>
              <c:f>'Chart Data'!$A$2:$A$3</c:f>
              <c:strCache>
                <c:ptCount val="2"/>
                <c:pt idx="0">
                  <c:v>Device group</c:v>
                </c:pt>
                <c:pt idx="1">
                  <c:v>Comparison group</c:v>
                </c:pt>
              </c:strCache>
            </c:strRef>
          </c:cat>
          <c:val>
            <c:numRef>
              <c:f>'Chart Data'!$B$2:$B$3</c:f>
              <c:numCache>
                <c:formatCode>0"%"</c:formatCode>
                <c:ptCount val="2"/>
                <c:pt idx="0">
                  <c:v>32</c:v>
                </c:pt>
                <c:pt idx="1">
                  <c:v>14</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2625" b="1">
                  <a:solidFill>
                    <a:srgbClr val="123339"/>
                  </a:solidFill>
                  <a:latin typeface="Nimbus Sans"/>
                  <a:ea typeface="Nimbus Sans"/>
                  <a:cs typeface="Nimbus Sans"/>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4D3CD"/>
            </a:solidFill>
          </a:ln>
        </c:spPr>
        <c:txPr>
          <a:bodyPr xmlns:a="http://schemas.openxmlformats.org/drawingml/2006/main" anchorCtr="1"/>
          <a:lstStyle xmlns:a="http://schemas.openxmlformats.org/drawingml/2006/main"/>
          <a:p xmlns:a="http://schemas.openxmlformats.org/drawingml/2006/main">
            <a:pPr>
              <a:defRPr sz="1875">
                <a:solidFill>
                  <a:srgbClr val="123339"/>
                </a:solidFill>
                <a:latin typeface="Nimbus Sans"/>
                <a:ea typeface="Nimbus Sans"/>
                <a:cs typeface="Nimbus Sans"/>
              </a:defRPr>
            </a:pPr>
          </a:p>
        </c:txPr>
        <c:crossAx val="48672768"/>
      </c:catAx>
      <c:valAx>
        <c:axId val="48672768"/>
        <c:scaling>
          <c:orientation val="minMax"/>
          <c:max val="40"/>
          <c:min val="0"/>
        </c:scaling>
        <c:delete val="0"/>
        <c:axPos val="l"/>
        <c:majorGridlines>
          <c:spPr>
            <a:ln xmlns:a="http://schemas.openxmlformats.org/drawingml/2006/main" w="9525">
              <a:solidFill>
                <a:srgbClr val="C4D3CD"/>
              </a:solidFill>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565"/>
                </a:solidFill>
                <a:latin typeface="Nimbus Sans"/>
                <a:ea typeface="Nimbus Sans"/>
                <a:cs typeface="Nimbus Sans"/>
              </a:defRPr>
            </a:pPr>
          </a:p>
        </c:txPr>
        <c:crossAx val="48650112"/>
        <c:crossBetween val="between"/>
        <c:majorUnit val="10"/>
      </c:valAx>
      <c:spPr>
        <a:solidFill xmlns:a="http://schemas.openxmlformats.org/drawingml/2006/main">
          <a:srgbClr val="F8F6F0"/>
        </a:solidFill>
        <a:ln xmlns:a="http://schemas.openxmlformats.org/drawingml/2006/main" w="0">
          <a:noFill/>
        </a:ln>
      </c:spPr>
    </c:plotArea>
    <c:plotVisOnly val="1"/>
  </c:chart>
  <c:spPr>
    <a:solidFill xmlns:a="http://schemas.openxmlformats.org/drawingml/2006/main">
      <a:srgbClr val="F8F6F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23339"/>
                </a:solidFill>
                <a:latin typeface="Nimbus Sans"/>
                <a:ea typeface="Nimbus Sans"/>
                <a:cs typeface="Nimbus Sans"/>
              </a:rPr>
              <a:t>Occult hypoxaemia (%)</a:t>
            </a:r>
          </a:p>
        </c:rich>
      </c:tx>
      <c:overlay val="0"/>
      <c:txPr>
        <a:bodyPr xmlns:a="http://schemas.openxmlformats.org/drawingml/2006/main" anchorCtr="1"/>
        <a:lstStyle xmlns:a="http://schemas.openxmlformats.org/drawingml/2006/main"/>
        <a:p xmlns:a="http://schemas.openxmlformats.org/drawingml/2006/main">
          <a:pPr>
            <a:defRPr sz="1950" b="1">
              <a:solidFill>
                <a:srgbClr val="123339"/>
              </a:solidFill>
              <a:latin typeface="Nimbus Sans"/>
              <a:ea typeface="Nimbus Sans"/>
              <a:cs typeface="Nimbus Sans"/>
            </a:defRPr>
          </a:pPr>
        </a:p>
      </c:txPr>
    </c:title>
    <c:plotArea>
      <c:barChart>
        <c:barDir val="col"/>
        <c:grouping val="clustered"/>
        <c:varyColors val="0"/>
        <c:ser>
          <c:idx val="0"/>
          <c:order val="0"/>
          <c:tx>
            <c:v>Occult hypoxaemia</c:v>
          </c:tx>
          <c:spPr>
            <a:solidFill xmlns:a="http://schemas.openxmlformats.org/drawingml/2006/main">
              <a:srgbClr val="087F7C"/>
            </a:solidFill>
          </c:spPr>
          <c:dPt>
            <c:idx val="0"/>
            <c:invertIfNegative val="0"/>
            <c:spPr>
              <a:solidFill xmlns:a="http://schemas.openxmlformats.org/drawingml/2006/main">
                <a:srgbClr val="087F7C"/>
              </a:solidFill>
            </c:spPr>
          </c:dPt>
          <c:dPt>
            <c:idx val="1"/>
            <c:invertIfNegative val="0"/>
            <c:spPr>
              <a:solidFill xmlns:a="http://schemas.openxmlformats.org/drawingml/2006/main">
                <a:srgbClr val="98AEAA"/>
              </a:solidFill>
            </c:spPr>
          </c:dPt>
          <c:cat>
            <c:strRef>
              <c:f>'Chart Data'!$A$2:$A$3</c:f>
              <c:strCache>
                <c:ptCount val="2"/>
                <c:pt idx="0">
                  <c:v>Black patients</c:v>
                </c:pt>
                <c:pt idx="1">
                  <c:v>White patients</c:v>
                </c:pt>
              </c:strCache>
            </c:strRef>
          </c:cat>
          <c:val>
            <c:numRef>
              <c:f>'Chart Data'!$B$2:$B$3</c:f>
              <c:numCache>
                <c:formatCode>0"%"</c:formatCode>
                <c:ptCount val="2"/>
                <c:pt idx="0">
                  <c:v>11.7</c:v>
                </c:pt>
                <c:pt idx="1">
                  <c:v>3.6</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2625" b="1">
                  <a:solidFill>
                    <a:srgbClr val="123339"/>
                  </a:solidFill>
                  <a:latin typeface="Nimbus Sans"/>
                  <a:ea typeface="Nimbus Sans"/>
                  <a:cs typeface="Nimbus Sans"/>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4D3CD"/>
            </a:solidFill>
          </a:ln>
        </c:spPr>
        <c:txPr>
          <a:bodyPr xmlns:a="http://schemas.openxmlformats.org/drawingml/2006/main" anchorCtr="1"/>
          <a:lstStyle xmlns:a="http://schemas.openxmlformats.org/drawingml/2006/main"/>
          <a:p xmlns:a="http://schemas.openxmlformats.org/drawingml/2006/main">
            <a:pPr>
              <a:defRPr sz="1875">
                <a:solidFill>
                  <a:srgbClr val="123339"/>
                </a:solidFill>
                <a:latin typeface="Nimbus Sans"/>
                <a:ea typeface="Nimbus Sans"/>
                <a:cs typeface="Nimbus Sans"/>
              </a:defRPr>
            </a:pPr>
          </a:p>
        </c:txPr>
        <c:crossAx val="48672768"/>
      </c:catAx>
      <c:valAx>
        <c:axId val="48672768"/>
        <c:scaling>
          <c:orientation val="minMax"/>
          <c:max val="20"/>
          <c:min val="0"/>
        </c:scaling>
        <c:delete val="0"/>
        <c:axPos val="l"/>
        <c:majorGridlines>
          <c:spPr>
            <a:ln xmlns:a="http://schemas.openxmlformats.org/drawingml/2006/main" w="9525">
              <a:solidFill>
                <a:srgbClr val="C4D3CD"/>
              </a:solidFill>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26565"/>
                </a:solidFill>
                <a:latin typeface="Nimbus Sans"/>
                <a:ea typeface="Nimbus Sans"/>
                <a:cs typeface="Nimbus Sans"/>
              </a:defRPr>
            </a:pPr>
          </a:p>
        </c:txPr>
        <c:crossAx val="48650112"/>
        <c:crossBetween val="between"/>
        <c:majorUnit val="5"/>
      </c:valAx>
      <c:spPr>
        <a:solidFill xmlns:a="http://schemas.openxmlformats.org/drawingml/2006/main">
          <a:srgbClr val="F8F6F0"/>
        </a:solidFill>
        <a:ln xmlns:a="http://schemas.openxmlformats.org/drawingml/2006/main" w="0">
          <a:noFill/>
        </a:ln>
      </c:spPr>
    </c:plotArea>
    <c:plotVisOnly val="1"/>
  </c:chart>
  <c:spPr>
    <a:solidFill xmlns:a="http://schemas.openxmlformats.org/drawingml/2006/main">
      <a:srgbClr val="F8F6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8" name="text-1">
            <a:extLst xmlns:a="http://schemas.openxmlformats.org/drawingml/2006/main">
              <a:ext uri="{FF2B5EF4-FFF2-40B4-BE49-F238E27FC236}">
                <a16:creationId xmlns:a16="http://schemas.microsoft.com/office/drawing/2014/main" id="{26AFBC6C-737B-430C-99BA-F4DB3F60D2B8}"/>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bca1c470480488b"/>
          <a:stretch xmlns:a="http://schemas.openxmlformats.org/drawingml/2006/main"/>
        </p:blipFill>
        <p:spPr>
          <a:xfrm xmlns:a="http://schemas.openxmlformats.org/drawingml/2006/main">
            <a:off x="7448550" y="1258908"/>
            <a:ext cx="4095750" cy="3882984"/>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9663D858-DBC5-459D-9CB8-A548632FD861}"/>
              </a:ext>
            </a:extLst>
          </p:cNvPr>
          <p:cNvSpPr>
            <a:spLocks xmlns:a="http://schemas.openxmlformats.org/drawingml/2006/main" noGrp="1"/>
          </p:cNvSpPr>
          <p:nvPr/>
        </p:nvSpPr>
        <p:spPr>
          <a:xfrm xmlns:a="http://schemas.openxmlformats.org/drawingml/2006/main">
            <a:off x="609600" y="971550"/>
            <a:ext cx="6619875" cy="270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75" b="0">
                <a:solidFill>
                  <a:srgbClr val="123339"/>
                </a:solidFill>
                <a:latin typeface="Utopia"/>
                <a:ea typeface="Utopia"/>
                <a:cs typeface="Utopia"/>
              </a:defRPr>
            </a:pPr>
            <a:r>
              <a:rPr sz="5175" b="0">
                <a:solidFill>
                  <a:srgbClr val="123339"/>
                </a:solidFill>
                <a:latin typeface="Utopia"/>
                <a:ea typeface="Utopia"/>
                <a:cs typeface="Utopia"/>
              </a:rPr>
              <a:t>Bridging the Gap:</a:t>
            </a:r>
          </a:p>
          <a:p xmlns:a="http://schemas.openxmlformats.org/drawingml/2006/main">
            <a:pPr algn="l">
              <a:defRPr sz="5175" b="0">
                <a:solidFill>
                  <a:srgbClr val="123339"/>
                </a:solidFill>
                <a:latin typeface="Utopia"/>
                <a:ea typeface="Utopia"/>
                <a:cs typeface="Utopia"/>
              </a:defRPr>
            </a:pPr>
            <a:r>
              <a:rPr sz="5175" b="0">
                <a:solidFill>
                  <a:srgbClr val="123339"/>
                </a:solidFill>
                <a:latin typeface="Utopia"/>
                <a:ea typeface="Utopia"/>
                <a:cs typeface="Utopia"/>
              </a:rPr>
              <a:t>From Innovation</a:t>
            </a:r>
          </a:p>
          <a:p xmlns:a="http://schemas.openxmlformats.org/drawingml/2006/main">
            <a:pPr algn="l">
              <a:defRPr sz="5175" b="0">
                <a:solidFill>
                  <a:srgbClr val="123339"/>
                </a:solidFill>
                <a:latin typeface="Utopia"/>
                <a:ea typeface="Utopia"/>
                <a:cs typeface="Utopia"/>
              </a:defRPr>
            </a:pPr>
            <a:r>
              <a:rPr sz="5175" b="0">
                <a:solidFill>
                  <a:srgbClr val="123339"/>
                </a:solidFill>
                <a:latin typeface="Utopia"/>
                <a:ea typeface="Utopia"/>
                <a:cs typeface="Utopia"/>
              </a:rPr>
              <a:t>to Patients</a:t>
            </a:r>
          </a:p>
        </p:txBody>
      </p:sp>
      <p:sp>
        <p:nvSpPr>
          <p:cNvPr id="4" name="text-2">
            <a:extLst xmlns:a="http://schemas.openxmlformats.org/drawingml/2006/main">
              <a:ext uri="{FF2B5EF4-FFF2-40B4-BE49-F238E27FC236}">
                <a16:creationId xmlns:a16="http://schemas.microsoft.com/office/drawing/2014/main" id="{BCF60718-B330-4F08-AA4A-EA8FDC0D2D61}"/>
              </a:ext>
            </a:extLst>
          </p:cNvPr>
          <p:cNvSpPr>
            <a:spLocks xmlns:a="http://schemas.openxmlformats.org/drawingml/2006/main" noGrp="1"/>
          </p:cNvSpPr>
          <p:nvPr/>
        </p:nvSpPr>
        <p:spPr>
          <a:xfrm xmlns:a="http://schemas.openxmlformats.org/drawingml/2006/main">
            <a:off x="638175" y="3924300"/>
            <a:ext cx="64198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087F7C"/>
                </a:solidFill>
                <a:latin typeface="Nimbus Sans"/>
                <a:ea typeface="Nimbus Sans"/>
                <a:cs typeface="Nimbus Sans"/>
              </a:defRPr>
            </a:pPr>
            <a:r>
              <a:rPr sz="2325" b="0">
                <a:solidFill>
                  <a:srgbClr val="087F7C"/>
                </a:solidFill>
                <a:latin typeface="Nimbus Sans"/>
                <a:ea typeface="Nimbus Sans"/>
                <a:cs typeface="Nimbus Sans"/>
              </a:rPr>
              <a:t>Ethics, Evidence, Regulation and</a:t>
            </a:r>
          </a:p>
          <a:p xmlns:a="http://schemas.openxmlformats.org/drawingml/2006/main">
            <a:pPr algn="l">
              <a:defRPr sz="2325" b="0">
                <a:solidFill>
                  <a:srgbClr val="087F7C"/>
                </a:solidFill>
                <a:latin typeface="Nimbus Sans"/>
                <a:ea typeface="Nimbus Sans"/>
                <a:cs typeface="Nimbus Sans"/>
              </a:defRPr>
            </a:pPr>
            <a:r>
              <a:rPr sz="2325" b="0">
                <a:solidFill>
                  <a:srgbClr val="087F7C"/>
                </a:solidFill>
                <a:latin typeface="Nimbus Sans"/>
                <a:ea typeface="Nimbus Sans"/>
                <a:cs typeface="Nimbus Sans"/>
              </a:rPr>
              <a:t>Responsible Medical Device Translation</a:t>
            </a:r>
          </a:p>
        </p:txBody>
      </p:sp>
      <p:sp>
        <p:nvSpPr>
          <p:cNvPr id="5" name="text-3">
            <a:extLst xmlns:a="http://schemas.openxmlformats.org/drawingml/2006/main">
              <a:ext uri="{FF2B5EF4-FFF2-40B4-BE49-F238E27FC236}">
                <a16:creationId xmlns:a16="http://schemas.microsoft.com/office/drawing/2014/main" id="{1398D374-C03A-481B-B30F-54398BDE1995}"/>
              </a:ext>
            </a:extLst>
          </p:cNvPr>
          <p:cNvSpPr>
            <a:spLocks xmlns:a="http://schemas.openxmlformats.org/drawingml/2006/main" noGrp="1"/>
          </p:cNvSpPr>
          <p:nvPr/>
        </p:nvSpPr>
        <p:spPr>
          <a:xfrm xmlns:a="http://schemas.openxmlformats.org/drawingml/2006/main">
            <a:off x="638175" y="5419725"/>
            <a:ext cx="628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23339"/>
                </a:solidFill>
                <a:latin typeface="Nimbus Sans"/>
                <a:ea typeface="Nimbus Sans"/>
                <a:cs typeface="Nimbus Sans"/>
              </a:defRPr>
            </a:pPr>
            <a:r>
              <a:rPr sz="2175" b="1">
                <a:solidFill>
                  <a:srgbClr val="123339"/>
                </a:solidFill>
                <a:latin typeface="Nimbus Sans"/>
                <a:ea typeface="Nimbus Sans"/>
                <a:cs typeface="Nimbus Sans"/>
              </a:rPr>
              <a:t>Dr Vikas Kumar Jha</a:t>
            </a:r>
          </a:p>
        </p:txBody>
      </p:sp>
      <p:sp>
        <p:nvSpPr>
          <p:cNvPr id="6" name="text-4">
            <a:extLst xmlns:a="http://schemas.openxmlformats.org/drawingml/2006/main">
              <a:ext uri="{FF2B5EF4-FFF2-40B4-BE49-F238E27FC236}">
                <a16:creationId xmlns:a16="http://schemas.microsoft.com/office/drawing/2014/main" id="{15DCA683-B716-41B8-9A9F-4463DAE02507}"/>
              </a:ext>
            </a:extLst>
          </p:cNvPr>
          <p:cNvSpPr>
            <a:spLocks xmlns:a="http://schemas.openxmlformats.org/drawingml/2006/main" noGrp="1"/>
          </p:cNvSpPr>
          <p:nvPr/>
        </p:nvSpPr>
        <p:spPr>
          <a:xfrm xmlns:a="http://schemas.openxmlformats.org/drawingml/2006/main">
            <a:off x="638175" y="5829300"/>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565"/>
                </a:solidFill>
                <a:latin typeface="Nimbus Sans"/>
                <a:ea typeface="Nimbus Sans"/>
                <a:cs typeface="Nimbus Sans"/>
              </a:defRPr>
            </a:pPr>
            <a:r>
              <a:rPr sz="1725" b="0">
                <a:solidFill>
                  <a:srgbClr val="526565"/>
                </a:solidFill>
                <a:latin typeface="Nimbus Sans"/>
                <a:ea typeface="Nimbus Sans"/>
                <a:cs typeface="Nimbus Sans"/>
              </a:rPr>
              <a:t>KIIT University, Bhubaneswar</a:t>
            </a:r>
          </a:p>
        </p:txBody>
      </p:sp>
      <p:sp>
        <p:nvSpPr>
          <p:cNvPr id="7" name="text-5">
            <a:extLst xmlns:a="http://schemas.openxmlformats.org/drawingml/2006/main">
              <a:ext uri="{FF2B5EF4-FFF2-40B4-BE49-F238E27FC236}">
                <a16:creationId xmlns:a16="http://schemas.microsoft.com/office/drawing/2014/main" id="{5F1D0A7D-6680-4B36-808A-2846AF29EA09}"/>
              </a:ext>
            </a:extLst>
          </p:cNvPr>
          <p:cNvSpPr>
            <a:spLocks xmlns:a="http://schemas.openxmlformats.org/drawingml/2006/main" noGrp="1"/>
          </p:cNvSpPr>
          <p:nvPr/>
        </p:nvSpPr>
        <p:spPr>
          <a:xfrm xmlns:a="http://schemas.openxmlformats.org/drawingml/2006/main">
            <a:off x="609600" y="342900"/>
            <a:ext cx="923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Medical Device Ethics Workshop</a:t>
            </a:r>
          </a:p>
        </p:txBody>
      </p:sp>
    </p:spTree>
    <p:extLst>
      <p:ext uri="{BB962C8B-B14F-4D97-AF65-F5344CB8AC3E}">
        <p14:creationId xmlns:p14="http://schemas.microsoft.com/office/powerpoint/2010/main" val="1683442125"/>
      </p:ext>
    </p:extLst>
  </p:cSld>
</p:sld>
</file>

<file path=ppt/slides/slide2.xml><?xml version="1.0" encoding="utf-8"?>
<p:sld xmlns:p="http://schemas.openxmlformats.org/presentationml/2006/main">
  <p:cSld>
    <p:bg>
      <p:bgPr>
        <a:solidFill xmlns:a="http://schemas.openxmlformats.org/drawingml/2006/main">
          <a:srgbClr val="102E34"/>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0E21AA1B-94D7-4813-A0A9-F2580327B1E1}"/>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Would you let a patient use it?</a:t>
            </a:r>
          </a:p>
        </p:txBody>
      </p:sp>
      <p:sp>
        <p:nvSpPr>
          <p:cNvPr id="2" name="text-6">
            <a:extLst xmlns:a="http://schemas.openxmlformats.org/drawingml/2006/main">
              <a:ext uri="{FF2B5EF4-FFF2-40B4-BE49-F238E27FC236}">
                <a16:creationId xmlns:a16="http://schemas.microsoft.com/office/drawing/2014/main" id="{F7862845-2D96-4A30-9FFB-3BD7F9B2929E}"/>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A7C8C7"/>
                </a:solidFill>
                <a:latin typeface="Nimbus Sans"/>
                <a:ea typeface="Nimbus Sans"/>
                <a:cs typeface="Nimbus Sans"/>
              </a:defRPr>
            </a:pPr>
            <a:r>
              <a:rPr sz="1350" b="0">
                <a:solidFill>
                  <a:srgbClr val="A7C8C7"/>
                </a:solidFill>
                <a:latin typeface="Nimbus Sans"/>
                <a:ea typeface="Nimbus Sans"/>
                <a:cs typeface="Nimbus Sans"/>
              </a:rPr>
              <a:t>02</a:t>
            </a:r>
          </a:p>
        </p:txBody>
      </p:sp>
      <p:sp>
        <p:nvSpPr>
          <p:cNvPr id="3" name="text-7">
            <a:extLst xmlns:a="http://schemas.openxmlformats.org/drawingml/2006/main">
              <a:ext uri="{FF2B5EF4-FFF2-40B4-BE49-F238E27FC236}">
                <a16:creationId xmlns:a16="http://schemas.microsoft.com/office/drawing/2014/main" id="{0CE8C9E3-0019-4A4C-9644-4F02EE1ACB1B}"/>
              </a:ext>
            </a:extLst>
          </p:cNvPr>
          <p:cNvSpPr>
            <a:spLocks xmlns:a="http://schemas.openxmlformats.org/drawingml/2006/main" noGrp="1"/>
          </p:cNvSpPr>
          <p:nvPr/>
        </p:nvSpPr>
        <p:spPr>
          <a:xfrm xmlns:a="http://schemas.openxmlformats.org/drawingml/2006/main">
            <a:off x="638175" y="1809750"/>
            <a:ext cx="6191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FFFFFF"/>
                </a:solidFill>
                <a:latin typeface="Nimbus Sans"/>
                <a:ea typeface="Nimbus Sans"/>
                <a:cs typeface="Nimbus Sans"/>
              </a:defRPr>
            </a:pPr>
            <a:r>
              <a:rPr sz="3450" b="0">
                <a:solidFill>
                  <a:srgbClr val="FFFFFF"/>
                </a:solidFill>
                <a:latin typeface="Nimbus Sans"/>
                <a:ea typeface="Nimbus Sans"/>
                <a:cs typeface="Nimbus Sans"/>
              </a:rPr>
              <a:t>Working prototype.</a:t>
            </a:r>
          </a:p>
          <a:p xmlns:a="http://schemas.openxmlformats.org/drawingml/2006/main">
            <a:pPr algn="l">
              <a:defRPr sz="3450" b="0">
                <a:solidFill>
                  <a:srgbClr val="FFFFFF"/>
                </a:solidFill>
                <a:latin typeface="Nimbus Sans"/>
                <a:ea typeface="Nimbus Sans"/>
                <a:cs typeface="Nimbus Sans"/>
              </a:defRPr>
            </a:pPr>
            <a:r>
              <a:rPr sz="3450" b="0">
                <a:solidFill>
                  <a:srgbClr val="FFFFFF"/>
                </a:solidFill>
                <a:latin typeface="Nimbus Sans"/>
                <a:ea typeface="Nimbus Sans"/>
                <a:cs typeface="Nimbus Sans"/>
              </a:rPr>
              <a:t>Promising lab results.</a:t>
            </a:r>
          </a:p>
          <a:p xmlns:a="http://schemas.openxmlformats.org/drawingml/2006/main">
            <a:pPr algn="l">
              <a:defRPr sz="3450" b="0">
                <a:solidFill>
                  <a:srgbClr val="FFFFFF"/>
                </a:solidFill>
                <a:latin typeface="Nimbus Sans"/>
                <a:ea typeface="Nimbus Sans"/>
                <a:cs typeface="Nimbus Sans"/>
              </a:defRPr>
            </a:pPr>
            <a:r>
              <a:rPr sz="3450" b="0">
                <a:solidFill>
                  <a:srgbClr val="FFFFFF"/>
                </a:solidFill>
                <a:latin typeface="Nimbus Sans"/>
                <a:ea typeface="Nimbus Sans"/>
                <a:cs typeface="Nimbus Sans"/>
              </a:rPr>
              <a:t>Test licence.</a:t>
            </a:r>
          </a:p>
        </p:txBody>
      </p:sp>
      <p:sp>
        <p:nvSpPr>
          <p:cNvPr id="4" name="">
            <a:extLst xmlns:a="http://schemas.openxmlformats.org/drawingml/2006/main">
              <a:ext uri="{FF2B5EF4-FFF2-40B4-BE49-F238E27FC236}">
                <a16:creationId xmlns:a16="http://schemas.microsoft.com/office/drawing/2014/main" id="{6B61CCD8-EB52-4725-BD4F-ACC3BB3AA51B}"/>
              </a:ext>
            </a:extLst>
          </p:cNvPr>
          <p:cNvSpPr>
            <a:spLocks xmlns:a="http://schemas.openxmlformats.org/drawingml/2006/main" noGrp="1"/>
          </p:cNvSpPr>
          <p:nvPr/>
        </p:nvSpPr>
        <p:spPr>
          <a:xfrm xmlns:a="http://schemas.openxmlformats.org/drawingml/2006/main">
            <a:off x="7848600" y="1885950"/>
            <a:ext cx="3333750" cy="0"/>
          </a:xfrm>
          <a:prstGeom xmlns:a="http://schemas.openxmlformats.org/drawingml/2006/main" prst="line">
            <a:avLst/>
          </a:prstGeom>
          <a:noFill xmlns:a="http://schemas.openxmlformats.org/drawingml/2006/main"/>
          <a:ln xmlns:a="http://schemas.openxmlformats.org/drawingml/2006/main" w="19050">
            <a:solidFill>
              <a:srgbClr val="467275"/>
            </a:solidFill>
          </a:ln>
        </p:spPr>
      </p:sp>
      <p:sp>
        <p:nvSpPr>
          <p:cNvPr id="5" name="text-8">
            <a:extLst xmlns:a="http://schemas.openxmlformats.org/drawingml/2006/main">
              <a:ext uri="{FF2B5EF4-FFF2-40B4-BE49-F238E27FC236}">
                <a16:creationId xmlns:a16="http://schemas.microsoft.com/office/drawing/2014/main" id="{48514F44-E6CD-43D3-9C78-3657C011592D}"/>
              </a:ext>
            </a:extLst>
          </p:cNvPr>
          <p:cNvSpPr>
            <a:spLocks xmlns:a="http://schemas.openxmlformats.org/drawingml/2006/main" noGrp="1"/>
          </p:cNvSpPr>
          <p:nvPr/>
        </p:nvSpPr>
        <p:spPr>
          <a:xfrm xmlns:a="http://schemas.openxmlformats.org/drawingml/2006/main">
            <a:off x="7848600" y="220980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FFFFF"/>
                </a:solidFill>
                <a:latin typeface="Nimbus Sans"/>
                <a:ea typeface="Nimbus Sans"/>
                <a:cs typeface="Nimbus Sans"/>
              </a:defRPr>
            </a:pPr>
            <a:r>
              <a:rPr sz="2325" b="0">
                <a:solidFill>
                  <a:srgbClr val="FFFFFF"/>
                </a:solidFill>
                <a:latin typeface="Nimbus Sans"/>
                <a:ea typeface="Nimbus Sans"/>
                <a:cs typeface="Nimbus Sans"/>
              </a:rPr>
              <a:t>1   Research study</a:t>
            </a:r>
          </a:p>
        </p:txBody>
      </p:sp>
      <p:sp>
        <p:nvSpPr>
          <p:cNvPr id="6" name="text-9">
            <a:extLst xmlns:a="http://schemas.openxmlformats.org/drawingml/2006/main">
              <a:ext uri="{FF2B5EF4-FFF2-40B4-BE49-F238E27FC236}">
                <a16:creationId xmlns:a16="http://schemas.microsoft.com/office/drawing/2014/main" id="{42F79D21-6886-4F8D-A48C-5F77D7464393}"/>
              </a:ext>
            </a:extLst>
          </p:cNvPr>
          <p:cNvSpPr>
            <a:spLocks xmlns:a="http://schemas.openxmlformats.org/drawingml/2006/main" noGrp="1"/>
          </p:cNvSpPr>
          <p:nvPr/>
        </p:nvSpPr>
        <p:spPr>
          <a:xfrm xmlns:a="http://schemas.openxmlformats.org/drawingml/2006/main">
            <a:off x="7848600" y="308610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FFFFF"/>
                </a:solidFill>
                <a:latin typeface="Nimbus Sans"/>
                <a:ea typeface="Nimbus Sans"/>
                <a:cs typeface="Nimbus Sans"/>
              </a:defRPr>
            </a:pPr>
            <a:r>
              <a:rPr sz="2325" b="0">
                <a:solidFill>
                  <a:srgbClr val="FFFFFF"/>
                </a:solidFill>
                <a:latin typeface="Nimbus Sans"/>
                <a:ea typeface="Nimbus Sans"/>
                <a:cs typeface="Nimbus Sans"/>
              </a:rPr>
              <a:t>2   Routine care</a:t>
            </a:r>
          </a:p>
        </p:txBody>
      </p:sp>
      <p:sp>
        <p:nvSpPr>
          <p:cNvPr id="7" name="text-10">
            <a:extLst xmlns:a="http://schemas.openxmlformats.org/drawingml/2006/main">
              <a:ext uri="{FF2B5EF4-FFF2-40B4-BE49-F238E27FC236}">
                <a16:creationId xmlns:a16="http://schemas.microsoft.com/office/drawing/2014/main" id="{AB6E4301-2D5A-494D-B497-DB08CACBD4D3}"/>
              </a:ext>
            </a:extLst>
          </p:cNvPr>
          <p:cNvSpPr>
            <a:spLocks xmlns:a="http://schemas.openxmlformats.org/drawingml/2006/main" noGrp="1"/>
          </p:cNvSpPr>
          <p:nvPr/>
        </p:nvSpPr>
        <p:spPr>
          <a:xfrm xmlns:a="http://schemas.openxmlformats.org/drawingml/2006/main">
            <a:off x="7848600" y="3962400"/>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FFFFF"/>
                </a:solidFill>
                <a:latin typeface="Nimbus Sans"/>
                <a:ea typeface="Nimbus Sans"/>
                <a:cs typeface="Nimbus Sans"/>
              </a:defRPr>
            </a:pPr>
            <a:r>
              <a:rPr sz="2325" b="0">
                <a:solidFill>
                  <a:srgbClr val="FFFFFF"/>
                </a:solidFill>
                <a:latin typeface="Nimbus Sans"/>
                <a:ea typeface="Nimbus Sans"/>
                <a:cs typeface="Nimbus Sans"/>
              </a:rPr>
              <a:t>3   More information</a:t>
            </a:r>
          </a:p>
        </p:txBody>
      </p:sp>
      <p:sp>
        <p:nvSpPr>
          <p:cNvPr id="8" name="text-11">
            <a:extLst xmlns:a="http://schemas.openxmlformats.org/drawingml/2006/main">
              <a:ext uri="{FF2B5EF4-FFF2-40B4-BE49-F238E27FC236}">
                <a16:creationId xmlns:a16="http://schemas.microsoft.com/office/drawing/2014/main" id="{4D01B384-ED0C-4AB8-BD22-DC41AA1FFAB3}"/>
              </a:ext>
            </a:extLst>
          </p:cNvPr>
          <p:cNvSpPr>
            <a:spLocks xmlns:a="http://schemas.openxmlformats.org/drawingml/2006/main" noGrp="1"/>
          </p:cNvSpPr>
          <p:nvPr/>
        </p:nvSpPr>
        <p:spPr>
          <a:xfrm xmlns:a="http://schemas.openxmlformats.org/drawingml/2006/main">
            <a:off x="638175" y="53340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9DDAD5"/>
                </a:solidFill>
                <a:latin typeface="Nimbus Sans"/>
                <a:ea typeface="Nimbus Sans"/>
                <a:cs typeface="Nimbus Sans"/>
              </a:defRPr>
            </a:pPr>
            <a:r>
              <a:rPr sz="2925" b="0">
                <a:solidFill>
                  <a:srgbClr val="9DDAD5"/>
                </a:solidFill>
                <a:latin typeface="Nimbus Sans"/>
                <a:ea typeface="Nimbus Sans"/>
                <a:cs typeface="Nimbus Sans"/>
              </a:rPr>
              <a:t>What do you still need to know?</a:t>
            </a:r>
          </a:p>
        </p:txBody>
      </p:sp>
      <p:sp>
        <p:nvSpPr>
          <p:cNvPr id="9" name="text-12">
            <a:extLst xmlns:a="http://schemas.openxmlformats.org/drawingml/2006/main">
              <a:ext uri="{FF2B5EF4-FFF2-40B4-BE49-F238E27FC236}">
                <a16:creationId xmlns:a16="http://schemas.microsoft.com/office/drawing/2014/main" id="{3C6194F0-AA3B-4126-90DF-5FC95FA2438E}"/>
              </a:ext>
            </a:extLst>
          </p:cNvPr>
          <p:cNvSpPr>
            <a:spLocks xmlns:a="http://schemas.openxmlformats.org/drawingml/2006/main" noGrp="1"/>
          </p:cNvSpPr>
          <p:nvPr/>
        </p:nvSpPr>
        <p:spPr>
          <a:xfrm xmlns:a="http://schemas.openxmlformats.org/drawingml/2006/main">
            <a:off x="609600" y="6057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A7C8C7"/>
                </a:solidFill>
                <a:latin typeface="Nimbus Sans"/>
                <a:ea typeface="Nimbus Sans"/>
                <a:cs typeface="Nimbus Sans"/>
              </a:defRPr>
            </a:pPr>
            <a:r>
              <a:rPr sz="1650" b="0">
                <a:solidFill>
                  <a:srgbClr val="A7C8C7"/>
                </a:solidFill>
                <a:latin typeface="Nimbus Sans"/>
                <a:ea typeface="Nimbus Sans"/>
                <a:cs typeface="Nimbus Sans"/>
              </a:rPr>
              <a:t>Hypothetical teaching case. Vote before discussing.</a:t>
            </a:r>
          </a:p>
        </p:txBody>
      </p:sp>
    </p:spTree>
    <p:extLst>
      <p:ext uri="{BB962C8B-B14F-4D97-AF65-F5344CB8AC3E}">
        <p14:creationId xmlns:p14="http://schemas.microsoft.com/office/powerpoint/2010/main" val="251913191"/>
      </p:ext>
    </p:extLst>
  </p:cSld>
</p:sld>
</file>

<file path=ppt/slides/slide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23CEA89D-1AF8-4C2B-8E14-1AB0957242F1}"/>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The patient’s five questions</a:t>
            </a:r>
          </a:p>
        </p:txBody>
      </p:sp>
      <p:sp>
        <p:nvSpPr>
          <p:cNvPr id="2" name="text-13">
            <a:extLst xmlns:a="http://schemas.openxmlformats.org/drawingml/2006/main">
              <a:ext uri="{FF2B5EF4-FFF2-40B4-BE49-F238E27FC236}">
                <a16:creationId xmlns:a16="http://schemas.microsoft.com/office/drawing/2014/main" id="{08DBA1DC-24EF-4012-A90D-23F3F8F403E4}"/>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03</a:t>
            </a:r>
          </a:p>
        </p:txBody>
      </p:sp>
      <p:sp>
        <p:nvSpPr>
          <p:cNvPr id="3" name="text-14">
            <a:extLst xmlns:a="http://schemas.openxmlformats.org/drawingml/2006/main">
              <a:ext uri="{FF2B5EF4-FFF2-40B4-BE49-F238E27FC236}">
                <a16:creationId xmlns:a16="http://schemas.microsoft.com/office/drawing/2014/main" id="{2556D3C0-1006-4F4D-821E-03A3B3AA3471}"/>
              </a:ext>
            </a:extLst>
          </p:cNvPr>
          <p:cNvSpPr>
            <a:spLocks xmlns:a="http://schemas.openxmlformats.org/drawingml/2006/main" noGrp="1"/>
          </p:cNvSpPr>
          <p:nvPr/>
        </p:nvSpPr>
        <p:spPr>
          <a:xfrm xmlns:a="http://schemas.openxmlformats.org/drawingml/2006/main">
            <a:off x="695325" y="162877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87F7C"/>
                </a:solidFill>
                <a:latin typeface="Nimbus Sans"/>
                <a:ea typeface="Nimbus Sans"/>
                <a:cs typeface="Nimbus Sans"/>
              </a:defRPr>
            </a:pPr>
            <a:r>
              <a:rPr sz="2250" b="1">
                <a:solidFill>
                  <a:srgbClr val="087F7C"/>
                </a:solidFill>
                <a:latin typeface="Nimbus Sans"/>
                <a:ea typeface="Nimbus Sans"/>
                <a:cs typeface="Nimbus Sans"/>
              </a:rPr>
              <a:t>01</a:t>
            </a:r>
          </a:p>
        </p:txBody>
      </p:sp>
      <p:sp>
        <p:nvSpPr>
          <p:cNvPr id="4" name="text-15">
            <a:extLst xmlns:a="http://schemas.openxmlformats.org/drawingml/2006/main">
              <a:ext uri="{FF2B5EF4-FFF2-40B4-BE49-F238E27FC236}">
                <a16:creationId xmlns:a16="http://schemas.microsoft.com/office/drawing/2014/main" id="{F38C51BA-24A4-4D77-AC27-2D3028FBA796}"/>
              </a:ext>
            </a:extLst>
          </p:cNvPr>
          <p:cNvSpPr>
            <a:spLocks xmlns:a="http://schemas.openxmlformats.org/drawingml/2006/main" noGrp="1"/>
          </p:cNvSpPr>
          <p:nvPr/>
        </p:nvSpPr>
        <p:spPr>
          <a:xfrm xmlns:a="http://schemas.openxmlformats.org/drawingml/2006/main">
            <a:off x="1562100" y="156210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23339"/>
                </a:solidFill>
                <a:latin typeface="Nimbus Sans"/>
                <a:ea typeface="Nimbus Sans"/>
                <a:cs typeface="Nimbus Sans"/>
              </a:defRPr>
            </a:pPr>
            <a:r>
              <a:rPr sz="3225" b="0">
                <a:solidFill>
                  <a:srgbClr val="123339"/>
                </a:solidFill>
                <a:latin typeface="Nimbus Sans"/>
                <a:ea typeface="Nimbus Sans"/>
                <a:cs typeface="Nimbus Sans"/>
              </a:rPr>
              <a:t>Will it help me?</a:t>
            </a:r>
          </a:p>
        </p:txBody>
      </p:sp>
      <p:sp>
        <p:nvSpPr>
          <p:cNvPr id="5" name="">
            <a:extLst xmlns:a="http://schemas.openxmlformats.org/drawingml/2006/main">
              <a:ext uri="{FF2B5EF4-FFF2-40B4-BE49-F238E27FC236}">
                <a16:creationId xmlns:a16="http://schemas.microsoft.com/office/drawing/2014/main" id="{F6D95880-DF0F-44E2-9ABD-C9C39DC81F42}"/>
              </a:ext>
            </a:extLst>
          </p:cNvPr>
          <p:cNvSpPr>
            <a:spLocks xmlns:a="http://schemas.openxmlformats.org/drawingml/2006/main" noGrp="1"/>
          </p:cNvSpPr>
          <p:nvPr/>
        </p:nvSpPr>
        <p:spPr>
          <a:xfrm xmlns:a="http://schemas.openxmlformats.org/drawingml/2006/main">
            <a:off x="1562100" y="2190750"/>
            <a:ext cx="9667875" cy="0"/>
          </a:xfrm>
          <a:prstGeom xmlns:a="http://schemas.openxmlformats.org/drawingml/2006/main" prst="line">
            <a:avLst/>
          </a:prstGeom>
          <a:noFill xmlns:a="http://schemas.openxmlformats.org/drawingml/2006/main"/>
          <a:ln xmlns:a="http://schemas.openxmlformats.org/drawingml/2006/main" w="9525">
            <a:solidFill>
              <a:srgbClr val="C4D3CD"/>
            </a:solidFill>
          </a:ln>
        </p:spPr>
      </p:sp>
      <p:sp>
        <p:nvSpPr>
          <p:cNvPr id="6" name="text-16">
            <a:extLst xmlns:a="http://schemas.openxmlformats.org/drawingml/2006/main">
              <a:ext uri="{FF2B5EF4-FFF2-40B4-BE49-F238E27FC236}">
                <a16:creationId xmlns:a16="http://schemas.microsoft.com/office/drawing/2014/main" id="{E674C6F0-7DA3-44D1-B106-F8D6C569D398}"/>
              </a:ext>
            </a:extLst>
          </p:cNvPr>
          <p:cNvSpPr>
            <a:spLocks xmlns:a="http://schemas.openxmlformats.org/drawingml/2006/main" noGrp="1"/>
          </p:cNvSpPr>
          <p:nvPr/>
        </p:nvSpPr>
        <p:spPr>
          <a:xfrm xmlns:a="http://schemas.openxmlformats.org/drawingml/2006/main">
            <a:off x="695325" y="24193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87F7C"/>
                </a:solidFill>
                <a:latin typeface="Nimbus Sans"/>
                <a:ea typeface="Nimbus Sans"/>
                <a:cs typeface="Nimbus Sans"/>
              </a:defRPr>
            </a:pPr>
            <a:r>
              <a:rPr sz="2250" b="1">
                <a:solidFill>
                  <a:srgbClr val="087F7C"/>
                </a:solidFill>
                <a:latin typeface="Nimbus Sans"/>
                <a:ea typeface="Nimbus Sans"/>
                <a:cs typeface="Nimbus Sans"/>
              </a:rPr>
              <a:t>02</a:t>
            </a:r>
          </a:p>
        </p:txBody>
      </p:sp>
      <p:sp>
        <p:nvSpPr>
          <p:cNvPr id="7" name="text-17">
            <a:extLst xmlns:a="http://schemas.openxmlformats.org/drawingml/2006/main">
              <a:ext uri="{FF2B5EF4-FFF2-40B4-BE49-F238E27FC236}">
                <a16:creationId xmlns:a16="http://schemas.microsoft.com/office/drawing/2014/main" id="{6E871A89-E13B-41A9-99DA-27CB702881A3}"/>
              </a:ext>
            </a:extLst>
          </p:cNvPr>
          <p:cNvSpPr>
            <a:spLocks xmlns:a="http://schemas.openxmlformats.org/drawingml/2006/main" noGrp="1"/>
          </p:cNvSpPr>
          <p:nvPr/>
        </p:nvSpPr>
        <p:spPr>
          <a:xfrm xmlns:a="http://schemas.openxmlformats.org/drawingml/2006/main">
            <a:off x="1562100" y="235267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23339"/>
                </a:solidFill>
                <a:latin typeface="Nimbus Sans"/>
                <a:ea typeface="Nimbus Sans"/>
                <a:cs typeface="Nimbus Sans"/>
              </a:defRPr>
            </a:pPr>
            <a:r>
              <a:rPr sz="3225" b="0">
                <a:solidFill>
                  <a:srgbClr val="123339"/>
                </a:solidFill>
                <a:latin typeface="Nimbus Sans"/>
                <a:ea typeface="Nimbus Sans"/>
                <a:cs typeface="Nimbus Sans"/>
              </a:rPr>
              <a:t>How could it harm me?</a:t>
            </a:r>
          </a:p>
        </p:txBody>
      </p:sp>
      <p:sp>
        <p:nvSpPr>
          <p:cNvPr id="8" name="">
            <a:extLst xmlns:a="http://schemas.openxmlformats.org/drawingml/2006/main">
              <a:ext uri="{FF2B5EF4-FFF2-40B4-BE49-F238E27FC236}">
                <a16:creationId xmlns:a16="http://schemas.microsoft.com/office/drawing/2014/main" id="{8F19E67C-ADBE-4727-B47F-59885239F902}"/>
              </a:ext>
            </a:extLst>
          </p:cNvPr>
          <p:cNvSpPr>
            <a:spLocks xmlns:a="http://schemas.openxmlformats.org/drawingml/2006/main" noGrp="1"/>
          </p:cNvSpPr>
          <p:nvPr/>
        </p:nvSpPr>
        <p:spPr>
          <a:xfrm xmlns:a="http://schemas.openxmlformats.org/drawingml/2006/main">
            <a:off x="1562100" y="2981325"/>
            <a:ext cx="9667875" cy="0"/>
          </a:xfrm>
          <a:prstGeom xmlns:a="http://schemas.openxmlformats.org/drawingml/2006/main" prst="line">
            <a:avLst/>
          </a:prstGeom>
          <a:noFill xmlns:a="http://schemas.openxmlformats.org/drawingml/2006/main"/>
          <a:ln xmlns:a="http://schemas.openxmlformats.org/drawingml/2006/main" w="9525">
            <a:solidFill>
              <a:srgbClr val="C4D3CD"/>
            </a:solidFill>
          </a:ln>
        </p:spPr>
      </p:sp>
      <p:sp>
        <p:nvSpPr>
          <p:cNvPr id="9" name="text-18">
            <a:extLst xmlns:a="http://schemas.openxmlformats.org/drawingml/2006/main">
              <a:ext uri="{FF2B5EF4-FFF2-40B4-BE49-F238E27FC236}">
                <a16:creationId xmlns:a16="http://schemas.microsoft.com/office/drawing/2014/main" id="{0503A631-DBD0-492B-A649-B5879635DDC5}"/>
              </a:ext>
            </a:extLst>
          </p:cNvPr>
          <p:cNvSpPr>
            <a:spLocks xmlns:a="http://schemas.openxmlformats.org/drawingml/2006/main" noGrp="1"/>
          </p:cNvSpPr>
          <p:nvPr/>
        </p:nvSpPr>
        <p:spPr>
          <a:xfrm xmlns:a="http://schemas.openxmlformats.org/drawingml/2006/main">
            <a:off x="695325" y="32099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87F7C"/>
                </a:solidFill>
                <a:latin typeface="Nimbus Sans"/>
                <a:ea typeface="Nimbus Sans"/>
                <a:cs typeface="Nimbus Sans"/>
              </a:defRPr>
            </a:pPr>
            <a:r>
              <a:rPr sz="2250" b="1">
                <a:solidFill>
                  <a:srgbClr val="087F7C"/>
                </a:solidFill>
                <a:latin typeface="Nimbus Sans"/>
                <a:ea typeface="Nimbus Sans"/>
                <a:cs typeface="Nimbus Sans"/>
              </a:rPr>
              <a:t>03</a:t>
            </a:r>
          </a:p>
        </p:txBody>
      </p:sp>
      <p:sp>
        <p:nvSpPr>
          <p:cNvPr id="10" name="text-19">
            <a:extLst xmlns:a="http://schemas.openxmlformats.org/drawingml/2006/main">
              <a:ext uri="{FF2B5EF4-FFF2-40B4-BE49-F238E27FC236}">
                <a16:creationId xmlns:a16="http://schemas.microsoft.com/office/drawing/2014/main" id="{D83E597E-60A7-4624-8749-ACBA0FEB56F8}"/>
              </a:ext>
            </a:extLst>
          </p:cNvPr>
          <p:cNvSpPr>
            <a:spLocks xmlns:a="http://schemas.openxmlformats.org/drawingml/2006/main" noGrp="1"/>
          </p:cNvSpPr>
          <p:nvPr/>
        </p:nvSpPr>
        <p:spPr>
          <a:xfrm xmlns:a="http://schemas.openxmlformats.org/drawingml/2006/main">
            <a:off x="1562100" y="31432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23339"/>
                </a:solidFill>
                <a:latin typeface="Nimbus Sans"/>
                <a:ea typeface="Nimbus Sans"/>
                <a:cs typeface="Nimbus Sans"/>
              </a:defRPr>
            </a:pPr>
            <a:r>
              <a:rPr sz="3225" b="0">
                <a:solidFill>
                  <a:srgbClr val="123339"/>
                </a:solidFill>
                <a:latin typeface="Nimbus Sans"/>
                <a:ea typeface="Nimbus Sans"/>
                <a:cs typeface="Nimbus Sans"/>
              </a:rPr>
              <a:t>Can I freely choose?</a:t>
            </a:r>
          </a:p>
        </p:txBody>
      </p:sp>
      <p:sp>
        <p:nvSpPr>
          <p:cNvPr id="11" name="">
            <a:extLst xmlns:a="http://schemas.openxmlformats.org/drawingml/2006/main">
              <a:ext uri="{FF2B5EF4-FFF2-40B4-BE49-F238E27FC236}">
                <a16:creationId xmlns:a16="http://schemas.microsoft.com/office/drawing/2014/main" id="{7105749E-1571-4B3E-A897-47EF3D2B800D}"/>
              </a:ext>
            </a:extLst>
          </p:cNvPr>
          <p:cNvSpPr>
            <a:spLocks xmlns:a="http://schemas.openxmlformats.org/drawingml/2006/main" noGrp="1"/>
          </p:cNvSpPr>
          <p:nvPr/>
        </p:nvSpPr>
        <p:spPr>
          <a:xfrm xmlns:a="http://schemas.openxmlformats.org/drawingml/2006/main">
            <a:off x="1562100" y="3771900"/>
            <a:ext cx="9667875" cy="0"/>
          </a:xfrm>
          <a:prstGeom xmlns:a="http://schemas.openxmlformats.org/drawingml/2006/main" prst="line">
            <a:avLst/>
          </a:prstGeom>
          <a:noFill xmlns:a="http://schemas.openxmlformats.org/drawingml/2006/main"/>
          <a:ln xmlns:a="http://schemas.openxmlformats.org/drawingml/2006/main" w="9525">
            <a:solidFill>
              <a:srgbClr val="C4D3CD"/>
            </a:solidFill>
          </a:ln>
        </p:spPr>
      </p:sp>
      <p:sp>
        <p:nvSpPr>
          <p:cNvPr id="12" name="text-20">
            <a:extLst xmlns:a="http://schemas.openxmlformats.org/drawingml/2006/main">
              <a:ext uri="{FF2B5EF4-FFF2-40B4-BE49-F238E27FC236}">
                <a16:creationId xmlns:a16="http://schemas.microsoft.com/office/drawing/2014/main" id="{C224E6D1-5E33-429E-A95B-F3E1C9E56CFD}"/>
              </a:ext>
            </a:extLst>
          </p:cNvPr>
          <p:cNvSpPr>
            <a:spLocks xmlns:a="http://schemas.openxmlformats.org/drawingml/2006/main" noGrp="1"/>
          </p:cNvSpPr>
          <p:nvPr/>
        </p:nvSpPr>
        <p:spPr>
          <a:xfrm xmlns:a="http://schemas.openxmlformats.org/drawingml/2006/main">
            <a:off x="695325" y="40005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87F7C"/>
                </a:solidFill>
                <a:latin typeface="Nimbus Sans"/>
                <a:ea typeface="Nimbus Sans"/>
                <a:cs typeface="Nimbus Sans"/>
              </a:defRPr>
            </a:pPr>
            <a:r>
              <a:rPr sz="2250" b="1">
                <a:solidFill>
                  <a:srgbClr val="087F7C"/>
                </a:solidFill>
                <a:latin typeface="Nimbus Sans"/>
                <a:ea typeface="Nimbus Sans"/>
                <a:cs typeface="Nimbus Sans"/>
              </a:rPr>
              <a:t>04</a:t>
            </a:r>
          </a:p>
        </p:txBody>
      </p:sp>
      <p:sp>
        <p:nvSpPr>
          <p:cNvPr id="13" name="text-21">
            <a:extLst xmlns:a="http://schemas.openxmlformats.org/drawingml/2006/main">
              <a:ext uri="{FF2B5EF4-FFF2-40B4-BE49-F238E27FC236}">
                <a16:creationId xmlns:a16="http://schemas.microsoft.com/office/drawing/2014/main" id="{175DDF21-8EBE-463F-BCCE-0D4043F9E863}"/>
              </a:ext>
            </a:extLst>
          </p:cNvPr>
          <p:cNvSpPr>
            <a:spLocks xmlns:a="http://schemas.openxmlformats.org/drawingml/2006/main" noGrp="1"/>
          </p:cNvSpPr>
          <p:nvPr/>
        </p:nvSpPr>
        <p:spPr>
          <a:xfrm xmlns:a="http://schemas.openxmlformats.org/drawingml/2006/main">
            <a:off x="1562100" y="393382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23339"/>
                </a:solidFill>
                <a:latin typeface="Nimbus Sans"/>
                <a:ea typeface="Nimbus Sans"/>
                <a:cs typeface="Nimbus Sans"/>
              </a:defRPr>
            </a:pPr>
            <a:r>
              <a:rPr sz="3225" b="0">
                <a:solidFill>
                  <a:srgbClr val="123339"/>
                </a:solidFill>
                <a:latin typeface="Nimbus Sans"/>
                <a:ea typeface="Nimbus Sans"/>
                <a:cs typeface="Nimbus Sans"/>
              </a:rPr>
              <a:t>Can I actually use it?</a:t>
            </a:r>
          </a:p>
        </p:txBody>
      </p:sp>
      <p:sp>
        <p:nvSpPr>
          <p:cNvPr id="14" name="">
            <a:extLst xmlns:a="http://schemas.openxmlformats.org/drawingml/2006/main">
              <a:ext uri="{FF2B5EF4-FFF2-40B4-BE49-F238E27FC236}">
                <a16:creationId xmlns:a16="http://schemas.microsoft.com/office/drawing/2014/main" id="{13FE9D29-AA27-4E33-8DB7-E42BA29AAD96}"/>
              </a:ext>
            </a:extLst>
          </p:cNvPr>
          <p:cNvSpPr>
            <a:spLocks xmlns:a="http://schemas.openxmlformats.org/drawingml/2006/main" noGrp="1"/>
          </p:cNvSpPr>
          <p:nvPr/>
        </p:nvSpPr>
        <p:spPr>
          <a:xfrm xmlns:a="http://schemas.openxmlformats.org/drawingml/2006/main">
            <a:off x="1562100" y="4562475"/>
            <a:ext cx="9667875" cy="0"/>
          </a:xfrm>
          <a:prstGeom xmlns:a="http://schemas.openxmlformats.org/drawingml/2006/main" prst="line">
            <a:avLst/>
          </a:prstGeom>
          <a:noFill xmlns:a="http://schemas.openxmlformats.org/drawingml/2006/main"/>
          <a:ln xmlns:a="http://schemas.openxmlformats.org/drawingml/2006/main" w="9525">
            <a:solidFill>
              <a:srgbClr val="C4D3CD"/>
            </a:solidFill>
          </a:ln>
        </p:spPr>
      </p:sp>
      <p:sp>
        <p:nvSpPr>
          <p:cNvPr id="15" name="text-22">
            <a:extLst xmlns:a="http://schemas.openxmlformats.org/drawingml/2006/main">
              <a:ext uri="{FF2B5EF4-FFF2-40B4-BE49-F238E27FC236}">
                <a16:creationId xmlns:a16="http://schemas.microsoft.com/office/drawing/2014/main" id="{49E5CF3D-BC4F-4E68-B997-CD0B8D760FF9}"/>
              </a:ext>
            </a:extLst>
          </p:cNvPr>
          <p:cNvSpPr>
            <a:spLocks xmlns:a="http://schemas.openxmlformats.org/drawingml/2006/main" noGrp="1"/>
          </p:cNvSpPr>
          <p:nvPr/>
        </p:nvSpPr>
        <p:spPr>
          <a:xfrm xmlns:a="http://schemas.openxmlformats.org/drawingml/2006/main">
            <a:off x="695325" y="479107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87F7C"/>
                </a:solidFill>
                <a:latin typeface="Nimbus Sans"/>
                <a:ea typeface="Nimbus Sans"/>
                <a:cs typeface="Nimbus Sans"/>
              </a:defRPr>
            </a:pPr>
            <a:r>
              <a:rPr sz="2250" b="1">
                <a:solidFill>
                  <a:srgbClr val="087F7C"/>
                </a:solidFill>
                <a:latin typeface="Nimbus Sans"/>
                <a:ea typeface="Nimbus Sans"/>
                <a:cs typeface="Nimbus Sans"/>
              </a:rPr>
              <a:t>05</a:t>
            </a:r>
          </a:p>
        </p:txBody>
      </p:sp>
      <p:sp>
        <p:nvSpPr>
          <p:cNvPr id="16" name="text-23">
            <a:extLst xmlns:a="http://schemas.openxmlformats.org/drawingml/2006/main">
              <a:ext uri="{FF2B5EF4-FFF2-40B4-BE49-F238E27FC236}">
                <a16:creationId xmlns:a16="http://schemas.microsoft.com/office/drawing/2014/main" id="{C3F9D747-3F62-4AF4-84EB-40FEA1D2A02E}"/>
              </a:ext>
            </a:extLst>
          </p:cNvPr>
          <p:cNvSpPr>
            <a:spLocks xmlns:a="http://schemas.openxmlformats.org/drawingml/2006/main" noGrp="1"/>
          </p:cNvSpPr>
          <p:nvPr/>
        </p:nvSpPr>
        <p:spPr>
          <a:xfrm xmlns:a="http://schemas.openxmlformats.org/drawingml/2006/main">
            <a:off x="1562100" y="472440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23339"/>
                </a:solidFill>
                <a:latin typeface="Nimbus Sans"/>
                <a:ea typeface="Nimbus Sans"/>
                <a:cs typeface="Nimbus Sans"/>
              </a:defRPr>
            </a:pPr>
            <a:r>
              <a:rPr sz="3225" b="0">
                <a:solidFill>
                  <a:srgbClr val="123339"/>
                </a:solidFill>
                <a:latin typeface="Nimbus Sans"/>
                <a:ea typeface="Nimbus Sans"/>
                <a:cs typeface="Nimbus Sans"/>
              </a:rPr>
              <a:t>Who stays responsible?</a:t>
            </a:r>
          </a:p>
        </p:txBody>
      </p:sp>
      <p:sp>
        <p:nvSpPr>
          <p:cNvPr id="17" name="text-24">
            <a:extLst xmlns:a="http://schemas.openxmlformats.org/drawingml/2006/main">
              <a:ext uri="{FF2B5EF4-FFF2-40B4-BE49-F238E27FC236}">
                <a16:creationId xmlns:a16="http://schemas.microsoft.com/office/drawing/2014/main" id="{721886F7-56FB-4699-94C3-17DFC6CA935C}"/>
              </a:ext>
            </a:extLst>
          </p:cNvPr>
          <p:cNvSpPr>
            <a:spLocks xmlns:a="http://schemas.openxmlformats.org/drawingml/2006/main" noGrp="1"/>
          </p:cNvSpPr>
          <p:nvPr/>
        </p:nvSpPr>
        <p:spPr>
          <a:xfrm xmlns:a="http://schemas.openxmlformats.org/drawingml/2006/main">
            <a:off x="609600" y="60007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A workshop framework, adapted from research-ethics principles.</a:t>
            </a:r>
          </a:p>
        </p:txBody>
      </p:sp>
    </p:spTree>
    <p:extLst>
      <p:ext uri="{BB962C8B-B14F-4D97-AF65-F5344CB8AC3E}">
        <p14:creationId xmlns:p14="http://schemas.microsoft.com/office/powerpoint/2010/main" val="67599070"/>
      </p:ext>
    </p:extLst>
  </p:cSld>
</p:sld>
</file>

<file path=ppt/slides/slide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EE15125-7026-4C14-8A9C-280217A7D44F}"/>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The claim defines the promise</a:t>
            </a:r>
          </a:p>
        </p:txBody>
      </p:sp>
      <p:sp>
        <p:nvSpPr>
          <p:cNvPr id="2" name="text-25">
            <a:extLst xmlns:a="http://schemas.openxmlformats.org/drawingml/2006/main">
              <a:ext uri="{FF2B5EF4-FFF2-40B4-BE49-F238E27FC236}">
                <a16:creationId xmlns:a16="http://schemas.microsoft.com/office/drawing/2014/main" id="{96F67A9E-CD1D-403F-A245-F2716FFF478B}"/>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04</a:t>
            </a:r>
          </a:p>
        </p:txBody>
      </p:sp>
      <p:sp>
        <p:nvSpPr>
          <p:cNvPr id="3" name="text-26">
            <a:extLst xmlns:a="http://schemas.openxmlformats.org/drawingml/2006/main">
              <a:ext uri="{FF2B5EF4-FFF2-40B4-BE49-F238E27FC236}">
                <a16:creationId xmlns:a16="http://schemas.microsoft.com/office/drawing/2014/main" id="{A2CAB45C-21E0-4A7C-8742-F03E3B686FB4}"/>
              </a:ext>
            </a:extLst>
          </p:cNvPr>
          <p:cNvSpPr>
            <a:spLocks xmlns:a="http://schemas.openxmlformats.org/drawingml/2006/main" noGrp="1"/>
          </p:cNvSpPr>
          <p:nvPr/>
        </p:nvSpPr>
        <p:spPr>
          <a:xfrm xmlns:a="http://schemas.openxmlformats.org/drawingml/2006/main">
            <a:off x="628650" y="17145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526565"/>
                </a:solidFill>
                <a:latin typeface="Utopia"/>
                <a:ea typeface="Utopia"/>
                <a:cs typeface="Utopia"/>
              </a:defRPr>
            </a:pPr>
            <a:r>
              <a:rPr sz="4050" b="0">
                <a:solidFill>
                  <a:srgbClr val="526565"/>
                </a:solidFill>
                <a:latin typeface="Utopia"/>
                <a:ea typeface="Utopia"/>
                <a:cs typeface="Utopia"/>
              </a:rPr>
              <a:t>“Shows walking patterns”</a:t>
            </a:r>
          </a:p>
        </p:txBody>
      </p:sp>
      <p:sp>
        <p:nvSpPr>
          <p:cNvPr id="4" name="text-27">
            <a:extLst xmlns:a="http://schemas.openxmlformats.org/drawingml/2006/main">
              <a:ext uri="{FF2B5EF4-FFF2-40B4-BE49-F238E27FC236}">
                <a16:creationId xmlns:a16="http://schemas.microsoft.com/office/drawing/2014/main" id="{CC16B0FC-2522-4DF5-9765-14AE9DEABD50}"/>
              </a:ext>
            </a:extLst>
          </p:cNvPr>
          <p:cNvSpPr>
            <a:spLocks xmlns:a="http://schemas.openxmlformats.org/drawingml/2006/main" noGrp="1"/>
          </p:cNvSpPr>
          <p:nvPr/>
        </p:nvSpPr>
        <p:spPr>
          <a:xfrm xmlns:a="http://schemas.openxmlformats.org/drawingml/2006/main">
            <a:off x="628650" y="2914650"/>
            <a:ext cx="10858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a:solidFill>
                  <a:srgbClr val="123339"/>
                </a:solidFill>
                <a:latin typeface="Utopia"/>
                <a:ea typeface="Utopia"/>
                <a:cs typeface="Utopia"/>
              </a:defRPr>
            </a:pPr>
            <a:r>
              <a:rPr sz="4050" b="0">
                <a:solidFill>
                  <a:srgbClr val="123339"/>
                </a:solidFill>
                <a:latin typeface="Utopia"/>
                <a:ea typeface="Utopia"/>
                <a:cs typeface="Utopia"/>
              </a:rPr>
              <a:t>“Detects freezing of gait</a:t>
            </a:r>
          </a:p>
          <a:p xmlns:a="http://schemas.openxmlformats.org/drawingml/2006/main">
            <a:pPr algn="l">
              <a:defRPr sz="4050" b="0">
                <a:solidFill>
                  <a:srgbClr val="123339"/>
                </a:solidFill>
                <a:latin typeface="Utopia"/>
                <a:ea typeface="Utopia"/>
                <a:cs typeface="Utopia"/>
              </a:defRPr>
            </a:pPr>
            <a:r>
              <a:rPr sz="4050" b="0">
                <a:solidFill>
                  <a:srgbClr val="123339"/>
                </a:solidFill>
                <a:latin typeface="Utopia"/>
                <a:ea typeface="Utopia"/>
                <a:cs typeface="Utopia"/>
              </a:rPr>
              <a:t>in Parkinson’s disease”</a:t>
            </a:r>
          </a:p>
        </p:txBody>
      </p:sp>
      <p:sp>
        <p:nvSpPr>
          <p:cNvPr id="5" name="">
            <a:extLst xmlns:a="http://schemas.openxmlformats.org/drawingml/2006/main">
              <a:ext uri="{FF2B5EF4-FFF2-40B4-BE49-F238E27FC236}">
                <a16:creationId xmlns:a16="http://schemas.microsoft.com/office/drawing/2014/main" id="{03E27A3C-B716-4560-B8EF-B08CFB578DD6}"/>
              </a:ext>
            </a:extLst>
          </p:cNvPr>
          <p:cNvSpPr>
            <a:spLocks xmlns:a="http://schemas.openxmlformats.org/drawingml/2006/main" noGrp="1"/>
          </p:cNvSpPr>
          <p:nvPr/>
        </p:nvSpPr>
        <p:spPr>
          <a:xfrm xmlns:a="http://schemas.openxmlformats.org/drawingml/2006/main">
            <a:off x="619125" y="4724400"/>
            <a:ext cx="10953750" cy="0"/>
          </a:xfrm>
          <a:prstGeom xmlns:a="http://schemas.openxmlformats.org/drawingml/2006/main" prst="line">
            <a:avLst/>
          </a:prstGeom>
          <a:noFill xmlns:a="http://schemas.openxmlformats.org/drawingml/2006/main"/>
          <a:ln xmlns:a="http://schemas.openxmlformats.org/drawingml/2006/main" w="9525">
            <a:solidFill>
              <a:srgbClr val="C4D3CD"/>
            </a:solidFill>
          </a:ln>
        </p:spPr>
      </p:sp>
      <p:sp>
        <p:nvSpPr>
          <p:cNvPr id="6" name="text-28">
            <a:extLst xmlns:a="http://schemas.openxmlformats.org/drawingml/2006/main">
              <a:ext uri="{FF2B5EF4-FFF2-40B4-BE49-F238E27FC236}">
                <a16:creationId xmlns:a16="http://schemas.microsoft.com/office/drawing/2014/main" id="{E35D97AC-E545-44CB-A1C2-A5A2714706EF}"/>
              </a:ext>
            </a:extLst>
          </p:cNvPr>
          <p:cNvSpPr>
            <a:spLocks xmlns:a="http://schemas.openxmlformats.org/drawingml/2006/main" noGrp="1"/>
          </p:cNvSpPr>
          <p:nvPr/>
        </p:nvSpPr>
        <p:spPr>
          <a:xfrm xmlns:a="http://schemas.openxmlformats.org/drawingml/2006/main">
            <a:off x="609600" y="5019675"/>
            <a:ext cx="2657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7C"/>
                </a:solidFill>
                <a:latin typeface="Nimbus Sans"/>
                <a:ea typeface="Nimbus Sans"/>
                <a:cs typeface="Nimbus Sans"/>
              </a:defRPr>
            </a:pPr>
            <a:r>
              <a:rPr sz="2325" b="1">
                <a:solidFill>
                  <a:srgbClr val="087F7C"/>
                </a:solidFill>
                <a:latin typeface="Nimbus Sans"/>
                <a:ea typeface="Nimbus Sans"/>
                <a:cs typeface="Nimbus Sans"/>
              </a:rPr>
              <a:t>For whom?</a:t>
            </a:r>
          </a:p>
        </p:txBody>
      </p:sp>
      <p:sp>
        <p:nvSpPr>
          <p:cNvPr id="7" name="text-29">
            <a:extLst xmlns:a="http://schemas.openxmlformats.org/drawingml/2006/main">
              <a:ext uri="{FF2B5EF4-FFF2-40B4-BE49-F238E27FC236}">
                <a16:creationId xmlns:a16="http://schemas.microsoft.com/office/drawing/2014/main" id="{402C5447-6B85-450B-9296-1395779F147C}"/>
              </a:ext>
            </a:extLst>
          </p:cNvPr>
          <p:cNvSpPr>
            <a:spLocks xmlns:a="http://schemas.openxmlformats.org/drawingml/2006/main" noGrp="1"/>
          </p:cNvSpPr>
          <p:nvPr/>
        </p:nvSpPr>
        <p:spPr>
          <a:xfrm xmlns:a="http://schemas.openxmlformats.org/drawingml/2006/main">
            <a:off x="3390900" y="5019675"/>
            <a:ext cx="2657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7C"/>
                </a:solidFill>
                <a:latin typeface="Nimbus Sans"/>
                <a:ea typeface="Nimbus Sans"/>
                <a:cs typeface="Nimbus Sans"/>
              </a:defRPr>
            </a:pPr>
            <a:r>
              <a:rPr sz="2325" b="1">
                <a:solidFill>
                  <a:srgbClr val="087F7C"/>
                </a:solidFill>
                <a:latin typeface="Nimbus Sans"/>
                <a:ea typeface="Nimbus Sans"/>
                <a:cs typeface="Nimbus Sans"/>
              </a:rPr>
              <a:t>Does what?</a:t>
            </a:r>
          </a:p>
        </p:txBody>
      </p:sp>
      <p:sp>
        <p:nvSpPr>
          <p:cNvPr id="8" name="text-30">
            <a:extLst xmlns:a="http://schemas.openxmlformats.org/drawingml/2006/main">
              <a:ext uri="{FF2B5EF4-FFF2-40B4-BE49-F238E27FC236}">
                <a16:creationId xmlns:a16="http://schemas.microsoft.com/office/drawing/2014/main" id="{0D53479A-3C78-461D-8FD8-FBA5D95709C7}"/>
              </a:ext>
            </a:extLst>
          </p:cNvPr>
          <p:cNvSpPr>
            <a:spLocks xmlns:a="http://schemas.openxmlformats.org/drawingml/2006/main" noGrp="1"/>
          </p:cNvSpPr>
          <p:nvPr/>
        </p:nvSpPr>
        <p:spPr>
          <a:xfrm xmlns:a="http://schemas.openxmlformats.org/drawingml/2006/main">
            <a:off x="6276975" y="5019675"/>
            <a:ext cx="2657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7C"/>
                </a:solidFill>
                <a:latin typeface="Nimbus Sans"/>
                <a:ea typeface="Nimbus Sans"/>
                <a:cs typeface="Nimbus Sans"/>
              </a:defRPr>
            </a:pPr>
            <a:r>
              <a:rPr sz="2325" b="1">
                <a:solidFill>
                  <a:srgbClr val="087F7C"/>
                </a:solidFill>
                <a:latin typeface="Nimbus Sans"/>
                <a:ea typeface="Nimbus Sans"/>
                <a:cs typeface="Nimbus Sans"/>
              </a:rPr>
              <a:t>Where?</a:t>
            </a:r>
          </a:p>
        </p:txBody>
      </p:sp>
      <p:sp>
        <p:nvSpPr>
          <p:cNvPr id="9" name="text-31">
            <a:extLst xmlns:a="http://schemas.openxmlformats.org/drawingml/2006/main">
              <a:ext uri="{FF2B5EF4-FFF2-40B4-BE49-F238E27FC236}">
                <a16:creationId xmlns:a16="http://schemas.microsoft.com/office/drawing/2014/main" id="{5CEA1E7F-C41A-447C-AAEE-2D65474F76A5}"/>
              </a:ext>
            </a:extLst>
          </p:cNvPr>
          <p:cNvSpPr>
            <a:spLocks xmlns:a="http://schemas.openxmlformats.org/drawingml/2006/main" noGrp="1"/>
          </p:cNvSpPr>
          <p:nvPr/>
        </p:nvSpPr>
        <p:spPr>
          <a:xfrm xmlns:a="http://schemas.openxmlformats.org/drawingml/2006/main">
            <a:off x="8953500" y="5019675"/>
            <a:ext cx="2657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7C"/>
                </a:solidFill>
                <a:latin typeface="Nimbus Sans"/>
                <a:ea typeface="Nimbus Sans"/>
                <a:cs typeface="Nimbus Sans"/>
              </a:defRPr>
            </a:pPr>
            <a:r>
              <a:rPr sz="2325" b="1">
                <a:solidFill>
                  <a:srgbClr val="087F7C"/>
                </a:solidFill>
                <a:latin typeface="Nimbus Sans"/>
                <a:ea typeface="Nimbus Sans"/>
                <a:cs typeface="Nimbus Sans"/>
              </a:rPr>
              <a:t>What action?</a:t>
            </a:r>
          </a:p>
        </p:txBody>
      </p:sp>
      <p:sp>
        <p:nvSpPr>
          <p:cNvPr id="10" name="text-32">
            <a:extLst xmlns:a="http://schemas.openxmlformats.org/drawingml/2006/main">
              <a:ext uri="{FF2B5EF4-FFF2-40B4-BE49-F238E27FC236}">
                <a16:creationId xmlns:a16="http://schemas.microsoft.com/office/drawing/2014/main" id="{23CA909F-630B-4D1B-83C4-72964A724BEF}"/>
              </a:ext>
            </a:extLst>
          </p:cNvPr>
          <p:cNvSpPr>
            <a:spLocks xmlns:a="http://schemas.openxmlformats.org/drawingml/2006/main" noGrp="1"/>
          </p:cNvSpPr>
          <p:nvPr/>
        </p:nvSpPr>
        <p:spPr>
          <a:xfrm xmlns:a="http://schemas.openxmlformats.org/drawingml/2006/main">
            <a:off x="609600" y="60007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Hypothetical claims. Classification needs the full intended use and risks.</a:t>
            </a:r>
          </a:p>
        </p:txBody>
      </p:sp>
    </p:spTree>
    <p:extLst>
      <p:ext uri="{BB962C8B-B14F-4D97-AF65-F5344CB8AC3E}">
        <p14:creationId xmlns:p14="http://schemas.microsoft.com/office/powerpoint/2010/main" val="1820321742"/>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8F6F0"/>
        </a:solidFill>
      </p:bgPr>
    </p:bg>
    <p:spTree>
      <p:nvGrpSpPr>
        <p:cNvPr id="1" name=""/>
        <p:cNvGrpSpPr/>
        <p:nvPr/>
      </p:nvGrpSpPr>
      <p:grpSpPr>
        <a:xfrm/>
      </p:grpSpPr>
      <p:sp>
        <p:nvSpPr>
          <p:cNvPr id="8" name="slide-title">
            <a:extLst>
              <a:ext uri="{FF2B5EF4-FFF2-40B4-BE49-F238E27FC236}">
                <ns2:creationId id="{3E6BA158-AF66-494A-A49D-EF55F46CC2BA}"/>
              </a:ext>
            </a:extLst>
          </p:cNvPr>
          <p:cNvSpPr>
            <a:spLocks noGrp="1"/>
          </p:cNvSpPr>
          <p:nvPr/>
        </p:nvSpPr>
        <p:spPr>
          <a:xfrm>
            <a:off x="609600" y="428625"/>
            <a:ext cx="10953750" cy="723900"/>
          </a:xfrm>
          <a:prstGeom prst="rect">
            <a:avLst/>
          </a:prstGeom>
          <a:noFill/>
          <a:ln w="0">
            <a:noFill/>
          </a:ln>
        </p:spPr>
        <p:txBody>
          <a:bodyPr wrap="square" lIns="0" tIns="0" rIns="0" bIns="0" anchor="t">
            <a:noAutofit/>
          </a:bodyPr>
          <a:lstStyle/>
          <a:p>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FoGO: what does the prototype show?</a:t>
            </a:r>
          </a:p>
        </p:txBody>
      </p:sp>
      <p:sp>
        <p:nvSpPr>
          <p:cNvPr id="2" name="text-33">
            <a:extLst>
              <a:ext uri="{FF2B5EF4-FFF2-40B4-BE49-F238E27FC236}">
                <ns2:creationId id="{16425994-6A7E-44E1-A46A-53C49EAF6812}"/>
              </a:ext>
            </a:extLst>
          </p:cNvPr>
          <p:cNvSpPr>
            <a:spLocks noGrp="1"/>
          </p:cNvSpPr>
          <p:nvPr/>
        </p:nvSpPr>
        <p:spPr>
          <a:xfrm>
            <a:off x="11296650" y="6381750"/>
            <a:ext cx="333375" cy="228600"/>
          </a:xfrm>
          <a:prstGeom prst="rect">
            <a:avLst/>
          </a:prstGeom>
          <a:noFill/>
          <a:ln w="0">
            <a:noFill/>
          </a:ln>
        </p:spPr>
        <p:txBody>
          <a:bodyPr wrap="square" lIns="0" tIns="0" rIns="0" bIns="0" anchor="t">
            <a:noAutofit/>
          </a:bodyPr>
          <a:lstStyle/>
          <a:p>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05</a:t>
            </a:r>
          </a:p>
        </p:txBody>
      </p:sp>
      <p:pic>
        <p:nvPicPr>
          <p:cNvPr id="10" name="VideoFoGO" descr="Embedded video. Staged volunteer demonstration with simulated freeze.">
            <a:hlinkClick action="ppaction://media"/>
          </p:cNvPr>
          <p:cNvPicPr>
            <a:picLocks noChangeAspect="1"/>
          </p:cNvPicPr>
          <p:nvPr>
            <a:videoFile r:link="rId2"/>
            <p:extLst>
              <p:ext uri="{DAA4B4D4-6D71-4841-9C94-3DE7FCFB9230}">
                <p14:media r:embed="rId1"/>
              </p:ext>
            </p:extLst>
          </p:nvPr>
        </p:nvPicPr>
        <p:blipFill>
          <a:blip r:embed="R1e185caf037343cb"/>
          <a:stretch/>
        </p:blipFill>
        <p:spPr>
          <a:xfrm>
            <a:off x="610517" y="1428750"/>
            <a:ext cx="6322766" cy="4933950"/>
          </a:xfrm>
          <a:prstGeom prst="rect">
            <a:avLst/>
          </a:prstGeom>
        </p:spPr>
      </p:pic>
      <p:sp>
        <p:nvSpPr>
          <p:cNvPr id="4" name="text-34">
            <a:extLst>
              <a:ext uri="{FF2B5EF4-FFF2-40B4-BE49-F238E27FC236}">
                <ns2:creationId id="{83C88EEA-D31B-49F1-806C-76FB3A0BB18A}"/>
              </a:ext>
            </a:extLst>
          </p:cNvPr>
          <p:cNvSpPr>
            <a:spLocks noGrp="1"/>
          </p:cNvSpPr>
          <p:nvPr/>
        </p:nvSpPr>
        <p:spPr>
          <a:xfrm>
            <a:off x="7572375" y="1685925"/>
            <a:ext cx="3829050" cy="1724025"/>
          </a:xfrm>
          <a:prstGeom prst="rect">
            <a:avLst/>
          </a:prstGeom>
          <a:noFill/>
          <a:ln w="0">
            <a:noFill/>
          </a:ln>
        </p:spPr>
        <p:txBody>
          <a:bodyPr wrap="square" lIns="0" tIns="0" rIns="0" bIns="0" anchor="t">
            <a:noAutofit/>
          </a:bodyPr>
          <a:lstStyle/>
          <a:p>
            <a:pPr algn="l">
              <a:defRPr sz="3150" b="1">
                <a:solidFill>
                  <a:srgbClr val="087F7C"/>
                </a:solidFill>
                <a:latin typeface="Nimbus Sans"/>
                <a:ea typeface="Nimbus Sans"/>
                <a:cs typeface="Nimbus Sans"/>
              </a:defRPr>
            </a:pPr>
            <a:r>
              <a:rPr sz="3150" b="1">
                <a:solidFill>
                  <a:srgbClr val="087F7C"/>
                </a:solidFill>
                <a:latin typeface="Nimbus Sans"/>
                <a:ea typeface="Nimbus Sans"/>
                <a:cs typeface="Nimbus Sans"/>
              </a:rPr>
              <a:t>Sensing</a:t>
            </a:r>
          </a:p>
          <a:p>
            <a:pPr algn="l">
              <a:defRPr sz="3150" b="1">
                <a:solidFill>
                  <a:srgbClr val="087F7C"/>
                </a:solidFill>
                <a:latin typeface="Nimbus Sans"/>
                <a:ea typeface="Nimbus Sans"/>
                <a:cs typeface="Nimbus Sans"/>
              </a:defRPr>
            </a:pPr>
            <a:r>
              <a:rPr sz="3150" b="1">
                <a:solidFill>
                  <a:srgbClr val="087F7C"/>
                </a:solidFill>
                <a:latin typeface="Nimbus Sans"/>
                <a:ea typeface="Nimbus Sans"/>
                <a:cs typeface="Nimbus Sans"/>
              </a:rPr>
              <a:t>Detection</a:t>
            </a:r>
          </a:p>
          <a:p>
            <a:pPr algn="l">
              <a:defRPr sz="3150" b="1">
                <a:solidFill>
                  <a:srgbClr val="087F7C"/>
                </a:solidFill>
                <a:latin typeface="Nimbus Sans"/>
                <a:ea typeface="Nimbus Sans"/>
                <a:cs typeface="Nimbus Sans"/>
              </a:defRPr>
            </a:pPr>
            <a:r>
              <a:rPr sz="3150" b="1">
                <a:solidFill>
                  <a:srgbClr val="087F7C"/>
                </a:solidFill>
                <a:latin typeface="Nimbus Sans"/>
                <a:ea typeface="Nimbus Sans"/>
                <a:cs typeface="Nimbus Sans"/>
              </a:rPr>
              <a:t>Cueing</a:t>
            </a:r>
          </a:p>
        </p:txBody>
      </p:sp>
      <p:sp>
        <p:nvSpPr>
          <p:cNvPr id="5" name="text-35">
            <a:extLst>
              <a:ext uri="{FF2B5EF4-FFF2-40B4-BE49-F238E27FC236}">
                <ns2:creationId id="{3D94E42C-136E-47AF-9F50-FFF09CC28953}"/>
              </a:ext>
            </a:extLst>
          </p:cNvPr>
          <p:cNvSpPr>
            <a:spLocks noGrp="1"/>
          </p:cNvSpPr>
          <p:nvPr/>
        </p:nvSpPr>
        <p:spPr>
          <a:xfrm>
            <a:off x="7572375" y="3876675"/>
            <a:ext cx="3819525" cy="1371600"/>
          </a:xfrm>
          <a:prstGeom prst="rect">
            <a:avLst/>
          </a:prstGeom>
          <a:noFill/>
          <a:ln w="0">
            <a:noFill/>
          </a:ln>
        </p:spPr>
        <p:txBody>
          <a:bodyPr wrap="square" lIns="0" tIns="0" rIns="0" bIns="0" anchor="t">
            <a:noAutofit/>
          </a:bodyPr>
          <a:lstStyle/>
          <a:p>
            <a:pPr algn="l">
              <a:defRPr sz="2925" b="0">
                <a:solidFill>
                  <a:srgbClr val="123339"/>
                </a:solidFill>
                <a:latin typeface="Utopia"/>
                <a:ea typeface="Utopia"/>
                <a:cs typeface="Utopia"/>
              </a:defRPr>
            </a:pPr>
            <a:r>
              <a:rPr sz="2925" b="0">
                <a:solidFill>
                  <a:srgbClr val="123339"/>
                </a:solidFill>
                <a:latin typeface="Utopia"/>
                <a:ea typeface="Utopia"/>
                <a:cs typeface="Utopia"/>
              </a:rPr>
              <a:t>What did we</a:t>
            </a:r>
          </a:p>
          <a:p>
            <a:pPr algn="l">
              <a:defRPr sz="2925" b="0">
                <a:solidFill>
                  <a:srgbClr val="123339"/>
                </a:solidFill>
                <a:latin typeface="Utopia"/>
                <a:ea typeface="Utopia"/>
                <a:cs typeface="Utopia"/>
              </a:defRPr>
            </a:pPr>
            <a:r>
              <a:rPr sz="2925" b="0">
                <a:solidFill>
                  <a:srgbClr val="123339"/>
                </a:solidFill>
                <a:latin typeface="Utopia"/>
                <a:ea typeface="Utopia"/>
                <a:cs typeface="Utopia"/>
              </a:rPr>
              <a:t>actually learn?</a:t>
            </a:r>
          </a:p>
        </p:txBody>
      </p:sp>
      <p:sp>
        <p:nvSpPr>
          <p:cNvPr id="6" name="text-36">
            <a:extLst>
              <a:ext uri="{FF2B5EF4-FFF2-40B4-BE49-F238E27FC236}">
                <ns2:creationId id="{E9892939-8D94-4F3E-AAD3-9DB979FA7A40}"/>
              </a:ext>
            </a:extLst>
          </p:cNvPr>
          <p:cNvSpPr>
            <a:spLocks noGrp="1"/>
          </p:cNvSpPr>
          <p:nvPr/>
        </p:nvSpPr>
        <p:spPr>
          <a:xfrm>
            <a:off x="7572375" y="5581650"/>
            <a:ext cx="3790950" cy="342900"/>
          </a:xfrm>
          <a:prstGeom prst="rect">
            <a:avLst/>
          </a:prstGeom>
          <a:noFill/>
          <a:ln w="0">
            <a:noFill/>
          </a:ln>
        </p:spPr>
        <p:txBody>
          <a:bodyPr wrap="square" lIns="0" tIns="0" rIns="0" bIns="0" anchor="t">
            <a:noAutofit/>
          </a:bodyPr>
          <a:lstStyle/>
          <a:p>
            <a:pPr algn="l">
              <a:defRPr sz="1875" b="0">
                <a:solidFill>
                  <a:srgbClr val="526565"/>
                </a:solidFill>
                <a:latin typeface="Nimbus Sans"/>
                <a:ea typeface="Nimbus Sans"/>
                <a:cs typeface="Nimbus Sans"/>
              </a:defRPr>
            </a:pPr>
            <a:r>
              <a:rPr sz="1875" b="0">
                <a:solidFill>
                  <a:srgbClr val="526565"/>
                </a:solidFill>
                <a:latin typeface="Nimbus Sans"/>
                <a:ea typeface="Nimbus Sans"/>
                <a:cs typeface="Nimbus Sans"/>
              </a:rPr>
              <a:t>12 seconds</a:t>
            </a:r>
          </a:p>
        </p:txBody>
      </p:sp>
      <p:sp>
        <p:nvSpPr>
          <p:cNvPr id="7" name="text-37">
            <a:extLst>
              <a:ext uri="{FF2B5EF4-FFF2-40B4-BE49-F238E27FC236}">
                <ns2:creationId id="{F6F22F9D-9E58-4D29-B896-229A593598A2}"/>
              </a:ext>
            </a:extLst>
          </p:cNvPr>
          <p:cNvSpPr>
            <a:spLocks noGrp="1"/>
          </p:cNvSpPr>
          <p:nvPr/>
        </p:nvSpPr>
        <p:spPr>
          <a:xfrm>
            <a:off x="7572375" y="5972175"/>
            <a:ext cx="3819525" cy="638175"/>
          </a:xfrm>
          <a:prstGeom prst="rect">
            <a:avLst/>
          </a:prstGeom>
          <a:noFill/>
          <a:ln w="0">
            <a:noFill/>
          </a:ln>
        </p:spPr>
        <p:txBody>
          <a:bodyPr wrap="square" lIns="0" tIns="0" rIns="0" bIns="0" anchor="t">
            <a:noAutofit/>
          </a:bodyPr>
          <a:lstStyle/>
          <a:p>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Staged demonstration.</a:t>
            </a:r>
          </a:p>
          <a:p>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Simulated freeze.</a:t>
            </a:r>
          </a:p>
        </p:txBody>
      </p:sp>
    </p:spTree>
    <p:extLst>
      <p:ext uri="{BB962C8B-B14F-4D97-AF65-F5344CB8AC3E}">
        <p14:creationId val="2034984481"/>
      </p:ext>
    </p:extLst>
  </p:cSl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433"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endCondLst>
                    <p:cond evt="onStopAudio" delay="0">
                      <p:tgtEl>
                        <p:sldTgt/>
                      </p:tgtEl>
                    </p:cond>
                  </p:endCondLst>
                </p:cTn>
                <p:tgtEl>
                  <p:spTgt spid="10"/>
                </p:tgtEl>
              </p:cMediaNode>
            </p:video>
          </p:childTnLst>
        </p:cTn>
      </p:par>
    </p:tnLst>
  </p:timing>
</p:sld>
</file>

<file path=ppt/slides/slide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DAE47348-7E09-4494-890D-990A747335BF}"/>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What have we shown? What remains?</a:t>
            </a:r>
          </a:p>
        </p:txBody>
      </p:sp>
      <p:sp>
        <p:nvSpPr>
          <p:cNvPr id="2" name="text-38">
            <a:extLst xmlns:a="http://schemas.openxmlformats.org/drawingml/2006/main">
              <a:ext uri="{FF2B5EF4-FFF2-40B4-BE49-F238E27FC236}">
                <a16:creationId xmlns:a16="http://schemas.microsoft.com/office/drawing/2014/main" id="{084A0C60-F019-4BBF-BCA0-487F3C2670B2}"/>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06</a:t>
            </a:r>
          </a:p>
        </p:txBody>
      </p:sp>
      <p:sp>
        <p:nvSpPr>
          <p:cNvPr id="3" name="text-39">
            <a:extLst xmlns:a="http://schemas.openxmlformats.org/drawingml/2006/main">
              <a:ext uri="{FF2B5EF4-FFF2-40B4-BE49-F238E27FC236}">
                <a16:creationId xmlns:a16="http://schemas.microsoft.com/office/drawing/2014/main" id="{9DDFF20D-1C31-413F-B438-D4666F8C7ED7}"/>
              </a:ext>
            </a:extLst>
          </p:cNvPr>
          <p:cNvSpPr>
            <a:spLocks xmlns:a="http://schemas.openxmlformats.org/drawingml/2006/main" noGrp="1"/>
          </p:cNvSpPr>
          <p:nvPr/>
        </p:nvSpPr>
        <p:spPr>
          <a:xfrm xmlns:a="http://schemas.openxmlformats.org/drawingml/2006/main">
            <a:off x="666750" y="1657350"/>
            <a:ext cx="47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87F7C"/>
                </a:solidFill>
                <a:latin typeface="Nimbus Sans"/>
                <a:ea typeface="Nimbus Sans"/>
                <a:cs typeface="Nimbus Sans"/>
              </a:defRPr>
            </a:pPr>
            <a:r>
              <a:rPr sz="2625" b="1">
                <a:solidFill>
                  <a:srgbClr val="087F7C"/>
                </a:solidFill>
                <a:latin typeface="Nimbus Sans"/>
                <a:ea typeface="Nimbus Sans"/>
                <a:cs typeface="Nimbus Sans"/>
              </a:rPr>
              <a:t>1</a:t>
            </a:r>
          </a:p>
        </p:txBody>
      </p:sp>
      <p:sp>
        <p:nvSpPr>
          <p:cNvPr id="4" name="text-40">
            <a:extLst xmlns:a="http://schemas.openxmlformats.org/drawingml/2006/main">
              <a:ext uri="{FF2B5EF4-FFF2-40B4-BE49-F238E27FC236}">
                <a16:creationId xmlns:a16="http://schemas.microsoft.com/office/drawing/2014/main" id="{E9314D61-F4ED-49FB-97EA-54FB76AA958B}"/>
              </a:ext>
            </a:extLst>
          </p:cNvPr>
          <p:cNvSpPr>
            <a:spLocks xmlns:a="http://schemas.openxmlformats.org/drawingml/2006/main" noGrp="1"/>
          </p:cNvSpPr>
          <p:nvPr/>
        </p:nvSpPr>
        <p:spPr>
          <a:xfrm xmlns:a="http://schemas.openxmlformats.org/drawingml/2006/main">
            <a:off x="1428750" y="16478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23339"/>
                </a:solidFill>
                <a:latin typeface="Nimbus Sans"/>
                <a:ea typeface="Nimbus Sans"/>
                <a:cs typeface="Nimbus Sans"/>
              </a:defRPr>
            </a:pPr>
            <a:r>
              <a:rPr sz="2400" b="1">
                <a:solidFill>
                  <a:srgbClr val="123339"/>
                </a:solidFill>
                <a:latin typeface="Nimbus Sans"/>
                <a:ea typeface="Nimbus Sans"/>
                <a:cs typeface="Nimbus Sans"/>
              </a:rPr>
              <a:t>Prototype demonstration</a:t>
            </a:r>
          </a:p>
        </p:txBody>
      </p:sp>
      <p:sp>
        <p:nvSpPr>
          <p:cNvPr id="5" name="text-41">
            <a:extLst xmlns:a="http://schemas.openxmlformats.org/drawingml/2006/main">
              <a:ext uri="{FF2B5EF4-FFF2-40B4-BE49-F238E27FC236}">
                <a16:creationId xmlns:a16="http://schemas.microsoft.com/office/drawing/2014/main" id="{7F599FD6-3B7E-4214-9518-20EF03B0DD7F}"/>
              </a:ext>
            </a:extLst>
          </p:cNvPr>
          <p:cNvSpPr>
            <a:spLocks xmlns:a="http://schemas.openxmlformats.org/drawingml/2006/main" noGrp="1"/>
          </p:cNvSpPr>
          <p:nvPr/>
        </p:nvSpPr>
        <p:spPr>
          <a:xfrm xmlns:a="http://schemas.openxmlformats.org/drawingml/2006/main">
            <a:off x="1428750" y="209550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565"/>
                </a:solidFill>
                <a:latin typeface="Nimbus Sans"/>
                <a:ea typeface="Nimbus Sans"/>
                <a:cs typeface="Nimbus Sans"/>
              </a:defRPr>
            </a:pPr>
            <a:r>
              <a:rPr sz="2025" b="0">
                <a:solidFill>
                  <a:srgbClr val="526565"/>
                </a:solidFill>
                <a:latin typeface="Nimbus Sans"/>
                <a:ea typeface="Nimbus Sans"/>
                <a:cs typeface="Nimbus Sans"/>
              </a:rPr>
              <a:t>Can the system respond?</a:t>
            </a:r>
          </a:p>
        </p:txBody>
      </p:sp>
      <p:sp>
        <p:nvSpPr>
          <p:cNvPr id="6" name="text-42">
            <a:extLst xmlns:a="http://schemas.openxmlformats.org/drawingml/2006/main">
              <a:ext uri="{FF2B5EF4-FFF2-40B4-BE49-F238E27FC236}">
                <a16:creationId xmlns:a16="http://schemas.microsoft.com/office/drawing/2014/main" id="{909507E6-67DA-4108-B552-57D62250901A}"/>
              </a:ext>
            </a:extLst>
          </p:cNvPr>
          <p:cNvSpPr>
            <a:spLocks xmlns:a="http://schemas.openxmlformats.org/drawingml/2006/main" noGrp="1"/>
          </p:cNvSpPr>
          <p:nvPr/>
        </p:nvSpPr>
        <p:spPr>
          <a:xfrm xmlns:a="http://schemas.openxmlformats.org/drawingml/2006/main">
            <a:off x="8839200" y="1695450"/>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7C"/>
                </a:solidFill>
                <a:latin typeface="Nimbus Sans"/>
                <a:ea typeface="Nimbus Sans"/>
                <a:cs typeface="Nimbus Sans"/>
              </a:defRPr>
            </a:pPr>
            <a:r>
              <a:rPr sz="1875" b="1">
                <a:solidFill>
                  <a:srgbClr val="087F7C"/>
                </a:solidFill>
                <a:latin typeface="Nimbus Sans"/>
                <a:ea typeface="Nimbus Sans"/>
                <a:cs typeface="Nimbus Sans"/>
              </a:rPr>
              <a:t>Reported technical work</a:t>
            </a:r>
          </a:p>
        </p:txBody>
      </p:sp>
      <p:sp>
        <p:nvSpPr>
          <p:cNvPr id="7" name="">
            <a:extLst xmlns:a="http://schemas.openxmlformats.org/drawingml/2006/main">
              <a:ext uri="{FF2B5EF4-FFF2-40B4-BE49-F238E27FC236}">
                <a16:creationId xmlns:a16="http://schemas.microsoft.com/office/drawing/2014/main" id="{43F5EE06-AF9C-4E3C-BBAC-53AB49B0655E}"/>
              </a:ext>
            </a:extLst>
          </p:cNvPr>
          <p:cNvSpPr>
            <a:spLocks xmlns:a="http://schemas.openxmlformats.org/drawingml/2006/main" noGrp="1"/>
          </p:cNvSpPr>
          <p:nvPr/>
        </p:nvSpPr>
        <p:spPr>
          <a:xfrm xmlns:a="http://schemas.openxmlformats.org/drawingml/2006/main" flipV="0">
            <a:off x="866775" y="2143125"/>
            <a:ext cx="0" cy="447675"/>
          </a:xfrm>
          <a:prstGeom xmlns:a="http://schemas.openxmlformats.org/drawingml/2006/main" prst="line">
            <a:avLst/>
          </a:prstGeom>
          <a:noFill xmlns:a="http://schemas.openxmlformats.org/drawingml/2006/main"/>
          <a:ln xmlns:a="http://schemas.openxmlformats.org/drawingml/2006/main" w="28575">
            <a:solidFill>
              <a:srgbClr val="C4D3CD"/>
            </a:solidFill>
          </a:ln>
        </p:spPr>
      </p:sp>
      <p:sp>
        <p:nvSpPr>
          <p:cNvPr id="8" name="">
            <a:extLst xmlns:a="http://schemas.openxmlformats.org/drawingml/2006/main">
              <a:ext uri="{FF2B5EF4-FFF2-40B4-BE49-F238E27FC236}">
                <a16:creationId xmlns:a16="http://schemas.microsoft.com/office/drawing/2014/main" id="{2132A6B5-B956-4AE8-A33C-E4C4176BBED0}"/>
              </a:ext>
            </a:extLst>
          </p:cNvPr>
          <p:cNvSpPr>
            <a:spLocks xmlns:a="http://schemas.openxmlformats.org/drawingml/2006/main" noGrp="1"/>
          </p:cNvSpPr>
          <p:nvPr/>
        </p:nvSpPr>
        <p:spPr>
          <a:xfrm xmlns:a="http://schemas.openxmlformats.org/drawingml/2006/main">
            <a:off x="1428750" y="2600325"/>
            <a:ext cx="10048875" cy="0"/>
          </a:xfrm>
          <a:prstGeom xmlns:a="http://schemas.openxmlformats.org/drawingml/2006/main" prst="line">
            <a:avLst/>
          </a:prstGeom>
          <a:noFill xmlns:a="http://schemas.openxmlformats.org/drawingml/2006/main"/>
          <a:ln xmlns:a="http://schemas.openxmlformats.org/drawingml/2006/main" w="9525">
            <a:solidFill>
              <a:srgbClr val="C4D3CD"/>
            </a:solidFill>
          </a:ln>
        </p:spPr>
      </p:sp>
      <p:sp>
        <p:nvSpPr>
          <p:cNvPr id="9" name="text-43">
            <a:extLst xmlns:a="http://schemas.openxmlformats.org/drawingml/2006/main">
              <a:ext uri="{FF2B5EF4-FFF2-40B4-BE49-F238E27FC236}">
                <a16:creationId xmlns:a16="http://schemas.microsoft.com/office/drawing/2014/main" id="{577BD7B6-3A72-4199-9823-89339E1236EE}"/>
              </a:ext>
            </a:extLst>
          </p:cNvPr>
          <p:cNvSpPr>
            <a:spLocks xmlns:a="http://schemas.openxmlformats.org/drawingml/2006/main" noGrp="1"/>
          </p:cNvSpPr>
          <p:nvPr/>
        </p:nvSpPr>
        <p:spPr>
          <a:xfrm xmlns:a="http://schemas.openxmlformats.org/drawingml/2006/main">
            <a:off x="666750" y="2695575"/>
            <a:ext cx="47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87F7C"/>
                </a:solidFill>
                <a:latin typeface="Nimbus Sans"/>
                <a:ea typeface="Nimbus Sans"/>
                <a:cs typeface="Nimbus Sans"/>
              </a:defRPr>
            </a:pPr>
            <a:r>
              <a:rPr sz="2625" b="1">
                <a:solidFill>
                  <a:srgbClr val="087F7C"/>
                </a:solidFill>
                <a:latin typeface="Nimbus Sans"/>
                <a:ea typeface="Nimbus Sans"/>
                <a:cs typeface="Nimbus Sans"/>
              </a:rPr>
              <a:t>2</a:t>
            </a:r>
          </a:p>
        </p:txBody>
      </p:sp>
      <p:sp>
        <p:nvSpPr>
          <p:cNvPr id="10" name="text-44">
            <a:extLst xmlns:a="http://schemas.openxmlformats.org/drawingml/2006/main">
              <a:ext uri="{FF2B5EF4-FFF2-40B4-BE49-F238E27FC236}">
                <a16:creationId xmlns:a16="http://schemas.microsoft.com/office/drawing/2014/main" id="{3C9354CC-3D9A-484D-882B-3DC4C3E0DABE}"/>
              </a:ext>
            </a:extLst>
          </p:cNvPr>
          <p:cNvSpPr>
            <a:spLocks xmlns:a="http://schemas.openxmlformats.org/drawingml/2006/main" noGrp="1"/>
          </p:cNvSpPr>
          <p:nvPr/>
        </p:nvSpPr>
        <p:spPr>
          <a:xfrm xmlns:a="http://schemas.openxmlformats.org/drawingml/2006/main">
            <a:off x="1428750" y="2686050"/>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23339"/>
                </a:solidFill>
                <a:latin typeface="Nimbus Sans"/>
                <a:ea typeface="Nimbus Sans"/>
                <a:cs typeface="Nimbus Sans"/>
              </a:defRPr>
            </a:pPr>
            <a:r>
              <a:rPr sz="2400" b="1">
                <a:solidFill>
                  <a:srgbClr val="123339"/>
                </a:solidFill>
                <a:latin typeface="Nimbus Sans"/>
                <a:ea typeface="Nimbus Sans"/>
                <a:cs typeface="Nimbus Sans"/>
              </a:rPr>
              <a:t>Public-dataset testing</a:t>
            </a:r>
          </a:p>
        </p:txBody>
      </p:sp>
      <p:sp>
        <p:nvSpPr>
          <p:cNvPr id="11" name="text-45">
            <a:extLst xmlns:a="http://schemas.openxmlformats.org/drawingml/2006/main">
              <a:ext uri="{FF2B5EF4-FFF2-40B4-BE49-F238E27FC236}">
                <a16:creationId xmlns:a16="http://schemas.microsoft.com/office/drawing/2014/main" id="{FA5E4CA2-A1BA-4A0E-9E11-98B8EA38EAB4}"/>
              </a:ext>
            </a:extLst>
          </p:cNvPr>
          <p:cNvSpPr>
            <a:spLocks xmlns:a="http://schemas.openxmlformats.org/drawingml/2006/main" noGrp="1"/>
          </p:cNvSpPr>
          <p:nvPr/>
        </p:nvSpPr>
        <p:spPr>
          <a:xfrm xmlns:a="http://schemas.openxmlformats.org/drawingml/2006/main">
            <a:off x="1428750" y="3133725"/>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565"/>
                </a:solidFill>
                <a:latin typeface="Nimbus Sans"/>
                <a:ea typeface="Nimbus Sans"/>
                <a:cs typeface="Nimbus Sans"/>
              </a:defRPr>
            </a:pPr>
            <a:r>
              <a:rPr sz="2025" b="0">
                <a:solidFill>
                  <a:srgbClr val="526565"/>
                </a:solidFill>
                <a:latin typeface="Nimbus Sans"/>
                <a:ea typeface="Nimbus Sans"/>
                <a:cs typeface="Nimbus Sans"/>
              </a:rPr>
              <a:t>How does detection perform?</a:t>
            </a:r>
          </a:p>
        </p:txBody>
      </p:sp>
      <p:sp>
        <p:nvSpPr>
          <p:cNvPr id="12" name="text-46">
            <a:extLst xmlns:a="http://schemas.openxmlformats.org/drawingml/2006/main">
              <a:ext uri="{FF2B5EF4-FFF2-40B4-BE49-F238E27FC236}">
                <a16:creationId xmlns:a16="http://schemas.microsoft.com/office/drawing/2014/main" id="{D8A18E7B-83B1-4AAD-B19B-BBFFD6ED714D}"/>
              </a:ext>
            </a:extLst>
          </p:cNvPr>
          <p:cNvSpPr>
            <a:spLocks xmlns:a="http://schemas.openxmlformats.org/drawingml/2006/main" noGrp="1"/>
          </p:cNvSpPr>
          <p:nvPr/>
        </p:nvSpPr>
        <p:spPr>
          <a:xfrm xmlns:a="http://schemas.openxmlformats.org/drawingml/2006/main">
            <a:off x="8839200" y="2733675"/>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7C"/>
                </a:solidFill>
                <a:latin typeface="Nimbus Sans"/>
                <a:ea typeface="Nimbus Sans"/>
                <a:cs typeface="Nimbus Sans"/>
              </a:defRPr>
            </a:pPr>
            <a:r>
              <a:rPr sz="1875" b="1">
                <a:solidFill>
                  <a:srgbClr val="087F7C"/>
                </a:solidFill>
                <a:latin typeface="Nimbus Sans"/>
                <a:ea typeface="Nimbus Sans"/>
                <a:cs typeface="Nimbus Sans"/>
              </a:rPr>
              <a:t>Reported preliminary work</a:t>
            </a:r>
          </a:p>
        </p:txBody>
      </p:sp>
      <p:sp>
        <p:nvSpPr>
          <p:cNvPr id="13" name="">
            <a:extLst xmlns:a="http://schemas.openxmlformats.org/drawingml/2006/main">
              <a:ext uri="{FF2B5EF4-FFF2-40B4-BE49-F238E27FC236}">
                <a16:creationId xmlns:a16="http://schemas.microsoft.com/office/drawing/2014/main" id="{207BD786-0985-47CB-9181-C82301EEE50E}"/>
              </a:ext>
            </a:extLst>
          </p:cNvPr>
          <p:cNvSpPr>
            <a:spLocks xmlns:a="http://schemas.openxmlformats.org/drawingml/2006/main" noGrp="1"/>
          </p:cNvSpPr>
          <p:nvPr/>
        </p:nvSpPr>
        <p:spPr>
          <a:xfrm xmlns:a="http://schemas.openxmlformats.org/drawingml/2006/main" flipV="0">
            <a:off x="866775" y="3181350"/>
            <a:ext cx="0" cy="447675"/>
          </a:xfrm>
          <a:prstGeom xmlns:a="http://schemas.openxmlformats.org/drawingml/2006/main" prst="line">
            <a:avLst/>
          </a:prstGeom>
          <a:noFill xmlns:a="http://schemas.openxmlformats.org/drawingml/2006/main"/>
          <a:ln xmlns:a="http://schemas.openxmlformats.org/drawingml/2006/main" w="28575">
            <a:solidFill>
              <a:srgbClr val="C4D3CD"/>
            </a:solidFill>
          </a:ln>
        </p:spPr>
      </p:sp>
      <p:sp>
        <p:nvSpPr>
          <p:cNvPr id="14" name="">
            <a:extLst xmlns:a="http://schemas.openxmlformats.org/drawingml/2006/main">
              <a:ext uri="{FF2B5EF4-FFF2-40B4-BE49-F238E27FC236}">
                <a16:creationId xmlns:a16="http://schemas.microsoft.com/office/drawing/2014/main" id="{4DB13EE5-E191-4522-B4E5-FA9E5EF8F2E6}"/>
              </a:ext>
            </a:extLst>
          </p:cNvPr>
          <p:cNvSpPr>
            <a:spLocks xmlns:a="http://schemas.openxmlformats.org/drawingml/2006/main" noGrp="1"/>
          </p:cNvSpPr>
          <p:nvPr/>
        </p:nvSpPr>
        <p:spPr>
          <a:xfrm xmlns:a="http://schemas.openxmlformats.org/drawingml/2006/main">
            <a:off x="1428750" y="3638550"/>
            <a:ext cx="10048875" cy="0"/>
          </a:xfrm>
          <a:prstGeom xmlns:a="http://schemas.openxmlformats.org/drawingml/2006/main" prst="line">
            <a:avLst/>
          </a:prstGeom>
          <a:noFill xmlns:a="http://schemas.openxmlformats.org/drawingml/2006/main"/>
          <a:ln xmlns:a="http://schemas.openxmlformats.org/drawingml/2006/main" w="9525">
            <a:solidFill>
              <a:srgbClr val="C4D3CD"/>
            </a:solidFill>
          </a:ln>
        </p:spPr>
      </p:sp>
      <p:sp>
        <p:nvSpPr>
          <p:cNvPr id="15" name="text-47">
            <a:extLst xmlns:a="http://schemas.openxmlformats.org/drawingml/2006/main">
              <a:ext uri="{FF2B5EF4-FFF2-40B4-BE49-F238E27FC236}">
                <a16:creationId xmlns:a16="http://schemas.microsoft.com/office/drawing/2014/main" id="{B17D6F23-3629-400F-843A-4CF452499878}"/>
              </a:ext>
            </a:extLst>
          </p:cNvPr>
          <p:cNvSpPr>
            <a:spLocks xmlns:a="http://schemas.openxmlformats.org/drawingml/2006/main" noGrp="1"/>
          </p:cNvSpPr>
          <p:nvPr/>
        </p:nvSpPr>
        <p:spPr>
          <a:xfrm xmlns:a="http://schemas.openxmlformats.org/drawingml/2006/main">
            <a:off x="666750" y="3733800"/>
            <a:ext cx="47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B46730"/>
                </a:solidFill>
                <a:latin typeface="Nimbus Sans"/>
                <a:ea typeface="Nimbus Sans"/>
                <a:cs typeface="Nimbus Sans"/>
              </a:defRPr>
            </a:pPr>
            <a:r>
              <a:rPr sz="2625" b="1">
                <a:solidFill>
                  <a:srgbClr val="B46730"/>
                </a:solidFill>
                <a:latin typeface="Nimbus Sans"/>
                <a:ea typeface="Nimbus Sans"/>
                <a:cs typeface="Nimbus Sans"/>
              </a:rPr>
              <a:t>3</a:t>
            </a:r>
          </a:p>
        </p:txBody>
      </p:sp>
      <p:sp>
        <p:nvSpPr>
          <p:cNvPr id="16" name="text-48">
            <a:extLst xmlns:a="http://schemas.openxmlformats.org/drawingml/2006/main">
              <a:ext uri="{FF2B5EF4-FFF2-40B4-BE49-F238E27FC236}">
                <a16:creationId xmlns:a16="http://schemas.microsoft.com/office/drawing/2014/main" id="{24F723EC-7570-42C1-98C9-CA65BC41B0AC}"/>
              </a:ext>
            </a:extLst>
          </p:cNvPr>
          <p:cNvSpPr>
            <a:spLocks xmlns:a="http://schemas.openxmlformats.org/drawingml/2006/main" noGrp="1"/>
          </p:cNvSpPr>
          <p:nvPr/>
        </p:nvSpPr>
        <p:spPr>
          <a:xfrm xmlns:a="http://schemas.openxmlformats.org/drawingml/2006/main">
            <a:off x="1428750" y="372427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23339"/>
                </a:solidFill>
                <a:latin typeface="Nimbus Sans"/>
                <a:ea typeface="Nimbus Sans"/>
                <a:cs typeface="Nimbus Sans"/>
              </a:defRPr>
            </a:pPr>
            <a:r>
              <a:rPr sz="2400" b="1">
                <a:solidFill>
                  <a:srgbClr val="123339"/>
                </a:solidFill>
                <a:latin typeface="Nimbus Sans"/>
                <a:ea typeface="Nimbus Sans"/>
                <a:cs typeface="Nimbus Sans"/>
              </a:rPr>
              <a:t>Prospective patient evaluation</a:t>
            </a:r>
          </a:p>
        </p:txBody>
      </p:sp>
      <p:sp>
        <p:nvSpPr>
          <p:cNvPr id="17" name="text-49">
            <a:extLst xmlns:a="http://schemas.openxmlformats.org/drawingml/2006/main">
              <a:ext uri="{FF2B5EF4-FFF2-40B4-BE49-F238E27FC236}">
                <a16:creationId xmlns:a16="http://schemas.microsoft.com/office/drawing/2014/main" id="{8E1341BA-06C1-4BDB-8E52-E8B2E276156F}"/>
              </a:ext>
            </a:extLst>
          </p:cNvPr>
          <p:cNvSpPr>
            <a:spLocks xmlns:a="http://schemas.openxmlformats.org/drawingml/2006/main" noGrp="1"/>
          </p:cNvSpPr>
          <p:nvPr/>
        </p:nvSpPr>
        <p:spPr>
          <a:xfrm xmlns:a="http://schemas.openxmlformats.org/drawingml/2006/main">
            <a:off x="1428750" y="41719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565"/>
                </a:solidFill>
                <a:latin typeface="Nimbus Sans"/>
                <a:ea typeface="Nimbus Sans"/>
                <a:cs typeface="Nimbus Sans"/>
              </a:defRPr>
            </a:pPr>
            <a:r>
              <a:rPr sz="2025" b="0">
                <a:solidFill>
                  <a:srgbClr val="526565"/>
                </a:solidFill>
                <a:latin typeface="Nimbus Sans"/>
                <a:ea typeface="Nimbus Sans"/>
                <a:cs typeface="Nimbus Sans"/>
              </a:rPr>
              <a:t>Does it work for intended users?</a:t>
            </a:r>
          </a:p>
        </p:txBody>
      </p:sp>
      <p:sp>
        <p:nvSpPr>
          <p:cNvPr id="18" name="text-50">
            <a:extLst xmlns:a="http://schemas.openxmlformats.org/drawingml/2006/main">
              <a:ext uri="{FF2B5EF4-FFF2-40B4-BE49-F238E27FC236}">
                <a16:creationId xmlns:a16="http://schemas.microsoft.com/office/drawing/2014/main" id="{175EB6D5-14F9-4541-AC6E-43278BFA87F6}"/>
              </a:ext>
            </a:extLst>
          </p:cNvPr>
          <p:cNvSpPr>
            <a:spLocks xmlns:a="http://schemas.openxmlformats.org/drawingml/2006/main" noGrp="1"/>
          </p:cNvSpPr>
          <p:nvPr/>
        </p:nvSpPr>
        <p:spPr>
          <a:xfrm xmlns:a="http://schemas.openxmlformats.org/drawingml/2006/main">
            <a:off x="8839200" y="3771900"/>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B46730"/>
                </a:solidFill>
                <a:latin typeface="Nimbus Sans"/>
                <a:ea typeface="Nimbus Sans"/>
                <a:cs typeface="Nimbus Sans"/>
              </a:defRPr>
            </a:pPr>
            <a:r>
              <a:rPr sz="1875" b="1">
                <a:solidFill>
                  <a:srgbClr val="B46730"/>
                </a:solidFill>
                <a:latin typeface="Nimbus Sans"/>
                <a:ea typeface="Nimbus Sans"/>
                <a:cs typeface="Nimbus Sans"/>
              </a:rPr>
              <a:t>Planned in the project deck</a:t>
            </a:r>
          </a:p>
        </p:txBody>
      </p:sp>
      <p:sp>
        <p:nvSpPr>
          <p:cNvPr id="19" name="">
            <a:extLst xmlns:a="http://schemas.openxmlformats.org/drawingml/2006/main">
              <a:ext uri="{FF2B5EF4-FFF2-40B4-BE49-F238E27FC236}">
                <a16:creationId xmlns:a16="http://schemas.microsoft.com/office/drawing/2014/main" id="{6A218CCB-8215-4925-882B-845A5300604E}"/>
              </a:ext>
            </a:extLst>
          </p:cNvPr>
          <p:cNvSpPr>
            <a:spLocks xmlns:a="http://schemas.openxmlformats.org/drawingml/2006/main" noGrp="1"/>
          </p:cNvSpPr>
          <p:nvPr/>
        </p:nvSpPr>
        <p:spPr>
          <a:xfrm xmlns:a="http://schemas.openxmlformats.org/drawingml/2006/main" flipV="0">
            <a:off x="866775" y="4219575"/>
            <a:ext cx="0" cy="447675"/>
          </a:xfrm>
          <a:prstGeom xmlns:a="http://schemas.openxmlformats.org/drawingml/2006/main" prst="line">
            <a:avLst/>
          </a:prstGeom>
          <a:noFill xmlns:a="http://schemas.openxmlformats.org/drawingml/2006/main"/>
          <a:ln xmlns:a="http://schemas.openxmlformats.org/drawingml/2006/main" w="28575">
            <a:solidFill>
              <a:srgbClr val="C4D3CD"/>
            </a:solidFill>
          </a:ln>
        </p:spPr>
      </p:sp>
      <p:sp>
        <p:nvSpPr>
          <p:cNvPr id="20" name="">
            <a:extLst xmlns:a="http://schemas.openxmlformats.org/drawingml/2006/main">
              <a:ext uri="{FF2B5EF4-FFF2-40B4-BE49-F238E27FC236}">
                <a16:creationId xmlns:a16="http://schemas.microsoft.com/office/drawing/2014/main" id="{CA6BC6DD-E8E3-4698-9F70-91DC8310EA6D}"/>
              </a:ext>
            </a:extLst>
          </p:cNvPr>
          <p:cNvSpPr>
            <a:spLocks xmlns:a="http://schemas.openxmlformats.org/drawingml/2006/main" noGrp="1"/>
          </p:cNvSpPr>
          <p:nvPr/>
        </p:nvSpPr>
        <p:spPr>
          <a:xfrm xmlns:a="http://schemas.openxmlformats.org/drawingml/2006/main">
            <a:off x="1428750" y="4676775"/>
            <a:ext cx="10048875" cy="0"/>
          </a:xfrm>
          <a:prstGeom xmlns:a="http://schemas.openxmlformats.org/drawingml/2006/main" prst="line">
            <a:avLst/>
          </a:prstGeom>
          <a:noFill xmlns:a="http://schemas.openxmlformats.org/drawingml/2006/main"/>
          <a:ln xmlns:a="http://schemas.openxmlformats.org/drawingml/2006/main" w="9525">
            <a:solidFill>
              <a:srgbClr val="C4D3CD"/>
            </a:solidFill>
          </a:ln>
        </p:spPr>
      </p:sp>
      <p:sp>
        <p:nvSpPr>
          <p:cNvPr id="21" name="text-51">
            <a:extLst xmlns:a="http://schemas.openxmlformats.org/drawingml/2006/main">
              <a:ext uri="{FF2B5EF4-FFF2-40B4-BE49-F238E27FC236}">
                <a16:creationId xmlns:a16="http://schemas.microsoft.com/office/drawing/2014/main" id="{1F6DF4EF-1BF2-44F0-845C-450D2D882054}"/>
              </a:ext>
            </a:extLst>
          </p:cNvPr>
          <p:cNvSpPr>
            <a:spLocks xmlns:a="http://schemas.openxmlformats.org/drawingml/2006/main" noGrp="1"/>
          </p:cNvSpPr>
          <p:nvPr/>
        </p:nvSpPr>
        <p:spPr>
          <a:xfrm xmlns:a="http://schemas.openxmlformats.org/drawingml/2006/main">
            <a:off x="666750" y="4772025"/>
            <a:ext cx="47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B46730"/>
                </a:solidFill>
                <a:latin typeface="Nimbus Sans"/>
                <a:ea typeface="Nimbus Sans"/>
                <a:cs typeface="Nimbus Sans"/>
              </a:defRPr>
            </a:pPr>
            <a:r>
              <a:rPr sz="2625" b="1">
                <a:solidFill>
                  <a:srgbClr val="B46730"/>
                </a:solidFill>
                <a:latin typeface="Nimbus Sans"/>
                <a:ea typeface="Nimbus Sans"/>
                <a:cs typeface="Nimbus Sans"/>
              </a:rPr>
              <a:t>4</a:t>
            </a:r>
          </a:p>
        </p:txBody>
      </p:sp>
      <p:sp>
        <p:nvSpPr>
          <p:cNvPr id="22" name="text-52">
            <a:extLst xmlns:a="http://schemas.openxmlformats.org/drawingml/2006/main">
              <a:ext uri="{FF2B5EF4-FFF2-40B4-BE49-F238E27FC236}">
                <a16:creationId xmlns:a16="http://schemas.microsoft.com/office/drawing/2014/main" id="{82B54627-04F4-4AF2-BD09-DED9084528A4}"/>
              </a:ext>
            </a:extLst>
          </p:cNvPr>
          <p:cNvSpPr>
            <a:spLocks xmlns:a="http://schemas.openxmlformats.org/drawingml/2006/main" noGrp="1"/>
          </p:cNvSpPr>
          <p:nvPr/>
        </p:nvSpPr>
        <p:spPr>
          <a:xfrm xmlns:a="http://schemas.openxmlformats.org/drawingml/2006/main">
            <a:off x="1428750" y="4762500"/>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23339"/>
                </a:solidFill>
                <a:latin typeface="Nimbus Sans"/>
                <a:ea typeface="Nimbus Sans"/>
                <a:cs typeface="Nimbus Sans"/>
              </a:defRPr>
            </a:pPr>
            <a:r>
              <a:rPr sz="2400" b="1">
                <a:solidFill>
                  <a:srgbClr val="123339"/>
                </a:solidFill>
                <a:latin typeface="Nimbus Sans"/>
                <a:ea typeface="Nimbus Sans"/>
                <a:cs typeface="Nimbus Sans"/>
              </a:rPr>
              <a:t>Benefit in daily life</a:t>
            </a:r>
          </a:p>
        </p:txBody>
      </p:sp>
      <p:sp>
        <p:nvSpPr>
          <p:cNvPr id="23" name="text-53">
            <a:extLst xmlns:a="http://schemas.openxmlformats.org/drawingml/2006/main">
              <a:ext uri="{FF2B5EF4-FFF2-40B4-BE49-F238E27FC236}">
                <a16:creationId xmlns:a16="http://schemas.microsoft.com/office/drawing/2014/main" id="{3AB95788-EBDE-4EB9-99EE-BFD5A64F5BEC}"/>
              </a:ext>
            </a:extLst>
          </p:cNvPr>
          <p:cNvSpPr>
            <a:spLocks xmlns:a="http://schemas.openxmlformats.org/drawingml/2006/main" noGrp="1"/>
          </p:cNvSpPr>
          <p:nvPr/>
        </p:nvSpPr>
        <p:spPr>
          <a:xfrm xmlns:a="http://schemas.openxmlformats.org/drawingml/2006/main">
            <a:off x="1428750" y="5210175"/>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565"/>
                </a:solidFill>
                <a:latin typeface="Nimbus Sans"/>
                <a:ea typeface="Nimbus Sans"/>
                <a:cs typeface="Nimbus Sans"/>
              </a:defRPr>
            </a:pPr>
            <a:r>
              <a:rPr sz="2025" b="0">
                <a:solidFill>
                  <a:srgbClr val="526565"/>
                </a:solidFill>
                <a:latin typeface="Nimbus Sans"/>
                <a:ea typeface="Nimbus Sans"/>
                <a:cs typeface="Nimbus Sans"/>
              </a:rPr>
              <a:t>Does it improve a meaningful outcome?</a:t>
            </a:r>
          </a:p>
        </p:txBody>
      </p:sp>
      <p:sp>
        <p:nvSpPr>
          <p:cNvPr id="24" name="text-54">
            <a:extLst xmlns:a="http://schemas.openxmlformats.org/drawingml/2006/main">
              <a:ext uri="{FF2B5EF4-FFF2-40B4-BE49-F238E27FC236}">
                <a16:creationId xmlns:a16="http://schemas.microsoft.com/office/drawing/2014/main" id="{7EB279C4-143D-4F17-AFDE-71C2012E4610}"/>
              </a:ext>
            </a:extLst>
          </p:cNvPr>
          <p:cNvSpPr>
            <a:spLocks xmlns:a="http://schemas.openxmlformats.org/drawingml/2006/main" noGrp="1"/>
          </p:cNvSpPr>
          <p:nvPr/>
        </p:nvSpPr>
        <p:spPr>
          <a:xfrm xmlns:a="http://schemas.openxmlformats.org/drawingml/2006/main">
            <a:off x="8839200" y="4810125"/>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B46730"/>
                </a:solidFill>
                <a:latin typeface="Nimbus Sans"/>
                <a:ea typeface="Nimbus Sans"/>
                <a:cs typeface="Nimbus Sans"/>
              </a:defRPr>
            </a:pPr>
            <a:r>
              <a:rPr sz="1875" b="1">
                <a:solidFill>
                  <a:srgbClr val="B46730"/>
                </a:solidFill>
                <a:latin typeface="Nimbus Sans"/>
                <a:ea typeface="Nimbus Sans"/>
                <a:cs typeface="Nimbus Sans"/>
              </a:rPr>
              <a:t>Requires appropriate evidence</a:t>
            </a:r>
          </a:p>
        </p:txBody>
      </p:sp>
      <p:sp>
        <p:nvSpPr>
          <p:cNvPr id="25" name="text-55">
            <a:extLst xmlns:a="http://schemas.openxmlformats.org/drawingml/2006/main">
              <a:ext uri="{FF2B5EF4-FFF2-40B4-BE49-F238E27FC236}">
                <a16:creationId xmlns:a16="http://schemas.microsoft.com/office/drawing/2014/main" id="{95923321-2A5A-4FF2-8602-40AA20A4334E}"/>
              </a:ext>
            </a:extLst>
          </p:cNvPr>
          <p:cNvSpPr>
            <a:spLocks xmlns:a="http://schemas.openxmlformats.org/drawingml/2006/main" noGrp="1"/>
          </p:cNvSpPr>
          <p:nvPr/>
        </p:nvSpPr>
        <p:spPr>
          <a:xfrm xmlns:a="http://schemas.openxmlformats.org/drawingml/2006/main">
            <a:off x="609600" y="60483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FoGO project-reported status. A planned outcome is not a result.</a:t>
            </a:r>
          </a:p>
        </p:txBody>
      </p:sp>
    </p:spTree>
    <p:extLst>
      <p:ext uri="{BB962C8B-B14F-4D97-AF65-F5344CB8AC3E}">
        <p14:creationId xmlns:p14="http://schemas.microsoft.com/office/powerpoint/2010/main" val="1662331371"/>
      </p:ext>
    </p:extLst>
  </p:cSld>
</p:sld>
</file>

<file path=ppt/slides/slide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19986C4-AA32-4AD3-B3CA-FCA038E8B6B4}"/>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When FoGO gets it wrong</a:t>
            </a:r>
          </a:p>
        </p:txBody>
      </p:sp>
      <p:sp>
        <p:nvSpPr>
          <p:cNvPr id="2" name="text-56">
            <a:extLst xmlns:a="http://schemas.openxmlformats.org/drawingml/2006/main">
              <a:ext uri="{FF2B5EF4-FFF2-40B4-BE49-F238E27FC236}">
                <a16:creationId xmlns:a16="http://schemas.microsoft.com/office/drawing/2014/main" id="{CA5E4CC4-0229-4616-9B28-F9CC3FF25328}"/>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07</a:t>
            </a:r>
          </a:p>
        </p:txBody>
      </p:sp>
      <p:graphicFrame>
        <p:nvGraphicFramePr>
          <p:cNvPr id="8" name=""/>
          <p:cNvGraphicFramePr/>
          <p:nvPr/>
        </p:nvGraphicFramePr>
        <p:xfrm>
          <a:off xmlns:a="http://schemas.openxmlformats.org/drawingml/2006/main" x="609600" y="1762125"/>
          <a:ext xmlns:a="http://schemas.openxmlformats.org/drawingml/2006/main" cx="10972800" cy="3209925"/>
        </p:xfrm>
        <a:graphic xmlns:a="http://schemas.openxmlformats.org/drawingml/2006/main">
          <a:graphicData uri="http://schemas.openxmlformats.org/drawingml/2006/table">
            <a:tbl>
              <a:tblPr/>
              <a:tblGrid>
                <a:gridCol w="2419350"/>
                <a:gridCol w="3362325"/>
                <a:gridCol w="5191125"/>
              </a:tblGrid>
              <a:tr h="802481">
                <a:tc>
                  <a:txBody>
                    <a:bodyPr/>
                    <a:lstStyle/>
                    <a:p>
                      <a:r>
                        <a:rPr sz="2100" b="1">
                          <a:solidFill>
                            <a:srgbClr val="FFFFFF"/>
                          </a:solidFill>
                          <a:latin typeface="Nimbus Sans"/>
                          <a:ea typeface="Nimbus Sans"/>
                          <a:cs typeface="Nimbus Sans"/>
                        </a:rPr>
                        <a:t>Failure</a:t>
                      </a:r>
                    </a:p>
                  </a:txBody>
                  <a:tcPr marL="142875" marR="142875" marT="142875" marB="142875" anchor="ctr">
                    <a:solidFill>
                      <a:srgbClr val="102E34"/>
                    </a:solidFill>
                  </a:tcPr>
                </a:tc>
                <a:tc>
                  <a:txBody>
                    <a:bodyPr/>
                    <a:lstStyle/>
                    <a:p>
                      <a:r>
                        <a:rPr sz="2100" b="1">
                          <a:solidFill>
                            <a:srgbClr val="FFFFFF"/>
                          </a:solidFill>
                          <a:latin typeface="Nimbus Sans"/>
                          <a:ea typeface="Nimbus Sans"/>
                          <a:cs typeface="Nimbus Sans"/>
                        </a:rPr>
                        <a:t>Possible consequence</a:t>
                      </a:r>
                    </a:p>
                  </a:txBody>
                  <a:tcPr marL="142875" marR="142875" marT="142875" marB="142875" anchor="ctr">
                    <a:solidFill>
                      <a:srgbClr val="102E34"/>
                    </a:solidFill>
                  </a:tcPr>
                </a:tc>
                <a:tc>
                  <a:txBody>
                    <a:bodyPr/>
                    <a:lstStyle/>
                    <a:p>
                      <a:r>
                        <a:rPr sz="2100" b="1">
                          <a:solidFill>
                            <a:srgbClr val="FFFFFF"/>
                          </a:solidFill>
                          <a:latin typeface="Nimbus Sans"/>
                          <a:ea typeface="Nimbus Sans"/>
                          <a:cs typeface="Nimbus Sans"/>
                        </a:rPr>
                        <a:t>Control to test</a:t>
                      </a:r>
                    </a:p>
                  </a:txBody>
                  <a:tcPr marL="142875" marR="142875" marT="142875" marB="142875" anchor="ctr">
                    <a:solidFill>
                      <a:srgbClr val="102E34"/>
                    </a:solidFill>
                  </a:tcPr>
                </a:tc>
              </a:tr>
              <a:tr h="802481">
                <a:tc>
                  <a:txBody>
                    <a:bodyPr/>
                    <a:lstStyle/>
                    <a:p>
                      <a:r>
                        <a:rPr sz="2175">
                          <a:solidFill>
                            <a:srgbClr val="123339"/>
                          </a:solidFill>
                          <a:latin typeface="Nimbus Sans"/>
                          <a:ea typeface="Nimbus Sans"/>
                          <a:cs typeface="Nimbus Sans"/>
                        </a:rPr>
                        <a:t>Missed freeze</a:t>
                      </a:r>
                    </a:p>
                  </a:txBody>
                  <a:tcPr marL="142875" marR="142875" marT="142875" marB="142875" anchor="ctr">
                    <a:solidFill>
                      <a:srgbClr val="F8F6F0"/>
                    </a:solidFill>
                  </a:tcPr>
                </a:tc>
                <a:tc>
                  <a:txBody>
                    <a:bodyPr/>
                    <a:lstStyle/>
                    <a:p>
                      <a:r>
                        <a:rPr sz="2175">
                          <a:solidFill>
                            <a:srgbClr val="123339"/>
                          </a:solidFill>
                          <a:latin typeface="Nimbus Sans"/>
                          <a:ea typeface="Nimbus Sans"/>
                          <a:cs typeface="Nimbus Sans"/>
                        </a:rPr>
                        <a:t>No expected cue</a:t>
                      </a:r>
                    </a:p>
                  </a:txBody>
                  <a:tcPr marL="142875" marR="142875" marT="142875" marB="142875" anchor="ctr">
                    <a:solidFill>
                      <a:srgbClr val="F8F6F0"/>
                    </a:solidFill>
                  </a:tcPr>
                </a:tc>
                <a:tc>
                  <a:txBody>
                    <a:bodyPr/>
                    <a:lstStyle/>
                    <a:p>
                      <a:r>
                        <a:rPr sz="2175">
                          <a:solidFill>
                            <a:srgbClr val="123339"/>
                          </a:solidFill>
                          <a:latin typeface="Nimbus Sans"/>
                          <a:ea typeface="Nimbus Sans"/>
                          <a:cs typeface="Nimbus Sans"/>
                        </a:rPr>
                        <a:t>Detection in relevant situations</a:t>
                      </a:r>
                    </a:p>
                  </a:txBody>
                  <a:tcPr marL="142875" marR="142875" marT="142875" marB="142875" anchor="ctr">
                    <a:solidFill>
                      <a:srgbClr val="F8F6F0"/>
                    </a:solidFill>
                  </a:tcPr>
                </a:tc>
              </a:tr>
              <a:tr h="802481">
                <a:tc>
                  <a:txBody>
                    <a:bodyPr/>
                    <a:lstStyle/>
                    <a:p>
                      <a:r>
                        <a:rPr sz="2175">
                          <a:solidFill>
                            <a:srgbClr val="123339"/>
                          </a:solidFill>
                          <a:latin typeface="Nimbus Sans"/>
                          <a:ea typeface="Nimbus Sans"/>
                          <a:cs typeface="Nimbus Sans"/>
                        </a:rPr>
                        <a:t>False cue</a:t>
                      </a:r>
                    </a:p>
                  </a:txBody>
                  <a:tcPr marL="142875" marR="142875" marT="142875" marB="142875" anchor="ctr">
                    <a:solidFill>
                      <a:srgbClr val="F8F6F0"/>
                    </a:solidFill>
                  </a:tcPr>
                </a:tc>
                <a:tc>
                  <a:txBody>
                    <a:bodyPr/>
                    <a:lstStyle/>
                    <a:p>
                      <a:r>
                        <a:rPr sz="2175">
                          <a:solidFill>
                            <a:srgbClr val="123339"/>
                          </a:solidFill>
                          <a:latin typeface="Nimbus Sans"/>
                          <a:ea typeface="Nimbus Sans"/>
                          <a:cs typeface="Nimbus Sans"/>
                        </a:rPr>
                        <a:t>Distraction or discomfort</a:t>
                      </a:r>
                    </a:p>
                  </a:txBody>
                  <a:tcPr marL="142875" marR="142875" marT="142875" marB="142875" anchor="ctr">
                    <a:solidFill>
                      <a:srgbClr val="F8F6F0"/>
                    </a:solidFill>
                  </a:tcPr>
                </a:tc>
                <a:tc>
                  <a:txBody>
                    <a:bodyPr/>
                    <a:lstStyle/>
                    <a:p>
                      <a:r>
                        <a:rPr sz="2175">
                          <a:solidFill>
                            <a:srgbClr val="123339"/>
                          </a:solidFill>
                          <a:latin typeface="Nimbus Sans"/>
                          <a:ea typeface="Nimbus Sans"/>
                          <a:cs typeface="Nimbus Sans"/>
                        </a:rPr>
                        <a:t>Cue limits and usable stop control</a:t>
                      </a:r>
                    </a:p>
                  </a:txBody>
                  <a:tcPr marL="142875" marR="142875" marT="142875" marB="142875" anchor="ctr">
                    <a:solidFill>
                      <a:srgbClr val="F8F6F0"/>
                    </a:solidFill>
                  </a:tcPr>
                </a:tc>
              </a:tr>
              <a:tr h="802481">
                <a:tc>
                  <a:txBody>
                    <a:bodyPr/>
                    <a:lstStyle/>
                    <a:p>
                      <a:r>
                        <a:rPr sz="2175">
                          <a:solidFill>
                            <a:srgbClr val="123339"/>
                          </a:solidFill>
                          <a:latin typeface="Nimbus Sans"/>
                          <a:ea typeface="Nimbus Sans"/>
                          <a:cs typeface="Nimbus Sans"/>
                        </a:rPr>
                        <a:t>Connection lost</a:t>
                      </a:r>
                    </a:p>
                  </a:txBody>
                  <a:tcPr marL="142875" marR="142875" marT="142875" marB="142875" anchor="ctr">
                    <a:solidFill>
                      <a:srgbClr val="F8F6F0"/>
                    </a:solidFill>
                  </a:tcPr>
                </a:tc>
                <a:tc>
                  <a:txBody>
                    <a:bodyPr/>
                    <a:lstStyle/>
                    <a:p>
                      <a:r>
                        <a:rPr sz="2175">
                          <a:solidFill>
                            <a:srgbClr val="123339"/>
                          </a:solidFill>
                          <a:latin typeface="Nimbus Sans"/>
                          <a:ea typeface="Nimbus Sans"/>
                          <a:cs typeface="Nimbus Sans"/>
                        </a:rPr>
                        <a:t>False reassurance</a:t>
                      </a:r>
                    </a:p>
                  </a:txBody>
                  <a:tcPr marL="142875" marR="142875" marT="142875" marB="142875" anchor="ctr">
                    <a:solidFill>
                      <a:srgbClr val="F8F6F0"/>
                    </a:solidFill>
                  </a:tcPr>
                </a:tc>
                <a:tc>
                  <a:txBody>
                    <a:bodyPr/>
                    <a:lstStyle/>
                    <a:p>
                      <a:r>
                        <a:rPr sz="2175">
                          <a:solidFill>
                            <a:srgbClr val="123339"/>
                          </a:solidFill>
                          <a:latin typeface="Nimbus Sans"/>
                          <a:ea typeface="Nimbus Sans"/>
                          <a:cs typeface="Nimbus Sans"/>
                        </a:rPr>
                        <a:t>Clear loss-of-monitoring state</a:t>
                      </a:r>
                    </a:p>
                  </a:txBody>
                  <a:tcPr marL="142875" marR="142875" marT="142875" marB="142875" anchor="ctr">
                    <a:solidFill>
                      <a:srgbClr val="F8F6F0"/>
                    </a:solidFill>
                  </a:tcPr>
                </a:tc>
              </a:tr>
            </a:tbl>
          </a:graphicData>
        </a:graphic>
      </p:graphicFrame>
      <p:sp>
        <p:nvSpPr>
          <p:cNvPr id="4" name="text-57">
            <a:extLst xmlns:a="http://schemas.openxmlformats.org/drawingml/2006/main">
              <a:ext uri="{FF2B5EF4-FFF2-40B4-BE49-F238E27FC236}">
                <a16:creationId xmlns:a16="http://schemas.microsoft.com/office/drawing/2014/main" id="{FF1FB5AD-3B94-49A9-8D13-2130394F3102}"/>
              </a:ext>
            </a:extLst>
          </p:cNvPr>
          <p:cNvSpPr>
            <a:spLocks xmlns:a="http://schemas.openxmlformats.org/drawingml/2006/main" noGrp="1"/>
          </p:cNvSpPr>
          <p:nvPr/>
        </p:nvSpPr>
        <p:spPr>
          <a:xfrm xmlns:a="http://schemas.openxmlformats.org/drawingml/2006/main">
            <a:off x="609600" y="53530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087F7C"/>
                </a:solidFill>
                <a:latin typeface="Utopia"/>
                <a:ea typeface="Utopia"/>
                <a:cs typeface="Utopia"/>
              </a:defRPr>
            </a:pPr>
            <a:r>
              <a:rPr sz="2925" b="0">
                <a:solidFill>
                  <a:srgbClr val="087F7C"/>
                </a:solidFill>
                <a:latin typeface="Utopia"/>
                <a:ea typeface="Utopia"/>
                <a:cs typeface="Utopia"/>
              </a:rPr>
              <a:t>Which would you prioritise, and why?</a:t>
            </a:r>
          </a:p>
        </p:txBody>
      </p:sp>
      <p:sp>
        <p:nvSpPr>
          <p:cNvPr id="5" name="text-58">
            <a:extLst xmlns:a="http://schemas.openxmlformats.org/drawingml/2006/main">
              <a:ext uri="{FF2B5EF4-FFF2-40B4-BE49-F238E27FC236}">
                <a16:creationId xmlns:a16="http://schemas.microsoft.com/office/drawing/2014/main" id="{36CE7106-9002-4B16-84DB-174547E7F43A}"/>
              </a:ext>
            </a:extLst>
          </p:cNvPr>
          <p:cNvSpPr>
            <a:spLocks xmlns:a="http://schemas.openxmlformats.org/drawingml/2006/main" noGrp="1"/>
          </p:cNvSpPr>
          <p:nvPr/>
        </p:nvSpPr>
        <p:spPr>
          <a:xfrm xmlns:a="http://schemas.openxmlformats.org/drawingml/2006/main">
            <a:off x="609600" y="60483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Proposed review examples. No FoGO failure rates or validated controls implied.</a:t>
            </a:r>
          </a:p>
        </p:txBody>
      </p:sp>
    </p:spTree>
    <p:extLst>
      <p:ext uri="{BB962C8B-B14F-4D97-AF65-F5344CB8AC3E}">
        <p14:creationId xmlns:p14="http://schemas.microsoft.com/office/powerpoint/2010/main" val="146535461"/>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8F6F0"/>
        </a:solidFill>
      </p:bgPr>
    </p:bg>
    <p:spTree>
      <p:nvGrpSpPr>
        <p:cNvPr id="1" name=""/>
        <p:cNvGrpSpPr/>
        <p:nvPr/>
      </p:nvGrpSpPr>
      <p:grpSpPr>
        <a:xfrm/>
      </p:grpSpPr>
      <p:sp>
        <p:nvSpPr>
          <p:cNvPr id="8" name="slide-title">
            <a:extLst>
              <a:ext uri="{FF2B5EF4-FFF2-40B4-BE49-F238E27FC236}">
                <ns2:creationId id="{9669D29C-262B-4364-9C61-DAE55E17B969}"/>
              </a:ext>
            </a:extLst>
          </p:cNvPr>
          <p:cNvSpPr>
            <a:spLocks noGrp="1"/>
          </p:cNvSpPr>
          <p:nvPr/>
        </p:nvSpPr>
        <p:spPr>
          <a:xfrm>
            <a:off x="609600" y="428625"/>
            <a:ext cx="10953750" cy="723900"/>
          </a:xfrm>
          <a:prstGeom prst="rect">
            <a:avLst/>
          </a:prstGeom>
          <a:noFill/>
          <a:ln w="0">
            <a:noFill/>
          </a:ln>
        </p:spPr>
        <p:txBody>
          <a:bodyPr wrap="square" lIns="0" tIns="0" rIns="0" bIns="0" anchor="t">
            <a:noAutofit/>
          </a:bodyPr>
          <a:lstStyle/>
          <a:p>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SwaKnee: a device, a routine, a burden</a:t>
            </a:r>
          </a:p>
        </p:txBody>
      </p:sp>
      <p:sp>
        <p:nvSpPr>
          <p:cNvPr id="2" name="text-59">
            <a:extLst>
              <a:ext uri="{FF2B5EF4-FFF2-40B4-BE49-F238E27FC236}">
                <ns2:creationId id="{51D0F9BC-9BA2-46B5-AA63-4BF8FCDA7BDF}"/>
              </a:ext>
            </a:extLst>
          </p:cNvPr>
          <p:cNvSpPr>
            <a:spLocks noGrp="1"/>
          </p:cNvSpPr>
          <p:nvPr/>
        </p:nvSpPr>
        <p:spPr>
          <a:xfrm>
            <a:off x="11296650" y="6381750"/>
            <a:ext cx="333375" cy="228600"/>
          </a:xfrm>
          <a:prstGeom prst="rect">
            <a:avLst/>
          </a:prstGeom>
          <a:noFill/>
          <a:ln w="0">
            <a:noFill/>
          </a:ln>
        </p:spPr>
        <p:txBody>
          <a:bodyPr wrap="square" lIns="0" tIns="0" rIns="0" bIns="0" anchor="t">
            <a:noAutofit/>
          </a:bodyPr>
          <a:lstStyle/>
          <a:p>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08</a:t>
            </a:r>
          </a:p>
        </p:txBody>
      </p:sp>
      <p:pic>
        <p:nvPicPr>
          <p:cNvPr id="10" name="VideoSwaKnee" descr="Embedded video. Product-image overview. No clinical response shown.">
            <a:hlinkClick action="ppaction://media"/>
          </p:cNvPr>
          <p:cNvPicPr>
            <a:picLocks noChangeAspect="1"/>
          </p:cNvPicPr>
          <p:nvPr>
            <a:videoFile r:link="rId2"/>
            <p:extLst>
              <p:ext uri="{DAA4B4D4-6D71-4841-9C94-3DE7FCFB9230}">
                <p14:media r:embed="rId1"/>
              </p:ext>
            </p:extLst>
          </p:nvPr>
        </p:nvPicPr>
        <p:blipFill>
          <a:blip r:embed="R606c97668f0940f8"/>
          <a:stretch/>
        </p:blipFill>
        <p:spPr>
          <a:xfrm>
            <a:off x="1364235" y="1562100"/>
            <a:ext cx="6348855" cy="4400550"/>
          </a:xfrm>
          <a:prstGeom prst="rect">
            <a:avLst/>
          </a:prstGeom>
        </p:spPr>
      </p:pic>
      <p:sp>
        <p:nvSpPr>
          <p:cNvPr id="4" name="text-60">
            <a:extLst>
              <a:ext uri="{FF2B5EF4-FFF2-40B4-BE49-F238E27FC236}">
                <ns2:creationId id="{4CA6DD0D-F63E-4E39-88B9-584F4DD35286}"/>
              </a:ext>
            </a:extLst>
          </p:cNvPr>
          <p:cNvSpPr>
            <a:spLocks noGrp="1"/>
          </p:cNvSpPr>
          <p:nvPr/>
        </p:nvSpPr>
        <p:spPr>
          <a:xfrm>
            <a:off x="8829675" y="1657350"/>
            <a:ext cx="2752725" cy="2571750"/>
          </a:xfrm>
          <a:prstGeom prst="rect">
            <a:avLst/>
          </a:prstGeom>
          <a:noFill/>
          <a:ln w="0">
            <a:noFill/>
          </a:ln>
        </p:spPr>
        <p:txBody>
          <a:bodyPr wrap="square" lIns="0" tIns="0" rIns="0" bIns="0" anchor="t">
            <a:noAutofit/>
          </a:bodyPr>
          <a:lstStyle/>
          <a:p>
            <a:pPr algn="l">
              <a:defRPr sz="3150" b="0">
                <a:solidFill>
                  <a:srgbClr val="123339"/>
                </a:solidFill>
                <a:latin typeface="Utopia"/>
                <a:ea typeface="Utopia"/>
                <a:cs typeface="Utopia"/>
              </a:defRPr>
            </a:pPr>
            <a:r>
              <a:rPr sz="3150" b="0">
                <a:solidFill>
                  <a:srgbClr val="123339"/>
                </a:solidFill>
                <a:latin typeface="Utopia"/>
                <a:ea typeface="Utopia"/>
                <a:cs typeface="Utopia"/>
              </a:rPr>
              <a:t>What must</a:t>
            </a:r>
          </a:p>
          <a:p>
            <a:pPr algn="l">
              <a:defRPr sz="3150" b="0">
                <a:solidFill>
                  <a:srgbClr val="123339"/>
                </a:solidFill>
                <a:latin typeface="Utopia"/>
                <a:ea typeface="Utopia"/>
                <a:cs typeface="Utopia"/>
              </a:defRPr>
            </a:pPr>
            <a:r>
              <a:rPr sz="3150" b="0">
                <a:solidFill>
                  <a:srgbClr val="123339"/>
                </a:solidFill>
                <a:latin typeface="Utopia"/>
                <a:ea typeface="Utopia"/>
                <a:cs typeface="Utopia"/>
              </a:rPr>
              <a:t>the user</a:t>
            </a:r>
          </a:p>
          <a:p>
            <a:pPr algn="l">
              <a:defRPr sz="3150" b="0">
                <a:solidFill>
                  <a:srgbClr val="123339"/>
                </a:solidFill>
                <a:latin typeface="Utopia"/>
                <a:ea typeface="Utopia"/>
                <a:cs typeface="Utopia"/>
              </a:defRPr>
            </a:pPr>
            <a:r>
              <a:rPr sz="3150" b="0">
                <a:solidFill>
                  <a:srgbClr val="123339"/>
                </a:solidFill>
                <a:latin typeface="Utopia"/>
                <a:ea typeface="Utopia"/>
                <a:cs typeface="Utopia"/>
              </a:rPr>
              <a:t>understand</a:t>
            </a:r>
          </a:p>
          <a:p>
            <a:pPr algn="l">
              <a:defRPr sz="3150" b="0">
                <a:solidFill>
                  <a:srgbClr val="123339"/>
                </a:solidFill>
                <a:latin typeface="Utopia"/>
                <a:ea typeface="Utopia"/>
                <a:cs typeface="Utopia"/>
              </a:defRPr>
            </a:pPr>
            <a:r>
              <a:rPr sz="3150" b="0">
                <a:solidFill>
                  <a:srgbClr val="123339"/>
                </a:solidFill>
                <a:latin typeface="Utopia"/>
                <a:ea typeface="Utopia"/>
                <a:cs typeface="Utopia"/>
              </a:rPr>
              <a:t>and do?</a:t>
            </a:r>
          </a:p>
        </p:txBody>
      </p:sp>
      <p:sp>
        <p:nvSpPr>
          <p:cNvPr id="5" name="text-61">
            <a:extLst>
              <a:ext uri="{FF2B5EF4-FFF2-40B4-BE49-F238E27FC236}">
                <ns2:creationId id="{BD0F91FF-26A0-47B7-9087-B6921C16436C}"/>
              </a:ext>
            </a:extLst>
          </p:cNvPr>
          <p:cNvSpPr>
            <a:spLocks noGrp="1"/>
          </p:cNvSpPr>
          <p:nvPr/>
        </p:nvSpPr>
        <p:spPr>
          <a:xfrm>
            <a:off x="8829675" y="4714875"/>
            <a:ext cx="2771775" cy="914400"/>
          </a:xfrm>
          <a:prstGeom prst="rect">
            <a:avLst/>
          </a:prstGeom>
          <a:noFill/>
          <a:ln w="0">
            <a:noFill/>
          </a:ln>
        </p:spPr>
        <p:txBody>
          <a:bodyPr wrap="square" lIns="0" tIns="0" rIns="0" bIns="0" anchor="t">
            <a:noAutofit/>
          </a:bodyPr>
          <a:lstStyle/>
          <a:p>
            <a:pPr algn="l">
              <a:defRPr sz="2025" b="1">
                <a:solidFill>
                  <a:srgbClr val="087F7C"/>
                </a:solidFill>
                <a:latin typeface="Nimbus Sans"/>
                <a:ea typeface="Nimbus Sans"/>
                <a:cs typeface="Nimbus Sans"/>
              </a:defRPr>
            </a:pPr>
            <a:r>
              <a:rPr sz="2025" b="1">
                <a:solidFill>
                  <a:srgbClr val="087F7C"/>
                </a:solidFill>
                <a:latin typeface="Nimbus Sans"/>
                <a:ea typeface="Nimbus Sans"/>
                <a:cs typeface="Nimbus Sans"/>
              </a:rPr>
              <a:t>20-second</a:t>
            </a:r>
          </a:p>
          <a:p>
            <a:pPr algn="l">
              <a:defRPr sz="2025" b="1">
                <a:solidFill>
                  <a:srgbClr val="087F7C"/>
                </a:solidFill>
                <a:latin typeface="Nimbus Sans"/>
                <a:ea typeface="Nimbus Sans"/>
                <a:cs typeface="Nimbus Sans"/>
              </a:defRPr>
            </a:pPr>
            <a:r>
              <a:rPr sz="2025" b="1">
                <a:solidFill>
                  <a:srgbClr val="087F7C"/>
                </a:solidFill>
                <a:latin typeface="Nimbus Sans"/>
                <a:ea typeface="Nimbus Sans"/>
                <a:cs typeface="Nimbus Sans"/>
              </a:rPr>
              <a:t>product overview</a:t>
            </a:r>
          </a:p>
        </p:txBody>
      </p:sp>
      <p:sp>
        <p:nvSpPr>
          <p:cNvPr id="6" name="text-62">
            <a:extLst>
              <a:ext uri="{FF2B5EF4-FFF2-40B4-BE49-F238E27FC236}">
                <ns2:creationId id="{B7B52364-DB89-427E-9C82-1FE403BA360A}"/>
              </a:ext>
            </a:extLst>
          </p:cNvPr>
          <p:cNvSpPr>
            <a:spLocks noGrp="1"/>
          </p:cNvSpPr>
          <p:nvPr/>
        </p:nvSpPr>
        <p:spPr>
          <a:xfrm>
            <a:off x="609600" y="6105525"/>
            <a:ext cx="2914650" cy="333375"/>
          </a:xfrm>
          <a:prstGeom prst="rect">
            <a:avLst/>
          </a:prstGeom>
          <a:noFill/>
          <a:ln w="0">
            <a:noFill/>
          </a:ln>
        </p:spPr>
        <p:txBody>
          <a:bodyPr wrap="square" lIns="0" tIns="0" rIns="0" bIns="0" anchor="t">
            <a:noAutofit/>
          </a:bodyPr>
          <a:lstStyle/>
          <a:p>
            <a:pPr algn="l">
              <a:defRPr sz="1800" b="0">
                <a:solidFill>
                  <a:srgbClr val="087F7C"/>
                </a:solidFill>
                <a:latin typeface="Nimbus Sans"/>
                <a:ea typeface="Nimbus Sans"/>
                <a:cs typeface="Nimbus Sans"/>
              </a:defRPr>
            </a:pPr>
            <a:r>
              <a:rPr sz="1800" b="0">
                <a:solidFill>
                  <a:srgbClr val="087F7C"/>
                </a:solidFill>
                <a:latin typeface="Nimbus Sans"/>
                <a:ea typeface="Nimbus Sans"/>
                <a:cs typeface="Nimbus Sans"/>
                <a:hlinkClick r:id="R1199e600860840c8"/>
              </a:rPr>
              <a:t>Online explainer</a:t>
            </a:r>
          </a:p>
        </p:txBody>
      </p:sp>
      <p:sp>
        <p:nvSpPr>
          <p:cNvPr id="7" name="text-63">
            <a:extLst>
              <a:ext uri="{FF2B5EF4-FFF2-40B4-BE49-F238E27FC236}">
                <ns2:creationId id="{73545AE3-2A9A-44C9-8D09-99199A5CAF29}"/>
              </a:ext>
            </a:extLst>
          </p:cNvPr>
          <p:cNvSpPr>
            <a:spLocks noGrp="1"/>
          </p:cNvSpPr>
          <p:nvPr/>
        </p:nvSpPr>
        <p:spPr>
          <a:xfrm>
            <a:off x="4057650" y="6105525"/>
            <a:ext cx="7372350" cy="333375"/>
          </a:xfrm>
          <a:prstGeom prst="rect">
            <a:avLst/>
          </a:prstGeom>
          <a:noFill/>
          <a:ln w="0">
            <a:noFill/>
          </a:ln>
        </p:spPr>
        <p:txBody>
          <a:bodyPr wrap="square" lIns="0" tIns="0" rIns="0" bIns="0" anchor="t">
            <a:noAutofit/>
          </a:bodyPr>
          <a:lstStyle/>
          <a:p>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Original product images. No clinical response shown.</a:t>
            </a:r>
          </a:p>
        </p:txBody>
      </p:sp>
    </p:spTree>
    <p:extLst>
      <p:ext uri="{BB962C8B-B14F-4D97-AF65-F5344CB8AC3E}">
        <p14:creationId val="296166899"/>
      </p:ext>
    </p:extLst>
  </p:cSl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00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endCondLst>
                    <p:cond evt="onStopAudio" delay="0">
                      <p:tgtEl>
                        <p:sldTgt/>
                      </p:tgtEl>
                    </p:cond>
                  </p:endCondLst>
                </p:cTn>
                <p:tgtEl>
                  <p:spTgt spid="10"/>
                </p:tgtEl>
              </p:cMediaNode>
            </p:video>
          </p:childTnLst>
        </p:cTn>
      </p:par>
    </p:tnLst>
  </p:timing>
</p:sld>
</file>

<file path=ppt/slides/slide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EA991DE-77B4-4E08-BC05-095C0EDFA708}"/>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Which claim can the evidence carry?</a:t>
            </a:r>
          </a:p>
        </p:txBody>
      </p:sp>
      <p:sp>
        <p:nvSpPr>
          <p:cNvPr id="2" name="text-64">
            <a:extLst xmlns:a="http://schemas.openxmlformats.org/drawingml/2006/main">
              <a:ext uri="{FF2B5EF4-FFF2-40B4-BE49-F238E27FC236}">
                <a16:creationId xmlns:a16="http://schemas.microsoft.com/office/drawing/2014/main" id="{65508CD8-2819-4C5C-B58B-E8BF91771F8A}"/>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09</a:t>
            </a:r>
          </a:p>
        </p:txBody>
      </p:sp>
      <p:graphicFrame>
        <p:nvGraphicFramePr>
          <p:cNvPr id="11" name="Chart"/>
          <p:cNvGraphicFramePr/>
          <p:nvPr/>
        </p:nvGraphicFramePr>
        <p:xfrm>
          <a:off xmlns:a="http://schemas.openxmlformats.org/drawingml/2006/main" x="609600" y="1619250"/>
          <a:ext xmlns:a="http://schemas.openxmlformats.org/drawingml/2006/main" cx="7143750" cy="3857625"/>
        </p:xfrm>
        <a:graphic xmlns:a="http://schemas.openxmlformats.org/drawingml/2006/main">
          <a:graphicData uri="http://schemas.openxmlformats.org/drawingml/2006/chart">
            <c:chart xmlns:r="http://schemas.openxmlformats.org/officeDocument/2006/relationships" xmlns:c="http://schemas.openxmlformats.org/drawingml/2006/chart" r:id="Re527cf1e8f434231"/>
          </a:graphicData>
        </a:graphic>
      </p:graphicFrame>
      <p:sp>
        <p:nvSpPr>
          <p:cNvPr id="4" name="text-65">
            <a:extLst xmlns:a="http://schemas.openxmlformats.org/drawingml/2006/main">
              <a:ext uri="{FF2B5EF4-FFF2-40B4-BE49-F238E27FC236}">
                <a16:creationId xmlns:a16="http://schemas.microsoft.com/office/drawing/2014/main" id="{F4BE5AE4-9694-4DD1-BC48-595A11330C2B}"/>
              </a:ext>
            </a:extLst>
          </p:cNvPr>
          <p:cNvSpPr>
            <a:spLocks xmlns:a="http://schemas.openxmlformats.org/drawingml/2006/main" noGrp="1"/>
          </p:cNvSpPr>
          <p:nvPr/>
        </p:nvSpPr>
        <p:spPr>
          <a:xfrm xmlns:a="http://schemas.openxmlformats.org/drawingml/2006/main">
            <a:off x="8248650" y="1628775"/>
            <a:ext cx="33242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87F7C"/>
                </a:solidFill>
                <a:latin typeface="Nimbus Sans"/>
                <a:ea typeface="Nimbus Sans"/>
                <a:cs typeface="Nimbus Sans"/>
              </a:defRPr>
            </a:pPr>
            <a:r>
              <a:rPr sz="3900" b="1">
                <a:solidFill>
                  <a:srgbClr val="087F7C"/>
                </a:solidFill>
                <a:latin typeface="Nimbus Sans"/>
                <a:ea typeface="Nimbus Sans"/>
                <a:cs typeface="Nimbus Sans"/>
              </a:rPr>
              <a:t>40 vs 42</a:t>
            </a:r>
          </a:p>
        </p:txBody>
      </p:sp>
      <p:sp>
        <p:nvSpPr>
          <p:cNvPr id="5" name="text-66">
            <a:extLst xmlns:a="http://schemas.openxmlformats.org/drawingml/2006/main">
              <a:ext uri="{FF2B5EF4-FFF2-40B4-BE49-F238E27FC236}">
                <a16:creationId xmlns:a16="http://schemas.microsoft.com/office/drawing/2014/main" id="{36EC3D9D-6BB2-4844-85FE-F00BDAE7326C}"/>
              </a:ext>
            </a:extLst>
          </p:cNvPr>
          <p:cNvSpPr>
            <a:spLocks xmlns:a="http://schemas.openxmlformats.org/drawingml/2006/main" noGrp="1"/>
          </p:cNvSpPr>
          <p:nvPr/>
        </p:nvSpPr>
        <p:spPr>
          <a:xfrm xmlns:a="http://schemas.openxmlformats.org/drawingml/2006/main">
            <a:off x="8277225" y="2409825"/>
            <a:ext cx="30575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565"/>
                </a:solidFill>
                <a:latin typeface="Nimbus Sans"/>
                <a:ea typeface="Nimbus Sans"/>
                <a:cs typeface="Nimbus Sans"/>
              </a:defRPr>
            </a:pPr>
            <a:r>
              <a:rPr sz="2250" b="0">
                <a:solidFill>
                  <a:srgbClr val="526565"/>
                </a:solidFill>
                <a:latin typeface="Nimbus Sans"/>
                <a:ea typeface="Nimbus Sans"/>
                <a:cs typeface="Nimbus Sans"/>
              </a:rPr>
              <a:t>participants</a:t>
            </a:r>
          </a:p>
          <a:p xmlns:a="http://schemas.openxmlformats.org/drawingml/2006/main">
            <a:pPr algn="l">
              <a:defRPr sz="2250" b="0">
                <a:solidFill>
                  <a:srgbClr val="526565"/>
                </a:solidFill>
                <a:latin typeface="Nimbus Sans"/>
                <a:ea typeface="Nimbus Sans"/>
                <a:cs typeface="Nimbus Sans"/>
              </a:defRPr>
            </a:pPr>
            <a:r>
              <a:rPr sz="2250" b="0">
                <a:solidFill>
                  <a:srgbClr val="526565"/>
                </a:solidFill>
                <a:latin typeface="Nimbus Sans"/>
                <a:ea typeface="Nimbus Sans"/>
                <a:cs typeface="Nimbus Sans"/>
              </a:rPr>
              <a:t>45 days</a:t>
            </a:r>
          </a:p>
        </p:txBody>
      </p:sp>
      <p:sp>
        <p:nvSpPr>
          <p:cNvPr id="6" name="text-67">
            <a:extLst xmlns:a="http://schemas.openxmlformats.org/drawingml/2006/main">
              <a:ext uri="{FF2B5EF4-FFF2-40B4-BE49-F238E27FC236}">
                <a16:creationId xmlns:a16="http://schemas.microsoft.com/office/drawing/2014/main" id="{8DFE65C2-1FE7-4D4A-B884-71733783EC45}"/>
              </a:ext>
            </a:extLst>
          </p:cNvPr>
          <p:cNvSpPr>
            <a:spLocks xmlns:a="http://schemas.openxmlformats.org/drawingml/2006/main" noGrp="1"/>
          </p:cNvSpPr>
          <p:nvPr/>
        </p:nvSpPr>
        <p:spPr>
          <a:xfrm xmlns:a="http://schemas.openxmlformats.org/drawingml/2006/main">
            <a:off x="8248650" y="3838575"/>
            <a:ext cx="33623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23339"/>
                </a:solidFill>
                <a:latin typeface="Utopia"/>
                <a:ea typeface="Utopia"/>
                <a:cs typeface="Utopia"/>
              </a:defRPr>
            </a:pPr>
            <a:r>
              <a:rPr sz="3225" b="0">
                <a:solidFill>
                  <a:srgbClr val="123339"/>
                </a:solidFill>
                <a:latin typeface="Utopia"/>
                <a:ea typeface="Utopia"/>
                <a:cs typeface="Utopia"/>
              </a:rPr>
              <a:t>Pain improves.</a:t>
            </a:r>
          </a:p>
          <a:p xmlns:a="http://schemas.openxmlformats.org/drawingml/2006/main">
            <a:pPr algn="l">
              <a:defRPr sz="3225" b="0">
                <a:solidFill>
                  <a:srgbClr val="123339"/>
                </a:solidFill>
                <a:latin typeface="Utopia"/>
                <a:ea typeface="Utopia"/>
                <a:cs typeface="Utopia"/>
              </a:defRPr>
            </a:pPr>
            <a:r>
              <a:rPr sz="3225" b="0">
                <a:solidFill>
                  <a:srgbClr val="123339"/>
                </a:solidFill>
                <a:latin typeface="Utopia"/>
                <a:ea typeface="Utopia"/>
                <a:cs typeface="Utopia"/>
              </a:rPr>
              <a:t>Does cartilage</a:t>
            </a:r>
          </a:p>
          <a:p xmlns:a="http://schemas.openxmlformats.org/drawingml/2006/main">
            <a:pPr algn="l">
              <a:defRPr sz="3225" b="0">
                <a:solidFill>
                  <a:srgbClr val="123339"/>
                </a:solidFill>
                <a:latin typeface="Utopia"/>
                <a:ea typeface="Utopia"/>
                <a:cs typeface="Utopia"/>
              </a:defRPr>
            </a:pPr>
            <a:r>
              <a:rPr sz="3225" b="0">
                <a:solidFill>
                  <a:srgbClr val="123339"/>
                </a:solidFill>
                <a:latin typeface="Utopia"/>
                <a:ea typeface="Utopia"/>
                <a:cs typeface="Utopia"/>
              </a:rPr>
              <a:t>regrow?</a:t>
            </a:r>
          </a:p>
        </p:txBody>
      </p:sp>
      <p:sp>
        <p:nvSpPr>
          <p:cNvPr id="7" name="text-68">
            <a:extLst xmlns:a="http://schemas.openxmlformats.org/drawingml/2006/main">
              <a:ext uri="{FF2B5EF4-FFF2-40B4-BE49-F238E27FC236}">
                <a16:creationId xmlns:a16="http://schemas.microsoft.com/office/drawing/2014/main" id="{B4A68BFC-224D-498B-A8C1-1B5B3E092AC5}"/>
              </a:ext>
            </a:extLst>
          </p:cNvPr>
          <p:cNvSpPr>
            <a:spLocks xmlns:a="http://schemas.openxmlformats.org/drawingml/2006/main" noGrp="1"/>
          </p:cNvSpPr>
          <p:nvPr/>
        </p:nvSpPr>
        <p:spPr>
          <a:xfrm xmlns:a="http://schemas.openxmlformats.org/drawingml/2006/main">
            <a:off x="609600" y="5667375"/>
            <a:ext cx="10915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65"/>
                </a:solidFill>
                <a:latin typeface="Nimbus Sans"/>
                <a:ea typeface="Nimbus Sans"/>
                <a:cs typeface="Nimbus Sans"/>
              </a:defRPr>
            </a:pPr>
            <a:r>
              <a:rPr sz="1800" b="0">
                <a:solidFill>
                  <a:srgbClr val="526565"/>
                </a:solidFill>
                <a:latin typeface="Nimbus Sans"/>
                <a:ea typeface="Nimbus Sans"/>
                <a:cs typeface="Nimbus Sans"/>
              </a:rPr>
              <a:t>Company-reported comparative study. Rounded relative changes from baseline.</a:t>
            </a:r>
          </a:p>
        </p:txBody>
      </p:sp>
      <p:sp>
        <p:nvSpPr>
          <p:cNvPr id="8" name="text-69">
            <a:extLst xmlns:a="http://schemas.openxmlformats.org/drawingml/2006/main">
              <a:ext uri="{FF2B5EF4-FFF2-40B4-BE49-F238E27FC236}">
                <a16:creationId xmlns:a16="http://schemas.microsoft.com/office/drawing/2014/main" id="{5D507FAE-D15E-49CE-BCA8-211A6076B162}"/>
              </a:ext>
            </a:extLst>
          </p:cNvPr>
          <p:cNvSpPr>
            <a:spLocks xmlns:a="http://schemas.openxmlformats.org/drawingml/2006/main" noGrp="1"/>
          </p:cNvSpPr>
          <p:nvPr/>
        </p:nvSpPr>
        <p:spPr>
          <a:xfrm xmlns:a="http://schemas.openxmlformats.org/drawingml/2006/main">
            <a:off x="609600" y="6124575"/>
            <a:ext cx="10915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04943"/>
                </a:solidFill>
                <a:latin typeface="Nimbus Sans"/>
                <a:ea typeface="Nimbus Sans"/>
                <a:cs typeface="Nimbus Sans"/>
              </a:defRPr>
            </a:pPr>
            <a:r>
              <a:rPr sz="2025" b="1">
                <a:solidFill>
                  <a:srgbClr val="A04943"/>
                </a:solidFill>
                <a:latin typeface="Nimbus Sans"/>
                <a:ea typeface="Nimbus Sans"/>
                <a:cs typeface="Nimbus Sans"/>
              </a:rPr>
              <a:t>These results do not establish cartilage regeneration.</a:t>
            </a:r>
          </a:p>
        </p:txBody>
      </p:sp>
    </p:spTree>
    <p:extLst>
      <p:ext uri="{BB962C8B-B14F-4D97-AF65-F5344CB8AC3E}">
        <p14:creationId xmlns:p14="http://schemas.microsoft.com/office/powerpoint/2010/main" val="170202150"/>
      </p:ext>
    </p:extLst>
  </p:cSld>
</p:sld>
</file>

<file path=ppt/slides/slide1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C100E6B-E315-4A70-B4C5-4ABC89056419}"/>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An average can hide a patient</a:t>
            </a:r>
          </a:p>
        </p:txBody>
      </p:sp>
      <p:sp>
        <p:nvSpPr>
          <p:cNvPr id="2" name="text-70">
            <a:extLst xmlns:a="http://schemas.openxmlformats.org/drawingml/2006/main">
              <a:ext uri="{FF2B5EF4-FFF2-40B4-BE49-F238E27FC236}">
                <a16:creationId xmlns:a16="http://schemas.microsoft.com/office/drawing/2014/main" id="{694E7BB2-38F4-4CA2-A4CB-D99C217E1975}"/>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10</a:t>
            </a:r>
          </a:p>
        </p:txBody>
      </p:sp>
      <p:graphicFrame>
        <p:nvGraphicFramePr>
          <p:cNvPr id="11" name="Chart"/>
          <p:cNvGraphicFramePr/>
          <p:nvPr/>
        </p:nvGraphicFramePr>
        <p:xfrm>
          <a:off xmlns:a="http://schemas.openxmlformats.org/drawingml/2006/main" x="609600" y="1619250"/>
          <a:ext xmlns:a="http://schemas.openxmlformats.org/drawingml/2006/main" cx="7143750" cy="3857625"/>
        </p:xfrm>
        <a:graphic xmlns:a="http://schemas.openxmlformats.org/drawingml/2006/main">
          <a:graphicData uri="http://schemas.openxmlformats.org/drawingml/2006/chart">
            <c:chart xmlns:r="http://schemas.openxmlformats.org/officeDocument/2006/relationships" xmlns:c="http://schemas.openxmlformats.org/drawingml/2006/chart" r:id="R463ab78da2aa47a3"/>
          </a:graphicData>
        </a:graphic>
      </p:graphicFrame>
      <p:sp>
        <p:nvSpPr>
          <p:cNvPr id="4" name="text-71">
            <a:extLst xmlns:a="http://schemas.openxmlformats.org/drawingml/2006/main">
              <a:ext uri="{FF2B5EF4-FFF2-40B4-BE49-F238E27FC236}">
                <a16:creationId xmlns:a16="http://schemas.microsoft.com/office/drawing/2014/main" id="{E7A28A44-FA14-4C85-8DF4-BF8C2765F1F3}"/>
              </a:ext>
            </a:extLst>
          </p:cNvPr>
          <p:cNvSpPr>
            <a:spLocks xmlns:a="http://schemas.openxmlformats.org/drawingml/2006/main" noGrp="1"/>
          </p:cNvSpPr>
          <p:nvPr/>
        </p:nvSpPr>
        <p:spPr>
          <a:xfrm xmlns:a="http://schemas.openxmlformats.org/drawingml/2006/main">
            <a:off x="8305800" y="1828800"/>
            <a:ext cx="3248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087F7C"/>
                </a:solidFill>
                <a:latin typeface="Nimbus Sans"/>
                <a:ea typeface="Nimbus Sans"/>
                <a:cs typeface="Nimbus Sans"/>
              </a:defRPr>
            </a:pPr>
            <a:r>
              <a:rPr sz="3975" b="1">
                <a:solidFill>
                  <a:srgbClr val="087F7C"/>
                </a:solidFill>
                <a:latin typeface="Nimbus Sans"/>
                <a:ea typeface="Nimbus Sans"/>
                <a:cs typeface="Nimbus Sans"/>
              </a:rPr>
              <a:t>92–96%</a:t>
            </a:r>
          </a:p>
        </p:txBody>
      </p:sp>
      <p:sp>
        <p:nvSpPr>
          <p:cNvPr id="5" name="text-72">
            <a:extLst xmlns:a="http://schemas.openxmlformats.org/drawingml/2006/main">
              <a:ext uri="{FF2B5EF4-FFF2-40B4-BE49-F238E27FC236}">
                <a16:creationId xmlns:a16="http://schemas.microsoft.com/office/drawing/2014/main" id="{6D7D6968-7562-48D0-9FB8-73DA7267DAD6}"/>
              </a:ext>
            </a:extLst>
          </p:cNvPr>
          <p:cNvSpPr>
            <a:spLocks xmlns:a="http://schemas.openxmlformats.org/drawingml/2006/main" noGrp="1"/>
          </p:cNvSpPr>
          <p:nvPr/>
        </p:nvSpPr>
        <p:spPr>
          <a:xfrm xmlns:a="http://schemas.openxmlformats.org/drawingml/2006/main">
            <a:off x="8324850" y="2647950"/>
            <a:ext cx="30765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565"/>
                </a:solidFill>
                <a:latin typeface="Nimbus Sans"/>
                <a:ea typeface="Nimbus Sans"/>
                <a:cs typeface="Nimbus Sans"/>
              </a:defRPr>
            </a:pPr>
            <a:r>
              <a:rPr sz="2250" b="0">
                <a:solidFill>
                  <a:srgbClr val="526565"/>
                </a:solidFill>
                <a:latin typeface="Nimbus Sans"/>
                <a:ea typeface="Nimbus Sans"/>
                <a:cs typeface="Nimbus Sans"/>
              </a:rPr>
              <a:t>Pulse-oximeter</a:t>
            </a:r>
          </a:p>
          <a:p xmlns:a="http://schemas.openxmlformats.org/drawingml/2006/main">
            <a:pPr algn="l">
              <a:defRPr sz="2250" b="0">
                <a:solidFill>
                  <a:srgbClr val="526565"/>
                </a:solidFill>
                <a:latin typeface="Nimbus Sans"/>
                <a:ea typeface="Nimbus Sans"/>
                <a:cs typeface="Nimbus Sans"/>
              </a:defRPr>
            </a:pPr>
            <a:r>
              <a:rPr sz="2250" b="0">
                <a:solidFill>
                  <a:srgbClr val="526565"/>
                </a:solidFill>
                <a:latin typeface="Nimbus Sans"/>
                <a:ea typeface="Nimbus Sans"/>
                <a:cs typeface="Nimbus Sans"/>
              </a:rPr>
              <a:t>reading</a:t>
            </a:r>
          </a:p>
        </p:txBody>
      </p:sp>
      <p:sp>
        <p:nvSpPr>
          <p:cNvPr id="6" name="text-73">
            <a:extLst xmlns:a="http://schemas.openxmlformats.org/drawingml/2006/main">
              <a:ext uri="{FF2B5EF4-FFF2-40B4-BE49-F238E27FC236}">
                <a16:creationId xmlns:a16="http://schemas.microsoft.com/office/drawing/2014/main" id="{F725E6EC-DAFC-4D56-8D00-705B75CE0925}"/>
              </a:ext>
            </a:extLst>
          </p:cNvPr>
          <p:cNvSpPr>
            <a:spLocks xmlns:a="http://schemas.openxmlformats.org/drawingml/2006/main" noGrp="1"/>
          </p:cNvSpPr>
          <p:nvPr/>
        </p:nvSpPr>
        <p:spPr>
          <a:xfrm xmlns:a="http://schemas.openxmlformats.org/drawingml/2006/main">
            <a:off x="8305800" y="4010025"/>
            <a:ext cx="333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23339"/>
                </a:solidFill>
                <a:latin typeface="Utopia"/>
                <a:ea typeface="Utopia"/>
                <a:cs typeface="Utopia"/>
              </a:defRPr>
            </a:pPr>
            <a:r>
              <a:rPr sz="2925" b="0">
                <a:solidFill>
                  <a:srgbClr val="123339"/>
                </a:solidFill>
                <a:latin typeface="Utopia"/>
                <a:ea typeface="Utopia"/>
                <a:cs typeface="Utopia"/>
              </a:rPr>
              <a:t>Yet arterial</a:t>
            </a:r>
          </a:p>
          <a:p xmlns:a="http://schemas.openxmlformats.org/drawingml/2006/main">
            <a:pPr algn="l">
              <a:defRPr sz="2925" b="0">
                <a:solidFill>
                  <a:srgbClr val="123339"/>
                </a:solidFill>
                <a:latin typeface="Utopia"/>
                <a:ea typeface="Utopia"/>
                <a:cs typeface="Utopia"/>
              </a:defRPr>
            </a:pPr>
            <a:r>
              <a:rPr sz="2925" b="0">
                <a:solidFill>
                  <a:srgbClr val="123339"/>
                </a:solidFill>
                <a:latin typeface="Utopia"/>
                <a:ea typeface="Utopia"/>
                <a:cs typeface="Utopia"/>
              </a:rPr>
              <a:t>SaO₂ &lt; 88%</a:t>
            </a:r>
          </a:p>
        </p:txBody>
      </p:sp>
      <p:sp>
        <p:nvSpPr>
          <p:cNvPr id="7" name="text-74">
            <a:extLst xmlns:a="http://schemas.openxmlformats.org/drawingml/2006/main">
              <a:ext uri="{FF2B5EF4-FFF2-40B4-BE49-F238E27FC236}">
                <a16:creationId xmlns:a16="http://schemas.microsoft.com/office/drawing/2014/main" id="{D0352986-7D80-438A-9A82-9C050F713C20}"/>
              </a:ext>
            </a:extLst>
          </p:cNvPr>
          <p:cNvSpPr>
            <a:spLocks xmlns:a="http://schemas.openxmlformats.org/drawingml/2006/main" noGrp="1"/>
          </p:cNvSpPr>
          <p:nvPr/>
        </p:nvSpPr>
        <p:spPr>
          <a:xfrm xmlns:a="http://schemas.openxmlformats.org/drawingml/2006/main">
            <a:off x="609600" y="5715000"/>
            <a:ext cx="10829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65"/>
                </a:solidFill>
                <a:latin typeface="Nimbus Sans"/>
                <a:ea typeface="Nimbus Sans"/>
                <a:cs typeface="Nimbus Sans"/>
              </a:defRPr>
            </a:pPr>
            <a:r>
              <a:rPr sz="1800" b="0">
                <a:solidFill>
                  <a:srgbClr val="526565"/>
                </a:solidFill>
                <a:latin typeface="Nimbus Sans"/>
                <a:ea typeface="Nimbus Sans"/>
                <a:cs typeface="Nimbus Sans"/>
              </a:rPr>
              <a:t>Michigan cohort: 88/749 vs 99/2,778 qualifying paired measurements.</a:t>
            </a:r>
          </a:p>
        </p:txBody>
      </p:sp>
      <p:sp>
        <p:nvSpPr>
          <p:cNvPr id="8" name="text-75">
            <a:extLst xmlns:a="http://schemas.openxmlformats.org/drawingml/2006/main">
              <a:ext uri="{FF2B5EF4-FFF2-40B4-BE49-F238E27FC236}">
                <a16:creationId xmlns:a16="http://schemas.microsoft.com/office/drawing/2014/main" id="{D14E9B07-EDBC-4E5C-ADF3-4F7182D1A898}"/>
              </a:ext>
            </a:extLst>
          </p:cNvPr>
          <p:cNvSpPr>
            <a:spLocks xmlns:a="http://schemas.openxmlformats.org/drawingml/2006/main" noGrp="1"/>
          </p:cNvSpPr>
          <p:nvPr/>
        </p:nvSpPr>
        <p:spPr>
          <a:xfrm xmlns:a="http://schemas.openxmlformats.org/drawingml/2006/main">
            <a:off x="609600" y="6124575"/>
            <a:ext cx="108299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Recorded race. Observational study. Sjoding et al., NEJM 2020.</a:t>
            </a:r>
          </a:p>
        </p:txBody>
      </p:sp>
    </p:spTree>
    <p:extLst>
      <p:ext uri="{BB962C8B-B14F-4D97-AF65-F5344CB8AC3E}">
        <p14:creationId xmlns:p14="http://schemas.microsoft.com/office/powerpoint/2010/main" val="624991869"/>
      </p:ext>
    </p:extLst>
  </p:cSld>
</p:sld>
</file>

<file path=ppt/slides/slide11.xml><?xml version="1.0" encoding="utf-8"?>
<p:sld xmlns:p="http://schemas.openxmlformats.org/presentationml/2006/main">
  <p:cSld>
    <p:bg>
      <p:bgPr>
        <a:solidFill xmlns:a="http://schemas.openxmlformats.org/drawingml/2006/main">
          <a:srgbClr val="102E34"/>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70FBF035-AA24-4148-8BBB-09C748013049}"/>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Can a patient comfortably say no?</a:t>
            </a:r>
          </a:p>
        </p:txBody>
      </p:sp>
      <p:sp>
        <p:nvSpPr>
          <p:cNvPr id="2" name="text-76">
            <a:extLst xmlns:a="http://schemas.openxmlformats.org/drawingml/2006/main">
              <a:ext uri="{FF2B5EF4-FFF2-40B4-BE49-F238E27FC236}">
                <a16:creationId xmlns:a16="http://schemas.microsoft.com/office/drawing/2014/main" id="{A8D63873-1ED7-4BE5-B6E9-BCB2051E3CD7}"/>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A7C8C7"/>
                </a:solidFill>
                <a:latin typeface="Nimbus Sans"/>
                <a:ea typeface="Nimbus Sans"/>
                <a:cs typeface="Nimbus Sans"/>
              </a:defRPr>
            </a:pPr>
            <a:r>
              <a:rPr sz="1350" b="0">
                <a:solidFill>
                  <a:srgbClr val="A7C8C7"/>
                </a:solidFill>
                <a:latin typeface="Nimbus Sans"/>
                <a:ea typeface="Nimbus Sans"/>
                <a:cs typeface="Nimbus Sans"/>
              </a:rPr>
              <a:t>11</a:t>
            </a:r>
          </a:p>
        </p:txBody>
      </p:sp>
      <p:sp>
        <p:nvSpPr>
          <p:cNvPr id="3" name="text-77">
            <a:extLst xmlns:a="http://schemas.openxmlformats.org/drawingml/2006/main">
              <a:ext uri="{FF2B5EF4-FFF2-40B4-BE49-F238E27FC236}">
                <a16:creationId xmlns:a16="http://schemas.microsoft.com/office/drawing/2014/main" id="{0FC29421-EE57-4ADB-83B9-39ED3018593D}"/>
              </a:ext>
            </a:extLst>
          </p:cNvPr>
          <p:cNvSpPr>
            <a:spLocks xmlns:a="http://schemas.openxmlformats.org/drawingml/2006/main" noGrp="1"/>
          </p:cNvSpPr>
          <p:nvPr/>
        </p:nvSpPr>
        <p:spPr>
          <a:xfrm xmlns:a="http://schemas.openxmlformats.org/drawingml/2006/main">
            <a:off x="657225" y="1714500"/>
            <a:ext cx="10477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75" b="0">
                <a:solidFill>
                  <a:srgbClr val="FFFFFF"/>
                </a:solidFill>
                <a:latin typeface="Utopia"/>
                <a:ea typeface="Utopia"/>
                <a:cs typeface="Utopia"/>
              </a:defRPr>
            </a:pPr>
            <a:r>
              <a:rPr sz="4575" b="0">
                <a:solidFill>
                  <a:srgbClr val="FFFFFF"/>
                </a:solidFill>
                <a:latin typeface="Utopia"/>
                <a:ea typeface="Utopia"/>
                <a:cs typeface="Utopia"/>
              </a:rPr>
              <a:t>“My treating doctor</a:t>
            </a:r>
          </a:p>
          <a:p xmlns:a="http://schemas.openxmlformats.org/drawingml/2006/main">
            <a:pPr algn="l">
              <a:defRPr sz="4575" b="0">
                <a:solidFill>
                  <a:srgbClr val="FFFFFF"/>
                </a:solidFill>
                <a:latin typeface="Utopia"/>
                <a:ea typeface="Utopia"/>
                <a:cs typeface="Utopia"/>
              </a:defRPr>
            </a:pPr>
            <a:r>
              <a:rPr sz="4575" b="0">
                <a:solidFill>
                  <a:srgbClr val="FFFFFF"/>
                </a:solidFill>
                <a:latin typeface="Utopia"/>
                <a:ea typeface="Utopia"/>
                <a:cs typeface="Utopia"/>
              </a:rPr>
              <a:t>is also the inventor.”</a:t>
            </a:r>
          </a:p>
        </p:txBody>
      </p:sp>
      <p:sp>
        <p:nvSpPr>
          <p:cNvPr id="4" name="text-78">
            <a:extLst xmlns:a="http://schemas.openxmlformats.org/drawingml/2006/main">
              <a:ext uri="{FF2B5EF4-FFF2-40B4-BE49-F238E27FC236}">
                <a16:creationId xmlns:a16="http://schemas.microsoft.com/office/drawing/2014/main" id="{1AFB165F-ADEE-4258-9840-070F364A05D9}"/>
              </a:ext>
            </a:extLst>
          </p:cNvPr>
          <p:cNvSpPr>
            <a:spLocks xmlns:a="http://schemas.openxmlformats.org/drawingml/2006/main" noGrp="1"/>
          </p:cNvSpPr>
          <p:nvPr/>
        </p:nvSpPr>
        <p:spPr>
          <a:xfrm xmlns:a="http://schemas.openxmlformats.org/drawingml/2006/main">
            <a:off x="666750" y="3609975"/>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9DDAD5"/>
                </a:solidFill>
                <a:latin typeface="Nimbus Sans"/>
                <a:ea typeface="Nimbus Sans"/>
                <a:cs typeface="Nimbus Sans"/>
              </a:defRPr>
            </a:pPr>
            <a:r>
              <a:rPr sz="3000" b="0">
                <a:solidFill>
                  <a:srgbClr val="9DDAD5"/>
                </a:solidFill>
                <a:latin typeface="Nimbus Sans"/>
                <a:ea typeface="Nimbus Sans"/>
                <a:cs typeface="Nimbus Sans"/>
              </a:rPr>
              <a:t>Can refusal change my care?</a:t>
            </a:r>
          </a:p>
        </p:txBody>
      </p:sp>
      <p:sp>
        <p:nvSpPr>
          <p:cNvPr id="5" name="text-79">
            <a:extLst xmlns:a="http://schemas.openxmlformats.org/drawingml/2006/main">
              <a:ext uri="{FF2B5EF4-FFF2-40B4-BE49-F238E27FC236}">
                <a16:creationId xmlns:a16="http://schemas.microsoft.com/office/drawing/2014/main" id="{8979C205-4931-410F-82EC-F81FF1E0CB9C}"/>
              </a:ext>
            </a:extLst>
          </p:cNvPr>
          <p:cNvSpPr>
            <a:spLocks xmlns:a="http://schemas.openxmlformats.org/drawingml/2006/main" noGrp="1"/>
          </p:cNvSpPr>
          <p:nvPr/>
        </p:nvSpPr>
        <p:spPr>
          <a:xfrm xmlns:a="http://schemas.openxmlformats.org/drawingml/2006/main">
            <a:off x="666750" y="4829175"/>
            <a:ext cx="327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FFFFFF"/>
                </a:solidFill>
                <a:latin typeface="Nimbus Sans"/>
                <a:ea typeface="Nimbus Sans"/>
                <a:cs typeface="Nimbus Sans"/>
              </a:defRPr>
            </a:pPr>
            <a:r>
              <a:rPr sz="2625" b="1">
                <a:solidFill>
                  <a:srgbClr val="FFFFFF"/>
                </a:solidFill>
                <a:latin typeface="Nimbus Sans"/>
                <a:ea typeface="Nimbus Sans"/>
                <a:cs typeface="Nimbus Sans"/>
              </a:rPr>
              <a:t>Care</a:t>
            </a:r>
          </a:p>
        </p:txBody>
      </p:sp>
      <p:sp>
        <p:nvSpPr>
          <p:cNvPr id="6" name="">
            <a:extLst xmlns:a="http://schemas.openxmlformats.org/drawingml/2006/main">
              <a:ext uri="{FF2B5EF4-FFF2-40B4-BE49-F238E27FC236}">
                <a16:creationId xmlns:a16="http://schemas.microsoft.com/office/drawing/2014/main" id="{3E0A057D-9468-41BC-A919-B23C79E75147}"/>
              </a:ext>
            </a:extLst>
          </p:cNvPr>
          <p:cNvSpPr>
            <a:spLocks xmlns:a="http://schemas.openxmlformats.org/drawingml/2006/main" noGrp="1"/>
          </p:cNvSpPr>
          <p:nvPr/>
        </p:nvSpPr>
        <p:spPr>
          <a:xfrm xmlns:a="http://schemas.openxmlformats.org/drawingml/2006/main">
            <a:off x="666750" y="5524500"/>
            <a:ext cx="3171825" cy="0"/>
          </a:xfrm>
          <a:prstGeom xmlns:a="http://schemas.openxmlformats.org/drawingml/2006/main" prst="line">
            <a:avLst/>
          </a:prstGeom>
          <a:noFill xmlns:a="http://schemas.openxmlformats.org/drawingml/2006/main"/>
          <a:ln xmlns:a="http://schemas.openxmlformats.org/drawingml/2006/main" w="19050">
            <a:solidFill>
              <a:srgbClr val="467275"/>
            </a:solidFill>
          </a:ln>
        </p:spPr>
      </p:sp>
      <p:sp>
        <p:nvSpPr>
          <p:cNvPr id="7" name="text-80">
            <a:extLst xmlns:a="http://schemas.openxmlformats.org/drawingml/2006/main">
              <a:ext uri="{FF2B5EF4-FFF2-40B4-BE49-F238E27FC236}">
                <a16:creationId xmlns:a16="http://schemas.microsoft.com/office/drawing/2014/main" id="{77A513F2-DB09-46DA-8BBE-26F62F0CF005}"/>
              </a:ext>
            </a:extLst>
          </p:cNvPr>
          <p:cNvSpPr>
            <a:spLocks xmlns:a="http://schemas.openxmlformats.org/drawingml/2006/main" noGrp="1"/>
          </p:cNvSpPr>
          <p:nvPr/>
        </p:nvSpPr>
        <p:spPr>
          <a:xfrm xmlns:a="http://schemas.openxmlformats.org/drawingml/2006/main">
            <a:off x="4391025" y="4829175"/>
            <a:ext cx="327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FFFFFF"/>
                </a:solidFill>
                <a:latin typeface="Nimbus Sans"/>
                <a:ea typeface="Nimbus Sans"/>
                <a:cs typeface="Nimbus Sans"/>
              </a:defRPr>
            </a:pPr>
            <a:r>
              <a:rPr sz="2625" b="1">
                <a:solidFill>
                  <a:srgbClr val="FFFFFF"/>
                </a:solidFill>
                <a:latin typeface="Nimbus Sans"/>
                <a:ea typeface="Nimbus Sans"/>
                <a:cs typeface="Nimbus Sans"/>
              </a:rPr>
              <a:t>Research</a:t>
            </a:r>
          </a:p>
        </p:txBody>
      </p:sp>
      <p:sp>
        <p:nvSpPr>
          <p:cNvPr id="8" name="">
            <a:extLst xmlns:a="http://schemas.openxmlformats.org/drawingml/2006/main">
              <a:ext uri="{FF2B5EF4-FFF2-40B4-BE49-F238E27FC236}">
                <a16:creationId xmlns:a16="http://schemas.microsoft.com/office/drawing/2014/main" id="{3AEF48CC-BF3B-43E1-8DAE-88845D854D49}"/>
              </a:ext>
            </a:extLst>
          </p:cNvPr>
          <p:cNvSpPr>
            <a:spLocks xmlns:a="http://schemas.openxmlformats.org/drawingml/2006/main" noGrp="1"/>
          </p:cNvSpPr>
          <p:nvPr/>
        </p:nvSpPr>
        <p:spPr>
          <a:xfrm xmlns:a="http://schemas.openxmlformats.org/drawingml/2006/main">
            <a:off x="4391025" y="5524500"/>
            <a:ext cx="3171825" cy="0"/>
          </a:xfrm>
          <a:prstGeom xmlns:a="http://schemas.openxmlformats.org/drawingml/2006/main" prst="line">
            <a:avLst/>
          </a:prstGeom>
          <a:noFill xmlns:a="http://schemas.openxmlformats.org/drawingml/2006/main"/>
          <a:ln xmlns:a="http://schemas.openxmlformats.org/drawingml/2006/main" w="19050">
            <a:solidFill>
              <a:srgbClr val="467275"/>
            </a:solidFill>
          </a:ln>
        </p:spPr>
      </p:sp>
      <p:sp>
        <p:nvSpPr>
          <p:cNvPr id="9" name="text-81">
            <a:extLst xmlns:a="http://schemas.openxmlformats.org/drawingml/2006/main">
              <a:ext uri="{FF2B5EF4-FFF2-40B4-BE49-F238E27FC236}">
                <a16:creationId xmlns:a16="http://schemas.microsoft.com/office/drawing/2014/main" id="{3D2FDFA8-1988-490A-85C4-71F1C72E387F}"/>
              </a:ext>
            </a:extLst>
          </p:cNvPr>
          <p:cNvSpPr>
            <a:spLocks xmlns:a="http://schemas.openxmlformats.org/drawingml/2006/main" noGrp="1"/>
          </p:cNvSpPr>
          <p:nvPr/>
        </p:nvSpPr>
        <p:spPr>
          <a:xfrm xmlns:a="http://schemas.openxmlformats.org/drawingml/2006/main">
            <a:off x="8115300" y="4829175"/>
            <a:ext cx="327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FFFFFF"/>
                </a:solidFill>
                <a:latin typeface="Nimbus Sans"/>
                <a:ea typeface="Nimbus Sans"/>
                <a:cs typeface="Nimbus Sans"/>
              </a:defRPr>
            </a:pPr>
            <a:r>
              <a:rPr sz="2625" b="1">
                <a:solidFill>
                  <a:srgbClr val="FFFFFF"/>
                </a:solidFill>
                <a:latin typeface="Nimbus Sans"/>
                <a:ea typeface="Nimbus Sans"/>
                <a:cs typeface="Nimbus Sans"/>
              </a:rPr>
              <a:t>Filming</a:t>
            </a:r>
          </a:p>
        </p:txBody>
      </p:sp>
      <p:sp>
        <p:nvSpPr>
          <p:cNvPr id="10" name="">
            <a:extLst xmlns:a="http://schemas.openxmlformats.org/drawingml/2006/main">
              <a:ext uri="{FF2B5EF4-FFF2-40B4-BE49-F238E27FC236}">
                <a16:creationId xmlns:a16="http://schemas.microsoft.com/office/drawing/2014/main" id="{FF633514-749A-4703-9040-09F4E7DEE0BA}"/>
              </a:ext>
            </a:extLst>
          </p:cNvPr>
          <p:cNvSpPr>
            <a:spLocks xmlns:a="http://schemas.openxmlformats.org/drawingml/2006/main" noGrp="1"/>
          </p:cNvSpPr>
          <p:nvPr/>
        </p:nvSpPr>
        <p:spPr>
          <a:xfrm xmlns:a="http://schemas.openxmlformats.org/drawingml/2006/main">
            <a:off x="8115300" y="5524500"/>
            <a:ext cx="3171825" cy="0"/>
          </a:xfrm>
          <a:prstGeom xmlns:a="http://schemas.openxmlformats.org/drawingml/2006/main" prst="line">
            <a:avLst/>
          </a:prstGeom>
          <a:noFill xmlns:a="http://schemas.openxmlformats.org/drawingml/2006/main"/>
          <a:ln xmlns:a="http://schemas.openxmlformats.org/drawingml/2006/main" w="19050">
            <a:solidFill>
              <a:srgbClr val="467275"/>
            </a:solidFill>
          </a:ln>
        </p:spPr>
      </p:sp>
      <p:sp>
        <p:nvSpPr>
          <p:cNvPr id="11" name="text-82">
            <a:extLst xmlns:a="http://schemas.openxmlformats.org/drawingml/2006/main">
              <a:ext uri="{FF2B5EF4-FFF2-40B4-BE49-F238E27FC236}">
                <a16:creationId xmlns:a16="http://schemas.microsoft.com/office/drawing/2014/main" id="{62564259-2288-4637-9E60-7A0449392420}"/>
              </a:ext>
            </a:extLst>
          </p:cNvPr>
          <p:cNvSpPr>
            <a:spLocks xmlns:a="http://schemas.openxmlformats.org/drawingml/2006/main" noGrp="1"/>
          </p:cNvSpPr>
          <p:nvPr/>
        </p:nvSpPr>
        <p:spPr>
          <a:xfrm xmlns:a="http://schemas.openxmlformats.org/drawingml/2006/main">
            <a:off x="609600" y="60674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A7C8C7"/>
                </a:solidFill>
                <a:latin typeface="Nimbus Sans"/>
                <a:ea typeface="Nimbus Sans"/>
                <a:cs typeface="Nimbus Sans"/>
              </a:defRPr>
            </a:pPr>
            <a:r>
              <a:rPr sz="1650" b="0">
                <a:solidFill>
                  <a:srgbClr val="A7C8C7"/>
                </a:solidFill>
                <a:latin typeface="Nimbus Sans"/>
                <a:ea typeface="Nimbus Sans"/>
                <a:cs typeface="Nimbus Sans"/>
              </a:rPr>
              <a:t>Hypothetical vignette. The choices need separate, understandable explanations.</a:t>
            </a:r>
          </a:p>
        </p:txBody>
      </p:sp>
    </p:spTree>
    <p:extLst>
      <p:ext uri="{BB962C8B-B14F-4D97-AF65-F5344CB8AC3E}">
        <p14:creationId xmlns:p14="http://schemas.microsoft.com/office/powerpoint/2010/main" val="1030159651"/>
      </p:ext>
    </p:extLst>
  </p:cSld>
</p:sld>
</file>

<file path=ppt/slides/slide1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78B2ED8-4F8C-4C2D-829D-42C4B64046EB}"/>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Different permissions answer different questions</a:t>
            </a:r>
          </a:p>
        </p:txBody>
      </p:sp>
      <p:sp>
        <p:nvSpPr>
          <p:cNvPr id="2" name="text-83">
            <a:extLst xmlns:a="http://schemas.openxmlformats.org/drawingml/2006/main">
              <a:ext uri="{FF2B5EF4-FFF2-40B4-BE49-F238E27FC236}">
                <a16:creationId xmlns:a16="http://schemas.microsoft.com/office/drawing/2014/main" id="{95B69264-5172-4024-B934-3FEFDC043054}"/>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12</a:t>
            </a:r>
          </a:p>
        </p:txBody>
      </p:sp>
      <p:graphicFrame>
        <p:nvGraphicFramePr>
          <p:cNvPr id="8" name=""/>
          <p:cNvGraphicFramePr/>
          <p:nvPr/>
        </p:nvGraphicFramePr>
        <p:xfrm>
          <a:off xmlns:a="http://schemas.openxmlformats.org/drawingml/2006/main" x="609600" y="1762125"/>
          <a:ext xmlns:a="http://schemas.openxmlformats.org/drawingml/2006/main" cx="10972800" cy="3362325"/>
        </p:xfrm>
        <a:graphic xmlns:a="http://schemas.openxmlformats.org/drawingml/2006/main">
          <a:graphicData uri="http://schemas.openxmlformats.org/drawingml/2006/table">
            <a:tbl>
              <a:tblPr/>
              <a:tblGrid>
                <a:gridCol w="3000375"/>
                <a:gridCol w="4000500"/>
                <a:gridCol w="3971925"/>
              </a:tblGrid>
              <a:tr h="840581">
                <a:tc>
                  <a:txBody>
                    <a:bodyPr/>
                    <a:lstStyle/>
                    <a:p>
                      <a:r>
                        <a:rPr sz="1950" b="1">
                          <a:solidFill>
                            <a:srgbClr val="FFFFFF"/>
                          </a:solidFill>
                          <a:latin typeface="Nimbus Sans"/>
                          <a:ea typeface="Nimbus Sans"/>
                          <a:cs typeface="Nimbus Sans"/>
                        </a:rPr>
                        <a:t>Purpose</a:t>
                      </a:r>
                    </a:p>
                  </a:txBody>
                  <a:tcPr marL="142875" marR="142875" marT="142875" marB="142875" anchor="ctr">
                    <a:solidFill>
                      <a:srgbClr val="102E34"/>
                    </a:solidFill>
                  </a:tcPr>
                </a:tc>
                <a:tc>
                  <a:txBody>
                    <a:bodyPr/>
                    <a:lstStyle/>
                    <a:p>
                      <a:r>
                        <a:rPr sz="1950" b="1">
                          <a:solidFill>
                            <a:srgbClr val="FFFFFF"/>
                          </a:solidFill>
                          <a:latin typeface="Nimbus Sans"/>
                          <a:ea typeface="Nimbus Sans"/>
                          <a:cs typeface="Nimbus Sans"/>
                        </a:rPr>
                        <a:t>Question</a:t>
                      </a:r>
                    </a:p>
                  </a:txBody>
                  <a:tcPr marL="142875" marR="142875" marT="142875" marB="142875" anchor="ctr">
                    <a:solidFill>
                      <a:srgbClr val="102E34"/>
                    </a:solidFill>
                  </a:tcPr>
                </a:tc>
                <a:tc>
                  <a:txBody>
                    <a:bodyPr/>
                    <a:lstStyle/>
                    <a:p>
                      <a:r>
                        <a:rPr sz="1950" b="1">
                          <a:solidFill>
                            <a:srgbClr val="FFFFFF"/>
                          </a:solidFill>
                          <a:latin typeface="Nimbus Sans"/>
                          <a:ea typeface="Nimbus Sans"/>
                          <a:cs typeface="Nimbus Sans"/>
                        </a:rPr>
                        <a:t>Relevant route</a:t>
                      </a:r>
                    </a:p>
                  </a:txBody>
                  <a:tcPr marL="142875" marR="142875" marT="142875" marB="142875" anchor="ctr">
                    <a:solidFill>
                      <a:srgbClr val="102E34"/>
                    </a:solidFill>
                  </a:tcPr>
                </a:tc>
              </a:tr>
              <a:tr h="840581">
                <a:tc>
                  <a:txBody>
                    <a:bodyPr/>
                    <a:lstStyle/>
                    <a:p>
                      <a:r>
                        <a:rPr sz="2025">
                          <a:solidFill>
                            <a:srgbClr val="123339"/>
                          </a:solidFill>
                          <a:latin typeface="Nimbus Sans"/>
                          <a:ea typeface="Nimbus Sans"/>
                          <a:cs typeface="Nimbus Sans"/>
                        </a:rPr>
                        <a:t>Prototype evaluation</a:t>
                      </a:r>
                    </a:p>
                  </a:txBody>
                  <a:tcPr marL="142875" marR="142875" marT="142875" marB="142875" anchor="ctr">
                    <a:solidFill>
                      <a:srgbClr val="F8F6F0"/>
                    </a:solidFill>
                  </a:tcPr>
                </a:tc>
                <a:tc>
                  <a:txBody>
                    <a:bodyPr/>
                    <a:lstStyle/>
                    <a:p>
                      <a:r>
                        <a:rPr sz="2025">
                          <a:solidFill>
                            <a:srgbClr val="123339"/>
                          </a:solidFill>
                          <a:latin typeface="Nimbus Sans"/>
                          <a:ea typeface="Nimbus Sans"/>
                          <a:cs typeface="Nimbus Sans"/>
                        </a:rPr>
                        <a:t>Can we make units for specified testing?</a:t>
                      </a:r>
                    </a:p>
                  </a:txBody>
                  <a:tcPr marL="142875" marR="142875" marT="142875" marB="142875" anchor="ctr">
                    <a:solidFill>
                      <a:srgbClr val="F8F6F0"/>
                    </a:solidFill>
                  </a:tcPr>
                </a:tc>
                <a:tc>
                  <a:txBody>
                    <a:bodyPr/>
                    <a:lstStyle/>
                    <a:p>
                      <a:r>
                        <a:rPr sz="2025">
                          <a:solidFill>
                            <a:srgbClr val="123339"/>
                          </a:solidFill>
                          <a:latin typeface="Nimbus Sans"/>
                          <a:ea typeface="Nimbus Sans"/>
                          <a:cs typeface="Nimbus Sans"/>
                        </a:rPr>
                        <a:t>Test licence, as applicable</a:t>
                      </a:r>
                    </a:p>
                  </a:txBody>
                  <a:tcPr marL="142875" marR="142875" marT="142875" marB="142875" anchor="ctr">
                    <a:solidFill>
                      <a:srgbClr val="F8F6F0"/>
                    </a:solidFill>
                  </a:tcPr>
                </a:tc>
              </a:tr>
              <a:tr h="840581">
                <a:tc>
                  <a:txBody>
                    <a:bodyPr/>
                    <a:lstStyle/>
                    <a:p>
                      <a:r>
                        <a:rPr sz="2025">
                          <a:solidFill>
                            <a:srgbClr val="123339"/>
                          </a:solidFill>
                          <a:latin typeface="Nimbus Sans"/>
                          <a:ea typeface="Nimbus Sans"/>
                          <a:cs typeface="Nimbus Sans"/>
                        </a:rPr>
                        <a:t>Human research</a:t>
                      </a:r>
                    </a:p>
                  </a:txBody>
                  <a:tcPr marL="142875" marR="142875" marT="142875" marB="142875" anchor="ctr">
                    <a:solidFill>
                      <a:srgbClr val="F8F6F0"/>
                    </a:solidFill>
                  </a:tcPr>
                </a:tc>
                <a:tc>
                  <a:txBody>
                    <a:bodyPr/>
                    <a:lstStyle/>
                    <a:p>
                      <a:r>
                        <a:rPr sz="2025">
                          <a:solidFill>
                            <a:srgbClr val="123339"/>
                          </a:solidFill>
                          <a:latin typeface="Nimbus Sans"/>
                          <a:ea typeface="Nimbus Sans"/>
                          <a:cs typeface="Nimbus Sans"/>
                        </a:rPr>
                        <a:t>Can we expose participants?</a:t>
                      </a:r>
                    </a:p>
                  </a:txBody>
                  <a:tcPr marL="142875" marR="142875" marT="142875" marB="142875" anchor="ctr">
                    <a:solidFill>
                      <a:srgbClr val="F8F6F0"/>
                    </a:solidFill>
                  </a:tcPr>
                </a:tc>
                <a:tc>
                  <a:txBody>
                    <a:bodyPr/>
                    <a:lstStyle/>
                    <a:p>
                      <a:r>
                        <a:rPr sz="2025">
                          <a:solidFill>
                            <a:srgbClr val="123339"/>
                          </a:solidFill>
                          <a:latin typeface="Nimbus Sans"/>
                          <a:ea typeface="Nimbus Sans"/>
                          <a:cs typeface="Nimbus Sans"/>
                        </a:rPr>
                        <a:t>Ethics and study permissions</a:t>
                      </a:r>
                    </a:p>
                  </a:txBody>
                  <a:tcPr marL="142875" marR="142875" marT="142875" marB="142875" anchor="ctr">
                    <a:solidFill>
                      <a:srgbClr val="F8F6F0"/>
                    </a:solidFill>
                  </a:tcPr>
                </a:tc>
              </a:tr>
              <a:tr h="840581">
                <a:tc>
                  <a:txBody>
                    <a:bodyPr/>
                    <a:lstStyle/>
                    <a:p>
                      <a:r>
                        <a:rPr sz="2025">
                          <a:solidFill>
                            <a:srgbClr val="123339"/>
                          </a:solidFill>
                          <a:latin typeface="Nimbus Sans"/>
                          <a:ea typeface="Nimbus Sans"/>
                          <a:cs typeface="Nimbus Sans"/>
                        </a:rPr>
                        <a:t>Manufacture and market use</a:t>
                      </a:r>
                    </a:p>
                  </a:txBody>
                  <a:tcPr marL="142875" marR="142875" marT="142875" marB="142875" anchor="ctr">
                    <a:solidFill>
                      <a:srgbClr val="F8F6F0"/>
                    </a:solidFill>
                  </a:tcPr>
                </a:tc>
                <a:tc>
                  <a:txBody>
                    <a:bodyPr/>
                    <a:lstStyle/>
                    <a:p>
                      <a:r>
                        <a:rPr sz="2025">
                          <a:solidFill>
                            <a:srgbClr val="123339"/>
                          </a:solidFill>
                          <a:latin typeface="Nimbus Sans"/>
                          <a:ea typeface="Nimbus Sans"/>
                          <a:cs typeface="Nimbus Sans"/>
                        </a:rPr>
                        <a:t>Can we supply for this intended use?</a:t>
                      </a:r>
                    </a:p>
                  </a:txBody>
                  <a:tcPr marL="142875" marR="142875" marT="142875" marB="142875" anchor="ctr">
                    <a:solidFill>
                      <a:srgbClr val="F8F6F0"/>
                    </a:solidFill>
                  </a:tcPr>
                </a:tc>
                <a:tc>
                  <a:txBody>
                    <a:bodyPr/>
                    <a:lstStyle/>
                    <a:p>
                      <a:r>
                        <a:rPr sz="2025">
                          <a:solidFill>
                            <a:srgbClr val="123339"/>
                          </a:solidFill>
                          <a:latin typeface="Nimbus Sans"/>
                          <a:ea typeface="Nimbus Sans"/>
                          <a:cs typeface="Nimbus Sans"/>
                        </a:rPr>
                        <a:t>Applicable licensing and quality requirements</a:t>
                      </a:r>
                    </a:p>
                  </a:txBody>
                  <a:tcPr marL="142875" marR="142875" marT="142875" marB="142875" anchor="ctr">
                    <a:solidFill>
                      <a:srgbClr val="F8F6F0"/>
                    </a:solidFill>
                  </a:tcPr>
                </a:tc>
              </a:tr>
            </a:tbl>
          </a:graphicData>
        </a:graphic>
      </p:graphicFrame>
      <p:sp>
        <p:nvSpPr>
          <p:cNvPr id="4" name="text-84">
            <a:extLst xmlns:a="http://schemas.openxmlformats.org/drawingml/2006/main">
              <a:ext uri="{FF2B5EF4-FFF2-40B4-BE49-F238E27FC236}">
                <a16:creationId xmlns:a16="http://schemas.microsoft.com/office/drawing/2014/main" id="{1EAD3D54-C212-4E4B-A9DD-9144D2933E65}"/>
              </a:ext>
            </a:extLst>
          </p:cNvPr>
          <p:cNvSpPr>
            <a:spLocks xmlns:a="http://schemas.openxmlformats.org/drawingml/2006/main" noGrp="1"/>
          </p:cNvSpPr>
          <p:nvPr/>
        </p:nvSpPr>
        <p:spPr>
          <a:xfrm xmlns:a="http://schemas.openxmlformats.org/drawingml/2006/main">
            <a:off x="609600" y="5486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04943"/>
                </a:solidFill>
                <a:latin typeface="Nimbus Sans"/>
                <a:ea typeface="Nimbus Sans"/>
                <a:cs typeface="Nimbus Sans"/>
              </a:defRPr>
            </a:pPr>
            <a:r>
              <a:rPr sz="2400" b="1">
                <a:solidFill>
                  <a:srgbClr val="A04943"/>
                </a:solidFill>
                <a:latin typeface="Nimbus Sans"/>
                <a:ea typeface="Nimbus Sans"/>
                <a:cs typeface="Nimbus Sans"/>
              </a:rPr>
              <a:t>A test licence does not establish permission for routine care or sale.</a:t>
            </a:r>
          </a:p>
        </p:txBody>
      </p:sp>
      <p:sp>
        <p:nvSpPr>
          <p:cNvPr id="5" name="text-85">
            <a:extLst xmlns:a="http://schemas.openxmlformats.org/drawingml/2006/main">
              <a:ext uri="{FF2B5EF4-FFF2-40B4-BE49-F238E27FC236}">
                <a16:creationId xmlns:a16="http://schemas.microsoft.com/office/drawing/2014/main" id="{CBC50307-D2A0-4803-B482-894CE650935B}"/>
              </a:ext>
            </a:extLst>
          </p:cNvPr>
          <p:cNvSpPr>
            <a:spLocks xmlns:a="http://schemas.openxmlformats.org/drawingml/2006/main" noGrp="1"/>
          </p:cNvSpPr>
          <p:nvPr/>
        </p:nvSpPr>
        <p:spPr>
          <a:xfrm xmlns:a="http://schemas.openxmlformats.org/drawingml/2006/main">
            <a:off x="609600" y="62960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MDR-2017. Device class, study purpose and specific exemptions determine the route.</a:t>
            </a:r>
          </a:p>
        </p:txBody>
      </p:sp>
    </p:spTree>
    <p:extLst>
      <p:ext uri="{BB962C8B-B14F-4D97-AF65-F5344CB8AC3E}">
        <p14:creationId xmlns:p14="http://schemas.microsoft.com/office/powerpoint/2010/main" val="19768114"/>
      </p:ext>
    </p:extLst>
  </p:cSld>
</p:sld>
</file>

<file path=ppt/slides/slide1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D8D9AC43-F828-40CE-A1E6-364160E40ADA}"/>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Can someone actually live with it?</a:t>
            </a:r>
          </a:p>
        </p:txBody>
      </p:sp>
      <p:sp>
        <p:nvSpPr>
          <p:cNvPr id="2" name="text-86">
            <a:extLst xmlns:a="http://schemas.openxmlformats.org/drawingml/2006/main">
              <a:ext uri="{FF2B5EF4-FFF2-40B4-BE49-F238E27FC236}">
                <a16:creationId xmlns:a16="http://schemas.microsoft.com/office/drawing/2014/main" id="{A0D3E724-2E0D-455D-895F-285498A30719}"/>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13</a:t>
            </a:r>
          </a:p>
        </p:txBody>
      </p:sp>
      <p:sp>
        <p:nvSpPr>
          <p:cNvPr id="3" name="text-87">
            <a:extLst xmlns:a="http://schemas.openxmlformats.org/drawingml/2006/main">
              <a:ext uri="{FF2B5EF4-FFF2-40B4-BE49-F238E27FC236}">
                <a16:creationId xmlns:a16="http://schemas.microsoft.com/office/drawing/2014/main" id="{18A8CCBB-DA94-4C27-8E51-612FB6496E31}"/>
              </a:ext>
            </a:extLst>
          </p:cNvPr>
          <p:cNvSpPr>
            <a:spLocks xmlns:a="http://schemas.openxmlformats.org/drawingml/2006/main" noGrp="1"/>
          </p:cNvSpPr>
          <p:nvPr/>
        </p:nvSpPr>
        <p:spPr>
          <a:xfrm xmlns:a="http://schemas.openxmlformats.org/drawingml/2006/main">
            <a:off x="609600" y="2009775"/>
            <a:ext cx="2333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087F7C"/>
                </a:solidFill>
                <a:latin typeface="Nimbus Sans"/>
                <a:ea typeface="Nimbus Sans"/>
                <a:cs typeface="Nimbus Sans"/>
              </a:defRPr>
            </a:pPr>
            <a:r>
              <a:rPr sz="2925" b="1">
                <a:solidFill>
                  <a:srgbClr val="087F7C"/>
                </a:solidFill>
                <a:latin typeface="Nimbus Sans"/>
                <a:ea typeface="Nimbus Sans"/>
                <a:cs typeface="Nimbus Sans"/>
              </a:rPr>
              <a:t>Acquire</a:t>
            </a:r>
          </a:p>
        </p:txBody>
      </p:sp>
      <p:sp>
        <p:nvSpPr>
          <p:cNvPr id="4" name="text-88">
            <a:extLst xmlns:a="http://schemas.openxmlformats.org/drawingml/2006/main">
              <a:ext uri="{FF2B5EF4-FFF2-40B4-BE49-F238E27FC236}">
                <a16:creationId xmlns:a16="http://schemas.microsoft.com/office/drawing/2014/main" id="{C0E0495F-1BAE-4924-ACE4-987DDFA6256D}"/>
              </a:ext>
            </a:extLst>
          </p:cNvPr>
          <p:cNvSpPr>
            <a:spLocks xmlns:a="http://schemas.openxmlformats.org/drawingml/2006/main" noGrp="1"/>
          </p:cNvSpPr>
          <p:nvPr/>
        </p:nvSpPr>
        <p:spPr>
          <a:xfrm xmlns:a="http://schemas.openxmlformats.org/drawingml/2006/main">
            <a:off x="609600" y="3209925"/>
            <a:ext cx="2381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23339"/>
                </a:solidFill>
                <a:latin typeface="Nimbus Sans"/>
                <a:ea typeface="Nimbus Sans"/>
                <a:cs typeface="Nimbus Sans"/>
              </a:defRPr>
            </a:pPr>
            <a:r>
              <a:rPr sz="2475" b="0">
                <a:solidFill>
                  <a:srgbClr val="123339"/>
                </a:solidFill>
                <a:latin typeface="Nimbus Sans"/>
                <a:ea typeface="Nimbus Sans"/>
                <a:cs typeface="Nimbus Sans"/>
              </a:rPr>
              <a:t>Price</a:t>
            </a:r>
          </a:p>
          <a:p xmlns:a="http://schemas.openxmlformats.org/drawingml/2006/main">
            <a:pPr algn="l">
              <a:defRPr sz="2475" b="0">
                <a:solidFill>
                  <a:srgbClr val="123339"/>
                </a:solidFill>
                <a:latin typeface="Nimbus Sans"/>
                <a:ea typeface="Nimbus Sans"/>
                <a:cs typeface="Nimbus Sans"/>
              </a:defRPr>
            </a:pPr>
            <a:r>
              <a:rPr sz="2475" b="0">
                <a:solidFill>
                  <a:srgbClr val="123339"/>
                </a:solidFill>
                <a:latin typeface="Nimbus Sans"/>
                <a:ea typeface="Nimbus Sans"/>
                <a:cs typeface="Nimbus Sans"/>
              </a:rPr>
              <a:t>Accessories</a:t>
            </a:r>
          </a:p>
        </p:txBody>
      </p:sp>
      <p:sp>
        <p:nvSpPr>
          <p:cNvPr id="5" name="">
            <a:extLst xmlns:a="http://schemas.openxmlformats.org/drawingml/2006/main">
              <a:ext uri="{FF2B5EF4-FFF2-40B4-BE49-F238E27FC236}">
                <a16:creationId xmlns:a16="http://schemas.microsoft.com/office/drawing/2014/main" id="{608A3126-7497-4F1B-B27B-4B8BCAFBA89F}"/>
              </a:ext>
            </a:extLst>
          </p:cNvPr>
          <p:cNvSpPr>
            <a:spLocks xmlns:a="http://schemas.openxmlformats.org/drawingml/2006/main" noGrp="1"/>
          </p:cNvSpPr>
          <p:nvPr/>
        </p:nvSpPr>
        <p:spPr>
          <a:xfrm xmlns:a="http://schemas.openxmlformats.org/drawingml/2006/main" flipV="0">
            <a:off x="2828925" y="2695575"/>
            <a:ext cx="419100" cy="0"/>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6" name="">
            <a:extLst xmlns:a="http://schemas.openxmlformats.org/drawingml/2006/main">
              <a:ext uri="{FF2B5EF4-FFF2-40B4-BE49-F238E27FC236}">
                <a16:creationId xmlns:a16="http://schemas.microsoft.com/office/drawing/2014/main" id="{53095939-BCC2-4053-81C6-49784EF39781}"/>
              </a:ext>
            </a:extLst>
          </p:cNvPr>
          <p:cNvSpPr>
            <a:spLocks xmlns:a="http://schemas.openxmlformats.org/drawingml/2006/main" noGrp="1"/>
          </p:cNvSpPr>
          <p:nvPr/>
        </p:nvSpPr>
        <p:spPr>
          <a:xfrm xmlns:a="http://schemas.openxmlformats.org/drawingml/2006/main" flipV="1">
            <a:off x="3150581" y="2695575"/>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7" name="">
            <a:extLst xmlns:a="http://schemas.openxmlformats.org/drawingml/2006/main">
              <a:ext uri="{FF2B5EF4-FFF2-40B4-BE49-F238E27FC236}">
                <a16:creationId xmlns:a16="http://schemas.microsoft.com/office/drawing/2014/main" id="{7372EFF9-9E4D-449D-B909-D451B84B373E}"/>
              </a:ext>
            </a:extLst>
          </p:cNvPr>
          <p:cNvSpPr>
            <a:spLocks xmlns:a="http://schemas.openxmlformats.org/drawingml/2006/main" noGrp="1"/>
          </p:cNvSpPr>
          <p:nvPr/>
        </p:nvSpPr>
        <p:spPr>
          <a:xfrm xmlns:a="http://schemas.openxmlformats.org/drawingml/2006/main" flipV="0">
            <a:off x="3150581" y="2635832"/>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8" name="text-89">
            <a:extLst xmlns:a="http://schemas.openxmlformats.org/drawingml/2006/main">
              <a:ext uri="{FF2B5EF4-FFF2-40B4-BE49-F238E27FC236}">
                <a16:creationId xmlns:a16="http://schemas.microsoft.com/office/drawing/2014/main" id="{80E76ED9-4783-40EF-B7CC-A0E6A67AB1EE}"/>
              </a:ext>
            </a:extLst>
          </p:cNvPr>
          <p:cNvSpPr>
            <a:spLocks xmlns:a="http://schemas.openxmlformats.org/drawingml/2006/main" noGrp="1"/>
          </p:cNvSpPr>
          <p:nvPr/>
        </p:nvSpPr>
        <p:spPr>
          <a:xfrm xmlns:a="http://schemas.openxmlformats.org/drawingml/2006/main">
            <a:off x="3467100" y="2009775"/>
            <a:ext cx="2333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087F7C"/>
                </a:solidFill>
                <a:latin typeface="Nimbus Sans"/>
                <a:ea typeface="Nimbus Sans"/>
                <a:cs typeface="Nimbus Sans"/>
              </a:defRPr>
            </a:pPr>
            <a:r>
              <a:rPr sz="2925" b="1">
                <a:solidFill>
                  <a:srgbClr val="087F7C"/>
                </a:solidFill>
                <a:latin typeface="Nimbus Sans"/>
                <a:ea typeface="Nimbus Sans"/>
                <a:cs typeface="Nimbus Sans"/>
              </a:rPr>
              <a:t>Set up</a:t>
            </a:r>
          </a:p>
        </p:txBody>
      </p:sp>
      <p:sp>
        <p:nvSpPr>
          <p:cNvPr id="9" name="text-90">
            <a:extLst xmlns:a="http://schemas.openxmlformats.org/drawingml/2006/main">
              <a:ext uri="{FF2B5EF4-FFF2-40B4-BE49-F238E27FC236}">
                <a16:creationId xmlns:a16="http://schemas.microsoft.com/office/drawing/2014/main" id="{53A00914-C0A3-4BCC-9528-F651ADA48122}"/>
              </a:ext>
            </a:extLst>
          </p:cNvPr>
          <p:cNvSpPr>
            <a:spLocks xmlns:a="http://schemas.openxmlformats.org/drawingml/2006/main" noGrp="1"/>
          </p:cNvSpPr>
          <p:nvPr/>
        </p:nvSpPr>
        <p:spPr>
          <a:xfrm xmlns:a="http://schemas.openxmlformats.org/drawingml/2006/main">
            <a:off x="3467100" y="3209925"/>
            <a:ext cx="2381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23339"/>
                </a:solidFill>
                <a:latin typeface="Nimbus Sans"/>
                <a:ea typeface="Nimbus Sans"/>
                <a:cs typeface="Nimbus Sans"/>
              </a:defRPr>
            </a:pPr>
            <a:r>
              <a:rPr sz="2475" b="0">
                <a:solidFill>
                  <a:srgbClr val="123339"/>
                </a:solidFill>
                <a:latin typeface="Nimbus Sans"/>
                <a:ea typeface="Nimbus Sans"/>
                <a:cs typeface="Nimbus Sans"/>
              </a:rPr>
              <a:t>Training</a:t>
            </a:r>
          </a:p>
          <a:p xmlns:a="http://schemas.openxmlformats.org/drawingml/2006/main">
            <a:pPr algn="l">
              <a:defRPr sz="2475" b="0">
                <a:solidFill>
                  <a:srgbClr val="123339"/>
                </a:solidFill>
                <a:latin typeface="Nimbus Sans"/>
                <a:ea typeface="Nimbus Sans"/>
                <a:cs typeface="Nimbus Sans"/>
              </a:defRPr>
            </a:pPr>
            <a:r>
              <a:rPr sz="2475" b="0">
                <a:solidFill>
                  <a:srgbClr val="123339"/>
                </a:solidFill>
                <a:latin typeface="Nimbus Sans"/>
                <a:ea typeface="Nimbus Sans"/>
                <a:cs typeface="Nimbus Sans"/>
              </a:rPr>
              <a:t>Language</a:t>
            </a:r>
          </a:p>
        </p:txBody>
      </p:sp>
      <p:sp>
        <p:nvSpPr>
          <p:cNvPr id="10" name="">
            <a:extLst xmlns:a="http://schemas.openxmlformats.org/drawingml/2006/main">
              <a:ext uri="{FF2B5EF4-FFF2-40B4-BE49-F238E27FC236}">
                <a16:creationId xmlns:a16="http://schemas.microsoft.com/office/drawing/2014/main" id="{BEE21CE3-A189-4E6E-9779-7F5703E28963}"/>
              </a:ext>
            </a:extLst>
          </p:cNvPr>
          <p:cNvSpPr>
            <a:spLocks xmlns:a="http://schemas.openxmlformats.org/drawingml/2006/main" noGrp="1"/>
          </p:cNvSpPr>
          <p:nvPr/>
        </p:nvSpPr>
        <p:spPr>
          <a:xfrm xmlns:a="http://schemas.openxmlformats.org/drawingml/2006/main" flipV="0">
            <a:off x="5686425" y="2695575"/>
            <a:ext cx="419100" cy="0"/>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11" name="">
            <a:extLst xmlns:a="http://schemas.openxmlformats.org/drawingml/2006/main">
              <a:ext uri="{FF2B5EF4-FFF2-40B4-BE49-F238E27FC236}">
                <a16:creationId xmlns:a16="http://schemas.microsoft.com/office/drawing/2014/main" id="{7784B9C5-B76F-4B67-94E6-E12D4D165940}"/>
              </a:ext>
            </a:extLst>
          </p:cNvPr>
          <p:cNvSpPr>
            <a:spLocks xmlns:a="http://schemas.openxmlformats.org/drawingml/2006/main" noGrp="1"/>
          </p:cNvSpPr>
          <p:nvPr/>
        </p:nvSpPr>
        <p:spPr>
          <a:xfrm xmlns:a="http://schemas.openxmlformats.org/drawingml/2006/main" flipV="1">
            <a:off x="6008081" y="2695575"/>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12" name="">
            <a:extLst xmlns:a="http://schemas.openxmlformats.org/drawingml/2006/main">
              <a:ext uri="{FF2B5EF4-FFF2-40B4-BE49-F238E27FC236}">
                <a16:creationId xmlns:a16="http://schemas.microsoft.com/office/drawing/2014/main" id="{ABEF3523-0A6D-4D22-8741-473AE73410C8}"/>
              </a:ext>
            </a:extLst>
          </p:cNvPr>
          <p:cNvSpPr>
            <a:spLocks xmlns:a="http://schemas.openxmlformats.org/drawingml/2006/main" noGrp="1"/>
          </p:cNvSpPr>
          <p:nvPr/>
        </p:nvSpPr>
        <p:spPr>
          <a:xfrm xmlns:a="http://schemas.openxmlformats.org/drawingml/2006/main" flipV="0">
            <a:off x="6008081" y="2635832"/>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13" name="text-91">
            <a:extLst xmlns:a="http://schemas.openxmlformats.org/drawingml/2006/main">
              <a:ext uri="{FF2B5EF4-FFF2-40B4-BE49-F238E27FC236}">
                <a16:creationId xmlns:a16="http://schemas.microsoft.com/office/drawing/2014/main" id="{B03ACA49-025B-46D8-BEF1-F8095032DB90}"/>
              </a:ext>
            </a:extLst>
          </p:cNvPr>
          <p:cNvSpPr>
            <a:spLocks xmlns:a="http://schemas.openxmlformats.org/drawingml/2006/main" noGrp="1"/>
          </p:cNvSpPr>
          <p:nvPr/>
        </p:nvSpPr>
        <p:spPr>
          <a:xfrm xmlns:a="http://schemas.openxmlformats.org/drawingml/2006/main">
            <a:off x="6324600" y="2009775"/>
            <a:ext cx="2333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087F7C"/>
                </a:solidFill>
                <a:latin typeface="Nimbus Sans"/>
                <a:ea typeface="Nimbus Sans"/>
                <a:cs typeface="Nimbus Sans"/>
              </a:defRPr>
            </a:pPr>
            <a:r>
              <a:rPr sz="2925" b="1">
                <a:solidFill>
                  <a:srgbClr val="087F7C"/>
                </a:solidFill>
                <a:latin typeface="Nimbus Sans"/>
                <a:ea typeface="Nimbus Sans"/>
                <a:cs typeface="Nimbus Sans"/>
              </a:rPr>
              <a:t>Use</a:t>
            </a:r>
          </a:p>
        </p:txBody>
      </p:sp>
      <p:sp>
        <p:nvSpPr>
          <p:cNvPr id="14" name="text-92">
            <a:extLst xmlns:a="http://schemas.openxmlformats.org/drawingml/2006/main">
              <a:ext uri="{FF2B5EF4-FFF2-40B4-BE49-F238E27FC236}">
                <a16:creationId xmlns:a16="http://schemas.microsoft.com/office/drawing/2014/main" id="{3CBBB3BA-8EEA-4B4B-88AA-5E7F4811A579}"/>
              </a:ext>
            </a:extLst>
          </p:cNvPr>
          <p:cNvSpPr>
            <a:spLocks xmlns:a="http://schemas.openxmlformats.org/drawingml/2006/main" noGrp="1"/>
          </p:cNvSpPr>
          <p:nvPr/>
        </p:nvSpPr>
        <p:spPr>
          <a:xfrm xmlns:a="http://schemas.openxmlformats.org/drawingml/2006/main">
            <a:off x="6324600" y="3209925"/>
            <a:ext cx="2381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23339"/>
                </a:solidFill>
                <a:latin typeface="Nimbus Sans"/>
                <a:ea typeface="Nimbus Sans"/>
                <a:cs typeface="Nimbus Sans"/>
              </a:defRPr>
            </a:pPr>
            <a:r>
              <a:rPr sz="2475" b="0">
                <a:solidFill>
                  <a:srgbClr val="123339"/>
                </a:solidFill>
                <a:latin typeface="Nimbus Sans"/>
                <a:ea typeface="Nimbus Sans"/>
                <a:cs typeface="Nimbus Sans"/>
              </a:rPr>
              <a:t>Fit and time</a:t>
            </a:r>
          </a:p>
          <a:p xmlns:a="http://schemas.openxmlformats.org/drawingml/2006/main">
            <a:pPr algn="l">
              <a:defRPr sz="2475" b="0">
                <a:solidFill>
                  <a:srgbClr val="123339"/>
                </a:solidFill>
                <a:latin typeface="Nimbus Sans"/>
                <a:ea typeface="Nimbus Sans"/>
                <a:cs typeface="Nimbus Sans"/>
              </a:defRPr>
            </a:pPr>
            <a:r>
              <a:rPr sz="2475" b="0">
                <a:solidFill>
                  <a:srgbClr val="123339"/>
                </a:solidFill>
                <a:latin typeface="Nimbus Sans"/>
                <a:ea typeface="Nimbus Sans"/>
                <a:cs typeface="Nimbus Sans"/>
              </a:rPr>
              <a:t>Consumables</a:t>
            </a:r>
          </a:p>
        </p:txBody>
      </p:sp>
      <p:sp>
        <p:nvSpPr>
          <p:cNvPr id="15" name="">
            <a:extLst xmlns:a="http://schemas.openxmlformats.org/drawingml/2006/main">
              <a:ext uri="{FF2B5EF4-FFF2-40B4-BE49-F238E27FC236}">
                <a16:creationId xmlns:a16="http://schemas.microsoft.com/office/drawing/2014/main" id="{3173C473-9FD0-4E79-92CC-BE083CD01D8E}"/>
              </a:ext>
            </a:extLst>
          </p:cNvPr>
          <p:cNvSpPr>
            <a:spLocks xmlns:a="http://schemas.openxmlformats.org/drawingml/2006/main" noGrp="1"/>
          </p:cNvSpPr>
          <p:nvPr/>
        </p:nvSpPr>
        <p:spPr>
          <a:xfrm xmlns:a="http://schemas.openxmlformats.org/drawingml/2006/main" flipV="0">
            <a:off x="8543925" y="2695575"/>
            <a:ext cx="419100" cy="0"/>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16" name="">
            <a:extLst xmlns:a="http://schemas.openxmlformats.org/drawingml/2006/main">
              <a:ext uri="{FF2B5EF4-FFF2-40B4-BE49-F238E27FC236}">
                <a16:creationId xmlns:a16="http://schemas.microsoft.com/office/drawing/2014/main" id="{85B68693-0826-45D5-AD7A-D4A7ACA0D031}"/>
              </a:ext>
            </a:extLst>
          </p:cNvPr>
          <p:cNvSpPr>
            <a:spLocks xmlns:a="http://schemas.openxmlformats.org/drawingml/2006/main" noGrp="1"/>
          </p:cNvSpPr>
          <p:nvPr/>
        </p:nvSpPr>
        <p:spPr>
          <a:xfrm xmlns:a="http://schemas.openxmlformats.org/drawingml/2006/main" flipV="1">
            <a:off x="8865581" y="2695575"/>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17" name="">
            <a:extLst xmlns:a="http://schemas.openxmlformats.org/drawingml/2006/main">
              <a:ext uri="{FF2B5EF4-FFF2-40B4-BE49-F238E27FC236}">
                <a16:creationId xmlns:a16="http://schemas.microsoft.com/office/drawing/2014/main" id="{A3C177AD-6EDB-4699-974C-AA3CC71903FC}"/>
              </a:ext>
            </a:extLst>
          </p:cNvPr>
          <p:cNvSpPr>
            <a:spLocks xmlns:a="http://schemas.openxmlformats.org/drawingml/2006/main" noGrp="1"/>
          </p:cNvSpPr>
          <p:nvPr/>
        </p:nvSpPr>
        <p:spPr>
          <a:xfrm xmlns:a="http://schemas.openxmlformats.org/drawingml/2006/main" flipV="0">
            <a:off x="8865581" y="2635832"/>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18" name="text-93">
            <a:extLst xmlns:a="http://schemas.openxmlformats.org/drawingml/2006/main">
              <a:ext uri="{FF2B5EF4-FFF2-40B4-BE49-F238E27FC236}">
                <a16:creationId xmlns:a16="http://schemas.microsoft.com/office/drawing/2014/main" id="{9ACBCACC-5CEA-47C4-A33C-F3186DB33AEE}"/>
              </a:ext>
            </a:extLst>
          </p:cNvPr>
          <p:cNvSpPr>
            <a:spLocks xmlns:a="http://schemas.openxmlformats.org/drawingml/2006/main" noGrp="1"/>
          </p:cNvSpPr>
          <p:nvPr/>
        </p:nvSpPr>
        <p:spPr>
          <a:xfrm xmlns:a="http://schemas.openxmlformats.org/drawingml/2006/main">
            <a:off x="9182100" y="2009775"/>
            <a:ext cx="2333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087F7C"/>
                </a:solidFill>
                <a:latin typeface="Nimbus Sans"/>
                <a:ea typeface="Nimbus Sans"/>
                <a:cs typeface="Nimbus Sans"/>
              </a:defRPr>
            </a:pPr>
            <a:r>
              <a:rPr sz="2925" b="1">
                <a:solidFill>
                  <a:srgbClr val="087F7C"/>
                </a:solidFill>
                <a:latin typeface="Nimbus Sans"/>
                <a:ea typeface="Nimbus Sans"/>
                <a:cs typeface="Nimbus Sans"/>
              </a:rPr>
              <a:t>Get help</a:t>
            </a:r>
          </a:p>
        </p:txBody>
      </p:sp>
      <p:sp>
        <p:nvSpPr>
          <p:cNvPr id="19" name="text-94">
            <a:extLst xmlns:a="http://schemas.openxmlformats.org/drawingml/2006/main">
              <a:ext uri="{FF2B5EF4-FFF2-40B4-BE49-F238E27FC236}">
                <a16:creationId xmlns:a16="http://schemas.microsoft.com/office/drawing/2014/main" id="{EE519565-8C8D-47A3-A2A0-926F5D6619D6}"/>
              </a:ext>
            </a:extLst>
          </p:cNvPr>
          <p:cNvSpPr>
            <a:spLocks xmlns:a="http://schemas.openxmlformats.org/drawingml/2006/main" noGrp="1"/>
          </p:cNvSpPr>
          <p:nvPr/>
        </p:nvSpPr>
        <p:spPr>
          <a:xfrm xmlns:a="http://schemas.openxmlformats.org/drawingml/2006/main">
            <a:off x="9182100" y="3209925"/>
            <a:ext cx="2381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23339"/>
                </a:solidFill>
                <a:latin typeface="Nimbus Sans"/>
                <a:ea typeface="Nimbus Sans"/>
                <a:cs typeface="Nimbus Sans"/>
              </a:defRPr>
            </a:pPr>
            <a:r>
              <a:rPr sz="2475" b="0">
                <a:solidFill>
                  <a:srgbClr val="123339"/>
                </a:solidFill>
                <a:latin typeface="Nimbus Sans"/>
                <a:ea typeface="Nimbus Sans"/>
                <a:cs typeface="Nimbus Sans"/>
              </a:rPr>
              <a:t>Repairs</a:t>
            </a:r>
          </a:p>
          <a:p xmlns:a="http://schemas.openxmlformats.org/drawingml/2006/main">
            <a:pPr algn="l">
              <a:defRPr sz="2475" b="0">
                <a:solidFill>
                  <a:srgbClr val="123339"/>
                </a:solidFill>
                <a:latin typeface="Nimbus Sans"/>
                <a:ea typeface="Nimbus Sans"/>
                <a:cs typeface="Nimbus Sans"/>
              </a:defRPr>
            </a:pPr>
            <a:r>
              <a:rPr sz="2475" b="0">
                <a:solidFill>
                  <a:srgbClr val="123339"/>
                </a:solidFill>
                <a:latin typeface="Nimbus Sans"/>
                <a:ea typeface="Nimbus Sans"/>
                <a:cs typeface="Nimbus Sans"/>
              </a:rPr>
              <a:t>Continuity</a:t>
            </a:r>
          </a:p>
        </p:txBody>
      </p:sp>
      <p:sp>
        <p:nvSpPr>
          <p:cNvPr id="20" name="text-95">
            <a:extLst xmlns:a="http://schemas.openxmlformats.org/drawingml/2006/main">
              <a:ext uri="{FF2B5EF4-FFF2-40B4-BE49-F238E27FC236}">
                <a16:creationId xmlns:a16="http://schemas.microsoft.com/office/drawing/2014/main" id="{347F770F-9961-4249-BE1E-3AD8B42521F3}"/>
              </a:ext>
            </a:extLst>
          </p:cNvPr>
          <p:cNvSpPr>
            <a:spLocks xmlns:a="http://schemas.openxmlformats.org/drawingml/2006/main" noGrp="1"/>
          </p:cNvSpPr>
          <p:nvPr/>
        </p:nvSpPr>
        <p:spPr>
          <a:xfrm xmlns:a="http://schemas.openxmlformats.org/drawingml/2006/main">
            <a:off x="609600" y="5238750"/>
            <a:ext cx="1095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23339"/>
                </a:solidFill>
                <a:latin typeface="Utopia"/>
                <a:ea typeface="Utopia"/>
                <a:cs typeface="Utopia"/>
              </a:defRPr>
            </a:pPr>
            <a:r>
              <a:rPr sz="3150" b="0">
                <a:solidFill>
                  <a:srgbClr val="123339"/>
                </a:solidFill>
                <a:latin typeface="Utopia"/>
                <a:ea typeface="Utopia"/>
                <a:cs typeface="Utopia"/>
              </a:rPr>
              <a:t>What changes when the person lives far from a clinic?</a:t>
            </a:r>
          </a:p>
        </p:txBody>
      </p:sp>
      <p:sp>
        <p:nvSpPr>
          <p:cNvPr id="21" name="text-96">
            <a:extLst xmlns:a="http://schemas.openxmlformats.org/drawingml/2006/main">
              <a:ext uri="{FF2B5EF4-FFF2-40B4-BE49-F238E27FC236}">
                <a16:creationId xmlns:a16="http://schemas.microsoft.com/office/drawing/2014/main" id="{3C4AC18F-8094-46AE-B47B-DEBDDEC7059A}"/>
              </a:ext>
            </a:extLst>
          </p:cNvPr>
          <p:cNvSpPr>
            <a:spLocks xmlns:a="http://schemas.openxmlformats.org/drawingml/2006/main" noGrp="1"/>
          </p:cNvSpPr>
          <p:nvPr/>
        </p:nvSpPr>
        <p:spPr>
          <a:xfrm xmlns:a="http://schemas.openxmlformats.org/drawingml/2006/main">
            <a:off x="609600" y="61722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Review questions, not cost estimates for FoGO or SwaKnee.</a:t>
            </a:r>
          </a:p>
        </p:txBody>
      </p:sp>
    </p:spTree>
    <p:extLst>
      <p:ext uri="{BB962C8B-B14F-4D97-AF65-F5344CB8AC3E}">
        <p14:creationId xmlns:p14="http://schemas.microsoft.com/office/powerpoint/2010/main" val="806900760"/>
      </p:ext>
    </p:extLst>
  </p:cSld>
</p:sld>
</file>

<file path=ppt/slides/slide1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E85A8206-37B3-4BC2-964E-3CDB5ABA2A50}"/>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The device changes. Does the evidence still apply?</a:t>
            </a:r>
          </a:p>
        </p:txBody>
      </p:sp>
      <p:sp>
        <p:nvSpPr>
          <p:cNvPr id="2" name="text-97">
            <a:extLst xmlns:a="http://schemas.openxmlformats.org/drawingml/2006/main">
              <a:ext uri="{FF2B5EF4-FFF2-40B4-BE49-F238E27FC236}">
                <a16:creationId xmlns:a16="http://schemas.microsoft.com/office/drawing/2014/main" id="{60F10CDE-A80E-47F4-B0AE-AB9720F2D945}"/>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14</a:t>
            </a:r>
          </a:p>
        </p:txBody>
      </p:sp>
      <p:sp>
        <p:nvSpPr>
          <p:cNvPr id="3" name="text-98">
            <a:extLst xmlns:a="http://schemas.openxmlformats.org/drawingml/2006/main">
              <a:ext uri="{FF2B5EF4-FFF2-40B4-BE49-F238E27FC236}">
                <a16:creationId xmlns:a16="http://schemas.microsoft.com/office/drawing/2014/main" id="{AF941697-6922-4BC5-8A2F-4B8A4EDE728C}"/>
              </a:ext>
            </a:extLst>
          </p:cNvPr>
          <p:cNvSpPr>
            <a:spLocks xmlns:a="http://schemas.openxmlformats.org/drawingml/2006/main" noGrp="1"/>
          </p:cNvSpPr>
          <p:nvPr/>
        </p:nvSpPr>
        <p:spPr>
          <a:xfrm xmlns:a="http://schemas.openxmlformats.org/drawingml/2006/main">
            <a:off x="647700" y="1676400"/>
            <a:ext cx="4048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087F7C"/>
                </a:solidFill>
                <a:latin typeface="Nimbus Sans"/>
                <a:ea typeface="Nimbus Sans"/>
                <a:cs typeface="Nimbus Sans"/>
              </a:defRPr>
            </a:pPr>
            <a:r>
              <a:rPr sz="2925" b="1">
                <a:solidFill>
                  <a:srgbClr val="087F7C"/>
                </a:solidFill>
                <a:latin typeface="Nimbus Sans"/>
                <a:ea typeface="Nimbus Sans"/>
                <a:cs typeface="Nimbus Sans"/>
              </a:rPr>
              <a:t>Tested version</a:t>
            </a:r>
          </a:p>
        </p:txBody>
      </p:sp>
      <p:sp>
        <p:nvSpPr>
          <p:cNvPr id="4" name="text-99">
            <a:extLst xmlns:a="http://schemas.openxmlformats.org/drawingml/2006/main">
              <a:ext uri="{FF2B5EF4-FFF2-40B4-BE49-F238E27FC236}">
                <a16:creationId xmlns:a16="http://schemas.microsoft.com/office/drawing/2014/main" id="{BABB6290-AC0E-40C0-AA35-CE00FE8A6856}"/>
              </a:ext>
            </a:extLst>
          </p:cNvPr>
          <p:cNvSpPr>
            <a:spLocks xmlns:a="http://schemas.openxmlformats.org/drawingml/2006/main" noGrp="1"/>
          </p:cNvSpPr>
          <p:nvPr/>
        </p:nvSpPr>
        <p:spPr>
          <a:xfrm xmlns:a="http://schemas.openxmlformats.org/drawingml/2006/main">
            <a:off x="647700" y="2381250"/>
            <a:ext cx="4038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565"/>
                </a:solidFill>
                <a:latin typeface="Nimbus Sans"/>
                <a:ea typeface="Nimbus Sans"/>
                <a:cs typeface="Nimbus Sans"/>
              </a:defRPr>
            </a:pPr>
            <a:r>
              <a:rPr sz="2250" b="0">
                <a:solidFill>
                  <a:srgbClr val="526565"/>
                </a:solidFill>
                <a:latin typeface="Nimbus Sans"/>
                <a:ea typeface="Nimbus Sans"/>
                <a:cs typeface="Nimbus Sans"/>
              </a:rPr>
              <a:t>Existing evidence</a:t>
            </a:r>
          </a:p>
        </p:txBody>
      </p:sp>
      <p:sp>
        <p:nvSpPr>
          <p:cNvPr id="5" name="">
            <a:extLst xmlns:a="http://schemas.openxmlformats.org/drawingml/2006/main">
              <a:ext uri="{FF2B5EF4-FFF2-40B4-BE49-F238E27FC236}">
                <a16:creationId xmlns:a16="http://schemas.microsoft.com/office/drawing/2014/main" id="{86741018-D60D-4DB0-8FCE-D73AC80C9A63}"/>
              </a:ext>
            </a:extLst>
          </p:cNvPr>
          <p:cNvSpPr>
            <a:spLocks xmlns:a="http://schemas.openxmlformats.org/drawingml/2006/main" noGrp="1"/>
          </p:cNvSpPr>
          <p:nvPr/>
        </p:nvSpPr>
        <p:spPr>
          <a:xfrm xmlns:a="http://schemas.openxmlformats.org/drawingml/2006/main" flipV="0">
            <a:off x="4857750" y="2219325"/>
            <a:ext cx="1924050" cy="0"/>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6" name="">
            <a:extLst xmlns:a="http://schemas.openxmlformats.org/drawingml/2006/main">
              <a:ext uri="{FF2B5EF4-FFF2-40B4-BE49-F238E27FC236}">
                <a16:creationId xmlns:a16="http://schemas.microsoft.com/office/drawing/2014/main" id="{8683ABA0-CB75-4C3C-9BA2-EA08F1101E77}"/>
              </a:ext>
            </a:extLst>
          </p:cNvPr>
          <p:cNvSpPr>
            <a:spLocks xmlns:a="http://schemas.openxmlformats.org/drawingml/2006/main" noGrp="1"/>
          </p:cNvSpPr>
          <p:nvPr/>
        </p:nvSpPr>
        <p:spPr>
          <a:xfrm xmlns:a="http://schemas.openxmlformats.org/drawingml/2006/main" flipV="1">
            <a:off x="6684356" y="2219325"/>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7" name="">
            <a:extLst xmlns:a="http://schemas.openxmlformats.org/drawingml/2006/main">
              <a:ext uri="{FF2B5EF4-FFF2-40B4-BE49-F238E27FC236}">
                <a16:creationId xmlns:a16="http://schemas.microsoft.com/office/drawing/2014/main" id="{7DD97EC6-B796-46D3-910B-7D57F706EF7E}"/>
              </a:ext>
            </a:extLst>
          </p:cNvPr>
          <p:cNvSpPr>
            <a:spLocks xmlns:a="http://schemas.openxmlformats.org/drawingml/2006/main" noGrp="1"/>
          </p:cNvSpPr>
          <p:nvPr/>
        </p:nvSpPr>
        <p:spPr>
          <a:xfrm xmlns:a="http://schemas.openxmlformats.org/drawingml/2006/main" flipV="0">
            <a:off x="6684356" y="2159582"/>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8" name="text-100">
            <a:extLst xmlns:a="http://schemas.openxmlformats.org/drawingml/2006/main">
              <a:ext uri="{FF2B5EF4-FFF2-40B4-BE49-F238E27FC236}">
                <a16:creationId xmlns:a16="http://schemas.microsoft.com/office/drawing/2014/main" id="{41122644-BF7A-484B-94AA-1413F7297CE3}"/>
              </a:ext>
            </a:extLst>
          </p:cNvPr>
          <p:cNvSpPr>
            <a:spLocks xmlns:a="http://schemas.openxmlformats.org/drawingml/2006/main" noGrp="1"/>
          </p:cNvSpPr>
          <p:nvPr/>
        </p:nvSpPr>
        <p:spPr>
          <a:xfrm xmlns:a="http://schemas.openxmlformats.org/drawingml/2006/main">
            <a:off x="7372350" y="167640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B46730"/>
                </a:solidFill>
                <a:latin typeface="Nimbus Sans"/>
                <a:ea typeface="Nimbus Sans"/>
                <a:cs typeface="Nimbus Sans"/>
              </a:defRPr>
            </a:pPr>
            <a:r>
              <a:rPr sz="2925" b="1">
                <a:solidFill>
                  <a:srgbClr val="B46730"/>
                </a:solidFill>
                <a:latin typeface="Nimbus Sans"/>
                <a:ea typeface="Nimbus Sans"/>
                <a:cs typeface="Nimbus Sans"/>
              </a:rPr>
              <a:t>Proposed update</a:t>
            </a:r>
          </a:p>
        </p:txBody>
      </p:sp>
      <p:sp>
        <p:nvSpPr>
          <p:cNvPr id="9" name="text-101">
            <a:extLst xmlns:a="http://schemas.openxmlformats.org/drawingml/2006/main">
              <a:ext uri="{FF2B5EF4-FFF2-40B4-BE49-F238E27FC236}">
                <a16:creationId xmlns:a16="http://schemas.microsoft.com/office/drawing/2014/main" id="{6BBCE03E-736E-4F02-B145-ADD0EFD63CD4}"/>
              </a:ext>
            </a:extLst>
          </p:cNvPr>
          <p:cNvSpPr>
            <a:spLocks xmlns:a="http://schemas.openxmlformats.org/drawingml/2006/main" noGrp="1"/>
          </p:cNvSpPr>
          <p:nvPr/>
        </p:nvSpPr>
        <p:spPr>
          <a:xfrm xmlns:a="http://schemas.openxmlformats.org/drawingml/2006/main">
            <a:off x="7372350" y="2381250"/>
            <a:ext cx="41814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565"/>
                </a:solidFill>
                <a:latin typeface="Nimbus Sans"/>
                <a:ea typeface="Nimbus Sans"/>
                <a:cs typeface="Nimbus Sans"/>
              </a:defRPr>
            </a:pPr>
            <a:r>
              <a:rPr sz="2250" b="0">
                <a:solidFill>
                  <a:srgbClr val="526565"/>
                </a:solidFill>
                <a:latin typeface="Nimbus Sans"/>
                <a:ea typeface="Nimbus Sans"/>
                <a:cs typeface="Nimbus Sans"/>
              </a:rPr>
              <a:t>Changed cue behaviour</a:t>
            </a:r>
          </a:p>
        </p:txBody>
      </p:sp>
      <p:sp>
        <p:nvSpPr>
          <p:cNvPr id="10" name="">
            <a:extLst xmlns:a="http://schemas.openxmlformats.org/drawingml/2006/main">
              <a:ext uri="{FF2B5EF4-FFF2-40B4-BE49-F238E27FC236}">
                <a16:creationId xmlns:a16="http://schemas.microsoft.com/office/drawing/2014/main" id="{4EDB60DF-229F-465D-85C0-28E438071590}"/>
              </a:ext>
            </a:extLst>
          </p:cNvPr>
          <p:cNvSpPr>
            <a:spLocks xmlns:a="http://schemas.openxmlformats.org/drawingml/2006/main" noGrp="1"/>
          </p:cNvSpPr>
          <p:nvPr/>
        </p:nvSpPr>
        <p:spPr>
          <a:xfrm xmlns:a="http://schemas.openxmlformats.org/drawingml/2006/main">
            <a:off x="609600" y="3381375"/>
            <a:ext cx="10934700" cy="0"/>
          </a:xfrm>
          <a:prstGeom xmlns:a="http://schemas.openxmlformats.org/drawingml/2006/main" prst="line">
            <a:avLst/>
          </a:prstGeom>
          <a:noFill xmlns:a="http://schemas.openxmlformats.org/drawingml/2006/main"/>
          <a:ln xmlns:a="http://schemas.openxmlformats.org/drawingml/2006/main" w="9525">
            <a:solidFill>
              <a:srgbClr val="C4D3CD"/>
            </a:solidFill>
          </a:ln>
        </p:spPr>
      </p:sp>
      <p:sp>
        <p:nvSpPr>
          <p:cNvPr id="11" name="text-102">
            <a:extLst xmlns:a="http://schemas.openxmlformats.org/drawingml/2006/main">
              <a:ext uri="{FF2B5EF4-FFF2-40B4-BE49-F238E27FC236}">
                <a16:creationId xmlns:a16="http://schemas.microsoft.com/office/drawing/2014/main" id="{A871107E-803D-48E2-A1DC-0ED41A6A8755}"/>
              </a:ext>
            </a:extLst>
          </p:cNvPr>
          <p:cNvSpPr>
            <a:spLocks xmlns:a="http://schemas.openxmlformats.org/drawingml/2006/main" noGrp="1"/>
          </p:cNvSpPr>
          <p:nvPr/>
        </p:nvSpPr>
        <p:spPr>
          <a:xfrm xmlns:a="http://schemas.openxmlformats.org/drawingml/2006/main">
            <a:off x="609600" y="3829050"/>
            <a:ext cx="5219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23339"/>
                </a:solidFill>
                <a:latin typeface="Nimbus Sans"/>
                <a:ea typeface="Nimbus Sans"/>
                <a:cs typeface="Nimbus Sans"/>
              </a:defRPr>
            </a:pPr>
            <a:r>
              <a:rPr sz="2550" b="0">
                <a:solidFill>
                  <a:srgbClr val="123339"/>
                </a:solidFill>
                <a:latin typeface="Nimbus Sans"/>
                <a:ea typeface="Nimbus Sans"/>
                <a:cs typeface="Nimbus Sans"/>
              </a:rPr>
              <a:t>Validate again</a:t>
            </a:r>
          </a:p>
        </p:txBody>
      </p:sp>
      <p:sp>
        <p:nvSpPr>
          <p:cNvPr id="12" name="text-103">
            <a:extLst xmlns:a="http://schemas.openxmlformats.org/drawingml/2006/main">
              <a:ext uri="{FF2B5EF4-FFF2-40B4-BE49-F238E27FC236}">
                <a16:creationId xmlns:a16="http://schemas.microsoft.com/office/drawing/2014/main" id="{260CD5D1-8699-4A91-80C6-C2BCBCD23783}"/>
              </a:ext>
            </a:extLst>
          </p:cNvPr>
          <p:cNvSpPr>
            <a:spLocks xmlns:a="http://schemas.openxmlformats.org/drawingml/2006/main" noGrp="1"/>
          </p:cNvSpPr>
          <p:nvPr/>
        </p:nvSpPr>
        <p:spPr>
          <a:xfrm xmlns:a="http://schemas.openxmlformats.org/drawingml/2006/main">
            <a:off x="6124575" y="3829050"/>
            <a:ext cx="5219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23339"/>
                </a:solidFill>
                <a:latin typeface="Nimbus Sans"/>
                <a:ea typeface="Nimbus Sans"/>
                <a:cs typeface="Nimbus Sans"/>
              </a:defRPr>
            </a:pPr>
            <a:r>
              <a:rPr sz="2550" b="0">
                <a:solidFill>
                  <a:srgbClr val="123339"/>
                </a:solidFill>
                <a:latin typeface="Nimbus Sans"/>
                <a:ea typeface="Nimbus Sans"/>
                <a:cs typeface="Nimbus Sans"/>
              </a:rPr>
              <a:t>Review authorisation</a:t>
            </a:r>
          </a:p>
        </p:txBody>
      </p:sp>
      <p:sp>
        <p:nvSpPr>
          <p:cNvPr id="13" name="text-104">
            <a:extLst xmlns:a="http://schemas.openxmlformats.org/drawingml/2006/main">
              <a:ext uri="{FF2B5EF4-FFF2-40B4-BE49-F238E27FC236}">
                <a16:creationId xmlns:a16="http://schemas.microsoft.com/office/drawing/2014/main" id="{4BAAE8DA-1D2D-4ADC-9352-FCCF83ABC21E}"/>
              </a:ext>
            </a:extLst>
          </p:cNvPr>
          <p:cNvSpPr>
            <a:spLocks xmlns:a="http://schemas.openxmlformats.org/drawingml/2006/main" noGrp="1"/>
          </p:cNvSpPr>
          <p:nvPr/>
        </p:nvSpPr>
        <p:spPr>
          <a:xfrm xmlns:a="http://schemas.openxmlformats.org/drawingml/2006/main">
            <a:off x="609600" y="4857750"/>
            <a:ext cx="5219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23339"/>
                </a:solidFill>
                <a:latin typeface="Nimbus Sans"/>
                <a:ea typeface="Nimbus Sans"/>
                <a:cs typeface="Nimbus Sans"/>
              </a:defRPr>
            </a:pPr>
            <a:r>
              <a:rPr sz="2550" b="0">
                <a:solidFill>
                  <a:srgbClr val="123339"/>
                </a:solidFill>
                <a:latin typeface="Nimbus Sans"/>
                <a:ea typeface="Nimbus Sans"/>
                <a:cs typeface="Nimbus Sans"/>
              </a:rPr>
              <a:t>Notify and record</a:t>
            </a:r>
          </a:p>
        </p:txBody>
      </p:sp>
      <p:sp>
        <p:nvSpPr>
          <p:cNvPr id="14" name="text-105">
            <a:extLst xmlns:a="http://schemas.openxmlformats.org/drawingml/2006/main">
              <a:ext uri="{FF2B5EF4-FFF2-40B4-BE49-F238E27FC236}">
                <a16:creationId xmlns:a16="http://schemas.microsoft.com/office/drawing/2014/main" id="{C9FEC063-555F-47C7-984F-0364938D6FAD}"/>
              </a:ext>
            </a:extLst>
          </p:cNvPr>
          <p:cNvSpPr>
            <a:spLocks xmlns:a="http://schemas.openxmlformats.org/drawingml/2006/main" noGrp="1"/>
          </p:cNvSpPr>
          <p:nvPr/>
        </p:nvSpPr>
        <p:spPr>
          <a:xfrm xmlns:a="http://schemas.openxmlformats.org/drawingml/2006/main">
            <a:off x="6124575" y="4857750"/>
            <a:ext cx="5219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23339"/>
                </a:solidFill>
                <a:latin typeface="Nimbus Sans"/>
                <a:ea typeface="Nimbus Sans"/>
                <a:cs typeface="Nimbus Sans"/>
              </a:defRPr>
            </a:pPr>
            <a:r>
              <a:rPr sz="2550" b="0">
                <a:solidFill>
                  <a:srgbClr val="123339"/>
                </a:solidFill>
                <a:latin typeface="Nimbus Sans"/>
                <a:ea typeface="Nimbus Sans"/>
                <a:cs typeface="Nimbus Sans"/>
              </a:rPr>
              <a:t>Monitor and rollback</a:t>
            </a:r>
          </a:p>
        </p:txBody>
      </p:sp>
      <p:sp>
        <p:nvSpPr>
          <p:cNvPr id="15" name="text-106">
            <a:extLst xmlns:a="http://schemas.openxmlformats.org/drawingml/2006/main">
              <a:ext uri="{FF2B5EF4-FFF2-40B4-BE49-F238E27FC236}">
                <a16:creationId xmlns:a16="http://schemas.microsoft.com/office/drawing/2014/main" id="{B3DD2AD2-EED6-430C-8E17-7B62A2BBDFB4}"/>
              </a:ext>
            </a:extLst>
          </p:cNvPr>
          <p:cNvSpPr>
            <a:spLocks xmlns:a="http://schemas.openxmlformats.org/drawingml/2006/main" noGrp="1"/>
          </p:cNvSpPr>
          <p:nvPr/>
        </p:nvSpPr>
        <p:spPr>
          <a:xfrm xmlns:a="http://schemas.openxmlformats.org/drawingml/2006/main">
            <a:off x="609600" y="61245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Hypothetical FoGO change. Review requirements depend on the change and intended use.</a:t>
            </a:r>
          </a:p>
        </p:txBody>
      </p:sp>
    </p:spTree>
    <p:extLst>
      <p:ext uri="{BB962C8B-B14F-4D97-AF65-F5344CB8AC3E}">
        <p14:creationId xmlns:p14="http://schemas.microsoft.com/office/powerpoint/2010/main" val="147051123"/>
      </p:ext>
    </p:extLst>
  </p:cSld>
</p:sld>
</file>

<file path=ppt/slides/slide1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33" name="slide-title">
            <a:extLst xmlns:a="http://schemas.openxmlformats.org/drawingml/2006/main">
              <a:ext uri="{FF2B5EF4-FFF2-40B4-BE49-F238E27FC236}">
                <a16:creationId xmlns:a16="http://schemas.microsoft.com/office/drawing/2014/main" id="{9CEAF86A-8464-4388-95EF-42B37539B296}"/>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Who responds when a device harms someone?</a:t>
            </a:r>
          </a:p>
        </p:txBody>
      </p:sp>
      <p:sp>
        <p:nvSpPr>
          <p:cNvPr id="2" name="text-107">
            <a:extLst xmlns:a="http://schemas.openxmlformats.org/drawingml/2006/main">
              <a:ext uri="{FF2B5EF4-FFF2-40B4-BE49-F238E27FC236}">
                <a16:creationId xmlns:a16="http://schemas.microsoft.com/office/drawing/2014/main" id="{E7DB1213-DFE5-4A38-BC5A-979B4C568C04}"/>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15</a:t>
            </a:r>
          </a:p>
        </p:txBody>
      </p:sp>
      <p:sp>
        <p:nvSpPr>
          <p:cNvPr id="3" name="text-108">
            <a:extLst xmlns:a="http://schemas.openxmlformats.org/drawingml/2006/main">
              <a:ext uri="{FF2B5EF4-FFF2-40B4-BE49-F238E27FC236}">
                <a16:creationId xmlns:a16="http://schemas.microsoft.com/office/drawing/2014/main" id="{9DE4333F-BC63-4362-95E7-9961779A0F4A}"/>
              </a:ext>
            </a:extLst>
          </p:cNvPr>
          <p:cNvSpPr>
            <a:spLocks xmlns:a="http://schemas.openxmlformats.org/drawingml/2006/main" noGrp="1"/>
          </p:cNvSpPr>
          <p:nvPr/>
        </p:nvSpPr>
        <p:spPr>
          <a:xfrm xmlns:a="http://schemas.openxmlformats.org/drawingml/2006/main">
            <a:off x="609600" y="1809750"/>
            <a:ext cx="2867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7C"/>
                </a:solidFill>
                <a:latin typeface="Nimbus Sans"/>
                <a:ea typeface="Nimbus Sans"/>
                <a:cs typeface="Nimbus Sans"/>
              </a:defRPr>
            </a:pPr>
            <a:r>
              <a:rPr sz="3300" b="1">
                <a:solidFill>
                  <a:srgbClr val="087F7C"/>
                </a:solidFill>
                <a:latin typeface="Nimbus Sans"/>
                <a:ea typeface="Nimbus Sans"/>
                <a:cs typeface="Nimbus Sans"/>
              </a:rPr>
              <a:t>Care</a:t>
            </a:r>
          </a:p>
        </p:txBody>
      </p:sp>
      <p:sp>
        <p:nvSpPr>
          <p:cNvPr id="4" name="text-109">
            <a:extLst xmlns:a="http://schemas.openxmlformats.org/drawingml/2006/main">
              <a:ext uri="{FF2B5EF4-FFF2-40B4-BE49-F238E27FC236}">
                <a16:creationId xmlns:a16="http://schemas.microsoft.com/office/drawing/2014/main" id="{A32E60E4-0051-4CD0-9AE9-D4826CC62EB8}"/>
              </a:ext>
            </a:extLst>
          </p:cNvPr>
          <p:cNvSpPr>
            <a:spLocks xmlns:a="http://schemas.openxmlformats.org/drawingml/2006/main" noGrp="1"/>
          </p:cNvSpPr>
          <p:nvPr/>
        </p:nvSpPr>
        <p:spPr>
          <a:xfrm xmlns:a="http://schemas.openxmlformats.org/drawingml/2006/main">
            <a:off x="609600" y="2581275"/>
            <a:ext cx="2990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23339"/>
                </a:solidFill>
                <a:latin typeface="Nimbus Sans"/>
                <a:ea typeface="Nimbus Sans"/>
                <a:cs typeface="Nimbus Sans"/>
              </a:defRPr>
            </a:pPr>
            <a:r>
              <a:rPr sz="2100" b="0">
                <a:solidFill>
                  <a:srgbClr val="123339"/>
                </a:solidFill>
                <a:latin typeface="Nimbus Sans"/>
                <a:ea typeface="Nimbus Sans"/>
                <a:cs typeface="Nimbus Sans"/>
              </a:rPr>
              <a:t>Person’s immediate needs</a:t>
            </a:r>
          </a:p>
        </p:txBody>
      </p:sp>
      <p:sp>
        <p:nvSpPr>
          <p:cNvPr id="5" name="text-110">
            <a:extLst xmlns:a="http://schemas.openxmlformats.org/drawingml/2006/main">
              <a:ext uri="{FF2B5EF4-FFF2-40B4-BE49-F238E27FC236}">
                <a16:creationId xmlns:a16="http://schemas.microsoft.com/office/drawing/2014/main" id="{34564CDF-7DBB-4488-A94D-C11D2D397BB7}"/>
              </a:ext>
            </a:extLst>
          </p:cNvPr>
          <p:cNvSpPr>
            <a:spLocks xmlns:a="http://schemas.openxmlformats.org/drawingml/2006/main" noGrp="1"/>
          </p:cNvSpPr>
          <p:nvPr/>
        </p:nvSpPr>
        <p:spPr>
          <a:xfrm xmlns:a="http://schemas.openxmlformats.org/drawingml/2006/main">
            <a:off x="4324350" y="1809750"/>
            <a:ext cx="2867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7C"/>
                </a:solidFill>
                <a:latin typeface="Nimbus Sans"/>
                <a:ea typeface="Nimbus Sans"/>
                <a:cs typeface="Nimbus Sans"/>
              </a:defRPr>
            </a:pPr>
            <a:r>
              <a:rPr sz="3300" b="1">
                <a:solidFill>
                  <a:srgbClr val="087F7C"/>
                </a:solidFill>
                <a:latin typeface="Nimbus Sans"/>
                <a:ea typeface="Nimbus Sans"/>
                <a:cs typeface="Nimbus Sans"/>
              </a:rPr>
              <a:t>Record</a:t>
            </a:r>
          </a:p>
        </p:txBody>
      </p:sp>
      <p:sp>
        <p:nvSpPr>
          <p:cNvPr id="6" name="text-111">
            <a:extLst xmlns:a="http://schemas.openxmlformats.org/drawingml/2006/main">
              <a:ext uri="{FF2B5EF4-FFF2-40B4-BE49-F238E27FC236}">
                <a16:creationId xmlns:a16="http://schemas.microsoft.com/office/drawing/2014/main" id="{7F10ECDB-EADA-4BDE-973F-5D8470879245}"/>
              </a:ext>
            </a:extLst>
          </p:cNvPr>
          <p:cNvSpPr>
            <a:spLocks xmlns:a="http://schemas.openxmlformats.org/drawingml/2006/main" noGrp="1"/>
          </p:cNvSpPr>
          <p:nvPr/>
        </p:nvSpPr>
        <p:spPr>
          <a:xfrm xmlns:a="http://schemas.openxmlformats.org/drawingml/2006/main">
            <a:off x="4324350" y="2581275"/>
            <a:ext cx="2990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23339"/>
                </a:solidFill>
                <a:latin typeface="Nimbus Sans"/>
                <a:ea typeface="Nimbus Sans"/>
                <a:cs typeface="Nimbus Sans"/>
              </a:defRPr>
            </a:pPr>
            <a:r>
              <a:rPr sz="2100" b="0">
                <a:solidFill>
                  <a:srgbClr val="123339"/>
                </a:solidFill>
                <a:latin typeface="Nimbus Sans"/>
                <a:ea typeface="Nimbus Sans"/>
                <a:cs typeface="Nimbus Sans"/>
              </a:rPr>
              <a:t>Device, version and context</a:t>
            </a:r>
          </a:p>
        </p:txBody>
      </p:sp>
      <p:sp>
        <p:nvSpPr>
          <p:cNvPr id="7" name="text-112">
            <a:extLst xmlns:a="http://schemas.openxmlformats.org/drawingml/2006/main">
              <a:ext uri="{FF2B5EF4-FFF2-40B4-BE49-F238E27FC236}">
                <a16:creationId xmlns:a16="http://schemas.microsoft.com/office/drawing/2014/main" id="{BE9BB49F-7B68-4641-A6B9-63AC8C7A6F8B}"/>
              </a:ext>
            </a:extLst>
          </p:cNvPr>
          <p:cNvSpPr>
            <a:spLocks xmlns:a="http://schemas.openxmlformats.org/drawingml/2006/main" noGrp="1"/>
          </p:cNvSpPr>
          <p:nvPr/>
        </p:nvSpPr>
        <p:spPr>
          <a:xfrm xmlns:a="http://schemas.openxmlformats.org/drawingml/2006/main">
            <a:off x="8039100" y="1809750"/>
            <a:ext cx="2867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7C"/>
                </a:solidFill>
                <a:latin typeface="Nimbus Sans"/>
                <a:ea typeface="Nimbus Sans"/>
                <a:cs typeface="Nimbus Sans"/>
              </a:defRPr>
            </a:pPr>
            <a:r>
              <a:rPr sz="3300" b="1">
                <a:solidFill>
                  <a:srgbClr val="087F7C"/>
                </a:solidFill>
                <a:latin typeface="Nimbus Sans"/>
                <a:ea typeface="Nimbus Sans"/>
                <a:cs typeface="Nimbus Sans"/>
              </a:rPr>
              <a:t>Report</a:t>
            </a:r>
          </a:p>
        </p:txBody>
      </p:sp>
      <p:sp>
        <p:nvSpPr>
          <p:cNvPr id="8" name="text-113">
            <a:extLst xmlns:a="http://schemas.openxmlformats.org/drawingml/2006/main">
              <a:ext uri="{FF2B5EF4-FFF2-40B4-BE49-F238E27FC236}">
                <a16:creationId xmlns:a16="http://schemas.microsoft.com/office/drawing/2014/main" id="{2FF78329-4831-49AE-B161-97CAB8EA15C4}"/>
              </a:ext>
            </a:extLst>
          </p:cNvPr>
          <p:cNvSpPr>
            <a:spLocks xmlns:a="http://schemas.openxmlformats.org/drawingml/2006/main" noGrp="1"/>
          </p:cNvSpPr>
          <p:nvPr/>
        </p:nvSpPr>
        <p:spPr>
          <a:xfrm xmlns:a="http://schemas.openxmlformats.org/drawingml/2006/main">
            <a:off x="8039100" y="2581275"/>
            <a:ext cx="2990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23339"/>
                </a:solidFill>
                <a:latin typeface="Nimbus Sans"/>
                <a:ea typeface="Nimbus Sans"/>
                <a:cs typeface="Nimbus Sans"/>
              </a:defRPr>
            </a:pPr>
            <a:r>
              <a:rPr sz="2100" b="0">
                <a:solidFill>
                  <a:srgbClr val="123339"/>
                </a:solidFill>
                <a:latin typeface="Nimbus Sans"/>
                <a:ea typeface="Nimbus Sans"/>
                <a:cs typeface="Nimbus Sans"/>
              </a:rPr>
              <a:t>Applicable reporting channels</a:t>
            </a:r>
          </a:p>
        </p:txBody>
      </p:sp>
      <p:sp>
        <p:nvSpPr>
          <p:cNvPr id="9" name="text-114">
            <a:extLst xmlns:a="http://schemas.openxmlformats.org/drawingml/2006/main">
              <a:ext uri="{FF2B5EF4-FFF2-40B4-BE49-F238E27FC236}">
                <a16:creationId xmlns:a16="http://schemas.microsoft.com/office/drawing/2014/main" id="{D5D7F9FC-E4C6-4848-AEB4-E273764CD086}"/>
              </a:ext>
            </a:extLst>
          </p:cNvPr>
          <p:cNvSpPr>
            <a:spLocks xmlns:a="http://schemas.openxmlformats.org/drawingml/2006/main" noGrp="1"/>
          </p:cNvSpPr>
          <p:nvPr/>
        </p:nvSpPr>
        <p:spPr>
          <a:xfrm xmlns:a="http://schemas.openxmlformats.org/drawingml/2006/main">
            <a:off x="609600" y="4162425"/>
            <a:ext cx="2867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7C"/>
                </a:solidFill>
                <a:latin typeface="Nimbus Sans"/>
                <a:ea typeface="Nimbus Sans"/>
                <a:cs typeface="Nimbus Sans"/>
              </a:defRPr>
            </a:pPr>
            <a:r>
              <a:rPr sz="3300" b="1">
                <a:solidFill>
                  <a:srgbClr val="087F7C"/>
                </a:solidFill>
                <a:latin typeface="Nimbus Sans"/>
                <a:ea typeface="Nimbus Sans"/>
                <a:cs typeface="Nimbus Sans"/>
              </a:rPr>
              <a:t>Follow up</a:t>
            </a:r>
          </a:p>
        </p:txBody>
      </p:sp>
      <p:sp>
        <p:nvSpPr>
          <p:cNvPr id="10" name="text-115">
            <a:extLst xmlns:a="http://schemas.openxmlformats.org/drawingml/2006/main">
              <a:ext uri="{FF2B5EF4-FFF2-40B4-BE49-F238E27FC236}">
                <a16:creationId xmlns:a16="http://schemas.microsoft.com/office/drawing/2014/main" id="{DEE7A6EB-44A5-41C4-944D-29DB5DC2E8DB}"/>
              </a:ext>
            </a:extLst>
          </p:cNvPr>
          <p:cNvSpPr>
            <a:spLocks xmlns:a="http://schemas.openxmlformats.org/drawingml/2006/main" noGrp="1"/>
          </p:cNvSpPr>
          <p:nvPr/>
        </p:nvSpPr>
        <p:spPr>
          <a:xfrm xmlns:a="http://schemas.openxmlformats.org/drawingml/2006/main">
            <a:off x="609600" y="4933950"/>
            <a:ext cx="2990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23339"/>
                </a:solidFill>
                <a:latin typeface="Nimbus Sans"/>
                <a:ea typeface="Nimbus Sans"/>
                <a:cs typeface="Nimbus Sans"/>
              </a:defRPr>
            </a:pPr>
            <a:r>
              <a:rPr sz="2100" b="0">
                <a:solidFill>
                  <a:srgbClr val="123339"/>
                </a:solidFill>
                <a:latin typeface="Nimbus Sans"/>
                <a:ea typeface="Nimbus Sans"/>
                <a:cs typeface="Nimbus Sans"/>
              </a:rPr>
              <a:t>Person and ongoing safety</a:t>
            </a:r>
          </a:p>
        </p:txBody>
      </p:sp>
      <p:sp>
        <p:nvSpPr>
          <p:cNvPr id="11" name="text-116">
            <a:extLst xmlns:a="http://schemas.openxmlformats.org/drawingml/2006/main">
              <a:ext uri="{FF2B5EF4-FFF2-40B4-BE49-F238E27FC236}">
                <a16:creationId xmlns:a16="http://schemas.microsoft.com/office/drawing/2014/main" id="{47AF63CF-3191-4A45-89B5-45F5139266E3}"/>
              </a:ext>
            </a:extLst>
          </p:cNvPr>
          <p:cNvSpPr>
            <a:spLocks xmlns:a="http://schemas.openxmlformats.org/drawingml/2006/main" noGrp="1"/>
          </p:cNvSpPr>
          <p:nvPr/>
        </p:nvSpPr>
        <p:spPr>
          <a:xfrm xmlns:a="http://schemas.openxmlformats.org/drawingml/2006/main">
            <a:off x="4324350" y="4162425"/>
            <a:ext cx="2867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7C"/>
                </a:solidFill>
                <a:latin typeface="Nimbus Sans"/>
                <a:ea typeface="Nimbus Sans"/>
                <a:cs typeface="Nimbus Sans"/>
              </a:defRPr>
            </a:pPr>
            <a:r>
              <a:rPr sz="3300" b="1">
                <a:solidFill>
                  <a:srgbClr val="087F7C"/>
                </a:solidFill>
                <a:latin typeface="Nimbus Sans"/>
                <a:ea typeface="Nimbus Sans"/>
                <a:cs typeface="Nimbus Sans"/>
              </a:rPr>
              <a:t>Correct</a:t>
            </a:r>
          </a:p>
        </p:txBody>
      </p:sp>
      <p:sp>
        <p:nvSpPr>
          <p:cNvPr id="12" name="text-117">
            <a:extLst xmlns:a="http://schemas.openxmlformats.org/drawingml/2006/main">
              <a:ext uri="{FF2B5EF4-FFF2-40B4-BE49-F238E27FC236}">
                <a16:creationId xmlns:a16="http://schemas.microsoft.com/office/drawing/2014/main" id="{FE6EE66B-25FF-482B-BFEA-D77086C20898}"/>
              </a:ext>
            </a:extLst>
          </p:cNvPr>
          <p:cNvSpPr>
            <a:spLocks xmlns:a="http://schemas.openxmlformats.org/drawingml/2006/main" noGrp="1"/>
          </p:cNvSpPr>
          <p:nvPr/>
        </p:nvSpPr>
        <p:spPr>
          <a:xfrm xmlns:a="http://schemas.openxmlformats.org/drawingml/2006/main">
            <a:off x="4324350" y="4933950"/>
            <a:ext cx="2990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23339"/>
                </a:solidFill>
                <a:latin typeface="Nimbus Sans"/>
                <a:ea typeface="Nimbus Sans"/>
                <a:cs typeface="Nimbus Sans"/>
              </a:defRPr>
            </a:pPr>
            <a:r>
              <a:rPr sz="2100" b="0">
                <a:solidFill>
                  <a:srgbClr val="123339"/>
                </a:solidFill>
                <a:latin typeface="Nimbus Sans"/>
                <a:ea typeface="Nimbus Sans"/>
                <a:cs typeface="Nimbus Sans"/>
              </a:rPr>
              <a:t>Action and its effectiveness</a:t>
            </a:r>
          </a:p>
        </p:txBody>
      </p:sp>
      <p:sp>
        <p:nvSpPr>
          <p:cNvPr id="13" name="text-118">
            <a:extLst xmlns:a="http://schemas.openxmlformats.org/drawingml/2006/main">
              <a:ext uri="{FF2B5EF4-FFF2-40B4-BE49-F238E27FC236}">
                <a16:creationId xmlns:a16="http://schemas.microsoft.com/office/drawing/2014/main" id="{663CF9BC-2F22-4B14-9CEC-A2C583ADDD71}"/>
              </a:ext>
            </a:extLst>
          </p:cNvPr>
          <p:cNvSpPr>
            <a:spLocks xmlns:a="http://schemas.openxmlformats.org/drawingml/2006/main" noGrp="1"/>
          </p:cNvSpPr>
          <p:nvPr/>
        </p:nvSpPr>
        <p:spPr>
          <a:xfrm xmlns:a="http://schemas.openxmlformats.org/drawingml/2006/main">
            <a:off x="8039100" y="4162425"/>
            <a:ext cx="2867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7C"/>
                </a:solidFill>
                <a:latin typeface="Nimbus Sans"/>
                <a:ea typeface="Nimbus Sans"/>
                <a:cs typeface="Nimbus Sans"/>
              </a:defRPr>
            </a:pPr>
            <a:r>
              <a:rPr sz="3300" b="1">
                <a:solidFill>
                  <a:srgbClr val="087F7C"/>
                </a:solidFill>
                <a:latin typeface="Nimbus Sans"/>
                <a:ea typeface="Nimbus Sans"/>
                <a:cs typeface="Nimbus Sans"/>
              </a:rPr>
              <a:t>Investigate</a:t>
            </a:r>
          </a:p>
        </p:txBody>
      </p:sp>
      <p:sp>
        <p:nvSpPr>
          <p:cNvPr id="14" name="text-119">
            <a:extLst xmlns:a="http://schemas.openxmlformats.org/drawingml/2006/main">
              <a:ext uri="{FF2B5EF4-FFF2-40B4-BE49-F238E27FC236}">
                <a16:creationId xmlns:a16="http://schemas.microsoft.com/office/drawing/2014/main" id="{D75DDC34-95C9-40EE-B2CE-A7C019FB2265}"/>
              </a:ext>
            </a:extLst>
          </p:cNvPr>
          <p:cNvSpPr>
            <a:spLocks xmlns:a="http://schemas.openxmlformats.org/drawingml/2006/main" noGrp="1"/>
          </p:cNvSpPr>
          <p:nvPr/>
        </p:nvSpPr>
        <p:spPr>
          <a:xfrm xmlns:a="http://schemas.openxmlformats.org/drawingml/2006/main">
            <a:off x="8039100" y="4933950"/>
            <a:ext cx="2990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23339"/>
                </a:solidFill>
                <a:latin typeface="Nimbus Sans"/>
                <a:ea typeface="Nimbus Sans"/>
                <a:cs typeface="Nimbus Sans"/>
              </a:defRPr>
            </a:pPr>
            <a:r>
              <a:rPr sz="2100" b="0">
                <a:solidFill>
                  <a:srgbClr val="123339"/>
                </a:solidFill>
                <a:latin typeface="Nimbus Sans"/>
                <a:ea typeface="Nimbus Sans"/>
                <a:cs typeface="Nimbus Sans"/>
              </a:rPr>
              <a:t>Cause and context</a:t>
            </a:r>
          </a:p>
        </p:txBody>
      </p:sp>
      <p:sp>
        <p:nvSpPr>
          <p:cNvPr id="15" name="">
            <a:extLst xmlns:a="http://schemas.openxmlformats.org/drawingml/2006/main">
              <a:ext uri="{FF2B5EF4-FFF2-40B4-BE49-F238E27FC236}">
                <a16:creationId xmlns:a16="http://schemas.microsoft.com/office/drawing/2014/main" id="{D0C48C2A-7E55-4B76-9625-522666DE287E}"/>
              </a:ext>
            </a:extLst>
          </p:cNvPr>
          <p:cNvSpPr>
            <a:spLocks xmlns:a="http://schemas.openxmlformats.org/drawingml/2006/main" noGrp="1"/>
          </p:cNvSpPr>
          <p:nvPr/>
        </p:nvSpPr>
        <p:spPr>
          <a:xfrm xmlns:a="http://schemas.openxmlformats.org/drawingml/2006/main" flipV="0">
            <a:off x="3476625" y="2200275"/>
            <a:ext cx="581025" cy="0"/>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16" name="">
            <a:extLst xmlns:a="http://schemas.openxmlformats.org/drawingml/2006/main">
              <a:ext uri="{FF2B5EF4-FFF2-40B4-BE49-F238E27FC236}">
                <a16:creationId xmlns:a16="http://schemas.microsoft.com/office/drawing/2014/main" id="{632F614E-F0C8-4FEB-BF76-4DB9D27E75AA}"/>
              </a:ext>
            </a:extLst>
          </p:cNvPr>
          <p:cNvSpPr>
            <a:spLocks xmlns:a="http://schemas.openxmlformats.org/drawingml/2006/main" noGrp="1"/>
          </p:cNvSpPr>
          <p:nvPr/>
        </p:nvSpPr>
        <p:spPr>
          <a:xfrm xmlns:a="http://schemas.openxmlformats.org/drawingml/2006/main" flipV="1">
            <a:off x="3960206" y="2200275"/>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17" name="">
            <a:extLst xmlns:a="http://schemas.openxmlformats.org/drawingml/2006/main">
              <a:ext uri="{FF2B5EF4-FFF2-40B4-BE49-F238E27FC236}">
                <a16:creationId xmlns:a16="http://schemas.microsoft.com/office/drawing/2014/main" id="{318F548D-473F-448E-9B1C-E9FADD8E4AB1}"/>
              </a:ext>
            </a:extLst>
          </p:cNvPr>
          <p:cNvSpPr>
            <a:spLocks xmlns:a="http://schemas.openxmlformats.org/drawingml/2006/main" noGrp="1"/>
          </p:cNvSpPr>
          <p:nvPr/>
        </p:nvSpPr>
        <p:spPr>
          <a:xfrm xmlns:a="http://schemas.openxmlformats.org/drawingml/2006/main" flipV="0">
            <a:off x="3960206" y="2140532"/>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18" name="">
            <a:extLst xmlns:a="http://schemas.openxmlformats.org/drawingml/2006/main">
              <a:ext uri="{FF2B5EF4-FFF2-40B4-BE49-F238E27FC236}">
                <a16:creationId xmlns:a16="http://schemas.microsoft.com/office/drawing/2014/main" id="{D8F76138-4F3E-4610-A662-23DBA64876FA}"/>
              </a:ext>
            </a:extLst>
          </p:cNvPr>
          <p:cNvSpPr>
            <a:spLocks xmlns:a="http://schemas.openxmlformats.org/drawingml/2006/main" noGrp="1"/>
          </p:cNvSpPr>
          <p:nvPr/>
        </p:nvSpPr>
        <p:spPr>
          <a:xfrm xmlns:a="http://schemas.openxmlformats.org/drawingml/2006/main" flipV="0">
            <a:off x="7191375" y="2200275"/>
            <a:ext cx="581025" cy="0"/>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19" name="">
            <a:extLst xmlns:a="http://schemas.openxmlformats.org/drawingml/2006/main">
              <a:ext uri="{FF2B5EF4-FFF2-40B4-BE49-F238E27FC236}">
                <a16:creationId xmlns:a16="http://schemas.microsoft.com/office/drawing/2014/main" id="{975886E9-2B69-4622-9457-E3DE9902E60E}"/>
              </a:ext>
            </a:extLst>
          </p:cNvPr>
          <p:cNvSpPr>
            <a:spLocks xmlns:a="http://schemas.openxmlformats.org/drawingml/2006/main" noGrp="1"/>
          </p:cNvSpPr>
          <p:nvPr/>
        </p:nvSpPr>
        <p:spPr>
          <a:xfrm xmlns:a="http://schemas.openxmlformats.org/drawingml/2006/main" flipV="1">
            <a:off x="7674956" y="2200275"/>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20" name="">
            <a:extLst xmlns:a="http://schemas.openxmlformats.org/drawingml/2006/main">
              <a:ext uri="{FF2B5EF4-FFF2-40B4-BE49-F238E27FC236}">
                <a16:creationId xmlns:a16="http://schemas.microsoft.com/office/drawing/2014/main" id="{947F778B-76C3-4FCA-AA5A-27DDCF952170}"/>
              </a:ext>
            </a:extLst>
          </p:cNvPr>
          <p:cNvSpPr>
            <a:spLocks xmlns:a="http://schemas.openxmlformats.org/drawingml/2006/main" noGrp="1"/>
          </p:cNvSpPr>
          <p:nvPr/>
        </p:nvSpPr>
        <p:spPr>
          <a:xfrm xmlns:a="http://schemas.openxmlformats.org/drawingml/2006/main" flipV="0">
            <a:off x="7674956" y="2140532"/>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21" name="">
            <a:extLst xmlns:a="http://schemas.openxmlformats.org/drawingml/2006/main">
              <a:ext uri="{FF2B5EF4-FFF2-40B4-BE49-F238E27FC236}">
                <a16:creationId xmlns:a16="http://schemas.microsoft.com/office/drawing/2014/main" id="{2834D426-2915-4613-8174-D24FBC94DDA4}"/>
              </a:ext>
            </a:extLst>
          </p:cNvPr>
          <p:cNvSpPr>
            <a:spLocks xmlns:a="http://schemas.openxmlformats.org/drawingml/2006/main" noGrp="1"/>
          </p:cNvSpPr>
          <p:nvPr/>
        </p:nvSpPr>
        <p:spPr>
          <a:xfrm xmlns:a="http://schemas.openxmlformats.org/drawingml/2006/main" flipV="0">
            <a:off x="11125200" y="2371725"/>
            <a:ext cx="0" cy="1981200"/>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22" name="">
            <a:extLst xmlns:a="http://schemas.openxmlformats.org/drawingml/2006/main">
              <a:ext uri="{FF2B5EF4-FFF2-40B4-BE49-F238E27FC236}">
                <a16:creationId xmlns:a16="http://schemas.microsoft.com/office/drawing/2014/main" id="{3F4EDCB0-4173-488D-9992-63EDC18C5F86}"/>
              </a:ext>
            </a:extLst>
          </p:cNvPr>
          <p:cNvSpPr>
            <a:spLocks xmlns:a="http://schemas.openxmlformats.org/drawingml/2006/main" noGrp="1"/>
          </p:cNvSpPr>
          <p:nvPr/>
        </p:nvSpPr>
        <p:spPr>
          <a:xfrm xmlns:a="http://schemas.openxmlformats.org/drawingml/2006/main" flipV="0">
            <a:off x="10934700" y="4352925"/>
            <a:ext cx="190500" cy="0"/>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23" name="">
            <a:extLst xmlns:a="http://schemas.openxmlformats.org/drawingml/2006/main">
              <a:ext uri="{FF2B5EF4-FFF2-40B4-BE49-F238E27FC236}">
                <a16:creationId xmlns:a16="http://schemas.microsoft.com/office/drawing/2014/main" id="{7A3DA8E1-411A-45F1-958A-BF6585418061}"/>
              </a:ext>
            </a:extLst>
          </p:cNvPr>
          <p:cNvSpPr>
            <a:spLocks xmlns:a="http://schemas.openxmlformats.org/drawingml/2006/main" noGrp="1"/>
          </p:cNvSpPr>
          <p:nvPr/>
        </p:nvSpPr>
        <p:spPr>
          <a:xfrm xmlns:a="http://schemas.openxmlformats.org/drawingml/2006/main" flipV="1">
            <a:off x="10934700" y="4293182"/>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24" name="">
            <a:extLst xmlns:a="http://schemas.openxmlformats.org/drawingml/2006/main">
              <a:ext uri="{FF2B5EF4-FFF2-40B4-BE49-F238E27FC236}">
                <a16:creationId xmlns:a16="http://schemas.microsoft.com/office/drawing/2014/main" id="{F5271026-8F41-48EA-8B5F-B3F4AE21822F}"/>
              </a:ext>
            </a:extLst>
          </p:cNvPr>
          <p:cNvSpPr>
            <a:spLocks xmlns:a="http://schemas.openxmlformats.org/drawingml/2006/main" noGrp="1"/>
          </p:cNvSpPr>
          <p:nvPr/>
        </p:nvSpPr>
        <p:spPr>
          <a:xfrm xmlns:a="http://schemas.openxmlformats.org/drawingml/2006/main" flipV="0">
            <a:off x="10934700" y="4352925"/>
            <a:ext cx="97444" cy="59743"/>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25" name="">
            <a:extLst xmlns:a="http://schemas.openxmlformats.org/drawingml/2006/main">
              <a:ext uri="{FF2B5EF4-FFF2-40B4-BE49-F238E27FC236}">
                <a16:creationId xmlns:a16="http://schemas.microsoft.com/office/drawing/2014/main" id="{08533DFC-4262-49B7-B72C-3C115E4BFDA2}"/>
              </a:ext>
            </a:extLst>
          </p:cNvPr>
          <p:cNvSpPr>
            <a:spLocks xmlns:a="http://schemas.openxmlformats.org/drawingml/2006/main" noGrp="1"/>
          </p:cNvSpPr>
          <p:nvPr/>
        </p:nvSpPr>
        <p:spPr>
          <a:xfrm xmlns:a="http://schemas.openxmlformats.org/drawingml/2006/main" flipV="0">
            <a:off x="7381875" y="4552950"/>
            <a:ext cx="514350" cy="0"/>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26" name="">
            <a:extLst xmlns:a="http://schemas.openxmlformats.org/drawingml/2006/main">
              <a:ext uri="{FF2B5EF4-FFF2-40B4-BE49-F238E27FC236}">
                <a16:creationId xmlns:a16="http://schemas.microsoft.com/office/drawing/2014/main" id="{44210537-1F84-4E48-9481-E31C1A2AC9E7}"/>
              </a:ext>
            </a:extLst>
          </p:cNvPr>
          <p:cNvSpPr>
            <a:spLocks xmlns:a="http://schemas.openxmlformats.org/drawingml/2006/main" noGrp="1"/>
          </p:cNvSpPr>
          <p:nvPr/>
        </p:nvSpPr>
        <p:spPr>
          <a:xfrm xmlns:a="http://schemas.openxmlformats.org/drawingml/2006/main" flipV="1">
            <a:off x="7381875" y="4486275"/>
            <a:ext cx="142875" cy="66675"/>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27" name="">
            <a:extLst xmlns:a="http://schemas.openxmlformats.org/drawingml/2006/main">
              <a:ext uri="{FF2B5EF4-FFF2-40B4-BE49-F238E27FC236}">
                <a16:creationId xmlns:a16="http://schemas.microsoft.com/office/drawing/2014/main" id="{A6F0574E-5714-4F16-BF5C-766E4C139E55}"/>
              </a:ext>
            </a:extLst>
          </p:cNvPr>
          <p:cNvSpPr>
            <a:spLocks xmlns:a="http://schemas.openxmlformats.org/drawingml/2006/main" noGrp="1"/>
          </p:cNvSpPr>
          <p:nvPr/>
        </p:nvSpPr>
        <p:spPr>
          <a:xfrm xmlns:a="http://schemas.openxmlformats.org/drawingml/2006/main" flipV="0">
            <a:off x="7381875" y="4552950"/>
            <a:ext cx="142875" cy="66675"/>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28" name="">
            <a:extLst xmlns:a="http://schemas.openxmlformats.org/drawingml/2006/main">
              <a:ext uri="{FF2B5EF4-FFF2-40B4-BE49-F238E27FC236}">
                <a16:creationId xmlns:a16="http://schemas.microsoft.com/office/drawing/2014/main" id="{910BA348-5A09-44DD-A6D1-C067B5A39D40}"/>
              </a:ext>
            </a:extLst>
          </p:cNvPr>
          <p:cNvSpPr>
            <a:spLocks xmlns:a="http://schemas.openxmlformats.org/drawingml/2006/main" noGrp="1"/>
          </p:cNvSpPr>
          <p:nvPr/>
        </p:nvSpPr>
        <p:spPr>
          <a:xfrm xmlns:a="http://schemas.openxmlformats.org/drawingml/2006/main" flipV="0">
            <a:off x="3667125" y="4552950"/>
            <a:ext cx="514350" cy="0"/>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29" name="">
            <a:extLst xmlns:a="http://schemas.openxmlformats.org/drawingml/2006/main">
              <a:ext uri="{FF2B5EF4-FFF2-40B4-BE49-F238E27FC236}">
                <a16:creationId xmlns:a16="http://schemas.microsoft.com/office/drawing/2014/main" id="{47F0C437-FC40-4A47-AF44-0AFBD17C6FB1}"/>
              </a:ext>
            </a:extLst>
          </p:cNvPr>
          <p:cNvSpPr>
            <a:spLocks xmlns:a="http://schemas.openxmlformats.org/drawingml/2006/main" noGrp="1"/>
          </p:cNvSpPr>
          <p:nvPr/>
        </p:nvSpPr>
        <p:spPr>
          <a:xfrm xmlns:a="http://schemas.openxmlformats.org/drawingml/2006/main" flipV="1">
            <a:off x="3667125" y="4486275"/>
            <a:ext cx="142875" cy="66675"/>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30" name="">
            <a:extLst xmlns:a="http://schemas.openxmlformats.org/drawingml/2006/main">
              <a:ext uri="{FF2B5EF4-FFF2-40B4-BE49-F238E27FC236}">
                <a16:creationId xmlns:a16="http://schemas.microsoft.com/office/drawing/2014/main" id="{AB7DA353-D162-491C-B90A-6D3AAA40E379}"/>
              </a:ext>
            </a:extLst>
          </p:cNvPr>
          <p:cNvSpPr>
            <a:spLocks xmlns:a="http://schemas.openxmlformats.org/drawingml/2006/main" noGrp="1"/>
          </p:cNvSpPr>
          <p:nvPr/>
        </p:nvSpPr>
        <p:spPr>
          <a:xfrm xmlns:a="http://schemas.openxmlformats.org/drawingml/2006/main" flipV="0">
            <a:off x="3667125" y="4552950"/>
            <a:ext cx="142875" cy="66675"/>
          </a:xfrm>
          <a:prstGeom xmlns:a="http://schemas.openxmlformats.org/drawingml/2006/main" prst="line">
            <a:avLst/>
          </a:prstGeom>
          <a:noFill xmlns:a="http://schemas.openxmlformats.org/drawingml/2006/main"/>
          <a:ln xmlns:a="http://schemas.openxmlformats.org/drawingml/2006/main" w="28575">
            <a:solidFill>
              <a:srgbClr val="087F7C"/>
            </a:solidFill>
          </a:ln>
        </p:spPr>
      </p:sp>
      <p:sp>
        <p:nvSpPr>
          <p:cNvPr id="31" name="text-120">
            <a:extLst xmlns:a="http://schemas.openxmlformats.org/drawingml/2006/main">
              <a:ext uri="{FF2B5EF4-FFF2-40B4-BE49-F238E27FC236}">
                <a16:creationId xmlns:a16="http://schemas.microsoft.com/office/drawing/2014/main" id="{56720A8C-7ED9-436B-91D2-94B75D09BC61}"/>
              </a:ext>
            </a:extLst>
          </p:cNvPr>
          <p:cNvSpPr>
            <a:spLocks xmlns:a="http://schemas.openxmlformats.org/drawingml/2006/main" noGrp="1"/>
          </p:cNvSpPr>
          <p:nvPr/>
        </p:nvSpPr>
        <p:spPr>
          <a:xfrm xmlns:a="http://schemas.openxmlformats.org/drawingml/2006/main">
            <a:off x="609600" y="5781675"/>
            <a:ext cx="8420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23339"/>
                </a:solidFill>
                <a:latin typeface="Utopia"/>
                <a:ea typeface="Utopia"/>
                <a:cs typeface="Utopia"/>
              </a:defRPr>
            </a:pPr>
            <a:r>
              <a:rPr sz="2625" b="0">
                <a:solidFill>
                  <a:srgbClr val="123339"/>
                </a:solidFill>
                <a:latin typeface="Utopia"/>
                <a:ea typeface="Utopia"/>
                <a:cs typeface="Utopia"/>
              </a:rPr>
              <a:t>Who owns each action?</a:t>
            </a:r>
          </a:p>
        </p:txBody>
      </p:sp>
      <p:sp>
        <p:nvSpPr>
          <p:cNvPr id="32" name="text-121">
            <a:extLst xmlns:a="http://schemas.openxmlformats.org/drawingml/2006/main">
              <a:ext uri="{FF2B5EF4-FFF2-40B4-BE49-F238E27FC236}">
                <a16:creationId xmlns:a16="http://schemas.microsoft.com/office/drawing/2014/main" id="{3B5B8558-0456-4F2F-A414-1B9811B586B9}"/>
              </a:ext>
            </a:extLst>
          </p:cNvPr>
          <p:cNvSpPr>
            <a:spLocks xmlns:a="http://schemas.openxmlformats.org/drawingml/2006/main" noGrp="1"/>
          </p:cNvSpPr>
          <p:nvPr/>
        </p:nvSpPr>
        <p:spPr>
          <a:xfrm xmlns:a="http://schemas.openxmlformats.org/drawingml/2006/main">
            <a:off x="9277350" y="5915025"/>
            <a:ext cx="2305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087F7C"/>
                </a:solidFill>
                <a:latin typeface="Nimbus Sans"/>
                <a:ea typeface="Nimbus Sans"/>
                <a:cs typeface="Nimbus Sans"/>
              </a:defRPr>
            </a:pPr>
            <a:r>
              <a:rPr sz="1725" b="0">
                <a:solidFill>
                  <a:srgbClr val="087F7C"/>
                </a:solidFill>
                <a:latin typeface="Nimbus Sans"/>
                <a:ea typeface="Nimbus Sans"/>
                <a:cs typeface="Nimbus Sans"/>
                <a:hlinkClick xmlns:r="http://schemas.openxmlformats.org/officeDocument/2006/relationships" r:id="R142eace92eff470e"/>
              </a:rPr>
              <a:t>MvPI resources</a:t>
            </a:r>
          </a:p>
        </p:txBody>
      </p:sp>
    </p:spTree>
    <p:extLst>
      <p:ext uri="{BB962C8B-B14F-4D97-AF65-F5344CB8AC3E}">
        <p14:creationId xmlns:p14="http://schemas.microsoft.com/office/powerpoint/2010/main" val="2033330306"/>
      </p:ext>
    </p:extLst>
  </p:cSld>
</p:sld>
</file>

<file path=ppt/slides/slide16.xml><?xml version="1.0" encoding="utf-8"?>
<p:sld xmlns:p="http://schemas.openxmlformats.org/presentationml/2006/main">
  <p:cSld>
    <p:bg>
      <p:bgPr>
        <a:solidFill xmlns:a="http://schemas.openxmlformats.org/drawingml/2006/main">
          <a:srgbClr val="102E34"/>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8DCE189-2613-445B-87D1-6FFBFF39E354}"/>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Would you let a patient use it now?</a:t>
            </a:r>
          </a:p>
        </p:txBody>
      </p:sp>
      <p:sp>
        <p:nvSpPr>
          <p:cNvPr id="2" name="text-122">
            <a:extLst xmlns:a="http://schemas.openxmlformats.org/drawingml/2006/main">
              <a:ext uri="{FF2B5EF4-FFF2-40B4-BE49-F238E27FC236}">
                <a16:creationId xmlns:a16="http://schemas.microsoft.com/office/drawing/2014/main" id="{CC0070E0-6075-4A85-A20E-ABB31681111C}"/>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A7C8C7"/>
                </a:solidFill>
                <a:latin typeface="Nimbus Sans"/>
                <a:ea typeface="Nimbus Sans"/>
                <a:cs typeface="Nimbus Sans"/>
              </a:defRPr>
            </a:pPr>
            <a:r>
              <a:rPr sz="1350" b="0">
                <a:solidFill>
                  <a:srgbClr val="A7C8C7"/>
                </a:solidFill>
                <a:latin typeface="Nimbus Sans"/>
                <a:ea typeface="Nimbus Sans"/>
                <a:cs typeface="Nimbus Sans"/>
              </a:rPr>
              <a:t>16</a:t>
            </a:r>
          </a:p>
        </p:txBody>
      </p:sp>
      <p:sp>
        <p:nvSpPr>
          <p:cNvPr id="3" name="text-123">
            <a:extLst xmlns:a="http://schemas.openxmlformats.org/drawingml/2006/main">
              <a:ext uri="{FF2B5EF4-FFF2-40B4-BE49-F238E27FC236}">
                <a16:creationId xmlns:a16="http://schemas.microsoft.com/office/drawing/2014/main" id="{4815F396-BC13-4BEE-92AA-F8A9C70A7965}"/>
              </a:ext>
            </a:extLst>
          </p:cNvPr>
          <p:cNvSpPr>
            <a:spLocks xmlns:a="http://schemas.openxmlformats.org/drawingml/2006/main" noGrp="1"/>
          </p:cNvSpPr>
          <p:nvPr/>
        </p:nvSpPr>
        <p:spPr>
          <a:xfrm xmlns:a="http://schemas.openxmlformats.org/drawingml/2006/main">
            <a:off x="638175" y="1647825"/>
            <a:ext cx="10668000" cy="2752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FFFFFF"/>
                </a:solidFill>
                <a:latin typeface="Utopia"/>
                <a:ea typeface="Utopia"/>
                <a:cs typeface="Utopia"/>
              </a:defRPr>
            </a:pPr>
            <a:r>
              <a:rPr sz="3600" b="0">
                <a:solidFill>
                  <a:srgbClr val="FFFFFF"/>
                </a:solidFill>
                <a:latin typeface="Utopia"/>
                <a:ea typeface="Utopia"/>
                <a:cs typeface="Utopia"/>
              </a:rPr>
              <a:t>For which patient?</a:t>
            </a:r>
          </a:p>
          <a:p xmlns:a="http://schemas.openxmlformats.org/drawingml/2006/main">
            <a:pPr algn="l">
              <a:defRPr sz="3600" b="0">
                <a:solidFill>
                  <a:srgbClr val="FFFFFF"/>
                </a:solidFill>
                <a:latin typeface="Utopia"/>
                <a:ea typeface="Utopia"/>
                <a:cs typeface="Utopia"/>
              </a:defRPr>
            </a:pPr>
            <a:r>
              <a:rPr sz="3600" b="0">
                <a:solidFill>
                  <a:srgbClr val="FFFFFF"/>
                </a:solidFill>
                <a:latin typeface="Utopia"/>
                <a:ea typeface="Utopia"/>
                <a:cs typeface="Utopia"/>
              </a:rPr>
              <a:t>For which use?</a:t>
            </a:r>
          </a:p>
          <a:p xmlns:a="http://schemas.openxmlformats.org/drawingml/2006/main">
            <a:pPr algn="l">
              <a:defRPr sz="3600" b="0">
                <a:solidFill>
                  <a:srgbClr val="FFFFFF"/>
                </a:solidFill>
                <a:latin typeface="Utopia"/>
                <a:ea typeface="Utopia"/>
                <a:cs typeface="Utopia"/>
              </a:defRPr>
            </a:pPr>
            <a:r>
              <a:rPr sz="3600" b="0">
                <a:solidFill>
                  <a:srgbClr val="FFFFFF"/>
                </a:solidFill>
                <a:latin typeface="Utopia"/>
                <a:ea typeface="Utopia"/>
                <a:cs typeface="Utopia"/>
              </a:rPr>
              <a:t>With which evidence?</a:t>
            </a:r>
          </a:p>
          <a:p xmlns:a="http://schemas.openxmlformats.org/drawingml/2006/main">
            <a:pPr algn="l">
              <a:defRPr sz="3600" b="0">
                <a:solidFill>
                  <a:srgbClr val="FFFFFF"/>
                </a:solidFill>
                <a:latin typeface="Utopia"/>
                <a:ea typeface="Utopia"/>
                <a:cs typeface="Utopia"/>
              </a:defRPr>
            </a:pPr>
            <a:r>
              <a:rPr sz="3600" b="0">
                <a:solidFill>
                  <a:srgbClr val="FFFFFF"/>
                </a:solidFill>
                <a:latin typeface="Utopia"/>
                <a:ea typeface="Utopia"/>
                <a:cs typeface="Utopia"/>
              </a:rPr>
              <a:t>Under whose responsibility?</a:t>
            </a:r>
          </a:p>
        </p:txBody>
      </p:sp>
      <p:sp>
        <p:nvSpPr>
          <p:cNvPr id="4" name="text-124">
            <a:extLst xmlns:a="http://schemas.openxmlformats.org/drawingml/2006/main">
              <a:ext uri="{FF2B5EF4-FFF2-40B4-BE49-F238E27FC236}">
                <a16:creationId xmlns:a16="http://schemas.microsoft.com/office/drawing/2014/main" id="{6F375227-6EE9-49C7-9342-C7A0BD36C6F7}"/>
              </a:ext>
            </a:extLst>
          </p:cNvPr>
          <p:cNvSpPr>
            <a:spLocks xmlns:a="http://schemas.openxmlformats.org/drawingml/2006/main" noGrp="1"/>
          </p:cNvSpPr>
          <p:nvPr/>
        </p:nvSpPr>
        <p:spPr>
          <a:xfrm xmlns:a="http://schemas.openxmlformats.org/drawingml/2006/main">
            <a:off x="638175" y="4943475"/>
            <a:ext cx="10629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9DDAD5"/>
                </a:solidFill>
                <a:latin typeface="Nimbus Sans"/>
                <a:ea typeface="Nimbus Sans"/>
                <a:cs typeface="Nimbus Sans"/>
              </a:defRPr>
            </a:pPr>
            <a:r>
              <a:rPr sz="2550" b="0">
                <a:solidFill>
                  <a:srgbClr val="9DDAD5"/>
                </a:solidFill>
                <a:latin typeface="Nimbus Sans"/>
                <a:ea typeface="Nimbus Sans"/>
                <a:cs typeface="Nimbus Sans"/>
              </a:rPr>
              <a:t>One missing item. Its owner. A condition for proceeding.</a:t>
            </a:r>
          </a:p>
        </p:txBody>
      </p:sp>
      <p:sp>
        <p:nvSpPr>
          <p:cNvPr id="5" name="text-125">
            <a:extLst xmlns:a="http://schemas.openxmlformats.org/drawingml/2006/main">
              <a:ext uri="{FF2B5EF4-FFF2-40B4-BE49-F238E27FC236}">
                <a16:creationId xmlns:a16="http://schemas.microsoft.com/office/drawing/2014/main" id="{C6AEB909-1BAA-4DD6-B797-B729A8978A41}"/>
              </a:ext>
            </a:extLst>
          </p:cNvPr>
          <p:cNvSpPr>
            <a:spLocks xmlns:a="http://schemas.openxmlformats.org/drawingml/2006/main" noGrp="1"/>
          </p:cNvSpPr>
          <p:nvPr/>
        </p:nvSpPr>
        <p:spPr>
          <a:xfrm xmlns:a="http://schemas.openxmlformats.org/drawingml/2006/main">
            <a:off x="609600" y="6096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A7C8C7"/>
                </a:solidFill>
                <a:latin typeface="Nimbus Sans"/>
                <a:ea typeface="Nimbus Sans"/>
                <a:cs typeface="Nimbus Sans"/>
              </a:defRPr>
            </a:pPr>
            <a:r>
              <a:rPr sz="1650" b="0">
                <a:solidFill>
                  <a:srgbClr val="A7C8C7"/>
                </a:solidFill>
                <a:latin typeface="Nimbus Sans"/>
                <a:ea typeface="Nimbus Sans"/>
                <a:cs typeface="Nimbus Sans"/>
              </a:rPr>
              <a:t>60 seconds in pairs. Then vote again.</a:t>
            </a:r>
          </a:p>
        </p:txBody>
      </p:sp>
    </p:spTree>
    <p:extLst>
      <p:ext uri="{BB962C8B-B14F-4D97-AF65-F5344CB8AC3E}">
        <p14:creationId xmlns:p14="http://schemas.microsoft.com/office/powerpoint/2010/main" val="1431278785"/>
      </p:ext>
    </p:extLst>
  </p:cSld>
</p:sld>
</file>

<file path=ppt/slides/slide1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E31F8329-7876-49CA-A6D2-FD02A21D4CAC}"/>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A patient-readiness review</a:t>
            </a:r>
          </a:p>
        </p:txBody>
      </p:sp>
      <p:sp>
        <p:nvSpPr>
          <p:cNvPr id="2" name="text-126">
            <a:extLst xmlns:a="http://schemas.openxmlformats.org/drawingml/2006/main">
              <a:ext uri="{FF2B5EF4-FFF2-40B4-BE49-F238E27FC236}">
                <a16:creationId xmlns:a16="http://schemas.microsoft.com/office/drawing/2014/main" id="{F38225D1-6F0C-4C09-BC41-0C0A5FA5D697}"/>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17</a:t>
            </a:r>
          </a:p>
        </p:txBody>
      </p:sp>
      <p:graphicFrame>
        <p:nvGraphicFramePr>
          <p:cNvPr id="7" name=""/>
          <p:cNvGraphicFramePr/>
          <p:nvPr/>
        </p:nvGraphicFramePr>
        <p:xfrm>
          <a:off xmlns:a="http://schemas.openxmlformats.org/drawingml/2006/main" x="609600" y="1552575"/>
          <a:ext xmlns:a="http://schemas.openxmlformats.org/drawingml/2006/main" cx="10972800" cy="4162425"/>
        </p:xfrm>
        <a:graphic xmlns:a="http://schemas.openxmlformats.org/drawingml/2006/main">
          <a:graphicData uri="http://schemas.openxmlformats.org/drawingml/2006/table">
            <a:tbl>
              <a:tblPr/>
              <a:tblGrid>
                <a:gridCol w="3057525"/>
                <a:gridCol w="4400550"/>
                <a:gridCol w="3514725"/>
              </a:tblGrid>
              <a:tr h="693738">
                <a:tc>
                  <a:txBody>
                    <a:bodyPr/>
                    <a:lstStyle/>
                    <a:p>
                      <a:r>
                        <a:rPr sz="1725" b="1">
                          <a:solidFill>
                            <a:srgbClr val="FFFFFF"/>
                          </a:solidFill>
                          <a:latin typeface="Nimbus Sans"/>
                          <a:ea typeface="Nimbus Sans"/>
                          <a:cs typeface="Nimbus Sans"/>
                        </a:rPr>
                        <a:t>Patient question</a:t>
                      </a:r>
                    </a:p>
                  </a:txBody>
                  <a:tcPr marL="142875" marR="142875" marT="142875" marB="142875" anchor="ctr">
                    <a:solidFill>
                      <a:srgbClr val="102E34"/>
                    </a:solidFill>
                  </a:tcPr>
                </a:tc>
                <a:tc>
                  <a:txBody>
                    <a:bodyPr/>
                    <a:lstStyle/>
                    <a:p>
                      <a:r>
                        <a:rPr sz="1725" b="1">
                          <a:solidFill>
                            <a:srgbClr val="FFFFFF"/>
                          </a:solidFill>
                          <a:latin typeface="Nimbus Sans"/>
                          <a:ea typeface="Nimbus Sans"/>
                          <a:cs typeface="Nimbus Sans"/>
                        </a:rPr>
                        <a:t>Evidence to review</a:t>
                      </a:r>
                    </a:p>
                  </a:txBody>
                  <a:tcPr marL="142875" marR="142875" marT="142875" marB="142875" anchor="ctr">
                    <a:solidFill>
                      <a:srgbClr val="102E34"/>
                    </a:solidFill>
                  </a:tcPr>
                </a:tc>
                <a:tc>
                  <a:txBody>
                    <a:bodyPr/>
                    <a:lstStyle/>
                    <a:p>
                      <a:r>
                        <a:rPr sz="1725" b="1">
                          <a:solidFill>
                            <a:srgbClr val="FFFFFF"/>
                          </a:solidFill>
                          <a:latin typeface="Nimbus Sans"/>
                          <a:ea typeface="Nimbus Sans"/>
                          <a:cs typeface="Nimbus Sans"/>
                        </a:rPr>
                        <a:t>Responsibility / condition</a:t>
                      </a:r>
                    </a:p>
                  </a:txBody>
                  <a:tcPr marL="142875" marR="142875" marT="142875" marB="142875" anchor="ctr">
                    <a:solidFill>
                      <a:srgbClr val="102E34"/>
                    </a:solidFill>
                  </a:tcPr>
                </a:tc>
              </a:tr>
              <a:tr h="693738">
                <a:tc>
                  <a:txBody>
                    <a:bodyPr/>
                    <a:lstStyle/>
                    <a:p>
                      <a:r>
                        <a:rPr sz="1800">
                          <a:solidFill>
                            <a:srgbClr val="123339"/>
                          </a:solidFill>
                          <a:latin typeface="Nimbus Sans"/>
                          <a:ea typeface="Nimbus Sans"/>
                          <a:cs typeface="Nimbus Sans"/>
                        </a:rPr>
                        <a:t>Will it help me?</a:t>
                      </a:r>
                    </a:p>
                  </a:txBody>
                  <a:tcPr marL="142875" marR="142875" marT="142875" marB="142875" anchor="ctr">
                    <a:solidFill>
                      <a:srgbClr val="F8F6F0"/>
                    </a:solidFill>
                  </a:tcPr>
                </a:tc>
                <a:tc>
                  <a:txBody>
                    <a:bodyPr/>
                    <a:lstStyle/>
                    <a:p>
                      <a:r>
                        <a:rPr sz="1800">
                          <a:solidFill>
                            <a:srgbClr val="123339"/>
                          </a:solidFill>
                          <a:latin typeface="Nimbus Sans"/>
                          <a:ea typeface="Nimbus Sans"/>
                          <a:cs typeface="Nimbus Sans"/>
                        </a:rPr>
                        <a:t>Need, intended use and meaningful outcome</a:t>
                      </a:r>
                    </a:p>
                  </a:txBody>
                  <a:tcPr marL="142875" marR="142875" marT="142875" marB="142875" anchor="ctr">
                    <a:solidFill>
                      <a:srgbClr val="F8F6F0"/>
                    </a:solidFill>
                  </a:tcPr>
                </a:tc>
                <a:tc>
                  <a:txBody>
                    <a:bodyPr/>
                    <a:lstStyle/>
                    <a:p>
                      <a:r>
                        <a:rPr sz="1800">
                          <a:solidFill>
                            <a:srgbClr val="123339"/>
                          </a:solidFill>
                          <a:latin typeface="Nimbus Sans"/>
                          <a:ea typeface="Nimbus Sans"/>
                          <a:cs typeface="Nimbus Sans"/>
                        </a:rPr>
                        <a:t>Clinical and study team</a:t>
                      </a:r>
                    </a:p>
                  </a:txBody>
                  <a:tcPr marL="142875" marR="142875" marT="142875" marB="142875" anchor="ctr">
                    <a:solidFill>
                      <a:srgbClr val="F8F6F0"/>
                    </a:solidFill>
                  </a:tcPr>
                </a:tc>
              </a:tr>
              <a:tr h="693738">
                <a:tc>
                  <a:txBody>
                    <a:bodyPr/>
                    <a:lstStyle/>
                    <a:p>
                      <a:r>
                        <a:rPr sz="1800">
                          <a:solidFill>
                            <a:srgbClr val="123339"/>
                          </a:solidFill>
                          <a:latin typeface="Nimbus Sans"/>
                          <a:ea typeface="Nimbus Sans"/>
                          <a:cs typeface="Nimbus Sans"/>
                        </a:rPr>
                        <a:t>How could it harm me?</a:t>
                      </a:r>
                    </a:p>
                  </a:txBody>
                  <a:tcPr marL="142875" marR="142875" marT="142875" marB="142875" anchor="ctr">
                    <a:solidFill>
                      <a:srgbClr val="F8F6F0"/>
                    </a:solidFill>
                  </a:tcPr>
                </a:tc>
                <a:tc>
                  <a:txBody>
                    <a:bodyPr/>
                    <a:lstStyle/>
                    <a:p>
                      <a:r>
                        <a:rPr sz="1800">
                          <a:solidFill>
                            <a:srgbClr val="123339"/>
                          </a:solidFill>
                          <a:latin typeface="Nimbus Sans"/>
                          <a:ea typeface="Nimbus Sans"/>
                          <a:cs typeface="Nimbus Sans"/>
                        </a:rPr>
                        <a:t>Risk controls and safety evidence</a:t>
                      </a:r>
                    </a:p>
                  </a:txBody>
                  <a:tcPr marL="142875" marR="142875" marT="142875" marB="142875" anchor="ctr">
                    <a:solidFill>
                      <a:srgbClr val="F8F6F0"/>
                    </a:solidFill>
                  </a:tcPr>
                </a:tc>
                <a:tc>
                  <a:txBody>
                    <a:bodyPr/>
                    <a:lstStyle/>
                    <a:p>
                      <a:r>
                        <a:rPr sz="1800">
                          <a:solidFill>
                            <a:srgbClr val="123339"/>
                          </a:solidFill>
                          <a:latin typeface="Nimbus Sans"/>
                          <a:ea typeface="Nimbus Sans"/>
                          <a:cs typeface="Nimbus Sans"/>
                        </a:rPr>
                        <a:t>Engineering and safety leads</a:t>
                      </a:r>
                    </a:p>
                  </a:txBody>
                  <a:tcPr marL="142875" marR="142875" marT="142875" marB="142875" anchor="ctr">
                    <a:solidFill>
                      <a:srgbClr val="F8F6F0"/>
                    </a:solidFill>
                  </a:tcPr>
                </a:tc>
              </a:tr>
              <a:tr h="693738">
                <a:tc>
                  <a:txBody>
                    <a:bodyPr/>
                    <a:lstStyle/>
                    <a:p>
                      <a:r>
                        <a:rPr sz="1800">
                          <a:solidFill>
                            <a:srgbClr val="123339"/>
                          </a:solidFill>
                          <a:latin typeface="Nimbus Sans"/>
                          <a:ea typeface="Nimbus Sans"/>
                          <a:cs typeface="Nimbus Sans"/>
                        </a:rPr>
                        <a:t>Can I freely choose?</a:t>
                      </a:r>
                    </a:p>
                  </a:txBody>
                  <a:tcPr marL="142875" marR="142875" marT="142875" marB="142875" anchor="ctr">
                    <a:solidFill>
                      <a:srgbClr val="F8F6F0"/>
                    </a:solidFill>
                  </a:tcPr>
                </a:tc>
                <a:tc>
                  <a:txBody>
                    <a:bodyPr/>
                    <a:lstStyle/>
                    <a:p>
                      <a:r>
                        <a:rPr sz="1800">
                          <a:solidFill>
                            <a:srgbClr val="123339"/>
                          </a:solidFill>
                          <a:latin typeface="Nimbus Sans"/>
                          <a:ea typeface="Nimbus Sans"/>
                          <a:cs typeface="Nimbus Sans"/>
                        </a:rPr>
                        <a:t>Consent, alternatives and conflicts</a:t>
                      </a:r>
                    </a:p>
                  </a:txBody>
                  <a:tcPr marL="142875" marR="142875" marT="142875" marB="142875" anchor="ctr">
                    <a:solidFill>
                      <a:srgbClr val="F8F6F0"/>
                    </a:solidFill>
                  </a:tcPr>
                </a:tc>
                <a:tc>
                  <a:txBody>
                    <a:bodyPr/>
                    <a:lstStyle/>
                    <a:p>
                      <a:r>
                        <a:rPr sz="1800">
                          <a:solidFill>
                            <a:srgbClr val="123339"/>
                          </a:solidFill>
                          <a:latin typeface="Nimbus Sans"/>
                          <a:ea typeface="Nimbus Sans"/>
                          <a:cs typeface="Nimbus Sans"/>
                        </a:rPr>
                        <a:t>Investigator and ethics review</a:t>
                      </a:r>
                    </a:p>
                  </a:txBody>
                  <a:tcPr marL="142875" marR="142875" marT="142875" marB="142875" anchor="ctr">
                    <a:solidFill>
                      <a:srgbClr val="F8F6F0"/>
                    </a:solidFill>
                  </a:tcPr>
                </a:tc>
              </a:tr>
              <a:tr h="693738">
                <a:tc>
                  <a:txBody>
                    <a:bodyPr/>
                    <a:lstStyle/>
                    <a:p>
                      <a:r>
                        <a:rPr sz="1800">
                          <a:solidFill>
                            <a:srgbClr val="123339"/>
                          </a:solidFill>
                          <a:latin typeface="Nimbus Sans"/>
                          <a:ea typeface="Nimbus Sans"/>
                          <a:cs typeface="Nimbus Sans"/>
                        </a:rPr>
                        <a:t>Can I actually use it?</a:t>
                      </a:r>
                    </a:p>
                  </a:txBody>
                  <a:tcPr marL="142875" marR="142875" marT="142875" marB="142875" anchor="ctr">
                    <a:solidFill>
                      <a:srgbClr val="F8F6F0"/>
                    </a:solidFill>
                  </a:tcPr>
                </a:tc>
                <a:tc>
                  <a:txBody>
                    <a:bodyPr/>
                    <a:lstStyle/>
                    <a:p>
                      <a:r>
                        <a:rPr sz="1800">
                          <a:solidFill>
                            <a:srgbClr val="123339"/>
                          </a:solidFill>
                          <a:latin typeface="Nimbus Sans"/>
                          <a:ea typeface="Nimbus Sans"/>
                          <a:cs typeface="Nimbus Sans"/>
                        </a:rPr>
                        <a:t>Usability, cost and support</a:t>
                      </a:r>
                    </a:p>
                  </a:txBody>
                  <a:tcPr marL="142875" marR="142875" marT="142875" marB="142875" anchor="ctr">
                    <a:solidFill>
                      <a:srgbClr val="F8F6F0"/>
                    </a:solidFill>
                  </a:tcPr>
                </a:tc>
                <a:tc>
                  <a:txBody>
                    <a:bodyPr/>
                    <a:lstStyle/>
                    <a:p>
                      <a:r>
                        <a:rPr sz="1800">
                          <a:solidFill>
                            <a:srgbClr val="123339"/>
                          </a:solidFill>
                          <a:latin typeface="Nimbus Sans"/>
                          <a:ea typeface="Nimbus Sans"/>
                          <a:cs typeface="Nimbus Sans"/>
                        </a:rPr>
                        <a:t>Users, service and adoption team</a:t>
                      </a:r>
                    </a:p>
                  </a:txBody>
                  <a:tcPr marL="142875" marR="142875" marT="142875" marB="142875" anchor="ctr">
                    <a:solidFill>
                      <a:srgbClr val="F8F6F0"/>
                    </a:solidFill>
                  </a:tcPr>
                </a:tc>
              </a:tr>
              <a:tr h="693738">
                <a:tc>
                  <a:txBody>
                    <a:bodyPr/>
                    <a:lstStyle/>
                    <a:p>
                      <a:r>
                        <a:rPr sz="1800">
                          <a:solidFill>
                            <a:srgbClr val="123339"/>
                          </a:solidFill>
                          <a:latin typeface="Nimbus Sans"/>
                          <a:ea typeface="Nimbus Sans"/>
                          <a:cs typeface="Nimbus Sans"/>
                        </a:rPr>
                        <a:t>Who stays responsible?</a:t>
                      </a:r>
                    </a:p>
                  </a:txBody>
                  <a:tcPr marL="142875" marR="142875" marT="142875" marB="142875" anchor="ctr">
                    <a:solidFill>
                      <a:srgbClr val="F8F6F0"/>
                    </a:solidFill>
                  </a:tcPr>
                </a:tc>
                <a:tc>
                  <a:txBody>
                    <a:bodyPr/>
                    <a:lstStyle/>
                    <a:p>
                      <a:r>
                        <a:rPr sz="1800">
                          <a:solidFill>
                            <a:srgbClr val="123339"/>
                          </a:solidFill>
                          <a:latin typeface="Nimbus Sans"/>
                          <a:ea typeface="Nimbus Sans"/>
                          <a:cs typeface="Nimbus Sans"/>
                        </a:rPr>
                        <a:t>Reporting, changes and follow-up</a:t>
                      </a:r>
                    </a:p>
                  </a:txBody>
                  <a:tcPr marL="142875" marR="142875" marT="142875" marB="142875" anchor="ctr">
                    <a:solidFill>
                      <a:srgbClr val="F8F6F0"/>
                    </a:solidFill>
                  </a:tcPr>
                </a:tc>
                <a:tc>
                  <a:txBody>
                    <a:bodyPr/>
                    <a:lstStyle/>
                    <a:p>
                      <a:r>
                        <a:rPr sz="1800">
                          <a:solidFill>
                            <a:srgbClr val="123339"/>
                          </a:solidFill>
                          <a:latin typeface="Nimbus Sans"/>
                          <a:ea typeface="Nimbus Sans"/>
                          <a:cs typeface="Nimbus Sans"/>
                        </a:rPr>
                        <a:t>Manufacturer and clinical team</a:t>
                      </a:r>
                    </a:p>
                  </a:txBody>
                  <a:tcPr marL="142875" marR="142875" marT="142875" marB="142875" anchor="ctr">
                    <a:solidFill>
                      <a:srgbClr val="F8F6F0"/>
                    </a:solidFill>
                  </a:tcPr>
                </a:tc>
              </a:tr>
            </a:tbl>
          </a:graphicData>
        </a:graphic>
      </p:graphicFrame>
      <p:sp>
        <p:nvSpPr>
          <p:cNvPr id="4" name="text-127">
            <a:extLst xmlns:a="http://schemas.openxmlformats.org/drawingml/2006/main">
              <a:ext uri="{FF2B5EF4-FFF2-40B4-BE49-F238E27FC236}">
                <a16:creationId xmlns:a16="http://schemas.microsoft.com/office/drawing/2014/main" id="{C9DDA8B6-F00D-40EA-A264-768CB3691EEA}"/>
              </a:ext>
            </a:extLst>
          </p:cNvPr>
          <p:cNvSpPr>
            <a:spLocks xmlns:a="http://schemas.openxmlformats.org/drawingml/2006/main" noGrp="1"/>
          </p:cNvSpPr>
          <p:nvPr/>
        </p:nvSpPr>
        <p:spPr>
          <a:xfrm xmlns:a="http://schemas.openxmlformats.org/drawingml/2006/main">
            <a:off x="609600" y="60483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For each unresolved item: name an owner and a condition for proceeding.</a:t>
            </a:r>
          </a:p>
        </p:txBody>
      </p:sp>
    </p:spTree>
    <p:extLst>
      <p:ext uri="{BB962C8B-B14F-4D97-AF65-F5344CB8AC3E}">
        <p14:creationId xmlns:p14="http://schemas.microsoft.com/office/powerpoint/2010/main" val="1551346678"/>
      </p:ext>
    </p:extLst>
  </p:cSld>
</p:sld>
</file>

<file path=ppt/slides/slide1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94D94A0C-F0B9-477F-B899-3C4B5B138FF1}"/>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What evidence would you ask for?</a:t>
            </a:r>
          </a:p>
        </p:txBody>
      </p:sp>
      <p:sp>
        <p:nvSpPr>
          <p:cNvPr id="2" name="text-128">
            <a:extLst xmlns:a="http://schemas.openxmlformats.org/drawingml/2006/main">
              <a:ext uri="{FF2B5EF4-FFF2-40B4-BE49-F238E27FC236}">
                <a16:creationId xmlns:a16="http://schemas.microsoft.com/office/drawing/2014/main" id="{916AB662-BD20-4267-B150-F7A4E807A2CF}"/>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18</a:t>
            </a:r>
          </a:p>
        </p:txBody>
      </p:sp>
      <p:graphicFrame>
        <p:nvGraphicFramePr>
          <p:cNvPr id="7" name=""/>
          <p:cNvGraphicFramePr/>
          <p:nvPr/>
        </p:nvGraphicFramePr>
        <p:xfrm>
          <a:off xmlns:a="http://schemas.openxmlformats.org/drawingml/2006/main" x="609600" y="1581150"/>
          <a:ext xmlns:a="http://schemas.openxmlformats.org/drawingml/2006/main" cx="10972800" cy="4048125"/>
        </p:xfrm>
        <a:graphic xmlns:a="http://schemas.openxmlformats.org/drawingml/2006/main">
          <a:graphicData uri="http://schemas.openxmlformats.org/drawingml/2006/table">
            <a:tbl>
              <a:tblPr/>
              <a:tblGrid>
                <a:gridCol w="2790825"/>
                <a:gridCol w="4143375"/>
                <a:gridCol w="4038600"/>
              </a:tblGrid>
              <a:tr h="809625">
                <a:tc>
                  <a:txBody>
                    <a:bodyPr/>
                    <a:lstStyle/>
                    <a:p>
                      <a:r>
                        <a:rPr sz="1800" b="1">
                          <a:solidFill>
                            <a:srgbClr val="FFFFFF"/>
                          </a:solidFill>
                          <a:latin typeface="Nimbus Sans"/>
                          <a:ea typeface="Nimbus Sans"/>
                          <a:cs typeface="Nimbus Sans"/>
                        </a:rPr>
                        <a:t>Question</a:t>
                      </a:r>
                    </a:p>
                  </a:txBody>
                  <a:tcPr marL="142875" marR="142875" marT="142875" marB="142875" anchor="ctr">
                    <a:solidFill>
                      <a:srgbClr val="102E34"/>
                    </a:solidFill>
                  </a:tcPr>
                </a:tc>
                <a:tc>
                  <a:txBody>
                    <a:bodyPr/>
                    <a:lstStyle/>
                    <a:p>
                      <a:r>
                        <a:rPr sz="1800" b="1">
                          <a:solidFill>
                            <a:srgbClr val="FFFFFF"/>
                          </a:solidFill>
                          <a:latin typeface="Nimbus Sans"/>
                          <a:ea typeface="Nimbus Sans"/>
                          <a:cs typeface="Nimbus Sans"/>
                        </a:rPr>
                        <a:t>FoGO</a:t>
                      </a:r>
                    </a:p>
                  </a:txBody>
                  <a:tcPr marL="142875" marR="142875" marT="142875" marB="142875" anchor="ctr">
                    <a:solidFill>
                      <a:srgbClr val="102E34"/>
                    </a:solidFill>
                  </a:tcPr>
                </a:tc>
                <a:tc>
                  <a:txBody>
                    <a:bodyPr/>
                    <a:lstStyle/>
                    <a:p>
                      <a:r>
                        <a:rPr sz="1800" b="1">
                          <a:solidFill>
                            <a:srgbClr val="FFFFFF"/>
                          </a:solidFill>
                          <a:latin typeface="Nimbus Sans"/>
                          <a:ea typeface="Nimbus Sans"/>
                          <a:cs typeface="Nimbus Sans"/>
                        </a:rPr>
                        <a:t>SwaKnee</a:t>
                      </a:r>
                    </a:p>
                  </a:txBody>
                  <a:tcPr marL="142875" marR="142875" marT="142875" marB="142875" anchor="ctr">
                    <a:solidFill>
                      <a:srgbClr val="102E34"/>
                    </a:solidFill>
                  </a:tcPr>
                </a:tc>
              </a:tr>
              <a:tr h="809625">
                <a:tc>
                  <a:txBody>
                    <a:bodyPr/>
                    <a:lstStyle/>
                    <a:p>
                      <a:r>
                        <a:rPr sz="1875">
                          <a:solidFill>
                            <a:srgbClr val="123339"/>
                          </a:solidFill>
                          <a:latin typeface="Nimbus Sans"/>
                          <a:ea typeface="Nimbus Sans"/>
                          <a:cs typeface="Nimbus Sans"/>
                        </a:rPr>
                        <a:t>Relevant outcome?</a:t>
                      </a:r>
                    </a:p>
                  </a:txBody>
                  <a:tcPr marL="142875" marR="142875" marT="142875" marB="142875" anchor="ctr">
                    <a:solidFill>
                      <a:srgbClr val="F8F6F0"/>
                    </a:solidFill>
                  </a:tcPr>
                </a:tc>
                <a:tc>
                  <a:txBody>
                    <a:bodyPr/>
                    <a:lstStyle/>
                    <a:p>
                      <a:r>
                        <a:rPr sz="1875">
                          <a:solidFill>
                            <a:srgbClr val="123339"/>
                          </a:solidFill>
                          <a:latin typeface="Nimbus Sans"/>
                          <a:ea typeface="Nimbus Sans"/>
                          <a:cs typeface="Nimbus Sans"/>
                        </a:rPr>
                        <a:t>Detection and meaningful daily benefit</a:t>
                      </a:r>
                    </a:p>
                  </a:txBody>
                  <a:tcPr marL="142875" marR="142875" marT="142875" marB="142875" anchor="ctr">
                    <a:solidFill>
                      <a:srgbClr val="F8F6F0"/>
                    </a:solidFill>
                  </a:tcPr>
                </a:tc>
                <a:tc>
                  <a:txBody>
                    <a:bodyPr/>
                    <a:lstStyle/>
                    <a:p>
                      <a:r>
                        <a:rPr sz="1875">
                          <a:solidFill>
                            <a:srgbClr val="123339"/>
                          </a:solidFill>
                          <a:latin typeface="Nimbus Sans"/>
                          <a:ea typeface="Nimbus Sans"/>
                          <a:cs typeface="Nimbus Sans"/>
                        </a:rPr>
                        <a:t>Meaningful pain and function changes</a:t>
                      </a:r>
                    </a:p>
                  </a:txBody>
                  <a:tcPr marL="142875" marR="142875" marT="142875" marB="142875" anchor="ctr">
                    <a:solidFill>
                      <a:srgbClr val="F8F6F0"/>
                    </a:solidFill>
                  </a:tcPr>
                </a:tc>
              </a:tr>
              <a:tr h="809625">
                <a:tc>
                  <a:txBody>
                    <a:bodyPr/>
                    <a:lstStyle/>
                    <a:p>
                      <a:r>
                        <a:rPr sz="1875">
                          <a:solidFill>
                            <a:srgbClr val="123339"/>
                          </a:solidFill>
                          <a:latin typeface="Nimbus Sans"/>
                          <a:ea typeface="Nimbus Sans"/>
                          <a:cs typeface="Nimbus Sans"/>
                        </a:rPr>
                        <a:t>Valid comparison?</a:t>
                      </a:r>
                    </a:p>
                  </a:txBody>
                  <a:tcPr marL="142875" marR="142875" marT="142875" marB="142875" anchor="ctr">
                    <a:solidFill>
                      <a:srgbClr val="F8F6F0"/>
                    </a:solidFill>
                  </a:tcPr>
                </a:tc>
                <a:tc>
                  <a:txBody>
                    <a:bodyPr/>
                    <a:lstStyle/>
                    <a:p>
                      <a:r>
                        <a:rPr sz="1875">
                          <a:solidFill>
                            <a:srgbClr val="123339"/>
                          </a:solidFill>
                          <a:latin typeface="Nimbus Sans"/>
                          <a:ea typeface="Nimbus Sans"/>
                          <a:cs typeface="Nimbus Sans"/>
                        </a:rPr>
                        <a:t>Reference events and appropriate cue comparison</a:t>
                      </a:r>
                    </a:p>
                  </a:txBody>
                  <a:tcPr marL="142875" marR="142875" marT="142875" marB="142875" anchor="ctr">
                    <a:solidFill>
                      <a:srgbClr val="F8F6F0"/>
                    </a:solidFill>
                  </a:tcPr>
                </a:tc>
                <a:tc>
                  <a:txBody>
                    <a:bodyPr/>
                    <a:lstStyle/>
                    <a:p>
                      <a:r>
                        <a:rPr sz="1875">
                          <a:solidFill>
                            <a:srgbClr val="123339"/>
                          </a:solidFill>
                          <a:latin typeface="Nimbus Sans"/>
                          <a:ea typeface="Nimbus Sans"/>
                          <a:cs typeface="Nimbus Sans"/>
                        </a:rPr>
                        <a:t>Comparator, other care</a:t>
                      </a:r>
                    </a:p>
                    <a:p>
                      <a:r>
                        <a:rPr sz="1875">
                          <a:solidFill>
                            <a:srgbClr val="123339"/>
                          </a:solidFill>
                          <a:latin typeface="Nimbus Sans"/>
                          <a:ea typeface="Nimbus Sans"/>
                          <a:cs typeface="Nimbus Sans"/>
                        </a:rPr>
                        <a:t>and uncertainty</a:t>
                      </a:r>
                    </a:p>
                  </a:txBody>
                  <a:tcPr marL="142875" marR="142875" marT="142875" marB="142875" anchor="ctr">
                    <a:solidFill>
                      <a:srgbClr val="F8F6F0"/>
                    </a:solidFill>
                  </a:tcPr>
                </a:tc>
              </a:tr>
              <a:tr h="809625">
                <a:tc>
                  <a:txBody>
                    <a:bodyPr/>
                    <a:lstStyle/>
                    <a:p>
                      <a:r>
                        <a:rPr sz="1875">
                          <a:solidFill>
                            <a:srgbClr val="123339"/>
                          </a:solidFill>
                          <a:latin typeface="Nimbus Sans"/>
                          <a:ea typeface="Nimbus Sans"/>
                          <a:cs typeface="Nimbus Sans"/>
                        </a:rPr>
                        <a:t>Representative users?</a:t>
                      </a:r>
                    </a:p>
                  </a:txBody>
                  <a:tcPr marL="142875" marR="142875" marT="142875" marB="142875" anchor="ctr">
                    <a:solidFill>
                      <a:srgbClr val="F8F6F0"/>
                    </a:solidFill>
                  </a:tcPr>
                </a:tc>
                <a:tc>
                  <a:txBody>
                    <a:bodyPr/>
                    <a:lstStyle/>
                    <a:p>
                      <a:r>
                        <a:rPr sz="1875">
                          <a:solidFill>
                            <a:srgbClr val="123339"/>
                          </a:solidFill>
                          <a:latin typeface="Nimbus Sans"/>
                          <a:ea typeface="Nimbus Sans"/>
                          <a:cs typeface="Nimbus Sans"/>
                        </a:rPr>
                        <a:t>Severity, walking aids and real settings</a:t>
                      </a:r>
                    </a:p>
                  </a:txBody>
                  <a:tcPr marL="142875" marR="142875" marT="142875" marB="142875" anchor="ctr">
                    <a:solidFill>
                      <a:srgbClr val="F8F6F0"/>
                    </a:solidFill>
                  </a:tcPr>
                </a:tc>
                <a:tc>
                  <a:txBody>
                    <a:bodyPr/>
                    <a:lstStyle/>
                    <a:p>
                      <a:r>
                        <a:rPr sz="1875">
                          <a:solidFill>
                            <a:srgbClr val="123339"/>
                          </a:solidFill>
                          <a:latin typeface="Nimbus Sans"/>
                          <a:ea typeface="Nimbus Sans"/>
                          <a:cs typeface="Nimbus Sans"/>
                        </a:rPr>
                        <a:t>Fit, comorbidities and intended population</a:t>
                      </a:r>
                    </a:p>
                  </a:txBody>
                  <a:tcPr marL="142875" marR="142875" marT="142875" marB="142875" anchor="ctr">
                    <a:solidFill>
                      <a:srgbClr val="F8F6F0"/>
                    </a:solidFill>
                  </a:tcPr>
                </a:tc>
              </a:tr>
              <a:tr h="809625">
                <a:tc>
                  <a:txBody>
                    <a:bodyPr/>
                    <a:lstStyle/>
                    <a:p>
                      <a:r>
                        <a:rPr sz="1875">
                          <a:solidFill>
                            <a:srgbClr val="123339"/>
                          </a:solidFill>
                          <a:latin typeface="Nimbus Sans"/>
                          <a:ea typeface="Nimbus Sans"/>
                          <a:cs typeface="Nimbus Sans"/>
                        </a:rPr>
                        <a:t>What burden or harm?</a:t>
                      </a:r>
                    </a:p>
                  </a:txBody>
                  <a:tcPr marL="142875" marR="142875" marT="142875" marB="142875" anchor="ctr">
                    <a:solidFill>
                      <a:srgbClr val="F8F6F0"/>
                    </a:solidFill>
                  </a:tcPr>
                </a:tc>
                <a:tc>
                  <a:txBody>
                    <a:bodyPr/>
                    <a:lstStyle/>
                    <a:p>
                      <a:r>
                        <a:rPr sz="1875">
                          <a:solidFill>
                            <a:srgbClr val="123339"/>
                          </a:solidFill>
                          <a:latin typeface="Nimbus Sans"/>
                          <a:ea typeface="Nimbus Sans"/>
                          <a:cs typeface="Nimbus Sans"/>
                        </a:rPr>
                        <a:t>False cues, missed events and signal loss</a:t>
                      </a:r>
                    </a:p>
                  </a:txBody>
                  <a:tcPr marL="142875" marR="142875" marT="142875" marB="142875" anchor="ctr">
                    <a:solidFill>
                      <a:srgbClr val="F8F6F0"/>
                    </a:solidFill>
                  </a:tcPr>
                </a:tc>
                <a:tc>
                  <a:txBody>
                    <a:bodyPr/>
                    <a:lstStyle/>
                    <a:p>
                      <a:r>
                        <a:rPr sz="1875">
                          <a:solidFill>
                            <a:srgbClr val="123339"/>
                          </a:solidFill>
                          <a:latin typeface="Nimbus Sans"/>
                          <a:ea typeface="Nimbus Sans"/>
                          <a:cs typeface="Nimbus Sans"/>
                        </a:rPr>
                        <a:t>Adverse events, adherence and support</a:t>
                      </a:r>
                    </a:p>
                  </a:txBody>
                  <a:tcPr marL="142875" marR="142875" marT="142875" marB="142875" anchor="ctr">
                    <a:solidFill>
                      <a:srgbClr val="F8F6F0"/>
                    </a:solidFill>
                  </a:tcPr>
                </a:tc>
              </a:tr>
            </a:tbl>
          </a:graphicData>
        </a:graphic>
      </p:graphicFrame>
      <p:sp>
        <p:nvSpPr>
          <p:cNvPr id="4" name="text-129">
            <a:extLst xmlns:a="http://schemas.openxmlformats.org/drawingml/2006/main">
              <a:ext uri="{FF2B5EF4-FFF2-40B4-BE49-F238E27FC236}">
                <a16:creationId xmlns:a16="http://schemas.microsoft.com/office/drawing/2014/main" id="{79443FAB-79AC-4F37-A37D-379AC9F2417A}"/>
              </a:ext>
            </a:extLst>
          </p:cNvPr>
          <p:cNvSpPr>
            <a:spLocks xmlns:a="http://schemas.openxmlformats.org/drawingml/2006/main" noGrp="1"/>
          </p:cNvSpPr>
          <p:nvPr/>
        </p:nvSpPr>
        <p:spPr>
          <a:xfrm xmlns:a="http://schemas.openxmlformats.org/drawingml/2006/main">
            <a:off x="609600" y="60483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A feasibility result and a confirmatory claim answer different questions.</a:t>
            </a:r>
          </a:p>
        </p:txBody>
      </p:sp>
    </p:spTree>
    <p:extLst>
      <p:ext uri="{BB962C8B-B14F-4D97-AF65-F5344CB8AC3E}">
        <p14:creationId xmlns:p14="http://schemas.microsoft.com/office/powerpoint/2010/main" val="1265019524"/>
      </p:ext>
    </p:extLst>
  </p:cSld>
</p:sld>
</file>

<file path=ppt/slides/slide19.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17FD48CD-12D3-4BFD-A3B9-8965F5C143AA}"/>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Sources for practice in India</a:t>
            </a:r>
          </a:p>
        </p:txBody>
      </p:sp>
      <p:sp>
        <p:nvSpPr>
          <p:cNvPr id="2" name="text-130">
            <a:extLst xmlns:a="http://schemas.openxmlformats.org/drawingml/2006/main">
              <a:ext uri="{FF2B5EF4-FFF2-40B4-BE49-F238E27FC236}">
                <a16:creationId xmlns:a16="http://schemas.microsoft.com/office/drawing/2014/main" id="{3555414C-DD17-4867-971F-D9D6D3A63CD2}"/>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19</a:t>
            </a:r>
          </a:p>
        </p:txBody>
      </p:sp>
      <p:sp>
        <p:nvSpPr>
          <p:cNvPr id="3" name="text-131">
            <a:extLst xmlns:a="http://schemas.openxmlformats.org/drawingml/2006/main">
              <a:ext uri="{FF2B5EF4-FFF2-40B4-BE49-F238E27FC236}">
                <a16:creationId xmlns:a16="http://schemas.microsoft.com/office/drawing/2014/main" id="{B3CB9D0C-53C3-41E1-978D-A612969452A9}"/>
              </a:ext>
            </a:extLst>
          </p:cNvPr>
          <p:cNvSpPr>
            <a:spLocks xmlns:a="http://schemas.openxmlformats.org/drawingml/2006/main" noGrp="1"/>
          </p:cNvSpPr>
          <p:nvPr/>
        </p:nvSpPr>
        <p:spPr>
          <a:xfrm xmlns:a="http://schemas.openxmlformats.org/drawingml/2006/main">
            <a:off x="628650" y="159067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87F7C"/>
                </a:solidFill>
                <a:latin typeface="Nimbus Sans"/>
                <a:ea typeface="Nimbus Sans"/>
                <a:cs typeface="Nimbus Sans"/>
              </a:defRPr>
            </a:pPr>
            <a:r>
              <a:rPr sz="2550" b="1">
                <a:solidFill>
                  <a:srgbClr val="087F7C"/>
                </a:solidFill>
                <a:latin typeface="Nimbus Sans"/>
                <a:ea typeface="Nimbus Sans"/>
                <a:cs typeface="Nimbus Sans"/>
                <a:hlinkClick xmlns:r="http://schemas.openxmlformats.org/officeDocument/2006/relationships" r:id="R0e165589c99c4ab8"/>
              </a:rPr>
              <a:t>ICMR ethical guidelines</a:t>
            </a:r>
          </a:p>
        </p:txBody>
      </p:sp>
      <p:sp>
        <p:nvSpPr>
          <p:cNvPr id="4" name="text-132">
            <a:extLst xmlns:a="http://schemas.openxmlformats.org/drawingml/2006/main">
              <a:ext uri="{FF2B5EF4-FFF2-40B4-BE49-F238E27FC236}">
                <a16:creationId xmlns:a16="http://schemas.microsoft.com/office/drawing/2014/main" id="{A50E3A7A-8AEE-414D-BA94-54CA7EA1B83B}"/>
              </a:ext>
            </a:extLst>
          </p:cNvPr>
          <p:cNvSpPr>
            <a:spLocks xmlns:a="http://schemas.openxmlformats.org/drawingml/2006/main" noGrp="1"/>
          </p:cNvSpPr>
          <p:nvPr/>
        </p:nvSpPr>
        <p:spPr>
          <a:xfrm xmlns:a="http://schemas.openxmlformats.org/drawingml/2006/main">
            <a:off x="628650" y="20764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23339"/>
                </a:solidFill>
                <a:latin typeface="Nimbus Sans"/>
                <a:ea typeface="Nimbus Sans"/>
                <a:cs typeface="Nimbus Sans"/>
              </a:defRPr>
            </a:pPr>
            <a:r>
              <a:rPr sz="2025" b="0">
                <a:solidFill>
                  <a:srgbClr val="123339"/>
                </a:solidFill>
                <a:latin typeface="Nimbus Sans"/>
                <a:ea typeface="Nimbus Sans"/>
                <a:cs typeface="Nimbus Sans"/>
              </a:rPr>
              <a:t>Consent, conflicts and research involving people</a:t>
            </a:r>
          </a:p>
        </p:txBody>
      </p:sp>
      <p:sp>
        <p:nvSpPr>
          <p:cNvPr id="5" name="">
            <a:extLst xmlns:a="http://schemas.openxmlformats.org/drawingml/2006/main">
              <a:ext uri="{FF2B5EF4-FFF2-40B4-BE49-F238E27FC236}">
                <a16:creationId xmlns:a16="http://schemas.microsoft.com/office/drawing/2014/main" id="{553C97C1-E988-451E-B705-9D238DEF6D05}"/>
              </a:ext>
            </a:extLst>
          </p:cNvPr>
          <p:cNvSpPr>
            <a:spLocks xmlns:a="http://schemas.openxmlformats.org/drawingml/2006/main" noGrp="1"/>
          </p:cNvSpPr>
          <p:nvPr/>
        </p:nvSpPr>
        <p:spPr>
          <a:xfrm xmlns:a="http://schemas.openxmlformats.org/drawingml/2006/main">
            <a:off x="609600" y="2533650"/>
            <a:ext cx="10963275" cy="0"/>
          </a:xfrm>
          <a:prstGeom xmlns:a="http://schemas.openxmlformats.org/drawingml/2006/main" prst="line">
            <a:avLst/>
          </a:prstGeom>
          <a:noFill xmlns:a="http://schemas.openxmlformats.org/drawingml/2006/main"/>
          <a:ln xmlns:a="http://schemas.openxmlformats.org/drawingml/2006/main" w="9525">
            <a:solidFill>
              <a:srgbClr val="C4D3CD"/>
            </a:solidFill>
          </a:ln>
        </p:spPr>
      </p:sp>
      <p:sp>
        <p:nvSpPr>
          <p:cNvPr id="6" name="text-133">
            <a:extLst xmlns:a="http://schemas.openxmlformats.org/drawingml/2006/main">
              <a:ext uri="{FF2B5EF4-FFF2-40B4-BE49-F238E27FC236}">
                <a16:creationId xmlns:a16="http://schemas.microsoft.com/office/drawing/2014/main" id="{A1081C9A-BCD4-4828-96F9-328AC6A977C6}"/>
              </a:ext>
            </a:extLst>
          </p:cNvPr>
          <p:cNvSpPr>
            <a:spLocks xmlns:a="http://schemas.openxmlformats.org/drawingml/2006/main" noGrp="1"/>
          </p:cNvSpPr>
          <p:nvPr/>
        </p:nvSpPr>
        <p:spPr>
          <a:xfrm xmlns:a="http://schemas.openxmlformats.org/drawingml/2006/main">
            <a:off x="628650" y="26289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87F7C"/>
                </a:solidFill>
                <a:latin typeface="Nimbus Sans"/>
                <a:ea typeface="Nimbus Sans"/>
                <a:cs typeface="Nimbus Sans"/>
              </a:defRPr>
            </a:pPr>
            <a:r>
              <a:rPr sz="2550" b="1">
                <a:solidFill>
                  <a:srgbClr val="087F7C"/>
                </a:solidFill>
                <a:latin typeface="Nimbus Sans"/>
                <a:ea typeface="Nimbus Sans"/>
                <a:cs typeface="Nimbus Sans"/>
                <a:hlinkClick xmlns:r="http://schemas.openxmlformats.org/officeDocument/2006/relationships" r:id="R935e089e207d4ec9"/>
              </a:rPr>
              <a:t>Medical Devices Rules, 2017</a:t>
            </a:r>
          </a:p>
        </p:txBody>
      </p:sp>
      <p:sp>
        <p:nvSpPr>
          <p:cNvPr id="7" name="text-134">
            <a:extLst xmlns:a="http://schemas.openxmlformats.org/drawingml/2006/main">
              <a:ext uri="{FF2B5EF4-FFF2-40B4-BE49-F238E27FC236}">
                <a16:creationId xmlns:a16="http://schemas.microsoft.com/office/drawing/2014/main" id="{0616F475-2B43-45A2-B16E-C6D6232122BD}"/>
              </a:ext>
            </a:extLst>
          </p:cNvPr>
          <p:cNvSpPr>
            <a:spLocks xmlns:a="http://schemas.openxmlformats.org/drawingml/2006/main" noGrp="1"/>
          </p:cNvSpPr>
          <p:nvPr/>
        </p:nvSpPr>
        <p:spPr>
          <a:xfrm xmlns:a="http://schemas.openxmlformats.org/drawingml/2006/main">
            <a:off x="628650" y="31146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23339"/>
                </a:solidFill>
                <a:latin typeface="Nimbus Sans"/>
                <a:ea typeface="Nimbus Sans"/>
                <a:cs typeface="Nimbus Sans"/>
              </a:defRPr>
            </a:pPr>
            <a:r>
              <a:rPr sz="2025" b="0">
                <a:solidFill>
                  <a:srgbClr val="123339"/>
                </a:solidFill>
                <a:latin typeface="Nimbus Sans"/>
                <a:ea typeface="Nimbus Sans"/>
                <a:cs typeface="Nimbus Sans"/>
              </a:rPr>
              <a:t>Test licensing, clinical investigation and market routes</a:t>
            </a:r>
          </a:p>
        </p:txBody>
      </p:sp>
      <p:sp>
        <p:nvSpPr>
          <p:cNvPr id="8" name="">
            <a:extLst xmlns:a="http://schemas.openxmlformats.org/drawingml/2006/main">
              <a:ext uri="{FF2B5EF4-FFF2-40B4-BE49-F238E27FC236}">
                <a16:creationId xmlns:a16="http://schemas.microsoft.com/office/drawing/2014/main" id="{488A253C-BF49-4C03-8EDB-6DCAC2A4A72A}"/>
              </a:ext>
            </a:extLst>
          </p:cNvPr>
          <p:cNvSpPr>
            <a:spLocks xmlns:a="http://schemas.openxmlformats.org/drawingml/2006/main" noGrp="1"/>
          </p:cNvSpPr>
          <p:nvPr/>
        </p:nvSpPr>
        <p:spPr>
          <a:xfrm xmlns:a="http://schemas.openxmlformats.org/drawingml/2006/main">
            <a:off x="609600" y="3571875"/>
            <a:ext cx="10963275" cy="0"/>
          </a:xfrm>
          <a:prstGeom xmlns:a="http://schemas.openxmlformats.org/drawingml/2006/main" prst="line">
            <a:avLst/>
          </a:prstGeom>
          <a:noFill xmlns:a="http://schemas.openxmlformats.org/drawingml/2006/main"/>
          <a:ln xmlns:a="http://schemas.openxmlformats.org/drawingml/2006/main" w="9525">
            <a:solidFill>
              <a:srgbClr val="C4D3CD"/>
            </a:solidFill>
          </a:ln>
        </p:spPr>
      </p:sp>
      <p:sp>
        <p:nvSpPr>
          <p:cNvPr id="9" name="text-135">
            <a:extLst xmlns:a="http://schemas.openxmlformats.org/drawingml/2006/main">
              <a:ext uri="{FF2B5EF4-FFF2-40B4-BE49-F238E27FC236}">
                <a16:creationId xmlns:a16="http://schemas.microsoft.com/office/drawing/2014/main" id="{45DCD7BE-6B03-4BC7-9EB4-006C6250ED43}"/>
              </a:ext>
            </a:extLst>
          </p:cNvPr>
          <p:cNvSpPr>
            <a:spLocks xmlns:a="http://schemas.openxmlformats.org/drawingml/2006/main" noGrp="1"/>
          </p:cNvSpPr>
          <p:nvPr/>
        </p:nvSpPr>
        <p:spPr>
          <a:xfrm xmlns:a="http://schemas.openxmlformats.org/drawingml/2006/main">
            <a:off x="628650" y="3667125"/>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87F7C"/>
                </a:solidFill>
                <a:latin typeface="Nimbus Sans"/>
                <a:ea typeface="Nimbus Sans"/>
                <a:cs typeface="Nimbus Sans"/>
              </a:defRPr>
            </a:pPr>
            <a:r>
              <a:rPr sz="2550" b="1">
                <a:solidFill>
                  <a:srgbClr val="087F7C"/>
                </a:solidFill>
                <a:latin typeface="Nimbus Sans"/>
                <a:ea typeface="Nimbus Sans"/>
                <a:cs typeface="Nimbus Sans"/>
                <a:hlinkClick xmlns:r="http://schemas.openxmlformats.org/officeDocument/2006/relationships" r:id="R856f4e6727fe4bf9"/>
              </a:rPr>
              <a:t>CDSCO software guidance, July 2026</a:t>
            </a:r>
          </a:p>
        </p:txBody>
      </p:sp>
      <p:sp>
        <p:nvSpPr>
          <p:cNvPr id="10" name="text-136">
            <a:extLst xmlns:a="http://schemas.openxmlformats.org/drawingml/2006/main">
              <a:ext uri="{FF2B5EF4-FFF2-40B4-BE49-F238E27FC236}">
                <a16:creationId xmlns:a16="http://schemas.microsoft.com/office/drawing/2014/main" id="{7517A7FA-E732-4704-9B6F-3BF8CD0E22FA}"/>
              </a:ext>
            </a:extLst>
          </p:cNvPr>
          <p:cNvSpPr>
            <a:spLocks xmlns:a="http://schemas.openxmlformats.org/drawingml/2006/main" noGrp="1"/>
          </p:cNvSpPr>
          <p:nvPr/>
        </p:nvSpPr>
        <p:spPr>
          <a:xfrm xmlns:a="http://schemas.openxmlformats.org/drawingml/2006/main">
            <a:off x="628650" y="41529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23339"/>
                </a:solidFill>
                <a:latin typeface="Nimbus Sans"/>
                <a:ea typeface="Nimbus Sans"/>
                <a:cs typeface="Nimbus Sans"/>
              </a:defRPr>
            </a:pPr>
            <a:r>
              <a:rPr sz="2025" b="0">
                <a:solidFill>
                  <a:srgbClr val="123339"/>
                </a:solidFill>
                <a:latin typeface="Nimbus Sans"/>
                <a:ea typeface="Nimbus Sans"/>
                <a:cs typeface="Nimbus Sans"/>
              </a:rPr>
              <a:t>Intended use and lifecycle change management</a:t>
            </a:r>
          </a:p>
        </p:txBody>
      </p:sp>
      <p:sp>
        <p:nvSpPr>
          <p:cNvPr id="11" name="">
            <a:extLst xmlns:a="http://schemas.openxmlformats.org/drawingml/2006/main">
              <a:ext uri="{FF2B5EF4-FFF2-40B4-BE49-F238E27FC236}">
                <a16:creationId xmlns:a16="http://schemas.microsoft.com/office/drawing/2014/main" id="{861AAFEC-E717-4F5E-8379-FA7988BB7475}"/>
              </a:ext>
            </a:extLst>
          </p:cNvPr>
          <p:cNvSpPr>
            <a:spLocks xmlns:a="http://schemas.openxmlformats.org/drawingml/2006/main" noGrp="1"/>
          </p:cNvSpPr>
          <p:nvPr/>
        </p:nvSpPr>
        <p:spPr>
          <a:xfrm xmlns:a="http://schemas.openxmlformats.org/drawingml/2006/main">
            <a:off x="609600" y="4610100"/>
            <a:ext cx="10963275" cy="0"/>
          </a:xfrm>
          <a:prstGeom xmlns:a="http://schemas.openxmlformats.org/drawingml/2006/main" prst="line">
            <a:avLst/>
          </a:prstGeom>
          <a:noFill xmlns:a="http://schemas.openxmlformats.org/drawingml/2006/main"/>
          <a:ln xmlns:a="http://schemas.openxmlformats.org/drawingml/2006/main" w="9525">
            <a:solidFill>
              <a:srgbClr val="C4D3CD"/>
            </a:solidFill>
          </a:ln>
        </p:spPr>
      </p:sp>
      <p:sp>
        <p:nvSpPr>
          <p:cNvPr id="12" name="text-137">
            <a:extLst xmlns:a="http://schemas.openxmlformats.org/drawingml/2006/main">
              <a:ext uri="{FF2B5EF4-FFF2-40B4-BE49-F238E27FC236}">
                <a16:creationId xmlns:a16="http://schemas.microsoft.com/office/drawing/2014/main" id="{1839F31A-0FA5-490F-ACC4-A3779271D6ED}"/>
              </a:ext>
            </a:extLst>
          </p:cNvPr>
          <p:cNvSpPr>
            <a:spLocks xmlns:a="http://schemas.openxmlformats.org/drawingml/2006/main" noGrp="1"/>
          </p:cNvSpPr>
          <p:nvPr/>
        </p:nvSpPr>
        <p:spPr>
          <a:xfrm xmlns:a="http://schemas.openxmlformats.org/drawingml/2006/main">
            <a:off x="628650" y="470535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87F7C"/>
                </a:solidFill>
                <a:latin typeface="Nimbus Sans"/>
                <a:ea typeface="Nimbus Sans"/>
                <a:cs typeface="Nimbus Sans"/>
              </a:defRPr>
            </a:pPr>
            <a:r>
              <a:rPr sz="2550" b="1">
                <a:solidFill>
                  <a:srgbClr val="087F7C"/>
                </a:solidFill>
                <a:latin typeface="Nimbus Sans"/>
                <a:ea typeface="Nimbus Sans"/>
                <a:cs typeface="Nimbus Sans"/>
                <a:hlinkClick xmlns:r="http://schemas.openxmlformats.org/officeDocument/2006/relationships" r:id="R3f3460216c3c4032"/>
              </a:rPr>
              <a:t>MvPI reporting resources</a:t>
            </a:r>
          </a:p>
        </p:txBody>
      </p:sp>
      <p:sp>
        <p:nvSpPr>
          <p:cNvPr id="13" name="text-138">
            <a:extLst xmlns:a="http://schemas.openxmlformats.org/drawingml/2006/main">
              <a:ext uri="{FF2B5EF4-FFF2-40B4-BE49-F238E27FC236}">
                <a16:creationId xmlns:a16="http://schemas.microsoft.com/office/drawing/2014/main" id="{224D9368-9C02-4BEE-848E-C3845E1CE580}"/>
              </a:ext>
            </a:extLst>
          </p:cNvPr>
          <p:cNvSpPr>
            <a:spLocks xmlns:a="http://schemas.openxmlformats.org/drawingml/2006/main" noGrp="1"/>
          </p:cNvSpPr>
          <p:nvPr/>
        </p:nvSpPr>
        <p:spPr>
          <a:xfrm xmlns:a="http://schemas.openxmlformats.org/drawingml/2006/main">
            <a:off x="628650" y="51911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23339"/>
                </a:solidFill>
                <a:latin typeface="Nimbus Sans"/>
                <a:ea typeface="Nimbus Sans"/>
                <a:cs typeface="Nimbus Sans"/>
              </a:defRPr>
            </a:pPr>
            <a:r>
              <a:rPr sz="2025" b="0">
                <a:solidFill>
                  <a:srgbClr val="123339"/>
                </a:solidFill>
                <a:latin typeface="Nimbus Sans"/>
                <a:ea typeface="Nimbus Sans"/>
                <a:cs typeface="Nimbus Sans"/>
              </a:rPr>
              <a:t>Hospital safety monitoring and adverse-event reporting</a:t>
            </a:r>
          </a:p>
        </p:txBody>
      </p:sp>
      <p:sp>
        <p:nvSpPr>
          <p:cNvPr id="14" name="text-139">
            <a:extLst xmlns:a="http://schemas.openxmlformats.org/drawingml/2006/main">
              <a:ext uri="{FF2B5EF4-FFF2-40B4-BE49-F238E27FC236}">
                <a16:creationId xmlns:a16="http://schemas.microsoft.com/office/drawing/2014/main" id="{EEE89A23-BC45-4C5C-99F1-F9424DC05564}"/>
              </a:ext>
            </a:extLst>
          </p:cNvPr>
          <p:cNvSpPr>
            <a:spLocks xmlns:a="http://schemas.openxmlformats.org/drawingml/2006/main" noGrp="1"/>
          </p:cNvSpPr>
          <p:nvPr/>
        </p:nvSpPr>
        <p:spPr>
          <a:xfrm xmlns:a="http://schemas.openxmlformats.org/drawingml/2006/main">
            <a:off x="609600" y="60769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565"/>
                </a:solidFill>
                <a:latin typeface="Nimbus Sans"/>
                <a:ea typeface="Nimbus Sans"/>
                <a:cs typeface="Nimbus Sans"/>
              </a:defRPr>
            </a:pPr>
            <a:r>
              <a:rPr sz="1650" b="0">
                <a:solidFill>
                  <a:srgbClr val="526565"/>
                </a:solidFill>
                <a:latin typeface="Nimbus Sans"/>
                <a:ea typeface="Nimbus Sans"/>
                <a:cs typeface="Nimbus Sans"/>
              </a:rPr>
              <a:t>Click a title to open the primary source. References checked 7 October 2026.</a:t>
            </a:r>
          </a:p>
        </p:txBody>
      </p:sp>
    </p:spTree>
    <p:extLst>
      <p:ext uri="{BB962C8B-B14F-4D97-AF65-F5344CB8AC3E}">
        <p14:creationId xmlns:p14="http://schemas.microsoft.com/office/powerpoint/2010/main" val="356671236"/>
      </p:ext>
    </p:extLst>
  </p:cSld>
</p:sld>
</file>

<file path=ppt/slides/slide2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BAD86CEC-346C-4E65-917F-CE1A91ADB064}"/>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23339"/>
                </a:solidFill>
                <a:latin typeface="Nimbus Sans"/>
                <a:ea typeface="Nimbus Sans"/>
                <a:cs typeface="Nimbus Sans"/>
              </a:defRPr>
            </a:pPr>
            <a:r>
              <a:rPr sz="3450" b="1">
                <a:solidFill>
                  <a:srgbClr val="123339"/>
                </a:solidFill>
                <a:latin typeface="Nimbus Sans"/>
                <a:ea typeface="Nimbus Sans"/>
                <a:cs typeface="Nimbus Sans"/>
              </a:rPr>
              <a:t>Cases, media and further reading</a:t>
            </a:r>
          </a:p>
        </p:txBody>
      </p:sp>
      <p:sp>
        <p:nvSpPr>
          <p:cNvPr id="2" name="text-140">
            <a:extLst xmlns:a="http://schemas.openxmlformats.org/drawingml/2006/main">
              <a:ext uri="{FF2B5EF4-FFF2-40B4-BE49-F238E27FC236}">
                <a16:creationId xmlns:a16="http://schemas.microsoft.com/office/drawing/2014/main" id="{6AAE798A-52CB-49D7-93B7-604CC89C30FA}"/>
              </a:ext>
            </a:extLst>
          </p:cNvPr>
          <p:cNvSpPr>
            <a:spLocks xmlns:a="http://schemas.openxmlformats.org/drawingml/2006/main" noGrp="1"/>
          </p:cNvSpPr>
          <p:nvPr/>
        </p:nvSpPr>
        <p:spPr>
          <a:xfrm xmlns:a="http://schemas.openxmlformats.org/drawingml/2006/main">
            <a:off x="1129665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565"/>
                </a:solidFill>
                <a:latin typeface="Nimbus Sans"/>
                <a:ea typeface="Nimbus Sans"/>
                <a:cs typeface="Nimbus Sans"/>
              </a:defRPr>
            </a:pPr>
            <a:r>
              <a:rPr sz="1350" b="0">
                <a:solidFill>
                  <a:srgbClr val="526565"/>
                </a:solidFill>
                <a:latin typeface="Nimbus Sans"/>
                <a:ea typeface="Nimbus Sans"/>
                <a:cs typeface="Nimbus Sans"/>
              </a:rPr>
              <a:t>20</a:t>
            </a:r>
          </a:p>
        </p:txBody>
      </p:sp>
      <p:sp>
        <p:nvSpPr>
          <p:cNvPr id="3" name="text-141">
            <a:extLst xmlns:a="http://schemas.openxmlformats.org/drawingml/2006/main">
              <a:ext uri="{FF2B5EF4-FFF2-40B4-BE49-F238E27FC236}">
                <a16:creationId xmlns:a16="http://schemas.microsoft.com/office/drawing/2014/main" id="{BCACC7D2-3147-4F14-AC4F-BFD369F96349}"/>
              </a:ext>
            </a:extLst>
          </p:cNvPr>
          <p:cNvSpPr>
            <a:spLocks xmlns:a="http://schemas.openxmlformats.org/drawingml/2006/main" noGrp="1"/>
          </p:cNvSpPr>
          <p:nvPr/>
        </p:nvSpPr>
        <p:spPr>
          <a:xfrm xmlns:a="http://schemas.openxmlformats.org/drawingml/2006/main">
            <a:off x="619125" y="14573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87F7C"/>
                </a:solidFill>
                <a:latin typeface="Nimbus Sans"/>
                <a:ea typeface="Nimbus Sans"/>
                <a:cs typeface="Nimbus Sans"/>
              </a:defRPr>
            </a:pPr>
            <a:r>
              <a:rPr sz="2475" b="1">
                <a:solidFill>
                  <a:srgbClr val="087F7C"/>
                </a:solidFill>
                <a:latin typeface="Nimbus Sans"/>
                <a:ea typeface="Nimbus Sans"/>
                <a:cs typeface="Nimbus Sans"/>
                <a:hlinkClick xmlns:r="http://schemas.openxmlformats.org/officeDocument/2006/relationships" r:id="Rb9fef55889a948ca"/>
              </a:rPr>
              <a:t>Pulse-oximetry study</a:t>
            </a:r>
          </a:p>
        </p:txBody>
      </p:sp>
      <p:sp>
        <p:nvSpPr>
          <p:cNvPr id="4" name="text-142">
            <a:extLst xmlns:a="http://schemas.openxmlformats.org/drawingml/2006/main">
              <a:ext uri="{FF2B5EF4-FFF2-40B4-BE49-F238E27FC236}">
                <a16:creationId xmlns:a16="http://schemas.microsoft.com/office/drawing/2014/main" id="{9AC15DF6-6348-495D-A6A7-87AD04F0A534}"/>
              </a:ext>
            </a:extLst>
          </p:cNvPr>
          <p:cNvSpPr>
            <a:spLocks xmlns:a="http://schemas.openxmlformats.org/drawingml/2006/main" noGrp="1"/>
          </p:cNvSpPr>
          <p:nvPr/>
        </p:nvSpPr>
        <p:spPr>
          <a:xfrm xmlns:a="http://schemas.openxmlformats.org/drawingml/2006/main">
            <a:off x="619125" y="19145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23339"/>
                </a:solidFill>
                <a:latin typeface="Nimbus Sans"/>
                <a:ea typeface="Nimbus Sans"/>
                <a:cs typeface="Nimbus Sans"/>
              </a:defRPr>
            </a:pPr>
            <a:r>
              <a:rPr sz="1950" b="0">
                <a:solidFill>
                  <a:srgbClr val="123339"/>
                </a:solidFill>
                <a:latin typeface="Nimbus Sans"/>
                <a:ea typeface="Nimbus Sans"/>
                <a:cs typeface="Nimbus Sans"/>
              </a:rPr>
              <a:t>Sjoding et al., NEJM 2020</a:t>
            </a:r>
          </a:p>
        </p:txBody>
      </p:sp>
      <p:sp>
        <p:nvSpPr>
          <p:cNvPr id="5" name="text-143">
            <a:extLst xmlns:a="http://schemas.openxmlformats.org/drawingml/2006/main">
              <a:ext uri="{FF2B5EF4-FFF2-40B4-BE49-F238E27FC236}">
                <a16:creationId xmlns:a16="http://schemas.microsoft.com/office/drawing/2014/main" id="{641CA28D-35D1-43DC-A173-5DDA31B7B9BB}"/>
              </a:ext>
            </a:extLst>
          </p:cNvPr>
          <p:cNvSpPr>
            <a:spLocks xmlns:a="http://schemas.openxmlformats.org/drawingml/2006/main" noGrp="1"/>
          </p:cNvSpPr>
          <p:nvPr/>
        </p:nvSpPr>
        <p:spPr>
          <a:xfrm xmlns:a="http://schemas.openxmlformats.org/drawingml/2006/main">
            <a:off x="619125" y="24098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87F7C"/>
                </a:solidFill>
                <a:latin typeface="Nimbus Sans"/>
                <a:ea typeface="Nimbus Sans"/>
                <a:cs typeface="Nimbus Sans"/>
              </a:defRPr>
            </a:pPr>
            <a:r>
              <a:rPr sz="2475" b="1">
                <a:solidFill>
                  <a:srgbClr val="087F7C"/>
                </a:solidFill>
                <a:latin typeface="Nimbus Sans"/>
                <a:ea typeface="Nimbus Sans"/>
                <a:cs typeface="Nimbus Sans"/>
                <a:hlinkClick xmlns:r="http://schemas.openxmlformats.org/officeDocument/2006/relationships" r:id="R5ea98e2fd3aa4bef"/>
              </a:rPr>
              <a:t>Research consent</a:t>
            </a:r>
          </a:p>
        </p:txBody>
      </p:sp>
      <p:sp>
        <p:nvSpPr>
          <p:cNvPr id="6" name="text-144">
            <a:extLst xmlns:a="http://schemas.openxmlformats.org/drawingml/2006/main">
              <a:ext uri="{FF2B5EF4-FFF2-40B4-BE49-F238E27FC236}">
                <a16:creationId xmlns:a16="http://schemas.microsoft.com/office/drawing/2014/main" id="{87B7D5AF-60B3-4D77-9EC5-5A6326134751}"/>
              </a:ext>
            </a:extLst>
          </p:cNvPr>
          <p:cNvSpPr>
            <a:spLocks xmlns:a="http://schemas.openxmlformats.org/drawingml/2006/main" noGrp="1"/>
          </p:cNvSpPr>
          <p:nvPr/>
        </p:nvSpPr>
        <p:spPr>
          <a:xfrm xmlns:a="http://schemas.openxmlformats.org/drawingml/2006/main">
            <a:off x="619125" y="2867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23339"/>
                </a:solidFill>
                <a:latin typeface="Nimbus Sans"/>
                <a:ea typeface="Nimbus Sans"/>
                <a:cs typeface="Nimbus Sans"/>
              </a:defRPr>
            </a:pPr>
            <a:r>
              <a:rPr sz="1950" b="0">
                <a:solidFill>
                  <a:srgbClr val="123339"/>
                </a:solidFill>
                <a:latin typeface="Nimbus Sans"/>
                <a:ea typeface="Nimbus Sans"/>
                <a:cs typeface="Nimbus Sans"/>
              </a:rPr>
              <a:t>WMA Declaration of Helsinki, 2024</a:t>
            </a:r>
          </a:p>
        </p:txBody>
      </p:sp>
      <p:sp>
        <p:nvSpPr>
          <p:cNvPr id="7" name="text-145">
            <a:extLst xmlns:a="http://schemas.openxmlformats.org/drawingml/2006/main">
              <a:ext uri="{FF2B5EF4-FFF2-40B4-BE49-F238E27FC236}">
                <a16:creationId xmlns:a16="http://schemas.microsoft.com/office/drawing/2014/main" id="{DF7D3929-EFFF-49F3-8351-607991705CF3}"/>
              </a:ext>
            </a:extLst>
          </p:cNvPr>
          <p:cNvSpPr>
            <a:spLocks xmlns:a="http://schemas.openxmlformats.org/drawingml/2006/main" noGrp="1"/>
          </p:cNvSpPr>
          <p:nvPr/>
        </p:nvSpPr>
        <p:spPr>
          <a:xfrm xmlns:a="http://schemas.openxmlformats.org/drawingml/2006/main">
            <a:off x="619125" y="33623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87F7C"/>
                </a:solidFill>
                <a:latin typeface="Nimbus Sans"/>
                <a:ea typeface="Nimbus Sans"/>
                <a:cs typeface="Nimbus Sans"/>
              </a:defRPr>
            </a:pPr>
            <a:r>
              <a:rPr sz="2475" b="1">
                <a:solidFill>
                  <a:srgbClr val="087F7C"/>
                </a:solidFill>
                <a:latin typeface="Nimbus Sans"/>
                <a:ea typeface="Nimbus Sans"/>
                <a:cs typeface="Nimbus Sans"/>
                <a:hlinkClick xmlns:r="http://schemas.openxmlformats.org/officeDocument/2006/relationships" r:id="R44558ff532c64cb5"/>
              </a:rPr>
              <a:t>SwaKnee evidence and video</a:t>
            </a:r>
          </a:p>
        </p:txBody>
      </p:sp>
      <p:sp>
        <p:nvSpPr>
          <p:cNvPr id="8" name="text-146">
            <a:extLst xmlns:a="http://schemas.openxmlformats.org/drawingml/2006/main">
              <a:ext uri="{FF2B5EF4-FFF2-40B4-BE49-F238E27FC236}">
                <a16:creationId xmlns:a16="http://schemas.microsoft.com/office/drawing/2014/main" id="{0D8FA354-C39D-46F3-9412-5A7AA465FBCB}"/>
              </a:ext>
            </a:extLst>
          </p:cNvPr>
          <p:cNvSpPr>
            <a:spLocks xmlns:a="http://schemas.openxmlformats.org/drawingml/2006/main" noGrp="1"/>
          </p:cNvSpPr>
          <p:nvPr/>
        </p:nvSpPr>
        <p:spPr>
          <a:xfrm xmlns:a="http://schemas.openxmlformats.org/drawingml/2006/main">
            <a:off x="619125" y="38195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23339"/>
                </a:solidFill>
                <a:latin typeface="Nimbus Sans"/>
                <a:ea typeface="Nimbus Sans"/>
                <a:cs typeface="Nimbus Sans"/>
              </a:defRPr>
            </a:pPr>
            <a:r>
              <a:rPr sz="1950" b="0">
                <a:solidFill>
                  <a:srgbClr val="123339"/>
                </a:solidFill>
                <a:latin typeface="Nimbus Sans"/>
                <a:ea typeface="Nimbus Sans"/>
                <a:cs typeface="Nimbus Sans"/>
              </a:rPr>
              <a:t>Company-reported study and optional online explainer</a:t>
            </a:r>
          </a:p>
        </p:txBody>
      </p:sp>
      <p:sp>
        <p:nvSpPr>
          <p:cNvPr id="9" name="text-147">
            <a:extLst xmlns:a="http://schemas.openxmlformats.org/drawingml/2006/main">
              <a:ext uri="{FF2B5EF4-FFF2-40B4-BE49-F238E27FC236}">
                <a16:creationId xmlns:a16="http://schemas.microsoft.com/office/drawing/2014/main" id="{3B6C750C-99B9-4C77-8004-0856023762B3}"/>
              </a:ext>
            </a:extLst>
          </p:cNvPr>
          <p:cNvSpPr>
            <a:spLocks xmlns:a="http://schemas.openxmlformats.org/drawingml/2006/main" noGrp="1"/>
          </p:cNvSpPr>
          <p:nvPr/>
        </p:nvSpPr>
        <p:spPr>
          <a:xfrm xmlns:a="http://schemas.openxmlformats.org/drawingml/2006/main">
            <a:off x="619125" y="43148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87F7C"/>
                </a:solidFill>
                <a:latin typeface="Nimbus Sans"/>
                <a:ea typeface="Nimbus Sans"/>
                <a:cs typeface="Nimbus Sans"/>
              </a:defRPr>
            </a:pPr>
            <a:r>
              <a:rPr sz="2475" b="1">
                <a:solidFill>
                  <a:srgbClr val="087F7C"/>
                </a:solidFill>
                <a:latin typeface="Nimbus Sans"/>
                <a:ea typeface="Nimbus Sans"/>
                <a:cs typeface="Nimbus Sans"/>
                <a:hlinkClick xmlns:r="http://schemas.openxmlformats.org/officeDocument/2006/relationships" r:id="R7d1c8adfcc4541d0"/>
              </a:rPr>
              <a:t>Principled Decision-Making</a:t>
            </a:r>
          </a:p>
        </p:txBody>
      </p:sp>
      <p:sp>
        <p:nvSpPr>
          <p:cNvPr id="10" name="text-148">
            <a:extLst xmlns:a="http://schemas.openxmlformats.org/drawingml/2006/main">
              <a:ext uri="{FF2B5EF4-FFF2-40B4-BE49-F238E27FC236}">
                <a16:creationId xmlns:a16="http://schemas.microsoft.com/office/drawing/2014/main" id="{21514ACD-C817-47E2-B2F8-8154DA928346}"/>
              </a:ext>
            </a:extLst>
          </p:cNvPr>
          <p:cNvSpPr>
            <a:spLocks xmlns:a="http://schemas.openxmlformats.org/drawingml/2006/main" noGrp="1"/>
          </p:cNvSpPr>
          <p:nvPr/>
        </p:nvSpPr>
        <p:spPr>
          <a:xfrm xmlns:a="http://schemas.openxmlformats.org/drawingml/2006/main">
            <a:off x="619125" y="47720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23339"/>
                </a:solidFill>
                <a:latin typeface="Nimbus Sans"/>
                <a:ea typeface="Nimbus Sans"/>
                <a:cs typeface="Nimbus Sans"/>
              </a:defRPr>
            </a:pPr>
            <a:r>
              <a:rPr sz="1950" b="0">
                <a:solidFill>
                  <a:srgbClr val="123339"/>
                </a:solidFill>
                <a:latin typeface="Nimbus Sans"/>
                <a:ea typeface="Nimbus Sans"/>
                <a:cs typeface="Nimbus Sans"/>
              </a:rPr>
              <a:t>Stanford Biodesign, 2022</a:t>
            </a:r>
          </a:p>
        </p:txBody>
      </p:sp>
      <p:sp>
        <p:nvSpPr>
          <p:cNvPr id="11" name="text-149">
            <a:extLst xmlns:a="http://schemas.openxmlformats.org/drawingml/2006/main">
              <a:ext uri="{FF2B5EF4-FFF2-40B4-BE49-F238E27FC236}">
                <a16:creationId xmlns:a16="http://schemas.microsoft.com/office/drawing/2014/main" id="{661281E7-A5A7-482B-B77A-F5C413DE4A02}"/>
              </a:ext>
            </a:extLst>
          </p:cNvPr>
          <p:cNvSpPr>
            <a:spLocks xmlns:a="http://schemas.openxmlformats.org/drawingml/2006/main" noGrp="1"/>
          </p:cNvSpPr>
          <p:nvPr/>
        </p:nvSpPr>
        <p:spPr>
          <a:xfrm xmlns:a="http://schemas.openxmlformats.org/drawingml/2006/main">
            <a:off x="609600" y="5591175"/>
            <a:ext cx="10829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565"/>
                </a:solidFill>
                <a:latin typeface="Nimbus Sans"/>
                <a:ea typeface="Nimbus Sans"/>
                <a:cs typeface="Nimbus Sans"/>
              </a:defRPr>
            </a:pPr>
            <a:r>
              <a:rPr sz="1725" b="0">
                <a:solidFill>
                  <a:srgbClr val="526565"/>
                </a:solidFill>
                <a:latin typeface="Nimbus Sans"/>
                <a:ea typeface="Nimbus Sans"/>
                <a:cs typeface="Nimbus Sans"/>
              </a:rPr>
              <a:t>FoGO: supplied prototype clip, simulated freeze.</a:t>
            </a:r>
          </a:p>
        </p:txBody>
      </p:sp>
      <p:sp>
        <p:nvSpPr>
          <p:cNvPr id="12" name="text-150">
            <a:extLst xmlns:a="http://schemas.openxmlformats.org/drawingml/2006/main">
              <a:ext uri="{FF2B5EF4-FFF2-40B4-BE49-F238E27FC236}">
                <a16:creationId xmlns:a16="http://schemas.microsoft.com/office/drawing/2014/main" id="{43EFA301-0273-4D41-A7E0-70D28767DD69}"/>
              </a:ext>
            </a:extLst>
          </p:cNvPr>
          <p:cNvSpPr>
            <a:spLocks xmlns:a="http://schemas.openxmlformats.org/drawingml/2006/main" noGrp="1"/>
          </p:cNvSpPr>
          <p:nvPr/>
        </p:nvSpPr>
        <p:spPr>
          <a:xfrm xmlns:a="http://schemas.openxmlformats.org/drawingml/2006/main">
            <a:off x="609600" y="5924550"/>
            <a:ext cx="10829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565"/>
                </a:solidFill>
                <a:latin typeface="Nimbus Sans"/>
                <a:ea typeface="Nimbus Sans"/>
                <a:cs typeface="Nimbus Sans"/>
              </a:defRPr>
            </a:pPr>
            <a:r>
              <a:rPr sz="1725" b="0">
                <a:solidFill>
                  <a:srgbClr val="526565"/>
                </a:solidFill>
                <a:latin typeface="Nimbus Sans"/>
                <a:ea typeface="Nimbus Sans"/>
                <a:cs typeface="Nimbus Sans"/>
              </a:rPr>
              <a:t>SwaKnee: product-image overview, no clinical response shown.</a:t>
            </a:r>
          </a:p>
        </p:txBody>
      </p:sp>
    </p:spTree>
    <p:extLst>
      <p:ext uri="{BB962C8B-B14F-4D97-AF65-F5344CB8AC3E}">
        <p14:creationId xmlns:p14="http://schemas.microsoft.com/office/powerpoint/2010/main" val="17867777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2026-10-07T04:41:53.4960000Z</dcterms:created>
  <dcterms:modified xsi:type="dcterms:W3CDTF">2026-10-07T04:41:53.4970000Z</dcterms:modified>
</coreProperties>
</file>